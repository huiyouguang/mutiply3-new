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oleObject"/>
  <Default Extension="png" ContentType="image/png"/>
  <Default Extension="rels" ContentType="application/vnd.openxmlformats-package.relationships+xml"/>
  <Default Extension="m4a" ContentType="audi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1.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2.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drawings/drawing3.xml" ContentType="application/vnd.openxmlformats-officedocument.drawingml.chartshapes+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rawings/drawing4.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0" r:id="rId6"/>
    <p:sldId id="261" r:id="rId7"/>
    <p:sldId id="263" r:id="rId8"/>
    <p:sldId id="264" r:id="rId9"/>
    <p:sldId id="265" r:id="rId10"/>
    <p:sldId id="266" r:id="rId11"/>
    <p:sldId id="268" r:id="rId12"/>
    <p:sldId id="270" r:id="rId13"/>
    <p:sldId id="267" r:id="rId14"/>
    <p:sldId id="271" r:id="rId15"/>
    <p:sldId id="273" r:id="rId16"/>
    <p:sldId id="274" r:id="rId17"/>
    <p:sldId id="272" r:id="rId18"/>
    <p:sldId id="275" r:id="rId19"/>
    <p:sldId id="280" r:id="rId20"/>
    <p:sldId id="276" r:id="rId21"/>
    <p:sldId id="281" r:id="rId22"/>
    <p:sldId id="284" r:id="rId23"/>
    <p:sldId id="282" r:id="rId24"/>
    <p:sldId id="285" r:id="rId25"/>
    <p:sldId id="283" r:id="rId26"/>
    <p:sldId id="286" r:id="rId2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98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8" autoAdjust="0"/>
    <p:restoredTop sz="95853" autoAdjust="0"/>
  </p:normalViewPr>
  <p:slideViewPr>
    <p:cSldViewPr snapToGrid="0">
      <p:cViewPr varScale="1">
        <p:scale>
          <a:sx n="144" d="100"/>
          <a:sy n="144" d="100"/>
        </p:scale>
        <p:origin x="696" y="184"/>
      </p:cViewPr>
      <p:guideLst>
        <p:guide orient="horz" pos="1658"/>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embeddings/oleObject1.bin"/></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NULL"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embeddings/oleObject2.bin"/></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NULL"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embeddings/oleObject3.bin"/></Relationships>
</file>

<file path=ppt/charts/_rels/chart6.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chartUserShapes" Target="../drawings/drawing1.xml"/><Relationship Id="rId1" Type="http://schemas.microsoft.com/office/2011/relationships/chartStyle" Target="style6.xml"/><Relationship Id="rId2" Type="http://schemas.microsoft.com/office/2011/relationships/chartColorStyle" Target="colors6.xml"/></Relationships>
</file>

<file path=ppt/charts/_rels/chart7.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chartUserShapes" Target="../drawings/drawing2.xml"/><Relationship Id="rId1" Type="http://schemas.microsoft.com/office/2011/relationships/chartStyle" Target="style7.xml"/><Relationship Id="rId2" Type="http://schemas.microsoft.com/office/2011/relationships/chartColorStyle" Target="colors7.xm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NULL" TargetMode="External"/></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embeddings/oleObject6.bin"/></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oleObject" Target="NULL" TargetMode="External"/></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oleObject" Target="../embeddings/oleObject7.bin"/></Relationships>
</file>

<file path=ppt/charts/_rels/chart12.xml.rels><?xml version="1.0" encoding="UTF-8" standalone="yes"?>
<Relationships xmlns="http://schemas.openxmlformats.org/package/2006/relationships"><Relationship Id="rId3" Type="http://schemas.openxmlformats.org/officeDocument/2006/relationships/oleObject" Target="NULL" TargetMode="External"/><Relationship Id="rId4" Type="http://schemas.openxmlformats.org/officeDocument/2006/relationships/chartUserShapes" Target="../drawings/drawing3.xml"/><Relationship Id="rId1" Type="http://schemas.microsoft.com/office/2011/relationships/chartStyle" Target="style12.xml"/><Relationship Id="rId2" Type="http://schemas.microsoft.com/office/2011/relationships/chartColorStyle" Target="colors12.xml"/></Relationships>
</file>

<file path=ppt/charts/_rels/chart13.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chartUserShapes" Target="../drawings/drawing4.xml"/><Relationship Id="rId1" Type="http://schemas.microsoft.com/office/2011/relationships/chartStyle" Target="style13.xml"/><Relationship Id="rId2" Type="http://schemas.microsoft.com/office/2011/relationships/chartColorStyle" Target="colors13.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en-US" sz="1500" dirty="0">
                <a:solidFill>
                  <a:schemeClr val="tx1"/>
                </a:solidFill>
              </a:rPr>
              <a:t>2014-2017</a:t>
            </a:r>
            <a:r>
              <a:rPr lang="zh-CN" sz="1500" dirty="0">
                <a:solidFill>
                  <a:schemeClr val="tx1"/>
                </a:solidFill>
              </a:rPr>
              <a:t>年上资产规模</a:t>
            </a:r>
          </a:p>
        </c:rich>
      </c:tx>
      <c:layout>
        <c:manualLayout>
          <c:xMode val="edge"/>
          <c:yMode val="edge"/>
          <c:x val="0.270735379235978"/>
          <c:y val="0.049448999392241"/>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流动资产 </c:v>
                </c:pt>
              </c:strCache>
            </c:strRef>
          </c:tx>
          <c:spPr>
            <a:solidFill>
              <a:schemeClr val="accent1"/>
            </a:solidFill>
            <a:ln>
              <a:noFill/>
            </a:ln>
            <a:effectLst/>
          </c:spPr>
          <c:invertIfNegative val="0"/>
          <c:cat>
            <c:strRef>
              <c:f>Sheet1!$A$2:$A$5</c:f>
              <c:strCache>
                <c:ptCount val="4"/>
                <c:pt idx="0">
                  <c:v>2014</c:v>
                </c:pt>
                <c:pt idx="1">
                  <c:v>2015</c:v>
                </c:pt>
                <c:pt idx="2">
                  <c:v>16年 </c:v>
                </c:pt>
                <c:pt idx="3">
                  <c:v>2017</c:v>
                </c:pt>
              </c:strCache>
            </c:strRef>
          </c:cat>
          <c:val>
            <c:numRef>
              <c:f>Sheet1!$B$2:$B$5</c:f>
              <c:numCache>
                <c:formatCode>_(* #,##0.00_);_(* \(#,##0.00\);_(* "-"??_);_(@_)</c:formatCode>
                <c:ptCount val="4"/>
                <c:pt idx="0">
                  <c:v>20000.0</c:v>
                </c:pt>
                <c:pt idx="1">
                  <c:v>30000.0</c:v>
                </c:pt>
                <c:pt idx="2">
                  <c:v>40000.0</c:v>
                </c:pt>
                <c:pt idx="3">
                  <c:v>50000.0</c:v>
                </c:pt>
              </c:numCache>
            </c:numRef>
          </c:val>
        </c:ser>
        <c:ser>
          <c:idx val="1"/>
          <c:order val="1"/>
          <c:tx>
            <c:strRef>
              <c:f>Sheet1!$C$1</c:f>
              <c:strCache>
                <c:ptCount val="1"/>
                <c:pt idx="0">
                  <c:v>非流动资产 </c:v>
                </c:pt>
              </c:strCache>
            </c:strRef>
          </c:tx>
          <c:spPr>
            <a:solidFill>
              <a:schemeClr val="accent3"/>
            </a:solidFill>
            <a:ln>
              <a:noFill/>
            </a:ln>
            <a:effectLst/>
          </c:spPr>
          <c:invertIfNegative val="0"/>
          <c:cat>
            <c:strRef>
              <c:f>Sheet1!$A$2:$A$5</c:f>
              <c:strCache>
                <c:ptCount val="4"/>
                <c:pt idx="0">
                  <c:v>2014</c:v>
                </c:pt>
                <c:pt idx="1">
                  <c:v>2015</c:v>
                </c:pt>
                <c:pt idx="2">
                  <c:v>16年 </c:v>
                </c:pt>
                <c:pt idx="3">
                  <c:v>2017</c:v>
                </c:pt>
              </c:strCache>
            </c:strRef>
          </c:cat>
          <c:val>
            <c:numRef>
              <c:f>Sheet1!$C$2:$C$5</c:f>
              <c:numCache>
                <c:formatCode>_(* #,##0.00_);_(* \(#,##0.00\);_(* "-"??_);_(@_)</c:formatCode>
                <c:ptCount val="4"/>
                <c:pt idx="0">
                  <c:v>30000.0</c:v>
                </c:pt>
                <c:pt idx="1">
                  <c:v>58000.0</c:v>
                </c:pt>
                <c:pt idx="2">
                  <c:v>45000.0</c:v>
                </c:pt>
                <c:pt idx="3">
                  <c:v>68000.0</c:v>
                </c:pt>
              </c:numCache>
            </c:numRef>
          </c:val>
        </c:ser>
        <c:ser>
          <c:idx val="2"/>
          <c:order val="2"/>
          <c:tx>
            <c:strRef>
              <c:f>Sheet1!$D$1</c:f>
              <c:strCache>
                <c:ptCount val="1"/>
                <c:pt idx="0">
                  <c:v>总资产 </c:v>
                </c:pt>
              </c:strCache>
            </c:strRef>
          </c:tx>
          <c:spPr>
            <a:solidFill>
              <a:schemeClr val="accent5"/>
            </a:solidFill>
            <a:ln>
              <a:noFill/>
            </a:ln>
            <a:effectLst/>
          </c:spPr>
          <c:invertIfNegative val="0"/>
          <c:cat>
            <c:strRef>
              <c:f>Sheet1!$A$2:$A$5</c:f>
              <c:strCache>
                <c:ptCount val="4"/>
                <c:pt idx="0">
                  <c:v>2014</c:v>
                </c:pt>
                <c:pt idx="1">
                  <c:v>2015</c:v>
                </c:pt>
                <c:pt idx="2">
                  <c:v>16年 </c:v>
                </c:pt>
                <c:pt idx="3">
                  <c:v>2017</c:v>
                </c:pt>
              </c:strCache>
            </c:strRef>
          </c:cat>
          <c:val>
            <c:numRef>
              <c:f>Sheet1!$D$2:$D$5</c:f>
              <c:numCache>
                <c:formatCode>_(* #,##0.00_);_(* \(#,##0.00\);_(* "-"??_);_(@_)</c:formatCode>
                <c:ptCount val="4"/>
                <c:pt idx="0">
                  <c:v>100000.0</c:v>
                </c:pt>
                <c:pt idx="1">
                  <c:v>250000.0</c:v>
                </c:pt>
                <c:pt idx="2">
                  <c:v>350000.0</c:v>
                </c:pt>
                <c:pt idx="3">
                  <c:v>450000.0</c:v>
                </c:pt>
              </c:numCache>
            </c:numRef>
          </c:val>
        </c:ser>
        <c:dLbls>
          <c:showLegendKey val="0"/>
          <c:showVal val="0"/>
          <c:showCatName val="0"/>
          <c:showSerName val="0"/>
          <c:showPercent val="0"/>
          <c:showBubbleSize val="0"/>
        </c:dLbls>
        <c:gapWidth val="219"/>
        <c:overlap val="-27"/>
        <c:axId val="-2096699584"/>
        <c:axId val="-2096697808"/>
      </c:barChart>
      <c:catAx>
        <c:axId val="-2096699584"/>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096697808"/>
        <c:crosses val="autoZero"/>
        <c:auto val="1"/>
        <c:lblAlgn val="ctr"/>
        <c:lblOffset val="100"/>
        <c:noMultiLvlLbl val="0"/>
      </c:catAx>
      <c:valAx>
        <c:axId val="-2096697808"/>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0966995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  货币资金</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0" i="0" u="none" strike="noStrike" kern="1200" baseline="0">
                    <a:solidFill>
                      <a:schemeClr val="tx1"/>
                    </a:solidFill>
                    <a:latin typeface="+mn-lt"/>
                    <a:ea typeface="+mn-ea"/>
                    <a:cs typeface="+mn-ea"/>
                    <a:sym typeface="+mn-lt"/>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Sheet1!$B$2:$B$5</c:f>
              <c:numCache>
                <c:formatCode>0%</c:formatCode>
                <c:ptCount val="4"/>
                <c:pt idx="0">
                  <c:v>0.146126878581443</c:v>
                </c:pt>
                <c:pt idx="1">
                  <c:v>0.328184545593292</c:v>
                </c:pt>
                <c:pt idx="2">
                  <c:v>0.279555875055344</c:v>
                </c:pt>
                <c:pt idx="3">
                  <c:v>0.178076810362961</c:v>
                </c:pt>
              </c:numCache>
            </c:numRef>
          </c:val>
        </c:ser>
        <c:ser>
          <c:idx val="1"/>
          <c:order val="1"/>
          <c:tx>
            <c:strRef>
              <c:f>Sheet1!$C$1</c:f>
              <c:strCache>
                <c:ptCount val="1"/>
                <c:pt idx="0">
                  <c:v>  应收账款</c:v>
                </c:pt>
              </c:strCache>
            </c:strRef>
          </c:tx>
          <c:spPr>
            <a:solidFill>
              <a:schemeClr val="accent3"/>
            </a:solidFill>
            <a:ln>
              <a:noFill/>
            </a:ln>
            <a:effectLst/>
          </c:spPr>
          <c:invertIfNegative val="0"/>
          <c:dPt>
            <c:idx val="0"/>
            <c:invertIfNegative val="0"/>
            <c:bubble3D val="0"/>
            <c:spPr>
              <a:solidFill>
                <a:schemeClr val="bg1">
                  <a:lumMod val="85000"/>
                </a:schemeClr>
              </a:solidFill>
              <a:ln>
                <a:noFill/>
              </a:ln>
              <a:effectLst/>
            </c:spPr>
          </c:dPt>
          <c:dPt>
            <c:idx val="1"/>
            <c:invertIfNegative val="0"/>
            <c:bubble3D val="0"/>
            <c:spPr>
              <a:solidFill>
                <a:schemeClr val="bg1">
                  <a:lumMod val="85000"/>
                </a:schemeClr>
              </a:solidFill>
              <a:ln>
                <a:noFill/>
              </a:ln>
              <a:effectLst/>
            </c:spPr>
          </c:dPt>
          <c:dPt>
            <c:idx val="2"/>
            <c:invertIfNegative val="0"/>
            <c:bubble3D val="0"/>
            <c:spPr>
              <a:solidFill>
                <a:schemeClr val="bg1">
                  <a:lumMod val="85000"/>
                </a:schemeClr>
              </a:solidFill>
              <a:ln>
                <a:noFill/>
              </a:ln>
              <a:effectLst/>
            </c:spPr>
          </c:dPt>
          <c:dPt>
            <c:idx val="3"/>
            <c:invertIfNegative val="0"/>
            <c:bubble3D val="0"/>
            <c:spPr>
              <a:solidFill>
                <a:schemeClr val="bg1">
                  <a:lumMod val="85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000" b="0" i="0" u="none" strike="noStrike" kern="1200" baseline="0">
                    <a:solidFill>
                      <a:schemeClr val="tx1"/>
                    </a:solidFill>
                    <a:latin typeface="+mn-lt"/>
                    <a:ea typeface="+mn-ea"/>
                    <a:cs typeface="+mn-ea"/>
                    <a:sym typeface="+mn-lt"/>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Sheet1!$C$2:$C$5</c:f>
              <c:numCache>
                <c:formatCode>0%</c:formatCode>
                <c:ptCount val="4"/>
                <c:pt idx="0">
                  <c:v>0.617014409924095</c:v>
                </c:pt>
                <c:pt idx="1">
                  <c:v>0.442270703232295</c:v>
                </c:pt>
                <c:pt idx="2">
                  <c:v>0.330259612883312</c:v>
                </c:pt>
                <c:pt idx="3">
                  <c:v>0.378173046390184</c:v>
                </c:pt>
              </c:numCache>
            </c:numRef>
          </c:val>
        </c:ser>
        <c:ser>
          <c:idx val="2"/>
          <c:order val="2"/>
          <c:tx>
            <c:strRef>
              <c:f>Sheet1!$D$1</c:f>
              <c:strCache>
                <c:ptCount val="1"/>
                <c:pt idx="0">
                  <c:v>  预付账款</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0" i="0" u="none" strike="noStrike" kern="1200" baseline="0">
                    <a:solidFill>
                      <a:schemeClr val="tx1"/>
                    </a:solidFill>
                    <a:latin typeface="+mn-lt"/>
                    <a:ea typeface="+mn-ea"/>
                    <a:cs typeface="+mn-ea"/>
                    <a:sym typeface="+mn-lt"/>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Sheet1!$D$2:$D$5</c:f>
              <c:numCache>
                <c:formatCode>0%</c:formatCode>
                <c:ptCount val="4"/>
                <c:pt idx="0">
                  <c:v>0.0632099937099832</c:v>
                </c:pt>
                <c:pt idx="1">
                  <c:v>0.121420531171815</c:v>
                </c:pt>
                <c:pt idx="2">
                  <c:v>0.149296128883399</c:v>
                </c:pt>
                <c:pt idx="3">
                  <c:v>0.118279747732293</c:v>
                </c:pt>
              </c:numCache>
            </c:numRef>
          </c:val>
        </c:ser>
        <c:ser>
          <c:idx val="3"/>
          <c:order val="3"/>
          <c:tx>
            <c:strRef>
              <c:f>Sheet1!$E$1</c:f>
              <c:strCache>
                <c:ptCount val="1"/>
                <c:pt idx="0">
                  <c:v>  存货</c:v>
                </c:pt>
              </c:strCache>
            </c:strRef>
          </c:tx>
          <c:spPr>
            <a:solidFill>
              <a:srgbClr val="0070C0"/>
            </a:solidFill>
            <a:ln>
              <a:noFill/>
            </a:ln>
            <a:effectLst/>
          </c:spPr>
          <c:invertIfNegative val="0"/>
          <c:dLbls>
            <c:dLbl>
              <c:idx val="0"/>
              <c:layout>
                <c:manualLayout>
                  <c:x val="-0.0162802423662328"/>
                  <c:y val="-0.0355713248153189"/>
                </c:manualLayout>
              </c:layout>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0542674745541096"/>
                  <c:y val="-0.0300988133052699"/>
                </c:manualLayout>
              </c:layout>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zh-CN" sz="1000" b="0" i="0" u="none" strike="noStrike" kern="1200" baseline="0">
                    <a:solidFill>
                      <a:schemeClr val="tx1"/>
                    </a:solidFill>
                    <a:latin typeface="+mn-lt"/>
                    <a:ea typeface="+mn-ea"/>
                    <a:cs typeface="+mn-ea"/>
                    <a:sym typeface="+mn-lt"/>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Sheet1!$E$2:$E$5</c:f>
              <c:numCache>
                <c:formatCode>0%</c:formatCode>
                <c:ptCount val="4"/>
                <c:pt idx="0">
                  <c:v>0.0248020676061533</c:v>
                </c:pt>
                <c:pt idx="1">
                  <c:v>0.0107795468663861</c:v>
                </c:pt>
                <c:pt idx="2">
                  <c:v>0.158944664626955</c:v>
                </c:pt>
                <c:pt idx="3">
                  <c:v>0.193989196791046</c:v>
                </c:pt>
              </c:numCache>
            </c:numRef>
          </c:val>
        </c:ser>
        <c:dLbls>
          <c:showLegendKey val="0"/>
          <c:showVal val="1"/>
          <c:showCatName val="0"/>
          <c:showSerName val="0"/>
          <c:showPercent val="0"/>
          <c:showBubbleSize val="0"/>
        </c:dLbls>
        <c:gapWidth val="95"/>
        <c:overlap val="100"/>
        <c:axId val="1991201200"/>
        <c:axId val="1991049600"/>
      </c:barChart>
      <c:catAx>
        <c:axId val="1991201200"/>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lang="zh-CN" sz="1400" b="0" i="0" u="none" strike="noStrike" kern="1200" baseline="0">
                <a:solidFill>
                  <a:schemeClr val="tx1"/>
                </a:solidFill>
                <a:latin typeface="+mn-lt"/>
                <a:ea typeface="+mn-ea"/>
                <a:cs typeface="+mn-ea"/>
                <a:sym typeface="+mn-lt"/>
              </a:defRPr>
            </a:pPr>
            <a:endParaRPr lang="zh-CN"/>
          </a:p>
        </c:txPr>
        <c:crossAx val="1991049600"/>
        <c:crosses val="autoZero"/>
        <c:auto val="1"/>
        <c:lblAlgn val="ctr"/>
        <c:lblOffset val="100"/>
        <c:noMultiLvlLbl val="0"/>
      </c:catAx>
      <c:valAx>
        <c:axId val="1991049600"/>
        <c:scaling>
          <c:orientation val="minMax"/>
        </c:scaling>
        <c:delete val="1"/>
        <c:axPos val="l"/>
        <c:numFmt formatCode="0%" sourceLinked="1"/>
        <c:majorTickMark val="out"/>
        <c:minorTickMark val="none"/>
        <c:tickLblPos val="none"/>
        <c:crossAx val="1991201200"/>
        <c:crosses val="autoZero"/>
        <c:crossBetween val="between"/>
      </c:valAx>
      <c:spPr>
        <a:noFill/>
        <a:ln>
          <a:noFill/>
        </a:ln>
        <a:effectLst/>
      </c:spPr>
    </c:plotArea>
    <c:legend>
      <c:legendPos val="t"/>
      <c:layout>
        <c:manualLayout>
          <c:xMode val="edge"/>
          <c:yMode val="edge"/>
          <c:x val="0.0547722633909496"/>
          <c:y val="0.0142180551116747"/>
          <c:w val="0.889538769196585"/>
          <c:h val="0.142313739084871"/>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solidFill>
              <a:latin typeface="+mn-lt"/>
              <a:ea typeface="+mn-ea"/>
              <a:cs typeface="+mn-ea"/>
              <a:sym typeface="+mn-lt"/>
            </a:defRPr>
          </a:pPr>
          <a:endParaRPr lang="zh-CN"/>
        </a:p>
      </c:txPr>
    </c:legend>
    <c:plotVisOnly val="1"/>
    <c:dispBlanksAs val="gap"/>
    <c:showDLblsOverMax val="0"/>
  </c:chart>
  <c:spPr>
    <a:noFill/>
    <a:ln w="6350" cap="flat" cmpd="sng" algn="ctr">
      <a:noFill/>
      <a:prstDash val="solid"/>
      <a:miter lim="800000"/>
    </a:ln>
    <a:effectLst/>
  </c:spPr>
  <c:txPr>
    <a:bodyPr/>
    <a:lstStyle/>
    <a:p>
      <a:pPr>
        <a:defRPr lang="zh-CN" sz="1800">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r>
              <a:rPr lang="en-US" sz="1400">
                <a:solidFill>
                  <a:schemeClr val="tx1">
                    <a:lumMod val="75000"/>
                    <a:lumOff val="25000"/>
                  </a:schemeClr>
                </a:solidFill>
              </a:rPr>
              <a:t>2014-2017</a:t>
            </a:r>
            <a:r>
              <a:rPr lang="zh-CN" sz="1400">
                <a:solidFill>
                  <a:schemeClr val="tx1">
                    <a:lumMod val="75000"/>
                    <a:lumOff val="25000"/>
                  </a:schemeClr>
                </a:solidFill>
              </a:rPr>
              <a:t>年上负债规模</a:t>
            </a:r>
          </a:p>
        </c:rich>
      </c:tx>
      <c:layout>
        <c:manualLayout>
          <c:xMode val="edge"/>
          <c:yMode val="edge"/>
          <c:x val="0.269338360552531"/>
          <c:y val="0.0862249873470849"/>
        </c:manualLayout>
      </c:layout>
      <c:overlay val="0"/>
      <c:spPr>
        <a:noFill/>
        <a:ln>
          <a:noFill/>
        </a:ln>
        <a:effectLst/>
      </c:spPr>
      <c:txPr>
        <a:bodyPr rot="0" spcFirstLastPara="1"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endParaRPr lang="zh-CN"/>
        </a:p>
      </c:txPr>
    </c:title>
    <c:autoTitleDeleted val="0"/>
    <c:plotArea>
      <c:layout>
        <c:manualLayout>
          <c:layoutTarget val="inner"/>
          <c:xMode val="edge"/>
          <c:yMode val="edge"/>
          <c:x val="0.300564983520351"/>
          <c:y val="0.219766013652805"/>
          <c:w val="0.661221669814466"/>
          <c:h val="0.497722475280526"/>
        </c:manualLayout>
      </c:layout>
      <c:barChart>
        <c:barDir val="col"/>
        <c:grouping val="clustered"/>
        <c:varyColors val="0"/>
        <c:ser>
          <c:idx val="0"/>
          <c:order val="0"/>
          <c:tx>
            <c:strRef>
              <c:f>Sheet1!$B$1</c:f>
              <c:strCache>
                <c:ptCount val="1"/>
                <c:pt idx="0">
                  <c:v>流动负债 </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cat>
            <c:strRef>
              <c:f>Sheet1!$A$2:$A$5</c:f>
              <c:strCache>
                <c:ptCount val="4"/>
                <c:pt idx="0">
                  <c:v>2014</c:v>
                </c:pt>
                <c:pt idx="1">
                  <c:v>2015</c:v>
                </c:pt>
                <c:pt idx="2">
                  <c:v>2016</c:v>
                </c:pt>
                <c:pt idx="3">
                  <c:v>2017上</c:v>
                </c:pt>
              </c:strCache>
            </c:strRef>
          </c:cat>
          <c:val>
            <c:numRef>
              <c:f>Sheet1!$B$2:$B$5</c:f>
              <c:numCache>
                <c:formatCode>#,##0.00</c:formatCode>
                <c:ptCount val="4"/>
                <c:pt idx="0">
                  <c:v>5042.4</c:v>
                </c:pt>
                <c:pt idx="1">
                  <c:v>8924.859999999922</c:v>
                </c:pt>
                <c:pt idx="2">
                  <c:v>12511.64</c:v>
                </c:pt>
                <c:pt idx="3">
                  <c:v>16907.47</c:v>
                </c:pt>
              </c:numCache>
            </c:numRef>
          </c:val>
        </c:ser>
        <c:ser>
          <c:idx val="1"/>
          <c:order val="1"/>
          <c:tx>
            <c:strRef>
              <c:f>Sheet1!$C$1</c:f>
              <c:strCache>
                <c:ptCount val="1"/>
                <c:pt idx="0">
                  <c:v>非流动负债 </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0.0</c:v>
                </c:pt>
                <c:pt idx="1">
                  <c:v>0.0</c:v>
                </c:pt>
                <c:pt idx="2">
                  <c:v>0.0</c:v>
                </c:pt>
                <c:pt idx="3">
                  <c:v>0.0</c:v>
                </c:pt>
              </c:numCache>
            </c:numRef>
          </c:val>
        </c:ser>
        <c:ser>
          <c:idx val="2"/>
          <c:order val="2"/>
          <c:tx>
            <c:strRef>
              <c:f>Sheet1!$D$1</c:f>
              <c:strCache>
                <c:ptCount val="1"/>
                <c:pt idx="0">
                  <c:v>总负债 </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cat>
            <c:strRef>
              <c:f>Sheet1!$A$2:$A$5</c:f>
              <c:strCache>
                <c:ptCount val="4"/>
                <c:pt idx="0">
                  <c:v>2014</c:v>
                </c:pt>
                <c:pt idx="1">
                  <c:v>2015</c:v>
                </c:pt>
                <c:pt idx="2">
                  <c:v>2016</c:v>
                </c:pt>
                <c:pt idx="3">
                  <c:v>2017上</c:v>
                </c:pt>
              </c:strCache>
            </c:strRef>
          </c:cat>
          <c:val>
            <c:numRef>
              <c:f>Sheet1!$D$2:$D$5</c:f>
              <c:numCache>
                <c:formatCode>#,##0.00</c:formatCode>
                <c:ptCount val="4"/>
                <c:pt idx="0">
                  <c:v>5042.4</c:v>
                </c:pt>
                <c:pt idx="1">
                  <c:v>8924.859999999922</c:v>
                </c:pt>
                <c:pt idx="2">
                  <c:v>12511.64</c:v>
                </c:pt>
                <c:pt idx="3">
                  <c:v>16907.47</c:v>
                </c:pt>
              </c:numCache>
            </c:numRef>
          </c:val>
        </c:ser>
        <c:dLbls>
          <c:showLegendKey val="0"/>
          <c:showVal val="0"/>
          <c:showCatName val="0"/>
          <c:showSerName val="0"/>
          <c:showPercent val="0"/>
          <c:showBubbleSize val="0"/>
        </c:dLbls>
        <c:gapWidth val="100"/>
        <c:overlap val="-24"/>
        <c:axId val="2023422208"/>
        <c:axId val="1995494960"/>
      </c:barChart>
      <c:catAx>
        <c:axId val="2023422208"/>
        <c:scaling>
          <c:orientation val="minMax"/>
        </c:scaling>
        <c:delete val="0"/>
        <c:axPos val="b"/>
        <c:numFmt formatCode="General" sourceLinked="0"/>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2"/>
                </a:solidFill>
                <a:latin typeface="+mn-lt"/>
                <a:ea typeface="+mn-ea"/>
                <a:cs typeface="+mn-cs"/>
              </a:defRPr>
            </a:pPr>
            <a:endParaRPr lang="zh-CN"/>
          </a:p>
        </c:txPr>
        <c:crossAx val="1995494960"/>
        <c:crosses val="autoZero"/>
        <c:auto val="1"/>
        <c:lblAlgn val="ctr"/>
        <c:lblOffset val="100"/>
        <c:noMultiLvlLbl val="0"/>
      </c:catAx>
      <c:valAx>
        <c:axId val="1995494960"/>
        <c:scaling>
          <c:orientation val="minMax"/>
        </c:scaling>
        <c:delete val="0"/>
        <c:axPos val="l"/>
        <c:majorGridlines>
          <c:spPr>
            <a:ln w="9525" cap="flat" cmpd="sng" algn="ctr">
              <a:solidFill>
                <a:schemeClr val="tx2">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023422208"/>
        <c:crosses val="autoZero"/>
        <c:crossBetween val="between"/>
      </c:valAx>
      <c:spPr>
        <a:noFill/>
        <a:ln>
          <a:noFill/>
        </a:ln>
        <a:effectLst/>
      </c:spPr>
    </c:plotArea>
    <c:legend>
      <c:legendPos val="b"/>
      <c:layout>
        <c:manualLayout>
          <c:xMode val="edge"/>
          <c:yMode val="edge"/>
          <c:x val="0.197710208125023"/>
          <c:y val="0.814865632213705"/>
          <c:w val="0.72860657321903"/>
          <c:h val="0.0820804381708879"/>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2"/>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权益总额 </c:v>
                </c:pt>
              </c:strCache>
            </c:strRef>
          </c:tx>
          <c:spPr>
            <a:solidFill>
              <a:schemeClr val="accent1"/>
            </a:solidFill>
            <a:ln>
              <a:noFill/>
            </a:ln>
            <a:effectLst/>
          </c:spPr>
          <c:invertIfNegative val="0"/>
          <c:cat>
            <c:strRef>
              <c:f>Sheet1!$A$2:$A$5</c:f>
              <c:strCache>
                <c:ptCount val="4"/>
                <c:pt idx="0">
                  <c:v>2014</c:v>
                </c:pt>
                <c:pt idx="1">
                  <c:v>2015</c:v>
                </c:pt>
                <c:pt idx="2">
                  <c:v>2016</c:v>
                </c:pt>
                <c:pt idx="3">
                  <c:v>2017上 </c:v>
                </c:pt>
              </c:strCache>
            </c:strRef>
          </c:cat>
          <c:val>
            <c:numRef>
              <c:f>Sheet1!$B$2:$B$5</c:f>
              <c:numCache>
                <c:formatCode>General</c:formatCode>
                <c:ptCount val="4"/>
                <c:pt idx="0">
                  <c:v>5900.506695</c:v>
                </c:pt>
                <c:pt idx="1">
                  <c:v>7200.358307</c:v>
                </c:pt>
                <c:pt idx="2">
                  <c:v>11196.31249</c:v>
                </c:pt>
                <c:pt idx="3">
                  <c:v>13216.536726</c:v>
                </c:pt>
              </c:numCache>
            </c:numRef>
          </c:val>
        </c:ser>
        <c:dLbls>
          <c:showLegendKey val="0"/>
          <c:showVal val="0"/>
          <c:showCatName val="0"/>
          <c:showSerName val="0"/>
          <c:showPercent val="0"/>
          <c:showBubbleSize val="0"/>
        </c:dLbls>
        <c:gapWidth val="219"/>
        <c:overlap val="-27"/>
        <c:axId val="2067488784"/>
        <c:axId val="2067116352"/>
      </c:barChart>
      <c:catAx>
        <c:axId val="2067488784"/>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067116352"/>
        <c:crosses val="autoZero"/>
        <c:auto val="1"/>
        <c:lblAlgn val="ctr"/>
        <c:lblOffset val="100"/>
        <c:noMultiLvlLbl val="0"/>
      </c:catAx>
      <c:valAx>
        <c:axId val="20671163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0674887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2160" b="1" i="0" u="none" strike="noStrike" kern="1200" baseline="0">
                <a:solidFill>
                  <a:schemeClr val="tx1"/>
                </a:solidFill>
                <a:latin typeface="+mn-lt"/>
                <a:ea typeface="+mn-ea"/>
                <a:cs typeface="+mn-cs"/>
              </a:defRPr>
            </a:pPr>
            <a:r>
              <a:rPr lang="en-US" altLang="zh-CN" sz="1400" dirty="0"/>
              <a:t>2014-2017</a:t>
            </a:r>
            <a:r>
              <a:rPr lang="zh-CN" altLang="en-US" sz="1400" dirty="0"/>
              <a:t>上营收对比图</a:t>
            </a:r>
          </a:p>
        </c:rich>
      </c:tx>
      <c:layout>
        <c:manualLayout>
          <c:xMode val="edge"/>
          <c:yMode val="edge"/>
          <c:x val="0.230232955079833"/>
          <c:y val="0.0686086245736894"/>
        </c:manualLayout>
      </c:layout>
      <c:overlay val="0"/>
      <c:spPr>
        <a:noFill/>
        <a:ln>
          <a:noFill/>
        </a:ln>
        <a:effectLst/>
      </c:spPr>
      <c:txPr>
        <a:bodyPr rot="0" spcFirstLastPara="1" vertOverflow="ellipsis" vert="horz" wrap="square" anchor="ctr" anchorCtr="1"/>
        <a:lstStyle/>
        <a:p>
          <a:pPr>
            <a:defRPr lang="zh-CN" sz="2160" b="1" i="0" u="none" strike="noStrike" kern="1200" baseline="0">
              <a:solidFill>
                <a:schemeClr val="tx1"/>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营业收入</c:v>
                </c:pt>
              </c:strCache>
            </c:strRef>
          </c:tx>
          <c:spPr>
            <a:solidFill>
              <a:schemeClr val="accent1"/>
            </a:solidFill>
            <a:ln>
              <a:noFill/>
            </a:ln>
            <a:effectLst/>
          </c:spPr>
          <c:invertIfNegative val="0"/>
          <c:cat>
            <c:strRef>
              <c:f>Sheet1!$A$2:$A$5</c:f>
              <c:strCache>
                <c:ptCount val="4"/>
                <c:pt idx="0">
                  <c:v>2014</c:v>
                </c:pt>
                <c:pt idx="1">
                  <c:v>2015</c:v>
                </c:pt>
                <c:pt idx="2">
                  <c:v>2016</c:v>
                </c:pt>
                <c:pt idx="3">
                  <c:v>2017上</c:v>
                </c:pt>
              </c:strCache>
            </c:strRef>
          </c:cat>
          <c:val>
            <c:numRef>
              <c:f>Sheet1!$B$2:$B$5</c:f>
              <c:numCache>
                <c:formatCode>General</c:formatCode>
                <c:ptCount val="4"/>
                <c:pt idx="0">
                  <c:v>12254.0</c:v>
                </c:pt>
                <c:pt idx="1">
                  <c:v>16728.0</c:v>
                </c:pt>
                <c:pt idx="2">
                  <c:v>17462.0</c:v>
                </c:pt>
                <c:pt idx="3">
                  <c:v>10714.0</c:v>
                </c:pt>
              </c:numCache>
            </c:numRef>
          </c:val>
        </c:ser>
        <c:ser>
          <c:idx val="1"/>
          <c:order val="1"/>
          <c:tx>
            <c:strRef>
              <c:f>Sheet1!$C$1</c:f>
              <c:strCache>
                <c:ptCount val="1"/>
                <c:pt idx="0">
                  <c:v>营业成本</c:v>
                </c:pt>
              </c:strCache>
            </c:strRef>
          </c:tx>
          <c:spPr>
            <a:solidFill>
              <a:schemeClr val="accent3"/>
            </a:solidFill>
            <a:ln>
              <a:noFill/>
            </a:ln>
            <a:effectLst/>
          </c:spPr>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8878.0</c:v>
                </c:pt>
                <c:pt idx="1">
                  <c:v>12060.0</c:v>
                </c:pt>
                <c:pt idx="2">
                  <c:v>11159.0</c:v>
                </c:pt>
                <c:pt idx="3">
                  <c:v>7526.0</c:v>
                </c:pt>
              </c:numCache>
            </c:numRef>
          </c:val>
        </c:ser>
        <c:ser>
          <c:idx val="2"/>
          <c:order val="2"/>
          <c:tx>
            <c:strRef>
              <c:f>Sheet1!$D$1</c:f>
              <c:strCache>
                <c:ptCount val="1"/>
                <c:pt idx="0">
                  <c:v>毛利</c:v>
                </c:pt>
              </c:strCache>
            </c:strRef>
          </c:tx>
          <c:spPr>
            <a:solidFill>
              <a:schemeClr val="accent5"/>
            </a:solidFill>
            <a:ln>
              <a:noFill/>
            </a:ln>
            <a:effectLst/>
          </c:spPr>
          <c:invertIfNegative val="0"/>
          <c:cat>
            <c:strRef>
              <c:f>Sheet1!$A$2:$A$5</c:f>
              <c:strCache>
                <c:ptCount val="4"/>
                <c:pt idx="0">
                  <c:v>2014</c:v>
                </c:pt>
                <c:pt idx="1">
                  <c:v>2015</c:v>
                </c:pt>
                <c:pt idx="2">
                  <c:v>2016</c:v>
                </c:pt>
                <c:pt idx="3">
                  <c:v>2017上</c:v>
                </c:pt>
              </c:strCache>
            </c:strRef>
          </c:cat>
          <c:val>
            <c:numRef>
              <c:f>Sheet1!$D$2:$D$5</c:f>
              <c:numCache>
                <c:formatCode>General</c:formatCode>
                <c:ptCount val="4"/>
                <c:pt idx="0">
                  <c:v>3376.0</c:v>
                </c:pt>
                <c:pt idx="1">
                  <c:v>4668.0</c:v>
                </c:pt>
                <c:pt idx="2">
                  <c:v>6303.0</c:v>
                </c:pt>
                <c:pt idx="3">
                  <c:v>3188.0</c:v>
                </c:pt>
              </c:numCache>
            </c:numRef>
          </c:val>
        </c:ser>
        <c:ser>
          <c:idx val="3"/>
          <c:order val="3"/>
          <c:tx>
            <c:strRef>
              <c:f>Sheet1!$E$1</c:f>
              <c:strCache>
                <c:ptCount val="1"/>
                <c:pt idx="0">
                  <c:v>净利润</c:v>
                </c:pt>
              </c:strCache>
            </c:strRef>
          </c:tx>
          <c:spPr>
            <a:solidFill>
              <a:schemeClr val="accent1">
                <a:lumMod val="60000"/>
              </a:schemeClr>
            </a:solidFill>
            <a:ln>
              <a:noFill/>
            </a:ln>
            <a:effectLst/>
          </c:spPr>
          <c:invertIfNegative val="0"/>
          <c:cat>
            <c:strRef>
              <c:f>Sheet1!$A$2:$A$5</c:f>
              <c:strCache>
                <c:ptCount val="4"/>
                <c:pt idx="0">
                  <c:v>2014</c:v>
                </c:pt>
                <c:pt idx="1">
                  <c:v>2015</c:v>
                </c:pt>
                <c:pt idx="2">
                  <c:v>2016</c:v>
                </c:pt>
                <c:pt idx="3">
                  <c:v>2017上</c:v>
                </c:pt>
              </c:strCache>
            </c:strRef>
          </c:cat>
          <c:val>
            <c:numRef>
              <c:f>Sheet1!$E$2:$E$5</c:f>
              <c:numCache>
                <c:formatCode>_(* #,##0.00_);_(* \(#,##0.00\);_(* "-"??_);_(@_)</c:formatCode>
                <c:ptCount val="4"/>
                <c:pt idx="0">
                  <c:v>1925.0</c:v>
                </c:pt>
                <c:pt idx="1">
                  <c:v>1313.0</c:v>
                </c:pt>
                <c:pt idx="2">
                  <c:v>4002.0</c:v>
                </c:pt>
                <c:pt idx="3">
                  <c:v>2020.0</c:v>
                </c:pt>
              </c:numCache>
            </c:numRef>
          </c:val>
        </c:ser>
        <c:dLbls>
          <c:showLegendKey val="0"/>
          <c:showVal val="0"/>
          <c:showCatName val="0"/>
          <c:showSerName val="0"/>
          <c:showPercent val="0"/>
          <c:showBubbleSize val="0"/>
        </c:dLbls>
        <c:gapWidth val="150"/>
        <c:axId val="-2093734192"/>
        <c:axId val="1954299808"/>
      </c:barChart>
      <c:catAx>
        <c:axId val="-2093734192"/>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1954299808"/>
        <c:crosses val="autoZero"/>
        <c:auto val="1"/>
        <c:lblAlgn val="ctr"/>
        <c:lblOffset val="100"/>
        <c:noMultiLvlLbl val="0"/>
      </c:catAx>
      <c:valAx>
        <c:axId val="1954299808"/>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937341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legend>
    <c:plotVisOnly val="1"/>
    <c:dispBlanksAs val="gap"/>
    <c:showDLblsOverMax val="0"/>
  </c:chart>
  <c:spPr>
    <a:noFill/>
    <a:ln w="6350" cap="flat" cmpd="sng" algn="ctr">
      <a:noFill/>
      <a:prstDash val="solid"/>
      <a:miter lim="800000"/>
    </a:ln>
    <a:effectLst/>
  </c:spPr>
  <c:txPr>
    <a:bodyPr/>
    <a:lstStyle/>
    <a:p>
      <a:pPr>
        <a:defRPr lang="zh-CN" sz="1800"/>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800" b="0" dirty="0"/>
              <a:t>当年值</a:t>
            </a:r>
          </a:p>
        </c:rich>
      </c:tx>
      <c:layout>
        <c:manualLayout>
          <c:xMode val="edge"/>
          <c:yMode val="edge"/>
          <c:x val="0.673530177693616"/>
          <c:y val="0.0270047577279855"/>
        </c:manualLayout>
      </c:layout>
      <c:overlay val="0"/>
      <c:spPr>
        <a:noFill/>
        <a:ln>
          <a:noFill/>
        </a:ln>
        <a:effectLst/>
      </c:spPr>
      <c:txPr>
        <a:bodyPr rot="0" spcFirstLastPara="1" vertOverflow="ellipsis" vert="horz" wrap="square" anchor="ctr" anchorCtr="1"/>
        <a:lstStyle/>
        <a:p>
          <a:pPr>
            <a:defRPr lang="zh-CN" sz="2160" b="1" i="0" u="none" strike="noStrike" kern="1200" baseline="0">
              <a:solidFill>
                <a:schemeClr val="tx1"/>
              </a:solidFill>
              <a:latin typeface="+mn-lt"/>
              <a:ea typeface="+mn-ea"/>
              <a:cs typeface="+mn-cs"/>
            </a:defRPr>
          </a:pPr>
          <a:endParaRPr lang="zh-CN"/>
        </a:p>
      </c:txPr>
    </c:title>
    <c:autoTitleDeleted val="0"/>
    <c:plotArea>
      <c:layout>
        <c:manualLayout>
          <c:layoutTarget val="inner"/>
          <c:xMode val="edge"/>
          <c:yMode val="edge"/>
          <c:x val="0.214505249343832"/>
          <c:y val="0.217154691145429"/>
          <c:w val="0.529322834645669"/>
          <c:h val="0.700172203088547"/>
        </c:manualLayout>
      </c:layout>
      <c:pieChart>
        <c:varyColors val="1"/>
        <c:ser>
          <c:idx val="0"/>
          <c:order val="0"/>
          <c:tx>
            <c:strRef>
              <c:f>Sheet1!$B$1</c:f>
              <c:strCache>
                <c:ptCount val="1"/>
                <c:pt idx="0">
                  <c:v>当年值</c:v>
                </c:pt>
              </c:strCache>
            </c:strRef>
          </c:tx>
          <c:dPt>
            <c:idx val="0"/>
            <c:bubble3D val="0"/>
            <c:spPr>
              <a:solidFill>
                <a:schemeClr val="accent5">
                  <a:tint val="50000"/>
                </a:schemeClr>
              </a:solidFill>
              <a:ln w="6350" cap="flat" cmpd="sng" algn="ctr">
                <a:solidFill>
                  <a:schemeClr val="lt1"/>
                </a:solidFill>
                <a:prstDash val="solid"/>
                <a:round/>
              </a:ln>
              <a:effectLst/>
            </c:spPr>
          </c:dPt>
          <c:dPt>
            <c:idx val="1"/>
            <c:bubble3D val="0"/>
            <c:spPr>
              <a:solidFill>
                <a:schemeClr val="accent5">
                  <a:tint val="70000"/>
                </a:schemeClr>
              </a:solidFill>
              <a:ln w="6350" cap="flat" cmpd="sng" algn="ctr">
                <a:solidFill>
                  <a:schemeClr val="lt1"/>
                </a:solidFill>
                <a:prstDash val="solid"/>
                <a:round/>
              </a:ln>
              <a:effectLst/>
            </c:spPr>
          </c:dPt>
          <c:dPt>
            <c:idx val="2"/>
            <c:bubble3D val="0"/>
            <c:spPr>
              <a:solidFill>
                <a:schemeClr val="accent5">
                  <a:tint val="90000"/>
                </a:schemeClr>
              </a:solidFill>
              <a:ln w="6350" cap="flat" cmpd="sng" algn="ctr">
                <a:solidFill>
                  <a:schemeClr val="lt1"/>
                </a:solidFill>
                <a:prstDash val="solid"/>
                <a:round/>
              </a:ln>
              <a:effectLst/>
            </c:spPr>
          </c:dPt>
          <c:dPt>
            <c:idx val="3"/>
            <c:bubble3D val="0"/>
            <c:spPr>
              <a:solidFill>
                <a:schemeClr val="accent5">
                  <a:shade val="90000"/>
                </a:schemeClr>
              </a:solidFill>
              <a:ln w="6350" cap="flat" cmpd="sng" algn="ctr">
                <a:solidFill>
                  <a:schemeClr val="lt1"/>
                </a:solidFill>
                <a:prstDash val="solid"/>
                <a:round/>
              </a:ln>
              <a:effectLst/>
            </c:spPr>
          </c:dPt>
          <c:dPt>
            <c:idx val="4"/>
            <c:bubble3D val="0"/>
            <c:spPr>
              <a:solidFill>
                <a:schemeClr val="accent5">
                  <a:shade val="70000"/>
                </a:schemeClr>
              </a:solidFill>
              <a:ln w="6350" cap="flat" cmpd="sng" algn="ctr">
                <a:solidFill>
                  <a:schemeClr val="lt1"/>
                </a:solidFill>
                <a:prstDash val="solid"/>
                <a:round/>
              </a:ln>
              <a:effectLst/>
            </c:spPr>
          </c:dPt>
          <c:dPt>
            <c:idx val="5"/>
            <c:bubble3D val="0"/>
            <c:spPr>
              <a:solidFill>
                <a:schemeClr val="accent5">
                  <a:shade val="50000"/>
                </a:schemeClr>
              </a:solidFill>
              <a:ln w="6350" cap="flat" cmpd="sng" algn="ctr">
                <a:solidFill>
                  <a:schemeClr val="lt1"/>
                </a:solidFill>
                <a:prstDash val="solid"/>
                <a:round/>
              </a:ln>
              <a:effectLst/>
            </c:spPr>
          </c:dPt>
          <c:cat>
            <c:strRef>
              <c:f>Sheet1!$A$2:$A$7</c:f>
              <c:strCache>
                <c:ptCount val="6"/>
                <c:pt idx="0">
                  <c:v>工程 </c:v>
                </c:pt>
                <c:pt idx="1">
                  <c:v>内销    </c:v>
                </c:pt>
                <c:pt idx="2">
                  <c:v>外销    </c:v>
                </c:pt>
                <c:pt idx="3">
                  <c:v>运营 </c:v>
                </c:pt>
                <c:pt idx="4">
                  <c:v> 设计咨询 </c:v>
                </c:pt>
                <c:pt idx="5">
                  <c:v>房屋租赁 </c:v>
                </c:pt>
              </c:strCache>
            </c:strRef>
          </c:cat>
          <c:val>
            <c:numRef>
              <c:f>Sheet1!$B$2:$B$7</c:f>
              <c:numCache>
                <c:formatCode>0%</c:formatCode>
                <c:ptCount val="6"/>
                <c:pt idx="0">
                  <c:v>0.346929251446705</c:v>
                </c:pt>
                <c:pt idx="1">
                  <c:v>0.553668097815942</c:v>
                </c:pt>
                <c:pt idx="2">
                  <c:v>0.0401344035840956</c:v>
                </c:pt>
                <c:pt idx="3">
                  <c:v>0.0153070748553295</c:v>
                </c:pt>
                <c:pt idx="4">
                  <c:v>0.0350942691805115</c:v>
                </c:pt>
                <c:pt idx="5">
                  <c:v>0.00886690311741647</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lang="zh-CN" sz="1800"/>
      </a:pPr>
      <a:endParaRPr lang="zh-CN"/>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800" b="0" dirty="0"/>
              <a:t>上年值</a:t>
            </a:r>
          </a:p>
        </c:rich>
      </c:tx>
      <c:layout>
        <c:manualLayout>
          <c:xMode val="edge"/>
          <c:yMode val="edge"/>
          <c:x val="0.651794697942677"/>
          <c:y val="0.0425916823091687"/>
        </c:manualLayout>
      </c:layout>
      <c:overlay val="0"/>
      <c:spPr>
        <a:noFill/>
        <a:ln>
          <a:noFill/>
        </a:ln>
        <a:effectLst/>
      </c:spPr>
      <c:txPr>
        <a:bodyPr rot="0" spcFirstLastPara="1" vertOverflow="ellipsis" vert="horz" wrap="square" anchor="ctr" anchorCtr="1"/>
        <a:lstStyle/>
        <a:p>
          <a:pPr>
            <a:defRPr lang="zh-CN" sz="2160" b="1" i="0" u="none" strike="noStrike" kern="1200" baseline="0">
              <a:solidFill>
                <a:schemeClr val="tx1"/>
              </a:solidFill>
              <a:latin typeface="+mn-lt"/>
              <a:ea typeface="+mn-ea"/>
              <a:cs typeface="+mn-cs"/>
            </a:defRPr>
          </a:pPr>
          <a:endParaRPr lang="zh-CN"/>
        </a:p>
      </c:txPr>
    </c:title>
    <c:autoTitleDeleted val="0"/>
    <c:plotArea>
      <c:layout/>
      <c:pieChart>
        <c:varyColors val="1"/>
        <c:ser>
          <c:idx val="0"/>
          <c:order val="0"/>
          <c:tx>
            <c:strRef>
              <c:f>Sheet1!$B$1</c:f>
              <c:strCache>
                <c:ptCount val="1"/>
                <c:pt idx="0">
                  <c:v>上年值</c:v>
                </c:pt>
              </c:strCache>
            </c:strRef>
          </c:tx>
          <c:dPt>
            <c:idx val="0"/>
            <c:bubble3D val="0"/>
            <c:spPr>
              <a:solidFill>
                <a:schemeClr val="accent5">
                  <a:tint val="50000"/>
                </a:schemeClr>
              </a:solidFill>
              <a:ln w="6350" cap="flat" cmpd="sng" algn="ctr">
                <a:solidFill>
                  <a:schemeClr val="lt1"/>
                </a:solidFill>
                <a:prstDash val="solid"/>
                <a:round/>
              </a:ln>
              <a:effectLst/>
            </c:spPr>
          </c:dPt>
          <c:dPt>
            <c:idx val="1"/>
            <c:bubble3D val="0"/>
            <c:spPr>
              <a:solidFill>
                <a:schemeClr val="accent5">
                  <a:tint val="70000"/>
                </a:schemeClr>
              </a:solidFill>
              <a:ln w="6350" cap="flat" cmpd="sng" algn="ctr">
                <a:solidFill>
                  <a:schemeClr val="lt1"/>
                </a:solidFill>
                <a:prstDash val="solid"/>
                <a:round/>
              </a:ln>
              <a:effectLst/>
            </c:spPr>
          </c:dPt>
          <c:dPt>
            <c:idx val="2"/>
            <c:bubble3D val="0"/>
            <c:spPr>
              <a:solidFill>
                <a:schemeClr val="accent5">
                  <a:tint val="90000"/>
                </a:schemeClr>
              </a:solidFill>
              <a:ln w="6350" cap="flat" cmpd="sng" algn="ctr">
                <a:solidFill>
                  <a:schemeClr val="lt1"/>
                </a:solidFill>
                <a:prstDash val="solid"/>
                <a:round/>
              </a:ln>
              <a:effectLst/>
            </c:spPr>
          </c:dPt>
          <c:dPt>
            <c:idx val="3"/>
            <c:bubble3D val="0"/>
            <c:spPr>
              <a:solidFill>
                <a:schemeClr val="accent5">
                  <a:shade val="90000"/>
                </a:schemeClr>
              </a:solidFill>
              <a:ln w="6350" cap="flat" cmpd="sng" algn="ctr">
                <a:solidFill>
                  <a:schemeClr val="lt1"/>
                </a:solidFill>
                <a:prstDash val="solid"/>
                <a:round/>
              </a:ln>
              <a:effectLst/>
            </c:spPr>
          </c:dPt>
          <c:dPt>
            <c:idx val="4"/>
            <c:bubble3D val="0"/>
            <c:spPr>
              <a:solidFill>
                <a:schemeClr val="accent5">
                  <a:shade val="70000"/>
                </a:schemeClr>
              </a:solidFill>
              <a:ln w="6350" cap="flat" cmpd="sng" algn="ctr">
                <a:solidFill>
                  <a:schemeClr val="lt1"/>
                </a:solidFill>
                <a:prstDash val="solid"/>
                <a:round/>
              </a:ln>
              <a:effectLst/>
            </c:spPr>
          </c:dPt>
          <c:dPt>
            <c:idx val="5"/>
            <c:bubble3D val="0"/>
            <c:spPr>
              <a:solidFill>
                <a:schemeClr val="accent5">
                  <a:shade val="50000"/>
                </a:schemeClr>
              </a:solidFill>
              <a:ln w="6350" cap="flat" cmpd="sng" algn="ctr">
                <a:solidFill>
                  <a:schemeClr val="lt1"/>
                </a:solidFill>
                <a:prstDash val="solid"/>
                <a:round/>
              </a:ln>
              <a:effectLst/>
            </c:spPr>
          </c:dPt>
          <c:dLbls>
            <c:delete val="1"/>
          </c:dLbls>
          <c:cat>
            <c:strRef>
              <c:f>Sheet1!$A$2:$A$7</c:f>
              <c:strCache>
                <c:ptCount val="6"/>
                <c:pt idx="0">
                  <c:v>工程 </c:v>
                </c:pt>
                <c:pt idx="1">
                  <c:v>内销    </c:v>
                </c:pt>
                <c:pt idx="2">
                  <c:v>外销    </c:v>
                </c:pt>
                <c:pt idx="3">
                  <c:v>运营 </c:v>
                </c:pt>
                <c:pt idx="4">
                  <c:v> 设计咨询 </c:v>
                </c:pt>
                <c:pt idx="5">
                  <c:v>房屋租赁 </c:v>
                </c:pt>
              </c:strCache>
            </c:strRef>
          </c:cat>
          <c:val>
            <c:numRef>
              <c:f>Sheet1!$B$2:$B$7</c:f>
              <c:numCache>
                <c:formatCode>0%</c:formatCode>
                <c:ptCount val="6"/>
                <c:pt idx="0">
                  <c:v>0.00813871196036801</c:v>
                </c:pt>
                <c:pt idx="1">
                  <c:v>0.937190375088465</c:v>
                </c:pt>
                <c:pt idx="2">
                  <c:v>0.0</c:v>
                </c:pt>
                <c:pt idx="3">
                  <c:v>0.0261854210898798</c:v>
                </c:pt>
                <c:pt idx="4">
                  <c:v>0.00778485491861289</c:v>
                </c:pt>
                <c:pt idx="5">
                  <c:v>0.0207006369426752</c:v>
                </c:pt>
              </c:numCache>
            </c:numRef>
          </c:val>
        </c:ser>
        <c:dLbls>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lang="zh-CN" sz="1800"/>
      </a:pPr>
      <a:endParaRPr lang="zh-CN"/>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sz="1400" dirty="0"/>
              <a:t>历年货币资金储备趋势对比</a:t>
            </a:r>
          </a:p>
        </c:rich>
      </c:tx>
      <c:layout>
        <c:manualLayout>
          <c:xMode val="edge"/>
          <c:yMode val="edge"/>
          <c:x val="0.341696887865978"/>
          <c:y val="0.0540818373175749"/>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0.110982346717447"/>
          <c:y val="0.151499370440321"/>
          <c:w val="0.809239653537977"/>
          <c:h val="0.630738266458858"/>
        </c:manualLayout>
      </c:layout>
      <c:barChart>
        <c:barDir val="col"/>
        <c:grouping val="clustered"/>
        <c:varyColors val="0"/>
        <c:ser>
          <c:idx val="0"/>
          <c:order val="0"/>
          <c:tx>
            <c:strRef>
              <c:f>Sheet1!$B$1</c:f>
              <c:strCache>
                <c:ptCount val="1"/>
                <c:pt idx="0">
                  <c:v>金额</c:v>
                </c:pt>
              </c:strCache>
            </c:strRef>
          </c:tx>
          <c:spPr>
            <a:solidFill>
              <a:srgbClr val="2C98D6"/>
            </a:solidFill>
            <a:ln>
              <a:noFill/>
            </a:ln>
            <a:effectLst/>
          </c:spPr>
          <c:invertIfNegative val="0"/>
          <c:cat>
            <c:strRef>
              <c:f>Sheet1!$A$2:$A$7</c:f>
              <c:strCache>
                <c:ptCount val="6"/>
                <c:pt idx="0">
                  <c:v>2012年</c:v>
                </c:pt>
                <c:pt idx="1">
                  <c:v>2013年</c:v>
                </c:pt>
                <c:pt idx="2">
                  <c:v>2014年</c:v>
                </c:pt>
                <c:pt idx="3">
                  <c:v>2015年</c:v>
                </c:pt>
                <c:pt idx="4">
                  <c:v>2016年</c:v>
                </c:pt>
                <c:pt idx="5">
                  <c:v>2017年</c:v>
                </c:pt>
              </c:strCache>
            </c:strRef>
          </c:cat>
          <c:val>
            <c:numRef>
              <c:f>Sheet1!$B$2:$B$7</c:f>
              <c:numCache>
                <c:formatCode>_ * #,##0_ ;_ * \-#,##0_ ;_ * "-"??_ ;_ @_ </c:formatCode>
                <c:ptCount val="6"/>
                <c:pt idx="0">
                  <c:v>1777.547028</c:v>
                </c:pt>
                <c:pt idx="1">
                  <c:v>344.265043</c:v>
                </c:pt>
                <c:pt idx="2">
                  <c:v>1599.05356</c:v>
                </c:pt>
                <c:pt idx="3">
                  <c:v>5292.047337</c:v>
                </c:pt>
                <c:pt idx="4">
                  <c:v>6627.696216</c:v>
                </c:pt>
                <c:pt idx="5">
                  <c:v>5364.38642</c:v>
                </c:pt>
              </c:numCache>
            </c:numRef>
          </c:val>
        </c:ser>
        <c:dLbls>
          <c:showLegendKey val="0"/>
          <c:showVal val="0"/>
          <c:showCatName val="0"/>
          <c:showSerName val="0"/>
          <c:showPercent val="0"/>
          <c:showBubbleSize val="0"/>
        </c:dLbls>
        <c:gapWidth val="150"/>
        <c:axId val="-2093741472"/>
        <c:axId val="1951950208"/>
      </c:barChart>
      <c:lineChart>
        <c:grouping val="stacked"/>
        <c:varyColors val="0"/>
        <c:ser>
          <c:idx val="1"/>
          <c:order val="1"/>
          <c:tx>
            <c:strRef>
              <c:f>Sheet1!$C$1</c:f>
              <c:strCache>
                <c:ptCount val="1"/>
                <c:pt idx="0">
                  <c:v>列1</c:v>
                </c:pt>
              </c:strCache>
            </c:strRef>
          </c:tx>
          <c:spPr>
            <a:ln w="28575" cap="rnd">
              <a:solidFill>
                <a:schemeClr val="accent3"/>
              </a:solidFill>
              <a:round/>
            </a:ln>
            <a:effectLst/>
          </c:spPr>
          <c:marker>
            <c:symbol val="none"/>
          </c:marker>
          <c:cat>
            <c:strRef>
              <c:f>Sheet1!$A$2:$A$7</c:f>
              <c:strCache>
                <c:ptCount val="6"/>
                <c:pt idx="0">
                  <c:v>2012年</c:v>
                </c:pt>
                <c:pt idx="1">
                  <c:v>2013年</c:v>
                </c:pt>
                <c:pt idx="2">
                  <c:v>2014年</c:v>
                </c:pt>
                <c:pt idx="3">
                  <c:v>2015年</c:v>
                </c:pt>
                <c:pt idx="4">
                  <c:v>2016年</c:v>
                </c:pt>
                <c:pt idx="5">
                  <c:v>2017年</c:v>
                </c:pt>
              </c:strCache>
            </c:strRef>
          </c:cat>
          <c:val>
            <c:numRef>
              <c:f>Sheet1!$C$2:$C$7</c:f>
              <c:numCache>
                <c:formatCode>0%</c:formatCode>
                <c:ptCount val="6"/>
                <c:pt idx="0">
                  <c:v>0.08</c:v>
                </c:pt>
                <c:pt idx="1">
                  <c:v>0.0163896746036186</c:v>
                </c:pt>
                <c:pt idx="2">
                  <c:v>0.0761272980078839</c:v>
                </c:pt>
                <c:pt idx="3">
                  <c:v>0.25194232061597</c:v>
                </c:pt>
                <c:pt idx="4">
                  <c:v>0.31552952168854</c:v>
                </c:pt>
                <c:pt idx="5">
                  <c:v>0.255386219599039</c:v>
                </c:pt>
              </c:numCache>
            </c:numRef>
          </c:val>
          <c:smooth val="0"/>
        </c:ser>
        <c:dLbls>
          <c:showLegendKey val="0"/>
          <c:showVal val="0"/>
          <c:showCatName val="0"/>
          <c:showSerName val="0"/>
          <c:showPercent val="0"/>
          <c:showBubbleSize val="0"/>
        </c:dLbls>
        <c:marker val="1"/>
        <c:smooth val="0"/>
        <c:axId val="2023327312"/>
        <c:axId val="-2093441600"/>
      </c:lineChart>
      <c:catAx>
        <c:axId val="-2093741472"/>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951950208"/>
        <c:crosses val="autoZero"/>
        <c:auto val="1"/>
        <c:lblAlgn val="ctr"/>
        <c:lblOffset val="100"/>
        <c:noMultiLvlLbl val="0"/>
      </c:catAx>
      <c:valAx>
        <c:axId val="1951950208"/>
        <c:scaling>
          <c:orientation val="minMax"/>
        </c:scaling>
        <c:delete val="0"/>
        <c:axPos val="l"/>
        <c:majorGridlines>
          <c:spPr>
            <a:ln w="9525" cap="flat" cmpd="sng" algn="ctr">
              <a:solidFill>
                <a:schemeClr val="tx1">
                  <a:lumMod val="15000"/>
                  <a:lumOff val="85000"/>
                </a:schemeClr>
              </a:solidFill>
              <a:round/>
            </a:ln>
            <a:effectLst/>
          </c:spPr>
        </c:majorGridlines>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093741472"/>
        <c:crosses val="autoZero"/>
        <c:crossBetween val="between"/>
      </c:valAx>
      <c:catAx>
        <c:axId val="2023327312"/>
        <c:scaling>
          <c:orientation val="minMax"/>
        </c:scaling>
        <c:delete val="1"/>
        <c:axPos val="b"/>
        <c:numFmt formatCode="General" sourceLinked="1"/>
        <c:majorTickMark val="none"/>
        <c:minorTickMark val="none"/>
        <c:tickLblPos val="none"/>
        <c:crossAx val="-2093441600"/>
        <c:crosses val="autoZero"/>
        <c:auto val="1"/>
        <c:lblAlgn val="ctr"/>
        <c:lblOffset val="100"/>
        <c:noMultiLvlLbl val="0"/>
      </c:catAx>
      <c:valAx>
        <c:axId val="-2093441600"/>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023327312"/>
        <c:crosses val="max"/>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1" i="0" u="none" strike="noStrike" kern="1200" baseline="0">
                <a:solidFill>
                  <a:schemeClr val="tx1"/>
                </a:solidFill>
                <a:latin typeface="+mn-lt"/>
                <a:ea typeface="+mn-ea"/>
                <a:cs typeface="+mn-cs"/>
              </a:defRPr>
            </a:pPr>
            <a:r>
              <a:rPr lang="en-US" altLang="zh-CN" dirty="0"/>
              <a:t>2014-2017</a:t>
            </a:r>
            <a:r>
              <a:rPr lang="zh-CN" altLang="en-US" dirty="0"/>
              <a:t>年上期间费用对比图</a:t>
            </a:r>
          </a:p>
        </c:rich>
      </c:tx>
      <c:overlay val="0"/>
      <c:spPr>
        <a:noFill/>
        <a:ln>
          <a:noFill/>
        </a:ln>
        <a:effectLst/>
      </c:spPr>
      <c:txPr>
        <a:bodyPr rot="0" spcFirstLastPara="1" vertOverflow="ellipsis" vert="horz" wrap="square" anchor="ctr" anchorCtr="1"/>
        <a:lstStyle/>
        <a:p>
          <a:pPr>
            <a:defRPr lang="zh-CN" sz="1200" b="1" i="0" u="none" strike="noStrike" kern="1200" baseline="0">
              <a:solidFill>
                <a:schemeClr val="tx1"/>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销售费用</c:v>
                </c:pt>
              </c:strCache>
            </c:strRef>
          </c:tx>
          <c:spPr>
            <a:solidFill>
              <a:schemeClr val="accent1"/>
            </a:solidFill>
            <a:ln>
              <a:noFill/>
            </a:ln>
            <a:effectLst/>
          </c:spPr>
          <c:invertIfNegative val="0"/>
          <c:cat>
            <c:strRef>
              <c:f>Sheet1!$A$2:$A$5</c:f>
              <c:strCache>
                <c:ptCount val="4"/>
                <c:pt idx="0">
                  <c:v>2014</c:v>
                </c:pt>
                <c:pt idx="1">
                  <c:v>2015</c:v>
                </c:pt>
                <c:pt idx="2">
                  <c:v>2016</c:v>
                </c:pt>
                <c:pt idx="3">
                  <c:v>2017上</c:v>
                </c:pt>
              </c:strCache>
            </c:strRef>
          </c:cat>
          <c:val>
            <c:numRef>
              <c:f>Sheet1!$B$2:$B$5</c:f>
              <c:numCache>
                <c:formatCode>General</c:formatCode>
                <c:ptCount val="4"/>
                <c:pt idx="0">
                  <c:v>112.0</c:v>
                </c:pt>
                <c:pt idx="1">
                  <c:v>134.0</c:v>
                </c:pt>
                <c:pt idx="2">
                  <c:v>200.0</c:v>
                </c:pt>
                <c:pt idx="3">
                  <c:v>117.0</c:v>
                </c:pt>
              </c:numCache>
            </c:numRef>
          </c:val>
        </c:ser>
        <c:ser>
          <c:idx val="1"/>
          <c:order val="1"/>
          <c:tx>
            <c:strRef>
              <c:f>Sheet1!$C$1</c:f>
              <c:strCache>
                <c:ptCount val="1"/>
                <c:pt idx="0">
                  <c:v>管理费有</c:v>
                </c:pt>
              </c:strCache>
            </c:strRef>
          </c:tx>
          <c:spPr>
            <a:solidFill>
              <a:schemeClr val="accent3"/>
            </a:solidFill>
            <a:ln>
              <a:noFill/>
            </a:ln>
            <a:effectLst/>
          </c:spPr>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920.0</c:v>
                </c:pt>
                <c:pt idx="1">
                  <c:v>1150.0</c:v>
                </c:pt>
                <c:pt idx="2">
                  <c:v>1622.0</c:v>
                </c:pt>
                <c:pt idx="3">
                  <c:v>834.0</c:v>
                </c:pt>
              </c:numCache>
            </c:numRef>
          </c:val>
        </c:ser>
        <c:ser>
          <c:idx val="2"/>
          <c:order val="2"/>
          <c:tx>
            <c:strRef>
              <c:f>Sheet1!$D$1</c:f>
              <c:strCache>
                <c:ptCount val="1"/>
                <c:pt idx="0">
                  <c:v>财务费用</c:v>
                </c:pt>
              </c:strCache>
            </c:strRef>
          </c:tx>
          <c:spPr>
            <a:solidFill>
              <a:schemeClr val="accent5"/>
            </a:solidFill>
            <a:ln>
              <a:noFill/>
            </a:ln>
            <a:effectLst/>
          </c:spPr>
          <c:invertIfNegative val="0"/>
          <c:cat>
            <c:strRef>
              <c:f>Sheet1!$A$2:$A$5</c:f>
              <c:strCache>
                <c:ptCount val="4"/>
                <c:pt idx="0">
                  <c:v>2014</c:v>
                </c:pt>
                <c:pt idx="1">
                  <c:v>2015</c:v>
                </c:pt>
                <c:pt idx="2">
                  <c:v>2016</c:v>
                </c:pt>
                <c:pt idx="3">
                  <c:v>2017上</c:v>
                </c:pt>
              </c:strCache>
            </c:strRef>
          </c:cat>
          <c:val>
            <c:numRef>
              <c:f>Sheet1!$D$2:$D$5</c:f>
              <c:numCache>
                <c:formatCode>General</c:formatCode>
                <c:ptCount val="4"/>
                <c:pt idx="0">
                  <c:v>14.0</c:v>
                </c:pt>
                <c:pt idx="1">
                  <c:v>19.0</c:v>
                </c:pt>
                <c:pt idx="2">
                  <c:v>-74.0</c:v>
                </c:pt>
                <c:pt idx="3">
                  <c:v>147.0</c:v>
                </c:pt>
              </c:numCache>
            </c:numRef>
          </c:val>
        </c:ser>
        <c:dLbls>
          <c:showLegendKey val="0"/>
          <c:showVal val="0"/>
          <c:showCatName val="0"/>
          <c:showSerName val="0"/>
          <c:showPercent val="0"/>
          <c:showBubbleSize val="0"/>
        </c:dLbls>
        <c:gapWidth val="75"/>
        <c:overlap val="-25"/>
        <c:axId val="-2096479936"/>
        <c:axId val="-2096506704"/>
      </c:barChart>
      <c:catAx>
        <c:axId val="-2096479936"/>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2096506704"/>
        <c:crosses val="autoZero"/>
        <c:auto val="1"/>
        <c:lblAlgn val="ctr"/>
        <c:lblOffset val="100"/>
        <c:noMultiLvlLbl val="0"/>
      </c:catAx>
      <c:valAx>
        <c:axId val="-2096506704"/>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20964799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legend>
    <c:plotVisOnly val="1"/>
    <c:dispBlanksAs val="gap"/>
    <c:showDLblsOverMax val="0"/>
  </c:chart>
  <c:spPr>
    <a:noFill/>
    <a:ln w="6350" cap="flat" cmpd="sng" algn="ctr">
      <a:noFill/>
      <a:prstDash val="solid"/>
      <a:miter lim="800000"/>
    </a:ln>
    <a:effectLst/>
  </c:spPr>
  <c:txPr>
    <a:bodyPr/>
    <a:lstStyle/>
    <a:p>
      <a:pPr>
        <a:defRPr lang="zh-CN" sz="1000" baseline="0"/>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100" b="1" i="0" u="none" strike="noStrike" kern="1200" baseline="0">
                <a:solidFill>
                  <a:schemeClr val="tx1"/>
                </a:solidFill>
                <a:latin typeface="+mn-lt"/>
                <a:ea typeface="+mn-ea"/>
                <a:cs typeface="+mn-cs"/>
              </a:defRPr>
            </a:pPr>
            <a:r>
              <a:rPr lang="en-US" altLang="zh-CN" sz="1100" baseline="0" dirty="0"/>
              <a:t>2016-2017</a:t>
            </a:r>
            <a:r>
              <a:rPr lang="zh-CN" altLang="en-US" sz="1100" baseline="0" dirty="0"/>
              <a:t>销售费用结构比</a:t>
            </a:r>
          </a:p>
        </c:rich>
      </c:tx>
      <c:layout>
        <c:manualLayout>
          <c:xMode val="edge"/>
          <c:yMode val="edge"/>
          <c:x val="0.165191089329673"/>
          <c:y val="0.0155619963794873"/>
        </c:manualLayout>
      </c:layout>
      <c:overlay val="0"/>
      <c:spPr>
        <a:noFill/>
        <a:ln>
          <a:noFill/>
        </a:ln>
        <a:effectLst/>
      </c:spPr>
      <c:txPr>
        <a:bodyPr rot="0" spcFirstLastPara="1" vertOverflow="ellipsis" vert="horz" wrap="square" anchor="ctr" anchorCtr="1"/>
        <a:lstStyle/>
        <a:p>
          <a:pPr>
            <a:defRPr lang="zh-CN" sz="1100" b="1" i="0" u="none" strike="noStrike" kern="1200" baseline="0">
              <a:solidFill>
                <a:schemeClr val="tx1"/>
              </a:solidFill>
              <a:latin typeface="+mn-lt"/>
              <a:ea typeface="+mn-ea"/>
              <a:cs typeface="+mn-cs"/>
            </a:defRPr>
          </a:pPr>
          <a:endParaRPr lang="zh-CN"/>
        </a:p>
      </c:txPr>
    </c:title>
    <c:autoTitleDeleted val="0"/>
    <c:plotArea>
      <c:layout/>
      <c:barChart>
        <c:barDir val="col"/>
        <c:grouping val="percentStacked"/>
        <c:varyColors val="0"/>
        <c:ser>
          <c:idx val="0"/>
          <c:order val="0"/>
          <c:tx>
            <c:strRef>
              <c:f>Sheet1!$B$1</c:f>
              <c:strCache>
                <c:ptCount val="1"/>
                <c:pt idx="0">
                  <c:v>  职工薪酬</c:v>
                </c:pt>
              </c:strCache>
            </c:strRef>
          </c:tx>
          <c:spPr>
            <a:solidFill>
              <a:schemeClr val="accent1"/>
            </a:solidFill>
            <a:ln>
              <a:noFill/>
            </a:ln>
            <a:effectLst/>
          </c:spPr>
          <c:invertIfNegative val="0"/>
          <c:cat>
            <c:strRef>
              <c:f>Sheet1!$A$2:$A$3</c:f>
              <c:strCache>
                <c:ptCount val="2"/>
                <c:pt idx="0">
                  <c:v>2017年</c:v>
                </c:pt>
                <c:pt idx="1">
                  <c:v>2016年</c:v>
                </c:pt>
              </c:strCache>
            </c:strRef>
          </c:cat>
          <c:val>
            <c:numRef>
              <c:f>Sheet1!$B$2:$B$3</c:f>
              <c:numCache>
                <c:formatCode>_(* #,##0.00_);_(* \(#,##0.00\);_(* "-"??_);_(@_)</c:formatCode>
                <c:ptCount val="2"/>
                <c:pt idx="0">
                  <c:v>8000.0</c:v>
                </c:pt>
                <c:pt idx="1">
                  <c:v>7500.0</c:v>
                </c:pt>
              </c:numCache>
            </c:numRef>
          </c:val>
        </c:ser>
        <c:ser>
          <c:idx val="2"/>
          <c:order val="1"/>
          <c:tx>
            <c:strRef>
              <c:f>Sheet1!$D$1</c:f>
              <c:strCache>
                <c:ptCount val="1"/>
                <c:pt idx="0">
                  <c:v>差旅及交通费</c:v>
                </c:pt>
              </c:strCache>
            </c:strRef>
          </c:tx>
          <c:spPr>
            <a:solidFill>
              <a:schemeClr val="accent5"/>
            </a:solidFill>
            <a:ln>
              <a:noFill/>
            </a:ln>
            <a:effectLst/>
          </c:spPr>
          <c:invertIfNegative val="0"/>
          <c:cat>
            <c:strRef>
              <c:f>Sheet1!$A$2:$A$3</c:f>
              <c:strCache>
                <c:ptCount val="2"/>
                <c:pt idx="0">
                  <c:v>2017年</c:v>
                </c:pt>
                <c:pt idx="1">
                  <c:v>2016年</c:v>
                </c:pt>
              </c:strCache>
            </c:strRef>
          </c:cat>
          <c:val>
            <c:numRef>
              <c:f>Sheet1!$D$2:$D$3</c:f>
              <c:numCache>
                <c:formatCode>_(* #,##0.00_);_(* \(#,##0.00\);_(* "-"??_);_(@_)</c:formatCode>
                <c:ptCount val="2"/>
                <c:pt idx="0">
                  <c:v>20000.0</c:v>
                </c:pt>
                <c:pt idx="1">
                  <c:v>23000.0</c:v>
                </c:pt>
              </c:numCache>
            </c:numRef>
          </c:val>
        </c:ser>
        <c:ser>
          <c:idx val="3"/>
          <c:order val="2"/>
          <c:tx>
            <c:strRef>
              <c:f>Sheet1!$E$1</c:f>
              <c:strCache>
                <c:ptCount val="1"/>
                <c:pt idx="0">
                  <c:v>业务招待费</c:v>
                </c:pt>
              </c:strCache>
            </c:strRef>
          </c:tx>
          <c:spPr>
            <a:solidFill>
              <a:schemeClr val="accent1">
                <a:lumMod val="60000"/>
              </a:schemeClr>
            </a:solidFill>
            <a:ln>
              <a:noFill/>
            </a:ln>
            <a:effectLst/>
          </c:spPr>
          <c:invertIfNegative val="0"/>
          <c:cat>
            <c:strRef>
              <c:f>Sheet1!$A$2:$A$3</c:f>
              <c:strCache>
                <c:ptCount val="2"/>
                <c:pt idx="0">
                  <c:v>2017年</c:v>
                </c:pt>
                <c:pt idx="1">
                  <c:v>2016年</c:v>
                </c:pt>
              </c:strCache>
            </c:strRef>
          </c:cat>
          <c:val>
            <c:numRef>
              <c:f>Sheet1!$E$2:$E$3</c:f>
              <c:numCache>
                <c:formatCode>_(* #,##0.00_);_(* \(#,##0.00\);_(* "-"??_);_(@_)</c:formatCode>
                <c:ptCount val="2"/>
                <c:pt idx="0">
                  <c:v>5000.0</c:v>
                </c:pt>
                <c:pt idx="1">
                  <c:v>6000.0</c:v>
                </c:pt>
              </c:numCache>
            </c:numRef>
          </c:val>
        </c:ser>
        <c:ser>
          <c:idx val="4"/>
          <c:order val="3"/>
          <c:tx>
            <c:strRef>
              <c:f>Sheet1!$F$1</c:f>
              <c:strCache>
                <c:ptCount val="1"/>
                <c:pt idx="0">
                  <c:v>运杂费</c:v>
                </c:pt>
              </c:strCache>
            </c:strRef>
          </c:tx>
          <c:spPr>
            <a:solidFill>
              <a:schemeClr val="accent3">
                <a:lumMod val="60000"/>
              </a:schemeClr>
            </a:solidFill>
            <a:ln>
              <a:noFill/>
            </a:ln>
            <a:effectLst/>
          </c:spPr>
          <c:invertIfNegative val="0"/>
          <c:dPt>
            <c:idx val="0"/>
            <c:invertIfNegative val="0"/>
            <c:bubble3D val="0"/>
            <c:spPr>
              <a:solidFill>
                <a:schemeClr val="bg1">
                  <a:lumMod val="75000"/>
                </a:schemeClr>
              </a:solidFill>
              <a:ln>
                <a:noFill/>
              </a:ln>
              <a:effectLst/>
            </c:spPr>
          </c:dPt>
          <c:dPt>
            <c:idx val="1"/>
            <c:invertIfNegative val="0"/>
            <c:bubble3D val="0"/>
            <c:spPr>
              <a:solidFill>
                <a:schemeClr val="bg1">
                  <a:lumMod val="75000"/>
                </a:schemeClr>
              </a:solidFill>
              <a:ln>
                <a:noFill/>
              </a:ln>
              <a:effectLst/>
            </c:spPr>
          </c:dPt>
          <c:cat>
            <c:strRef>
              <c:f>Sheet1!$A$2:$A$3</c:f>
              <c:strCache>
                <c:ptCount val="2"/>
                <c:pt idx="0">
                  <c:v>2017年</c:v>
                </c:pt>
                <c:pt idx="1">
                  <c:v>2016年</c:v>
                </c:pt>
              </c:strCache>
            </c:strRef>
          </c:cat>
          <c:val>
            <c:numRef>
              <c:f>Sheet1!$F$2:$F$3</c:f>
              <c:numCache>
                <c:formatCode>_(* #,##0.00_);_(* \(#,##0.00\);_(* "-"??_);_(@_)</c:formatCode>
                <c:ptCount val="2"/>
                <c:pt idx="0">
                  <c:v>60000.0</c:v>
                </c:pt>
                <c:pt idx="1">
                  <c:v>70000.0</c:v>
                </c:pt>
              </c:numCache>
            </c:numRef>
          </c:val>
        </c:ser>
        <c:ser>
          <c:idx val="5"/>
          <c:order val="4"/>
          <c:tx>
            <c:strRef>
              <c:f>Sheet1!$C$1</c:f>
              <c:strCache>
                <c:ptCount val="1"/>
                <c:pt idx="0">
                  <c:v>质保维修费</c:v>
                </c:pt>
              </c:strCache>
            </c:strRef>
          </c:tx>
          <c:spPr>
            <a:solidFill>
              <a:schemeClr val="accent5">
                <a:lumMod val="60000"/>
              </a:schemeClr>
            </a:solidFill>
            <a:ln>
              <a:noFill/>
            </a:ln>
            <a:effectLst/>
          </c:spPr>
          <c:invertIfNegative val="0"/>
          <c:cat>
            <c:strRef>
              <c:f>Sheet1!$A$2:$A$3</c:f>
              <c:strCache>
                <c:ptCount val="2"/>
                <c:pt idx="0">
                  <c:v>2017年</c:v>
                </c:pt>
                <c:pt idx="1">
                  <c:v>2016年</c:v>
                </c:pt>
              </c:strCache>
            </c:strRef>
          </c:cat>
          <c:val>
            <c:numRef>
              <c:f>Sheet1!$C$2:$C$3</c:f>
              <c:numCache>
                <c:formatCode>_(* #,##0.00_);_(* \(#,##0.00\);_(* "-"??_);_(@_)</c:formatCode>
                <c:ptCount val="2"/>
                <c:pt idx="0">
                  <c:v>5000.0</c:v>
                </c:pt>
                <c:pt idx="1">
                  <c:v>4300.0</c:v>
                </c:pt>
              </c:numCache>
            </c:numRef>
          </c:val>
        </c:ser>
        <c:dLbls>
          <c:showLegendKey val="0"/>
          <c:showVal val="0"/>
          <c:showCatName val="0"/>
          <c:showSerName val="0"/>
          <c:showPercent val="0"/>
          <c:showBubbleSize val="0"/>
        </c:dLbls>
        <c:gapWidth val="55"/>
        <c:overlap val="100"/>
        <c:axId val="-2093560512"/>
        <c:axId val="-2093558464"/>
      </c:barChart>
      <c:catAx>
        <c:axId val="-2093560512"/>
        <c:scaling>
          <c:orientation val="minMax"/>
        </c:scaling>
        <c:delete val="0"/>
        <c:axPos val="b"/>
        <c:numFmt formatCode="General" sourceLinked="1"/>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93558464"/>
        <c:crosses val="autoZero"/>
        <c:auto val="1"/>
        <c:lblAlgn val="ctr"/>
        <c:lblOffset val="100"/>
        <c:noMultiLvlLbl val="0"/>
      </c:catAx>
      <c:valAx>
        <c:axId val="-2093558464"/>
        <c:scaling>
          <c:orientation val="minMax"/>
        </c:scaling>
        <c:delete val="0"/>
        <c:axPos val="l"/>
        <c:majorGridlines>
          <c:spPr>
            <a:ln w="6350" cap="flat" cmpd="sng" algn="ctr">
              <a:solidFill>
                <a:schemeClr val="tx1">
                  <a:tint val="75000"/>
                </a:schemeClr>
              </a:solidFill>
              <a:prstDash val="solid"/>
              <a:round/>
            </a:ln>
            <a:effectLst/>
          </c:spPr>
        </c:majorGridlines>
        <c:numFmt formatCode="0%" sourceLinked="1"/>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935605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legend>
    <c:plotVisOnly val="1"/>
    <c:dispBlanksAs val="gap"/>
    <c:showDLblsOverMax val="0"/>
  </c:chart>
  <c:spPr>
    <a:noFill/>
    <a:ln w="6350" cap="flat" cmpd="sng" algn="ctr">
      <a:noFill/>
      <a:prstDash val="solid"/>
      <a:miter lim="800000"/>
    </a:ln>
    <a:effectLst/>
  </c:spPr>
  <c:txPr>
    <a:bodyPr/>
    <a:lstStyle/>
    <a:p>
      <a:pPr>
        <a:defRPr lang="zh-CN" sz="1800"/>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100" b="1" i="0" u="none" strike="noStrike" kern="1200" baseline="0">
                <a:solidFill>
                  <a:schemeClr val="tx1"/>
                </a:solidFill>
                <a:latin typeface="+mn-lt"/>
                <a:ea typeface="+mn-ea"/>
                <a:cs typeface="+mn-cs"/>
              </a:defRPr>
            </a:pPr>
            <a:r>
              <a:rPr lang="en-US" altLang="zh-CN" sz="1100" b="1" i="0" baseline="0" dirty="0"/>
              <a:t>2016-2017</a:t>
            </a:r>
            <a:r>
              <a:rPr lang="zh-CN" altLang="en-US" sz="1100" b="1" i="0" baseline="0" dirty="0"/>
              <a:t>管理</a:t>
            </a:r>
            <a:r>
              <a:rPr lang="zh-CN" altLang="zh-CN" sz="1100" b="1" i="0" baseline="0" dirty="0"/>
              <a:t>费用结构比</a:t>
            </a:r>
          </a:p>
        </c:rich>
      </c:tx>
      <c:layout>
        <c:manualLayout>
          <c:xMode val="edge"/>
          <c:yMode val="edge"/>
          <c:x val="0.145425557874522"/>
          <c:y val="0.0157427868286177"/>
        </c:manualLayout>
      </c:layout>
      <c:overlay val="0"/>
      <c:spPr>
        <a:noFill/>
        <a:ln>
          <a:noFill/>
        </a:ln>
        <a:effectLst/>
      </c:spPr>
      <c:txPr>
        <a:bodyPr rot="0" spcFirstLastPara="1" vertOverflow="ellipsis" vert="horz" wrap="square" anchor="ctr" anchorCtr="1"/>
        <a:lstStyle/>
        <a:p>
          <a:pPr>
            <a:defRPr lang="zh-CN" sz="1100" b="1" i="0" u="none" strike="noStrike" kern="1200" baseline="0">
              <a:solidFill>
                <a:schemeClr val="tx1"/>
              </a:solidFill>
              <a:latin typeface="+mn-lt"/>
              <a:ea typeface="+mn-ea"/>
              <a:cs typeface="+mn-cs"/>
            </a:defRPr>
          </a:pPr>
          <a:endParaRPr lang="zh-CN"/>
        </a:p>
      </c:txPr>
    </c:title>
    <c:autoTitleDeleted val="0"/>
    <c:plotArea>
      <c:layout/>
      <c:barChart>
        <c:barDir val="col"/>
        <c:grouping val="percentStacked"/>
        <c:varyColors val="0"/>
        <c:ser>
          <c:idx val="0"/>
          <c:order val="0"/>
          <c:tx>
            <c:strRef>
              <c:f>Sheet1!$B$1</c:f>
              <c:strCache>
                <c:ptCount val="1"/>
                <c:pt idx="0">
                  <c:v>职工薪酬</c:v>
                </c:pt>
              </c:strCache>
            </c:strRef>
          </c:tx>
          <c:spPr>
            <a:solidFill>
              <a:schemeClr val="accent1"/>
            </a:solidFill>
            <a:ln>
              <a:noFill/>
            </a:ln>
            <a:effectLst/>
          </c:spPr>
          <c:invertIfNegative val="0"/>
          <c:cat>
            <c:strRef>
              <c:f>Sheet1!$A$2:$A$3</c:f>
              <c:strCache>
                <c:ptCount val="2"/>
                <c:pt idx="0">
                  <c:v>2017年</c:v>
                </c:pt>
                <c:pt idx="1">
                  <c:v>2016年</c:v>
                </c:pt>
              </c:strCache>
            </c:strRef>
          </c:cat>
          <c:val>
            <c:numRef>
              <c:f>Sheet1!$B$2:$B$3</c:f>
              <c:numCache>
                <c:formatCode>0%</c:formatCode>
                <c:ptCount val="2"/>
                <c:pt idx="0">
                  <c:v>0.310926050576374</c:v>
                </c:pt>
                <c:pt idx="1">
                  <c:v>0.390907125455026</c:v>
                </c:pt>
              </c:numCache>
            </c:numRef>
          </c:val>
        </c:ser>
        <c:ser>
          <c:idx val="1"/>
          <c:order val="1"/>
          <c:tx>
            <c:strRef>
              <c:f>Sheet1!$C$1</c:f>
              <c:strCache>
                <c:ptCount val="1"/>
                <c:pt idx="0">
                  <c:v>办公费</c:v>
                </c:pt>
              </c:strCache>
            </c:strRef>
          </c:tx>
          <c:spPr>
            <a:solidFill>
              <a:schemeClr val="accent3"/>
            </a:solidFill>
            <a:ln>
              <a:noFill/>
            </a:ln>
            <a:effectLst/>
          </c:spPr>
          <c:invertIfNegative val="0"/>
          <c:cat>
            <c:strRef>
              <c:f>Sheet1!$A$2:$A$3</c:f>
              <c:strCache>
                <c:ptCount val="2"/>
                <c:pt idx="0">
                  <c:v>2017年</c:v>
                </c:pt>
                <c:pt idx="1">
                  <c:v>2016年</c:v>
                </c:pt>
              </c:strCache>
            </c:strRef>
          </c:cat>
          <c:val>
            <c:numRef>
              <c:f>Sheet1!$C$2:$C$3</c:f>
              <c:numCache>
                <c:formatCode>0%</c:formatCode>
                <c:ptCount val="2"/>
                <c:pt idx="0">
                  <c:v>0.0824822552222196</c:v>
                </c:pt>
                <c:pt idx="1">
                  <c:v>0.0820209713238027</c:v>
                </c:pt>
              </c:numCache>
            </c:numRef>
          </c:val>
        </c:ser>
        <c:ser>
          <c:idx val="2"/>
          <c:order val="2"/>
          <c:tx>
            <c:strRef>
              <c:f>Sheet1!$D$1</c:f>
              <c:strCache>
                <c:ptCount val="1"/>
                <c:pt idx="0">
                  <c:v>车辆费用</c:v>
                </c:pt>
              </c:strCache>
            </c:strRef>
          </c:tx>
          <c:spPr>
            <a:solidFill>
              <a:schemeClr val="accent5"/>
            </a:solidFill>
            <a:ln>
              <a:noFill/>
            </a:ln>
            <a:effectLst/>
          </c:spPr>
          <c:invertIfNegative val="0"/>
          <c:cat>
            <c:strRef>
              <c:f>Sheet1!$A$2:$A$3</c:f>
              <c:strCache>
                <c:ptCount val="2"/>
                <c:pt idx="0">
                  <c:v>2017年</c:v>
                </c:pt>
                <c:pt idx="1">
                  <c:v>2016年</c:v>
                </c:pt>
              </c:strCache>
            </c:strRef>
          </c:cat>
          <c:val>
            <c:numRef>
              <c:f>Sheet1!$D$2:$D$3</c:f>
              <c:numCache>
                <c:formatCode>0%</c:formatCode>
                <c:ptCount val="2"/>
                <c:pt idx="0">
                  <c:v>0.0228910474649484</c:v>
                </c:pt>
                <c:pt idx="1">
                  <c:v>0.0276602843747024</c:v>
                </c:pt>
              </c:numCache>
            </c:numRef>
          </c:val>
        </c:ser>
        <c:ser>
          <c:idx val="3"/>
          <c:order val="3"/>
          <c:tx>
            <c:strRef>
              <c:f>Sheet1!$E$1</c:f>
              <c:strCache>
                <c:ptCount val="1"/>
                <c:pt idx="0">
                  <c:v>项目费用</c:v>
                </c:pt>
              </c:strCache>
            </c:strRef>
          </c:tx>
          <c:spPr>
            <a:solidFill>
              <a:schemeClr val="accent1">
                <a:lumMod val="60000"/>
              </a:schemeClr>
            </a:solidFill>
            <a:ln>
              <a:noFill/>
            </a:ln>
            <a:effectLst/>
          </c:spPr>
          <c:invertIfNegative val="0"/>
          <c:cat>
            <c:strRef>
              <c:f>Sheet1!$A$2:$A$3</c:f>
              <c:strCache>
                <c:ptCount val="2"/>
                <c:pt idx="0">
                  <c:v>2017年</c:v>
                </c:pt>
                <c:pt idx="1">
                  <c:v>2016年</c:v>
                </c:pt>
              </c:strCache>
            </c:strRef>
          </c:cat>
          <c:val>
            <c:numRef>
              <c:f>Sheet1!$E$2:$E$3</c:f>
              <c:numCache>
                <c:formatCode>0%</c:formatCode>
                <c:ptCount val="2"/>
                <c:pt idx="0">
                  <c:v>0.0334239930902576</c:v>
                </c:pt>
                <c:pt idx="1">
                  <c:v>0.0270589840309546</c:v>
                </c:pt>
              </c:numCache>
            </c:numRef>
          </c:val>
        </c:ser>
        <c:ser>
          <c:idx val="4"/>
          <c:order val="4"/>
          <c:tx>
            <c:strRef>
              <c:f>Sheet1!$F$1</c:f>
              <c:strCache>
                <c:ptCount val="1"/>
                <c:pt idx="0">
                  <c:v>差旅及交通费</c:v>
                </c:pt>
              </c:strCache>
            </c:strRef>
          </c:tx>
          <c:spPr>
            <a:solidFill>
              <a:schemeClr val="accent3">
                <a:lumMod val="60000"/>
              </a:schemeClr>
            </a:solidFill>
            <a:ln>
              <a:noFill/>
            </a:ln>
            <a:effectLst/>
          </c:spPr>
          <c:invertIfNegative val="0"/>
          <c:cat>
            <c:strRef>
              <c:f>Sheet1!$A$2:$A$3</c:f>
              <c:strCache>
                <c:ptCount val="2"/>
                <c:pt idx="0">
                  <c:v>2017年</c:v>
                </c:pt>
                <c:pt idx="1">
                  <c:v>2016年</c:v>
                </c:pt>
              </c:strCache>
            </c:strRef>
          </c:cat>
          <c:val>
            <c:numRef>
              <c:f>Sheet1!$F$2:$F$3</c:f>
              <c:numCache>
                <c:formatCode>0%</c:formatCode>
                <c:ptCount val="2"/>
                <c:pt idx="0">
                  <c:v>0.0406561654734114</c:v>
                </c:pt>
                <c:pt idx="1">
                  <c:v>0.0816197374477257</c:v>
                </c:pt>
              </c:numCache>
            </c:numRef>
          </c:val>
        </c:ser>
        <c:ser>
          <c:idx val="5"/>
          <c:order val="5"/>
          <c:tx>
            <c:strRef>
              <c:f>Sheet1!$G$1</c:f>
              <c:strCache>
                <c:ptCount val="1"/>
                <c:pt idx="0">
                  <c:v>业务招待费</c:v>
                </c:pt>
              </c:strCache>
            </c:strRef>
          </c:tx>
          <c:spPr>
            <a:solidFill>
              <a:schemeClr val="accent5">
                <a:lumMod val="60000"/>
              </a:schemeClr>
            </a:solidFill>
            <a:ln>
              <a:noFill/>
            </a:ln>
            <a:effectLst/>
          </c:spPr>
          <c:invertIfNegative val="0"/>
          <c:cat>
            <c:strRef>
              <c:f>Sheet1!$A$2:$A$3</c:f>
              <c:strCache>
                <c:ptCount val="2"/>
                <c:pt idx="0">
                  <c:v>2017年</c:v>
                </c:pt>
                <c:pt idx="1">
                  <c:v>2016年</c:v>
                </c:pt>
              </c:strCache>
            </c:strRef>
          </c:cat>
          <c:val>
            <c:numRef>
              <c:f>Sheet1!$G$2:$G$3</c:f>
              <c:numCache>
                <c:formatCode>0%</c:formatCode>
                <c:ptCount val="2"/>
                <c:pt idx="0">
                  <c:v>0.0474137007171237</c:v>
                </c:pt>
                <c:pt idx="1">
                  <c:v>0.0300694956312124</c:v>
                </c:pt>
              </c:numCache>
            </c:numRef>
          </c:val>
        </c:ser>
        <c:ser>
          <c:idx val="6"/>
          <c:order val="6"/>
          <c:tx>
            <c:strRef>
              <c:f>Sheet1!$H$1</c:f>
              <c:strCache>
                <c:ptCount val="1"/>
                <c:pt idx="0">
                  <c:v>咨询审计服务费</c:v>
                </c:pt>
              </c:strCache>
            </c:strRef>
          </c:tx>
          <c:spPr>
            <a:solidFill>
              <a:schemeClr val="accent1">
                <a:lumMod val="80000"/>
                <a:lumOff val="20000"/>
              </a:schemeClr>
            </a:solidFill>
            <a:ln>
              <a:noFill/>
            </a:ln>
            <a:effectLst/>
          </c:spPr>
          <c:invertIfNegative val="0"/>
          <c:cat>
            <c:strRef>
              <c:f>Sheet1!$A$2:$A$3</c:f>
              <c:strCache>
                <c:ptCount val="2"/>
                <c:pt idx="0">
                  <c:v>2017年</c:v>
                </c:pt>
                <c:pt idx="1">
                  <c:v>2016年</c:v>
                </c:pt>
              </c:strCache>
            </c:strRef>
          </c:cat>
          <c:val>
            <c:numRef>
              <c:f>Sheet1!$H$2:$H$3</c:f>
              <c:numCache>
                <c:formatCode>0%</c:formatCode>
                <c:ptCount val="2"/>
                <c:pt idx="0">
                  <c:v>0.123034686658424</c:v>
                </c:pt>
                <c:pt idx="1">
                  <c:v>0.0821391863409323</c:v>
                </c:pt>
              </c:numCache>
            </c:numRef>
          </c:val>
        </c:ser>
        <c:ser>
          <c:idx val="7"/>
          <c:order val="7"/>
          <c:tx>
            <c:strRef>
              <c:f>Sheet1!$I$1</c:f>
              <c:strCache>
                <c:ptCount val="1"/>
                <c:pt idx="0">
                  <c:v>研发费用</c:v>
                </c:pt>
              </c:strCache>
            </c:strRef>
          </c:tx>
          <c:spPr>
            <a:solidFill>
              <a:schemeClr val="accent3">
                <a:lumMod val="80000"/>
                <a:lumOff val="20000"/>
              </a:schemeClr>
            </a:solidFill>
            <a:ln>
              <a:noFill/>
            </a:ln>
            <a:effectLst/>
          </c:spPr>
          <c:invertIfNegative val="0"/>
          <c:cat>
            <c:strRef>
              <c:f>Sheet1!$A$2:$A$3</c:f>
              <c:strCache>
                <c:ptCount val="2"/>
                <c:pt idx="0">
                  <c:v>2017年</c:v>
                </c:pt>
                <c:pt idx="1">
                  <c:v>2016年</c:v>
                </c:pt>
              </c:strCache>
            </c:strRef>
          </c:cat>
          <c:val>
            <c:numRef>
              <c:f>Sheet1!$I$2:$I$3</c:f>
              <c:numCache>
                <c:formatCode>0%</c:formatCode>
                <c:ptCount val="2"/>
                <c:pt idx="0">
                  <c:v>0.216028564344681</c:v>
                </c:pt>
                <c:pt idx="1">
                  <c:v>0.153695630452827</c:v>
                </c:pt>
              </c:numCache>
            </c:numRef>
          </c:val>
        </c:ser>
        <c:ser>
          <c:idx val="8"/>
          <c:order val="8"/>
          <c:tx>
            <c:strRef>
              <c:f>Sheet1!$J$1</c:f>
              <c:strCache>
                <c:ptCount val="1"/>
                <c:pt idx="0">
                  <c:v>资产摊销及折旧</c:v>
                </c:pt>
              </c:strCache>
            </c:strRef>
          </c:tx>
          <c:spPr>
            <a:solidFill>
              <a:schemeClr val="accent5">
                <a:lumMod val="80000"/>
                <a:lumOff val="20000"/>
              </a:schemeClr>
            </a:solidFill>
            <a:ln>
              <a:noFill/>
            </a:ln>
            <a:effectLst/>
          </c:spPr>
          <c:invertIfNegative val="0"/>
          <c:cat>
            <c:strRef>
              <c:f>Sheet1!$A$2:$A$3</c:f>
              <c:strCache>
                <c:ptCount val="2"/>
                <c:pt idx="0">
                  <c:v>2017年</c:v>
                </c:pt>
                <c:pt idx="1">
                  <c:v>2016年</c:v>
                </c:pt>
              </c:strCache>
            </c:strRef>
          </c:cat>
          <c:val>
            <c:numRef>
              <c:f>Sheet1!$J$2:$J$3</c:f>
              <c:numCache>
                <c:formatCode>0%</c:formatCode>
                <c:ptCount val="2"/>
                <c:pt idx="0">
                  <c:v>0.0526733605641821</c:v>
                </c:pt>
                <c:pt idx="1">
                  <c:v>0.0456805172635861</c:v>
                </c:pt>
              </c:numCache>
            </c:numRef>
          </c:val>
        </c:ser>
        <c:ser>
          <c:idx val="9"/>
          <c:order val="9"/>
          <c:tx>
            <c:strRef>
              <c:f>Sheet1!$K$1</c:f>
              <c:strCache>
                <c:ptCount val="1"/>
                <c:pt idx="0">
                  <c:v>物业费用</c:v>
                </c:pt>
              </c:strCache>
            </c:strRef>
          </c:tx>
          <c:spPr>
            <a:solidFill>
              <a:schemeClr val="accent1">
                <a:lumMod val="80000"/>
              </a:schemeClr>
            </a:solidFill>
            <a:ln>
              <a:noFill/>
            </a:ln>
            <a:effectLst/>
          </c:spPr>
          <c:invertIfNegative val="0"/>
          <c:cat>
            <c:strRef>
              <c:f>Sheet1!$A$2:$A$3</c:f>
              <c:strCache>
                <c:ptCount val="2"/>
                <c:pt idx="0">
                  <c:v>2017年</c:v>
                </c:pt>
                <c:pt idx="1">
                  <c:v>2016年</c:v>
                </c:pt>
              </c:strCache>
            </c:strRef>
          </c:cat>
          <c:val>
            <c:numRef>
              <c:f>Sheet1!$K$2:$K$3</c:f>
              <c:numCache>
                <c:formatCode>0%</c:formatCode>
                <c:ptCount val="2"/>
                <c:pt idx="0">
                  <c:v>0.050792903768186</c:v>
                </c:pt>
                <c:pt idx="1">
                  <c:v>0.0561004358986935</c:v>
                </c:pt>
              </c:numCache>
            </c:numRef>
          </c:val>
        </c:ser>
        <c:ser>
          <c:idx val="10"/>
          <c:order val="10"/>
          <c:tx>
            <c:strRef>
              <c:f>Sheet1!$L$1</c:f>
              <c:strCache>
                <c:ptCount val="1"/>
                <c:pt idx="0">
                  <c:v>其它</c:v>
                </c:pt>
              </c:strCache>
            </c:strRef>
          </c:tx>
          <c:spPr>
            <a:solidFill>
              <a:schemeClr val="accent3">
                <a:lumMod val="80000"/>
              </a:schemeClr>
            </a:solidFill>
            <a:ln>
              <a:noFill/>
            </a:ln>
            <a:effectLst/>
          </c:spPr>
          <c:invertIfNegative val="0"/>
          <c:cat>
            <c:strRef>
              <c:f>Sheet1!$A$2:$A$3</c:f>
              <c:strCache>
                <c:ptCount val="2"/>
                <c:pt idx="0">
                  <c:v>2017年</c:v>
                </c:pt>
                <c:pt idx="1">
                  <c:v>2016年</c:v>
                </c:pt>
              </c:strCache>
            </c:strRef>
          </c:cat>
          <c:val>
            <c:numRef>
              <c:f>Sheet1!$L$2:$L$3</c:f>
              <c:numCache>
                <c:formatCode>0%</c:formatCode>
                <c:ptCount val="2"/>
                <c:pt idx="0">
                  <c:v>0.0196772721201922</c:v>
                </c:pt>
                <c:pt idx="1">
                  <c:v>0.0230476317805372</c:v>
                </c:pt>
              </c:numCache>
            </c:numRef>
          </c:val>
        </c:ser>
        <c:dLbls>
          <c:showLegendKey val="0"/>
          <c:showVal val="0"/>
          <c:showCatName val="0"/>
          <c:showSerName val="0"/>
          <c:showPercent val="0"/>
          <c:showBubbleSize val="0"/>
        </c:dLbls>
        <c:gapWidth val="55"/>
        <c:overlap val="100"/>
        <c:axId val="2103414672"/>
        <c:axId val="2103416720"/>
      </c:barChart>
      <c:catAx>
        <c:axId val="2103414672"/>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103416720"/>
        <c:crosses val="autoZero"/>
        <c:auto val="1"/>
        <c:lblAlgn val="ctr"/>
        <c:lblOffset val="100"/>
        <c:noMultiLvlLbl val="0"/>
      </c:catAx>
      <c:valAx>
        <c:axId val="2103416720"/>
        <c:scaling>
          <c:orientation val="minMax"/>
        </c:scaling>
        <c:delete val="0"/>
        <c:axPos val="l"/>
        <c:majorGridlines>
          <c:spPr>
            <a:ln w="6350" cap="flat" cmpd="sng" algn="ctr">
              <a:solidFill>
                <a:schemeClr val="tx1">
                  <a:tint val="75000"/>
                </a:schemeClr>
              </a:solidFill>
              <a:prstDash val="solid"/>
              <a:round/>
            </a:ln>
            <a:effectLst/>
          </c:spPr>
        </c:majorGridlines>
        <c:numFmt formatCode="0%" sourceLinked="1"/>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103414672"/>
        <c:crosses val="autoZero"/>
        <c:crossBetween val="between"/>
      </c:valAx>
      <c:spPr>
        <a:noFill/>
        <a:ln>
          <a:noFill/>
        </a:ln>
        <a:effectLst/>
      </c:spPr>
    </c:plotArea>
    <c:legend>
      <c:legendPos val="r"/>
      <c:layout>
        <c:manualLayout>
          <c:xMode val="edge"/>
          <c:yMode val="edge"/>
          <c:x val="0.677164690034442"/>
          <c:y val="0.118685954828548"/>
          <c:w val="0.32225759637818"/>
          <c:h val="0.845310488377109"/>
        </c:manualLayout>
      </c:layout>
      <c:overlay val="0"/>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legend>
    <c:plotVisOnly val="1"/>
    <c:dispBlanksAs val="gap"/>
    <c:showDLblsOverMax val="0"/>
  </c:chart>
  <c:spPr>
    <a:noFill/>
    <a:ln w="6350" cap="flat" cmpd="sng" algn="ctr">
      <a:noFill/>
      <a:prstDash val="solid"/>
      <a:miter lim="800000"/>
    </a:ln>
    <a:effectLst/>
  </c:spPr>
  <c:txPr>
    <a:bodyPr/>
    <a:lstStyle/>
    <a:p>
      <a:pPr>
        <a:defRPr lang="zh-CN" sz="1800"/>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100" b="1" i="0" u="none" strike="noStrike" kern="1200" baseline="0">
                <a:solidFill>
                  <a:schemeClr val="tx1"/>
                </a:solidFill>
                <a:latin typeface="+mn-lt"/>
                <a:ea typeface="+mn-ea"/>
                <a:cs typeface="+mn-cs"/>
              </a:defRPr>
            </a:pPr>
            <a:r>
              <a:rPr lang="en-US" altLang="zh-CN" sz="1100" baseline="0" dirty="0"/>
              <a:t>2017</a:t>
            </a:r>
            <a:r>
              <a:rPr lang="zh-CN" altLang="en-US" sz="1100" baseline="0" dirty="0"/>
              <a:t>年财务费用</a:t>
            </a:r>
          </a:p>
        </c:rich>
      </c:tx>
      <c:layout>
        <c:manualLayout>
          <c:xMode val="edge"/>
          <c:yMode val="edge"/>
          <c:x val="0.25881126806962"/>
          <c:y val="0.09792828711129"/>
        </c:manualLayout>
      </c:layout>
      <c:overlay val="0"/>
      <c:spPr>
        <a:noFill/>
        <a:ln>
          <a:noFill/>
        </a:ln>
        <a:effectLst/>
      </c:spPr>
      <c:txPr>
        <a:bodyPr rot="0" spcFirstLastPara="1" vertOverflow="ellipsis" vert="horz" wrap="square" anchor="ctr" anchorCtr="1"/>
        <a:lstStyle/>
        <a:p>
          <a:pPr>
            <a:defRPr lang="zh-CN" sz="1100" b="1" i="0" u="none" strike="noStrike" kern="1200" baseline="0">
              <a:solidFill>
                <a:schemeClr val="tx1"/>
              </a:solidFill>
              <a:latin typeface="+mn-lt"/>
              <a:ea typeface="+mn-ea"/>
              <a:cs typeface="+mn-cs"/>
            </a:defRPr>
          </a:pPr>
          <a:endParaRPr lang="zh-CN"/>
        </a:p>
      </c:txPr>
    </c:title>
    <c:autoTitleDeleted val="0"/>
    <c:plotArea>
      <c:layout/>
      <c:pieChart>
        <c:varyColors val="1"/>
        <c:ser>
          <c:idx val="0"/>
          <c:order val="0"/>
          <c:tx>
            <c:strRef>
              <c:f>Sheet1!$B$1</c:f>
              <c:strCache>
                <c:ptCount val="1"/>
                <c:pt idx="0">
                  <c:v>系列 1</c:v>
                </c:pt>
              </c:strCache>
            </c:strRef>
          </c:tx>
          <c:dPt>
            <c:idx val="0"/>
            <c:bubble3D val="0"/>
            <c:spPr>
              <a:solidFill>
                <a:schemeClr val="accent1"/>
              </a:solidFill>
              <a:ln>
                <a:noFill/>
              </a:ln>
              <a:effectLst/>
            </c:spPr>
          </c:dPt>
          <c:dPt>
            <c:idx val="1"/>
            <c:bubble3D val="0"/>
            <c:spPr>
              <a:solidFill>
                <a:schemeClr val="bg1">
                  <a:lumMod val="75000"/>
                </a:schemeClr>
              </a:solidFill>
              <a:ln>
                <a:noFill/>
              </a:ln>
              <a:effectLst/>
            </c:spPr>
          </c:dPt>
          <c:dPt>
            <c:idx val="2"/>
            <c:bubble3D val="0"/>
            <c:spPr>
              <a:solidFill>
                <a:schemeClr val="accent5"/>
              </a:solidFill>
              <a:ln>
                <a:noFill/>
              </a:ln>
              <a:effectLst/>
            </c:spPr>
          </c:dPt>
          <c:dLbls>
            <c:delete val="1"/>
          </c:dLbls>
          <c:cat>
            <c:strRef>
              <c:f>Sheet1!$A$2:$A$4</c:f>
              <c:strCache>
                <c:ptCount val="3"/>
                <c:pt idx="0">
                  <c:v>手续费</c:v>
                </c:pt>
                <c:pt idx="1">
                  <c:v>利息支出</c:v>
                </c:pt>
                <c:pt idx="2">
                  <c:v>汇兑损益</c:v>
                </c:pt>
              </c:strCache>
            </c:strRef>
          </c:cat>
          <c:val>
            <c:numRef>
              <c:f>Sheet1!$B$2:$B$4</c:f>
              <c:numCache>
                <c:formatCode>_(* #,##0.00_);_(* \(#,##0.00\);_(* "-"??_);_(@_)</c:formatCode>
                <c:ptCount val="3"/>
                <c:pt idx="0">
                  <c:v>50000.0</c:v>
                </c:pt>
                <c:pt idx="1">
                  <c:v>1.0E6</c:v>
                </c:pt>
                <c:pt idx="2">
                  <c:v>400000.0</c:v>
                </c:pt>
              </c:numCache>
            </c:numRef>
          </c:val>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lang="zh-CN" sz="1800"/>
      </a:pPr>
      <a:endParaRPr lang="zh-CN"/>
    </a:p>
  </c:txPr>
  <c:externalData r:id="rId3">
    <c:autoUpdate val="0"/>
  </c:externalData>
  <c:userShapes r:id="rId4"/>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100" b="1" i="0" u="none" strike="noStrike" kern="1200" spc="0" baseline="0" dirty="0">
                <a:solidFill>
                  <a:prstClr val="black"/>
                </a:solidFill>
                <a:latin typeface="+mn-lt"/>
                <a:ea typeface="+mn-ea"/>
                <a:cs typeface="+mn-cs"/>
              </a:defRPr>
            </a:pPr>
            <a:r>
              <a:rPr lang="en-US" sz="1100" b="1" i="0" u="none" strike="noStrike" kern="1200" baseline="0" dirty="0">
                <a:solidFill>
                  <a:prstClr val="black"/>
                </a:solidFill>
                <a:latin typeface="+mn-lt"/>
                <a:ea typeface="+mn-ea"/>
                <a:cs typeface="+mn-cs"/>
              </a:rPr>
              <a:t>2016年财务费用</a:t>
            </a:r>
          </a:p>
        </c:rich>
      </c:tx>
      <c:layout>
        <c:manualLayout>
          <c:xMode val="edge"/>
          <c:yMode val="edge"/>
          <c:x val="0.23687005521492"/>
          <c:y val="0.0801678601367525"/>
        </c:manualLayout>
      </c:layout>
      <c:overlay val="0"/>
      <c:spPr>
        <a:noFill/>
        <a:ln>
          <a:noFill/>
        </a:ln>
        <a:effectLst/>
      </c:spPr>
      <c:txPr>
        <a:bodyPr rot="0" spcFirstLastPara="1" vertOverflow="ellipsis" vert="horz" wrap="square" anchor="ctr" anchorCtr="1"/>
        <a:lstStyle/>
        <a:p>
          <a:pPr algn="ctr" rtl="0">
            <a:defRPr lang="en-US" sz="1100" b="1" i="0" u="none" strike="noStrike" kern="1200" spc="0" baseline="0" dirty="0">
              <a:solidFill>
                <a:prstClr val="black"/>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solidFill>
              <a:ln>
                <a:noFill/>
              </a:ln>
              <a:effectLst/>
            </c:spPr>
          </c:dPt>
          <c:dPt>
            <c:idx val="1"/>
            <c:invertIfNegative val="0"/>
            <c:bubble3D val="0"/>
            <c:spPr>
              <a:solidFill>
                <a:schemeClr val="accent1"/>
              </a:solidFill>
              <a:ln>
                <a:noFill/>
              </a:ln>
              <a:effectLst/>
            </c:spPr>
          </c:dPt>
          <c:cat>
            <c:strRef>
              <c:f>Sheet1!$A$2:$A$4</c:f>
              <c:strCache>
                <c:ptCount val="3"/>
                <c:pt idx="0">
                  <c:v>手续费</c:v>
                </c:pt>
                <c:pt idx="1">
                  <c:v>利息支出</c:v>
                </c:pt>
                <c:pt idx="2">
                  <c:v>汇兑损益</c:v>
                </c:pt>
              </c:strCache>
            </c:strRef>
          </c:cat>
          <c:val>
            <c:numRef>
              <c:f>Sheet1!$B$2:$B$4</c:f>
              <c:numCache>
                <c:formatCode>0%</c:formatCode>
                <c:ptCount val="3"/>
                <c:pt idx="0">
                  <c:v>0.0892557899044374</c:v>
                </c:pt>
                <c:pt idx="1">
                  <c:v>0.649172765030989</c:v>
                </c:pt>
                <c:pt idx="2">
                  <c:v>-1.73842855493543</c:v>
                </c:pt>
              </c:numCache>
            </c:numRef>
          </c:val>
        </c:ser>
        <c:dLbls>
          <c:showLegendKey val="0"/>
          <c:showVal val="0"/>
          <c:showCatName val="0"/>
          <c:showSerName val="0"/>
          <c:showPercent val="0"/>
          <c:showBubbleSize val="0"/>
        </c:dLbls>
        <c:gapWidth val="219"/>
        <c:overlap val="-27"/>
        <c:axId val="2103384832"/>
        <c:axId val="2103387152"/>
      </c:barChart>
      <c:catAx>
        <c:axId val="2103384832"/>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03387152"/>
        <c:crosses val="autoZero"/>
        <c:auto val="1"/>
        <c:lblAlgn val="ctr"/>
        <c:lblOffset val="100"/>
        <c:noMultiLvlLbl val="0"/>
      </c:catAx>
      <c:valAx>
        <c:axId val="210338715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03384832"/>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Reversed" id="25">
  <a:schemeClr val="accent5"/>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1195"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5" kern="1200"/>
  </cs:chartArea>
  <cs:dataLabel>
    <cs:lnRef idx="0"/>
    <cs:fillRef idx="0"/>
    <cs:effectRef idx="0"/>
    <cs:fontRef idx="minor">
      <a:schemeClr val="tx2"/>
    </cs:fontRef>
    <cs:defRPr sz="1195"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5"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5"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3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5"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5"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110">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1">
      <a:schemeClr val="lt1"/>
    </cs:lnRef>
    <cs:fillRef idx="1">
      <cs:styleClr val="auto"/>
    </cs:fillRef>
    <cs:effectRef idx="1">
      <a:schemeClr val="dk1"/>
    </cs:effectRef>
    <cs:fontRef idx="minor">
      <a:schemeClr val="tx1"/>
    </cs:fontRef>
    <cs:spPr>
      <a:ln>
        <a:round/>
      </a:ln>
    </cs:spPr>
  </cs:dataPoint>
  <cs:dataPoint3D>
    <cs:lnRef idx="1">
      <a:schemeClr val="lt1"/>
    </cs:lnRef>
    <cs:fillRef idx="1">
      <cs:styleClr val="auto"/>
    </cs:fillRef>
    <cs:effectRef idx="1">
      <a:schemeClr val="dk1"/>
    </cs:effectRef>
    <cs:fontRef idx="minor">
      <a:schemeClr val="tx1"/>
    </cs:fontRef>
    <cs:spPr>
      <a:ln>
        <a:round/>
      </a:ln>
    </cs:spPr>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1">
      <cs:styleClr val="auto"/>
    </cs:fillRef>
    <cs:effectRef idx="1">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1">
      <a:schemeClr val="dk1"/>
    </cs:effectRef>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1">
      <a:schemeClr val="dk1"/>
    </cs:effectRef>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110">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1">
      <a:schemeClr val="lt1"/>
    </cs:lnRef>
    <cs:fillRef idx="1">
      <cs:styleClr val="auto"/>
    </cs:fillRef>
    <cs:effectRef idx="1">
      <a:schemeClr val="dk1"/>
    </cs:effectRef>
    <cs:fontRef idx="minor">
      <a:schemeClr val="tx1"/>
    </cs:fontRef>
    <cs:spPr>
      <a:ln>
        <a:round/>
      </a:ln>
    </cs:spPr>
  </cs:dataPoint>
  <cs:dataPoint3D>
    <cs:lnRef idx="1">
      <a:schemeClr val="lt1"/>
    </cs:lnRef>
    <cs:fillRef idx="1">
      <cs:styleClr val="auto"/>
    </cs:fillRef>
    <cs:effectRef idx="1">
      <a:schemeClr val="dk1"/>
    </cs:effectRef>
    <cs:fontRef idx="minor">
      <a:schemeClr val="tx1"/>
    </cs:fontRef>
    <cs:spPr>
      <a:ln>
        <a:round/>
      </a:ln>
    </cs:spPr>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1">
      <cs:styleClr val="auto"/>
    </cs:fillRef>
    <cs:effectRef idx="1">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1">
      <a:schemeClr val="dk1"/>
    </cs:effectRef>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1">
      <a:schemeClr val="dk1"/>
    </cs:effectRef>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0.30712</cdr:x>
      <cdr:y>0.59375</cdr:y>
    </cdr:from>
    <cdr:to>
      <cdr:x>0.49612</cdr:x>
      <cdr:y>0.78125</cdr:y>
    </cdr:to>
    <cdr:sp macro="" textlink="">
      <cdr:nvSpPr>
        <cdr:cNvPr id="2" name="矩形 1"/>
        <cdr:cNvSpPr/>
      </cdr:nvSpPr>
      <cdr:spPr>
        <a:xfrm xmlns:a="http://schemas.openxmlformats.org/drawingml/2006/main">
          <a:off x="936104" y="1368152"/>
          <a:ext cx="576064"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dirty="0"/>
            <a:t>内销</a:t>
          </a:r>
          <a:endParaRPr lang="en-US" altLang="zh-CN" dirty="0"/>
        </a:p>
        <a:p xmlns:a="http://schemas.openxmlformats.org/drawingml/2006/main">
          <a:r>
            <a:rPr lang="en-US" altLang="zh-CN" sz="1100" dirty="0"/>
            <a:t>%</a:t>
          </a:r>
        </a:p>
        <a:p xmlns:a="http://schemas.openxmlformats.org/drawingml/2006/main">
          <a:endParaRPr lang="zh-CN" altLang="en-US" sz="1100" dirty="0"/>
        </a:p>
      </cdr:txBody>
    </cdr:sp>
  </cdr:relSizeAnchor>
  <cdr:relSizeAnchor xmlns:cdr="http://schemas.openxmlformats.org/drawingml/2006/chartDrawing">
    <cdr:from>
      <cdr:x>0.56699</cdr:x>
      <cdr:y>0.46875</cdr:y>
    </cdr:from>
    <cdr:to>
      <cdr:x>0.77961</cdr:x>
      <cdr:y>0.65625</cdr:y>
    </cdr:to>
    <cdr:sp macro="" textlink="">
      <cdr:nvSpPr>
        <cdr:cNvPr id="3" name="矩形 2"/>
        <cdr:cNvSpPr/>
      </cdr:nvSpPr>
      <cdr:spPr>
        <a:xfrm xmlns:a="http://schemas.openxmlformats.org/drawingml/2006/main">
          <a:off x="1728192" y="1080120"/>
          <a:ext cx="648072"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工程</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0.25987</cdr:x>
      <cdr:y>0.21875</cdr:y>
    </cdr:from>
    <cdr:to>
      <cdr:x>0.44887</cdr:x>
      <cdr:y>0.46875</cdr:y>
    </cdr:to>
    <cdr:sp macro="" textlink="">
      <cdr:nvSpPr>
        <cdr:cNvPr id="4" name="矩形 3"/>
        <cdr:cNvSpPr/>
      </cdr:nvSpPr>
      <cdr:spPr>
        <a:xfrm xmlns:a="http://schemas.openxmlformats.org/drawingml/2006/main">
          <a:off x="792088" y="504056"/>
          <a:ext cx="576064" cy="576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外销</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0.35437</cdr:x>
      <cdr:y>0.15625</cdr:y>
    </cdr:from>
    <cdr:to>
      <cdr:x>0.61424</cdr:x>
      <cdr:y>0.34375</cdr:y>
    </cdr:to>
    <cdr:sp macro="" textlink="">
      <cdr:nvSpPr>
        <cdr:cNvPr id="5" name="矩形 4"/>
        <cdr:cNvSpPr/>
      </cdr:nvSpPr>
      <cdr:spPr>
        <a:xfrm xmlns:a="http://schemas.openxmlformats.org/drawingml/2006/main">
          <a:off x="1080120" y="360040"/>
          <a:ext cx="792088"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设计咨询</a:t>
          </a:r>
          <a:endParaRPr lang="en-US" altLang="zh-CN" sz="1100" dirty="0"/>
        </a:p>
        <a:p xmlns:a="http://schemas.openxmlformats.org/drawingml/2006/main">
          <a:r>
            <a:rPr lang="en-US" altLang="zh-CN" dirty="0"/>
            <a:t>   %</a:t>
          </a:r>
          <a:endParaRPr lang="zh-CN" alt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0.42524</cdr:x>
      <cdr:y>0.65625</cdr:y>
    </cdr:from>
    <cdr:to>
      <cdr:x>0.66149</cdr:x>
      <cdr:y>0.84375</cdr:y>
    </cdr:to>
    <cdr:sp macro="" textlink="">
      <cdr:nvSpPr>
        <cdr:cNvPr id="2" name="矩形 1"/>
        <cdr:cNvSpPr/>
      </cdr:nvSpPr>
      <cdr:spPr>
        <a:xfrm xmlns:a="http://schemas.openxmlformats.org/drawingml/2006/main">
          <a:off x="1296144" y="1512168"/>
          <a:ext cx="720080"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内销</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0.35437</cdr:x>
      <cdr:y>0.21875</cdr:y>
    </cdr:from>
    <cdr:to>
      <cdr:x>0.59061</cdr:x>
      <cdr:y>0.4375</cdr:y>
    </cdr:to>
    <cdr:sp macro="" textlink="">
      <cdr:nvSpPr>
        <cdr:cNvPr id="3" name="矩形 2"/>
        <cdr:cNvSpPr/>
      </cdr:nvSpPr>
      <cdr:spPr>
        <a:xfrm xmlns:a="http://schemas.openxmlformats.org/drawingml/2006/main">
          <a:off x="1080120" y="504056"/>
          <a:ext cx="720060"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运营</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0.44887</cdr:x>
      <cdr:y>0.1875</cdr:y>
    </cdr:from>
    <cdr:to>
      <cdr:x>0.63787</cdr:x>
      <cdr:y>0.40625</cdr:y>
    </cdr:to>
    <cdr:sp macro="" textlink="">
      <cdr:nvSpPr>
        <cdr:cNvPr id="4" name="矩形 3"/>
        <cdr:cNvSpPr/>
      </cdr:nvSpPr>
      <cdr:spPr>
        <a:xfrm xmlns:a="http://schemas.openxmlformats.org/drawingml/2006/main">
          <a:off x="1368152" y="432048"/>
          <a:ext cx="576072"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工程</a:t>
          </a:r>
          <a:endParaRPr lang="en-US" altLang="zh-CN" sz="1100" dirty="0"/>
        </a:p>
        <a:p xmlns:a="http://schemas.openxmlformats.org/drawingml/2006/main">
          <a:r>
            <a:rPr lang="en-US" altLang="zh-CN" dirty="0"/>
            <a:t>  %</a:t>
          </a:r>
          <a:endParaRPr lang="zh-CN" altLang="en-US" sz="1100" dirty="0"/>
        </a:p>
      </cdr:txBody>
    </cdr:sp>
  </cdr:relSizeAnchor>
</c:userShapes>
</file>

<file path=ppt/drawings/drawing3.xml><?xml version="1.0" encoding="utf-8"?>
<c:userShapes xmlns:c="http://schemas.openxmlformats.org/drawingml/2006/chart">
  <cdr:relSizeAnchor xmlns:cdr="http://schemas.openxmlformats.org/drawingml/2006/chartDrawing">
    <cdr:from>
      <cdr:x>0.353</cdr:x>
      <cdr:y>0.70136</cdr:y>
    </cdr:from>
    <cdr:to>
      <cdr:x>0.7766</cdr:x>
      <cdr:y>0.96437</cdr:y>
    </cdr:to>
    <cdr:sp macro="" textlink="">
      <cdr:nvSpPr>
        <cdr:cNvPr id="2" name="矩形 1"/>
        <cdr:cNvSpPr/>
      </cdr:nvSpPr>
      <cdr:spPr>
        <a:xfrm xmlns:a="http://schemas.openxmlformats.org/drawingml/2006/main">
          <a:off x="720080" y="1728192"/>
          <a:ext cx="864096" cy="64807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利息支出</a:t>
          </a:r>
          <a:endParaRPr lang="en-US" altLang="zh-CN" sz="1100" dirty="0"/>
        </a:p>
        <a:p xmlns:a="http://schemas.openxmlformats.org/drawingml/2006/main">
          <a:r>
            <a:rPr lang="en-US" altLang="zh-CN" dirty="0"/>
            <a:t>      63%</a:t>
          </a:r>
          <a:endParaRPr lang="zh-CN" altLang="en-US" sz="1100" dirty="0"/>
        </a:p>
      </cdr:txBody>
    </cdr:sp>
  </cdr:relSizeAnchor>
  <cdr:relSizeAnchor xmlns:cdr="http://schemas.openxmlformats.org/drawingml/2006/chartDrawing">
    <cdr:from>
      <cdr:x>0.1412</cdr:x>
      <cdr:y>0.3799</cdr:y>
    </cdr:from>
    <cdr:to>
      <cdr:x>0.6001</cdr:x>
      <cdr:y>0.61369</cdr:y>
    </cdr:to>
    <cdr:sp macro="" textlink="">
      <cdr:nvSpPr>
        <cdr:cNvPr id="3" name="矩形 2"/>
        <cdr:cNvSpPr/>
      </cdr:nvSpPr>
      <cdr:spPr>
        <a:xfrm xmlns:a="http://schemas.openxmlformats.org/drawingml/2006/main">
          <a:off x="288032" y="936104"/>
          <a:ext cx="936104" cy="576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dirty="0"/>
            <a:t>汇兑损益</a:t>
          </a:r>
          <a:endParaRPr lang="en-US" altLang="zh-CN" dirty="0"/>
        </a:p>
        <a:p xmlns:a="http://schemas.openxmlformats.org/drawingml/2006/main">
          <a:r>
            <a:rPr lang="en-US" altLang="zh-CN" sz="1100" dirty="0"/>
            <a:t>   30%</a:t>
          </a:r>
          <a:endParaRPr lang="zh-CN" altLang="en-US" sz="1100" dirty="0"/>
        </a:p>
      </cdr:txBody>
    </cdr:sp>
  </cdr:relSizeAnchor>
  <cdr:relSizeAnchor xmlns:cdr="http://schemas.openxmlformats.org/drawingml/2006/chartDrawing">
    <cdr:from>
      <cdr:x>0.4589</cdr:x>
      <cdr:y>0.20456</cdr:y>
    </cdr:from>
    <cdr:to>
      <cdr:x>0.7766</cdr:x>
      <cdr:y>0.40913</cdr:y>
    </cdr:to>
    <cdr:sp macro="" textlink="">
      <cdr:nvSpPr>
        <cdr:cNvPr id="4" name="矩形 3"/>
        <cdr:cNvSpPr/>
      </cdr:nvSpPr>
      <cdr:spPr>
        <a:xfrm xmlns:a="http://schemas.openxmlformats.org/drawingml/2006/main">
          <a:off x="936104" y="504056"/>
          <a:ext cx="648072"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手续费</a:t>
          </a:r>
          <a:endParaRPr lang="en-US" altLang="zh-CN" sz="1100" dirty="0"/>
        </a:p>
        <a:p xmlns:a="http://schemas.openxmlformats.org/drawingml/2006/main">
          <a:r>
            <a:rPr lang="en-US" altLang="zh-CN" dirty="0"/>
            <a:t>    7%</a:t>
          </a:r>
          <a:endParaRPr lang="zh-CN" altLang="en-US" sz="1100" dirty="0"/>
        </a:p>
      </cdr:txBody>
    </cdr:sp>
  </cdr:relSizeAnchor>
</c:userShapes>
</file>

<file path=ppt/drawings/drawing4.xml><?xml version="1.0" encoding="utf-8"?>
<c:userShapes xmlns:c="http://schemas.openxmlformats.org/drawingml/2006/chart">
  <cdr:relSizeAnchor xmlns:cdr="http://schemas.openxmlformats.org/drawingml/2006/chartDrawing">
    <cdr:from>
      <cdr:x>0.41496</cdr:x>
      <cdr:y>0.18182</cdr:y>
    </cdr:from>
    <cdr:to>
      <cdr:x>0.60764</cdr:x>
      <cdr:y>0.30303</cdr:y>
    </cdr:to>
    <cdr:sp macro="" textlink="">
      <cdr:nvSpPr>
        <cdr:cNvPr id="2" name="矩形 1"/>
        <cdr:cNvSpPr/>
      </cdr:nvSpPr>
      <cdr:spPr>
        <a:xfrm xmlns:a="http://schemas.openxmlformats.org/drawingml/2006/main">
          <a:off x="936104" y="432048"/>
          <a:ext cx="434682" cy="28803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en-US" altLang="zh-CN" sz="1100" dirty="0"/>
            <a:t>65%</a:t>
          </a:r>
          <a:endParaRPr lang="zh-CN" altLang="en-US" sz="1100" dirty="0"/>
        </a:p>
      </cdr:txBody>
    </cdr:sp>
  </cdr:relSizeAnchor>
  <cdr:relSizeAnchor xmlns:cdr="http://schemas.openxmlformats.org/drawingml/2006/chartDrawing">
    <cdr:from>
      <cdr:x>0.12768</cdr:x>
      <cdr:y>0.30303</cdr:y>
    </cdr:from>
    <cdr:to>
      <cdr:x>0.29284</cdr:x>
      <cdr:y>0.42424</cdr:y>
    </cdr:to>
    <cdr:sp macro="" textlink="">
      <cdr:nvSpPr>
        <cdr:cNvPr id="3" name="矩形 2"/>
        <cdr:cNvSpPr/>
      </cdr:nvSpPr>
      <cdr:spPr>
        <a:xfrm xmlns:a="http://schemas.openxmlformats.org/drawingml/2006/main">
          <a:off x="288032" y="720080"/>
          <a:ext cx="372584" cy="28803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en-US" altLang="zh-CN" sz="1100" dirty="0"/>
            <a:t>9%</a:t>
          </a:r>
          <a:endParaRPr lang="zh-CN" altLang="en-US" sz="1100" dirty="0"/>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2020/3/13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t>2020/3/13</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image" Target="../media/image1.jpeg"/><Relationship Id="rId5" Type="http://schemas.openxmlformats.org/officeDocument/2006/relationships/image" Target="../media/image2.png"/><Relationship Id="rId6" Type="http://schemas.openxmlformats.org/officeDocument/2006/relationships/image" Target="../media/image3.png"/><Relationship Id="rId1" Type="http://schemas.microsoft.com/office/2007/relationships/media" Target="../media/media1.m4a"/><Relationship Id="rId2" Type="http://schemas.openxmlformats.org/officeDocument/2006/relationships/audio" Target="../media/media1.m4a"/></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6.xml"/><Relationship Id="rId3" Type="http://schemas.openxmlformats.org/officeDocument/2006/relationships/chart" Target="../charts/char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s>
</file>

<file path=ppt/slides/_rels/slide18.xml.rels><?xml version="1.0" encoding="UTF-8" standalone="yes"?>
<Relationships xmlns="http://schemas.openxmlformats.org/package/2006/relationships"><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chart" Target="../charts/chart13.xml"/><Relationship Id="rId1" Type="http://schemas.openxmlformats.org/officeDocument/2006/relationships/slideLayout" Target="../slideLayouts/slideLayout2.xml"/><Relationship Id="rId2" Type="http://schemas.openxmlformats.org/officeDocument/2006/relationships/chart" Target="../charts/char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4340" y="138430"/>
            <a:ext cx="9144000" cy="5143500"/>
          </a:xfrm>
          <a:prstGeom prst="rect">
            <a:avLst/>
          </a:prstGeom>
        </p:spPr>
      </p:pic>
      <p:pic>
        <p:nvPicPr>
          <p:cNvPr id="4" name="王备 - 「航拍中国」Intro">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17576" y="-11620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 presetClass="mediacall" presetSubtype="0" fill="hold" nodeType="withEffect">
                                  <p:stCondLst>
                                    <p:cond delay="0"/>
                                  </p:stCondLst>
                                  <p:childTnLst>
                                    <p:cmd type="call" cmd="playFrom(0.0)">
                                      <p:cBhvr>
                                        <p:cTn id="11"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12" repeatCount="indefinite" fill="remove"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722140" y="2022662"/>
            <a:ext cx="10299093" cy="26380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6" name="图片 5"/>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285030" y="1158247"/>
            <a:ext cx="4815840" cy="4128584"/>
          </a:xfrm>
          <a:prstGeom prst="rect">
            <a:avLst/>
          </a:prstGeom>
          <a:effectLst>
            <a:outerShdw blurRad="63500" sx="102000" sy="102000" algn="ctr" rotWithShape="0">
              <a:prstClr val="black">
                <a:alpha val="40000"/>
              </a:prstClr>
            </a:outerShdw>
          </a:effectLst>
        </p:spPr>
      </p:pic>
      <p:grpSp>
        <p:nvGrpSpPr>
          <p:cNvPr id="32" name="组合 31"/>
          <p:cNvGrpSpPr/>
          <p:nvPr/>
        </p:nvGrpSpPr>
        <p:grpSpPr>
          <a:xfrm>
            <a:off x="4938198" y="2280268"/>
            <a:ext cx="2529879" cy="1476685"/>
            <a:chOff x="4820429" y="535284"/>
            <a:chExt cx="4332572" cy="2437246"/>
          </a:xfrm>
        </p:grpSpPr>
        <p:sp>
          <p:nvSpPr>
            <p:cNvPr id="33" name="文本框 32"/>
            <p:cNvSpPr txBox="1"/>
            <p:nvPr/>
          </p:nvSpPr>
          <p:spPr>
            <a:xfrm>
              <a:off x="5242128" y="535284"/>
              <a:ext cx="3910873" cy="482582"/>
            </a:xfrm>
            <a:prstGeom prst="rect">
              <a:avLst/>
            </a:prstGeom>
            <a:noFill/>
          </p:spPr>
          <p:txBody>
            <a:bodyPr wrap="square" rtlCol="0">
              <a:spAutoFit/>
            </a:bodyPr>
            <a:lstStyle/>
            <a:p>
              <a:r>
                <a:rPr lang="zh-CN" altLang="en-US" sz="1300" dirty="0">
                  <a:cs typeface="+mn-ea"/>
                  <a:sym typeface="+mn-lt"/>
                </a:rPr>
                <a:t>资产负债表</a:t>
              </a:r>
            </a:p>
          </p:txBody>
        </p:sp>
        <p:sp>
          <p:nvSpPr>
            <p:cNvPr id="34" name="文本框 33"/>
            <p:cNvSpPr txBox="1"/>
            <p:nvPr/>
          </p:nvSpPr>
          <p:spPr>
            <a:xfrm>
              <a:off x="5242128" y="1512615"/>
              <a:ext cx="3802101" cy="482582"/>
            </a:xfrm>
            <a:prstGeom prst="rect">
              <a:avLst/>
            </a:prstGeom>
            <a:noFill/>
          </p:spPr>
          <p:txBody>
            <a:bodyPr wrap="square" rtlCol="0">
              <a:spAutoFit/>
            </a:bodyPr>
            <a:lstStyle/>
            <a:p>
              <a:r>
                <a:rPr lang="zh-CN" altLang="en-US" sz="1300" dirty="0">
                  <a:cs typeface="+mn-ea"/>
                  <a:sym typeface="+mn-lt"/>
                </a:rPr>
                <a:t>资产利润表</a:t>
              </a:r>
            </a:p>
          </p:txBody>
        </p:sp>
        <p:sp>
          <p:nvSpPr>
            <p:cNvPr id="35" name="文本框 34"/>
            <p:cNvSpPr txBox="1"/>
            <p:nvPr/>
          </p:nvSpPr>
          <p:spPr>
            <a:xfrm>
              <a:off x="5242127" y="2489948"/>
              <a:ext cx="2224173" cy="482582"/>
            </a:xfrm>
            <a:prstGeom prst="rect">
              <a:avLst/>
            </a:prstGeom>
            <a:noFill/>
          </p:spPr>
          <p:txBody>
            <a:bodyPr wrap="square" rtlCol="0">
              <a:spAutoFit/>
            </a:bodyPr>
            <a:lstStyle/>
            <a:p>
              <a:r>
                <a:rPr lang="zh-CN" altLang="en-US" sz="1300" dirty="0">
                  <a:cs typeface="+mn-ea"/>
                  <a:sym typeface="+mn-lt"/>
                </a:rPr>
                <a:t>现金流量表</a:t>
              </a:r>
            </a:p>
          </p:txBody>
        </p:sp>
        <p:sp>
          <p:nvSpPr>
            <p:cNvPr id="38" name="任意多边形 26"/>
            <p:cNvSpPr>
              <a:spLocks noChangeAspect="1"/>
            </p:cNvSpPr>
            <p:nvPr/>
          </p:nvSpPr>
          <p:spPr>
            <a:xfrm>
              <a:off x="4820429" y="615706"/>
              <a:ext cx="300822" cy="300822"/>
            </a:xfrm>
            <a:custGeom>
              <a:avLst/>
              <a:gdLst>
                <a:gd name="connsiteX0" fmla="*/ 150411 w 300822"/>
                <a:gd name="connsiteY0" fmla="*/ 75472 h 300822"/>
                <a:gd name="connsiteX1" fmla="*/ 207828 w 300822"/>
                <a:gd name="connsiteY1" fmla="*/ 132888 h 300822"/>
                <a:gd name="connsiteX2" fmla="*/ 150411 w 300822"/>
                <a:gd name="connsiteY2" fmla="*/ 190304 h 300822"/>
                <a:gd name="connsiteX3" fmla="*/ 92995 w 300822"/>
                <a:gd name="connsiteY3" fmla="*/ 132888 h 300822"/>
                <a:gd name="connsiteX4" fmla="*/ 150411 w 300822"/>
                <a:gd name="connsiteY4" fmla="*/ 75472 h 300822"/>
                <a:gd name="connsiteX5" fmla="*/ 150411 w 300822"/>
                <a:gd name="connsiteY5" fmla="*/ 55623 h 300822"/>
                <a:gd name="connsiteX6" fmla="*/ 95777 w 300822"/>
                <a:gd name="connsiteY6" fmla="*/ 78253 h 300822"/>
                <a:gd name="connsiteX7" fmla="*/ 95777 w 300822"/>
                <a:gd name="connsiteY7" fmla="*/ 187523 h 300822"/>
                <a:gd name="connsiteX8" fmla="*/ 150411 w 300822"/>
                <a:gd name="connsiteY8" fmla="*/ 242157 h 300822"/>
                <a:gd name="connsiteX9" fmla="*/ 205046 w 300822"/>
                <a:gd name="connsiteY9" fmla="*/ 187523 h 300822"/>
                <a:gd name="connsiteX10" fmla="*/ 205046 w 300822"/>
                <a:gd name="connsiteY10" fmla="*/ 78254 h 300822"/>
                <a:gd name="connsiteX11" fmla="*/ 205046 w 300822"/>
                <a:gd name="connsiteY11" fmla="*/ 78253 h 300822"/>
                <a:gd name="connsiteX12" fmla="*/ 150411 w 300822"/>
                <a:gd name="connsiteY12" fmla="*/ 55623 h 300822"/>
                <a:gd name="connsiteX13" fmla="*/ 0 w 300822"/>
                <a:gd name="connsiteY13" fmla="*/ 0 h 300822"/>
                <a:gd name="connsiteX14" fmla="*/ 300822 w 300822"/>
                <a:gd name="connsiteY14" fmla="*/ 0 h 300822"/>
                <a:gd name="connsiteX15" fmla="*/ 300822 w 300822"/>
                <a:gd name="connsiteY15" fmla="*/ 300822 h 300822"/>
                <a:gd name="connsiteX16" fmla="*/ 0 w 300822"/>
                <a:gd name="connsiteY16" fmla="*/ 300822 h 30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822" h="300822">
                  <a:moveTo>
                    <a:pt x="150411" y="75472"/>
                  </a:moveTo>
                  <a:cubicBezTo>
                    <a:pt x="182121" y="75472"/>
                    <a:pt x="207828" y="101178"/>
                    <a:pt x="207828" y="132888"/>
                  </a:cubicBezTo>
                  <a:cubicBezTo>
                    <a:pt x="207828" y="164598"/>
                    <a:pt x="182121" y="190304"/>
                    <a:pt x="150411" y="190304"/>
                  </a:cubicBezTo>
                  <a:cubicBezTo>
                    <a:pt x="118701" y="190304"/>
                    <a:pt x="92995" y="164598"/>
                    <a:pt x="92995" y="132888"/>
                  </a:cubicBezTo>
                  <a:cubicBezTo>
                    <a:pt x="92995" y="101178"/>
                    <a:pt x="118701" y="75472"/>
                    <a:pt x="150411" y="75472"/>
                  </a:cubicBezTo>
                  <a:close/>
                  <a:moveTo>
                    <a:pt x="150411" y="55623"/>
                  </a:moveTo>
                  <a:cubicBezTo>
                    <a:pt x="130637" y="55623"/>
                    <a:pt x="110864" y="63166"/>
                    <a:pt x="95777" y="78253"/>
                  </a:cubicBezTo>
                  <a:cubicBezTo>
                    <a:pt x="65603" y="108427"/>
                    <a:pt x="65603" y="157349"/>
                    <a:pt x="95777" y="187523"/>
                  </a:cubicBezTo>
                  <a:lnTo>
                    <a:pt x="150411" y="242157"/>
                  </a:lnTo>
                  <a:lnTo>
                    <a:pt x="205046" y="187523"/>
                  </a:lnTo>
                  <a:cubicBezTo>
                    <a:pt x="235220" y="157349"/>
                    <a:pt x="235220" y="108427"/>
                    <a:pt x="205046" y="78254"/>
                  </a:cubicBezTo>
                  <a:lnTo>
                    <a:pt x="205046" y="78253"/>
                  </a:lnTo>
                  <a:cubicBezTo>
                    <a:pt x="189959" y="63166"/>
                    <a:pt x="170185" y="55623"/>
                    <a:pt x="150411" y="55623"/>
                  </a:cubicBezTo>
                  <a:close/>
                  <a:moveTo>
                    <a:pt x="0" y="0"/>
                  </a:moveTo>
                  <a:lnTo>
                    <a:pt x="300822" y="0"/>
                  </a:lnTo>
                  <a:lnTo>
                    <a:pt x="300822" y="300822"/>
                  </a:lnTo>
                  <a:lnTo>
                    <a:pt x="0" y="300822"/>
                  </a:lnTo>
                  <a:close/>
                </a:path>
              </a:pathLst>
            </a:custGeom>
            <a:solidFill>
              <a:srgbClr val="317A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00" dirty="0">
                <a:solidFill>
                  <a:schemeClr val="tx1"/>
                </a:solidFill>
                <a:cs typeface="+mn-ea"/>
                <a:sym typeface="+mn-lt"/>
              </a:endParaRPr>
            </a:p>
          </p:txBody>
        </p:sp>
        <p:sp>
          <p:nvSpPr>
            <p:cNvPr id="39" name="任意多边形 27"/>
            <p:cNvSpPr>
              <a:spLocks noChangeAspect="1"/>
            </p:cNvSpPr>
            <p:nvPr/>
          </p:nvSpPr>
          <p:spPr>
            <a:xfrm>
              <a:off x="4820429" y="1593036"/>
              <a:ext cx="300822" cy="300822"/>
            </a:xfrm>
            <a:custGeom>
              <a:avLst/>
              <a:gdLst>
                <a:gd name="connsiteX0" fmla="*/ 180660 w 300822"/>
                <a:gd name="connsiteY0" fmla="*/ 141491 h 300822"/>
                <a:gd name="connsiteX1" fmla="*/ 180660 w 300822"/>
                <a:gd name="connsiteY1" fmla="*/ 201988 h 300822"/>
                <a:gd name="connsiteX2" fmla="*/ 196344 w 300822"/>
                <a:gd name="connsiteY2" fmla="*/ 201988 h 300822"/>
                <a:gd name="connsiteX3" fmla="*/ 196344 w 300822"/>
                <a:gd name="connsiteY3" fmla="*/ 141491 h 300822"/>
                <a:gd name="connsiteX4" fmla="*/ 103638 w 300822"/>
                <a:gd name="connsiteY4" fmla="*/ 118524 h 300822"/>
                <a:gd name="connsiteX5" fmla="*/ 103638 w 300822"/>
                <a:gd name="connsiteY5" fmla="*/ 201988 h 300822"/>
                <a:gd name="connsiteX6" fmla="*/ 119322 w 300822"/>
                <a:gd name="connsiteY6" fmla="*/ 201988 h 300822"/>
                <a:gd name="connsiteX7" fmla="*/ 119322 w 300822"/>
                <a:gd name="connsiteY7" fmla="*/ 118524 h 300822"/>
                <a:gd name="connsiteX8" fmla="*/ 142569 w 300822"/>
                <a:gd name="connsiteY8" fmla="*/ 93877 h 300822"/>
                <a:gd name="connsiteX9" fmla="*/ 142569 w 300822"/>
                <a:gd name="connsiteY9" fmla="*/ 201988 h 300822"/>
                <a:gd name="connsiteX10" fmla="*/ 158254 w 300822"/>
                <a:gd name="connsiteY10" fmla="*/ 201988 h 300822"/>
                <a:gd name="connsiteX11" fmla="*/ 158254 w 300822"/>
                <a:gd name="connsiteY11" fmla="*/ 93877 h 300822"/>
                <a:gd name="connsiteX12" fmla="*/ 83081 w 300822"/>
                <a:gd name="connsiteY12" fmla="*/ 67369 h 300822"/>
                <a:gd name="connsiteX13" fmla="*/ 217742 w 300822"/>
                <a:gd name="connsiteY13" fmla="*/ 67369 h 300822"/>
                <a:gd name="connsiteX14" fmla="*/ 233454 w 300822"/>
                <a:gd name="connsiteY14" fmla="*/ 83080 h 300822"/>
                <a:gd name="connsiteX15" fmla="*/ 233454 w 300822"/>
                <a:gd name="connsiteY15" fmla="*/ 217742 h 300822"/>
                <a:gd name="connsiteX16" fmla="*/ 217742 w 300822"/>
                <a:gd name="connsiteY16" fmla="*/ 233453 h 300822"/>
                <a:gd name="connsiteX17" fmla="*/ 83081 w 300822"/>
                <a:gd name="connsiteY17" fmla="*/ 233453 h 300822"/>
                <a:gd name="connsiteX18" fmla="*/ 67369 w 300822"/>
                <a:gd name="connsiteY18" fmla="*/ 217742 h 300822"/>
                <a:gd name="connsiteX19" fmla="*/ 67369 w 300822"/>
                <a:gd name="connsiteY19" fmla="*/ 83080 h 300822"/>
                <a:gd name="connsiteX20" fmla="*/ 83081 w 300822"/>
                <a:gd name="connsiteY20" fmla="*/ 67369 h 300822"/>
                <a:gd name="connsiteX21" fmla="*/ 74790 w 300822"/>
                <a:gd name="connsiteY21" fmla="*/ 57144 h 300822"/>
                <a:gd name="connsiteX22" fmla="*/ 57144 w 300822"/>
                <a:gd name="connsiteY22" fmla="*/ 74790 h 300822"/>
                <a:gd name="connsiteX23" fmla="*/ 57144 w 300822"/>
                <a:gd name="connsiteY23" fmla="*/ 226032 h 300822"/>
                <a:gd name="connsiteX24" fmla="*/ 74790 w 300822"/>
                <a:gd name="connsiteY24" fmla="*/ 243678 h 300822"/>
                <a:gd name="connsiteX25" fmla="*/ 226032 w 300822"/>
                <a:gd name="connsiteY25" fmla="*/ 243678 h 300822"/>
                <a:gd name="connsiteX26" fmla="*/ 243678 w 300822"/>
                <a:gd name="connsiteY26" fmla="*/ 226032 h 300822"/>
                <a:gd name="connsiteX27" fmla="*/ 243678 w 300822"/>
                <a:gd name="connsiteY27" fmla="*/ 74790 h 300822"/>
                <a:gd name="connsiteX28" fmla="*/ 226032 w 300822"/>
                <a:gd name="connsiteY28" fmla="*/ 57144 h 300822"/>
                <a:gd name="connsiteX29" fmla="*/ 0 w 300822"/>
                <a:gd name="connsiteY29" fmla="*/ 0 h 300822"/>
                <a:gd name="connsiteX30" fmla="*/ 300822 w 300822"/>
                <a:gd name="connsiteY30" fmla="*/ 0 h 300822"/>
                <a:gd name="connsiteX31" fmla="*/ 300822 w 300822"/>
                <a:gd name="connsiteY31" fmla="*/ 300822 h 300822"/>
                <a:gd name="connsiteX32" fmla="*/ 0 w 300822"/>
                <a:gd name="connsiteY32" fmla="*/ 300822 h 30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0822" h="300822">
                  <a:moveTo>
                    <a:pt x="180660" y="141491"/>
                  </a:moveTo>
                  <a:lnTo>
                    <a:pt x="180660" y="201988"/>
                  </a:lnTo>
                  <a:lnTo>
                    <a:pt x="196344" y="201988"/>
                  </a:lnTo>
                  <a:lnTo>
                    <a:pt x="196344" y="141491"/>
                  </a:lnTo>
                  <a:close/>
                  <a:moveTo>
                    <a:pt x="103638" y="118524"/>
                  </a:moveTo>
                  <a:lnTo>
                    <a:pt x="103638" y="201988"/>
                  </a:lnTo>
                  <a:lnTo>
                    <a:pt x="119322" y="201988"/>
                  </a:lnTo>
                  <a:lnTo>
                    <a:pt x="119322" y="118524"/>
                  </a:lnTo>
                  <a:close/>
                  <a:moveTo>
                    <a:pt x="142569" y="93877"/>
                  </a:moveTo>
                  <a:lnTo>
                    <a:pt x="142569" y="201988"/>
                  </a:lnTo>
                  <a:lnTo>
                    <a:pt x="158254" y="201988"/>
                  </a:lnTo>
                  <a:lnTo>
                    <a:pt x="158254" y="93877"/>
                  </a:lnTo>
                  <a:close/>
                  <a:moveTo>
                    <a:pt x="83081" y="67369"/>
                  </a:moveTo>
                  <a:lnTo>
                    <a:pt x="217742" y="67369"/>
                  </a:lnTo>
                  <a:cubicBezTo>
                    <a:pt x="226419" y="67369"/>
                    <a:pt x="233454" y="74403"/>
                    <a:pt x="233454" y="83080"/>
                  </a:cubicBezTo>
                  <a:lnTo>
                    <a:pt x="233454" y="217742"/>
                  </a:lnTo>
                  <a:cubicBezTo>
                    <a:pt x="233454" y="226419"/>
                    <a:pt x="226419" y="233453"/>
                    <a:pt x="217742" y="233453"/>
                  </a:cubicBezTo>
                  <a:lnTo>
                    <a:pt x="83081" y="233453"/>
                  </a:lnTo>
                  <a:cubicBezTo>
                    <a:pt x="74403" y="233453"/>
                    <a:pt x="67369" y="226419"/>
                    <a:pt x="67369" y="217742"/>
                  </a:cubicBezTo>
                  <a:lnTo>
                    <a:pt x="67369" y="83080"/>
                  </a:lnTo>
                  <a:cubicBezTo>
                    <a:pt x="67369" y="74403"/>
                    <a:pt x="74403" y="67369"/>
                    <a:pt x="83081" y="67369"/>
                  </a:cubicBezTo>
                  <a:close/>
                  <a:moveTo>
                    <a:pt x="74790" y="57144"/>
                  </a:moveTo>
                  <a:cubicBezTo>
                    <a:pt x="65045" y="57144"/>
                    <a:pt x="57144" y="65045"/>
                    <a:pt x="57144" y="74790"/>
                  </a:cubicBezTo>
                  <a:lnTo>
                    <a:pt x="57144" y="226032"/>
                  </a:lnTo>
                  <a:cubicBezTo>
                    <a:pt x="57144" y="235778"/>
                    <a:pt x="65045" y="243678"/>
                    <a:pt x="74790" y="243678"/>
                  </a:cubicBezTo>
                  <a:lnTo>
                    <a:pt x="226032" y="243678"/>
                  </a:lnTo>
                  <a:cubicBezTo>
                    <a:pt x="235778" y="243678"/>
                    <a:pt x="243678" y="235778"/>
                    <a:pt x="243678" y="226032"/>
                  </a:cubicBezTo>
                  <a:lnTo>
                    <a:pt x="243678" y="74790"/>
                  </a:lnTo>
                  <a:cubicBezTo>
                    <a:pt x="243678" y="65045"/>
                    <a:pt x="235778" y="57144"/>
                    <a:pt x="226032" y="57144"/>
                  </a:cubicBezTo>
                  <a:close/>
                  <a:moveTo>
                    <a:pt x="0" y="0"/>
                  </a:moveTo>
                  <a:lnTo>
                    <a:pt x="300822" y="0"/>
                  </a:lnTo>
                  <a:lnTo>
                    <a:pt x="300822" y="300822"/>
                  </a:lnTo>
                  <a:lnTo>
                    <a:pt x="0" y="300822"/>
                  </a:lnTo>
                  <a:close/>
                </a:path>
              </a:pathLst>
            </a:custGeom>
            <a:solidFill>
              <a:srgbClr val="317A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00">
                <a:solidFill>
                  <a:schemeClr val="tx1"/>
                </a:solidFill>
                <a:cs typeface="+mn-ea"/>
                <a:sym typeface="+mn-lt"/>
              </a:endParaRPr>
            </a:p>
          </p:txBody>
        </p:sp>
        <p:sp>
          <p:nvSpPr>
            <p:cNvPr id="42" name="任意多边形 28"/>
            <p:cNvSpPr>
              <a:spLocks noChangeAspect="1"/>
            </p:cNvSpPr>
            <p:nvPr/>
          </p:nvSpPr>
          <p:spPr>
            <a:xfrm>
              <a:off x="4820429" y="2570367"/>
              <a:ext cx="300822" cy="300822"/>
            </a:xfrm>
            <a:custGeom>
              <a:avLst/>
              <a:gdLst>
                <a:gd name="connsiteX0" fmla="*/ 148418 w 300822"/>
                <a:gd name="connsiteY0" fmla="*/ 105646 h 300822"/>
                <a:gd name="connsiteX1" fmla="*/ 148418 w 300822"/>
                <a:gd name="connsiteY1" fmla="*/ 145097 h 300822"/>
                <a:gd name="connsiteX2" fmla="*/ 82257 w 300822"/>
                <a:gd name="connsiteY2" fmla="*/ 145097 h 300822"/>
                <a:gd name="connsiteX3" fmla="*/ 82257 w 300822"/>
                <a:gd name="connsiteY3" fmla="*/ 144763 h 300822"/>
                <a:gd name="connsiteX4" fmla="*/ 78521 w 300822"/>
                <a:gd name="connsiteY4" fmla="*/ 144763 h 300822"/>
                <a:gd name="connsiteX5" fmla="*/ 78521 w 300822"/>
                <a:gd name="connsiteY5" fmla="*/ 196559 h 300822"/>
                <a:gd name="connsiteX6" fmla="*/ 57144 w 300822"/>
                <a:gd name="connsiteY6" fmla="*/ 196559 h 300822"/>
                <a:gd name="connsiteX7" fmla="*/ 57144 w 300822"/>
                <a:gd name="connsiteY7" fmla="*/ 243678 h 300822"/>
                <a:gd name="connsiteX8" fmla="*/ 103884 w 300822"/>
                <a:gd name="connsiteY8" fmla="*/ 243678 h 300822"/>
                <a:gd name="connsiteX9" fmla="*/ 103884 w 300822"/>
                <a:gd name="connsiteY9" fmla="*/ 196559 h 300822"/>
                <a:gd name="connsiteX10" fmla="*/ 82257 w 300822"/>
                <a:gd name="connsiteY10" fmla="*/ 196559 h 300822"/>
                <a:gd name="connsiteX11" fmla="*/ 82257 w 300822"/>
                <a:gd name="connsiteY11" fmla="*/ 148864 h 300822"/>
                <a:gd name="connsiteX12" fmla="*/ 148418 w 300822"/>
                <a:gd name="connsiteY12" fmla="*/ 148864 h 300822"/>
                <a:gd name="connsiteX13" fmla="*/ 148418 w 300822"/>
                <a:gd name="connsiteY13" fmla="*/ 196559 h 300822"/>
                <a:gd name="connsiteX14" fmla="*/ 127042 w 300822"/>
                <a:gd name="connsiteY14" fmla="*/ 196559 h 300822"/>
                <a:gd name="connsiteX15" fmla="*/ 127042 w 300822"/>
                <a:gd name="connsiteY15" fmla="*/ 243678 h 300822"/>
                <a:gd name="connsiteX16" fmla="*/ 173781 w 300822"/>
                <a:gd name="connsiteY16" fmla="*/ 243678 h 300822"/>
                <a:gd name="connsiteX17" fmla="*/ 173781 w 300822"/>
                <a:gd name="connsiteY17" fmla="*/ 196559 h 300822"/>
                <a:gd name="connsiteX18" fmla="*/ 152154 w 300822"/>
                <a:gd name="connsiteY18" fmla="*/ 196559 h 300822"/>
                <a:gd name="connsiteX19" fmla="*/ 152154 w 300822"/>
                <a:gd name="connsiteY19" fmla="*/ 148864 h 300822"/>
                <a:gd name="connsiteX20" fmla="*/ 218315 w 300822"/>
                <a:gd name="connsiteY20" fmla="*/ 148864 h 300822"/>
                <a:gd name="connsiteX21" fmla="*/ 218315 w 300822"/>
                <a:gd name="connsiteY21" fmla="*/ 196559 h 300822"/>
                <a:gd name="connsiteX22" fmla="*/ 196939 w 300822"/>
                <a:gd name="connsiteY22" fmla="*/ 196559 h 300822"/>
                <a:gd name="connsiteX23" fmla="*/ 196939 w 300822"/>
                <a:gd name="connsiteY23" fmla="*/ 243678 h 300822"/>
                <a:gd name="connsiteX24" fmla="*/ 243678 w 300822"/>
                <a:gd name="connsiteY24" fmla="*/ 243678 h 300822"/>
                <a:gd name="connsiteX25" fmla="*/ 243678 w 300822"/>
                <a:gd name="connsiteY25" fmla="*/ 196559 h 300822"/>
                <a:gd name="connsiteX26" fmla="*/ 222051 w 300822"/>
                <a:gd name="connsiteY26" fmla="*/ 196559 h 300822"/>
                <a:gd name="connsiteX27" fmla="*/ 222051 w 300822"/>
                <a:gd name="connsiteY27" fmla="*/ 144763 h 300822"/>
                <a:gd name="connsiteX28" fmla="*/ 218315 w 300822"/>
                <a:gd name="connsiteY28" fmla="*/ 144763 h 300822"/>
                <a:gd name="connsiteX29" fmla="*/ 218315 w 300822"/>
                <a:gd name="connsiteY29" fmla="*/ 145097 h 300822"/>
                <a:gd name="connsiteX30" fmla="*/ 152154 w 300822"/>
                <a:gd name="connsiteY30" fmla="*/ 145097 h 300822"/>
                <a:gd name="connsiteX31" fmla="*/ 152154 w 300822"/>
                <a:gd name="connsiteY31" fmla="*/ 105646 h 300822"/>
                <a:gd name="connsiteX32" fmla="*/ 125048 w 300822"/>
                <a:gd name="connsiteY32" fmla="*/ 57144 h 300822"/>
                <a:gd name="connsiteX33" fmla="*/ 125048 w 300822"/>
                <a:gd name="connsiteY33" fmla="*/ 104264 h 300822"/>
                <a:gd name="connsiteX34" fmla="*/ 171788 w 300822"/>
                <a:gd name="connsiteY34" fmla="*/ 104264 h 300822"/>
                <a:gd name="connsiteX35" fmla="*/ 171788 w 300822"/>
                <a:gd name="connsiteY35" fmla="*/ 57144 h 300822"/>
                <a:gd name="connsiteX36" fmla="*/ 0 w 300822"/>
                <a:gd name="connsiteY36" fmla="*/ 0 h 300822"/>
                <a:gd name="connsiteX37" fmla="*/ 300822 w 300822"/>
                <a:gd name="connsiteY37" fmla="*/ 0 h 300822"/>
                <a:gd name="connsiteX38" fmla="*/ 300822 w 300822"/>
                <a:gd name="connsiteY38" fmla="*/ 300822 h 300822"/>
                <a:gd name="connsiteX39" fmla="*/ 0 w 300822"/>
                <a:gd name="connsiteY39" fmla="*/ 300822 h 30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0822" h="300822">
                  <a:moveTo>
                    <a:pt x="148418" y="105646"/>
                  </a:moveTo>
                  <a:lnTo>
                    <a:pt x="148418" y="145097"/>
                  </a:lnTo>
                  <a:lnTo>
                    <a:pt x="82257" y="145097"/>
                  </a:lnTo>
                  <a:lnTo>
                    <a:pt x="82257" y="144763"/>
                  </a:lnTo>
                  <a:lnTo>
                    <a:pt x="78521" y="144763"/>
                  </a:lnTo>
                  <a:lnTo>
                    <a:pt x="78521" y="196559"/>
                  </a:lnTo>
                  <a:lnTo>
                    <a:pt x="57144" y="196559"/>
                  </a:lnTo>
                  <a:lnTo>
                    <a:pt x="57144" y="243678"/>
                  </a:lnTo>
                  <a:lnTo>
                    <a:pt x="103884" y="243678"/>
                  </a:lnTo>
                  <a:lnTo>
                    <a:pt x="103884" y="196559"/>
                  </a:lnTo>
                  <a:lnTo>
                    <a:pt x="82257" y="196559"/>
                  </a:lnTo>
                  <a:lnTo>
                    <a:pt x="82257" y="148864"/>
                  </a:lnTo>
                  <a:lnTo>
                    <a:pt x="148418" y="148864"/>
                  </a:lnTo>
                  <a:lnTo>
                    <a:pt x="148418" y="196559"/>
                  </a:lnTo>
                  <a:lnTo>
                    <a:pt x="127042" y="196559"/>
                  </a:lnTo>
                  <a:lnTo>
                    <a:pt x="127042" y="243678"/>
                  </a:lnTo>
                  <a:lnTo>
                    <a:pt x="173781" y="243678"/>
                  </a:lnTo>
                  <a:lnTo>
                    <a:pt x="173781" y="196559"/>
                  </a:lnTo>
                  <a:lnTo>
                    <a:pt x="152154" y="196559"/>
                  </a:lnTo>
                  <a:lnTo>
                    <a:pt x="152154" y="148864"/>
                  </a:lnTo>
                  <a:lnTo>
                    <a:pt x="218315" y="148864"/>
                  </a:lnTo>
                  <a:lnTo>
                    <a:pt x="218315" y="196559"/>
                  </a:lnTo>
                  <a:lnTo>
                    <a:pt x="196939" y="196559"/>
                  </a:lnTo>
                  <a:lnTo>
                    <a:pt x="196939" y="243678"/>
                  </a:lnTo>
                  <a:lnTo>
                    <a:pt x="243678" y="243678"/>
                  </a:lnTo>
                  <a:lnTo>
                    <a:pt x="243678" y="196559"/>
                  </a:lnTo>
                  <a:lnTo>
                    <a:pt x="222051" y="196559"/>
                  </a:lnTo>
                  <a:lnTo>
                    <a:pt x="222051" y="144763"/>
                  </a:lnTo>
                  <a:lnTo>
                    <a:pt x="218315" y="144763"/>
                  </a:lnTo>
                  <a:lnTo>
                    <a:pt x="218315" y="145097"/>
                  </a:lnTo>
                  <a:lnTo>
                    <a:pt x="152154" y="145097"/>
                  </a:lnTo>
                  <a:lnTo>
                    <a:pt x="152154" y="105646"/>
                  </a:lnTo>
                  <a:close/>
                  <a:moveTo>
                    <a:pt x="125048" y="57144"/>
                  </a:moveTo>
                  <a:lnTo>
                    <a:pt x="125048" y="104264"/>
                  </a:lnTo>
                  <a:lnTo>
                    <a:pt x="171788" y="104264"/>
                  </a:lnTo>
                  <a:lnTo>
                    <a:pt x="171788" y="57144"/>
                  </a:lnTo>
                  <a:close/>
                  <a:moveTo>
                    <a:pt x="0" y="0"/>
                  </a:moveTo>
                  <a:lnTo>
                    <a:pt x="300822" y="0"/>
                  </a:lnTo>
                  <a:lnTo>
                    <a:pt x="300822" y="300822"/>
                  </a:lnTo>
                  <a:lnTo>
                    <a:pt x="0" y="300822"/>
                  </a:lnTo>
                  <a:close/>
                </a:path>
              </a:pathLst>
            </a:custGeom>
            <a:solidFill>
              <a:srgbClr val="317A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00">
                <a:solidFill>
                  <a:schemeClr val="tx1"/>
                </a:solidFill>
                <a:cs typeface="+mn-ea"/>
                <a:sym typeface="+mn-lt"/>
              </a:endParaRPr>
            </a:p>
          </p:txBody>
        </p:sp>
      </p:grpSp>
      <p:sp>
        <p:nvSpPr>
          <p:cNvPr id="44" name="文本框 43"/>
          <p:cNvSpPr txBox="1"/>
          <p:nvPr/>
        </p:nvSpPr>
        <p:spPr>
          <a:xfrm>
            <a:off x="4609721" y="1071647"/>
            <a:ext cx="2786743" cy="646331"/>
          </a:xfrm>
          <a:prstGeom prst="rect">
            <a:avLst/>
          </a:prstGeom>
          <a:noFill/>
        </p:spPr>
        <p:txBody>
          <a:bodyPr wrap="square" rtlCol="0">
            <a:spAutoFit/>
          </a:bodyPr>
          <a:lstStyle/>
          <a:p>
            <a:pPr algn="ctr"/>
            <a:r>
              <a:rPr lang="zh-CN" altLang="en-US" sz="3600" dirty="0">
                <a:solidFill>
                  <a:schemeClr val="bg1"/>
                </a:solidFill>
                <a:cs typeface="+mn-ea"/>
                <a:sym typeface="+mn-lt"/>
              </a:rPr>
              <a:t>目录</a:t>
            </a:r>
          </a:p>
        </p:txBody>
      </p:sp>
      <p:sp>
        <p:nvSpPr>
          <p:cNvPr id="45" name="文本框 44"/>
          <p:cNvSpPr txBox="1"/>
          <p:nvPr/>
        </p:nvSpPr>
        <p:spPr>
          <a:xfrm>
            <a:off x="4453194" y="388796"/>
            <a:ext cx="3490684" cy="707886"/>
          </a:xfrm>
          <a:prstGeom prst="rect">
            <a:avLst/>
          </a:prstGeom>
          <a:noFill/>
        </p:spPr>
        <p:txBody>
          <a:bodyPr wrap="square" rtlCol="0">
            <a:spAutoFit/>
          </a:bodyPr>
          <a:lstStyle/>
          <a:p>
            <a:r>
              <a:rPr lang="en-US" altLang="zh-CN" sz="4000" dirty="0">
                <a:solidFill>
                  <a:schemeClr val="bg1"/>
                </a:solidFill>
                <a:cs typeface="+mn-ea"/>
                <a:sym typeface="+mn-lt"/>
              </a:rPr>
              <a:t>CONTENTS</a:t>
            </a:r>
            <a:endParaRPr lang="zh-CN" altLang="en-US" sz="4000" dirty="0">
              <a:solidFill>
                <a:schemeClr val="bg1"/>
              </a:solidFill>
              <a:cs typeface="+mn-ea"/>
              <a:sym typeface="+mn-lt"/>
            </a:endParaRPr>
          </a:p>
        </p:txBody>
      </p:sp>
      <p:grpSp>
        <p:nvGrpSpPr>
          <p:cNvPr id="48" name="组合 47"/>
          <p:cNvGrpSpPr/>
          <p:nvPr/>
        </p:nvGrpSpPr>
        <p:grpSpPr>
          <a:xfrm>
            <a:off x="6632943" y="1923875"/>
            <a:ext cx="1819853" cy="2012331"/>
            <a:chOff x="6698131" y="2094800"/>
            <a:chExt cx="1819853" cy="2012331"/>
          </a:xfrm>
        </p:grpSpPr>
        <p:grpSp>
          <p:nvGrpSpPr>
            <p:cNvPr id="31" name="组合 30"/>
            <p:cNvGrpSpPr/>
            <p:nvPr/>
          </p:nvGrpSpPr>
          <p:grpSpPr>
            <a:xfrm>
              <a:off x="6698131" y="2630447"/>
              <a:ext cx="1819853" cy="1476684"/>
              <a:chOff x="4820429" y="535284"/>
              <a:chExt cx="3003641" cy="2437244"/>
            </a:xfrm>
          </p:grpSpPr>
          <p:sp>
            <p:nvSpPr>
              <p:cNvPr id="16" name="文本框 15"/>
              <p:cNvSpPr txBox="1"/>
              <p:nvPr/>
            </p:nvSpPr>
            <p:spPr>
              <a:xfrm>
                <a:off x="5242128" y="535284"/>
                <a:ext cx="2486767" cy="482582"/>
              </a:xfrm>
              <a:prstGeom prst="rect">
                <a:avLst/>
              </a:prstGeom>
              <a:noFill/>
            </p:spPr>
            <p:txBody>
              <a:bodyPr wrap="square" rtlCol="0">
                <a:spAutoFit/>
              </a:bodyPr>
              <a:lstStyle/>
              <a:p>
                <a:r>
                  <a:rPr lang="zh-CN" altLang="en-US" sz="1300" dirty="0">
                    <a:cs typeface="+mn-ea"/>
                    <a:sym typeface="+mn-lt"/>
                  </a:rPr>
                  <a:t>应收账款分析</a:t>
                </a:r>
              </a:p>
            </p:txBody>
          </p:sp>
          <p:sp>
            <p:nvSpPr>
              <p:cNvPr id="17" name="文本框 16"/>
              <p:cNvSpPr txBox="1"/>
              <p:nvPr/>
            </p:nvSpPr>
            <p:spPr>
              <a:xfrm>
                <a:off x="5242128" y="1512615"/>
                <a:ext cx="2581942" cy="482582"/>
              </a:xfrm>
              <a:prstGeom prst="rect">
                <a:avLst/>
              </a:prstGeom>
              <a:noFill/>
            </p:spPr>
            <p:txBody>
              <a:bodyPr wrap="square" rtlCol="0">
                <a:spAutoFit/>
              </a:bodyPr>
              <a:lstStyle/>
              <a:p>
                <a:r>
                  <a:rPr lang="zh-CN" altLang="en-US" sz="1300" dirty="0">
                    <a:cs typeface="+mn-ea"/>
                    <a:sym typeface="+mn-lt"/>
                  </a:rPr>
                  <a:t>应付账款分析</a:t>
                </a:r>
              </a:p>
            </p:txBody>
          </p:sp>
          <p:sp>
            <p:nvSpPr>
              <p:cNvPr id="18" name="文本框 17"/>
              <p:cNvSpPr txBox="1"/>
              <p:nvPr/>
            </p:nvSpPr>
            <p:spPr>
              <a:xfrm>
                <a:off x="5242128" y="2489946"/>
                <a:ext cx="1698171" cy="482582"/>
              </a:xfrm>
              <a:prstGeom prst="rect">
                <a:avLst/>
              </a:prstGeom>
              <a:noFill/>
            </p:spPr>
            <p:txBody>
              <a:bodyPr wrap="square" rtlCol="0">
                <a:spAutoFit/>
              </a:bodyPr>
              <a:lstStyle/>
              <a:p>
                <a:r>
                  <a:rPr lang="zh-CN" altLang="en-US" sz="1300" dirty="0">
                    <a:cs typeface="+mn-ea"/>
                    <a:sym typeface="+mn-lt"/>
                  </a:rPr>
                  <a:t>税负分析</a:t>
                </a:r>
              </a:p>
            </p:txBody>
          </p:sp>
          <p:sp>
            <p:nvSpPr>
              <p:cNvPr id="26" name="任意多边形 26"/>
              <p:cNvSpPr>
                <a:spLocks noChangeAspect="1"/>
              </p:cNvSpPr>
              <p:nvPr/>
            </p:nvSpPr>
            <p:spPr>
              <a:xfrm>
                <a:off x="4820429" y="615705"/>
                <a:ext cx="300822" cy="300822"/>
              </a:xfrm>
              <a:custGeom>
                <a:avLst/>
                <a:gdLst>
                  <a:gd name="connsiteX0" fmla="*/ 150411 w 300822"/>
                  <a:gd name="connsiteY0" fmla="*/ 75472 h 300822"/>
                  <a:gd name="connsiteX1" fmla="*/ 207828 w 300822"/>
                  <a:gd name="connsiteY1" fmla="*/ 132888 h 300822"/>
                  <a:gd name="connsiteX2" fmla="*/ 150411 w 300822"/>
                  <a:gd name="connsiteY2" fmla="*/ 190304 h 300822"/>
                  <a:gd name="connsiteX3" fmla="*/ 92995 w 300822"/>
                  <a:gd name="connsiteY3" fmla="*/ 132888 h 300822"/>
                  <a:gd name="connsiteX4" fmla="*/ 150411 w 300822"/>
                  <a:gd name="connsiteY4" fmla="*/ 75472 h 300822"/>
                  <a:gd name="connsiteX5" fmla="*/ 150411 w 300822"/>
                  <a:gd name="connsiteY5" fmla="*/ 55623 h 300822"/>
                  <a:gd name="connsiteX6" fmla="*/ 95777 w 300822"/>
                  <a:gd name="connsiteY6" fmla="*/ 78253 h 300822"/>
                  <a:gd name="connsiteX7" fmla="*/ 95777 w 300822"/>
                  <a:gd name="connsiteY7" fmla="*/ 187523 h 300822"/>
                  <a:gd name="connsiteX8" fmla="*/ 150411 w 300822"/>
                  <a:gd name="connsiteY8" fmla="*/ 242157 h 300822"/>
                  <a:gd name="connsiteX9" fmla="*/ 205046 w 300822"/>
                  <a:gd name="connsiteY9" fmla="*/ 187523 h 300822"/>
                  <a:gd name="connsiteX10" fmla="*/ 205046 w 300822"/>
                  <a:gd name="connsiteY10" fmla="*/ 78254 h 300822"/>
                  <a:gd name="connsiteX11" fmla="*/ 205046 w 300822"/>
                  <a:gd name="connsiteY11" fmla="*/ 78253 h 300822"/>
                  <a:gd name="connsiteX12" fmla="*/ 150411 w 300822"/>
                  <a:gd name="connsiteY12" fmla="*/ 55623 h 300822"/>
                  <a:gd name="connsiteX13" fmla="*/ 0 w 300822"/>
                  <a:gd name="connsiteY13" fmla="*/ 0 h 300822"/>
                  <a:gd name="connsiteX14" fmla="*/ 300822 w 300822"/>
                  <a:gd name="connsiteY14" fmla="*/ 0 h 300822"/>
                  <a:gd name="connsiteX15" fmla="*/ 300822 w 300822"/>
                  <a:gd name="connsiteY15" fmla="*/ 300822 h 300822"/>
                  <a:gd name="connsiteX16" fmla="*/ 0 w 300822"/>
                  <a:gd name="connsiteY16" fmla="*/ 300822 h 30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822" h="300822">
                    <a:moveTo>
                      <a:pt x="150411" y="75472"/>
                    </a:moveTo>
                    <a:cubicBezTo>
                      <a:pt x="182121" y="75472"/>
                      <a:pt x="207828" y="101178"/>
                      <a:pt x="207828" y="132888"/>
                    </a:cubicBezTo>
                    <a:cubicBezTo>
                      <a:pt x="207828" y="164598"/>
                      <a:pt x="182121" y="190304"/>
                      <a:pt x="150411" y="190304"/>
                    </a:cubicBezTo>
                    <a:cubicBezTo>
                      <a:pt x="118701" y="190304"/>
                      <a:pt x="92995" y="164598"/>
                      <a:pt x="92995" y="132888"/>
                    </a:cubicBezTo>
                    <a:cubicBezTo>
                      <a:pt x="92995" y="101178"/>
                      <a:pt x="118701" y="75472"/>
                      <a:pt x="150411" y="75472"/>
                    </a:cubicBezTo>
                    <a:close/>
                    <a:moveTo>
                      <a:pt x="150411" y="55623"/>
                    </a:moveTo>
                    <a:cubicBezTo>
                      <a:pt x="130637" y="55623"/>
                      <a:pt x="110864" y="63166"/>
                      <a:pt x="95777" y="78253"/>
                    </a:cubicBezTo>
                    <a:cubicBezTo>
                      <a:pt x="65603" y="108427"/>
                      <a:pt x="65603" y="157349"/>
                      <a:pt x="95777" y="187523"/>
                    </a:cubicBezTo>
                    <a:lnTo>
                      <a:pt x="150411" y="242157"/>
                    </a:lnTo>
                    <a:lnTo>
                      <a:pt x="205046" y="187523"/>
                    </a:lnTo>
                    <a:cubicBezTo>
                      <a:pt x="235220" y="157349"/>
                      <a:pt x="235220" y="108427"/>
                      <a:pt x="205046" y="78254"/>
                    </a:cubicBezTo>
                    <a:lnTo>
                      <a:pt x="205046" y="78253"/>
                    </a:lnTo>
                    <a:cubicBezTo>
                      <a:pt x="189959" y="63166"/>
                      <a:pt x="170185" y="55623"/>
                      <a:pt x="150411" y="55623"/>
                    </a:cubicBezTo>
                    <a:close/>
                    <a:moveTo>
                      <a:pt x="0" y="0"/>
                    </a:moveTo>
                    <a:lnTo>
                      <a:pt x="300822" y="0"/>
                    </a:lnTo>
                    <a:lnTo>
                      <a:pt x="300822" y="300822"/>
                    </a:lnTo>
                    <a:lnTo>
                      <a:pt x="0" y="300822"/>
                    </a:lnTo>
                    <a:close/>
                  </a:path>
                </a:pathLst>
              </a:custGeom>
              <a:solidFill>
                <a:srgbClr val="317A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00">
                  <a:solidFill>
                    <a:schemeClr val="tx1"/>
                  </a:solidFill>
                  <a:cs typeface="+mn-ea"/>
                  <a:sym typeface="+mn-lt"/>
                </a:endParaRPr>
              </a:p>
            </p:txBody>
          </p:sp>
          <p:sp>
            <p:nvSpPr>
              <p:cNvPr id="27" name="任意多边形 27"/>
              <p:cNvSpPr>
                <a:spLocks noChangeAspect="1"/>
              </p:cNvSpPr>
              <p:nvPr/>
            </p:nvSpPr>
            <p:spPr>
              <a:xfrm>
                <a:off x="4820429" y="1593036"/>
                <a:ext cx="300822" cy="300822"/>
              </a:xfrm>
              <a:custGeom>
                <a:avLst/>
                <a:gdLst>
                  <a:gd name="connsiteX0" fmla="*/ 180660 w 300822"/>
                  <a:gd name="connsiteY0" fmla="*/ 141491 h 300822"/>
                  <a:gd name="connsiteX1" fmla="*/ 180660 w 300822"/>
                  <a:gd name="connsiteY1" fmla="*/ 201988 h 300822"/>
                  <a:gd name="connsiteX2" fmla="*/ 196344 w 300822"/>
                  <a:gd name="connsiteY2" fmla="*/ 201988 h 300822"/>
                  <a:gd name="connsiteX3" fmla="*/ 196344 w 300822"/>
                  <a:gd name="connsiteY3" fmla="*/ 141491 h 300822"/>
                  <a:gd name="connsiteX4" fmla="*/ 103638 w 300822"/>
                  <a:gd name="connsiteY4" fmla="*/ 118524 h 300822"/>
                  <a:gd name="connsiteX5" fmla="*/ 103638 w 300822"/>
                  <a:gd name="connsiteY5" fmla="*/ 201988 h 300822"/>
                  <a:gd name="connsiteX6" fmla="*/ 119322 w 300822"/>
                  <a:gd name="connsiteY6" fmla="*/ 201988 h 300822"/>
                  <a:gd name="connsiteX7" fmla="*/ 119322 w 300822"/>
                  <a:gd name="connsiteY7" fmla="*/ 118524 h 300822"/>
                  <a:gd name="connsiteX8" fmla="*/ 142569 w 300822"/>
                  <a:gd name="connsiteY8" fmla="*/ 93877 h 300822"/>
                  <a:gd name="connsiteX9" fmla="*/ 142569 w 300822"/>
                  <a:gd name="connsiteY9" fmla="*/ 201988 h 300822"/>
                  <a:gd name="connsiteX10" fmla="*/ 158254 w 300822"/>
                  <a:gd name="connsiteY10" fmla="*/ 201988 h 300822"/>
                  <a:gd name="connsiteX11" fmla="*/ 158254 w 300822"/>
                  <a:gd name="connsiteY11" fmla="*/ 93877 h 300822"/>
                  <a:gd name="connsiteX12" fmla="*/ 83081 w 300822"/>
                  <a:gd name="connsiteY12" fmla="*/ 67369 h 300822"/>
                  <a:gd name="connsiteX13" fmla="*/ 217742 w 300822"/>
                  <a:gd name="connsiteY13" fmla="*/ 67369 h 300822"/>
                  <a:gd name="connsiteX14" fmla="*/ 233454 w 300822"/>
                  <a:gd name="connsiteY14" fmla="*/ 83080 h 300822"/>
                  <a:gd name="connsiteX15" fmla="*/ 233454 w 300822"/>
                  <a:gd name="connsiteY15" fmla="*/ 217742 h 300822"/>
                  <a:gd name="connsiteX16" fmla="*/ 217742 w 300822"/>
                  <a:gd name="connsiteY16" fmla="*/ 233453 h 300822"/>
                  <a:gd name="connsiteX17" fmla="*/ 83081 w 300822"/>
                  <a:gd name="connsiteY17" fmla="*/ 233453 h 300822"/>
                  <a:gd name="connsiteX18" fmla="*/ 67369 w 300822"/>
                  <a:gd name="connsiteY18" fmla="*/ 217742 h 300822"/>
                  <a:gd name="connsiteX19" fmla="*/ 67369 w 300822"/>
                  <a:gd name="connsiteY19" fmla="*/ 83080 h 300822"/>
                  <a:gd name="connsiteX20" fmla="*/ 83081 w 300822"/>
                  <a:gd name="connsiteY20" fmla="*/ 67369 h 300822"/>
                  <a:gd name="connsiteX21" fmla="*/ 74790 w 300822"/>
                  <a:gd name="connsiteY21" fmla="*/ 57144 h 300822"/>
                  <a:gd name="connsiteX22" fmla="*/ 57144 w 300822"/>
                  <a:gd name="connsiteY22" fmla="*/ 74790 h 300822"/>
                  <a:gd name="connsiteX23" fmla="*/ 57144 w 300822"/>
                  <a:gd name="connsiteY23" fmla="*/ 226032 h 300822"/>
                  <a:gd name="connsiteX24" fmla="*/ 74790 w 300822"/>
                  <a:gd name="connsiteY24" fmla="*/ 243678 h 300822"/>
                  <a:gd name="connsiteX25" fmla="*/ 226032 w 300822"/>
                  <a:gd name="connsiteY25" fmla="*/ 243678 h 300822"/>
                  <a:gd name="connsiteX26" fmla="*/ 243678 w 300822"/>
                  <a:gd name="connsiteY26" fmla="*/ 226032 h 300822"/>
                  <a:gd name="connsiteX27" fmla="*/ 243678 w 300822"/>
                  <a:gd name="connsiteY27" fmla="*/ 74790 h 300822"/>
                  <a:gd name="connsiteX28" fmla="*/ 226032 w 300822"/>
                  <a:gd name="connsiteY28" fmla="*/ 57144 h 300822"/>
                  <a:gd name="connsiteX29" fmla="*/ 0 w 300822"/>
                  <a:gd name="connsiteY29" fmla="*/ 0 h 300822"/>
                  <a:gd name="connsiteX30" fmla="*/ 300822 w 300822"/>
                  <a:gd name="connsiteY30" fmla="*/ 0 h 300822"/>
                  <a:gd name="connsiteX31" fmla="*/ 300822 w 300822"/>
                  <a:gd name="connsiteY31" fmla="*/ 300822 h 300822"/>
                  <a:gd name="connsiteX32" fmla="*/ 0 w 300822"/>
                  <a:gd name="connsiteY32" fmla="*/ 300822 h 30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0822" h="300822">
                    <a:moveTo>
                      <a:pt x="180660" y="141491"/>
                    </a:moveTo>
                    <a:lnTo>
                      <a:pt x="180660" y="201988"/>
                    </a:lnTo>
                    <a:lnTo>
                      <a:pt x="196344" y="201988"/>
                    </a:lnTo>
                    <a:lnTo>
                      <a:pt x="196344" y="141491"/>
                    </a:lnTo>
                    <a:close/>
                    <a:moveTo>
                      <a:pt x="103638" y="118524"/>
                    </a:moveTo>
                    <a:lnTo>
                      <a:pt x="103638" y="201988"/>
                    </a:lnTo>
                    <a:lnTo>
                      <a:pt x="119322" y="201988"/>
                    </a:lnTo>
                    <a:lnTo>
                      <a:pt x="119322" y="118524"/>
                    </a:lnTo>
                    <a:close/>
                    <a:moveTo>
                      <a:pt x="142569" y="93877"/>
                    </a:moveTo>
                    <a:lnTo>
                      <a:pt x="142569" y="201988"/>
                    </a:lnTo>
                    <a:lnTo>
                      <a:pt x="158254" y="201988"/>
                    </a:lnTo>
                    <a:lnTo>
                      <a:pt x="158254" y="93877"/>
                    </a:lnTo>
                    <a:close/>
                    <a:moveTo>
                      <a:pt x="83081" y="67369"/>
                    </a:moveTo>
                    <a:lnTo>
                      <a:pt x="217742" y="67369"/>
                    </a:lnTo>
                    <a:cubicBezTo>
                      <a:pt x="226419" y="67369"/>
                      <a:pt x="233454" y="74403"/>
                      <a:pt x="233454" y="83080"/>
                    </a:cubicBezTo>
                    <a:lnTo>
                      <a:pt x="233454" y="217742"/>
                    </a:lnTo>
                    <a:cubicBezTo>
                      <a:pt x="233454" y="226419"/>
                      <a:pt x="226419" y="233453"/>
                      <a:pt x="217742" y="233453"/>
                    </a:cubicBezTo>
                    <a:lnTo>
                      <a:pt x="83081" y="233453"/>
                    </a:lnTo>
                    <a:cubicBezTo>
                      <a:pt x="74403" y="233453"/>
                      <a:pt x="67369" y="226419"/>
                      <a:pt x="67369" y="217742"/>
                    </a:cubicBezTo>
                    <a:lnTo>
                      <a:pt x="67369" y="83080"/>
                    </a:lnTo>
                    <a:cubicBezTo>
                      <a:pt x="67369" y="74403"/>
                      <a:pt x="74403" y="67369"/>
                      <a:pt x="83081" y="67369"/>
                    </a:cubicBezTo>
                    <a:close/>
                    <a:moveTo>
                      <a:pt x="74790" y="57144"/>
                    </a:moveTo>
                    <a:cubicBezTo>
                      <a:pt x="65045" y="57144"/>
                      <a:pt x="57144" y="65045"/>
                      <a:pt x="57144" y="74790"/>
                    </a:cubicBezTo>
                    <a:lnTo>
                      <a:pt x="57144" y="226032"/>
                    </a:lnTo>
                    <a:cubicBezTo>
                      <a:pt x="57144" y="235778"/>
                      <a:pt x="65045" y="243678"/>
                      <a:pt x="74790" y="243678"/>
                    </a:cubicBezTo>
                    <a:lnTo>
                      <a:pt x="226032" y="243678"/>
                    </a:lnTo>
                    <a:cubicBezTo>
                      <a:pt x="235778" y="243678"/>
                      <a:pt x="243678" y="235778"/>
                      <a:pt x="243678" y="226032"/>
                    </a:cubicBezTo>
                    <a:lnTo>
                      <a:pt x="243678" y="74790"/>
                    </a:lnTo>
                    <a:cubicBezTo>
                      <a:pt x="243678" y="65045"/>
                      <a:pt x="235778" y="57144"/>
                      <a:pt x="226032" y="57144"/>
                    </a:cubicBezTo>
                    <a:close/>
                    <a:moveTo>
                      <a:pt x="0" y="0"/>
                    </a:moveTo>
                    <a:lnTo>
                      <a:pt x="300822" y="0"/>
                    </a:lnTo>
                    <a:lnTo>
                      <a:pt x="300822" y="300822"/>
                    </a:lnTo>
                    <a:lnTo>
                      <a:pt x="0" y="300822"/>
                    </a:lnTo>
                    <a:close/>
                  </a:path>
                </a:pathLst>
              </a:custGeom>
              <a:solidFill>
                <a:srgbClr val="317A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00">
                  <a:solidFill>
                    <a:schemeClr val="tx1"/>
                  </a:solidFill>
                  <a:cs typeface="+mn-ea"/>
                  <a:sym typeface="+mn-lt"/>
                </a:endParaRPr>
              </a:p>
            </p:txBody>
          </p:sp>
          <p:sp>
            <p:nvSpPr>
              <p:cNvPr id="30" name="任意多边形 28"/>
              <p:cNvSpPr>
                <a:spLocks noChangeAspect="1"/>
              </p:cNvSpPr>
              <p:nvPr/>
            </p:nvSpPr>
            <p:spPr>
              <a:xfrm>
                <a:off x="4820429" y="2570367"/>
                <a:ext cx="300822" cy="300822"/>
              </a:xfrm>
              <a:custGeom>
                <a:avLst/>
                <a:gdLst>
                  <a:gd name="connsiteX0" fmla="*/ 148418 w 300822"/>
                  <a:gd name="connsiteY0" fmla="*/ 105646 h 300822"/>
                  <a:gd name="connsiteX1" fmla="*/ 148418 w 300822"/>
                  <a:gd name="connsiteY1" fmla="*/ 145097 h 300822"/>
                  <a:gd name="connsiteX2" fmla="*/ 82257 w 300822"/>
                  <a:gd name="connsiteY2" fmla="*/ 145097 h 300822"/>
                  <a:gd name="connsiteX3" fmla="*/ 82257 w 300822"/>
                  <a:gd name="connsiteY3" fmla="*/ 144763 h 300822"/>
                  <a:gd name="connsiteX4" fmla="*/ 78521 w 300822"/>
                  <a:gd name="connsiteY4" fmla="*/ 144763 h 300822"/>
                  <a:gd name="connsiteX5" fmla="*/ 78521 w 300822"/>
                  <a:gd name="connsiteY5" fmla="*/ 196559 h 300822"/>
                  <a:gd name="connsiteX6" fmla="*/ 57144 w 300822"/>
                  <a:gd name="connsiteY6" fmla="*/ 196559 h 300822"/>
                  <a:gd name="connsiteX7" fmla="*/ 57144 w 300822"/>
                  <a:gd name="connsiteY7" fmla="*/ 243678 h 300822"/>
                  <a:gd name="connsiteX8" fmla="*/ 103884 w 300822"/>
                  <a:gd name="connsiteY8" fmla="*/ 243678 h 300822"/>
                  <a:gd name="connsiteX9" fmla="*/ 103884 w 300822"/>
                  <a:gd name="connsiteY9" fmla="*/ 196559 h 300822"/>
                  <a:gd name="connsiteX10" fmla="*/ 82257 w 300822"/>
                  <a:gd name="connsiteY10" fmla="*/ 196559 h 300822"/>
                  <a:gd name="connsiteX11" fmla="*/ 82257 w 300822"/>
                  <a:gd name="connsiteY11" fmla="*/ 148864 h 300822"/>
                  <a:gd name="connsiteX12" fmla="*/ 148418 w 300822"/>
                  <a:gd name="connsiteY12" fmla="*/ 148864 h 300822"/>
                  <a:gd name="connsiteX13" fmla="*/ 148418 w 300822"/>
                  <a:gd name="connsiteY13" fmla="*/ 196559 h 300822"/>
                  <a:gd name="connsiteX14" fmla="*/ 127042 w 300822"/>
                  <a:gd name="connsiteY14" fmla="*/ 196559 h 300822"/>
                  <a:gd name="connsiteX15" fmla="*/ 127042 w 300822"/>
                  <a:gd name="connsiteY15" fmla="*/ 243678 h 300822"/>
                  <a:gd name="connsiteX16" fmla="*/ 173781 w 300822"/>
                  <a:gd name="connsiteY16" fmla="*/ 243678 h 300822"/>
                  <a:gd name="connsiteX17" fmla="*/ 173781 w 300822"/>
                  <a:gd name="connsiteY17" fmla="*/ 196559 h 300822"/>
                  <a:gd name="connsiteX18" fmla="*/ 152154 w 300822"/>
                  <a:gd name="connsiteY18" fmla="*/ 196559 h 300822"/>
                  <a:gd name="connsiteX19" fmla="*/ 152154 w 300822"/>
                  <a:gd name="connsiteY19" fmla="*/ 148864 h 300822"/>
                  <a:gd name="connsiteX20" fmla="*/ 218315 w 300822"/>
                  <a:gd name="connsiteY20" fmla="*/ 148864 h 300822"/>
                  <a:gd name="connsiteX21" fmla="*/ 218315 w 300822"/>
                  <a:gd name="connsiteY21" fmla="*/ 196559 h 300822"/>
                  <a:gd name="connsiteX22" fmla="*/ 196939 w 300822"/>
                  <a:gd name="connsiteY22" fmla="*/ 196559 h 300822"/>
                  <a:gd name="connsiteX23" fmla="*/ 196939 w 300822"/>
                  <a:gd name="connsiteY23" fmla="*/ 243678 h 300822"/>
                  <a:gd name="connsiteX24" fmla="*/ 243678 w 300822"/>
                  <a:gd name="connsiteY24" fmla="*/ 243678 h 300822"/>
                  <a:gd name="connsiteX25" fmla="*/ 243678 w 300822"/>
                  <a:gd name="connsiteY25" fmla="*/ 196559 h 300822"/>
                  <a:gd name="connsiteX26" fmla="*/ 222051 w 300822"/>
                  <a:gd name="connsiteY26" fmla="*/ 196559 h 300822"/>
                  <a:gd name="connsiteX27" fmla="*/ 222051 w 300822"/>
                  <a:gd name="connsiteY27" fmla="*/ 144763 h 300822"/>
                  <a:gd name="connsiteX28" fmla="*/ 218315 w 300822"/>
                  <a:gd name="connsiteY28" fmla="*/ 144763 h 300822"/>
                  <a:gd name="connsiteX29" fmla="*/ 218315 w 300822"/>
                  <a:gd name="connsiteY29" fmla="*/ 145097 h 300822"/>
                  <a:gd name="connsiteX30" fmla="*/ 152154 w 300822"/>
                  <a:gd name="connsiteY30" fmla="*/ 145097 h 300822"/>
                  <a:gd name="connsiteX31" fmla="*/ 152154 w 300822"/>
                  <a:gd name="connsiteY31" fmla="*/ 105646 h 300822"/>
                  <a:gd name="connsiteX32" fmla="*/ 125048 w 300822"/>
                  <a:gd name="connsiteY32" fmla="*/ 57144 h 300822"/>
                  <a:gd name="connsiteX33" fmla="*/ 125048 w 300822"/>
                  <a:gd name="connsiteY33" fmla="*/ 104264 h 300822"/>
                  <a:gd name="connsiteX34" fmla="*/ 171788 w 300822"/>
                  <a:gd name="connsiteY34" fmla="*/ 104264 h 300822"/>
                  <a:gd name="connsiteX35" fmla="*/ 171788 w 300822"/>
                  <a:gd name="connsiteY35" fmla="*/ 57144 h 300822"/>
                  <a:gd name="connsiteX36" fmla="*/ 0 w 300822"/>
                  <a:gd name="connsiteY36" fmla="*/ 0 h 300822"/>
                  <a:gd name="connsiteX37" fmla="*/ 300822 w 300822"/>
                  <a:gd name="connsiteY37" fmla="*/ 0 h 300822"/>
                  <a:gd name="connsiteX38" fmla="*/ 300822 w 300822"/>
                  <a:gd name="connsiteY38" fmla="*/ 300822 h 300822"/>
                  <a:gd name="connsiteX39" fmla="*/ 0 w 300822"/>
                  <a:gd name="connsiteY39" fmla="*/ 300822 h 30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0822" h="300822">
                    <a:moveTo>
                      <a:pt x="148418" y="105646"/>
                    </a:moveTo>
                    <a:lnTo>
                      <a:pt x="148418" y="145097"/>
                    </a:lnTo>
                    <a:lnTo>
                      <a:pt x="82257" y="145097"/>
                    </a:lnTo>
                    <a:lnTo>
                      <a:pt x="82257" y="144763"/>
                    </a:lnTo>
                    <a:lnTo>
                      <a:pt x="78521" y="144763"/>
                    </a:lnTo>
                    <a:lnTo>
                      <a:pt x="78521" y="196559"/>
                    </a:lnTo>
                    <a:lnTo>
                      <a:pt x="57144" y="196559"/>
                    </a:lnTo>
                    <a:lnTo>
                      <a:pt x="57144" y="243678"/>
                    </a:lnTo>
                    <a:lnTo>
                      <a:pt x="103884" y="243678"/>
                    </a:lnTo>
                    <a:lnTo>
                      <a:pt x="103884" y="196559"/>
                    </a:lnTo>
                    <a:lnTo>
                      <a:pt x="82257" y="196559"/>
                    </a:lnTo>
                    <a:lnTo>
                      <a:pt x="82257" y="148864"/>
                    </a:lnTo>
                    <a:lnTo>
                      <a:pt x="148418" y="148864"/>
                    </a:lnTo>
                    <a:lnTo>
                      <a:pt x="148418" y="196559"/>
                    </a:lnTo>
                    <a:lnTo>
                      <a:pt x="127042" y="196559"/>
                    </a:lnTo>
                    <a:lnTo>
                      <a:pt x="127042" y="243678"/>
                    </a:lnTo>
                    <a:lnTo>
                      <a:pt x="173781" y="243678"/>
                    </a:lnTo>
                    <a:lnTo>
                      <a:pt x="173781" y="196559"/>
                    </a:lnTo>
                    <a:lnTo>
                      <a:pt x="152154" y="196559"/>
                    </a:lnTo>
                    <a:lnTo>
                      <a:pt x="152154" y="148864"/>
                    </a:lnTo>
                    <a:lnTo>
                      <a:pt x="218315" y="148864"/>
                    </a:lnTo>
                    <a:lnTo>
                      <a:pt x="218315" y="196559"/>
                    </a:lnTo>
                    <a:lnTo>
                      <a:pt x="196939" y="196559"/>
                    </a:lnTo>
                    <a:lnTo>
                      <a:pt x="196939" y="243678"/>
                    </a:lnTo>
                    <a:lnTo>
                      <a:pt x="243678" y="243678"/>
                    </a:lnTo>
                    <a:lnTo>
                      <a:pt x="243678" y="196559"/>
                    </a:lnTo>
                    <a:lnTo>
                      <a:pt x="222051" y="196559"/>
                    </a:lnTo>
                    <a:lnTo>
                      <a:pt x="222051" y="144763"/>
                    </a:lnTo>
                    <a:lnTo>
                      <a:pt x="218315" y="144763"/>
                    </a:lnTo>
                    <a:lnTo>
                      <a:pt x="218315" y="145097"/>
                    </a:lnTo>
                    <a:lnTo>
                      <a:pt x="152154" y="145097"/>
                    </a:lnTo>
                    <a:lnTo>
                      <a:pt x="152154" y="105646"/>
                    </a:lnTo>
                    <a:close/>
                    <a:moveTo>
                      <a:pt x="125048" y="57144"/>
                    </a:moveTo>
                    <a:lnTo>
                      <a:pt x="125048" y="104264"/>
                    </a:lnTo>
                    <a:lnTo>
                      <a:pt x="171788" y="104264"/>
                    </a:lnTo>
                    <a:lnTo>
                      <a:pt x="171788" y="57144"/>
                    </a:lnTo>
                    <a:close/>
                    <a:moveTo>
                      <a:pt x="0" y="0"/>
                    </a:moveTo>
                    <a:lnTo>
                      <a:pt x="300822" y="0"/>
                    </a:lnTo>
                    <a:lnTo>
                      <a:pt x="300822" y="300822"/>
                    </a:lnTo>
                    <a:lnTo>
                      <a:pt x="0" y="300822"/>
                    </a:lnTo>
                    <a:close/>
                  </a:path>
                </a:pathLst>
              </a:custGeom>
              <a:solidFill>
                <a:srgbClr val="317A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00">
                  <a:solidFill>
                    <a:schemeClr val="tx1"/>
                  </a:solidFill>
                  <a:cs typeface="+mn-ea"/>
                  <a:sym typeface="+mn-lt"/>
                </a:endParaRPr>
              </a:p>
            </p:txBody>
          </p:sp>
        </p:grpSp>
        <p:sp>
          <p:nvSpPr>
            <p:cNvPr id="46" name="文本框 45"/>
            <p:cNvSpPr txBox="1"/>
            <p:nvPr/>
          </p:nvSpPr>
          <p:spPr>
            <a:xfrm>
              <a:off x="6953631" y="2094800"/>
              <a:ext cx="1028892" cy="292388"/>
            </a:xfrm>
            <a:prstGeom prst="rect">
              <a:avLst/>
            </a:prstGeom>
            <a:noFill/>
          </p:spPr>
          <p:txBody>
            <a:bodyPr wrap="square" rtlCol="0">
              <a:spAutoFit/>
            </a:bodyPr>
            <a:lstStyle/>
            <a:p>
              <a:r>
                <a:rPr lang="zh-CN" altLang="en-US" sz="1300" dirty="0">
                  <a:cs typeface="+mn-ea"/>
                  <a:sym typeface="+mn-lt"/>
                </a:rPr>
                <a:t>费用分析</a:t>
              </a:r>
            </a:p>
          </p:txBody>
        </p:sp>
        <p:sp>
          <p:nvSpPr>
            <p:cNvPr id="47" name="任意多边形 32"/>
            <p:cNvSpPr>
              <a:spLocks noChangeAspect="1"/>
            </p:cNvSpPr>
            <p:nvPr/>
          </p:nvSpPr>
          <p:spPr>
            <a:xfrm>
              <a:off x="6698131" y="2143526"/>
              <a:ext cx="182263" cy="182263"/>
            </a:xfrm>
            <a:custGeom>
              <a:avLst/>
              <a:gdLst>
                <a:gd name="connsiteX0" fmla="*/ 134532 w 300822"/>
                <a:gd name="connsiteY0" fmla="*/ 96098 h 300822"/>
                <a:gd name="connsiteX1" fmla="*/ 164298 w 300822"/>
                <a:gd name="connsiteY1" fmla="*/ 123975 h 300822"/>
                <a:gd name="connsiteX2" fmla="*/ 134532 w 300822"/>
                <a:gd name="connsiteY2" fmla="*/ 123975 h 300822"/>
                <a:gd name="connsiteX3" fmla="*/ 67937 w 300822"/>
                <a:gd name="connsiteY3" fmla="*/ 91996 h 300822"/>
                <a:gd name="connsiteX4" fmla="*/ 122725 w 300822"/>
                <a:gd name="connsiteY4" fmla="*/ 91996 h 300822"/>
                <a:gd name="connsiteX5" fmla="*/ 122725 w 300822"/>
                <a:gd name="connsiteY5" fmla="*/ 135782 h 300822"/>
                <a:gd name="connsiteX6" fmla="*/ 129912 w 300822"/>
                <a:gd name="connsiteY6" fmla="*/ 135782 h 300822"/>
                <a:gd name="connsiteX7" fmla="*/ 134532 w 300822"/>
                <a:gd name="connsiteY7" fmla="*/ 135782 h 300822"/>
                <a:gd name="connsiteX8" fmla="*/ 170258 w 300822"/>
                <a:gd name="connsiteY8" fmla="*/ 135782 h 300822"/>
                <a:gd name="connsiteX9" fmla="*/ 170258 w 300822"/>
                <a:gd name="connsiteY9" fmla="*/ 231870 h 300822"/>
                <a:gd name="connsiteX10" fmla="*/ 67937 w 300822"/>
                <a:gd name="connsiteY10" fmla="*/ 231870 h 300822"/>
                <a:gd name="connsiteX11" fmla="*/ 56130 w 300822"/>
                <a:gd name="connsiteY11" fmla="*/ 80190 h 300822"/>
                <a:gd name="connsiteX12" fmla="*/ 56130 w 300822"/>
                <a:gd name="connsiteY12" fmla="*/ 91996 h 300822"/>
                <a:gd name="connsiteX13" fmla="*/ 56130 w 300822"/>
                <a:gd name="connsiteY13" fmla="*/ 231870 h 300822"/>
                <a:gd name="connsiteX14" fmla="*/ 56130 w 300822"/>
                <a:gd name="connsiteY14" fmla="*/ 243676 h 300822"/>
                <a:gd name="connsiteX15" fmla="*/ 67937 w 300822"/>
                <a:gd name="connsiteY15" fmla="*/ 243676 h 300822"/>
                <a:gd name="connsiteX16" fmla="*/ 170258 w 300822"/>
                <a:gd name="connsiteY16" fmla="*/ 243676 h 300822"/>
                <a:gd name="connsiteX17" fmla="*/ 182064 w 300822"/>
                <a:gd name="connsiteY17" fmla="*/ 243676 h 300822"/>
                <a:gd name="connsiteX18" fmla="*/ 182064 w 300822"/>
                <a:gd name="connsiteY18" fmla="*/ 231870 h 300822"/>
                <a:gd name="connsiteX19" fmla="*/ 182064 w 300822"/>
                <a:gd name="connsiteY19" fmla="*/ 124624 h 300822"/>
                <a:gd name="connsiteX20" fmla="*/ 182183 w 300822"/>
                <a:gd name="connsiteY20" fmla="*/ 124497 h 300822"/>
                <a:gd name="connsiteX21" fmla="*/ 182064 w 300822"/>
                <a:gd name="connsiteY21" fmla="*/ 124385 h 300822"/>
                <a:gd name="connsiteX22" fmla="*/ 182064 w 300822"/>
                <a:gd name="connsiteY22" fmla="*/ 124302 h 300822"/>
                <a:gd name="connsiteX23" fmla="*/ 181975 w 300822"/>
                <a:gd name="connsiteY23" fmla="*/ 124302 h 300822"/>
                <a:gd name="connsiteX24" fmla="*/ 135203 w 300822"/>
                <a:gd name="connsiteY24" fmla="*/ 80498 h 300822"/>
                <a:gd name="connsiteX25" fmla="*/ 135203 w 300822"/>
                <a:gd name="connsiteY25" fmla="*/ 80190 h 300822"/>
                <a:gd name="connsiteX26" fmla="*/ 134532 w 300822"/>
                <a:gd name="connsiteY26" fmla="*/ 80190 h 300822"/>
                <a:gd name="connsiteX27" fmla="*/ 122725 w 300822"/>
                <a:gd name="connsiteY27" fmla="*/ 80190 h 300822"/>
                <a:gd name="connsiteX28" fmla="*/ 67937 w 300822"/>
                <a:gd name="connsiteY28" fmla="*/ 80190 h 300822"/>
                <a:gd name="connsiteX29" fmla="*/ 197816 w 300822"/>
                <a:gd name="connsiteY29" fmla="*/ 73677 h 300822"/>
                <a:gd name="connsiteX30" fmla="*/ 226914 w 300822"/>
                <a:gd name="connsiteY30" fmla="*/ 100928 h 300822"/>
                <a:gd name="connsiteX31" fmla="*/ 197816 w 300822"/>
                <a:gd name="connsiteY31" fmla="*/ 100928 h 300822"/>
                <a:gd name="connsiteX32" fmla="*/ 186010 w 300822"/>
                <a:gd name="connsiteY32" fmla="*/ 57142 h 300822"/>
                <a:gd name="connsiteX33" fmla="*/ 186010 w 300822"/>
                <a:gd name="connsiteY33" fmla="*/ 57303 h 300822"/>
                <a:gd name="connsiteX34" fmla="*/ 118762 w 300822"/>
                <a:gd name="connsiteY34" fmla="*/ 57303 h 300822"/>
                <a:gd name="connsiteX35" fmla="*/ 118762 w 300822"/>
                <a:gd name="connsiteY35" fmla="*/ 69110 h 300822"/>
                <a:gd name="connsiteX36" fmla="*/ 186010 w 300822"/>
                <a:gd name="connsiteY36" fmla="*/ 69110 h 300822"/>
                <a:gd name="connsiteX37" fmla="*/ 186010 w 300822"/>
                <a:gd name="connsiteY37" fmla="*/ 112734 h 300822"/>
                <a:gd name="connsiteX38" fmla="*/ 193197 w 300822"/>
                <a:gd name="connsiteY38" fmla="*/ 112734 h 300822"/>
                <a:gd name="connsiteX39" fmla="*/ 197816 w 300822"/>
                <a:gd name="connsiteY39" fmla="*/ 112734 h 300822"/>
                <a:gd name="connsiteX40" fmla="*/ 232551 w 300822"/>
                <a:gd name="connsiteY40" fmla="*/ 112734 h 300822"/>
                <a:gd name="connsiteX41" fmla="*/ 232551 w 300822"/>
                <a:gd name="connsiteY41" fmla="*/ 208496 h 300822"/>
                <a:gd name="connsiteX42" fmla="*/ 193197 w 300822"/>
                <a:gd name="connsiteY42" fmla="*/ 208496 h 300822"/>
                <a:gd name="connsiteX43" fmla="*/ 193197 w 300822"/>
                <a:gd name="connsiteY43" fmla="*/ 220303 h 300822"/>
                <a:gd name="connsiteX44" fmla="*/ 232551 w 300822"/>
                <a:gd name="connsiteY44" fmla="*/ 220303 h 300822"/>
                <a:gd name="connsiteX45" fmla="*/ 244357 w 300822"/>
                <a:gd name="connsiteY45" fmla="*/ 220303 h 300822"/>
                <a:gd name="connsiteX46" fmla="*/ 244357 w 300822"/>
                <a:gd name="connsiteY46" fmla="*/ 208496 h 300822"/>
                <a:gd name="connsiteX47" fmla="*/ 244357 w 300822"/>
                <a:gd name="connsiteY47" fmla="*/ 112734 h 300822"/>
                <a:gd name="connsiteX48" fmla="*/ 244357 w 300822"/>
                <a:gd name="connsiteY48" fmla="*/ 101706 h 300822"/>
                <a:gd name="connsiteX49" fmla="*/ 244692 w 300822"/>
                <a:gd name="connsiteY49" fmla="*/ 101349 h 300822"/>
                <a:gd name="connsiteX50" fmla="*/ 244357 w 300822"/>
                <a:gd name="connsiteY50" fmla="*/ 101035 h 300822"/>
                <a:gd name="connsiteX51" fmla="*/ 244357 w 300822"/>
                <a:gd name="connsiteY51" fmla="*/ 100928 h 300822"/>
                <a:gd name="connsiteX52" fmla="*/ 244243 w 300822"/>
                <a:gd name="connsiteY52" fmla="*/ 100928 h 300822"/>
                <a:gd name="connsiteX53" fmla="*/ 197835 w 300822"/>
                <a:gd name="connsiteY53" fmla="*/ 57465 h 300822"/>
                <a:gd name="connsiteX54" fmla="*/ 197835 w 300822"/>
                <a:gd name="connsiteY54" fmla="*/ 57303 h 300822"/>
                <a:gd name="connsiteX55" fmla="*/ 197816 w 300822"/>
                <a:gd name="connsiteY55" fmla="*/ 57303 h 300822"/>
                <a:gd name="connsiteX56" fmla="*/ 197816 w 300822"/>
                <a:gd name="connsiteY56" fmla="*/ 57142 h 300822"/>
                <a:gd name="connsiteX57" fmla="*/ 0 w 300822"/>
                <a:gd name="connsiteY57" fmla="*/ 0 h 300822"/>
                <a:gd name="connsiteX58" fmla="*/ 300822 w 300822"/>
                <a:gd name="connsiteY58" fmla="*/ 0 h 300822"/>
                <a:gd name="connsiteX59" fmla="*/ 300822 w 300822"/>
                <a:gd name="connsiteY59" fmla="*/ 300822 h 300822"/>
                <a:gd name="connsiteX60" fmla="*/ 0 w 300822"/>
                <a:gd name="connsiteY60" fmla="*/ 300822 h 30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0822" h="300822">
                  <a:moveTo>
                    <a:pt x="134532" y="96098"/>
                  </a:moveTo>
                  <a:lnTo>
                    <a:pt x="164298" y="123975"/>
                  </a:lnTo>
                  <a:lnTo>
                    <a:pt x="134532" y="123975"/>
                  </a:lnTo>
                  <a:close/>
                  <a:moveTo>
                    <a:pt x="67937" y="91996"/>
                  </a:moveTo>
                  <a:lnTo>
                    <a:pt x="122725" y="91996"/>
                  </a:lnTo>
                  <a:lnTo>
                    <a:pt x="122725" y="135782"/>
                  </a:lnTo>
                  <a:lnTo>
                    <a:pt x="129912" y="135782"/>
                  </a:lnTo>
                  <a:lnTo>
                    <a:pt x="134532" y="135782"/>
                  </a:lnTo>
                  <a:lnTo>
                    <a:pt x="170258" y="135782"/>
                  </a:lnTo>
                  <a:lnTo>
                    <a:pt x="170258" y="231870"/>
                  </a:lnTo>
                  <a:lnTo>
                    <a:pt x="67937" y="231870"/>
                  </a:lnTo>
                  <a:close/>
                  <a:moveTo>
                    <a:pt x="56130" y="80190"/>
                  </a:moveTo>
                  <a:lnTo>
                    <a:pt x="56130" y="91996"/>
                  </a:lnTo>
                  <a:lnTo>
                    <a:pt x="56130" y="231870"/>
                  </a:lnTo>
                  <a:lnTo>
                    <a:pt x="56130" y="243676"/>
                  </a:lnTo>
                  <a:lnTo>
                    <a:pt x="67937" y="243676"/>
                  </a:lnTo>
                  <a:lnTo>
                    <a:pt x="170258" y="243676"/>
                  </a:lnTo>
                  <a:lnTo>
                    <a:pt x="182064" y="243676"/>
                  </a:lnTo>
                  <a:lnTo>
                    <a:pt x="182064" y="231870"/>
                  </a:lnTo>
                  <a:lnTo>
                    <a:pt x="182064" y="124624"/>
                  </a:lnTo>
                  <a:lnTo>
                    <a:pt x="182183" y="124497"/>
                  </a:lnTo>
                  <a:lnTo>
                    <a:pt x="182064" y="124385"/>
                  </a:lnTo>
                  <a:lnTo>
                    <a:pt x="182064" y="124302"/>
                  </a:lnTo>
                  <a:lnTo>
                    <a:pt x="181975" y="124302"/>
                  </a:lnTo>
                  <a:lnTo>
                    <a:pt x="135203" y="80498"/>
                  </a:lnTo>
                  <a:lnTo>
                    <a:pt x="135203" y="80190"/>
                  </a:lnTo>
                  <a:lnTo>
                    <a:pt x="134532" y="80190"/>
                  </a:lnTo>
                  <a:lnTo>
                    <a:pt x="122725" y="80190"/>
                  </a:lnTo>
                  <a:lnTo>
                    <a:pt x="67937" y="80190"/>
                  </a:lnTo>
                  <a:close/>
                  <a:moveTo>
                    <a:pt x="197816" y="73677"/>
                  </a:moveTo>
                  <a:lnTo>
                    <a:pt x="226914" y="100928"/>
                  </a:lnTo>
                  <a:lnTo>
                    <a:pt x="197816" y="100928"/>
                  </a:lnTo>
                  <a:close/>
                  <a:moveTo>
                    <a:pt x="186010" y="57142"/>
                  </a:moveTo>
                  <a:lnTo>
                    <a:pt x="186010" y="57303"/>
                  </a:lnTo>
                  <a:lnTo>
                    <a:pt x="118762" y="57303"/>
                  </a:lnTo>
                  <a:lnTo>
                    <a:pt x="118762" y="69110"/>
                  </a:lnTo>
                  <a:lnTo>
                    <a:pt x="186010" y="69110"/>
                  </a:lnTo>
                  <a:lnTo>
                    <a:pt x="186010" y="112734"/>
                  </a:lnTo>
                  <a:lnTo>
                    <a:pt x="193197" y="112734"/>
                  </a:lnTo>
                  <a:lnTo>
                    <a:pt x="197816" y="112734"/>
                  </a:lnTo>
                  <a:lnTo>
                    <a:pt x="232551" y="112734"/>
                  </a:lnTo>
                  <a:lnTo>
                    <a:pt x="232551" y="208496"/>
                  </a:lnTo>
                  <a:lnTo>
                    <a:pt x="193197" y="208496"/>
                  </a:lnTo>
                  <a:lnTo>
                    <a:pt x="193197" y="220303"/>
                  </a:lnTo>
                  <a:lnTo>
                    <a:pt x="232551" y="220303"/>
                  </a:lnTo>
                  <a:lnTo>
                    <a:pt x="244357" y="220303"/>
                  </a:lnTo>
                  <a:lnTo>
                    <a:pt x="244357" y="208496"/>
                  </a:lnTo>
                  <a:lnTo>
                    <a:pt x="244357" y="112734"/>
                  </a:lnTo>
                  <a:lnTo>
                    <a:pt x="244357" y="101706"/>
                  </a:lnTo>
                  <a:lnTo>
                    <a:pt x="244692" y="101349"/>
                  </a:lnTo>
                  <a:lnTo>
                    <a:pt x="244357" y="101035"/>
                  </a:lnTo>
                  <a:lnTo>
                    <a:pt x="244357" y="100928"/>
                  </a:lnTo>
                  <a:lnTo>
                    <a:pt x="244243" y="100928"/>
                  </a:lnTo>
                  <a:lnTo>
                    <a:pt x="197835" y="57465"/>
                  </a:lnTo>
                  <a:lnTo>
                    <a:pt x="197835" y="57303"/>
                  </a:lnTo>
                  <a:lnTo>
                    <a:pt x="197816" y="57303"/>
                  </a:lnTo>
                  <a:lnTo>
                    <a:pt x="197816" y="57142"/>
                  </a:lnTo>
                  <a:close/>
                  <a:moveTo>
                    <a:pt x="0" y="0"/>
                  </a:moveTo>
                  <a:lnTo>
                    <a:pt x="300822" y="0"/>
                  </a:lnTo>
                  <a:lnTo>
                    <a:pt x="300822" y="300822"/>
                  </a:lnTo>
                  <a:lnTo>
                    <a:pt x="0" y="300822"/>
                  </a:lnTo>
                  <a:close/>
                </a:path>
              </a:pathLst>
            </a:custGeom>
            <a:solidFill>
              <a:srgbClr val="317A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00" dirty="0">
                <a:solidFill>
                  <a:schemeClr val="tx1"/>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2" presetClass="entr" presetSubtype="8" fill="hold" grpId="0" nodeType="afterEffect">
                                  <p:stCondLst>
                                    <p:cond delay="0"/>
                                  </p:stCondLst>
                                  <p:childTnLst>
                                    <p:set>
                                      <p:cBhvr>
                                        <p:cTn id="16" dur="1" fill="hold">
                                          <p:stCondLst>
                                            <p:cond delay="0"/>
                                          </p:stCondLst>
                                        </p:cTn>
                                        <p:tgtEl>
                                          <p:spTgt spid="44"/>
                                        </p:tgtEl>
                                        <p:attrNameLst>
                                          <p:attrName>style.visibility</p:attrName>
                                        </p:attrNameLst>
                                      </p:cBhvr>
                                      <p:to>
                                        <p:strVal val="visible"/>
                                      </p:to>
                                    </p:set>
                                    <p:anim calcmode="lin" valueType="num">
                                      <p:cBhvr additive="base">
                                        <p:cTn id="17" dur="500"/>
                                        <p:tgtEl>
                                          <p:spTgt spid="44"/>
                                        </p:tgtEl>
                                        <p:attrNameLst>
                                          <p:attrName>ppt_x</p:attrName>
                                        </p:attrNameLst>
                                      </p:cBhvr>
                                      <p:tavLst>
                                        <p:tav tm="0">
                                          <p:val>
                                            <p:strVal val="#ppt_x-#ppt_w*1.125000"/>
                                          </p:val>
                                        </p:tav>
                                        <p:tav tm="100000">
                                          <p:val>
                                            <p:strVal val="#ppt_x"/>
                                          </p:val>
                                        </p:tav>
                                      </p:tavLst>
                                    </p:anim>
                                    <p:animEffect transition="in" filter="wipe(right)">
                                      <p:cBhvr>
                                        <p:cTn id="18" dur="500"/>
                                        <p:tgtEl>
                                          <p:spTgt spid="44"/>
                                        </p:tgtEl>
                                      </p:cBhvr>
                                    </p:animEffect>
                                  </p:childTnLst>
                                </p:cTn>
                              </p:par>
                              <p:par>
                                <p:cTn id="19" presetID="12" presetClass="entr" presetSubtype="2"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p:tgtEl>
                                          <p:spTgt spid="45"/>
                                        </p:tgtEl>
                                        <p:attrNameLst>
                                          <p:attrName>ppt_x</p:attrName>
                                        </p:attrNameLst>
                                      </p:cBhvr>
                                      <p:tavLst>
                                        <p:tav tm="0">
                                          <p:val>
                                            <p:strVal val="#ppt_x+#ppt_w*1.125000"/>
                                          </p:val>
                                        </p:tav>
                                        <p:tav tm="100000">
                                          <p:val>
                                            <p:strVal val="#ppt_x"/>
                                          </p:val>
                                        </p:tav>
                                      </p:tavLst>
                                    </p:anim>
                                    <p:animEffect transition="in" filter="wipe(left)">
                                      <p:cBhvr>
                                        <p:cTn id="2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4" grpId="0"/>
      <p:bldP spid="4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rot="21032569">
            <a:off x="-722140" y="2022662"/>
            <a:ext cx="10299093" cy="2638018"/>
          </a:xfrm>
          <a:prstGeom prst="rect">
            <a:avLst/>
          </a:prstGeom>
          <a:solidFill>
            <a:srgbClr val="2C9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2"/>
          <p:cNvSpPr/>
          <p:nvPr/>
        </p:nvSpPr>
        <p:spPr>
          <a:xfrm>
            <a:off x="4212526" y="2762927"/>
            <a:ext cx="4878259" cy="584775"/>
          </a:xfrm>
          <a:prstGeom prst="rect">
            <a:avLst/>
          </a:prstGeom>
        </p:spPr>
        <p:txBody>
          <a:bodyPr wrap="none">
            <a:spAutoFit/>
          </a:bodyPr>
          <a:lstStyle/>
          <a:p>
            <a:r>
              <a:rPr lang="zh-CN" altLang="en-US" sz="3200" b="1" dirty="0">
                <a:solidFill>
                  <a:schemeClr val="bg1"/>
                </a:solidFill>
                <a:cs typeface="+mn-ea"/>
                <a:sym typeface="+mn-lt"/>
              </a:rPr>
              <a:t>三大报表分析</a:t>
            </a:r>
            <a:r>
              <a:rPr lang="en-US" altLang="zh-CN" sz="3200" b="1" dirty="0">
                <a:solidFill>
                  <a:schemeClr val="bg1"/>
                </a:solidFill>
                <a:cs typeface="+mn-ea"/>
                <a:sym typeface="+mn-lt"/>
              </a:rPr>
              <a:t>-</a:t>
            </a:r>
            <a:r>
              <a:rPr lang="zh-CN" altLang="en-US" sz="3200" b="1" dirty="0">
                <a:solidFill>
                  <a:schemeClr val="bg1"/>
                </a:solidFill>
                <a:cs typeface="+mn-ea"/>
                <a:sym typeface="+mn-lt"/>
              </a:rPr>
              <a:t>资产负债表</a:t>
            </a:r>
          </a:p>
        </p:txBody>
      </p:sp>
      <p:grpSp>
        <p:nvGrpSpPr>
          <p:cNvPr id="2" name="组合 1"/>
          <p:cNvGrpSpPr/>
          <p:nvPr/>
        </p:nvGrpSpPr>
        <p:grpSpPr>
          <a:xfrm>
            <a:off x="-663549" y="367479"/>
            <a:ext cx="5320256" cy="5320256"/>
            <a:chOff x="-663549" y="367479"/>
            <a:chExt cx="5320256" cy="5320256"/>
          </a:xfrm>
        </p:grpSpPr>
        <p:sp>
          <p:nvSpPr>
            <p:cNvPr id="24" name="Oval 9"/>
            <p:cNvSpPr>
              <a:spLocks noChangeArrowheads="1"/>
            </p:cNvSpPr>
            <p:nvPr/>
          </p:nvSpPr>
          <p:spPr bwMode="auto">
            <a:xfrm>
              <a:off x="0" y="1162000"/>
              <a:ext cx="3927496" cy="3927496"/>
            </a:xfrm>
            <a:prstGeom prst="ellipse">
              <a:avLst/>
            </a:prstGeom>
            <a:solidFill>
              <a:srgbClr val="00B0F0">
                <a:alpha val="51000"/>
              </a:srgbClr>
            </a:solidFill>
            <a:ln>
              <a:noFill/>
            </a:ln>
            <a:effectLst/>
          </p:spPr>
          <p:txBody>
            <a:bodyPr wrap="none" anchor="ctr"/>
            <a:lstStyle/>
            <a:p>
              <a:endParaRPr lang="zh-CN" altLang="en-US" dirty="0">
                <a:cs typeface="+mn-ea"/>
                <a:sym typeface="+mn-lt"/>
              </a:endParaRPr>
            </a:p>
          </p:txBody>
        </p:sp>
        <p:sp>
          <p:nvSpPr>
            <p:cNvPr id="25" name="椭圆 24"/>
            <p:cNvSpPr/>
            <p:nvPr/>
          </p:nvSpPr>
          <p:spPr>
            <a:xfrm>
              <a:off x="-663549" y="367479"/>
              <a:ext cx="5320256" cy="5320256"/>
            </a:xfrm>
            <a:prstGeom prst="ellipse">
              <a:avLst/>
            </a:prstGeom>
            <a:noFill/>
            <a:ln>
              <a:solidFill>
                <a:srgbClr val="0070C0">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椭圆 27"/>
            <p:cNvSpPr/>
            <p:nvPr/>
          </p:nvSpPr>
          <p:spPr>
            <a:xfrm>
              <a:off x="458726" y="1638181"/>
              <a:ext cx="3075709" cy="3075709"/>
            </a:xfrm>
            <a:prstGeom prst="ellipse">
              <a:avLst/>
            </a:prstGeom>
            <a:solidFill>
              <a:srgbClr val="0070C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9" name="椭圆 28"/>
          <p:cNvSpPr/>
          <p:nvPr/>
        </p:nvSpPr>
        <p:spPr>
          <a:xfrm>
            <a:off x="1361249" y="2534232"/>
            <a:ext cx="1270660" cy="127066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6" name="图片 5"/>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285030" y="1795243"/>
            <a:ext cx="4072807" cy="349158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childTnLst>
                          </p:cTn>
                        </p:par>
                        <p:par>
                          <p:cTn id="12" fill="hold">
                            <p:stCondLst>
                              <p:cond delay="0"/>
                            </p:stCondLst>
                            <p:childTnLst>
                              <p:par>
                                <p:cTn id="13" presetID="42"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7075585" y="349640"/>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资产分析</a:t>
            </a:r>
          </a:p>
        </p:txBody>
      </p:sp>
      <p:graphicFrame>
        <p:nvGraphicFramePr>
          <p:cNvPr id="10" name="内容占位符 3"/>
          <p:cNvGraphicFramePr>
            <a:graphicFrameLocks noGrp="1"/>
          </p:cNvGraphicFramePr>
          <p:nvPr>
            <p:ph idx="1"/>
          </p:nvPr>
        </p:nvGraphicFramePr>
        <p:xfrm>
          <a:off x="827682" y="880114"/>
          <a:ext cx="7502400" cy="1390650"/>
        </p:xfrm>
        <a:graphic>
          <a:graphicData uri="http://schemas.openxmlformats.org/drawingml/2006/table">
            <a:tbl>
              <a:tblPr firstRow="1" bandRow="1">
                <a:tableStyleId>{7DF18680-E054-41AD-8BC1-D1AEF772440D}</a:tableStyleId>
              </a:tblPr>
              <a:tblGrid>
                <a:gridCol w="1500480"/>
                <a:gridCol w="1500480"/>
                <a:gridCol w="1500480"/>
                <a:gridCol w="1500480"/>
                <a:gridCol w="1500480"/>
              </a:tblGrid>
              <a:tr h="278130">
                <a:tc>
                  <a:txBody>
                    <a:bodyPr/>
                    <a:lstStyle/>
                    <a:p>
                      <a:pPr algn="ctr"/>
                      <a:r>
                        <a:rPr lang="zh-CN" altLang="en-US" sz="1000" dirty="0">
                          <a:sym typeface="+mn-lt"/>
                        </a:rPr>
                        <a:t>年份</a:t>
                      </a:r>
                      <a:endParaRPr lang="zh-CN" altLang="en-US" sz="1000" dirty="0">
                        <a:latin typeface="+mn-lt"/>
                        <a:ea typeface="+mn-ea"/>
                        <a:cs typeface="+mn-ea"/>
                        <a:sym typeface="+mn-lt"/>
                      </a:endParaRPr>
                    </a:p>
                  </a:txBody>
                  <a:tcPr marL="68580" marR="68580" marT="34290" marB="34290"/>
                </a:tc>
                <a:tc>
                  <a:txBody>
                    <a:bodyPr/>
                    <a:lstStyle/>
                    <a:p>
                      <a:pPr algn="ctr"/>
                      <a:r>
                        <a:rPr lang="en-US" altLang="zh-CN" sz="1000" dirty="0">
                          <a:sym typeface="+mn-lt"/>
                        </a:rPr>
                        <a:t>2014</a:t>
                      </a:r>
                      <a:r>
                        <a:rPr lang="zh-CN" altLang="en-US" sz="1000" dirty="0">
                          <a:sym typeface="+mn-lt"/>
                        </a:rPr>
                        <a:t>年</a:t>
                      </a:r>
                      <a:endParaRPr lang="zh-CN" altLang="en-US" sz="1000" dirty="0">
                        <a:latin typeface="+mn-lt"/>
                        <a:ea typeface="+mn-ea"/>
                        <a:cs typeface="+mn-ea"/>
                        <a:sym typeface="+mn-lt"/>
                      </a:endParaRPr>
                    </a:p>
                  </a:txBody>
                  <a:tcPr marL="68580" marR="68580" marT="34290" marB="34290"/>
                </a:tc>
                <a:tc>
                  <a:txBody>
                    <a:bodyPr/>
                    <a:lstStyle/>
                    <a:p>
                      <a:pPr algn="ctr"/>
                      <a:r>
                        <a:rPr lang="en-US" altLang="zh-CN" sz="1000" dirty="0">
                          <a:sym typeface="+mn-lt"/>
                        </a:rPr>
                        <a:t>2015</a:t>
                      </a:r>
                      <a:r>
                        <a:rPr lang="zh-CN" altLang="en-US" sz="1000" dirty="0">
                          <a:sym typeface="+mn-lt"/>
                        </a:rPr>
                        <a:t>年</a:t>
                      </a:r>
                      <a:endParaRPr lang="zh-CN" altLang="en-US" sz="1000" dirty="0">
                        <a:latin typeface="+mn-lt"/>
                        <a:ea typeface="+mn-ea"/>
                        <a:cs typeface="+mn-ea"/>
                        <a:sym typeface="+mn-lt"/>
                      </a:endParaRPr>
                    </a:p>
                  </a:txBody>
                  <a:tcPr marL="68580" marR="68580" marT="34290" marB="34290"/>
                </a:tc>
                <a:tc>
                  <a:txBody>
                    <a:bodyPr/>
                    <a:lstStyle/>
                    <a:p>
                      <a:pPr algn="ctr"/>
                      <a:r>
                        <a:rPr lang="en-US" altLang="zh-CN" sz="1000" dirty="0">
                          <a:sym typeface="+mn-lt"/>
                        </a:rPr>
                        <a:t>2016</a:t>
                      </a:r>
                      <a:r>
                        <a:rPr lang="zh-CN" altLang="en-US" sz="1000" dirty="0">
                          <a:sym typeface="+mn-lt"/>
                        </a:rPr>
                        <a:t>年</a:t>
                      </a:r>
                      <a:endParaRPr lang="zh-CN" altLang="en-US" sz="1000" dirty="0">
                        <a:latin typeface="+mn-lt"/>
                        <a:ea typeface="+mn-ea"/>
                        <a:cs typeface="+mn-ea"/>
                        <a:sym typeface="+mn-lt"/>
                      </a:endParaRPr>
                    </a:p>
                  </a:txBody>
                  <a:tcPr marL="68580" marR="68580" marT="34290" marB="34290"/>
                </a:tc>
                <a:tc>
                  <a:txBody>
                    <a:bodyPr/>
                    <a:lstStyle/>
                    <a:p>
                      <a:pPr algn="ctr"/>
                      <a:r>
                        <a:rPr lang="en-US" altLang="zh-CN" sz="1000" dirty="0">
                          <a:sym typeface="+mn-lt"/>
                        </a:rPr>
                        <a:t>2017</a:t>
                      </a:r>
                      <a:r>
                        <a:rPr lang="zh-CN" altLang="en-US" sz="1000" dirty="0">
                          <a:sym typeface="+mn-lt"/>
                        </a:rPr>
                        <a:t>年</a:t>
                      </a:r>
                      <a:endParaRPr lang="zh-CN" altLang="en-US" sz="1000" dirty="0">
                        <a:latin typeface="+mn-lt"/>
                        <a:ea typeface="+mn-ea"/>
                        <a:cs typeface="+mn-ea"/>
                        <a:sym typeface="+mn-lt"/>
                      </a:endParaRPr>
                    </a:p>
                  </a:txBody>
                  <a:tcPr marL="68580" marR="68580" marT="34290" marB="34290"/>
                </a:tc>
              </a:tr>
              <a:tr h="278130">
                <a:tc>
                  <a:txBody>
                    <a:bodyPr/>
                    <a:lstStyle/>
                    <a:p>
                      <a:pPr algn="ctr"/>
                      <a:r>
                        <a:rPr lang="zh-CN" altLang="en-US" sz="1000" dirty="0">
                          <a:sym typeface="+mn-lt"/>
                        </a:rPr>
                        <a:t>流动资产</a:t>
                      </a:r>
                      <a:endParaRPr lang="zh-CN" altLang="en-US" sz="1000" dirty="0">
                        <a:latin typeface="+mn-lt"/>
                        <a:ea typeface="+mn-ea"/>
                        <a:cs typeface="+mn-ea"/>
                        <a:sym typeface="+mn-lt"/>
                      </a:endParaRPr>
                    </a:p>
                  </a:txBody>
                  <a:tcPr marL="68580" marR="68580" marT="34290" marB="3429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r>
              <a:tr h="278130">
                <a:tc>
                  <a:txBody>
                    <a:bodyPr/>
                    <a:lstStyle/>
                    <a:p>
                      <a:pPr algn="ctr"/>
                      <a:r>
                        <a:rPr lang="zh-CN" altLang="en-US" sz="1000" dirty="0">
                          <a:sym typeface="+mn-lt"/>
                        </a:rPr>
                        <a:t>非流动资产</a:t>
                      </a:r>
                      <a:endParaRPr lang="zh-CN" altLang="en-US" sz="1000" dirty="0">
                        <a:latin typeface="+mn-lt"/>
                        <a:ea typeface="+mn-ea"/>
                        <a:cs typeface="+mn-ea"/>
                        <a:sym typeface="+mn-lt"/>
                      </a:endParaRPr>
                    </a:p>
                  </a:txBody>
                  <a:tcPr marL="68580" marR="68580" marT="34290" marB="3429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r>
              <a:tr h="278130">
                <a:tc>
                  <a:txBody>
                    <a:bodyPr/>
                    <a:lstStyle/>
                    <a:p>
                      <a:pPr algn="ctr"/>
                      <a:r>
                        <a:rPr lang="zh-CN" altLang="en-US" sz="1000" dirty="0">
                          <a:sym typeface="+mn-lt"/>
                        </a:rPr>
                        <a:t>总资产</a:t>
                      </a:r>
                      <a:endParaRPr lang="zh-CN" altLang="en-US" sz="1000" dirty="0">
                        <a:latin typeface="+mn-lt"/>
                        <a:ea typeface="+mn-ea"/>
                        <a:cs typeface="+mn-ea"/>
                        <a:sym typeface="+mn-lt"/>
                      </a:endParaRPr>
                    </a:p>
                  </a:txBody>
                  <a:tcPr marL="68580" marR="68580" marT="34290" marB="3429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c>
                  <a:txBody>
                    <a:bodyPr/>
                    <a:lstStyle/>
                    <a:p>
                      <a:pPr algn="ctr" rtl="0" fontAlgn="t"/>
                      <a:endParaRPr lang="en-US" altLang="zh-CN" sz="1400" b="0" i="0" u="none" strike="noStrike" dirty="0">
                        <a:solidFill>
                          <a:srgbClr val="000000"/>
                        </a:solidFill>
                        <a:latin typeface="+mn-lt"/>
                        <a:ea typeface="+mn-ea"/>
                        <a:cs typeface="+mn-ea"/>
                        <a:sym typeface="+mn-lt"/>
                      </a:endParaRPr>
                    </a:p>
                  </a:txBody>
                  <a:tcPr marL="7144" marR="7144" marT="7144" marB="0"/>
                </a:tc>
              </a:tr>
              <a:tr h="278130">
                <a:tc>
                  <a:txBody>
                    <a:bodyPr/>
                    <a:lstStyle/>
                    <a:p>
                      <a:pPr algn="ctr"/>
                      <a:r>
                        <a:rPr lang="zh-CN" altLang="en-US" sz="1000" dirty="0">
                          <a:sym typeface="+mn-lt"/>
                        </a:rPr>
                        <a:t>资产收益率</a:t>
                      </a:r>
                      <a:endParaRPr lang="zh-CN" altLang="en-US" sz="1000" dirty="0">
                        <a:latin typeface="+mn-lt"/>
                        <a:ea typeface="+mn-ea"/>
                        <a:cs typeface="+mn-ea"/>
                        <a:sym typeface="+mn-lt"/>
                      </a:endParaRPr>
                    </a:p>
                  </a:txBody>
                  <a:tcPr marL="68580" marR="68580" marT="34290" marB="34290"/>
                </a:tc>
                <a:tc>
                  <a:txBody>
                    <a:bodyPr/>
                    <a:lstStyle/>
                    <a:p>
                      <a:pPr marL="0" algn="ctr" defTabSz="914400" rtl="0" eaLnBrk="1" fontAlgn="t" latinLnBrk="0" hangingPunct="1"/>
                      <a:endParaRPr lang="en-US" altLang="zh-CN" sz="1400" b="0" i="0" u="none" strike="noStrike" kern="1200" dirty="0">
                        <a:solidFill>
                          <a:srgbClr val="000000"/>
                        </a:solidFill>
                        <a:latin typeface="+mn-lt"/>
                        <a:ea typeface="+mn-ea"/>
                        <a:cs typeface="+mn-ea"/>
                        <a:sym typeface="+mn-lt"/>
                      </a:endParaRPr>
                    </a:p>
                  </a:txBody>
                  <a:tcPr marL="7144" marR="7144" marT="7144" marB="0" anchor="ctr"/>
                </a:tc>
                <a:tc>
                  <a:txBody>
                    <a:bodyPr/>
                    <a:lstStyle/>
                    <a:p>
                      <a:pPr marL="0" algn="ctr" defTabSz="914400" rtl="0" eaLnBrk="1" fontAlgn="t" latinLnBrk="0" hangingPunct="1"/>
                      <a:endParaRPr lang="en-US" altLang="zh-CN" sz="1400" b="0" i="0" u="none" strike="noStrike" kern="1200" dirty="0">
                        <a:solidFill>
                          <a:srgbClr val="000000"/>
                        </a:solidFill>
                        <a:latin typeface="+mn-lt"/>
                        <a:ea typeface="+mn-ea"/>
                        <a:cs typeface="+mn-ea"/>
                        <a:sym typeface="+mn-lt"/>
                      </a:endParaRPr>
                    </a:p>
                  </a:txBody>
                  <a:tcPr marL="7144" marR="7144" marT="7144" marB="0" anchor="ctr"/>
                </a:tc>
                <a:tc>
                  <a:txBody>
                    <a:bodyPr/>
                    <a:lstStyle/>
                    <a:p>
                      <a:pPr marL="0" algn="ctr" defTabSz="914400" rtl="0" eaLnBrk="1" fontAlgn="t" latinLnBrk="0" hangingPunct="1"/>
                      <a:endParaRPr lang="en-US" altLang="zh-CN" sz="1400" b="0" i="0" u="none" strike="noStrike" kern="1200" dirty="0">
                        <a:solidFill>
                          <a:srgbClr val="000000"/>
                        </a:solidFill>
                        <a:latin typeface="+mn-lt"/>
                        <a:ea typeface="+mn-ea"/>
                        <a:cs typeface="+mn-ea"/>
                        <a:sym typeface="+mn-lt"/>
                      </a:endParaRPr>
                    </a:p>
                  </a:txBody>
                  <a:tcPr marL="7144" marR="7144" marT="7144" marB="0" anchor="ctr"/>
                </a:tc>
                <a:tc>
                  <a:txBody>
                    <a:bodyPr/>
                    <a:lstStyle/>
                    <a:p>
                      <a:pPr marL="0" algn="ctr" defTabSz="914400" rtl="0" eaLnBrk="1" fontAlgn="t" latinLnBrk="0" hangingPunct="1"/>
                      <a:endParaRPr lang="en-US" altLang="zh-CN" sz="1400" b="0" i="0" u="none" strike="noStrike" kern="1200" dirty="0">
                        <a:solidFill>
                          <a:srgbClr val="000000"/>
                        </a:solidFill>
                        <a:latin typeface="+mn-lt"/>
                        <a:ea typeface="+mn-ea"/>
                        <a:cs typeface="+mn-ea"/>
                        <a:sym typeface="+mn-lt"/>
                      </a:endParaRPr>
                    </a:p>
                  </a:txBody>
                  <a:tcPr marL="7144" marR="7144" marT="7144" marB="0" anchor="ctr"/>
                </a:tc>
              </a:tr>
            </a:tbl>
          </a:graphicData>
        </a:graphic>
      </p:graphicFrame>
      <p:sp>
        <p:nvSpPr>
          <p:cNvPr id="12" name="TextBox 6"/>
          <p:cNvSpPr txBox="1"/>
          <p:nvPr/>
        </p:nvSpPr>
        <p:spPr>
          <a:xfrm>
            <a:off x="827683" y="640105"/>
            <a:ext cx="972108" cy="219291"/>
          </a:xfrm>
          <a:prstGeom prst="rect">
            <a:avLst/>
          </a:prstGeom>
          <a:noFill/>
        </p:spPr>
        <p:txBody>
          <a:bodyPr wrap="square" rtlCol="0">
            <a:spAutoFit/>
          </a:bodyPr>
          <a:lstStyle/>
          <a:p>
            <a:r>
              <a:rPr lang="zh-CN" altLang="en-US" sz="825" b="1" dirty="0">
                <a:cs typeface="+mn-ea"/>
                <a:sym typeface="+mn-lt"/>
              </a:rPr>
              <a:t>单位：万元</a:t>
            </a:r>
          </a:p>
        </p:txBody>
      </p:sp>
      <p:graphicFrame>
        <p:nvGraphicFramePr>
          <p:cNvPr id="13" name="图表 12"/>
          <p:cNvGraphicFramePr/>
          <p:nvPr/>
        </p:nvGraphicFramePr>
        <p:xfrm>
          <a:off x="827683" y="2281434"/>
          <a:ext cx="4035904" cy="2825133"/>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8"/>
          <p:cNvSpPr txBox="1"/>
          <p:nvPr/>
        </p:nvSpPr>
        <p:spPr>
          <a:xfrm>
            <a:off x="5192478" y="2926560"/>
            <a:ext cx="2970330" cy="1450141"/>
          </a:xfrm>
          <a:prstGeom prst="rect">
            <a:avLst/>
          </a:prstGeom>
          <a:noFill/>
        </p:spPr>
        <p:txBody>
          <a:bodyPr wrap="square" rtlCol="0">
            <a:spAutoFit/>
          </a:bodyPr>
          <a:lstStyle/>
          <a:p>
            <a:pPr algn="just">
              <a:lnSpc>
                <a:spcPct val="150000"/>
              </a:lnSpc>
            </a:pPr>
            <a:r>
              <a:rPr lang="zh-CN" altLang="en-US" sz="1000" b="1" dirty="0">
                <a:latin typeface="+mn-ea"/>
                <a:cs typeface="+mn-ea"/>
                <a:sym typeface="+mn-lt"/>
              </a:rPr>
              <a:t>分析如下：</a:t>
            </a:r>
            <a:r>
              <a:rPr lang="zh-CN" altLang="en-US" sz="1000" dirty="0">
                <a:latin typeface="+mn-ea"/>
                <a:cs typeface="+mn-ea"/>
                <a:sym typeface="+mn-lt"/>
              </a:rPr>
              <a:t>由上表和图的数据所示，可以看出在201</a:t>
            </a:r>
            <a:r>
              <a:rPr lang="en-US" altLang="zh-CN" sz="1000" dirty="0">
                <a:latin typeface="+mn-ea"/>
                <a:cs typeface="+mn-ea"/>
                <a:sym typeface="+mn-lt"/>
              </a:rPr>
              <a:t>4</a:t>
            </a:r>
            <a:r>
              <a:rPr lang="zh-CN" altLang="en-US" sz="1000" dirty="0">
                <a:latin typeface="+mn-ea"/>
                <a:cs typeface="+mn-ea"/>
                <a:sym typeface="+mn-lt"/>
              </a:rPr>
              <a:t>-201</a:t>
            </a:r>
            <a:r>
              <a:rPr lang="en-US" altLang="zh-CN" sz="1000" dirty="0">
                <a:latin typeface="+mn-ea"/>
                <a:cs typeface="+mn-ea"/>
                <a:sym typeface="+mn-lt"/>
              </a:rPr>
              <a:t>7</a:t>
            </a:r>
            <a:r>
              <a:rPr lang="zh-CN" altLang="en-US" sz="1000" dirty="0">
                <a:latin typeface="+mn-ea"/>
                <a:cs typeface="+mn-ea"/>
                <a:sym typeface="+mn-lt"/>
              </a:rPr>
              <a:t>年上无论是流动资产还是非流动资产都是在逐年增加的。尤其是在201</a:t>
            </a:r>
            <a:r>
              <a:rPr lang="en-US" altLang="zh-CN" sz="1000" dirty="0">
                <a:latin typeface="+mn-ea"/>
                <a:cs typeface="+mn-ea"/>
                <a:sym typeface="+mn-lt"/>
              </a:rPr>
              <a:t>6</a:t>
            </a:r>
            <a:r>
              <a:rPr lang="zh-CN" altLang="en-US" sz="1000" dirty="0">
                <a:latin typeface="+mn-ea"/>
                <a:cs typeface="+mn-ea"/>
                <a:sym typeface="+mn-lt"/>
              </a:rPr>
              <a:t>年流动资产和非流动资产都有了大幅度的增加企业资产规模体现企业拥有的实力，这说明该企业在这年内的实力不断的增强！</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ppt_x"/>
                                          </p:val>
                                        </p:tav>
                                        <p:tav tm="100000">
                                          <p:val>
                                            <p:strVal val="#ppt_x"/>
                                          </p:val>
                                        </p:tav>
                                      </p:tavLst>
                                    </p:anim>
                                    <p:anim calcmode="lin" valueType="num">
                                      <p:cBhvr additive="base">
                                        <p:cTn id="1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Graphic spid="13" grpId="0">
        <p:bldAsOne/>
      </p:bldGraphic>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7059203" y="335800"/>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资产分析</a:t>
            </a:r>
          </a:p>
        </p:txBody>
      </p:sp>
      <p:graphicFrame>
        <p:nvGraphicFramePr>
          <p:cNvPr id="7" name="内容占位符 3"/>
          <p:cNvGraphicFramePr>
            <a:graphicFrameLocks noGrp="1"/>
          </p:cNvGraphicFramePr>
          <p:nvPr>
            <p:ph idx="1"/>
          </p:nvPr>
        </p:nvGraphicFramePr>
        <p:xfrm>
          <a:off x="703384" y="909586"/>
          <a:ext cx="4004253" cy="27002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表格 7"/>
          <p:cNvGraphicFramePr>
            <a:graphicFrameLocks noGrp="1"/>
          </p:cNvGraphicFramePr>
          <p:nvPr/>
        </p:nvGraphicFramePr>
        <p:xfrm>
          <a:off x="4788024" y="1081650"/>
          <a:ext cx="3411430" cy="2570222"/>
        </p:xfrm>
        <a:graphic>
          <a:graphicData uri="http://schemas.openxmlformats.org/drawingml/2006/table">
            <a:tbl>
              <a:tblPr firstRow="1" bandRow="1">
                <a:tableStyleId>{7DF18680-E054-41AD-8BC1-D1AEF772440D}</a:tableStyleId>
              </a:tblPr>
              <a:tblGrid>
                <a:gridCol w="852858"/>
                <a:gridCol w="620260"/>
                <a:gridCol w="620260"/>
                <a:gridCol w="542727"/>
                <a:gridCol w="775325"/>
              </a:tblGrid>
              <a:tr h="512364">
                <a:tc>
                  <a:txBody>
                    <a:bodyPr/>
                    <a:lstStyle/>
                    <a:p>
                      <a:pPr algn="ctr" fontAlgn="ctr"/>
                      <a:r>
                        <a:rPr lang="zh-CN" altLang="en-US" sz="800" u="none" strike="noStrike" dirty="0">
                          <a:sym typeface="+mn-lt"/>
                        </a:rPr>
                        <a:t>资  产</a:t>
                      </a:r>
                      <a:endParaRPr lang="zh-CN" altLang="en-US" sz="800" b="1"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r>
                        <a:rPr lang="en-US" altLang="zh-CN" sz="800" u="none" strike="noStrike" dirty="0">
                          <a:sym typeface="+mn-lt"/>
                        </a:rPr>
                        <a:t>2014</a:t>
                      </a:r>
                      <a:r>
                        <a:rPr lang="zh-CN" altLang="en-US" sz="800" u="none" strike="noStrike" dirty="0">
                          <a:sym typeface="+mn-lt"/>
                        </a:rPr>
                        <a:t>年</a:t>
                      </a:r>
                      <a:endParaRPr lang="zh-CN" altLang="en-US" sz="800" b="1"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r>
                        <a:rPr lang="en-US" altLang="zh-CN" sz="800" u="none" strike="noStrike" dirty="0">
                          <a:sym typeface="+mn-lt"/>
                        </a:rPr>
                        <a:t>2015</a:t>
                      </a:r>
                      <a:r>
                        <a:rPr lang="zh-CN" altLang="en-US" sz="800" u="none" strike="noStrike" dirty="0">
                          <a:sym typeface="+mn-lt"/>
                        </a:rPr>
                        <a:t>年</a:t>
                      </a:r>
                      <a:endParaRPr lang="zh-CN" altLang="en-US" sz="800" b="1"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r>
                        <a:rPr lang="en-US" altLang="zh-CN" sz="800" u="none" strike="noStrike" dirty="0">
                          <a:sym typeface="+mn-lt"/>
                        </a:rPr>
                        <a:t>2016</a:t>
                      </a:r>
                      <a:r>
                        <a:rPr lang="zh-CN" altLang="en-US" sz="800" u="none" strike="noStrike" dirty="0">
                          <a:sym typeface="+mn-lt"/>
                        </a:rPr>
                        <a:t>年</a:t>
                      </a:r>
                      <a:endParaRPr lang="zh-CN" altLang="en-US" sz="800" b="1"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r>
                        <a:rPr lang="en-US" altLang="zh-CN" sz="800" u="none" strike="noStrike" dirty="0">
                          <a:sym typeface="+mn-lt"/>
                        </a:rPr>
                        <a:t>2017</a:t>
                      </a:r>
                      <a:r>
                        <a:rPr lang="zh-CN" altLang="en-US" sz="800" u="none" strike="noStrike" dirty="0">
                          <a:sym typeface="+mn-lt"/>
                        </a:rPr>
                        <a:t>年</a:t>
                      </a:r>
                      <a:endParaRPr lang="zh-CN" altLang="en-US" sz="800" b="1" i="0" u="none" strike="noStrike" dirty="0">
                        <a:solidFill>
                          <a:srgbClr val="000000"/>
                        </a:solidFill>
                        <a:latin typeface="+mn-lt"/>
                        <a:ea typeface="+mn-ea"/>
                        <a:cs typeface="+mn-ea"/>
                        <a:sym typeface="+mn-lt"/>
                      </a:endParaRPr>
                    </a:p>
                  </a:txBody>
                  <a:tcPr marL="7144" marR="7144" marT="7144" marB="0" anchor="ctr"/>
                </a:tc>
              </a:tr>
              <a:tr h="293979">
                <a:tc>
                  <a:txBody>
                    <a:bodyPr/>
                    <a:lstStyle/>
                    <a:p>
                      <a:pPr algn="ctr" fontAlgn="ctr"/>
                      <a:r>
                        <a:rPr lang="zh-CN" altLang="en-US" sz="800" u="none" strike="noStrike">
                          <a:sym typeface="+mn-lt"/>
                        </a:rPr>
                        <a:t>货币资金</a:t>
                      </a:r>
                      <a:endParaRPr lang="zh-CN" altLang="en-US" sz="800" b="0" i="0" u="none" strike="noStrike">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r>
              <a:tr h="302381">
                <a:tc>
                  <a:txBody>
                    <a:bodyPr/>
                    <a:lstStyle/>
                    <a:p>
                      <a:pPr algn="ctr" fontAlgn="ctr"/>
                      <a:r>
                        <a:rPr lang="zh-CN" altLang="en-US" sz="800" u="none" strike="noStrike" dirty="0">
                          <a:sym typeface="+mn-lt"/>
                        </a:rPr>
                        <a:t> 其他应收款</a:t>
                      </a:r>
                      <a:endParaRPr lang="zh-CN" altLang="en-US"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1" i="0" u="none" strike="noStrike" dirty="0">
                        <a:solidFill>
                          <a:srgbClr val="FF0000"/>
                        </a:solidFill>
                        <a:latin typeface="+mn-lt"/>
                        <a:ea typeface="+mn-ea"/>
                        <a:cs typeface="+mn-ea"/>
                        <a:sym typeface="+mn-lt"/>
                      </a:endParaRPr>
                    </a:p>
                  </a:txBody>
                  <a:tcPr marL="7144" marR="7144" marT="7144" marB="0" anchor="ctr"/>
                </a:tc>
              </a:tr>
              <a:tr h="302381">
                <a:tc>
                  <a:txBody>
                    <a:bodyPr/>
                    <a:lstStyle/>
                    <a:p>
                      <a:pPr algn="ctr" fontAlgn="ctr"/>
                      <a:r>
                        <a:rPr lang="zh-CN" altLang="en-US" sz="800" u="none" strike="noStrike" dirty="0">
                          <a:sym typeface="+mn-lt"/>
                        </a:rPr>
                        <a:t>应收账款</a:t>
                      </a:r>
                      <a:endParaRPr lang="zh-CN" altLang="en-US"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r>
              <a:tr h="302381">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800" u="none" strike="noStrike" dirty="0">
                          <a:sym typeface="+mn-lt"/>
                        </a:rPr>
                        <a:t>应收账款</a:t>
                      </a:r>
                      <a:endParaRPr lang="zh-CN" altLang="en-US"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r>
              <a:tr h="302375">
                <a:tc>
                  <a:txBody>
                    <a:bodyPr/>
                    <a:lstStyle/>
                    <a:p>
                      <a:pPr algn="ctr" fontAlgn="ctr"/>
                      <a:r>
                        <a:rPr lang="zh-CN" altLang="en-US" sz="800" u="none" strike="noStrike" dirty="0">
                          <a:sym typeface="+mn-lt"/>
                        </a:rPr>
                        <a:t>预付账款</a:t>
                      </a:r>
                      <a:endParaRPr lang="zh-CN" altLang="en-US"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r>
              <a:tr h="251982">
                <a:tc>
                  <a:txBody>
                    <a:bodyPr/>
                    <a:lstStyle/>
                    <a:p>
                      <a:pPr algn="ctr" fontAlgn="ctr"/>
                      <a:r>
                        <a:rPr lang="zh-CN" altLang="en-US" sz="800" u="none" strike="noStrike" dirty="0">
                          <a:sym typeface="+mn-lt"/>
                        </a:rPr>
                        <a:t>存货</a:t>
                      </a:r>
                      <a:endParaRPr lang="zh-CN" altLang="en-US"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r>
              <a:tr h="302379">
                <a:tc>
                  <a:txBody>
                    <a:bodyPr/>
                    <a:lstStyle/>
                    <a:p>
                      <a:pPr algn="ctr" fontAlgn="ctr"/>
                      <a:r>
                        <a:rPr lang="zh-CN" altLang="en-US" sz="800" u="none" strike="noStrike" dirty="0">
                          <a:sym typeface="+mn-lt"/>
                        </a:rPr>
                        <a:t>固定资产</a:t>
                      </a:r>
                      <a:endParaRPr lang="zh-CN" altLang="en-US"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c>
                  <a:txBody>
                    <a:bodyPr/>
                    <a:lstStyle/>
                    <a:p>
                      <a:pPr algn="ctr" fontAlgn="ctr"/>
                      <a:endParaRPr lang="en-US" altLang="zh-CN" sz="800" b="0" i="0" u="none" strike="noStrike" dirty="0">
                        <a:solidFill>
                          <a:srgbClr val="000000"/>
                        </a:solidFill>
                        <a:latin typeface="+mn-lt"/>
                        <a:ea typeface="+mn-ea"/>
                        <a:cs typeface="+mn-ea"/>
                        <a:sym typeface="+mn-lt"/>
                      </a:endParaRPr>
                    </a:p>
                  </a:txBody>
                  <a:tcPr marL="7144" marR="7144" marT="7144" marB="0" anchor="ctr"/>
                </a:tc>
              </a:tr>
            </a:tbl>
          </a:graphicData>
        </a:graphic>
      </p:graphicFrame>
      <p:sp>
        <p:nvSpPr>
          <p:cNvPr id="9" name="TextBox 11"/>
          <p:cNvSpPr txBox="1"/>
          <p:nvPr/>
        </p:nvSpPr>
        <p:spPr>
          <a:xfrm>
            <a:off x="612949" y="3705876"/>
            <a:ext cx="7586506" cy="1219308"/>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a:t>
            </a:r>
            <a:endParaRPr lang="en-US" altLang="zh-CN" sz="1000" dirty="0">
              <a:latin typeface="+mn-ea"/>
              <a:cs typeface="+mn-ea"/>
              <a:sym typeface="+mn-lt"/>
            </a:endParaRPr>
          </a:p>
          <a:p>
            <a:pPr algn="just">
              <a:lnSpc>
                <a:spcPct val="150000"/>
              </a:lnSpc>
            </a:pPr>
            <a:r>
              <a:rPr lang="en-US" altLang="zh-CN" sz="1000" dirty="0">
                <a:latin typeface="+mn-ea"/>
                <a:cs typeface="+mn-ea"/>
                <a:sym typeface="+mn-lt"/>
              </a:rPr>
              <a:t>1</a:t>
            </a:r>
            <a:r>
              <a:rPr lang="zh-CN" altLang="en-US" sz="1000" dirty="0">
                <a:latin typeface="+mn-ea"/>
                <a:cs typeface="+mn-ea"/>
                <a:sym typeface="+mn-lt"/>
              </a:rPr>
              <a:t>、在</a:t>
            </a:r>
            <a:r>
              <a:rPr lang="en-US" altLang="zh-CN" sz="1000" dirty="0">
                <a:latin typeface="+mn-ea"/>
                <a:cs typeface="+mn-ea"/>
                <a:sym typeface="+mn-lt"/>
              </a:rPr>
              <a:t>2017</a:t>
            </a:r>
            <a:r>
              <a:rPr lang="zh-CN" altLang="en-US" sz="1000" dirty="0">
                <a:latin typeface="+mn-ea"/>
                <a:cs typeface="+mn-ea"/>
                <a:sym typeface="+mn-lt"/>
              </a:rPr>
              <a:t>年的存货存货存货存货存货存货存货存货存货存货存货存货存货存货存货存货存货存货存货存货中有元实为待确认的应收账款，资产总额的</a:t>
            </a:r>
            <a:r>
              <a:rPr lang="en-US" altLang="zh-CN" sz="1000" dirty="0">
                <a:latin typeface="+mn-ea"/>
                <a:cs typeface="+mn-ea"/>
                <a:sym typeface="+mn-lt"/>
              </a:rPr>
              <a:t>%</a:t>
            </a:r>
            <a:r>
              <a:rPr lang="zh-CN" altLang="en-US" sz="1000" dirty="0">
                <a:latin typeface="+mn-ea"/>
                <a:cs typeface="+mn-ea"/>
                <a:sym typeface="+mn-lt"/>
              </a:rPr>
              <a:t>，存货占资产总额的</a:t>
            </a:r>
            <a:r>
              <a:rPr lang="en-US" altLang="zh-CN" sz="1000" dirty="0">
                <a:latin typeface="+mn-ea"/>
                <a:cs typeface="+mn-ea"/>
                <a:sym typeface="+mn-lt"/>
              </a:rPr>
              <a:t>%</a:t>
            </a:r>
            <a:r>
              <a:rPr lang="zh-CN" altLang="en-US" sz="1000" dirty="0">
                <a:latin typeface="+mn-ea"/>
                <a:cs typeface="+mn-ea"/>
                <a:sym typeface="+mn-lt"/>
              </a:rPr>
              <a:t>，已成为资产总额的总大占比，应收压力巨大，已严重影响我司资金流。</a:t>
            </a:r>
            <a:endParaRPr lang="en-US" altLang="zh-CN" sz="1000" dirty="0">
              <a:latin typeface="+mn-ea"/>
              <a:cs typeface="+mn-ea"/>
              <a:sym typeface="+mn-lt"/>
            </a:endParaRPr>
          </a:p>
          <a:p>
            <a:pPr algn="just">
              <a:lnSpc>
                <a:spcPct val="150000"/>
              </a:lnSpc>
            </a:pPr>
            <a:r>
              <a:rPr lang="en-US" altLang="zh-CN" sz="1000" dirty="0">
                <a:latin typeface="+mn-ea"/>
                <a:cs typeface="+mn-ea"/>
                <a:sym typeface="+mn-lt"/>
              </a:rPr>
              <a:t>2</a:t>
            </a:r>
            <a:r>
              <a:rPr lang="zh-CN" altLang="en-US" sz="1000" dirty="0">
                <a:latin typeface="+mn-ea"/>
                <a:cs typeface="+mn-ea"/>
                <a:sym typeface="+mn-lt"/>
              </a:rPr>
              <a:t>、</a:t>
            </a:r>
            <a:r>
              <a:rPr lang="en-US" altLang="zh-CN" sz="1000" dirty="0">
                <a:latin typeface="+mn-ea"/>
                <a:cs typeface="+mn-ea"/>
                <a:sym typeface="+mn-lt"/>
              </a:rPr>
              <a:t>2014-2017</a:t>
            </a:r>
            <a:r>
              <a:rPr lang="zh-CN" altLang="en-US" sz="1000" dirty="0">
                <a:latin typeface="+mn-ea"/>
                <a:cs typeface="+mn-ea"/>
                <a:sym typeface="+mn-lt"/>
              </a:rPr>
              <a:t>年货币资金占资产总额的平均比重约为</a:t>
            </a:r>
            <a:r>
              <a:rPr lang="en-US" altLang="zh-CN" sz="1000" dirty="0">
                <a:latin typeface="+mn-ea"/>
                <a:cs typeface="+mn-ea"/>
                <a:sym typeface="+mn-lt"/>
              </a:rPr>
              <a:t>%</a:t>
            </a:r>
            <a:r>
              <a:rPr lang="zh-CN" altLang="en-US" sz="1000" dirty="0">
                <a:latin typeface="+mn-ea"/>
                <a:cs typeface="+mn-ea"/>
                <a:sym typeface="+mn-lt"/>
              </a:rPr>
              <a:t>，在做好资金计划的情况下，可考虑做部份理财，赚取额外收益。</a:t>
            </a:r>
            <a:endParaRPr lang="en-US" altLang="zh-CN" sz="1000" dirty="0">
              <a:latin typeface="+mn-ea"/>
              <a:cs typeface="+mn-ea"/>
              <a:sym typeface="+mn-lt"/>
            </a:endParaRPr>
          </a:p>
          <a:p>
            <a:pPr algn="just">
              <a:lnSpc>
                <a:spcPct val="150000"/>
              </a:lnSpc>
            </a:pPr>
            <a:r>
              <a:rPr lang="en-US" altLang="zh-CN" sz="1000" dirty="0">
                <a:latin typeface="+mn-ea"/>
                <a:cs typeface="+mn-ea"/>
                <a:sym typeface="+mn-lt"/>
              </a:rPr>
              <a:t>3</a:t>
            </a:r>
            <a:r>
              <a:rPr lang="zh-CN" altLang="en-US" sz="1000" dirty="0">
                <a:latin typeface="+mn-ea"/>
                <a:cs typeface="+mn-ea"/>
                <a:sym typeface="+mn-lt"/>
              </a:rPr>
              <a:t> 、其他应收款</a:t>
            </a:r>
          </a:p>
        </p:txBody>
      </p:sp>
      <p:sp>
        <p:nvSpPr>
          <p:cNvPr id="11" name="TextBox 6"/>
          <p:cNvSpPr txBox="1"/>
          <p:nvPr/>
        </p:nvSpPr>
        <p:spPr>
          <a:xfrm>
            <a:off x="4788024" y="799941"/>
            <a:ext cx="972108" cy="219291"/>
          </a:xfrm>
          <a:prstGeom prst="rect">
            <a:avLst/>
          </a:prstGeom>
          <a:noFill/>
        </p:spPr>
        <p:txBody>
          <a:bodyPr wrap="square" rtlCol="0">
            <a:spAutoFit/>
          </a:bodyPr>
          <a:lstStyle/>
          <a:p>
            <a:r>
              <a:rPr lang="zh-CN" altLang="en-US" sz="825" b="1" dirty="0">
                <a:cs typeface="+mn-ea"/>
                <a:sym typeface="+mn-lt"/>
              </a:rPr>
              <a:t>单位：万元</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8" grpId="0"/>
      <p:bldGraphic spid="7" grpId="0">
        <p:bldAsOne/>
      </p:bldGraphic>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808964" y="349641"/>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资产负债表</a:t>
            </a:r>
          </a:p>
        </p:txBody>
      </p:sp>
      <p:sp>
        <p:nvSpPr>
          <p:cNvPr id="8" name="TextBox 6"/>
          <p:cNvSpPr txBox="1"/>
          <p:nvPr/>
        </p:nvSpPr>
        <p:spPr>
          <a:xfrm>
            <a:off x="827683" y="640105"/>
            <a:ext cx="972108" cy="219291"/>
          </a:xfrm>
          <a:prstGeom prst="rect">
            <a:avLst/>
          </a:prstGeom>
          <a:noFill/>
        </p:spPr>
        <p:txBody>
          <a:bodyPr wrap="square" rtlCol="0">
            <a:spAutoFit/>
          </a:bodyPr>
          <a:lstStyle/>
          <a:p>
            <a:r>
              <a:rPr lang="zh-CN" altLang="en-US" sz="825" b="1" dirty="0">
                <a:cs typeface="+mn-ea"/>
                <a:sym typeface="+mn-lt"/>
              </a:rPr>
              <a:t>单位：万元</a:t>
            </a:r>
          </a:p>
        </p:txBody>
      </p:sp>
      <p:sp>
        <p:nvSpPr>
          <p:cNvPr id="9" name="TextBox 8"/>
          <p:cNvSpPr txBox="1"/>
          <p:nvPr/>
        </p:nvSpPr>
        <p:spPr>
          <a:xfrm>
            <a:off x="5192478" y="2926560"/>
            <a:ext cx="2970330" cy="1911805"/>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分析如下：由上表和图所示的数据可以看出，公司在</a:t>
            </a:r>
            <a:r>
              <a:rPr lang="en-US" altLang="zh-CN" sz="1000" dirty="0">
                <a:latin typeface="+mn-ea"/>
                <a:cs typeface="+mn-ea"/>
                <a:sym typeface="+mn-lt"/>
              </a:rPr>
              <a:t>2014-2017</a:t>
            </a:r>
            <a:r>
              <a:rPr lang="zh-CN" altLang="en-US" sz="1000" dirty="0">
                <a:latin typeface="+mn-ea"/>
                <a:cs typeface="+mn-ea"/>
                <a:sym typeface="+mn-lt"/>
              </a:rPr>
              <a:t>年上的负债规模呈逐年上升的趋势，说明该企业在这四年内总负债规模不断变大。主要是由于流动负债规模的逐年变大，非流动负债规模基本保持不变，这主要是该企业主要需要通过增加流动负债来扩大公司的规模。该企业主要通过扩大流动负债来扩大经营，说明企业的债务流动性还是乐观的。</a:t>
            </a:r>
          </a:p>
        </p:txBody>
      </p:sp>
      <p:graphicFrame>
        <p:nvGraphicFramePr>
          <p:cNvPr id="10" name="内容占位符 3"/>
          <p:cNvGraphicFramePr/>
          <p:nvPr/>
        </p:nvGraphicFramePr>
        <p:xfrm>
          <a:off x="758951" y="964807"/>
          <a:ext cx="7799835" cy="1451040"/>
        </p:xfrm>
        <a:graphic>
          <a:graphicData uri="http://schemas.openxmlformats.org/drawingml/2006/table">
            <a:tbl>
              <a:tblPr firstRow="1" bandRow="1">
                <a:tableStyleId>{7DF18680-E054-41AD-8BC1-D1AEF772440D}</a:tableStyleId>
              </a:tblPr>
              <a:tblGrid>
                <a:gridCol w="1559967"/>
                <a:gridCol w="1559967"/>
                <a:gridCol w="1559967"/>
                <a:gridCol w="1559967"/>
                <a:gridCol w="1559967"/>
              </a:tblGrid>
              <a:tr h="362760">
                <a:tc>
                  <a:txBody>
                    <a:bodyPr/>
                    <a:lstStyle/>
                    <a:p>
                      <a:pPr algn="ctr"/>
                      <a:r>
                        <a:rPr lang="zh-CN" altLang="en-US" sz="1300" dirty="0"/>
                        <a:t>年份</a:t>
                      </a:r>
                    </a:p>
                  </a:txBody>
                  <a:tcPr marL="89448" marR="89448" marT="44724" marB="44724"/>
                </a:tc>
                <a:tc>
                  <a:txBody>
                    <a:bodyPr/>
                    <a:lstStyle/>
                    <a:p>
                      <a:pPr algn="ctr"/>
                      <a:r>
                        <a:rPr lang="en-US" altLang="zh-CN" sz="1300" dirty="0"/>
                        <a:t>2014</a:t>
                      </a:r>
                      <a:r>
                        <a:rPr lang="zh-CN" altLang="en-US" sz="1300" dirty="0"/>
                        <a:t>年</a:t>
                      </a:r>
                    </a:p>
                  </a:txBody>
                  <a:tcPr marL="89448" marR="89448" marT="44724" marB="44724"/>
                </a:tc>
                <a:tc>
                  <a:txBody>
                    <a:bodyPr/>
                    <a:lstStyle/>
                    <a:p>
                      <a:pPr algn="ctr"/>
                      <a:r>
                        <a:rPr lang="en-US" altLang="zh-CN" sz="1300" dirty="0"/>
                        <a:t>2015</a:t>
                      </a:r>
                      <a:r>
                        <a:rPr lang="zh-CN" altLang="en-US" sz="1300" dirty="0"/>
                        <a:t>年</a:t>
                      </a:r>
                    </a:p>
                  </a:txBody>
                  <a:tcPr marL="89448" marR="89448" marT="44724" marB="44724"/>
                </a:tc>
                <a:tc>
                  <a:txBody>
                    <a:bodyPr/>
                    <a:lstStyle/>
                    <a:p>
                      <a:pPr algn="ctr"/>
                      <a:r>
                        <a:rPr lang="en-US" altLang="zh-CN" sz="1300" dirty="0"/>
                        <a:t>2016</a:t>
                      </a:r>
                      <a:r>
                        <a:rPr lang="zh-CN" altLang="en-US" sz="1300" dirty="0"/>
                        <a:t>年</a:t>
                      </a:r>
                    </a:p>
                  </a:txBody>
                  <a:tcPr marL="89448" marR="89448" marT="44724" marB="44724"/>
                </a:tc>
                <a:tc>
                  <a:txBody>
                    <a:bodyPr/>
                    <a:lstStyle/>
                    <a:p>
                      <a:pPr algn="ctr"/>
                      <a:r>
                        <a:rPr lang="en-US" altLang="zh-CN" sz="1300" dirty="0"/>
                        <a:t>2017</a:t>
                      </a:r>
                      <a:r>
                        <a:rPr lang="zh-CN" altLang="en-US" sz="1300" dirty="0"/>
                        <a:t>年上半年</a:t>
                      </a:r>
                    </a:p>
                  </a:txBody>
                  <a:tcPr marL="89448" marR="89448" marT="44724" marB="44724"/>
                </a:tc>
              </a:tr>
              <a:tr h="362760">
                <a:tc>
                  <a:txBody>
                    <a:bodyPr/>
                    <a:lstStyle/>
                    <a:p>
                      <a:pPr algn="ctr"/>
                      <a:r>
                        <a:rPr lang="zh-CN" altLang="en-US" sz="1300" dirty="0"/>
                        <a:t>流动负债</a:t>
                      </a:r>
                    </a:p>
                  </a:txBody>
                  <a:tcPr marL="89448" marR="89448" marT="44724" marB="44724"/>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r>
              <a:tr h="362760">
                <a:tc>
                  <a:txBody>
                    <a:bodyPr/>
                    <a:lstStyle/>
                    <a:p>
                      <a:pPr algn="ctr"/>
                      <a:r>
                        <a:rPr lang="zh-CN" altLang="en-US" sz="1300" dirty="0"/>
                        <a:t>总负债</a:t>
                      </a:r>
                    </a:p>
                  </a:txBody>
                  <a:tcPr marL="89448" marR="89448" marT="44724" marB="44724"/>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r>
              <a:tr h="362760">
                <a:tc>
                  <a:txBody>
                    <a:bodyPr/>
                    <a:lstStyle/>
                    <a:p>
                      <a:pPr algn="ctr"/>
                      <a:r>
                        <a:rPr lang="zh-CN" altLang="en-US" sz="1300" dirty="0"/>
                        <a:t>资产负债率</a:t>
                      </a:r>
                    </a:p>
                  </a:txBody>
                  <a:tcPr marL="89448" marR="89448" marT="44724" marB="44724"/>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317" marR="9317" marT="9317" marB="0" anchor="ct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317" marR="9317" marT="9317" marB="0" anchor="ct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317" marR="9317" marT="9317" marB="0" anchor="ctr"/>
                </a:tc>
                <a:tc>
                  <a:txBody>
                    <a:bodyPr/>
                    <a:lstStyle/>
                    <a:p>
                      <a:pPr algn="ctr" rtl="0" fontAlgn="t"/>
                      <a:endParaRPr lang="en-US" altLang="zh-CN" sz="1800" b="0" i="0" u="none" strike="noStrike" dirty="0">
                        <a:solidFill>
                          <a:srgbClr val="000000"/>
                        </a:solidFill>
                        <a:latin typeface="Calibri" panose="020F0502020204030204"/>
                      </a:endParaRPr>
                    </a:p>
                  </a:txBody>
                  <a:tcPr marL="9317" marR="9317" marT="9317" marB="0"/>
                </a:tc>
              </a:tr>
            </a:tbl>
          </a:graphicData>
        </a:graphic>
      </p:graphicFrame>
      <p:graphicFrame>
        <p:nvGraphicFramePr>
          <p:cNvPr id="12" name="图表 11"/>
          <p:cNvGraphicFramePr/>
          <p:nvPr/>
        </p:nvGraphicFramePr>
        <p:xfrm>
          <a:off x="656002" y="2448167"/>
          <a:ext cx="3968497" cy="297637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9" grpId="0"/>
      <p:bldGraphic spid="12"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808964" y="349641"/>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资产负债表</a:t>
            </a:r>
          </a:p>
        </p:txBody>
      </p:sp>
      <p:sp>
        <p:nvSpPr>
          <p:cNvPr id="9" name="TextBox 8"/>
          <p:cNvSpPr txBox="1"/>
          <p:nvPr/>
        </p:nvSpPr>
        <p:spPr>
          <a:xfrm>
            <a:off x="5238198" y="3175634"/>
            <a:ext cx="2970330" cy="1219308"/>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如下：由上表和图所示的数据可以看出，公司在年上的股东权益是逐年增长的，尤其是年增长的幅度最大，主要是由于企业的资本增加的幅度大，说明该企业的自有资本是雄厚的，利用自有资本来还债的能力也是很强的。</a:t>
            </a:r>
          </a:p>
        </p:txBody>
      </p:sp>
      <p:graphicFrame>
        <p:nvGraphicFramePr>
          <p:cNvPr id="15" name="内容占位符 3"/>
          <p:cNvGraphicFramePr/>
          <p:nvPr/>
        </p:nvGraphicFramePr>
        <p:xfrm>
          <a:off x="688007" y="1218607"/>
          <a:ext cx="7452360" cy="1543799"/>
        </p:xfrm>
        <a:graphic>
          <a:graphicData uri="http://schemas.openxmlformats.org/drawingml/2006/table">
            <a:tbl>
              <a:tblPr firstRow="1" bandRow="1">
                <a:tableStyleId>{7DF18680-E054-41AD-8BC1-D1AEF772440D}</a:tableStyleId>
              </a:tblPr>
              <a:tblGrid>
                <a:gridCol w="1490472"/>
                <a:gridCol w="1490472"/>
                <a:gridCol w="1490472"/>
                <a:gridCol w="1490472"/>
                <a:gridCol w="1490472"/>
              </a:tblGrid>
              <a:tr h="255623">
                <a:tc>
                  <a:txBody>
                    <a:bodyPr/>
                    <a:lstStyle>
                      <a:lvl1pPr marL="0" algn="l" defTabSz="685800" rtl="0" eaLnBrk="1" latinLnBrk="0" hangingPunct="1">
                        <a:defRPr sz="1350" b="1" kern="1200">
                          <a:solidFill>
                            <a:schemeClr val="dk1"/>
                          </a:solidFill>
                          <a:latin typeface="Calibri" panose="020F0502020204030204"/>
                        </a:defRPr>
                      </a:lvl1pPr>
                      <a:lvl2pPr marL="342900" algn="l" defTabSz="685800" rtl="0" eaLnBrk="1" latinLnBrk="0" hangingPunct="1">
                        <a:defRPr sz="1350" b="1" kern="1200">
                          <a:solidFill>
                            <a:schemeClr val="dk1"/>
                          </a:solidFill>
                          <a:latin typeface="Calibri" panose="020F0502020204030204"/>
                        </a:defRPr>
                      </a:lvl2pPr>
                      <a:lvl3pPr marL="685800" algn="l" defTabSz="685800" rtl="0" eaLnBrk="1" latinLnBrk="0" hangingPunct="1">
                        <a:defRPr sz="1350" b="1" kern="1200">
                          <a:solidFill>
                            <a:schemeClr val="dk1"/>
                          </a:solidFill>
                          <a:latin typeface="Calibri" panose="020F0502020204030204"/>
                        </a:defRPr>
                      </a:lvl3pPr>
                      <a:lvl4pPr marL="1028700" algn="l" defTabSz="685800" rtl="0" eaLnBrk="1" latinLnBrk="0" hangingPunct="1">
                        <a:defRPr sz="1350" b="1" kern="1200">
                          <a:solidFill>
                            <a:schemeClr val="dk1"/>
                          </a:solidFill>
                          <a:latin typeface="Calibri" panose="020F0502020204030204"/>
                        </a:defRPr>
                      </a:lvl4pPr>
                      <a:lvl5pPr marL="1371600" algn="l" defTabSz="685800" rtl="0" eaLnBrk="1" latinLnBrk="0" hangingPunct="1">
                        <a:defRPr sz="1350" b="1" kern="1200">
                          <a:solidFill>
                            <a:schemeClr val="dk1"/>
                          </a:solidFill>
                          <a:latin typeface="Calibri" panose="020F0502020204030204"/>
                        </a:defRPr>
                      </a:lvl5pPr>
                      <a:lvl6pPr marL="1714500" algn="l" defTabSz="685800" rtl="0" eaLnBrk="1" latinLnBrk="0" hangingPunct="1">
                        <a:defRPr sz="1350" b="1" kern="1200">
                          <a:solidFill>
                            <a:schemeClr val="dk1"/>
                          </a:solidFill>
                          <a:latin typeface="Calibri" panose="020F0502020204030204"/>
                        </a:defRPr>
                      </a:lvl6pPr>
                      <a:lvl7pPr marL="2057400" algn="l" defTabSz="685800" rtl="0" eaLnBrk="1" latinLnBrk="0" hangingPunct="1">
                        <a:defRPr sz="1350" b="1" kern="1200">
                          <a:solidFill>
                            <a:schemeClr val="dk1"/>
                          </a:solidFill>
                          <a:latin typeface="Calibri" panose="020F0502020204030204"/>
                        </a:defRPr>
                      </a:lvl7pPr>
                      <a:lvl8pPr marL="2400300" algn="l" defTabSz="685800" rtl="0" eaLnBrk="1" latinLnBrk="0" hangingPunct="1">
                        <a:defRPr sz="1350" b="1" kern="1200">
                          <a:solidFill>
                            <a:schemeClr val="dk1"/>
                          </a:solidFill>
                          <a:latin typeface="Calibri" panose="020F0502020204030204"/>
                        </a:defRPr>
                      </a:lvl8pPr>
                      <a:lvl9pPr marL="2743200" algn="l" defTabSz="685800" rtl="0" eaLnBrk="1" latinLnBrk="0" hangingPunct="1">
                        <a:defRPr sz="1350" b="1" kern="1200">
                          <a:solidFill>
                            <a:schemeClr val="dk1"/>
                          </a:solidFill>
                          <a:latin typeface="Calibri" panose="020F0502020204030204"/>
                        </a:defRPr>
                      </a:lvl9pPr>
                    </a:lstStyle>
                    <a:p>
                      <a:pPr algn="ctr"/>
                      <a:r>
                        <a:rPr lang="zh-CN" altLang="en-US" sz="1200" dirty="0"/>
                        <a:t>年份</a:t>
                      </a:r>
                    </a:p>
                  </a:txBody>
                  <a:tcPr marL="82804" marR="82804" marT="41402" marB="41402"/>
                </a:tc>
                <a:tc>
                  <a:txBody>
                    <a:bodyPr/>
                    <a:lstStyle>
                      <a:lvl1pPr marL="0" algn="l" defTabSz="685800" rtl="0" eaLnBrk="1" latinLnBrk="0" hangingPunct="1">
                        <a:defRPr sz="1350" b="1" kern="1200">
                          <a:solidFill>
                            <a:schemeClr val="dk1"/>
                          </a:solidFill>
                          <a:latin typeface="Calibri" panose="020F0502020204030204"/>
                        </a:defRPr>
                      </a:lvl1pPr>
                      <a:lvl2pPr marL="342900" algn="l" defTabSz="685800" rtl="0" eaLnBrk="1" latinLnBrk="0" hangingPunct="1">
                        <a:defRPr sz="1350" b="1" kern="1200">
                          <a:solidFill>
                            <a:schemeClr val="dk1"/>
                          </a:solidFill>
                          <a:latin typeface="Calibri" panose="020F0502020204030204"/>
                        </a:defRPr>
                      </a:lvl2pPr>
                      <a:lvl3pPr marL="685800" algn="l" defTabSz="685800" rtl="0" eaLnBrk="1" latinLnBrk="0" hangingPunct="1">
                        <a:defRPr sz="1350" b="1" kern="1200">
                          <a:solidFill>
                            <a:schemeClr val="dk1"/>
                          </a:solidFill>
                          <a:latin typeface="Calibri" panose="020F0502020204030204"/>
                        </a:defRPr>
                      </a:lvl3pPr>
                      <a:lvl4pPr marL="1028700" algn="l" defTabSz="685800" rtl="0" eaLnBrk="1" latinLnBrk="0" hangingPunct="1">
                        <a:defRPr sz="1350" b="1" kern="1200">
                          <a:solidFill>
                            <a:schemeClr val="dk1"/>
                          </a:solidFill>
                          <a:latin typeface="Calibri" panose="020F0502020204030204"/>
                        </a:defRPr>
                      </a:lvl4pPr>
                      <a:lvl5pPr marL="1371600" algn="l" defTabSz="685800" rtl="0" eaLnBrk="1" latinLnBrk="0" hangingPunct="1">
                        <a:defRPr sz="1350" b="1" kern="1200">
                          <a:solidFill>
                            <a:schemeClr val="dk1"/>
                          </a:solidFill>
                          <a:latin typeface="Calibri" panose="020F0502020204030204"/>
                        </a:defRPr>
                      </a:lvl5pPr>
                      <a:lvl6pPr marL="1714500" algn="l" defTabSz="685800" rtl="0" eaLnBrk="1" latinLnBrk="0" hangingPunct="1">
                        <a:defRPr sz="1350" b="1" kern="1200">
                          <a:solidFill>
                            <a:schemeClr val="dk1"/>
                          </a:solidFill>
                          <a:latin typeface="Calibri" panose="020F0502020204030204"/>
                        </a:defRPr>
                      </a:lvl6pPr>
                      <a:lvl7pPr marL="2057400" algn="l" defTabSz="685800" rtl="0" eaLnBrk="1" latinLnBrk="0" hangingPunct="1">
                        <a:defRPr sz="1350" b="1" kern="1200">
                          <a:solidFill>
                            <a:schemeClr val="dk1"/>
                          </a:solidFill>
                          <a:latin typeface="Calibri" panose="020F0502020204030204"/>
                        </a:defRPr>
                      </a:lvl7pPr>
                      <a:lvl8pPr marL="2400300" algn="l" defTabSz="685800" rtl="0" eaLnBrk="1" latinLnBrk="0" hangingPunct="1">
                        <a:defRPr sz="1350" b="1" kern="1200">
                          <a:solidFill>
                            <a:schemeClr val="dk1"/>
                          </a:solidFill>
                          <a:latin typeface="Calibri" panose="020F0502020204030204"/>
                        </a:defRPr>
                      </a:lvl8pPr>
                      <a:lvl9pPr marL="2743200" algn="l" defTabSz="685800" rtl="0" eaLnBrk="1" latinLnBrk="0" hangingPunct="1">
                        <a:defRPr sz="1350" b="1" kern="1200">
                          <a:solidFill>
                            <a:schemeClr val="dk1"/>
                          </a:solidFill>
                          <a:latin typeface="Calibri" panose="020F0502020204030204"/>
                        </a:defRPr>
                      </a:lvl9pPr>
                    </a:lstStyle>
                    <a:p>
                      <a:pPr algn="ctr"/>
                      <a:r>
                        <a:rPr lang="en-US" altLang="zh-CN" sz="1200" dirty="0"/>
                        <a:t>2014</a:t>
                      </a:r>
                      <a:r>
                        <a:rPr lang="zh-CN" altLang="en-US" sz="1200" dirty="0"/>
                        <a:t>年</a:t>
                      </a:r>
                    </a:p>
                  </a:txBody>
                  <a:tcPr marL="82804" marR="82804" marT="41402" marB="41402"/>
                </a:tc>
                <a:tc>
                  <a:txBody>
                    <a:bodyPr/>
                    <a:lstStyle>
                      <a:lvl1pPr marL="0" algn="l" defTabSz="685800" rtl="0" eaLnBrk="1" latinLnBrk="0" hangingPunct="1">
                        <a:defRPr sz="1350" b="1" kern="1200">
                          <a:solidFill>
                            <a:schemeClr val="dk1"/>
                          </a:solidFill>
                          <a:latin typeface="Calibri" panose="020F0502020204030204"/>
                        </a:defRPr>
                      </a:lvl1pPr>
                      <a:lvl2pPr marL="342900" algn="l" defTabSz="685800" rtl="0" eaLnBrk="1" latinLnBrk="0" hangingPunct="1">
                        <a:defRPr sz="1350" b="1" kern="1200">
                          <a:solidFill>
                            <a:schemeClr val="dk1"/>
                          </a:solidFill>
                          <a:latin typeface="Calibri" panose="020F0502020204030204"/>
                        </a:defRPr>
                      </a:lvl2pPr>
                      <a:lvl3pPr marL="685800" algn="l" defTabSz="685800" rtl="0" eaLnBrk="1" latinLnBrk="0" hangingPunct="1">
                        <a:defRPr sz="1350" b="1" kern="1200">
                          <a:solidFill>
                            <a:schemeClr val="dk1"/>
                          </a:solidFill>
                          <a:latin typeface="Calibri" panose="020F0502020204030204"/>
                        </a:defRPr>
                      </a:lvl3pPr>
                      <a:lvl4pPr marL="1028700" algn="l" defTabSz="685800" rtl="0" eaLnBrk="1" latinLnBrk="0" hangingPunct="1">
                        <a:defRPr sz="1350" b="1" kern="1200">
                          <a:solidFill>
                            <a:schemeClr val="dk1"/>
                          </a:solidFill>
                          <a:latin typeface="Calibri" panose="020F0502020204030204"/>
                        </a:defRPr>
                      </a:lvl4pPr>
                      <a:lvl5pPr marL="1371600" algn="l" defTabSz="685800" rtl="0" eaLnBrk="1" latinLnBrk="0" hangingPunct="1">
                        <a:defRPr sz="1350" b="1" kern="1200">
                          <a:solidFill>
                            <a:schemeClr val="dk1"/>
                          </a:solidFill>
                          <a:latin typeface="Calibri" panose="020F0502020204030204"/>
                        </a:defRPr>
                      </a:lvl5pPr>
                      <a:lvl6pPr marL="1714500" algn="l" defTabSz="685800" rtl="0" eaLnBrk="1" latinLnBrk="0" hangingPunct="1">
                        <a:defRPr sz="1350" b="1" kern="1200">
                          <a:solidFill>
                            <a:schemeClr val="dk1"/>
                          </a:solidFill>
                          <a:latin typeface="Calibri" panose="020F0502020204030204"/>
                        </a:defRPr>
                      </a:lvl6pPr>
                      <a:lvl7pPr marL="2057400" algn="l" defTabSz="685800" rtl="0" eaLnBrk="1" latinLnBrk="0" hangingPunct="1">
                        <a:defRPr sz="1350" b="1" kern="1200">
                          <a:solidFill>
                            <a:schemeClr val="dk1"/>
                          </a:solidFill>
                          <a:latin typeface="Calibri" panose="020F0502020204030204"/>
                        </a:defRPr>
                      </a:lvl7pPr>
                      <a:lvl8pPr marL="2400300" algn="l" defTabSz="685800" rtl="0" eaLnBrk="1" latinLnBrk="0" hangingPunct="1">
                        <a:defRPr sz="1350" b="1" kern="1200">
                          <a:solidFill>
                            <a:schemeClr val="dk1"/>
                          </a:solidFill>
                          <a:latin typeface="Calibri" panose="020F0502020204030204"/>
                        </a:defRPr>
                      </a:lvl8pPr>
                      <a:lvl9pPr marL="2743200" algn="l" defTabSz="685800" rtl="0" eaLnBrk="1" latinLnBrk="0" hangingPunct="1">
                        <a:defRPr sz="1350" b="1" kern="1200">
                          <a:solidFill>
                            <a:schemeClr val="dk1"/>
                          </a:solidFill>
                          <a:latin typeface="Calibri" panose="020F0502020204030204"/>
                        </a:defRPr>
                      </a:lvl9pPr>
                    </a:lstStyle>
                    <a:p>
                      <a:pPr algn="ctr"/>
                      <a:r>
                        <a:rPr lang="en-US" altLang="zh-CN" sz="1200" dirty="0"/>
                        <a:t>2015</a:t>
                      </a:r>
                      <a:r>
                        <a:rPr lang="zh-CN" altLang="en-US" sz="1200" dirty="0"/>
                        <a:t>年</a:t>
                      </a:r>
                    </a:p>
                  </a:txBody>
                  <a:tcPr marL="82804" marR="82804" marT="41402" marB="41402"/>
                </a:tc>
                <a:tc>
                  <a:txBody>
                    <a:bodyPr/>
                    <a:lstStyle>
                      <a:lvl1pPr marL="0" algn="l" defTabSz="685800" rtl="0" eaLnBrk="1" latinLnBrk="0" hangingPunct="1">
                        <a:defRPr sz="1350" b="1" kern="1200">
                          <a:solidFill>
                            <a:schemeClr val="dk1"/>
                          </a:solidFill>
                          <a:latin typeface="Calibri" panose="020F0502020204030204"/>
                        </a:defRPr>
                      </a:lvl1pPr>
                      <a:lvl2pPr marL="342900" algn="l" defTabSz="685800" rtl="0" eaLnBrk="1" latinLnBrk="0" hangingPunct="1">
                        <a:defRPr sz="1350" b="1" kern="1200">
                          <a:solidFill>
                            <a:schemeClr val="dk1"/>
                          </a:solidFill>
                          <a:latin typeface="Calibri" panose="020F0502020204030204"/>
                        </a:defRPr>
                      </a:lvl2pPr>
                      <a:lvl3pPr marL="685800" algn="l" defTabSz="685800" rtl="0" eaLnBrk="1" latinLnBrk="0" hangingPunct="1">
                        <a:defRPr sz="1350" b="1" kern="1200">
                          <a:solidFill>
                            <a:schemeClr val="dk1"/>
                          </a:solidFill>
                          <a:latin typeface="Calibri" panose="020F0502020204030204"/>
                        </a:defRPr>
                      </a:lvl3pPr>
                      <a:lvl4pPr marL="1028700" algn="l" defTabSz="685800" rtl="0" eaLnBrk="1" latinLnBrk="0" hangingPunct="1">
                        <a:defRPr sz="1350" b="1" kern="1200">
                          <a:solidFill>
                            <a:schemeClr val="dk1"/>
                          </a:solidFill>
                          <a:latin typeface="Calibri" panose="020F0502020204030204"/>
                        </a:defRPr>
                      </a:lvl4pPr>
                      <a:lvl5pPr marL="1371600" algn="l" defTabSz="685800" rtl="0" eaLnBrk="1" latinLnBrk="0" hangingPunct="1">
                        <a:defRPr sz="1350" b="1" kern="1200">
                          <a:solidFill>
                            <a:schemeClr val="dk1"/>
                          </a:solidFill>
                          <a:latin typeface="Calibri" panose="020F0502020204030204"/>
                        </a:defRPr>
                      </a:lvl5pPr>
                      <a:lvl6pPr marL="1714500" algn="l" defTabSz="685800" rtl="0" eaLnBrk="1" latinLnBrk="0" hangingPunct="1">
                        <a:defRPr sz="1350" b="1" kern="1200">
                          <a:solidFill>
                            <a:schemeClr val="dk1"/>
                          </a:solidFill>
                          <a:latin typeface="Calibri" panose="020F0502020204030204"/>
                        </a:defRPr>
                      </a:lvl6pPr>
                      <a:lvl7pPr marL="2057400" algn="l" defTabSz="685800" rtl="0" eaLnBrk="1" latinLnBrk="0" hangingPunct="1">
                        <a:defRPr sz="1350" b="1" kern="1200">
                          <a:solidFill>
                            <a:schemeClr val="dk1"/>
                          </a:solidFill>
                          <a:latin typeface="Calibri" panose="020F0502020204030204"/>
                        </a:defRPr>
                      </a:lvl7pPr>
                      <a:lvl8pPr marL="2400300" algn="l" defTabSz="685800" rtl="0" eaLnBrk="1" latinLnBrk="0" hangingPunct="1">
                        <a:defRPr sz="1350" b="1" kern="1200">
                          <a:solidFill>
                            <a:schemeClr val="dk1"/>
                          </a:solidFill>
                          <a:latin typeface="Calibri" panose="020F0502020204030204"/>
                        </a:defRPr>
                      </a:lvl8pPr>
                      <a:lvl9pPr marL="2743200" algn="l" defTabSz="685800" rtl="0" eaLnBrk="1" latinLnBrk="0" hangingPunct="1">
                        <a:defRPr sz="1350" b="1" kern="1200">
                          <a:solidFill>
                            <a:schemeClr val="dk1"/>
                          </a:solidFill>
                          <a:latin typeface="Calibri" panose="020F0502020204030204"/>
                        </a:defRPr>
                      </a:lvl9pPr>
                    </a:lstStyle>
                    <a:p>
                      <a:pPr algn="ctr"/>
                      <a:r>
                        <a:rPr lang="en-US" altLang="zh-CN" sz="1200" dirty="0"/>
                        <a:t>2016</a:t>
                      </a:r>
                      <a:r>
                        <a:rPr lang="zh-CN" altLang="en-US" sz="1200" dirty="0"/>
                        <a:t>年</a:t>
                      </a:r>
                    </a:p>
                  </a:txBody>
                  <a:tcPr marL="82804" marR="82804" marT="41402" marB="41402"/>
                </a:tc>
                <a:tc>
                  <a:txBody>
                    <a:bodyPr/>
                    <a:lstStyle>
                      <a:lvl1pPr marL="0" algn="l" defTabSz="685800" rtl="0" eaLnBrk="1" latinLnBrk="0" hangingPunct="1">
                        <a:defRPr sz="1350" b="1" kern="1200">
                          <a:solidFill>
                            <a:schemeClr val="dk1"/>
                          </a:solidFill>
                          <a:latin typeface="Calibri" panose="020F0502020204030204"/>
                        </a:defRPr>
                      </a:lvl1pPr>
                      <a:lvl2pPr marL="342900" algn="l" defTabSz="685800" rtl="0" eaLnBrk="1" latinLnBrk="0" hangingPunct="1">
                        <a:defRPr sz="1350" b="1" kern="1200">
                          <a:solidFill>
                            <a:schemeClr val="dk1"/>
                          </a:solidFill>
                          <a:latin typeface="Calibri" panose="020F0502020204030204"/>
                        </a:defRPr>
                      </a:lvl2pPr>
                      <a:lvl3pPr marL="685800" algn="l" defTabSz="685800" rtl="0" eaLnBrk="1" latinLnBrk="0" hangingPunct="1">
                        <a:defRPr sz="1350" b="1" kern="1200">
                          <a:solidFill>
                            <a:schemeClr val="dk1"/>
                          </a:solidFill>
                          <a:latin typeface="Calibri" panose="020F0502020204030204"/>
                        </a:defRPr>
                      </a:lvl3pPr>
                      <a:lvl4pPr marL="1028700" algn="l" defTabSz="685800" rtl="0" eaLnBrk="1" latinLnBrk="0" hangingPunct="1">
                        <a:defRPr sz="1350" b="1" kern="1200">
                          <a:solidFill>
                            <a:schemeClr val="dk1"/>
                          </a:solidFill>
                          <a:latin typeface="Calibri" panose="020F0502020204030204"/>
                        </a:defRPr>
                      </a:lvl4pPr>
                      <a:lvl5pPr marL="1371600" algn="l" defTabSz="685800" rtl="0" eaLnBrk="1" latinLnBrk="0" hangingPunct="1">
                        <a:defRPr sz="1350" b="1" kern="1200">
                          <a:solidFill>
                            <a:schemeClr val="dk1"/>
                          </a:solidFill>
                          <a:latin typeface="Calibri" panose="020F0502020204030204"/>
                        </a:defRPr>
                      </a:lvl5pPr>
                      <a:lvl6pPr marL="1714500" algn="l" defTabSz="685800" rtl="0" eaLnBrk="1" latinLnBrk="0" hangingPunct="1">
                        <a:defRPr sz="1350" b="1" kern="1200">
                          <a:solidFill>
                            <a:schemeClr val="dk1"/>
                          </a:solidFill>
                          <a:latin typeface="Calibri" panose="020F0502020204030204"/>
                        </a:defRPr>
                      </a:lvl6pPr>
                      <a:lvl7pPr marL="2057400" algn="l" defTabSz="685800" rtl="0" eaLnBrk="1" latinLnBrk="0" hangingPunct="1">
                        <a:defRPr sz="1350" b="1" kern="1200">
                          <a:solidFill>
                            <a:schemeClr val="dk1"/>
                          </a:solidFill>
                          <a:latin typeface="Calibri" panose="020F0502020204030204"/>
                        </a:defRPr>
                      </a:lvl7pPr>
                      <a:lvl8pPr marL="2400300" algn="l" defTabSz="685800" rtl="0" eaLnBrk="1" latinLnBrk="0" hangingPunct="1">
                        <a:defRPr sz="1350" b="1" kern="1200">
                          <a:solidFill>
                            <a:schemeClr val="dk1"/>
                          </a:solidFill>
                          <a:latin typeface="Calibri" panose="020F0502020204030204"/>
                        </a:defRPr>
                      </a:lvl8pPr>
                      <a:lvl9pPr marL="2743200" algn="l" defTabSz="685800" rtl="0" eaLnBrk="1" latinLnBrk="0" hangingPunct="1">
                        <a:defRPr sz="1350" b="1" kern="1200">
                          <a:solidFill>
                            <a:schemeClr val="dk1"/>
                          </a:solidFill>
                          <a:latin typeface="Calibri" panose="020F0502020204030204"/>
                        </a:defRPr>
                      </a:lvl9pPr>
                    </a:lstStyle>
                    <a:p>
                      <a:pPr algn="ctr"/>
                      <a:r>
                        <a:rPr lang="en-US" altLang="zh-CN" sz="1200" dirty="0"/>
                        <a:t>2017</a:t>
                      </a:r>
                      <a:r>
                        <a:rPr lang="zh-CN" altLang="en-US" sz="1200" dirty="0"/>
                        <a:t>年</a:t>
                      </a:r>
                    </a:p>
                  </a:txBody>
                  <a:tcPr marL="82804" marR="82804" marT="41402" marB="41402"/>
                </a:tc>
              </a:tr>
              <a:tr h="255623">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marL="0" algn="ctr" defTabSz="914400" rtl="0" eaLnBrk="1" latinLnBrk="0" hangingPunct="1"/>
                      <a:r>
                        <a:rPr lang="zh-CN" altLang="en-US" sz="1000" kern="1200" dirty="0"/>
                        <a:t> 实收资本</a:t>
                      </a:r>
                      <a:endParaRPr lang="zh-CN" altLang="en-US" sz="1000" kern="1200" dirty="0">
                        <a:solidFill>
                          <a:schemeClr val="dk1"/>
                        </a:solidFill>
                        <a:latin typeface="+mn-lt"/>
                        <a:ea typeface="+mn-ea"/>
                        <a:cs typeface="+mn-cs"/>
                      </a:endParaRPr>
                    </a:p>
                  </a:txBody>
                  <a:tcPr marL="82804" marR="82804" marT="41402" marB="41402"/>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0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r>
              <a:tr h="255623">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marL="0" algn="ctr" defTabSz="914400" rtl="0" eaLnBrk="1" latinLnBrk="0" hangingPunct="1"/>
                      <a:r>
                        <a:rPr lang="zh-CN" altLang="en-US" sz="1000" kern="1200" dirty="0"/>
                        <a:t> 资本公积</a:t>
                      </a:r>
                      <a:endParaRPr lang="zh-CN" altLang="en-US" sz="1000" kern="1200" dirty="0">
                        <a:solidFill>
                          <a:schemeClr val="dk1"/>
                        </a:solidFill>
                        <a:latin typeface="+mn-lt"/>
                        <a:ea typeface="+mn-ea"/>
                        <a:cs typeface="+mn-cs"/>
                      </a:endParaRPr>
                    </a:p>
                  </a:txBody>
                  <a:tcPr marL="82804" marR="82804" marT="41402" marB="41402"/>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0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r>
              <a:tr h="255623">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marL="0" algn="ctr" defTabSz="914400" rtl="0" eaLnBrk="1" latinLnBrk="0" hangingPunct="1"/>
                      <a:r>
                        <a:rPr lang="zh-CN" altLang="en-US" sz="1000" kern="1200" dirty="0"/>
                        <a:t> 盈余公积</a:t>
                      </a:r>
                      <a:endParaRPr lang="zh-CN" altLang="en-US" sz="1000" kern="1200" dirty="0">
                        <a:solidFill>
                          <a:schemeClr val="dk1"/>
                        </a:solidFill>
                        <a:latin typeface="+mn-lt"/>
                        <a:ea typeface="+mn-ea"/>
                        <a:cs typeface="+mn-cs"/>
                      </a:endParaRPr>
                    </a:p>
                  </a:txBody>
                  <a:tcPr marL="82804" marR="82804" marT="41402" marB="41402"/>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0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l" fontAlgn="ctr"/>
                      <a:endParaRPr lang="en-US" altLang="zh-CN" sz="1300" b="0" i="0" u="none" strike="noStrike" dirty="0">
                        <a:solidFill>
                          <a:srgbClr val="000000"/>
                        </a:solidFill>
                        <a:latin typeface="宋体" panose="02010600030101010101" pitchFamily="2" charset="-122"/>
                      </a:endParaRPr>
                    </a:p>
                  </a:txBody>
                  <a:tcPr marL="8625" marR="8625" marT="8625" marB="0" anchor="ctr"/>
                </a:tc>
              </a:tr>
              <a:tr h="255623">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marL="0" algn="ctr" defTabSz="914400" rtl="0" eaLnBrk="1" latinLnBrk="0" hangingPunct="1"/>
                      <a:r>
                        <a:rPr lang="zh-CN" altLang="en-US" sz="1000" kern="1200" dirty="0"/>
                        <a:t> 未分配利润</a:t>
                      </a:r>
                      <a:endParaRPr lang="zh-CN" altLang="en-US" sz="1000" kern="1200" dirty="0">
                        <a:solidFill>
                          <a:schemeClr val="dk1"/>
                        </a:solidFill>
                        <a:latin typeface="+mn-lt"/>
                        <a:ea typeface="+mn-ea"/>
                        <a:cs typeface="+mn-cs"/>
                      </a:endParaRPr>
                    </a:p>
                  </a:txBody>
                  <a:tcPr marL="82804" marR="82804" marT="41402" marB="41402"/>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0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fontAlgn="ctr"/>
                      <a:endParaRPr lang="en-US" altLang="zh-CN" sz="1300" b="0" i="0" u="none" strike="noStrike" dirty="0">
                        <a:solidFill>
                          <a:srgbClr val="000000"/>
                        </a:solidFill>
                        <a:latin typeface="宋体" panose="02010600030101010101" pitchFamily="2" charset="-122"/>
                      </a:endParaRPr>
                    </a:p>
                  </a:txBody>
                  <a:tcPr marL="8625" marR="8625" marT="8625" marB="0" anchor="ct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l" fontAlgn="ctr"/>
                      <a:endParaRPr lang="en-US" altLang="zh-CN" sz="1300" b="0" i="0" u="none" strike="noStrike" dirty="0">
                        <a:solidFill>
                          <a:srgbClr val="000000"/>
                        </a:solidFill>
                        <a:latin typeface="宋体" panose="02010600030101010101" pitchFamily="2" charset="-122"/>
                      </a:endParaRPr>
                    </a:p>
                  </a:txBody>
                  <a:tcPr marL="8625" marR="8625" marT="8625" marB="0" anchor="ctr"/>
                </a:tc>
              </a:tr>
              <a:tr h="255623">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algn="ctr"/>
                      <a:r>
                        <a:rPr lang="zh-CN" altLang="en-US" sz="1000" dirty="0"/>
                        <a:t>权益总额</a:t>
                      </a:r>
                    </a:p>
                  </a:txBody>
                  <a:tcPr marL="82804" marR="82804" marT="41402" marB="41402"/>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marL="0" algn="ctr" defTabSz="914400" rtl="0" eaLnBrk="1" fontAlgn="ctr" latinLnBrk="0" hangingPunct="1"/>
                      <a:endParaRPr lang="en-US" altLang="zh-CN" sz="1000" b="0" i="0" u="none" strike="noStrike" kern="1200" dirty="0">
                        <a:solidFill>
                          <a:srgbClr val="000000"/>
                        </a:solidFill>
                        <a:latin typeface="宋体" panose="02010600030101010101" pitchFamily="2" charset="-122"/>
                        <a:ea typeface="+mn-ea"/>
                        <a:cs typeface="+mn-cs"/>
                      </a:endParaRPr>
                    </a:p>
                  </a:txBody>
                  <a:tcPr marL="8625" marR="8625" marT="8625" marB="0"/>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marL="0" algn="ctr" defTabSz="914400" rtl="0" eaLnBrk="1" fontAlgn="ctr" latinLnBrk="0" hangingPunct="1"/>
                      <a:endParaRPr lang="en-US" altLang="zh-CN" sz="1300" b="0" i="0" u="none" strike="noStrike" kern="1200" dirty="0">
                        <a:solidFill>
                          <a:srgbClr val="000000"/>
                        </a:solidFill>
                        <a:latin typeface="宋体" panose="02010600030101010101" pitchFamily="2" charset="-122"/>
                        <a:ea typeface="+mn-ea"/>
                        <a:cs typeface="+mn-cs"/>
                      </a:endParaRPr>
                    </a:p>
                  </a:txBody>
                  <a:tcPr marL="8625" marR="8625" marT="8625" marB="0"/>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marL="0" algn="ctr" defTabSz="914400" rtl="0" eaLnBrk="1" fontAlgn="ctr" latinLnBrk="0" hangingPunct="1"/>
                      <a:endParaRPr lang="en-US" altLang="zh-CN" sz="1300" b="0" i="0" u="none" strike="noStrike" kern="1200" dirty="0">
                        <a:solidFill>
                          <a:srgbClr val="000000"/>
                        </a:solidFill>
                        <a:latin typeface="宋体" panose="02010600030101010101" pitchFamily="2" charset="-122"/>
                        <a:ea typeface="+mn-ea"/>
                        <a:cs typeface="+mn-cs"/>
                      </a:endParaRPr>
                    </a:p>
                  </a:txBody>
                  <a:tcPr marL="8625" marR="8625" marT="8625" marB="0"/>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pPr marL="0" algn="ctr" defTabSz="914400" rtl="0" eaLnBrk="1" fontAlgn="ctr" latinLnBrk="0" hangingPunct="1"/>
                      <a:endParaRPr lang="en-US" altLang="zh-CN" sz="1300" b="0" i="0" u="none" strike="noStrike" kern="1200" dirty="0">
                        <a:solidFill>
                          <a:srgbClr val="000000"/>
                        </a:solidFill>
                        <a:latin typeface="宋体" panose="02010600030101010101" pitchFamily="2" charset="-122"/>
                        <a:ea typeface="+mn-ea"/>
                        <a:cs typeface="+mn-cs"/>
                      </a:endParaRPr>
                    </a:p>
                  </a:txBody>
                  <a:tcPr marL="8625" marR="8625" marT="8625" marB="0"/>
                </a:tc>
              </a:tr>
            </a:tbl>
          </a:graphicData>
        </a:graphic>
      </p:graphicFrame>
      <p:sp>
        <p:nvSpPr>
          <p:cNvPr id="16" name="TextBox 4"/>
          <p:cNvSpPr txBox="1"/>
          <p:nvPr/>
        </p:nvSpPr>
        <p:spPr>
          <a:xfrm>
            <a:off x="622254" y="784575"/>
            <a:ext cx="4104456" cy="338554"/>
          </a:xfrm>
          <a:prstGeom prst="rect">
            <a:avLst/>
          </a:prstGeom>
          <a:noFill/>
        </p:spPr>
        <p:txBody>
          <a:bodyPr wrap="square" rtlCol="0">
            <a:spAutoFit/>
          </a:bodyPr>
          <a:lstStyle/>
          <a:p>
            <a:pPr defTabSz="914400"/>
            <a:r>
              <a:rPr lang="zh-CN" altLang="en-US" sz="1600" dirty="0">
                <a:solidFill>
                  <a:prstClr val="black"/>
                </a:solidFill>
                <a:latin typeface="+mn-ea"/>
              </a:rPr>
              <a:t>股东权益变动规模</a:t>
            </a:r>
          </a:p>
        </p:txBody>
      </p:sp>
      <p:sp>
        <p:nvSpPr>
          <p:cNvPr id="17" name="TextBox 7"/>
          <p:cNvSpPr txBox="1"/>
          <p:nvPr/>
        </p:nvSpPr>
        <p:spPr>
          <a:xfrm>
            <a:off x="7164288" y="980728"/>
            <a:ext cx="1296144" cy="261610"/>
          </a:xfrm>
          <a:prstGeom prst="rect">
            <a:avLst/>
          </a:prstGeom>
          <a:noFill/>
        </p:spPr>
        <p:txBody>
          <a:bodyPr wrap="square" rtlCol="0">
            <a:spAutoFit/>
          </a:bodyPr>
          <a:lstStyle/>
          <a:p>
            <a:pPr defTabSz="914400"/>
            <a:r>
              <a:rPr lang="zh-CN" altLang="en-US" sz="1100" b="1" dirty="0">
                <a:solidFill>
                  <a:prstClr val="black"/>
                </a:solidFill>
                <a:latin typeface="Calibri" panose="020F0502020204030204"/>
                <a:ea typeface="宋体" panose="02010600030101010101" pitchFamily="2" charset="-122"/>
              </a:rPr>
              <a:t>单位：万元</a:t>
            </a:r>
          </a:p>
        </p:txBody>
      </p:sp>
      <p:graphicFrame>
        <p:nvGraphicFramePr>
          <p:cNvPr id="18" name="图表 17"/>
          <p:cNvGraphicFramePr/>
          <p:nvPr/>
        </p:nvGraphicFramePr>
        <p:xfrm>
          <a:off x="688007" y="2857884"/>
          <a:ext cx="4427984" cy="2285616"/>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fill="hold"/>
                                        <p:tgtEl>
                                          <p:spTgt spid="18"/>
                                        </p:tgtEl>
                                        <p:attrNameLst>
                                          <p:attrName>ppt_x</p:attrName>
                                        </p:attrNameLst>
                                      </p:cBhvr>
                                      <p:tavLst>
                                        <p:tav tm="0">
                                          <p:val>
                                            <p:strVal val="#ppt_x"/>
                                          </p:val>
                                        </p:tav>
                                        <p:tav tm="100000">
                                          <p:val>
                                            <p:strVal val="#ppt_x"/>
                                          </p:val>
                                        </p:tav>
                                      </p:tavLst>
                                    </p:anim>
                                    <p:anim calcmode="lin" valueType="num">
                                      <p:cBhvr additive="base">
                                        <p:cTn id="19" dur="500" fill="hold"/>
                                        <p:tgtEl>
                                          <p:spTgt spid="18"/>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9" grpId="0"/>
      <p:bldGraphic spid="18"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808964" y="349641"/>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资产负债表</a:t>
            </a:r>
          </a:p>
        </p:txBody>
      </p:sp>
      <p:graphicFrame>
        <p:nvGraphicFramePr>
          <p:cNvPr id="10" name="表格 9"/>
          <p:cNvGraphicFramePr>
            <a:graphicFrameLocks noGrp="1"/>
          </p:cNvGraphicFramePr>
          <p:nvPr/>
        </p:nvGraphicFramePr>
        <p:xfrm>
          <a:off x="813816" y="793052"/>
          <a:ext cx="7735768" cy="2891151"/>
        </p:xfrm>
        <a:graphic>
          <a:graphicData uri="http://schemas.openxmlformats.org/drawingml/2006/table">
            <a:tbl>
              <a:tblPr firstRow="1" bandRow="1">
                <a:tableStyleId>{7DF18680-E054-41AD-8BC1-D1AEF772440D}</a:tableStyleId>
              </a:tblPr>
              <a:tblGrid>
                <a:gridCol w="1400441"/>
                <a:gridCol w="933627"/>
                <a:gridCol w="817541"/>
                <a:gridCol w="1002785"/>
                <a:gridCol w="1002785"/>
                <a:gridCol w="931157"/>
                <a:gridCol w="1647432"/>
              </a:tblGrid>
              <a:tr h="310705">
                <a:tc>
                  <a:txBody>
                    <a:bodyPr/>
                    <a:lstStyle/>
                    <a:p>
                      <a:pPr algn="ctr"/>
                      <a:r>
                        <a:rPr lang="zh-CN" altLang="en-US" sz="1700" kern="1200" baseline="0" dirty="0">
                          <a:solidFill>
                            <a:schemeClr val="bg1"/>
                          </a:solidFill>
                        </a:rPr>
                        <a:t>项目 	</a:t>
                      </a:r>
                      <a:endParaRPr lang="zh-CN" altLang="en-US" sz="1700" b="1" kern="1200" baseline="0" dirty="0">
                        <a:solidFill>
                          <a:schemeClr val="bg1"/>
                        </a:solidFill>
                        <a:latin typeface="+mn-lt"/>
                        <a:ea typeface="+mn-ea"/>
                        <a:cs typeface="+mn-cs"/>
                      </a:endParaRPr>
                    </a:p>
                  </a:txBody>
                  <a:tcPr marL="84684" marR="84684" marT="42342" marB="42342"/>
                </a:tc>
                <a:tc>
                  <a:txBody>
                    <a:bodyPr/>
                    <a:lstStyle/>
                    <a:p>
                      <a:pPr algn="ctr"/>
                      <a:r>
                        <a:rPr lang="en-US" altLang="zh-CN" sz="1300" dirty="0">
                          <a:solidFill>
                            <a:schemeClr val="bg1"/>
                          </a:solidFill>
                        </a:rPr>
                        <a:t>2014</a:t>
                      </a:r>
                      <a:r>
                        <a:rPr lang="zh-CN" altLang="en-US" sz="1300" dirty="0">
                          <a:solidFill>
                            <a:schemeClr val="bg1"/>
                          </a:solidFill>
                        </a:rPr>
                        <a:t>年</a:t>
                      </a:r>
                      <a:endParaRPr lang="zh-CN" altLang="en-US" sz="1300" b="1" dirty="0">
                        <a:solidFill>
                          <a:schemeClr val="bg1"/>
                        </a:solidFill>
                      </a:endParaRPr>
                    </a:p>
                  </a:txBody>
                  <a:tcPr marL="84684" marR="84684" marT="42342" marB="42342"/>
                </a:tc>
                <a:tc>
                  <a:txBody>
                    <a:bodyPr/>
                    <a:lstStyle/>
                    <a:p>
                      <a:pPr algn="ctr"/>
                      <a:r>
                        <a:rPr lang="en-US" altLang="zh-CN" sz="1300" dirty="0">
                          <a:solidFill>
                            <a:schemeClr val="bg1"/>
                          </a:solidFill>
                        </a:rPr>
                        <a:t>2015</a:t>
                      </a:r>
                      <a:r>
                        <a:rPr lang="zh-CN" altLang="en-US" sz="1300" dirty="0">
                          <a:solidFill>
                            <a:schemeClr val="bg1"/>
                          </a:solidFill>
                        </a:rPr>
                        <a:t>年</a:t>
                      </a:r>
                      <a:endParaRPr lang="zh-CN" altLang="en-US" sz="1300" b="1" dirty="0">
                        <a:solidFill>
                          <a:schemeClr val="bg1"/>
                        </a:solidFill>
                      </a:endParaRPr>
                    </a:p>
                  </a:txBody>
                  <a:tcPr marL="84684" marR="84684" marT="42342" marB="42342"/>
                </a:tc>
                <a:tc>
                  <a:txBody>
                    <a:bodyPr/>
                    <a:lstStyle/>
                    <a:p>
                      <a:pPr algn="ctr"/>
                      <a:r>
                        <a:rPr lang="en-US" altLang="zh-CN" sz="1300" dirty="0">
                          <a:solidFill>
                            <a:schemeClr val="bg1"/>
                          </a:solidFill>
                        </a:rPr>
                        <a:t>2016</a:t>
                      </a:r>
                      <a:r>
                        <a:rPr lang="zh-CN" altLang="en-US" sz="1300" dirty="0">
                          <a:solidFill>
                            <a:schemeClr val="bg1"/>
                          </a:solidFill>
                        </a:rPr>
                        <a:t>年</a:t>
                      </a:r>
                      <a:endParaRPr lang="zh-CN" altLang="en-US" sz="1300" b="1" dirty="0">
                        <a:solidFill>
                          <a:schemeClr val="bg1"/>
                        </a:solidFill>
                      </a:endParaRPr>
                    </a:p>
                  </a:txBody>
                  <a:tcPr marL="84684" marR="84684" marT="42342" marB="42342"/>
                </a:tc>
                <a:tc>
                  <a:txBody>
                    <a:bodyPr/>
                    <a:lstStyle/>
                    <a:p>
                      <a:pPr algn="ctr"/>
                      <a:r>
                        <a:rPr lang="en-US" altLang="zh-CN" sz="1300" dirty="0">
                          <a:solidFill>
                            <a:schemeClr val="bg1"/>
                          </a:solidFill>
                        </a:rPr>
                        <a:t>2017</a:t>
                      </a:r>
                      <a:r>
                        <a:rPr lang="zh-CN" altLang="en-US" sz="1300" dirty="0">
                          <a:solidFill>
                            <a:schemeClr val="bg1"/>
                          </a:solidFill>
                        </a:rPr>
                        <a:t>年</a:t>
                      </a:r>
                      <a:endParaRPr lang="zh-CN" altLang="en-US" sz="1300" b="1" dirty="0">
                        <a:solidFill>
                          <a:schemeClr val="bg1"/>
                        </a:solidFill>
                      </a:endParaRPr>
                    </a:p>
                  </a:txBody>
                  <a:tcPr marL="84684" marR="84684" marT="42342" marB="42342"/>
                </a:tc>
                <a:tc>
                  <a:txBody>
                    <a:bodyPr/>
                    <a:lstStyle/>
                    <a:p>
                      <a:pPr algn="ctr"/>
                      <a:r>
                        <a:rPr lang="zh-CN" altLang="en-US" sz="1300" dirty="0">
                          <a:solidFill>
                            <a:schemeClr val="bg1"/>
                          </a:solidFill>
                        </a:rPr>
                        <a:t>平均值</a:t>
                      </a:r>
                      <a:endParaRPr lang="zh-CN" altLang="en-US" sz="1300" b="1" dirty="0">
                        <a:solidFill>
                          <a:schemeClr val="bg1"/>
                        </a:solidFill>
                      </a:endParaRPr>
                    </a:p>
                  </a:txBody>
                  <a:tcPr marL="84684" marR="84684" marT="42342" marB="42342"/>
                </a:tc>
                <a:tc>
                  <a:txBody>
                    <a:bodyPr/>
                    <a:lstStyle/>
                    <a:p>
                      <a:pPr algn="ctr"/>
                      <a:r>
                        <a:rPr lang="zh-CN" altLang="en-US" sz="1300" dirty="0">
                          <a:solidFill>
                            <a:schemeClr val="bg1"/>
                          </a:solidFill>
                        </a:rPr>
                        <a:t>公式</a:t>
                      </a:r>
                      <a:endParaRPr lang="zh-CN" altLang="en-US" sz="1300" b="1" dirty="0">
                        <a:solidFill>
                          <a:schemeClr val="bg1"/>
                        </a:solidFill>
                      </a:endParaRPr>
                    </a:p>
                  </a:txBody>
                  <a:tcPr marL="84684" marR="84684" marT="42342" marB="42342"/>
                </a:tc>
              </a:tr>
              <a:tr h="352029">
                <a:tc>
                  <a:txBody>
                    <a:bodyPr/>
                    <a:lstStyle/>
                    <a:p>
                      <a:pPr marL="0" algn="ctr" defTabSz="685800" rtl="0" eaLnBrk="1" latinLnBrk="0" hangingPunct="1"/>
                      <a:r>
                        <a:rPr lang="zh-CN" altLang="en-US" sz="1000" kern="1200" dirty="0">
                          <a:solidFill>
                            <a:schemeClr val="dk1"/>
                          </a:solidFill>
                          <a:latin typeface="+mn-lt"/>
                          <a:ea typeface="+mn-ea"/>
                          <a:cs typeface="+mn-cs"/>
                        </a:rPr>
                        <a:t>资产收益率</a:t>
                      </a:r>
                    </a:p>
                  </a:txBody>
                  <a:tcPr marL="84684" marR="84684" marT="42342" marB="42342"/>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marL="0" algn="ctr" defTabSz="685800" rtl="0" eaLnBrk="1" latinLnBrk="0" hangingPunct="1"/>
                      <a:r>
                        <a:rPr lang="zh-CN" altLang="en-US" sz="1000" kern="1200" dirty="0">
                          <a:solidFill>
                            <a:schemeClr val="dk1"/>
                          </a:solidFill>
                          <a:latin typeface="+mn-lt"/>
                          <a:ea typeface="+mn-ea"/>
                          <a:cs typeface="+mn-cs"/>
                        </a:rPr>
                        <a:t>资产收益率</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净利润</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平均资产总额*</a:t>
                      </a:r>
                      <a:r>
                        <a:rPr lang="en-US" altLang="zh-CN" sz="1000" kern="1200" dirty="0">
                          <a:solidFill>
                            <a:schemeClr val="dk1"/>
                          </a:solidFill>
                          <a:latin typeface="+mn-lt"/>
                          <a:ea typeface="+mn-ea"/>
                          <a:cs typeface="+mn-cs"/>
                        </a:rPr>
                        <a:t>100% </a:t>
                      </a:r>
                      <a:endParaRPr lang="zh-CN" altLang="en-US" sz="1000" kern="1200" dirty="0">
                        <a:solidFill>
                          <a:schemeClr val="dk1"/>
                        </a:solidFill>
                        <a:latin typeface="+mn-lt"/>
                        <a:ea typeface="+mn-ea"/>
                        <a:cs typeface="+mn-cs"/>
                      </a:endParaRPr>
                    </a:p>
                  </a:txBody>
                  <a:tcPr marL="84684" marR="84684" marT="42342" marB="42342"/>
                </a:tc>
              </a:tr>
              <a:tr h="352029">
                <a:tc>
                  <a:txBody>
                    <a:bodyPr/>
                    <a:lstStyle/>
                    <a:p>
                      <a:pPr marL="0" algn="ctr" defTabSz="685800" rtl="0" eaLnBrk="1" latinLnBrk="0" hangingPunct="1"/>
                      <a:r>
                        <a:rPr lang="zh-CN" altLang="en-US" sz="1000" kern="1200" dirty="0">
                          <a:solidFill>
                            <a:schemeClr val="dk1"/>
                          </a:solidFill>
                          <a:latin typeface="+mn-lt"/>
                          <a:ea typeface="+mn-ea"/>
                          <a:cs typeface="+mn-cs"/>
                        </a:rPr>
                        <a:t>净资产收益率</a:t>
                      </a:r>
                    </a:p>
                  </a:txBody>
                  <a:tcPr marL="84684" marR="84684" marT="42342" marB="42342"/>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marL="0" algn="ctr" defTabSz="685800" rtl="0" eaLnBrk="1" latinLnBrk="0" hangingPunct="1"/>
                      <a:r>
                        <a:rPr lang="zh-CN" altLang="en-US" sz="1000" kern="1200" dirty="0">
                          <a:solidFill>
                            <a:schemeClr val="dk1"/>
                          </a:solidFill>
                          <a:latin typeface="+mn-lt"/>
                          <a:ea typeface="+mn-ea"/>
                          <a:cs typeface="+mn-cs"/>
                        </a:rPr>
                        <a:t>净资产收益率</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税后净利润</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净资产 *</a:t>
                      </a:r>
                      <a:r>
                        <a:rPr lang="en-US" altLang="zh-CN" sz="1000" kern="1200" dirty="0">
                          <a:solidFill>
                            <a:schemeClr val="dk1"/>
                          </a:solidFill>
                          <a:latin typeface="+mn-lt"/>
                          <a:ea typeface="+mn-ea"/>
                          <a:cs typeface="+mn-cs"/>
                        </a:rPr>
                        <a:t>100%</a:t>
                      </a:r>
                      <a:endParaRPr lang="zh-CN" altLang="en-US" sz="1000" kern="1200" dirty="0">
                        <a:solidFill>
                          <a:schemeClr val="dk1"/>
                        </a:solidFill>
                        <a:latin typeface="+mn-lt"/>
                        <a:ea typeface="+mn-ea"/>
                        <a:cs typeface="+mn-cs"/>
                      </a:endParaRPr>
                    </a:p>
                  </a:txBody>
                  <a:tcPr marL="84684" marR="84684" marT="42342" marB="42342"/>
                </a:tc>
              </a:tr>
              <a:tr h="459645">
                <a:tc>
                  <a:txBody>
                    <a:bodyPr/>
                    <a:lstStyle/>
                    <a:p>
                      <a:pPr marL="0" algn="ctr" defTabSz="685800" rtl="0" eaLnBrk="1" latinLnBrk="0" hangingPunct="1"/>
                      <a:r>
                        <a:rPr lang="zh-CN" altLang="en-US" sz="1000" kern="1200" dirty="0">
                          <a:solidFill>
                            <a:schemeClr val="dk1"/>
                          </a:solidFill>
                          <a:latin typeface="+mn-lt"/>
                          <a:ea typeface="+mn-ea"/>
                          <a:cs typeface="+mn-cs"/>
                        </a:rPr>
                        <a:t>总资产周转率</a:t>
                      </a:r>
                    </a:p>
                  </a:txBody>
                  <a:tcPr marL="84684" marR="84684" marT="42342" marB="42342"/>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000" kern="1200" dirty="0">
                          <a:solidFill>
                            <a:schemeClr val="dk1"/>
                          </a:solidFill>
                          <a:latin typeface="+mn-lt"/>
                          <a:ea typeface="+mn-ea"/>
                          <a:cs typeface="+mn-cs"/>
                        </a:rPr>
                        <a:t>总资产周转率</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营业收入净额</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平均资产总额*</a:t>
                      </a:r>
                      <a:r>
                        <a:rPr lang="en-US" altLang="zh-CN" sz="1000" kern="1200" dirty="0">
                          <a:solidFill>
                            <a:schemeClr val="dk1"/>
                          </a:solidFill>
                          <a:latin typeface="+mn-lt"/>
                          <a:ea typeface="+mn-ea"/>
                          <a:cs typeface="+mn-cs"/>
                        </a:rPr>
                        <a:t>100% </a:t>
                      </a:r>
                      <a:endParaRPr lang="zh-CN" altLang="en-US" sz="1000" kern="1200" dirty="0">
                        <a:solidFill>
                          <a:schemeClr val="dk1"/>
                        </a:solidFill>
                        <a:latin typeface="+mn-lt"/>
                        <a:ea typeface="+mn-ea"/>
                        <a:cs typeface="+mn-cs"/>
                      </a:endParaRPr>
                    </a:p>
                  </a:txBody>
                  <a:tcPr marL="84684" marR="84684" marT="42342" marB="42342"/>
                </a:tc>
              </a:tr>
              <a:tr h="459645">
                <a:tc>
                  <a:txBody>
                    <a:bodyPr/>
                    <a:lstStyle/>
                    <a:p>
                      <a:pPr marL="0" algn="ctr" defTabSz="685800" rtl="0" eaLnBrk="1" latinLnBrk="0" hangingPunct="1"/>
                      <a:r>
                        <a:rPr lang="zh-CN" altLang="en-US" sz="1000" kern="1200" dirty="0">
                          <a:solidFill>
                            <a:schemeClr val="dk1"/>
                          </a:solidFill>
                          <a:latin typeface="+mn-lt"/>
                          <a:ea typeface="+mn-ea"/>
                          <a:cs typeface="+mn-cs"/>
                        </a:rPr>
                        <a:t>应收账款周转率</a:t>
                      </a:r>
                    </a:p>
                  </a:txBody>
                  <a:tcPr marL="84684" marR="84684" marT="42342" marB="42342"/>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marL="0" algn="ctr" defTabSz="685800" rtl="0" eaLnBrk="1" latinLnBrk="0" hangingPunct="1"/>
                      <a:r>
                        <a:rPr lang="zh-CN" altLang="en-US" sz="1000" kern="1200" dirty="0">
                          <a:solidFill>
                            <a:schemeClr val="dk1"/>
                          </a:solidFill>
                          <a:latin typeface="+mn-lt"/>
                          <a:ea typeface="+mn-ea"/>
                          <a:cs typeface="+mn-cs"/>
                        </a:rPr>
                        <a:t>应收账款周转率</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销售收入</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平均应收账款</a:t>
                      </a:r>
                      <a:r>
                        <a:rPr lang="en-US" altLang="zh-CN" sz="1000" kern="1200" dirty="0">
                          <a:solidFill>
                            <a:schemeClr val="dk1"/>
                          </a:solidFill>
                          <a:latin typeface="+mn-lt"/>
                          <a:ea typeface="+mn-ea"/>
                          <a:cs typeface="+mn-cs"/>
                        </a:rPr>
                        <a:t>*100%</a:t>
                      </a:r>
                      <a:endParaRPr lang="zh-CN" altLang="en-US" sz="1000" kern="1200" dirty="0">
                        <a:solidFill>
                          <a:schemeClr val="dk1"/>
                        </a:solidFill>
                        <a:latin typeface="+mn-lt"/>
                        <a:ea typeface="+mn-ea"/>
                        <a:cs typeface="+mn-cs"/>
                      </a:endParaRPr>
                    </a:p>
                  </a:txBody>
                  <a:tcPr marL="84684" marR="84684" marT="42342" marB="42342"/>
                </a:tc>
              </a:tr>
              <a:tr h="459645">
                <a:tc>
                  <a:txBody>
                    <a:bodyPr/>
                    <a:lstStyle/>
                    <a:p>
                      <a:pPr marL="0" algn="ctr" defTabSz="685800" rtl="0" eaLnBrk="1" latinLnBrk="0" hangingPunct="1"/>
                      <a:r>
                        <a:rPr lang="zh-CN" altLang="en-US" sz="1000" kern="1200" dirty="0">
                          <a:solidFill>
                            <a:schemeClr val="dk1"/>
                          </a:solidFill>
                          <a:latin typeface="+mn-lt"/>
                          <a:ea typeface="+mn-ea"/>
                          <a:cs typeface="+mn-cs"/>
                        </a:rPr>
                        <a:t>存货周转率</a:t>
                      </a:r>
                    </a:p>
                  </a:txBody>
                  <a:tcPr marL="84684" marR="84684" marT="42342" marB="42342"/>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marL="0" algn="ctr" defTabSz="685800" rtl="0" eaLnBrk="1" latinLnBrk="0" hangingPunct="1"/>
                      <a:r>
                        <a:rPr lang="zh-CN" altLang="en-US" sz="1000" kern="1200" dirty="0">
                          <a:solidFill>
                            <a:schemeClr val="dk1"/>
                          </a:solidFill>
                          <a:latin typeface="+mn-lt"/>
                          <a:ea typeface="+mn-ea"/>
                          <a:cs typeface="+mn-cs"/>
                        </a:rPr>
                        <a:t>存货周转率（次）＝销售（营业）成本</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平均存货 </a:t>
                      </a:r>
                    </a:p>
                  </a:txBody>
                  <a:tcPr marL="84684" marR="84684" marT="42342" marB="42342"/>
                </a:tc>
              </a:tr>
              <a:tr h="352029">
                <a:tc>
                  <a:txBody>
                    <a:bodyPr/>
                    <a:lstStyle/>
                    <a:p>
                      <a:pPr marL="0" algn="ctr" defTabSz="685800" rtl="0" eaLnBrk="1" latinLnBrk="0" hangingPunct="1"/>
                      <a:r>
                        <a:rPr lang="zh-CN" altLang="en-US" sz="1000" kern="1200" dirty="0">
                          <a:solidFill>
                            <a:schemeClr val="dk1"/>
                          </a:solidFill>
                          <a:latin typeface="+mn-lt"/>
                          <a:ea typeface="+mn-ea"/>
                          <a:cs typeface="+mn-cs"/>
                        </a:rPr>
                        <a:t>资产负债率</a:t>
                      </a:r>
                    </a:p>
                  </a:txBody>
                  <a:tcPr marL="84684" marR="84684" marT="42342" marB="42342"/>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algn="ctr" fontAlgn="ctr"/>
                      <a:endParaRPr lang="en-US" altLang="zh-CN" sz="1000" b="0" i="0" u="none" strike="noStrike" dirty="0">
                        <a:solidFill>
                          <a:schemeClr val="bg1"/>
                        </a:solidFill>
                        <a:latin typeface="宋体" panose="02010600030101010101" pitchFamily="2" charset="-122"/>
                      </a:endParaRPr>
                    </a:p>
                  </a:txBody>
                  <a:tcPr marL="8821" marR="8821" marT="8821" marB="0" anchor="ctr"/>
                </a:tc>
                <a:tc>
                  <a:txBody>
                    <a:bodyPr/>
                    <a:lstStyle/>
                    <a:p>
                      <a:pPr marL="0" algn="ctr" defTabSz="685800" rtl="0" eaLnBrk="1" latinLnBrk="0" hangingPunct="1"/>
                      <a:r>
                        <a:rPr lang="zh-CN" altLang="en-US" sz="1000" kern="1200" dirty="0">
                          <a:solidFill>
                            <a:schemeClr val="dk1"/>
                          </a:solidFill>
                          <a:latin typeface="+mn-lt"/>
                          <a:ea typeface="+mn-ea"/>
                          <a:cs typeface="+mn-cs"/>
                        </a:rPr>
                        <a:t>资产负债率</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负债总额</a:t>
                      </a:r>
                      <a:r>
                        <a:rPr lang="en-US" altLang="zh-CN" sz="1000" kern="1200" dirty="0">
                          <a:solidFill>
                            <a:schemeClr val="dk1"/>
                          </a:solidFill>
                          <a:latin typeface="+mn-lt"/>
                          <a:ea typeface="+mn-ea"/>
                          <a:cs typeface="+mn-cs"/>
                        </a:rPr>
                        <a:t>/</a:t>
                      </a:r>
                      <a:r>
                        <a:rPr lang="zh-CN" altLang="en-US" sz="1000" kern="1200" dirty="0">
                          <a:solidFill>
                            <a:schemeClr val="dk1"/>
                          </a:solidFill>
                          <a:latin typeface="+mn-lt"/>
                          <a:ea typeface="+mn-ea"/>
                          <a:cs typeface="+mn-cs"/>
                        </a:rPr>
                        <a:t>资产总额</a:t>
                      </a:r>
                      <a:r>
                        <a:rPr lang="en-US" altLang="zh-CN" sz="1000" kern="1200" dirty="0">
                          <a:solidFill>
                            <a:schemeClr val="dk1"/>
                          </a:solidFill>
                          <a:latin typeface="+mn-lt"/>
                          <a:ea typeface="+mn-ea"/>
                          <a:cs typeface="+mn-cs"/>
                        </a:rPr>
                        <a:t>×100%</a:t>
                      </a:r>
                      <a:endParaRPr lang="zh-CN" altLang="en-US" sz="1000" kern="1200" dirty="0">
                        <a:solidFill>
                          <a:schemeClr val="dk1"/>
                        </a:solidFill>
                        <a:latin typeface="+mn-lt"/>
                        <a:ea typeface="+mn-ea"/>
                        <a:cs typeface="+mn-cs"/>
                      </a:endParaRPr>
                    </a:p>
                  </a:txBody>
                  <a:tcPr marL="84684" marR="84684" marT="42342" marB="42342"/>
                </a:tc>
              </a:tr>
            </a:tbl>
          </a:graphicData>
        </a:graphic>
      </p:graphicFrame>
      <p:sp>
        <p:nvSpPr>
          <p:cNvPr id="11" name="TextBox 8"/>
          <p:cNvSpPr txBox="1"/>
          <p:nvPr/>
        </p:nvSpPr>
        <p:spPr>
          <a:xfrm>
            <a:off x="877824" y="3877536"/>
            <a:ext cx="7671760" cy="526811"/>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分析：资产收益率和净资产收益率从</a:t>
            </a:r>
            <a:r>
              <a:rPr lang="en-US" altLang="zh-CN" sz="1000" dirty="0">
                <a:latin typeface="+mn-ea"/>
                <a:cs typeface="+mn-ea"/>
                <a:sym typeface="+mn-lt"/>
              </a:rPr>
              <a:t>2014</a:t>
            </a:r>
            <a:r>
              <a:rPr lang="zh-CN" altLang="en-US" sz="1000" dirty="0">
                <a:latin typeface="+mn-ea"/>
                <a:cs typeface="+mn-ea"/>
                <a:sym typeface="+mn-lt"/>
              </a:rPr>
              <a:t>年到</a:t>
            </a:r>
            <a:r>
              <a:rPr lang="en-US" altLang="zh-CN" sz="1000" dirty="0">
                <a:latin typeface="+mn-ea"/>
                <a:cs typeface="+mn-ea"/>
                <a:sym typeface="+mn-lt"/>
              </a:rPr>
              <a:t>2017</a:t>
            </a:r>
            <a:r>
              <a:rPr lang="zh-CN" altLang="en-US" sz="1000" dirty="0">
                <a:latin typeface="+mn-ea"/>
                <a:cs typeface="+mn-ea"/>
                <a:sym typeface="+mn-lt"/>
              </a:rPr>
              <a:t>年上半年处于的趋势；总资产周转率、应收账款周转率、存货周转率，资金和存货；资产负债率方面，稳定保持在左右。</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rot="21032569">
            <a:off x="-722140" y="2022662"/>
            <a:ext cx="10299093" cy="2638018"/>
          </a:xfrm>
          <a:prstGeom prst="rect">
            <a:avLst/>
          </a:prstGeom>
          <a:solidFill>
            <a:srgbClr val="2C9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2"/>
          <p:cNvSpPr/>
          <p:nvPr/>
        </p:nvSpPr>
        <p:spPr>
          <a:xfrm>
            <a:off x="4761166" y="2591260"/>
            <a:ext cx="4014240" cy="584775"/>
          </a:xfrm>
          <a:prstGeom prst="rect">
            <a:avLst/>
          </a:prstGeom>
        </p:spPr>
        <p:txBody>
          <a:bodyPr wrap="none">
            <a:spAutoFit/>
          </a:bodyPr>
          <a:lstStyle/>
          <a:p>
            <a:r>
              <a:rPr lang="zh-CN" altLang="en-US" sz="3200" b="1" dirty="0">
                <a:solidFill>
                  <a:schemeClr val="bg1"/>
                </a:solidFill>
                <a:cs typeface="+mn-ea"/>
                <a:sym typeface="+mn-lt"/>
              </a:rPr>
              <a:t>三大报表分析</a:t>
            </a:r>
            <a:r>
              <a:rPr lang="en-US" altLang="zh-CN" sz="3200" b="1" dirty="0">
                <a:solidFill>
                  <a:schemeClr val="bg1"/>
                </a:solidFill>
                <a:cs typeface="+mn-ea"/>
                <a:sym typeface="+mn-lt"/>
              </a:rPr>
              <a:t>-</a:t>
            </a:r>
            <a:r>
              <a:rPr lang="zh-CN" altLang="en-US" sz="3200" b="1" dirty="0">
                <a:solidFill>
                  <a:schemeClr val="bg1"/>
                </a:solidFill>
                <a:cs typeface="+mn-ea"/>
                <a:sym typeface="+mn-lt"/>
              </a:rPr>
              <a:t>利润表</a:t>
            </a:r>
          </a:p>
        </p:txBody>
      </p:sp>
      <p:grpSp>
        <p:nvGrpSpPr>
          <p:cNvPr id="2" name="组合 1"/>
          <p:cNvGrpSpPr/>
          <p:nvPr/>
        </p:nvGrpSpPr>
        <p:grpSpPr>
          <a:xfrm>
            <a:off x="-663549" y="367479"/>
            <a:ext cx="5320256" cy="5320256"/>
            <a:chOff x="-663549" y="367479"/>
            <a:chExt cx="5320256" cy="5320256"/>
          </a:xfrm>
        </p:grpSpPr>
        <p:sp>
          <p:nvSpPr>
            <p:cNvPr id="24" name="Oval 9"/>
            <p:cNvSpPr>
              <a:spLocks noChangeArrowheads="1"/>
            </p:cNvSpPr>
            <p:nvPr/>
          </p:nvSpPr>
          <p:spPr bwMode="auto">
            <a:xfrm>
              <a:off x="0" y="1162000"/>
              <a:ext cx="3927496" cy="3927496"/>
            </a:xfrm>
            <a:prstGeom prst="ellipse">
              <a:avLst/>
            </a:prstGeom>
            <a:solidFill>
              <a:srgbClr val="00B0F0">
                <a:alpha val="51000"/>
              </a:srgbClr>
            </a:solidFill>
            <a:ln>
              <a:noFill/>
            </a:ln>
            <a:effectLst/>
          </p:spPr>
          <p:txBody>
            <a:bodyPr wrap="none" anchor="ctr"/>
            <a:lstStyle/>
            <a:p>
              <a:endParaRPr lang="zh-CN" altLang="en-US" dirty="0">
                <a:cs typeface="+mn-ea"/>
                <a:sym typeface="+mn-lt"/>
              </a:endParaRPr>
            </a:p>
          </p:txBody>
        </p:sp>
        <p:sp>
          <p:nvSpPr>
            <p:cNvPr id="25" name="椭圆 24"/>
            <p:cNvSpPr/>
            <p:nvPr/>
          </p:nvSpPr>
          <p:spPr>
            <a:xfrm>
              <a:off x="-663549" y="367479"/>
              <a:ext cx="5320256" cy="5320256"/>
            </a:xfrm>
            <a:prstGeom prst="ellipse">
              <a:avLst/>
            </a:prstGeom>
            <a:noFill/>
            <a:ln>
              <a:solidFill>
                <a:srgbClr val="0070C0">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椭圆 27"/>
            <p:cNvSpPr/>
            <p:nvPr/>
          </p:nvSpPr>
          <p:spPr>
            <a:xfrm>
              <a:off x="458726" y="1638181"/>
              <a:ext cx="3075709" cy="3075709"/>
            </a:xfrm>
            <a:prstGeom prst="ellipse">
              <a:avLst/>
            </a:prstGeom>
            <a:solidFill>
              <a:srgbClr val="0070C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9" name="椭圆 28"/>
          <p:cNvSpPr/>
          <p:nvPr/>
        </p:nvSpPr>
        <p:spPr>
          <a:xfrm>
            <a:off x="1361249" y="2534232"/>
            <a:ext cx="1270660" cy="127066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6" name="图片 5"/>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285030" y="1795243"/>
            <a:ext cx="4072807" cy="349158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childTnLst>
                          </p:cTn>
                        </p:par>
                        <p:par>
                          <p:cTn id="12" fill="hold">
                            <p:stCondLst>
                              <p:cond delay="0"/>
                            </p:stCondLst>
                            <p:childTnLst>
                              <p:par>
                                <p:cTn id="13" presetID="42"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818108" y="367929"/>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资产利润表</a:t>
            </a:r>
          </a:p>
        </p:txBody>
      </p:sp>
      <p:graphicFrame>
        <p:nvGraphicFramePr>
          <p:cNvPr id="6" name="内容占位符 3"/>
          <p:cNvGraphicFramePr/>
          <p:nvPr/>
        </p:nvGraphicFramePr>
        <p:xfrm>
          <a:off x="668141" y="927547"/>
          <a:ext cx="7807720" cy="2049780"/>
        </p:xfrm>
        <a:graphic>
          <a:graphicData uri="http://schemas.openxmlformats.org/drawingml/2006/table">
            <a:tbl>
              <a:tblPr firstRow="1" bandRow="1">
                <a:tableStyleId>{7DF18680-E054-41AD-8BC1-D1AEF772440D}</a:tableStyleId>
              </a:tblPr>
              <a:tblGrid>
                <a:gridCol w="1561544"/>
                <a:gridCol w="1561544"/>
                <a:gridCol w="1561544"/>
                <a:gridCol w="1561544"/>
                <a:gridCol w="1561544"/>
              </a:tblGrid>
              <a:tr h="239354">
                <a:tc>
                  <a:txBody>
                    <a:bodyPr/>
                    <a:lstStyle/>
                    <a:p>
                      <a:pPr algn="ctr"/>
                      <a:r>
                        <a:rPr lang="zh-CN" altLang="en-US" sz="1000" dirty="0"/>
                        <a:t>明细</a:t>
                      </a:r>
                    </a:p>
                  </a:txBody>
                  <a:tcPr/>
                </a:tc>
                <a:tc>
                  <a:txBody>
                    <a:bodyPr/>
                    <a:lstStyle/>
                    <a:p>
                      <a:pPr algn="ctr"/>
                      <a:r>
                        <a:rPr lang="en-US" altLang="zh-CN" sz="1000" dirty="0"/>
                        <a:t>2014</a:t>
                      </a:r>
                      <a:r>
                        <a:rPr lang="zh-CN" altLang="en-US" sz="1000" dirty="0"/>
                        <a:t>年</a:t>
                      </a:r>
                      <a:endParaRPr lang="zh-CN" altLang="en-US" sz="1000" dirty="0">
                        <a:latin typeface="楷体" panose="02010609060101010101" pitchFamily="49" charset="-122"/>
                        <a:ea typeface="楷体" panose="02010609060101010101" pitchFamily="49" charset="-122"/>
                      </a:endParaRPr>
                    </a:p>
                  </a:txBody>
                  <a:tcPr/>
                </a:tc>
                <a:tc>
                  <a:txBody>
                    <a:bodyPr/>
                    <a:lstStyle/>
                    <a:p>
                      <a:pPr algn="ctr"/>
                      <a:r>
                        <a:rPr lang="en-US" altLang="zh-CN" sz="1000" dirty="0"/>
                        <a:t>2015</a:t>
                      </a:r>
                      <a:r>
                        <a:rPr lang="zh-CN" altLang="en-US" sz="1000" dirty="0"/>
                        <a:t>年</a:t>
                      </a:r>
                      <a:endParaRPr lang="zh-CN" altLang="en-US" sz="1000" dirty="0">
                        <a:latin typeface="楷体" panose="02010609060101010101" pitchFamily="49" charset="-122"/>
                        <a:ea typeface="楷体" panose="02010609060101010101" pitchFamily="49" charset="-122"/>
                      </a:endParaRPr>
                    </a:p>
                  </a:txBody>
                  <a:tcPr/>
                </a:tc>
                <a:tc>
                  <a:txBody>
                    <a:bodyPr/>
                    <a:lstStyle/>
                    <a:p>
                      <a:pPr algn="ctr"/>
                      <a:r>
                        <a:rPr lang="en-US" altLang="zh-CN" sz="1000" dirty="0"/>
                        <a:t>2016</a:t>
                      </a:r>
                      <a:r>
                        <a:rPr lang="zh-CN" altLang="en-US" sz="1000" dirty="0"/>
                        <a:t>年</a:t>
                      </a:r>
                      <a:endParaRPr lang="zh-CN" altLang="en-US" sz="1000" dirty="0">
                        <a:latin typeface="楷体" panose="02010609060101010101" pitchFamily="49" charset="-122"/>
                        <a:ea typeface="楷体" panose="02010609060101010101" pitchFamily="49" charset="-122"/>
                      </a:endParaRPr>
                    </a:p>
                  </a:txBody>
                  <a:tcPr/>
                </a:tc>
                <a:tc>
                  <a:txBody>
                    <a:bodyPr/>
                    <a:lstStyle/>
                    <a:p>
                      <a:pPr algn="ctr"/>
                      <a:r>
                        <a:rPr lang="en-US" altLang="zh-CN" sz="1000" dirty="0"/>
                        <a:t>2017</a:t>
                      </a:r>
                      <a:r>
                        <a:rPr lang="zh-CN" altLang="en-US" sz="1000" dirty="0"/>
                        <a:t>年</a:t>
                      </a:r>
                      <a:endParaRPr lang="zh-CN" altLang="en-US" sz="1000" dirty="0">
                        <a:latin typeface="楷体" panose="02010609060101010101" pitchFamily="49" charset="-122"/>
                        <a:ea typeface="楷体" panose="02010609060101010101" pitchFamily="49" charset="-122"/>
                      </a:endParaRPr>
                    </a:p>
                  </a:txBody>
                  <a:tcPr/>
                </a:tc>
              </a:tr>
              <a:tr h="239354">
                <a:tc>
                  <a:txBody>
                    <a:bodyPr/>
                    <a:lstStyle/>
                    <a:p>
                      <a:pPr algn="ctr"/>
                      <a:r>
                        <a:rPr lang="zh-CN" altLang="en-US" sz="1050" dirty="0"/>
                        <a:t>营业收入</a:t>
                      </a:r>
                      <a:endParaRPr lang="zh-CN" altLang="en-US" sz="1050" b="1" dirty="0">
                        <a:latin typeface="楷体" panose="02010609060101010101" pitchFamily="49" charset="-122"/>
                        <a:ea typeface="楷体" panose="02010609060101010101" pitchFamily="49" charset="-122"/>
                      </a:endParaRPr>
                    </a:p>
                  </a:txBody>
                  <a:tcPr/>
                </a:tc>
                <a:tc>
                  <a:txBody>
                    <a:bodyPr/>
                    <a:lstStyle/>
                    <a:p>
                      <a:endParaRPr lang="zh-CN" altLang="en-US" dirty="0"/>
                    </a:p>
                  </a:txBody>
                  <a:tcPr marL="9525" marR="9525" marT="9525" marB="0" anchor="ctr"/>
                </a:tc>
                <a:tc>
                  <a:txBody>
                    <a:bodyPr/>
                    <a:lstStyle/>
                    <a:p>
                      <a:endParaRPr lang="zh-CN" altLang="en-US" dirty="0"/>
                    </a:p>
                  </a:txBody>
                  <a:tcPr marL="9525" marR="9525" marT="9525" marB="0" anchor="ctr"/>
                </a:tc>
                <a:tc>
                  <a:txBody>
                    <a:bodyPr/>
                    <a:lstStyle/>
                    <a:p>
                      <a:endParaRPr lang="zh-CN" altLang="en-US"/>
                    </a:p>
                  </a:txBody>
                  <a:tcPr marL="9525" marR="9525" marT="9525" marB="0" anchor="ctr"/>
                </a:tc>
                <a:tc>
                  <a:txBody>
                    <a:bodyPr/>
                    <a:lstStyle/>
                    <a:p>
                      <a:endParaRPr lang="zh-CN" altLang="en-US"/>
                    </a:p>
                  </a:txBody>
                  <a:tcPr marL="9525" marR="9525" marT="9525" marB="0" anchor="ctr"/>
                </a:tc>
              </a:tr>
              <a:tr h="239354">
                <a:tc>
                  <a:txBody>
                    <a:bodyPr/>
                    <a:lstStyle/>
                    <a:p>
                      <a:pPr algn="ctr"/>
                      <a:r>
                        <a:rPr lang="zh-CN" altLang="en-US" sz="1050" dirty="0"/>
                        <a:t>成本</a:t>
                      </a:r>
                      <a:endParaRPr lang="zh-CN" altLang="en-US" sz="1050" b="1" dirty="0">
                        <a:latin typeface="楷体" panose="02010609060101010101" pitchFamily="49" charset="-122"/>
                        <a:ea typeface="楷体" panose="02010609060101010101" pitchFamily="49" charset="-122"/>
                      </a:endParaRPr>
                    </a:p>
                  </a:txBody>
                  <a:tcPr/>
                </a:tc>
                <a:tc>
                  <a:txBody>
                    <a:bodyPr/>
                    <a:lstStyle/>
                    <a:p>
                      <a:endParaRPr lang="zh-CN" altLang="en-US" dirty="0"/>
                    </a:p>
                  </a:txBody>
                  <a:tcPr marL="9525" marR="9525" marT="9525" marB="0" anchor="ctr"/>
                </a:tc>
                <a:tc>
                  <a:txBody>
                    <a:bodyPr/>
                    <a:lstStyle/>
                    <a:p>
                      <a:endParaRPr lang="zh-CN" altLang="en-US"/>
                    </a:p>
                  </a:txBody>
                  <a:tcPr marL="9525" marR="9525" marT="9525" marB="0" anchor="ctr"/>
                </a:tc>
                <a:tc>
                  <a:txBody>
                    <a:bodyPr/>
                    <a:lstStyle/>
                    <a:p>
                      <a:endParaRPr lang="zh-CN" altLang="en-US"/>
                    </a:p>
                  </a:txBody>
                  <a:tcPr marL="9525" marR="9525" marT="9525" marB="0" anchor="ctr"/>
                </a:tc>
                <a:tc>
                  <a:txBody>
                    <a:bodyPr/>
                    <a:lstStyle/>
                    <a:p>
                      <a:endParaRPr lang="zh-CN" altLang="en-US"/>
                    </a:p>
                  </a:txBody>
                  <a:tcPr marL="9525" marR="9525" marT="9525" marB="0" anchor="ctr"/>
                </a:tc>
              </a:tr>
              <a:tr h="239354">
                <a:tc>
                  <a:txBody>
                    <a:bodyPr/>
                    <a:lstStyle/>
                    <a:p>
                      <a:pPr algn="ctr"/>
                      <a:r>
                        <a:rPr lang="zh-CN" altLang="en-US" sz="1050" dirty="0"/>
                        <a:t>毛利</a:t>
                      </a:r>
                      <a:endParaRPr lang="zh-CN" altLang="en-US" sz="1050" b="1" dirty="0">
                        <a:latin typeface="楷体" panose="02010609060101010101" pitchFamily="49" charset="-122"/>
                        <a:ea typeface="楷体" panose="02010609060101010101" pitchFamily="49" charset="-122"/>
                      </a:endParaRPr>
                    </a:p>
                  </a:txBody>
                  <a:tcPr/>
                </a:tc>
                <a:tc>
                  <a:txBody>
                    <a:bodyPr/>
                    <a:lstStyle/>
                    <a:p>
                      <a:endParaRPr lang="zh-CN" altLang="en-US" dirty="0"/>
                    </a:p>
                  </a:txBody>
                  <a:tcPr marL="9525" marR="9525" marT="9525" marB="0" anchor="ctr"/>
                </a:tc>
                <a:tc>
                  <a:txBody>
                    <a:bodyPr/>
                    <a:lstStyle/>
                    <a:p>
                      <a:endParaRPr lang="zh-CN" altLang="en-US"/>
                    </a:p>
                  </a:txBody>
                  <a:tcPr marL="9525" marR="9525" marT="9525" marB="0" anchor="ctr"/>
                </a:tc>
                <a:tc>
                  <a:txBody>
                    <a:bodyPr/>
                    <a:lstStyle/>
                    <a:p>
                      <a:endParaRPr lang="zh-CN" altLang="en-US"/>
                    </a:p>
                  </a:txBody>
                  <a:tcPr marL="9525" marR="9525" marT="9525" marB="0" anchor="ctr"/>
                </a:tc>
                <a:tc>
                  <a:txBody>
                    <a:bodyPr/>
                    <a:lstStyle/>
                    <a:p>
                      <a:endParaRPr lang="zh-CN" altLang="en-US"/>
                    </a:p>
                  </a:txBody>
                  <a:tcPr marL="9525" marR="9525" marT="9525" marB="0" anchor="ctr"/>
                </a:tc>
              </a:tr>
              <a:tr h="263420">
                <a:tc>
                  <a:txBody>
                    <a:bodyPr/>
                    <a:lstStyle/>
                    <a:p>
                      <a:pPr algn="ctr"/>
                      <a:r>
                        <a:rPr lang="zh-CN" altLang="en-US" sz="1050" dirty="0"/>
                        <a:t>毛利率（</a:t>
                      </a:r>
                      <a:r>
                        <a:rPr lang="en-US" altLang="zh-CN" sz="1050" dirty="0"/>
                        <a:t>%</a:t>
                      </a:r>
                      <a:r>
                        <a:rPr lang="zh-CN" altLang="en-US" sz="1050" dirty="0"/>
                        <a:t>）</a:t>
                      </a:r>
                      <a:endParaRPr lang="zh-CN" altLang="en-US" sz="1050" b="1" dirty="0">
                        <a:latin typeface="楷体" panose="02010609060101010101" pitchFamily="49" charset="-122"/>
                        <a:ea typeface="楷体" panose="02010609060101010101" pitchFamily="49" charset="-122"/>
                      </a:endParaRPr>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r>
              <a:tr h="239354">
                <a:tc>
                  <a:txBody>
                    <a:bodyPr/>
                    <a:lstStyle/>
                    <a:p>
                      <a:pPr algn="ctr"/>
                      <a:r>
                        <a:rPr lang="zh-CN" altLang="en-US" sz="1050" dirty="0"/>
                        <a:t>利润总额</a:t>
                      </a:r>
                      <a:endParaRPr lang="zh-CN" altLang="en-US" sz="1050" b="1" dirty="0">
                        <a:latin typeface="楷体" panose="02010609060101010101" pitchFamily="49" charset="-122"/>
                        <a:ea typeface="楷体" panose="02010609060101010101" pitchFamily="49" charset="-122"/>
                      </a:endParaRPr>
                    </a:p>
                  </a:txBody>
                  <a:tcPr/>
                </a:tc>
                <a:tc>
                  <a:txBody>
                    <a:bodyPr/>
                    <a:lstStyle/>
                    <a:p>
                      <a:endParaRPr lang="zh-CN" altLang="en-US"/>
                    </a:p>
                  </a:txBody>
                  <a:tcPr marL="9525" marR="9525" marT="9525" marB="0" anchor="ctr"/>
                </a:tc>
                <a:tc>
                  <a:txBody>
                    <a:bodyPr/>
                    <a:lstStyle/>
                    <a:p>
                      <a:endParaRPr lang="zh-CN" altLang="en-US"/>
                    </a:p>
                  </a:txBody>
                  <a:tcPr marL="9525" marR="9525" marT="9525" marB="0" anchor="ctr"/>
                </a:tc>
                <a:tc>
                  <a:txBody>
                    <a:bodyPr/>
                    <a:lstStyle/>
                    <a:p>
                      <a:endParaRPr lang="zh-CN" altLang="en-US" dirty="0"/>
                    </a:p>
                  </a:txBody>
                  <a:tcPr marL="9525" marR="9525" marT="9525" marB="0" anchor="ctr"/>
                </a:tc>
                <a:tc>
                  <a:txBody>
                    <a:bodyPr/>
                    <a:lstStyle/>
                    <a:p>
                      <a:endParaRPr lang="zh-CN" altLang="en-US"/>
                    </a:p>
                  </a:txBody>
                  <a:tcPr marL="9525" marR="9525" marT="9525" marB="0" anchor="ctr"/>
                </a:tc>
              </a:tr>
              <a:tr h="239354">
                <a:tc>
                  <a:txBody>
                    <a:bodyPr/>
                    <a:lstStyle/>
                    <a:p>
                      <a:pPr algn="ctr"/>
                      <a:r>
                        <a:rPr lang="zh-CN" altLang="en-US" sz="1050" dirty="0"/>
                        <a:t>净利润</a:t>
                      </a:r>
                      <a:endParaRPr lang="zh-CN" altLang="en-US" sz="1050" b="1" dirty="0">
                        <a:latin typeface="楷体" panose="02010609060101010101" pitchFamily="49" charset="-122"/>
                        <a:ea typeface="楷体" panose="02010609060101010101" pitchFamily="49" charset="-122"/>
                      </a:endParaRPr>
                    </a:p>
                  </a:txBody>
                  <a:tcPr/>
                </a:tc>
                <a:tc>
                  <a:txBody>
                    <a:bodyPr/>
                    <a:lstStyle/>
                    <a:p>
                      <a:endParaRPr lang="zh-CN" altLang="en-US"/>
                    </a:p>
                  </a:txBody>
                  <a:tcPr marL="9525" marR="9525" marT="9525" marB="0" anchor="ctr"/>
                </a:tc>
                <a:tc>
                  <a:txBody>
                    <a:bodyPr/>
                    <a:lstStyle/>
                    <a:p>
                      <a:endParaRPr lang="zh-CN" altLang="en-US"/>
                    </a:p>
                  </a:txBody>
                  <a:tcPr marL="9525" marR="9525" marT="9525" marB="0" anchor="ctr"/>
                </a:tc>
                <a:tc>
                  <a:txBody>
                    <a:bodyPr/>
                    <a:lstStyle/>
                    <a:p>
                      <a:endParaRPr lang="zh-CN" altLang="en-US"/>
                    </a:p>
                  </a:txBody>
                  <a:tcPr marL="9525" marR="9525" marT="9525" marB="0" anchor="ctr"/>
                </a:tc>
                <a:tc>
                  <a:txBody>
                    <a:bodyPr/>
                    <a:lstStyle/>
                    <a:p>
                      <a:endParaRPr lang="zh-CN" altLang="en-US"/>
                    </a:p>
                  </a:txBody>
                  <a:tcPr marL="9525" marR="9525" marT="9525" marB="0" anchor="ctr"/>
                </a:tc>
              </a:tr>
              <a:tr h="239354">
                <a:tc>
                  <a:txBody>
                    <a:bodyPr/>
                    <a:lstStyle/>
                    <a:p>
                      <a:pPr algn="ctr"/>
                      <a:r>
                        <a:rPr lang="zh-CN" altLang="en-US" sz="1050" dirty="0"/>
                        <a:t>净利率（</a:t>
                      </a:r>
                      <a:r>
                        <a:rPr lang="en-US" altLang="zh-CN" sz="1050" dirty="0"/>
                        <a:t>%</a:t>
                      </a:r>
                      <a:r>
                        <a:rPr lang="zh-CN" altLang="en-US" sz="1050" dirty="0"/>
                        <a:t>）</a:t>
                      </a:r>
                      <a:endParaRPr lang="zh-CN" altLang="en-US" sz="1050" b="1" dirty="0">
                        <a:latin typeface="楷体" panose="02010609060101010101" pitchFamily="49" charset="-122"/>
                        <a:ea typeface="楷体" panose="02010609060101010101" pitchFamily="49" charset="-122"/>
                      </a:endParaRPr>
                    </a:p>
                  </a:txBody>
                  <a:tcPr/>
                </a:tc>
                <a:tc>
                  <a:txBody>
                    <a:bodyPr/>
                    <a:lstStyle/>
                    <a:p>
                      <a:endParaRPr lang="zh-CN" altLang="en-US"/>
                    </a:p>
                  </a:txBody>
                  <a:tcPr marL="9525" marR="9525" marT="9525" marB="0" anchor="ctr"/>
                </a:tc>
                <a:tc>
                  <a:txBody>
                    <a:bodyPr/>
                    <a:lstStyle/>
                    <a:p>
                      <a:endParaRPr lang="zh-CN" altLang="en-US"/>
                    </a:p>
                  </a:txBody>
                  <a:tcPr marL="9525" marR="9525" marT="9525" marB="0" anchor="ctr"/>
                </a:tc>
                <a:tc>
                  <a:txBody>
                    <a:bodyPr/>
                    <a:lstStyle/>
                    <a:p>
                      <a:endParaRPr lang="zh-CN" altLang="en-US"/>
                    </a:p>
                  </a:txBody>
                  <a:tcPr marL="9525" marR="9525" marT="9525" marB="0" anchor="ctr"/>
                </a:tc>
                <a:tc>
                  <a:txBody>
                    <a:bodyPr/>
                    <a:lstStyle/>
                    <a:p>
                      <a:endParaRPr lang="zh-CN" altLang="en-US" dirty="0"/>
                    </a:p>
                  </a:txBody>
                  <a:tcPr marL="9525" marR="9525" marT="9525" marB="0" anchor="ctr"/>
                </a:tc>
              </a:tr>
            </a:tbl>
          </a:graphicData>
        </a:graphic>
      </p:graphicFrame>
      <p:sp>
        <p:nvSpPr>
          <p:cNvPr id="7" name="TextBox 7"/>
          <p:cNvSpPr txBox="1"/>
          <p:nvPr/>
        </p:nvSpPr>
        <p:spPr>
          <a:xfrm>
            <a:off x="668141" y="568788"/>
            <a:ext cx="3960440" cy="338554"/>
          </a:xfrm>
          <a:prstGeom prst="rect">
            <a:avLst/>
          </a:prstGeom>
          <a:noFill/>
        </p:spPr>
        <p:txBody>
          <a:bodyPr wrap="square" rtlCol="0">
            <a:spAutoFit/>
          </a:bodyPr>
          <a:lstStyle/>
          <a:p>
            <a:pPr defTabSz="914400"/>
            <a:r>
              <a:rPr lang="zh-CN" altLang="en-US" sz="1600" dirty="0">
                <a:solidFill>
                  <a:prstClr val="black"/>
                </a:solidFill>
                <a:latin typeface="+mn-ea"/>
              </a:rPr>
              <a:t>利润总分析</a:t>
            </a:r>
          </a:p>
        </p:txBody>
      </p:sp>
      <p:graphicFrame>
        <p:nvGraphicFramePr>
          <p:cNvPr id="8" name="图表 7"/>
          <p:cNvGraphicFramePr/>
          <p:nvPr/>
        </p:nvGraphicFramePr>
        <p:xfrm>
          <a:off x="668141" y="2839015"/>
          <a:ext cx="4306195" cy="240640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5165046" y="3298574"/>
            <a:ext cx="2970330" cy="1219308"/>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a:t>
            </a:r>
          </a:p>
          <a:p>
            <a:pPr algn="just">
              <a:lnSpc>
                <a:spcPct val="150000"/>
              </a:lnSpc>
            </a:pPr>
            <a:r>
              <a:rPr lang="en-US" altLang="zh-CN" sz="1000" dirty="0">
                <a:latin typeface="+mn-ea"/>
                <a:cs typeface="+mn-ea"/>
                <a:sym typeface="+mn-lt"/>
              </a:rPr>
              <a:t>1.2014-2017</a:t>
            </a:r>
            <a:r>
              <a:rPr lang="zh-CN" altLang="en-US" sz="1000" dirty="0">
                <a:latin typeface="+mn-ea"/>
                <a:cs typeface="+mn-ea"/>
                <a:sym typeface="+mn-lt"/>
              </a:rPr>
              <a:t>年上的营收处于上升趋势，毛利率平均处于左右，净利率平均为；</a:t>
            </a:r>
          </a:p>
          <a:p>
            <a:pPr algn="just">
              <a:lnSpc>
                <a:spcPct val="150000"/>
              </a:lnSpc>
            </a:pPr>
            <a:r>
              <a:rPr lang="en-US" altLang="zh-CN" sz="1000" dirty="0">
                <a:latin typeface="+mn-ea"/>
                <a:cs typeface="+mn-ea"/>
                <a:sym typeface="+mn-lt"/>
              </a:rPr>
              <a:t>2.2017</a:t>
            </a:r>
            <a:r>
              <a:rPr lang="zh-CN" altLang="en-US" sz="1000" dirty="0">
                <a:latin typeface="+mn-ea"/>
                <a:cs typeface="+mn-ea"/>
                <a:sym typeface="+mn-lt"/>
              </a:rPr>
              <a:t>年的营收任务至少达到，目前半年的收入完成约</a:t>
            </a:r>
            <a:r>
              <a:rPr lang="en-US" altLang="zh-CN" sz="1000" dirty="0">
                <a:latin typeface="+mn-ea"/>
                <a:cs typeface="+mn-ea"/>
                <a:sym typeface="+mn-lt"/>
              </a:rPr>
              <a:t>,</a:t>
            </a:r>
            <a:r>
              <a:rPr lang="zh-CN" altLang="en-US" sz="1000" dirty="0">
                <a:latin typeface="+mn-ea"/>
                <a:cs typeface="+mn-ea"/>
                <a:sym typeface="+mn-lt"/>
              </a:rPr>
              <a:t>下半年需争取完成的营收任务，任重道远。</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Graphic spid="8" grpId="0">
        <p:bldAsOne/>
      </p:bldGraphic>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818108" y="367929"/>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资产利润表</a:t>
            </a:r>
          </a:p>
        </p:txBody>
      </p:sp>
      <p:graphicFrame>
        <p:nvGraphicFramePr>
          <p:cNvPr id="10" name="表格 9"/>
          <p:cNvGraphicFramePr>
            <a:graphicFrameLocks noGrp="1"/>
          </p:cNvGraphicFramePr>
          <p:nvPr/>
        </p:nvGraphicFramePr>
        <p:xfrm>
          <a:off x="467544" y="1124745"/>
          <a:ext cx="5184576" cy="3210370"/>
        </p:xfrm>
        <a:graphic>
          <a:graphicData uri="http://schemas.openxmlformats.org/drawingml/2006/table">
            <a:tbl>
              <a:tblPr firstRow="1" bandRow="1">
                <a:tableStyleId>{7DF18680-E054-41AD-8BC1-D1AEF772440D}</a:tableStyleId>
              </a:tblPr>
              <a:tblGrid>
                <a:gridCol w="1248139"/>
                <a:gridCol w="720080"/>
                <a:gridCol w="768085"/>
                <a:gridCol w="816091"/>
                <a:gridCol w="888099"/>
                <a:gridCol w="744082"/>
              </a:tblGrid>
              <a:tr h="290869">
                <a:tc>
                  <a:txBody>
                    <a:bodyPr/>
                    <a:lstStyle/>
                    <a:p>
                      <a:pPr algn="ctr"/>
                      <a:r>
                        <a:rPr lang="zh-CN" altLang="en-US" sz="1400" dirty="0"/>
                        <a:t>项目</a:t>
                      </a:r>
                    </a:p>
                  </a:txBody>
                  <a:tcPr/>
                </a:tc>
                <a:tc>
                  <a:txBody>
                    <a:bodyPr/>
                    <a:lstStyle/>
                    <a:p>
                      <a:pPr algn="ctr"/>
                      <a:r>
                        <a:rPr lang="zh-CN" altLang="en-US" sz="1400" dirty="0"/>
                        <a:t>当年值</a:t>
                      </a:r>
                    </a:p>
                  </a:txBody>
                  <a:tcPr/>
                </a:tc>
                <a:tc>
                  <a:txBody>
                    <a:bodyPr/>
                    <a:lstStyle/>
                    <a:p>
                      <a:pPr algn="ctr"/>
                      <a:r>
                        <a:rPr lang="zh-CN" altLang="en-US" sz="1400" dirty="0"/>
                        <a:t>上年值</a:t>
                      </a:r>
                    </a:p>
                  </a:txBody>
                  <a:tcPr/>
                </a:tc>
                <a:tc>
                  <a:txBody>
                    <a:bodyPr/>
                    <a:lstStyle/>
                    <a:p>
                      <a:pPr algn="ctr"/>
                      <a:r>
                        <a:rPr lang="zh-CN" altLang="en-US" sz="1400" dirty="0"/>
                        <a:t>增减额</a:t>
                      </a:r>
                    </a:p>
                  </a:txBody>
                  <a:tcPr/>
                </a:tc>
                <a:tc>
                  <a:txBody>
                    <a:bodyPr/>
                    <a:lstStyle/>
                    <a:p>
                      <a:pPr algn="ctr"/>
                      <a:r>
                        <a:rPr lang="zh-CN" altLang="en-US" sz="1400" dirty="0"/>
                        <a:t>增减率</a:t>
                      </a:r>
                    </a:p>
                  </a:txBody>
                  <a:tcPr/>
                </a:tc>
                <a:tc>
                  <a:txBody>
                    <a:bodyPr/>
                    <a:lstStyle/>
                    <a:p>
                      <a:pPr algn="ctr"/>
                      <a:r>
                        <a:rPr lang="zh-CN" altLang="en-US" sz="1400" dirty="0"/>
                        <a:t>预算</a:t>
                      </a:r>
                    </a:p>
                  </a:txBody>
                  <a:tcPr/>
                </a:tc>
              </a:tr>
              <a:tr h="436304">
                <a:tc>
                  <a:txBody>
                    <a:bodyPr/>
                    <a:lstStyle/>
                    <a:p>
                      <a:pPr algn="l"/>
                      <a:r>
                        <a:rPr lang="zh-CN" altLang="en-US" sz="1200" dirty="0"/>
                        <a:t>     经营收入</a:t>
                      </a:r>
                      <a:endParaRPr lang="en-US" altLang="zh-CN" sz="1200" dirty="0"/>
                    </a:p>
                    <a:p>
                      <a:pPr algn="l"/>
                      <a:r>
                        <a:rPr lang="zh-CN" altLang="en-US" sz="1200" dirty="0"/>
                        <a:t>    （万元）</a:t>
                      </a:r>
                      <a:endParaRPr lang="zh-CN" altLang="en-US" sz="1200" b="0" dirty="0">
                        <a:latin typeface="+mn-ea"/>
                        <a:ea typeface="+mn-ea"/>
                      </a:endParaRPr>
                    </a:p>
                  </a:txBody>
                  <a:tcPr/>
                </a:tc>
                <a:tc>
                  <a:txBody>
                    <a:bodyPr/>
                    <a:lstStyle/>
                    <a:p>
                      <a:pPr algn="l"/>
                      <a:endParaRPr lang="zh-CN" altLang="en-US" b="0" dirty="0">
                        <a:latin typeface="+mn-ea"/>
                        <a:ea typeface="+mn-ea"/>
                      </a:endParaRPr>
                    </a:p>
                  </a:txBody>
                  <a:tcPr marL="0" marR="0" marT="0" marB="0" anchor="ctr"/>
                </a:tc>
                <a:tc>
                  <a:txBody>
                    <a:bodyPr/>
                    <a:lstStyle/>
                    <a:p>
                      <a:endParaRPr lang="zh-CN" altLang="en-US" dirty="0"/>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en-US" altLang="zh-CN" sz="1000" u="none" strike="noStrike" kern="1200" dirty="0"/>
                    </a:p>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436304">
                <a:tc>
                  <a:txBody>
                    <a:bodyPr/>
                    <a:lstStyle/>
                    <a:p>
                      <a:pPr algn="l"/>
                      <a:r>
                        <a:rPr lang="zh-CN" altLang="en-US" sz="1200" dirty="0"/>
                        <a:t>其中：</a:t>
                      </a:r>
                      <a:endParaRPr lang="en-US" altLang="zh-CN" sz="1200" dirty="0"/>
                    </a:p>
                    <a:p>
                      <a:pPr algn="l"/>
                      <a:r>
                        <a:rPr lang="en-US" altLang="zh-CN" sz="1200" dirty="0"/>
                        <a:t>     **</a:t>
                      </a:r>
                      <a:r>
                        <a:rPr lang="zh-CN" altLang="en-US" sz="1200" dirty="0"/>
                        <a:t>收入</a:t>
                      </a:r>
                      <a:endParaRPr lang="zh-CN" altLang="en-US" sz="1200" b="0" dirty="0">
                        <a:latin typeface="+mn-ea"/>
                        <a:ea typeface="+mn-ea"/>
                      </a:endParaRPr>
                    </a:p>
                  </a:txBody>
                  <a:tcPr/>
                </a:tc>
                <a:tc>
                  <a:txBody>
                    <a:bodyPr/>
                    <a:lstStyle/>
                    <a:p>
                      <a:pPr algn="l"/>
                      <a:endParaRPr lang="zh-CN" altLang="en-US" b="0">
                        <a:latin typeface="+mn-ea"/>
                        <a:ea typeface="+mn-ea"/>
                      </a:endParaRPr>
                    </a:p>
                  </a:txBody>
                  <a:tcPr marL="0" marR="0" marT="0" marB="0" anchor="ctr"/>
                </a:tc>
                <a:tc>
                  <a:txBody>
                    <a:bodyPr/>
                    <a:lstStyle/>
                    <a:p>
                      <a:endParaRPr lang="zh-CN" altLang="en-US" dirty="0"/>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364336">
                <a:tc>
                  <a:txBody>
                    <a:bodyPr/>
                    <a:lstStyle/>
                    <a:p>
                      <a:pPr algn="l"/>
                      <a:r>
                        <a:rPr lang="en-US" altLang="zh-CN" sz="1200" dirty="0"/>
                        <a:t>     **</a:t>
                      </a:r>
                      <a:r>
                        <a:rPr lang="zh-CN" altLang="en-US" sz="1200" dirty="0"/>
                        <a:t>收入       </a:t>
                      </a:r>
                      <a:endParaRPr lang="zh-CN" altLang="en-US" sz="1200" b="0" dirty="0">
                        <a:latin typeface="+mn-ea"/>
                        <a:ea typeface="+mn-ea"/>
                      </a:endParaRPr>
                    </a:p>
                  </a:txBody>
                  <a:tcPr/>
                </a:tc>
                <a:tc>
                  <a:txBody>
                    <a:bodyPr/>
                    <a:lstStyle/>
                    <a:p>
                      <a:pPr algn="l"/>
                      <a:endParaRPr lang="zh-CN" altLang="en-US" b="0">
                        <a:latin typeface="+mn-ea"/>
                        <a:ea typeface="+mn-ea"/>
                      </a:endParaRPr>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363005">
                <a:tc>
                  <a:txBody>
                    <a:bodyPr/>
                    <a:lstStyle/>
                    <a:p>
                      <a:pPr algn="l"/>
                      <a:r>
                        <a:rPr lang="en-US" altLang="zh-CN" sz="1200" dirty="0"/>
                        <a:t> </a:t>
                      </a:r>
                      <a:r>
                        <a:rPr lang="en-US" altLang="zh-CN" sz="1200" baseline="0" dirty="0"/>
                        <a:t> </a:t>
                      </a:r>
                      <a:r>
                        <a:rPr lang="en-US" altLang="zh-CN" sz="1200" dirty="0"/>
                        <a:t>   **</a:t>
                      </a:r>
                      <a:r>
                        <a:rPr lang="zh-CN" altLang="en-US" sz="1200" dirty="0"/>
                        <a:t>收入</a:t>
                      </a:r>
                      <a:endParaRPr lang="zh-CN" altLang="en-US" sz="1200" b="0" dirty="0">
                        <a:latin typeface="+mn-ea"/>
                        <a:ea typeface="+mn-ea"/>
                      </a:endParaRPr>
                    </a:p>
                  </a:txBody>
                  <a:tcPr/>
                </a:tc>
                <a:tc>
                  <a:txBody>
                    <a:bodyPr/>
                    <a:lstStyle/>
                    <a:p>
                      <a:pPr algn="l"/>
                      <a:endParaRPr lang="zh-CN" altLang="en-US" b="0">
                        <a:latin typeface="+mn-ea"/>
                        <a:ea typeface="+mn-ea"/>
                      </a:endParaRPr>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389358">
                <a:tc>
                  <a:txBody>
                    <a:bodyPr/>
                    <a:lstStyle/>
                    <a:p>
                      <a:pPr algn="l"/>
                      <a:r>
                        <a:rPr lang="en-US" altLang="zh-CN" sz="1200" dirty="0"/>
                        <a:t>    **</a:t>
                      </a:r>
                      <a:r>
                        <a:rPr lang="zh-CN" altLang="en-US" sz="1200" dirty="0"/>
                        <a:t>收入</a:t>
                      </a:r>
                      <a:endParaRPr lang="zh-CN" altLang="en-US" sz="1200" b="0" dirty="0">
                        <a:latin typeface="+mn-ea"/>
                        <a:ea typeface="+mn-ea"/>
                      </a:endParaRPr>
                    </a:p>
                  </a:txBody>
                  <a:tcPr/>
                </a:tc>
                <a:tc>
                  <a:txBody>
                    <a:bodyPr/>
                    <a:lstStyle/>
                    <a:p>
                      <a:pPr algn="l"/>
                      <a:endParaRPr lang="zh-CN" altLang="en-US" b="0">
                        <a:latin typeface="+mn-ea"/>
                        <a:ea typeface="+mn-ea"/>
                      </a:endParaRPr>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416385">
                <a:tc>
                  <a:txBody>
                    <a:bodyPr/>
                    <a:lstStyle/>
                    <a:p>
                      <a:pPr algn="l"/>
                      <a:r>
                        <a:rPr lang="en-US" altLang="zh-CN" sz="1200" dirty="0"/>
                        <a:t>    **</a:t>
                      </a:r>
                      <a:r>
                        <a:rPr lang="zh-CN" altLang="en-US" sz="1200" dirty="0"/>
                        <a:t>收入</a:t>
                      </a:r>
                      <a:endParaRPr lang="zh-CN" altLang="en-US" sz="1200" b="0" dirty="0">
                        <a:latin typeface="+mn-ea"/>
                        <a:ea typeface="+mn-ea"/>
                      </a:endParaRPr>
                    </a:p>
                  </a:txBody>
                  <a:tcPr/>
                </a:tc>
                <a:tc>
                  <a:txBody>
                    <a:bodyPr/>
                    <a:lstStyle/>
                    <a:p>
                      <a:pPr algn="l"/>
                      <a:endParaRPr lang="zh-CN" altLang="en-US" b="0" dirty="0">
                        <a:latin typeface="+mn-ea"/>
                        <a:ea typeface="+mn-ea"/>
                      </a:endParaRPr>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458086">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aseline="0" dirty="0"/>
                        <a:t>    </a:t>
                      </a:r>
                      <a:r>
                        <a:rPr lang="en-US" altLang="zh-CN" sz="1200" dirty="0"/>
                        <a:t> </a:t>
                      </a:r>
                      <a:r>
                        <a:rPr lang="en-US" altLang="zh-CN" sz="1050" dirty="0"/>
                        <a:t>**</a:t>
                      </a:r>
                      <a:r>
                        <a:rPr lang="zh-CN" altLang="en-US" sz="1050" dirty="0"/>
                        <a:t>收入</a:t>
                      </a:r>
                    </a:p>
                    <a:p>
                      <a:pPr algn="l"/>
                      <a:endParaRPr lang="zh-CN" altLang="en-US" sz="1200" b="0" dirty="0">
                        <a:latin typeface="+mn-ea"/>
                        <a:ea typeface="+mn-ea"/>
                      </a:endParaRPr>
                    </a:p>
                  </a:txBody>
                  <a:tcPr/>
                </a:tc>
                <a:tc>
                  <a:txBody>
                    <a:bodyPr/>
                    <a:lstStyle/>
                    <a:p>
                      <a:pPr algn="l"/>
                      <a:endParaRPr lang="zh-CN" altLang="en-US" b="0" dirty="0">
                        <a:latin typeface="+mn-ea"/>
                        <a:ea typeface="+mn-ea"/>
                      </a:endParaRPr>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dirty="0"/>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bl>
          </a:graphicData>
        </a:graphic>
      </p:graphicFrame>
      <p:sp>
        <p:nvSpPr>
          <p:cNvPr id="11" name="TextBox 5"/>
          <p:cNvSpPr txBox="1"/>
          <p:nvPr/>
        </p:nvSpPr>
        <p:spPr>
          <a:xfrm>
            <a:off x="395536" y="708085"/>
            <a:ext cx="3960440" cy="338554"/>
          </a:xfrm>
          <a:prstGeom prst="rect">
            <a:avLst/>
          </a:prstGeom>
          <a:noFill/>
        </p:spPr>
        <p:txBody>
          <a:bodyPr wrap="square" rtlCol="0">
            <a:spAutoFit/>
          </a:bodyPr>
          <a:lstStyle/>
          <a:p>
            <a:pPr defTabSz="914400"/>
            <a:r>
              <a:rPr lang="zh-CN" altLang="en-US" sz="1600" dirty="0">
                <a:solidFill>
                  <a:prstClr val="black"/>
                </a:solidFill>
                <a:latin typeface="+mn-ea"/>
              </a:rPr>
              <a:t>收入结构对比分析</a:t>
            </a:r>
          </a:p>
        </p:txBody>
      </p:sp>
      <p:sp>
        <p:nvSpPr>
          <p:cNvPr id="12" name="TextBox 11"/>
          <p:cNvSpPr txBox="1"/>
          <p:nvPr/>
        </p:nvSpPr>
        <p:spPr>
          <a:xfrm>
            <a:off x="4355976" y="764704"/>
            <a:ext cx="1224136" cy="307777"/>
          </a:xfrm>
          <a:prstGeom prst="rect">
            <a:avLst/>
          </a:prstGeom>
          <a:noFill/>
        </p:spPr>
        <p:txBody>
          <a:bodyPr wrap="square" rtlCol="0">
            <a:spAutoFit/>
          </a:bodyPr>
          <a:lstStyle/>
          <a:p>
            <a:r>
              <a:rPr lang="zh-CN" altLang="en-US" sz="1400" b="1" dirty="0">
                <a:latin typeface="楷体" panose="02010609060101010101" pitchFamily="49" charset="-122"/>
                <a:ea typeface="楷体" panose="02010609060101010101" pitchFamily="49" charset="-122"/>
              </a:rPr>
              <a:t>单位：万元</a:t>
            </a:r>
          </a:p>
        </p:txBody>
      </p:sp>
      <p:graphicFrame>
        <p:nvGraphicFramePr>
          <p:cNvPr id="13" name="图表 12"/>
          <p:cNvGraphicFramePr/>
          <p:nvPr/>
        </p:nvGraphicFramePr>
        <p:xfrm>
          <a:off x="5624409" y="1042933"/>
          <a:ext cx="2488328" cy="18811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图表 13"/>
          <p:cNvGraphicFramePr/>
          <p:nvPr/>
        </p:nvGraphicFramePr>
        <p:xfrm>
          <a:off x="5460658" y="2571749"/>
          <a:ext cx="2760966" cy="2087262"/>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8"/>
          <p:cNvSpPr txBox="1"/>
          <p:nvPr/>
        </p:nvSpPr>
        <p:spPr>
          <a:xfrm>
            <a:off x="447572" y="4335115"/>
            <a:ext cx="5265744" cy="526811"/>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分析：从收入结构对比分析看，我司业务主要集中在两大模块，约占了</a:t>
            </a:r>
            <a:r>
              <a:rPr lang="en-US" altLang="zh-CN" sz="1000" dirty="0">
                <a:latin typeface="+mn-ea"/>
                <a:cs typeface="+mn-ea"/>
                <a:sym typeface="+mn-lt"/>
              </a:rPr>
              <a:t>%</a:t>
            </a:r>
            <a:r>
              <a:rPr lang="zh-CN" altLang="en-US" sz="1000" dirty="0">
                <a:latin typeface="+mn-ea"/>
                <a:cs typeface="+mn-ea"/>
                <a:sym typeface="+mn-lt"/>
              </a:rPr>
              <a:t>；收入在</a:t>
            </a:r>
            <a:r>
              <a:rPr lang="en-US" altLang="zh-CN" sz="1000" dirty="0">
                <a:latin typeface="+mn-ea"/>
                <a:cs typeface="+mn-ea"/>
                <a:sym typeface="+mn-lt"/>
              </a:rPr>
              <a:t>2017</a:t>
            </a:r>
            <a:r>
              <a:rPr lang="zh-CN" altLang="en-US" sz="1000" dirty="0">
                <a:latin typeface="+mn-ea"/>
                <a:cs typeface="+mn-ea"/>
                <a:sym typeface="+mn-lt"/>
              </a:rPr>
              <a:t>年增加了收入；其它收入在</a:t>
            </a:r>
            <a:r>
              <a:rPr lang="en-US" altLang="zh-CN" sz="1000" dirty="0">
                <a:latin typeface="+mn-ea"/>
                <a:cs typeface="+mn-ea"/>
                <a:sym typeface="+mn-lt"/>
              </a:rPr>
              <a:t>2017</a:t>
            </a:r>
            <a:r>
              <a:rPr lang="zh-CN" altLang="en-US" sz="1000" dirty="0">
                <a:latin typeface="+mn-ea"/>
                <a:cs typeface="+mn-ea"/>
                <a:sym typeface="+mn-lt"/>
              </a:rPr>
              <a:t>年减少了收入。</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0-#ppt_w/2"/>
                                          </p:val>
                                        </p:tav>
                                        <p:tav tm="100000">
                                          <p:val>
                                            <p:strVal val="#ppt_x"/>
                                          </p:val>
                                        </p:tav>
                                      </p:tavLst>
                                    </p:anim>
                                    <p:anim calcmode="lin" valueType="num">
                                      <p:cBhvr additive="base">
                                        <p:cTn id="15" dur="500" fill="hold"/>
                                        <p:tgtEl>
                                          <p:spTgt spid="10"/>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1" grpId="0"/>
      <p:bldP spid="12" grpId="0"/>
      <p:bldGraphic spid="13" grpId="0">
        <p:bldAsOne/>
      </p:bldGraphic>
      <p:bldGraphic spid="14" grpId="0">
        <p:bldAsOne/>
      </p:bldGraphic>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rot="21032569">
            <a:off x="-722140" y="2022662"/>
            <a:ext cx="10299093" cy="2638018"/>
          </a:xfrm>
          <a:prstGeom prst="rect">
            <a:avLst/>
          </a:prstGeom>
          <a:solidFill>
            <a:srgbClr val="2C9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2"/>
          <p:cNvSpPr/>
          <p:nvPr/>
        </p:nvSpPr>
        <p:spPr>
          <a:xfrm>
            <a:off x="4212526" y="2735219"/>
            <a:ext cx="4834978" cy="584775"/>
          </a:xfrm>
          <a:prstGeom prst="rect">
            <a:avLst/>
          </a:prstGeom>
        </p:spPr>
        <p:txBody>
          <a:bodyPr wrap="none">
            <a:spAutoFit/>
          </a:bodyPr>
          <a:lstStyle/>
          <a:p>
            <a:r>
              <a:rPr lang="zh-CN" altLang="en-US" sz="3200" b="1" dirty="0">
                <a:solidFill>
                  <a:schemeClr val="bg1"/>
                </a:solidFill>
                <a:cs typeface="+mn-ea"/>
                <a:sym typeface="+mn-lt"/>
              </a:rPr>
              <a:t>三大报表分析</a:t>
            </a:r>
            <a:r>
              <a:rPr lang="en-US" altLang="zh-CN" sz="3200" b="1" dirty="0">
                <a:solidFill>
                  <a:schemeClr val="bg1"/>
                </a:solidFill>
                <a:cs typeface="+mn-ea"/>
                <a:sym typeface="+mn-lt"/>
              </a:rPr>
              <a:t>-</a:t>
            </a:r>
            <a:r>
              <a:rPr lang="zh-CN" altLang="en-US" sz="3200" b="1" dirty="0">
                <a:solidFill>
                  <a:schemeClr val="bg1"/>
                </a:solidFill>
                <a:cs typeface="+mn-ea"/>
                <a:sym typeface="+mn-lt"/>
              </a:rPr>
              <a:t>现金流量表</a:t>
            </a:r>
          </a:p>
        </p:txBody>
      </p:sp>
      <p:grpSp>
        <p:nvGrpSpPr>
          <p:cNvPr id="2" name="组合 1"/>
          <p:cNvGrpSpPr/>
          <p:nvPr/>
        </p:nvGrpSpPr>
        <p:grpSpPr>
          <a:xfrm>
            <a:off x="-663549" y="367479"/>
            <a:ext cx="5320256" cy="5320256"/>
            <a:chOff x="-663549" y="367479"/>
            <a:chExt cx="5320256" cy="5320256"/>
          </a:xfrm>
        </p:grpSpPr>
        <p:sp>
          <p:nvSpPr>
            <p:cNvPr id="24" name="Oval 9"/>
            <p:cNvSpPr>
              <a:spLocks noChangeArrowheads="1"/>
            </p:cNvSpPr>
            <p:nvPr/>
          </p:nvSpPr>
          <p:spPr bwMode="auto">
            <a:xfrm>
              <a:off x="0" y="1162000"/>
              <a:ext cx="3927496" cy="3927496"/>
            </a:xfrm>
            <a:prstGeom prst="ellipse">
              <a:avLst/>
            </a:prstGeom>
            <a:solidFill>
              <a:srgbClr val="00B0F0">
                <a:alpha val="51000"/>
              </a:srgbClr>
            </a:solidFill>
            <a:ln>
              <a:noFill/>
            </a:ln>
            <a:effectLst/>
          </p:spPr>
          <p:txBody>
            <a:bodyPr wrap="none" anchor="ctr"/>
            <a:lstStyle/>
            <a:p>
              <a:endParaRPr lang="zh-CN" altLang="en-US" dirty="0">
                <a:cs typeface="+mn-ea"/>
                <a:sym typeface="+mn-lt"/>
              </a:endParaRPr>
            </a:p>
          </p:txBody>
        </p:sp>
        <p:sp>
          <p:nvSpPr>
            <p:cNvPr id="25" name="椭圆 24"/>
            <p:cNvSpPr/>
            <p:nvPr/>
          </p:nvSpPr>
          <p:spPr>
            <a:xfrm>
              <a:off x="-663549" y="367479"/>
              <a:ext cx="5320256" cy="5320256"/>
            </a:xfrm>
            <a:prstGeom prst="ellipse">
              <a:avLst/>
            </a:prstGeom>
            <a:noFill/>
            <a:ln>
              <a:solidFill>
                <a:srgbClr val="0070C0">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椭圆 27"/>
            <p:cNvSpPr/>
            <p:nvPr/>
          </p:nvSpPr>
          <p:spPr>
            <a:xfrm>
              <a:off x="458726" y="1638181"/>
              <a:ext cx="3075709" cy="3075709"/>
            </a:xfrm>
            <a:prstGeom prst="ellipse">
              <a:avLst/>
            </a:prstGeom>
            <a:solidFill>
              <a:srgbClr val="0070C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9" name="椭圆 28"/>
          <p:cNvSpPr/>
          <p:nvPr/>
        </p:nvSpPr>
        <p:spPr>
          <a:xfrm>
            <a:off x="1361249" y="2534232"/>
            <a:ext cx="1270660" cy="127066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6" name="图片 5"/>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285030" y="1795243"/>
            <a:ext cx="4072807" cy="349158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childTnLst>
                          </p:cTn>
                        </p:par>
                        <p:par>
                          <p:cTn id="12" fill="hold">
                            <p:stCondLst>
                              <p:cond delay="0"/>
                            </p:stCondLst>
                            <p:childTnLst>
                              <p:par>
                                <p:cTn id="13" presetID="42"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818108" y="367929"/>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现金流量表</a:t>
            </a:r>
          </a:p>
        </p:txBody>
      </p:sp>
      <p:graphicFrame>
        <p:nvGraphicFramePr>
          <p:cNvPr id="16" name="内容占位符 3"/>
          <p:cNvGraphicFramePr/>
          <p:nvPr/>
        </p:nvGraphicFramePr>
        <p:xfrm>
          <a:off x="495548" y="1168531"/>
          <a:ext cx="8280920" cy="3211416"/>
        </p:xfrm>
        <a:graphic>
          <a:graphicData uri="http://schemas.openxmlformats.org/drawingml/2006/table">
            <a:tbl>
              <a:tblPr firstRow="1" bandRow="1">
                <a:tableStyleId>{7DF18680-E054-41AD-8BC1-D1AEF772440D}</a:tableStyleId>
              </a:tblPr>
              <a:tblGrid>
                <a:gridCol w="2000764"/>
                <a:gridCol w="882771"/>
                <a:gridCol w="961178"/>
                <a:gridCol w="1154346"/>
                <a:gridCol w="1012467"/>
                <a:gridCol w="2269394"/>
              </a:tblGrid>
              <a:tr h="286155">
                <a:tc>
                  <a:txBody>
                    <a:bodyPr/>
                    <a:lstStyle/>
                    <a:p>
                      <a:pPr algn="ctr"/>
                      <a:r>
                        <a:rPr lang="zh-CN" altLang="en-US" sz="1400" dirty="0"/>
                        <a:t>明细</a:t>
                      </a:r>
                      <a:endParaRPr lang="zh-CN" altLang="en-US" sz="1400" dirty="0">
                        <a:latin typeface="楷体" panose="02010609060101010101" pitchFamily="49" charset="-122"/>
                        <a:ea typeface="楷体" panose="02010609060101010101" pitchFamily="49" charset="-122"/>
                      </a:endParaRPr>
                    </a:p>
                  </a:txBody>
                  <a:tcPr/>
                </a:tc>
                <a:tc>
                  <a:txBody>
                    <a:bodyPr/>
                    <a:lstStyle/>
                    <a:p>
                      <a:pPr algn="ctr"/>
                      <a:r>
                        <a:rPr lang="en-US" altLang="zh-CN" sz="1400" dirty="0"/>
                        <a:t>2017</a:t>
                      </a:r>
                      <a:r>
                        <a:rPr lang="zh-CN" altLang="en-US" sz="1400" dirty="0"/>
                        <a:t>年</a:t>
                      </a:r>
                      <a:endParaRPr lang="zh-CN" altLang="en-US" sz="1400" dirty="0">
                        <a:latin typeface="楷体" panose="02010609060101010101" pitchFamily="49" charset="-122"/>
                        <a:ea typeface="楷体" panose="02010609060101010101" pitchFamily="49" charset="-122"/>
                      </a:endParaRPr>
                    </a:p>
                  </a:txBody>
                  <a:tcPr/>
                </a:tc>
                <a:tc>
                  <a:txBody>
                    <a:bodyPr/>
                    <a:lstStyle/>
                    <a:p>
                      <a:pPr algn="ctr"/>
                      <a:r>
                        <a:rPr lang="en-US" altLang="zh-CN" sz="1400" dirty="0"/>
                        <a:t>2016</a:t>
                      </a:r>
                      <a:r>
                        <a:rPr lang="zh-CN" altLang="en-US" sz="1400" dirty="0"/>
                        <a:t>年</a:t>
                      </a:r>
                      <a:endParaRPr lang="zh-CN" altLang="en-US" sz="1400" dirty="0">
                        <a:latin typeface="楷体" panose="02010609060101010101" pitchFamily="49" charset="-122"/>
                        <a:ea typeface="楷体" panose="02010609060101010101" pitchFamily="49" charset="-122"/>
                      </a:endParaRPr>
                    </a:p>
                  </a:txBody>
                  <a:tcPr/>
                </a:tc>
                <a:tc>
                  <a:txBody>
                    <a:bodyPr/>
                    <a:lstStyle/>
                    <a:p>
                      <a:pPr algn="ctr"/>
                      <a:r>
                        <a:rPr lang="zh-CN" altLang="en-US" sz="1400" dirty="0"/>
                        <a:t>增减额</a:t>
                      </a:r>
                      <a:endParaRPr lang="zh-CN" altLang="en-US" sz="1400" dirty="0">
                        <a:latin typeface="楷体" panose="02010609060101010101" pitchFamily="49" charset="-122"/>
                        <a:ea typeface="楷体" panose="02010609060101010101" pitchFamily="49" charset="-122"/>
                      </a:endParaRPr>
                    </a:p>
                  </a:txBody>
                  <a:tcPr/>
                </a:tc>
                <a:tc>
                  <a:txBody>
                    <a:bodyPr/>
                    <a:lstStyle/>
                    <a:p>
                      <a:pPr algn="ctr"/>
                      <a:r>
                        <a:rPr lang="zh-CN" altLang="en-US" sz="1400" dirty="0"/>
                        <a:t>增减率</a:t>
                      </a:r>
                      <a:endParaRPr lang="zh-CN" altLang="en-US" sz="1400" dirty="0">
                        <a:latin typeface="楷体" panose="02010609060101010101" pitchFamily="49" charset="-122"/>
                        <a:ea typeface="楷体" panose="02010609060101010101" pitchFamily="49" charset="-122"/>
                      </a:endParaRPr>
                    </a:p>
                  </a:txBody>
                  <a:tcPr/>
                </a:tc>
                <a:tc>
                  <a:txBody>
                    <a:bodyPr/>
                    <a:lstStyle/>
                    <a:p>
                      <a:pPr algn="ctr"/>
                      <a:r>
                        <a:rPr lang="zh-CN" altLang="en-US" sz="1400" dirty="0"/>
                        <a:t>说明</a:t>
                      </a:r>
                      <a:endParaRPr lang="zh-CN" altLang="en-US" sz="1400" dirty="0">
                        <a:latin typeface="楷体" panose="02010609060101010101" pitchFamily="49" charset="-122"/>
                        <a:ea typeface="楷体" panose="02010609060101010101" pitchFamily="49" charset="-122"/>
                      </a:endParaRPr>
                    </a:p>
                  </a:txBody>
                  <a:tcPr/>
                </a:tc>
              </a:tr>
              <a:tr h="429233">
                <a:tc>
                  <a:txBody>
                    <a:bodyPr/>
                    <a:lstStyle/>
                    <a:p>
                      <a:pPr algn="ctr"/>
                      <a:r>
                        <a:rPr lang="zh-CN" altLang="en-US" sz="1200" dirty="0"/>
                        <a:t>经营业务所得流入净额</a:t>
                      </a:r>
                      <a:endParaRPr lang="zh-CN" altLang="en-US" sz="1200" dirty="0">
                        <a:latin typeface="楷体" panose="02010609060101010101" pitchFamily="49" charset="-122"/>
                        <a:ea typeface="楷体" panose="02010609060101010101" pitchFamily="49" charset="-122"/>
                      </a:endParaRPr>
                    </a:p>
                  </a:txBody>
                  <a:tcPr/>
                </a:tc>
                <a:tc>
                  <a:txBody>
                    <a:bodyPr/>
                    <a:lstStyle/>
                    <a:p>
                      <a:endParaRPr lang="zh-CN" altLang="en-US" dirty="0"/>
                    </a:p>
                  </a:txBody>
                  <a:tcPr marL="0" marR="0" marT="0" marB="0" anchor="b"/>
                </a:tc>
                <a:tc>
                  <a:txBody>
                    <a:bodyPr/>
                    <a:lstStyle/>
                    <a:p>
                      <a:endParaRPr lang="zh-CN" altLang="en-US"/>
                    </a:p>
                  </a:txBody>
                  <a:tcPr marL="0" marR="0" marT="0" marB="0" anchor="b"/>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algn="ctr" fontAlgn="ctr"/>
                      <a:endParaRPr lang="en-US" altLang="zh-CN" sz="1200" b="0" i="0" u="none" strike="noStrike" dirty="0">
                        <a:latin typeface="MS Sans Serif"/>
                      </a:endParaRPr>
                    </a:p>
                  </a:txBody>
                  <a:tcPr marL="0" marR="0" marT="0" marB="0" anchor="ctr"/>
                </a:tc>
              </a:tr>
              <a:tr h="457848">
                <a:tc>
                  <a:txBody>
                    <a:bodyPr/>
                    <a:lstStyle/>
                    <a:p>
                      <a:pPr marL="0" algn="l" defTabSz="914400" rtl="0" eaLnBrk="1" fontAlgn="b" latinLnBrk="0" hangingPunct="1"/>
                      <a:r>
                        <a:rPr lang="zh-CN" altLang="en-US" sz="1200" kern="1200" dirty="0"/>
                        <a:t>其中：</a:t>
                      </a:r>
                      <a:endParaRPr lang="en-US" altLang="zh-CN" sz="1200" kern="1200" dirty="0"/>
                    </a:p>
                    <a:p>
                      <a:pPr marL="0" algn="ctr" defTabSz="914400" rtl="0" eaLnBrk="1" fontAlgn="b" latinLnBrk="0" hangingPunct="1"/>
                      <a:r>
                        <a:rPr lang="zh-CN" altLang="en-US" sz="1200" kern="1200" dirty="0"/>
                        <a:t>销售商品等流入</a:t>
                      </a:r>
                      <a:endParaRPr lang="zh-CN" altLang="en-US" sz="1200" kern="1200" dirty="0">
                        <a:solidFill>
                          <a:schemeClr val="dk1"/>
                        </a:solidFill>
                        <a:latin typeface="楷体" panose="02010609060101010101" pitchFamily="49" charset="-122"/>
                        <a:ea typeface="楷体" panose="02010609060101010101" pitchFamily="49" charset="-122"/>
                        <a:cs typeface="+mn-cs"/>
                      </a:endParaRPr>
                    </a:p>
                  </a:txBody>
                  <a:tcPr marL="0" marR="0" marT="0" marB="0" anchor="b"/>
                </a:tc>
                <a:tc>
                  <a:txBody>
                    <a:bodyPr/>
                    <a:lstStyle/>
                    <a:p>
                      <a:endParaRPr lang="zh-CN" altLang="en-US" dirty="0"/>
                    </a:p>
                  </a:txBody>
                  <a:tcPr marL="0" marR="0" marT="0" marB="0" anchor="b"/>
                </a:tc>
                <a:tc>
                  <a:txBody>
                    <a:bodyPr/>
                    <a:lstStyle/>
                    <a:p>
                      <a:endParaRPr lang="zh-CN" altLang="en-US"/>
                    </a:p>
                  </a:txBody>
                  <a:tcPr marL="0" marR="0" marT="0" marB="0" anchor="b"/>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en-US" altLang="zh-CN" sz="1000" u="none" strike="noStrike" dirty="0"/>
                    </a:p>
                    <a:p>
                      <a:pPr marL="0" marR="0" indent="0" algn="ctr" defTabSz="914400" rtl="0" eaLnBrk="1" fontAlgn="ctr" latinLnBrk="0" hangingPunct="1">
                        <a:lnSpc>
                          <a:spcPct val="100000"/>
                        </a:lnSpc>
                        <a:spcBef>
                          <a:spcPts val="0"/>
                        </a:spcBef>
                        <a:spcAft>
                          <a:spcPts val="0"/>
                        </a:spcAft>
                        <a:buClrTx/>
                        <a:buSzTx/>
                        <a:buFontTx/>
                        <a:buNone/>
                        <a:defRPr/>
                      </a:pPr>
                      <a:endParaRPr lang="en-US" altLang="zh-CN" sz="1000" u="none" strike="noStrike" dirty="0"/>
                    </a:p>
                    <a:p>
                      <a:pPr algn="ctr" fontAlgn="ctr"/>
                      <a:endParaRPr lang="en-US" altLang="zh-CN" sz="1200" b="0" i="0" u="none" strike="noStrike" dirty="0">
                        <a:latin typeface="楷体" panose="02010609060101010101" pitchFamily="49" charset="-122"/>
                        <a:ea typeface="楷体" panose="02010609060101010101" pitchFamily="49" charset="-122"/>
                      </a:endParaRPr>
                    </a:p>
                  </a:txBody>
                  <a:tcPr marL="0" marR="0" marT="0" marB="0" anchor="ctr"/>
                </a:tc>
              </a:tr>
              <a:tr h="284215">
                <a:tc>
                  <a:txBody>
                    <a:bodyPr/>
                    <a:lstStyle/>
                    <a:p>
                      <a:pPr marL="0" algn="ctr" defTabSz="914400" rtl="0" eaLnBrk="1" fontAlgn="b" latinLnBrk="0" hangingPunct="1"/>
                      <a:r>
                        <a:rPr lang="zh-CN" altLang="en-US" sz="1200" kern="1200" dirty="0"/>
                        <a:t> 购买商品等流出</a:t>
                      </a:r>
                      <a:endParaRPr lang="zh-CN" altLang="en-US" sz="1200" kern="1200" dirty="0">
                        <a:solidFill>
                          <a:schemeClr val="dk1"/>
                        </a:solidFill>
                        <a:latin typeface="楷体" panose="02010609060101010101" pitchFamily="49" charset="-122"/>
                        <a:ea typeface="楷体" panose="02010609060101010101" pitchFamily="49" charset="-122"/>
                        <a:cs typeface="+mn-cs"/>
                      </a:endParaRPr>
                    </a:p>
                  </a:txBody>
                  <a:tcPr marL="0" marR="0" marT="0" marB="0" anchor="b"/>
                </a:tc>
                <a:tc>
                  <a:txBody>
                    <a:bodyPr/>
                    <a:lstStyle/>
                    <a:p>
                      <a:endParaRPr lang="zh-CN" altLang="en-US"/>
                    </a:p>
                  </a:txBody>
                  <a:tcPr marL="0" marR="0" marT="0" marB="0" anchor="b"/>
                </a:tc>
                <a:tc>
                  <a:txBody>
                    <a:bodyPr/>
                    <a:lstStyle/>
                    <a:p>
                      <a:endParaRPr lang="zh-CN" altLang="en-US"/>
                    </a:p>
                  </a:txBody>
                  <a:tcPr marL="0" marR="0" marT="0" marB="0" anchor="b"/>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algn="ctr" fontAlgn="ctr"/>
                      <a:endParaRPr lang="en-US" altLang="zh-CN" sz="1000" b="0" i="0" u="none" strike="noStrike" dirty="0">
                        <a:latin typeface="楷体" panose="02010609060101010101" pitchFamily="49" charset="-122"/>
                        <a:ea typeface="楷体" panose="02010609060101010101" pitchFamily="49" charset="-122"/>
                      </a:endParaRPr>
                    </a:p>
                  </a:txBody>
                  <a:tcPr marL="0" marR="0" marT="0" marB="0" anchor="ctr"/>
                </a:tc>
              </a:tr>
              <a:tr h="429233">
                <a:tc>
                  <a:txBody>
                    <a:bodyPr/>
                    <a:lstStyle/>
                    <a:p>
                      <a:pPr algn="ctr"/>
                      <a:r>
                        <a:rPr lang="zh-CN" altLang="en-US" sz="1200" dirty="0"/>
                        <a:t>投资活动流入净额</a:t>
                      </a:r>
                      <a:endParaRPr lang="zh-CN" altLang="en-US" sz="1200" dirty="0">
                        <a:latin typeface="楷体" panose="02010609060101010101" pitchFamily="49" charset="-122"/>
                        <a:ea typeface="楷体" panose="02010609060101010101" pitchFamily="49" charset="-122"/>
                      </a:endParaRPr>
                    </a:p>
                  </a:txBody>
                  <a:tcPr/>
                </a:tc>
                <a:tc>
                  <a:txBody>
                    <a:bodyPr/>
                    <a:lstStyle/>
                    <a:p>
                      <a:endParaRPr lang="zh-CN" altLang="en-US"/>
                    </a:p>
                  </a:txBody>
                  <a:tcPr marL="0" marR="0" marT="0" marB="0" anchor="b"/>
                </a:tc>
                <a:tc>
                  <a:txBody>
                    <a:bodyPr/>
                    <a:lstStyle/>
                    <a:p>
                      <a:endParaRPr lang="zh-CN" altLang="en-US"/>
                    </a:p>
                  </a:txBody>
                  <a:tcPr marL="0" marR="0" marT="0" marB="0" anchor="b"/>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endParaRPr lang="zh-CN" altLang="en-US" dirty="0"/>
                    </a:p>
                  </a:txBody>
                  <a:tcPr marL="0" marR="0" marT="0" marB="0" anchor="ctr"/>
                </a:tc>
              </a:tr>
              <a:tr h="473692">
                <a:tc>
                  <a:txBody>
                    <a:bodyPr/>
                    <a:lstStyle/>
                    <a:p>
                      <a:pPr algn="ctr"/>
                      <a:r>
                        <a:rPr lang="zh-CN" altLang="en-US" sz="1200" dirty="0"/>
                        <a:t>融资活动流入净额</a:t>
                      </a:r>
                      <a:endParaRPr lang="zh-CN" altLang="en-US" sz="1200" dirty="0">
                        <a:latin typeface="楷体" panose="02010609060101010101" pitchFamily="49" charset="-122"/>
                        <a:ea typeface="楷体" panose="02010609060101010101" pitchFamily="49" charset="-122"/>
                      </a:endParaRPr>
                    </a:p>
                  </a:txBody>
                  <a:tcPr/>
                </a:tc>
                <a:tc>
                  <a:txBody>
                    <a:bodyPr/>
                    <a:lstStyle/>
                    <a:p>
                      <a:endParaRPr lang="zh-CN" altLang="en-US"/>
                    </a:p>
                  </a:txBody>
                  <a:tcPr marL="0" marR="0" marT="0" marB="0" anchor="b"/>
                </a:tc>
                <a:tc>
                  <a:txBody>
                    <a:bodyPr/>
                    <a:lstStyle/>
                    <a:p>
                      <a:endParaRPr lang="zh-CN" altLang="en-US"/>
                    </a:p>
                  </a:txBody>
                  <a:tcPr marL="0" marR="0" marT="0" marB="0" anchor="b"/>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endParaRPr lang="zh-CN" altLang="en-US"/>
                    </a:p>
                  </a:txBody>
                  <a:tcPr marL="0" marR="0" marT="0" marB="0" anchor="ctr"/>
                </a:tc>
              </a:tr>
              <a:tr h="376240">
                <a:tc>
                  <a:txBody>
                    <a:bodyPr/>
                    <a:lstStyle/>
                    <a:p>
                      <a:pPr algn="ctr"/>
                      <a:r>
                        <a:rPr lang="zh-CN" altLang="en-US" sz="1200" dirty="0"/>
                        <a:t>外汇兑换率变动影响</a:t>
                      </a:r>
                      <a:endParaRPr lang="zh-CN" altLang="en-US" sz="1200" dirty="0">
                        <a:latin typeface="楷体" panose="02010609060101010101" pitchFamily="49" charset="-122"/>
                        <a:ea typeface="楷体" panose="02010609060101010101" pitchFamily="49" charset="-122"/>
                      </a:endParaRPr>
                    </a:p>
                  </a:txBody>
                  <a:tcPr/>
                </a:tc>
                <a:tc>
                  <a:txBody>
                    <a:bodyPr/>
                    <a:lstStyle/>
                    <a:p>
                      <a:endParaRPr lang="zh-CN" altLang="en-US"/>
                    </a:p>
                  </a:txBody>
                  <a:tcPr marL="0" marR="0" marT="0" marB="0" anchor="b"/>
                </a:tc>
                <a:tc>
                  <a:txBody>
                    <a:bodyPr/>
                    <a:lstStyle/>
                    <a:p>
                      <a:endParaRPr lang="zh-CN" altLang="en-US"/>
                    </a:p>
                  </a:txBody>
                  <a:tcPr marL="0" marR="0" marT="0" marB="0" anchor="b"/>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endParaRPr lang="zh-CN" altLang="en-US"/>
                    </a:p>
                  </a:txBody>
                  <a:tcPr marL="0" marR="0" marT="0" marB="0" anchor="ctr"/>
                </a:tc>
              </a:tr>
              <a:tr h="426323">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200" dirty="0"/>
                        <a:t>现金及现金等价物增加</a:t>
                      </a:r>
                      <a:endParaRPr lang="zh-CN" altLang="en-US" sz="1200" dirty="0">
                        <a:latin typeface="楷体" panose="02010609060101010101" pitchFamily="49" charset="-122"/>
                        <a:ea typeface="楷体" panose="02010609060101010101" pitchFamily="49" charset="-122"/>
                      </a:endParaRPr>
                    </a:p>
                  </a:txBody>
                  <a:tcPr/>
                </a:tc>
                <a:tc>
                  <a:txBody>
                    <a:bodyPr/>
                    <a:lstStyle/>
                    <a:p>
                      <a:endParaRPr lang="zh-CN" altLang="en-US"/>
                    </a:p>
                  </a:txBody>
                  <a:tcPr marL="0" marR="0" marT="0" marB="0" anchor="b"/>
                </a:tc>
                <a:tc>
                  <a:txBody>
                    <a:bodyPr/>
                    <a:lstStyle/>
                    <a:p>
                      <a:endParaRPr lang="zh-CN" altLang="en-US"/>
                    </a:p>
                  </a:txBody>
                  <a:tcPr marL="0" marR="0" marT="0" marB="0" anchor="b"/>
                </a:tc>
                <a:tc>
                  <a:txBody>
                    <a:bodyPr/>
                    <a:lstStyle/>
                    <a:p>
                      <a:endParaRPr lang="zh-CN" altLang="en-US"/>
                    </a:p>
                  </a:txBody>
                  <a:tcPr marL="0" marR="0" marT="0" marB="0" anchor="ctr"/>
                </a:tc>
                <a:tc>
                  <a:txBody>
                    <a:bodyPr/>
                    <a:lstStyle/>
                    <a:p>
                      <a:endParaRPr lang="zh-CN" altLang="en-US" dirty="0"/>
                    </a:p>
                  </a:txBody>
                  <a:tcPr marL="0" marR="0" marT="0" marB="0" anchor="ctr"/>
                </a:tc>
                <a:tc>
                  <a:txBody>
                    <a:bodyPr/>
                    <a:lstStyle/>
                    <a:p>
                      <a:endParaRPr lang="zh-CN" altLang="en-US" dirty="0"/>
                    </a:p>
                  </a:txBody>
                  <a:tcPr marL="0" marR="0" marT="0" marB="0" anchor="ctr"/>
                </a:tc>
              </a:tr>
            </a:tbl>
          </a:graphicData>
        </a:graphic>
      </p:graphicFrame>
      <p:sp>
        <p:nvSpPr>
          <p:cNvPr id="17" name="TextBox 7"/>
          <p:cNvSpPr txBox="1"/>
          <p:nvPr/>
        </p:nvSpPr>
        <p:spPr>
          <a:xfrm>
            <a:off x="431540" y="811451"/>
            <a:ext cx="3960440" cy="338554"/>
          </a:xfrm>
          <a:prstGeom prst="rect">
            <a:avLst/>
          </a:prstGeom>
          <a:noFill/>
        </p:spPr>
        <p:txBody>
          <a:bodyPr wrap="square" rtlCol="0">
            <a:spAutoFit/>
          </a:bodyPr>
          <a:lstStyle/>
          <a:p>
            <a:pPr defTabSz="914400"/>
            <a:r>
              <a:rPr lang="zh-CN" altLang="en-US" sz="1600" dirty="0">
                <a:solidFill>
                  <a:prstClr val="black"/>
                </a:solidFill>
                <a:latin typeface="+mn-ea"/>
              </a:rPr>
              <a:t>现金流量结构分析</a:t>
            </a:r>
          </a:p>
        </p:txBody>
      </p:sp>
      <p:sp>
        <p:nvSpPr>
          <p:cNvPr id="18" name="TextBox 8"/>
          <p:cNvSpPr txBox="1"/>
          <p:nvPr/>
        </p:nvSpPr>
        <p:spPr>
          <a:xfrm>
            <a:off x="7245440" y="888395"/>
            <a:ext cx="1296144" cy="261610"/>
          </a:xfrm>
          <a:prstGeom prst="rect">
            <a:avLst/>
          </a:prstGeom>
          <a:noFill/>
        </p:spPr>
        <p:txBody>
          <a:bodyPr wrap="square" rtlCol="0">
            <a:spAutoFit/>
          </a:bodyPr>
          <a:lstStyle/>
          <a:p>
            <a:r>
              <a:rPr lang="zh-CN" altLang="en-US" sz="1100" b="1" dirty="0"/>
              <a:t>单位：万元</a:t>
            </a:r>
          </a:p>
        </p:txBody>
      </p:sp>
      <p:sp>
        <p:nvSpPr>
          <p:cNvPr id="19" name="TextBox 8"/>
          <p:cNvSpPr txBox="1"/>
          <p:nvPr/>
        </p:nvSpPr>
        <p:spPr>
          <a:xfrm>
            <a:off x="495548" y="4332049"/>
            <a:ext cx="8328896" cy="295978"/>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分析：从收入结构对比分析看，</a:t>
            </a:r>
            <a:r>
              <a:rPr lang="en-US" altLang="zh-CN" sz="1000" dirty="0">
                <a:latin typeface="+mn-ea"/>
                <a:cs typeface="+mn-ea"/>
                <a:sym typeface="+mn-lt"/>
              </a:rPr>
              <a:t>2017</a:t>
            </a:r>
            <a:r>
              <a:rPr lang="zh-CN" altLang="en-US" sz="1000" dirty="0">
                <a:latin typeface="+mn-ea"/>
                <a:cs typeface="+mn-ea"/>
                <a:sym typeface="+mn-lt"/>
              </a:rPr>
              <a:t>年，投入比例较高的是购买大型设备，主要收入来自于</a:t>
            </a:r>
            <a:r>
              <a:rPr lang="en-US" altLang="zh-CN" sz="1000" dirty="0">
                <a:latin typeface="+mn-ea"/>
                <a:cs typeface="+mn-ea"/>
                <a:sym typeface="+mn-lt"/>
              </a:rPr>
              <a:t>XX</a:t>
            </a:r>
            <a:r>
              <a:rPr lang="zh-CN" altLang="en-US" sz="1000" dirty="0">
                <a:latin typeface="+mn-ea"/>
                <a:cs typeface="+mn-ea"/>
                <a:sym typeface="+mn-lt"/>
              </a:rPr>
              <a:t>产品的销售利润。</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818108" y="367929"/>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现金流量表</a:t>
            </a:r>
          </a:p>
        </p:txBody>
      </p:sp>
      <p:graphicFrame>
        <p:nvGraphicFramePr>
          <p:cNvPr id="4" name="内容占位符 10"/>
          <p:cNvGraphicFramePr/>
          <p:nvPr/>
        </p:nvGraphicFramePr>
        <p:xfrm>
          <a:off x="798358" y="1168627"/>
          <a:ext cx="7632409" cy="3284670"/>
        </p:xfrm>
        <a:graphic>
          <a:graphicData uri="http://schemas.openxmlformats.org/drawingml/2006/table">
            <a:tbl>
              <a:tblPr firstRow="1" bandRow="1">
                <a:tableStyleId>{7DF18680-E054-41AD-8BC1-D1AEF772440D}</a:tableStyleId>
              </a:tblPr>
              <a:tblGrid>
                <a:gridCol w="1752121"/>
                <a:gridCol w="1820496"/>
                <a:gridCol w="1871778"/>
                <a:gridCol w="2188014"/>
              </a:tblGrid>
              <a:tr h="218978">
                <a:tc>
                  <a:txBody>
                    <a:bodyPr/>
                    <a:lstStyle/>
                    <a:p>
                      <a:pPr algn="ctr" fontAlgn="ctr"/>
                      <a:r>
                        <a:rPr lang="zh-CN" altLang="en-US" sz="1050" u="none" strike="noStrike" dirty="0"/>
                        <a:t>银行名称</a:t>
                      </a:r>
                      <a:endParaRPr lang="zh-CN" altLang="en-US" sz="1050" b="0" i="0" u="none" strike="noStrike" dirty="0">
                        <a:latin typeface="宋体" panose="02010600030101010101" pitchFamily="2" charset="-122"/>
                      </a:endParaRPr>
                    </a:p>
                  </a:txBody>
                  <a:tcPr marL="9525" marR="9525" marT="9525" marB="0" anchor="ctr"/>
                </a:tc>
                <a:tc>
                  <a:txBody>
                    <a:bodyPr/>
                    <a:lstStyle/>
                    <a:p>
                      <a:pPr algn="ctr" fontAlgn="ctr"/>
                      <a:r>
                        <a:rPr lang="zh-CN" altLang="en-US" sz="1050" u="none" strike="noStrike" dirty="0"/>
                        <a:t>币别</a:t>
                      </a:r>
                      <a:endParaRPr lang="zh-CN" altLang="en-US" sz="1050" b="0" i="0" u="none" strike="noStrike" dirty="0">
                        <a:latin typeface="宋体" panose="02010600030101010101" pitchFamily="2" charset="-122"/>
                      </a:endParaRPr>
                    </a:p>
                  </a:txBody>
                  <a:tcPr marL="9525" marR="9525" marT="9525" marB="0" anchor="ctr"/>
                </a:tc>
                <a:tc>
                  <a:txBody>
                    <a:bodyPr/>
                    <a:lstStyle/>
                    <a:p>
                      <a:pPr algn="ctr" fontAlgn="ctr"/>
                      <a:r>
                        <a:rPr lang="zh-CN" altLang="en-US" sz="1050" u="none" strike="noStrike" dirty="0"/>
                        <a:t>状态</a:t>
                      </a:r>
                      <a:endParaRPr lang="zh-CN" altLang="en-US" sz="1050" b="0" i="0" u="none" strike="noStrike" dirty="0">
                        <a:latin typeface="宋体" panose="02010600030101010101" pitchFamily="2" charset="-122"/>
                      </a:endParaRPr>
                    </a:p>
                  </a:txBody>
                  <a:tcPr marL="9525" marR="9525" marT="9525" marB="0" anchor="ctr"/>
                </a:tc>
                <a:tc>
                  <a:txBody>
                    <a:bodyPr/>
                    <a:lstStyle/>
                    <a:p>
                      <a:pPr algn="ctr" fontAlgn="ctr"/>
                      <a:r>
                        <a:rPr lang="zh-CN" altLang="en-US" sz="1050" u="none" strike="noStrike" dirty="0"/>
                        <a:t>资金储备比</a:t>
                      </a:r>
                      <a:endParaRPr lang="zh-CN" altLang="en-US" sz="1050" b="0" i="0" u="none" strike="noStrike" dirty="0">
                        <a:latin typeface="宋体" panose="02010600030101010101" pitchFamily="2" charset="-122"/>
                      </a:endParaRPr>
                    </a:p>
                  </a:txBody>
                  <a:tcPr marL="9525" marR="9525" marT="9525" marB="0" anchor="ctr"/>
                </a:tc>
              </a:tr>
              <a:tr h="218978">
                <a:tc>
                  <a:txBody>
                    <a:bodyPr/>
                    <a:lstStyle/>
                    <a:p>
                      <a:pPr algn="ctr" fontAlgn="ctr"/>
                      <a:r>
                        <a:rPr lang="zh-CN" altLang="en-US" sz="1000" u="none" strike="noStrike" dirty="0"/>
                        <a:t>银行</a:t>
                      </a:r>
                      <a:r>
                        <a:rPr lang="en-US" altLang="zh-CN" sz="1000" u="none" strike="noStrike" dirty="0"/>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t>人民币</a:t>
                      </a:r>
                      <a:endParaRPr lang="zh-CN" altLang="en-US" sz="1000" b="0" i="0" u="none" strike="noStrike" dirty="0">
                        <a:latin typeface="+mn-ea"/>
                        <a:ea typeface="+mn-ea"/>
                      </a:endParaRPr>
                    </a:p>
                  </a:txBody>
                  <a:tcPr marL="9525" marR="9525" marT="9525" marB="0" anchor="ctr"/>
                </a:tc>
                <a:tc>
                  <a:txBody>
                    <a:bodyPr/>
                    <a:lstStyle/>
                    <a:p>
                      <a:pPr algn="ctr" fontAlgn="ctr"/>
                      <a:r>
                        <a:rPr lang="zh-CN" altLang="en-US" sz="1000" u="none" strike="noStrike"/>
                        <a:t>常用</a:t>
                      </a:r>
                      <a:endParaRPr lang="zh-CN" altLang="en-US" sz="1000" b="0" i="0" u="none" strike="noStrike">
                        <a:latin typeface="+mn-ea"/>
                        <a:ea typeface="+mn-ea"/>
                      </a:endParaRPr>
                    </a:p>
                  </a:txBody>
                  <a:tcPr marL="9525" marR="9525" marT="9525" marB="0" anchor="ctr"/>
                </a:tc>
                <a:tc>
                  <a:txBody>
                    <a:bodyPr/>
                    <a:lstStyle/>
                    <a:p>
                      <a:pPr algn="ctr" fontAlgn="ctr"/>
                      <a:r>
                        <a:rPr lang="en-US" altLang="zh-CN" sz="1000" u="none" strike="noStrike" dirty="0"/>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t>美元</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t>美元</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t>人民币</a:t>
                      </a:r>
                      <a:endParaRPr lang="zh-CN" altLang="en-US" sz="1000" b="0" i="0" u="none" strike="noStrike" dirty="0">
                        <a:latin typeface="+mn-ea"/>
                        <a:ea typeface="+mn-ea"/>
                      </a:endParaRPr>
                    </a:p>
                  </a:txBody>
                  <a:tcPr marL="9525" marR="9525" marT="9525" marB="0" anchor="ctr"/>
                </a:tc>
                <a:tc>
                  <a:txBody>
                    <a:bodyPr/>
                    <a:lstStyle/>
                    <a:p>
                      <a:pPr algn="ctr" fontAlgn="ctr"/>
                      <a:r>
                        <a:rPr lang="zh-CN" altLang="en-US" sz="1000" u="none" strike="noStrike" dirty="0"/>
                        <a:t>常用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t>港币</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t>常用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t>不用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t>不用</a:t>
                      </a:r>
                      <a:endParaRPr lang="zh-CN" altLang="en-US" sz="1000" b="0" i="0" u="none" strike="noStrike" dirty="0">
                        <a:solidFill>
                          <a:schemeClr val="tx1"/>
                        </a:solidFill>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a:t>银行</a:t>
                      </a:r>
                      <a:r>
                        <a:rPr lang="en-US" altLang="zh-CN" sz="1000" u="none" strike="noStrike"/>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t>美元</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t>不用</a:t>
                      </a:r>
                      <a:endParaRPr lang="zh-CN" altLang="en-US" sz="1000" b="0" i="0" u="none" strike="noStrike" dirty="0">
                        <a:solidFill>
                          <a:schemeClr val="tx1"/>
                        </a:solidFill>
                        <a:latin typeface="+mn-ea"/>
                        <a:ea typeface="+mn-ea"/>
                      </a:endParaRPr>
                    </a:p>
                  </a:txBody>
                  <a:tcPr marL="9525" marR="9525" marT="9525" marB="0" anchor="ctr"/>
                </a:tc>
                <a:tc>
                  <a:txBody>
                    <a:bodyPr/>
                    <a:lstStyle/>
                    <a:p>
                      <a:pPr algn="ctr" fontAlgn="ctr"/>
                      <a:r>
                        <a:rPr lang="en-US" altLang="zh-CN" sz="1000" u="none" strike="noStrike"/>
                        <a:t>%</a:t>
                      </a:r>
                      <a:endParaRPr lang="en-US" altLang="zh-CN" sz="1000" b="0" i="0" u="none" strike="noStrike" dirty="0">
                        <a:latin typeface="+mn-ea"/>
                        <a:ea typeface="+mn-ea"/>
                      </a:endParaRPr>
                    </a:p>
                  </a:txBody>
                  <a:tcPr marL="9525" marR="9525" marT="9525" marB="0" anchor="ctr"/>
                </a:tc>
              </a:tr>
              <a:tr h="218978">
                <a:tc>
                  <a:txBody>
                    <a:bodyPr/>
                    <a:lstStyle/>
                    <a:p>
                      <a:pPr algn="ctr" fontAlgn="ctr"/>
                      <a:r>
                        <a:rPr lang="zh-CN" altLang="en-US" sz="1000" u="none" strike="noStrike" dirty="0"/>
                        <a:t>银行</a:t>
                      </a:r>
                      <a:r>
                        <a:rPr lang="en-US" altLang="zh-CN" sz="1000" u="none" strike="noStrike" dirty="0"/>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t>港币</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t>不用</a:t>
                      </a:r>
                      <a:endParaRPr lang="zh-CN" altLang="en-US" sz="1000" b="0" i="0" u="none" strike="noStrike" dirty="0">
                        <a:solidFill>
                          <a:schemeClr val="tx1"/>
                        </a:solidFill>
                        <a:latin typeface="+mn-ea"/>
                        <a:ea typeface="+mn-ea"/>
                      </a:endParaRPr>
                    </a:p>
                  </a:txBody>
                  <a:tcPr marL="9525" marR="9525" marT="9525" marB="0" anchor="ctr"/>
                </a:tc>
                <a:tc>
                  <a:txBody>
                    <a:bodyPr/>
                    <a:lstStyle/>
                    <a:p>
                      <a:pPr algn="ctr" fontAlgn="ctr"/>
                      <a:r>
                        <a:rPr lang="en-US" altLang="zh-CN" sz="1000" u="none" strike="noStrike" dirty="0"/>
                        <a:t>%</a:t>
                      </a:r>
                      <a:endParaRPr lang="en-US" altLang="zh-CN" sz="1000" b="0" i="0" u="none" strike="noStrike" dirty="0">
                        <a:latin typeface="+mn-ea"/>
                        <a:ea typeface="+mn-ea"/>
                      </a:endParaRPr>
                    </a:p>
                  </a:txBody>
                  <a:tcPr marL="9525" marR="9525" marT="9525" marB="0" anchor="ctr"/>
                </a:tc>
              </a:tr>
            </a:tbl>
          </a:graphicData>
        </a:graphic>
      </p:graphicFrame>
      <p:sp>
        <p:nvSpPr>
          <p:cNvPr id="6" name="TextBox 7"/>
          <p:cNvSpPr txBox="1"/>
          <p:nvPr/>
        </p:nvSpPr>
        <p:spPr>
          <a:xfrm>
            <a:off x="713232" y="690202"/>
            <a:ext cx="3960440" cy="338554"/>
          </a:xfrm>
          <a:prstGeom prst="rect">
            <a:avLst/>
          </a:prstGeom>
          <a:noFill/>
        </p:spPr>
        <p:txBody>
          <a:bodyPr wrap="square" rtlCol="0">
            <a:spAutoFit/>
          </a:bodyPr>
          <a:lstStyle/>
          <a:p>
            <a:pPr defTabSz="914400"/>
            <a:r>
              <a:rPr lang="zh-CN" altLang="en-US" sz="1600" dirty="0">
                <a:solidFill>
                  <a:prstClr val="black"/>
                </a:solidFill>
                <a:latin typeface="+mn-ea"/>
              </a:rPr>
              <a:t>货币资金情况</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818108" y="367929"/>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资产利润表</a:t>
            </a:r>
          </a:p>
        </p:txBody>
      </p:sp>
      <p:sp>
        <p:nvSpPr>
          <p:cNvPr id="6" name="TextBox 7"/>
          <p:cNvSpPr txBox="1"/>
          <p:nvPr/>
        </p:nvSpPr>
        <p:spPr>
          <a:xfrm>
            <a:off x="713232" y="690202"/>
            <a:ext cx="3960440" cy="338554"/>
          </a:xfrm>
          <a:prstGeom prst="rect">
            <a:avLst/>
          </a:prstGeom>
          <a:noFill/>
        </p:spPr>
        <p:txBody>
          <a:bodyPr wrap="square" rtlCol="0">
            <a:spAutoFit/>
          </a:bodyPr>
          <a:lstStyle/>
          <a:p>
            <a:pPr defTabSz="914400"/>
            <a:r>
              <a:rPr lang="zh-CN" altLang="en-US" sz="1600" dirty="0">
                <a:solidFill>
                  <a:prstClr val="black"/>
                </a:solidFill>
                <a:latin typeface="+mn-ea"/>
              </a:rPr>
              <a:t>货币资金趋势</a:t>
            </a:r>
          </a:p>
        </p:txBody>
      </p:sp>
      <p:graphicFrame>
        <p:nvGraphicFramePr>
          <p:cNvPr id="7" name="图表 6"/>
          <p:cNvGraphicFramePr/>
          <p:nvPr/>
        </p:nvGraphicFramePr>
        <p:xfrm>
          <a:off x="713232" y="1028756"/>
          <a:ext cx="6979648" cy="426480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6" grpId="0"/>
      <p:bldGraphic spid="7"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rot="21032569">
            <a:off x="-722140" y="2022662"/>
            <a:ext cx="10299093" cy="2638018"/>
          </a:xfrm>
          <a:prstGeom prst="rect">
            <a:avLst/>
          </a:prstGeom>
          <a:solidFill>
            <a:srgbClr val="2C9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2"/>
          <p:cNvSpPr/>
          <p:nvPr/>
        </p:nvSpPr>
        <p:spPr>
          <a:xfrm>
            <a:off x="4572000" y="2727674"/>
            <a:ext cx="4424609" cy="1077218"/>
          </a:xfrm>
          <a:prstGeom prst="rect">
            <a:avLst/>
          </a:prstGeom>
        </p:spPr>
        <p:txBody>
          <a:bodyPr wrap="none">
            <a:spAutoFit/>
          </a:bodyPr>
          <a:lstStyle/>
          <a:p>
            <a:r>
              <a:rPr lang="zh-CN" altLang="en-US" sz="3200" b="1" dirty="0">
                <a:solidFill>
                  <a:schemeClr val="bg1"/>
                </a:solidFill>
                <a:cs typeface="+mn-ea"/>
                <a:sym typeface="+mn-lt"/>
              </a:rPr>
              <a:t>三大报表分析</a:t>
            </a:r>
            <a:r>
              <a:rPr lang="en-US" altLang="zh-CN" sz="3200" b="1" dirty="0">
                <a:solidFill>
                  <a:schemeClr val="bg1"/>
                </a:solidFill>
                <a:cs typeface="+mn-ea"/>
                <a:sym typeface="+mn-lt"/>
              </a:rPr>
              <a:t>-</a:t>
            </a:r>
            <a:r>
              <a:rPr lang="zh-CN" altLang="en-US" sz="3200" b="1" dirty="0">
                <a:solidFill>
                  <a:schemeClr val="bg1"/>
                </a:solidFill>
                <a:cs typeface="+mn-ea"/>
                <a:sym typeface="+mn-lt"/>
              </a:rPr>
              <a:t>费用分析</a:t>
            </a:r>
          </a:p>
          <a:p>
            <a:endParaRPr lang="zh-CN" altLang="en-US" sz="3200" b="1" dirty="0">
              <a:solidFill>
                <a:schemeClr val="bg1"/>
              </a:solidFill>
              <a:cs typeface="+mn-ea"/>
              <a:sym typeface="+mn-lt"/>
            </a:endParaRPr>
          </a:p>
        </p:txBody>
      </p:sp>
      <p:grpSp>
        <p:nvGrpSpPr>
          <p:cNvPr id="2" name="组合 1"/>
          <p:cNvGrpSpPr/>
          <p:nvPr/>
        </p:nvGrpSpPr>
        <p:grpSpPr>
          <a:xfrm>
            <a:off x="-663549" y="367479"/>
            <a:ext cx="5320256" cy="5320256"/>
            <a:chOff x="-663549" y="367479"/>
            <a:chExt cx="5320256" cy="5320256"/>
          </a:xfrm>
        </p:grpSpPr>
        <p:sp>
          <p:nvSpPr>
            <p:cNvPr id="24" name="Oval 9"/>
            <p:cNvSpPr>
              <a:spLocks noChangeArrowheads="1"/>
            </p:cNvSpPr>
            <p:nvPr/>
          </p:nvSpPr>
          <p:spPr bwMode="auto">
            <a:xfrm>
              <a:off x="0" y="1162000"/>
              <a:ext cx="3927496" cy="3927496"/>
            </a:xfrm>
            <a:prstGeom prst="ellipse">
              <a:avLst/>
            </a:prstGeom>
            <a:solidFill>
              <a:srgbClr val="00B0F0">
                <a:alpha val="51000"/>
              </a:srgbClr>
            </a:solidFill>
            <a:ln>
              <a:noFill/>
            </a:ln>
            <a:effectLst/>
          </p:spPr>
          <p:txBody>
            <a:bodyPr wrap="none" anchor="ctr"/>
            <a:lstStyle/>
            <a:p>
              <a:endParaRPr lang="zh-CN" altLang="en-US" dirty="0">
                <a:cs typeface="+mn-ea"/>
                <a:sym typeface="+mn-lt"/>
              </a:endParaRPr>
            </a:p>
          </p:txBody>
        </p:sp>
        <p:sp>
          <p:nvSpPr>
            <p:cNvPr id="25" name="椭圆 24"/>
            <p:cNvSpPr/>
            <p:nvPr/>
          </p:nvSpPr>
          <p:spPr>
            <a:xfrm>
              <a:off x="-663549" y="367479"/>
              <a:ext cx="5320256" cy="5320256"/>
            </a:xfrm>
            <a:prstGeom prst="ellipse">
              <a:avLst/>
            </a:prstGeom>
            <a:noFill/>
            <a:ln>
              <a:solidFill>
                <a:srgbClr val="0070C0">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椭圆 27"/>
            <p:cNvSpPr/>
            <p:nvPr/>
          </p:nvSpPr>
          <p:spPr>
            <a:xfrm>
              <a:off x="458726" y="1638181"/>
              <a:ext cx="3075709" cy="3075709"/>
            </a:xfrm>
            <a:prstGeom prst="ellipse">
              <a:avLst/>
            </a:prstGeom>
            <a:solidFill>
              <a:srgbClr val="0070C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9" name="椭圆 28"/>
          <p:cNvSpPr/>
          <p:nvPr/>
        </p:nvSpPr>
        <p:spPr>
          <a:xfrm>
            <a:off x="1361249" y="2534232"/>
            <a:ext cx="1270660" cy="127066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6" name="图片 5"/>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285030" y="1795243"/>
            <a:ext cx="4072807" cy="349158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childTnLst>
                          </p:cTn>
                        </p:par>
                        <p:par>
                          <p:cTn id="12" fill="hold">
                            <p:stCondLst>
                              <p:cond delay="0"/>
                            </p:stCondLst>
                            <p:childTnLst>
                              <p:par>
                                <p:cTn id="13" presetID="42"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7055852" y="386250"/>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费用分析</a:t>
            </a:r>
          </a:p>
        </p:txBody>
      </p:sp>
      <p:graphicFrame>
        <p:nvGraphicFramePr>
          <p:cNvPr id="4" name="内容占位符 6"/>
          <p:cNvGraphicFramePr/>
          <p:nvPr/>
        </p:nvGraphicFramePr>
        <p:xfrm>
          <a:off x="640081" y="1079104"/>
          <a:ext cx="4553713" cy="2993682"/>
        </p:xfrm>
        <a:graphic>
          <a:graphicData uri="http://schemas.openxmlformats.org/drawingml/2006/table">
            <a:tbl>
              <a:tblPr firstRow="1" bandRow="1">
                <a:tableStyleId>{7DF18680-E054-41AD-8BC1-D1AEF772440D}</a:tableStyleId>
              </a:tblPr>
              <a:tblGrid>
                <a:gridCol w="1019994"/>
                <a:gridCol w="793284"/>
                <a:gridCol w="793284"/>
                <a:gridCol w="793284"/>
                <a:gridCol w="1153867"/>
              </a:tblGrid>
              <a:tr h="354167">
                <a:tc>
                  <a:txBody>
                    <a:bodyPr/>
                    <a:lstStyle/>
                    <a:p>
                      <a:pPr algn="ctr"/>
                      <a:r>
                        <a:rPr lang="zh-CN" altLang="en-US" sz="1400" dirty="0"/>
                        <a:t>年份</a:t>
                      </a:r>
                    </a:p>
                  </a:txBody>
                  <a:tcPr/>
                </a:tc>
                <a:tc>
                  <a:txBody>
                    <a:bodyPr/>
                    <a:lstStyle/>
                    <a:p>
                      <a:pPr algn="ctr"/>
                      <a:r>
                        <a:rPr lang="en-US" altLang="zh-CN" sz="1400" dirty="0"/>
                        <a:t>2014</a:t>
                      </a:r>
                      <a:r>
                        <a:rPr lang="zh-CN" altLang="en-US" sz="1400" dirty="0"/>
                        <a:t>年</a:t>
                      </a:r>
                    </a:p>
                  </a:txBody>
                  <a:tcPr/>
                </a:tc>
                <a:tc>
                  <a:txBody>
                    <a:bodyPr/>
                    <a:lstStyle/>
                    <a:p>
                      <a:pPr algn="ctr"/>
                      <a:r>
                        <a:rPr lang="en-US" altLang="zh-CN" sz="1400" dirty="0"/>
                        <a:t>2015</a:t>
                      </a:r>
                      <a:r>
                        <a:rPr lang="zh-CN" altLang="en-US" sz="1400" dirty="0"/>
                        <a:t>年</a:t>
                      </a:r>
                    </a:p>
                  </a:txBody>
                  <a:tcPr/>
                </a:tc>
                <a:tc>
                  <a:txBody>
                    <a:bodyPr/>
                    <a:lstStyle/>
                    <a:p>
                      <a:pPr algn="ctr"/>
                      <a:r>
                        <a:rPr lang="en-US" altLang="zh-CN" sz="1400" dirty="0"/>
                        <a:t>2016</a:t>
                      </a:r>
                      <a:r>
                        <a:rPr lang="zh-CN" altLang="en-US" sz="1400" dirty="0"/>
                        <a:t>年</a:t>
                      </a:r>
                    </a:p>
                  </a:txBody>
                  <a:tcPr/>
                </a:tc>
                <a:tc>
                  <a:txBody>
                    <a:bodyPr/>
                    <a:lstStyle/>
                    <a:p>
                      <a:pPr algn="ctr"/>
                      <a:r>
                        <a:rPr lang="en-US" altLang="zh-CN" sz="1200" dirty="0"/>
                        <a:t>2017</a:t>
                      </a:r>
                      <a:r>
                        <a:rPr lang="zh-CN" altLang="en-US" sz="1200" dirty="0"/>
                        <a:t>年</a:t>
                      </a:r>
                    </a:p>
                  </a:txBody>
                  <a:tcPr/>
                </a:tc>
              </a:tr>
              <a:tr h="354167">
                <a:tc>
                  <a:txBody>
                    <a:bodyPr/>
                    <a:lstStyle/>
                    <a:p>
                      <a:r>
                        <a:rPr lang="zh-CN" altLang="en-US" sz="1400" dirty="0"/>
                        <a:t>销售费用</a:t>
                      </a:r>
                      <a:endParaRPr lang="zh-CN" altLang="en-US" sz="1400" b="1" dirty="0">
                        <a:latin typeface="楷体" panose="02010609060101010101" pitchFamily="49" charset="-122"/>
                        <a:ea typeface="楷体" panose="02010609060101010101" pitchFamily="49" charset="-122"/>
                      </a:endParaRPr>
                    </a:p>
                  </a:txBody>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a:solidFill>
                          <a:srgbClr val="000000"/>
                        </a:solidFill>
                        <a:latin typeface="MS Sans Serif"/>
                      </a:endParaRPr>
                    </a:p>
                  </a:txBody>
                  <a:tcPr marL="9525" marR="9525" marT="9525" marB="0" anchor="ctr"/>
                </a:tc>
                <a:tc>
                  <a:txBody>
                    <a:bodyPr/>
                    <a:lstStyle/>
                    <a:p>
                      <a:pPr algn="ctr" fontAlgn="ctr"/>
                      <a:endParaRPr lang="en-US" altLang="zh-CN" sz="1200" b="0" i="0" u="none" strike="noStrike">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r>
              <a:tr h="354167">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900" dirty="0"/>
                        <a:t>其中：</a:t>
                      </a:r>
                      <a:endParaRPr lang="en-US" altLang="zh-CN" sz="900"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sz="900" dirty="0"/>
                        <a:t>**********</a:t>
                      </a:r>
                      <a:endParaRPr lang="zh-CN" altLang="en-US" sz="900" b="1" dirty="0">
                        <a:latin typeface="楷体" panose="02010609060101010101" pitchFamily="49" charset="-122"/>
                        <a:ea typeface="楷体" panose="02010609060101010101" pitchFamily="49" charset="-122"/>
                      </a:endParaRPr>
                    </a:p>
                  </a:txBody>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r>
              <a:tr h="354167">
                <a:tc>
                  <a:txBody>
                    <a:bodyPr/>
                    <a:lstStyle/>
                    <a:p>
                      <a:r>
                        <a:rPr lang="zh-CN" altLang="en-US" sz="1400" dirty="0"/>
                        <a:t>管理费用</a:t>
                      </a:r>
                      <a:endParaRPr lang="zh-CN" altLang="en-US" sz="1400" b="1" dirty="0">
                        <a:latin typeface="楷体" panose="02010609060101010101" pitchFamily="49" charset="-122"/>
                        <a:ea typeface="楷体" panose="02010609060101010101" pitchFamily="49" charset="-122"/>
                      </a:endParaRPr>
                    </a:p>
                  </a:txBody>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r>
              <a:tr h="428621">
                <a:tc>
                  <a:txBody>
                    <a:bodyPr/>
                    <a:lstStyle/>
                    <a:p>
                      <a:endParaRPr lang="en-US" altLang="zh-CN" sz="900" dirty="0"/>
                    </a:p>
                    <a:p>
                      <a:r>
                        <a:rPr lang="zh-CN" altLang="en-US" sz="900" dirty="0"/>
                        <a:t>其中：</a:t>
                      </a:r>
                      <a:endParaRPr lang="en-US" altLang="zh-CN" sz="900" dirty="0"/>
                    </a:p>
                    <a:p>
                      <a:r>
                        <a:rPr lang="en-US" altLang="zh-CN" sz="900" dirty="0"/>
                        <a:t>***********</a:t>
                      </a:r>
                      <a:endParaRPr lang="zh-CN" altLang="en-US" sz="900" b="1" dirty="0">
                        <a:latin typeface="楷体" panose="02010609060101010101" pitchFamily="49" charset="-122"/>
                        <a:ea typeface="楷体" panose="02010609060101010101" pitchFamily="49" charset="-122"/>
                      </a:endParaRPr>
                    </a:p>
                  </a:txBody>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r>
              <a:tr h="354167">
                <a:tc>
                  <a:txBody>
                    <a:bodyPr/>
                    <a:lstStyle/>
                    <a:p>
                      <a:r>
                        <a:rPr lang="zh-CN" altLang="en-US" sz="1400" dirty="0"/>
                        <a:t>财务费用</a:t>
                      </a:r>
                      <a:endParaRPr lang="zh-CN" altLang="en-US" sz="1400" b="1" dirty="0">
                        <a:latin typeface="楷体" panose="02010609060101010101" pitchFamily="49" charset="-122"/>
                        <a:ea typeface="楷体" panose="02010609060101010101" pitchFamily="49" charset="-122"/>
                      </a:endParaRPr>
                    </a:p>
                  </a:txBody>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r>
              <a:tr h="354167">
                <a:tc>
                  <a:txBody>
                    <a:bodyPr/>
                    <a:lstStyle/>
                    <a:p>
                      <a:r>
                        <a:rPr lang="zh-CN" altLang="en-US" sz="1400" baseline="0" dirty="0"/>
                        <a:t>  </a:t>
                      </a:r>
                      <a:r>
                        <a:rPr lang="zh-CN" altLang="en-US" sz="1400" dirty="0"/>
                        <a:t>合计</a:t>
                      </a:r>
                      <a:endParaRPr lang="zh-CN" altLang="en-US" sz="1400" b="1" dirty="0">
                        <a:latin typeface="楷体" panose="02010609060101010101" pitchFamily="49" charset="-122"/>
                        <a:ea typeface="楷体" panose="02010609060101010101" pitchFamily="49" charset="-122"/>
                      </a:endParaRPr>
                    </a:p>
                  </a:txBody>
                  <a:tcP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r>
              <a:tr h="354167">
                <a:tc>
                  <a:txBody>
                    <a:bodyPr/>
                    <a:lstStyle/>
                    <a:p>
                      <a:r>
                        <a:rPr lang="zh-CN" altLang="en-US" sz="1400" dirty="0"/>
                        <a:t>费率比</a:t>
                      </a:r>
                      <a:endParaRPr lang="zh-CN" altLang="en-US" sz="1400" b="1" dirty="0">
                        <a:latin typeface="楷体" panose="02010609060101010101" pitchFamily="49" charset="-122"/>
                        <a:ea typeface="楷体" panose="02010609060101010101" pitchFamily="49" charset="-122"/>
                      </a:endParaRPr>
                    </a:p>
                  </a:txBody>
                  <a:tcP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r>
            </a:tbl>
          </a:graphicData>
        </a:graphic>
      </p:graphicFrame>
      <p:sp>
        <p:nvSpPr>
          <p:cNvPr id="6" name="TextBox 7"/>
          <p:cNvSpPr txBox="1"/>
          <p:nvPr/>
        </p:nvSpPr>
        <p:spPr>
          <a:xfrm>
            <a:off x="611560" y="715395"/>
            <a:ext cx="3960440" cy="338554"/>
          </a:xfrm>
          <a:prstGeom prst="rect">
            <a:avLst/>
          </a:prstGeom>
          <a:noFill/>
        </p:spPr>
        <p:txBody>
          <a:bodyPr wrap="square" rtlCol="0">
            <a:spAutoFit/>
          </a:bodyPr>
          <a:lstStyle/>
          <a:p>
            <a:pPr defTabSz="914400"/>
            <a:r>
              <a:rPr lang="zh-CN" altLang="en-US" sz="1600" dirty="0">
                <a:solidFill>
                  <a:prstClr val="black"/>
                </a:solidFill>
                <a:latin typeface="+mn-ea"/>
              </a:rPr>
              <a:t>期间费用总体分析</a:t>
            </a:r>
          </a:p>
        </p:txBody>
      </p:sp>
      <p:graphicFrame>
        <p:nvGraphicFramePr>
          <p:cNvPr id="7" name="图表 6"/>
          <p:cNvGraphicFramePr/>
          <p:nvPr/>
        </p:nvGraphicFramePr>
        <p:xfrm>
          <a:off x="5327576" y="1109064"/>
          <a:ext cx="3816424" cy="314665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8"/>
          <p:cNvSpPr txBox="1"/>
          <p:nvPr/>
        </p:nvSpPr>
        <p:spPr>
          <a:xfrm>
            <a:off x="676656" y="4267218"/>
            <a:ext cx="8184364" cy="526811"/>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a:t>
            </a:r>
            <a:r>
              <a:rPr lang="en-US" altLang="zh-CN" sz="1000" dirty="0">
                <a:latin typeface="+mn-ea"/>
                <a:cs typeface="+mn-ea"/>
                <a:sym typeface="+mn-lt"/>
              </a:rPr>
              <a:t>2017</a:t>
            </a:r>
            <a:r>
              <a:rPr lang="zh-CN" altLang="en-US" sz="1000" dirty="0">
                <a:latin typeface="+mn-ea"/>
                <a:cs typeface="+mn-ea"/>
                <a:sym typeface="+mn-lt"/>
              </a:rPr>
              <a:t>年，测算</a:t>
            </a:r>
            <a:r>
              <a:rPr lang="en-US" altLang="zh-CN" sz="1000" dirty="0">
                <a:latin typeface="+mn-ea"/>
                <a:cs typeface="+mn-ea"/>
                <a:sym typeface="+mn-lt"/>
              </a:rPr>
              <a:t>2017</a:t>
            </a:r>
            <a:r>
              <a:rPr lang="zh-CN" altLang="en-US" sz="1000" dirty="0">
                <a:latin typeface="+mn-ea"/>
                <a:cs typeface="+mn-ea"/>
                <a:sym typeface="+mn-lt"/>
              </a:rPr>
              <a:t>全年期间费用将达万左右，费率在左右。期中上升明显的是财务费用，主要是因为</a:t>
            </a:r>
            <a:r>
              <a:rPr lang="en-US" altLang="zh-CN" sz="1000" dirty="0">
                <a:latin typeface="+mn-ea"/>
                <a:cs typeface="+mn-ea"/>
                <a:sym typeface="+mn-lt"/>
              </a:rPr>
              <a:t>2017</a:t>
            </a:r>
            <a:r>
              <a:rPr lang="zh-CN" altLang="en-US" sz="1000" dirty="0">
                <a:latin typeface="+mn-ea"/>
                <a:cs typeface="+mn-ea"/>
                <a:sym typeface="+mn-lt"/>
              </a:rPr>
              <a:t>年外币波动较大，美元持续走软，我司的储存外币和应收外销款都大受汇率的影响</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6" grpId="0"/>
      <p:bldGraphic spid="7" grpId="0">
        <p:bldAsOne/>
      </p:bldGraphic>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7080189" y="353416"/>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费用分析</a:t>
            </a:r>
          </a:p>
        </p:txBody>
      </p:sp>
      <p:graphicFrame>
        <p:nvGraphicFramePr>
          <p:cNvPr id="4" name="图表 3"/>
          <p:cNvGraphicFramePr/>
          <p:nvPr/>
        </p:nvGraphicFramePr>
        <p:xfrm>
          <a:off x="330561" y="459078"/>
          <a:ext cx="3168352" cy="47564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p:nvGraphicFramePr>
        <p:xfrm>
          <a:off x="3409525" y="487877"/>
          <a:ext cx="2880320" cy="469883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p:cNvGraphicFramePr/>
          <p:nvPr/>
        </p:nvGraphicFramePr>
        <p:xfrm>
          <a:off x="6531698" y="620176"/>
          <a:ext cx="2039888" cy="24640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图表 7"/>
          <p:cNvGraphicFramePr/>
          <p:nvPr/>
        </p:nvGraphicFramePr>
        <p:xfrm>
          <a:off x="6557527" y="2822100"/>
          <a:ext cx="2255912" cy="237626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Graphic spid="4" grpId="0">
        <p:bldAsOne/>
      </p:bldGraphic>
      <p:bldGraphic spid="6" grpId="0">
        <p:bldAsOne/>
      </p:bldGraphic>
      <p:bldGraphic spid="7" grpId="0">
        <p:bldAsOne/>
      </p:bldGraphic>
      <p:bldGraphic spid="8"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rot="21032569">
            <a:off x="-722140" y="2022662"/>
            <a:ext cx="10299093" cy="2638018"/>
          </a:xfrm>
          <a:prstGeom prst="rect">
            <a:avLst/>
          </a:prstGeom>
          <a:solidFill>
            <a:srgbClr val="2C9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2"/>
          <p:cNvSpPr/>
          <p:nvPr/>
        </p:nvSpPr>
        <p:spPr>
          <a:xfrm>
            <a:off x="5486400" y="2637426"/>
            <a:ext cx="2646878" cy="1077218"/>
          </a:xfrm>
          <a:prstGeom prst="rect">
            <a:avLst/>
          </a:prstGeom>
        </p:spPr>
        <p:txBody>
          <a:bodyPr wrap="none">
            <a:spAutoFit/>
          </a:bodyPr>
          <a:lstStyle/>
          <a:p>
            <a:r>
              <a:rPr lang="zh-CN" altLang="en-US" sz="3200" b="1" dirty="0">
                <a:solidFill>
                  <a:schemeClr val="bg1"/>
                </a:solidFill>
                <a:cs typeface="+mn-ea"/>
                <a:sym typeface="+mn-lt"/>
              </a:rPr>
              <a:t>应收账款分析</a:t>
            </a:r>
          </a:p>
          <a:p>
            <a:endParaRPr lang="zh-CN" altLang="en-US" sz="3200" b="1" dirty="0">
              <a:solidFill>
                <a:schemeClr val="bg1"/>
              </a:solidFill>
              <a:cs typeface="+mn-ea"/>
              <a:sym typeface="+mn-lt"/>
            </a:endParaRPr>
          </a:p>
        </p:txBody>
      </p:sp>
      <p:grpSp>
        <p:nvGrpSpPr>
          <p:cNvPr id="2" name="组合 1"/>
          <p:cNvGrpSpPr/>
          <p:nvPr/>
        </p:nvGrpSpPr>
        <p:grpSpPr>
          <a:xfrm>
            <a:off x="-663549" y="367479"/>
            <a:ext cx="5320256" cy="5320256"/>
            <a:chOff x="-663549" y="367479"/>
            <a:chExt cx="5320256" cy="5320256"/>
          </a:xfrm>
        </p:grpSpPr>
        <p:sp>
          <p:nvSpPr>
            <p:cNvPr id="24" name="Oval 9"/>
            <p:cNvSpPr>
              <a:spLocks noChangeArrowheads="1"/>
            </p:cNvSpPr>
            <p:nvPr/>
          </p:nvSpPr>
          <p:spPr bwMode="auto">
            <a:xfrm>
              <a:off x="0" y="1162000"/>
              <a:ext cx="3927496" cy="3927496"/>
            </a:xfrm>
            <a:prstGeom prst="ellipse">
              <a:avLst/>
            </a:prstGeom>
            <a:solidFill>
              <a:srgbClr val="00B0F0">
                <a:alpha val="51000"/>
              </a:srgbClr>
            </a:solidFill>
            <a:ln>
              <a:noFill/>
            </a:ln>
            <a:effectLst/>
          </p:spPr>
          <p:txBody>
            <a:bodyPr wrap="none" anchor="ctr"/>
            <a:lstStyle/>
            <a:p>
              <a:endParaRPr lang="zh-CN" altLang="en-US" dirty="0">
                <a:cs typeface="+mn-ea"/>
                <a:sym typeface="+mn-lt"/>
              </a:endParaRPr>
            </a:p>
          </p:txBody>
        </p:sp>
        <p:sp>
          <p:nvSpPr>
            <p:cNvPr id="25" name="椭圆 24"/>
            <p:cNvSpPr/>
            <p:nvPr/>
          </p:nvSpPr>
          <p:spPr>
            <a:xfrm>
              <a:off x="-663549" y="367479"/>
              <a:ext cx="5320256" cy="5320256"/>
            </a:xfrm>
            <a:prstGeom prst="ellipse">
              <a:avLst/>
            </a:prstGeom>
            <a:noFill/>
            <a:ln>
              <a:solidFill>
                <a:srgbClr val="0070C0">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椭圆 27"/>
            <p:cNvSpPr/>
            <p:nvPr/>
          </p:nvSpPr>
          <p:spPr>
            <a:xfrm>
              <a:off x="458726" y="1638181"/>
              <a:ext cx="3075709" cy="3075709"/>
            </a:xfrm>
            <a:prstGeom prst="ellipse">
              <a:avLst/>
            </a:prstGeom>
            <a:solidFill>
              <a:srgbClr val="0070C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9" name="椭圆 28"/>
          <p:cNvSpPr/>
          <p:nvPr/>
        </p:nvSpPr>
        <p:spPr>
          <a:xfrm>
            <a:off x="1361249" y="2534232"/>
            <a:ext cx="1270660" cy="127066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6" name="图片 5"/>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285030" y="1795243"/>
            <a:ext cx="4072807" cy="349158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childTnLst>
                          </p:cTn>
                        </p:par>
                        <p:par>
                          <p:cTn id="12" fill="hold">
                            <p:stCondLst>
                              <p:cond delay="0"/>
                            </p:stCondLst>
                            <p:childTnLst>
                              <p:par>
                                <p:cTn id="13" presetID="42"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552932" y="36792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应收账款分析</a:t>
            </a:r>
          </a:p>
        </p:txBody>
      </p:sp>
      <p:graphicFrame>
        <p:nvGraphicFramePr>
          <p:cNvPr id="4" name="内容占位符 3"/>
          <p:cNvGraphicFramePr/>
          <p:nvPr/>
        </p:nvGraphicFramePr>
        <p:xfrm>
          <a:off x="384171" y="1479804"/>
          <a:ext cx="8184365" cy="2508250"/>
        </p:xfrm>
        <a:graphic>
          <a:graphicData uri="http://schemas.openxmlformats.org/drawingml/2006/table">
            <a:tbl>
              <a:tblPr firstRow="1" bandRow="1">
                <a:tableStyleId>{7DF18680-E054-41AD-8BC1-D1AEF772440D}</a:tableStyleId>
              </a:tblPr>
              <a:tblGrid>
                <a:gridCol w="861512"/>
                <a:gridCol w="2010195"/>
                <a:gridCol w="2584536"/>
                <a:gridCol w="1866610"/>
                <a:gridCol w="861512"/>
              </a:tblGrid>
              <a:tr h="403860">
                <a:tc>
                  <a:txBody>
                    <a:bodyPr/>
                    <a:lstStyle/>
                    <a:p>
                      <a:pPr algn="ctr" fontAlgn="ctr"/>
                      <a:r>
                        <a:rPr lang="zh-CN" altLang="en-US" sz="1000" u="none" strike="noStrike" dirty="0"/>
                        <a:t>排名</a:t>
                      </a:r>
                      <a:endParaRPr lang="zh-CN" altLang="en-US" sz="1000" b="1" i="0" u="none" strike="noStrike" dirty="0">
                        <a:latin typeface="宋体" panose="02010600030101010101" pitchFamily="2" charset="-122"/>
                      </a:endParaRPr>
                    </a:p>
                  </a:txBody>
                  <a:tcPr marL="0" marR="0" marT="0" marB="0" anchor="ctr"/>
                </a:tc>
                <a:tc>
                  <a:txBody>
                    <a:bodyPr/>
                    <a:lstStyle/>
                    <a:p>
                      <a:pPr algn="ctr" fontAlgn="ctr"/>
                      <a:r>
                        <a:rPr lang="zh-CN" altLang="en-US" sz="1000" u="none" strike="noStrike" dirty="0"/>
                        <a:t>客户名称</a:t>
                      </a:r>
                      <a:endParaRPr lang="zh-CN" altLang="en-US" sz="1000" b="1" i="0" u="none" strike="noStrike" dirty="0">
                        <a:latin typeface="MS Sans Serif"/>
                      </a:endParaRPr>
                    </a:p>
                  </a:txBody>
                  <a:tcPr marL="0" marR="0" marT="0" marB="0" anchor="ctr"/>
                </a:tc>
                <a:tc>
                  <a:txBody>
                    <a:bodyPr/>
                    <a:lstStyle/>
                    <a:p>
                      <a:pPr algn="ctr" fontAlgn="ctr"/>
                      <a:r>
                        <a:rPr lang="zh-CN" altLang="en-US" sz="1000" u="none" strike="noStrike" dirty="0"/>
                        <a:t>项目名称</a:t>
                      </a:r>
                      <a:endParaRPr lang="zh-CN" altLang="en-US" sz="1000" b="1" i="0" u="none" strike="noStrike" dirty="0">
                        <a:latin typeface="MS Sans Serif"/>
                      </a:endParaRPr>
                    </a:p>
                  </a:txBody>
                  <a:tcPr marL="0" marR="0" marT="0" marB="0" anchor="ctr"/>
                </a:tc>
                <a:tc>
                  <a:txBody>
                    <a:bodyPr/>
                    <a:lstStyle/>
                    <a:p>
                      <a:pPr algn="ctr" fontAlgn="ctr"/>
                      <a:r>
                        <a:rPr lang="zh-CN" altLang="en-US" sz="1000" u="none" strike="noStrike" dirty="0"/>
                        <a:t>余额</a:t>
                      </a:r>
                      <a:endParaRPr lang="zh-CN" altLang="en-US" sz="1000" b="1" i="0" u="none" strike="noStrike" dirty="0">
                        <a:latin typeface="MS Sans Serif"/>
                      </a:endParaRPr>
                    </a:p>
                  </a:txBody>
                  <a:tcPr marL="0" marR="0" marT="0" marB="0" anchor="ctr"/>
                </a:tc>
                <a:tc>
                  <a:txBody>
                    <a:bodyPr/>
                    <a:lstStyle/>
                    <a:p>
                      <a:pPr algn="ctr" fontAlgn="ctr"/>
                      <a:r>
                        <a:rPr lang="zh-CN" altLang="en-US" sz="1000" u="none" strike="noStrike" dirty="0"/>
                        <a:t>占比</a:t>
                      </a:r>
                      <a:endParaRPr lang="zh-CN" altLang="en-US" sz="1000" b="1" i="0" u="none" strike="noStrike" dirty="0">
                        <a:latin typeface="宋体" panose="02010600030101010101" pitchFamily="2" charset="-122"/>
                      </a:endParaRPr>
                    </a:p>
                  </a:txBody>
                  <a:tcPr marL="0" marR="0" marT="0" marB="0" anchor="ctr"/>
                </a:tc>
              </a:tr>
              <a:tr h="184531">
                <a:tc>
                  <a:txBody>
                    <a:bodyPr/>
                    <a:lstStyle/>
                    <a:p>
                      <a:pPr algn="ctr" fontAlgn="ctr"/>
                      <a:r>
                        <a:rPr lang="en-US" altLang="zh-CN" sz="1000" u="none" strike="noStrike" dirty="0"/>
                        <a:t>1</a:t>
                      </a:r>
                      <a:endParaRPr lang="en-US" altLang="zh-CN" sz="1000" b="0" i="0" u="none" strike="noStrike" dirty="0">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2</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3</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4</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5</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6</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7</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8</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9</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a:txBody>
                    <a:bodyPr/>
                    <a:lstStyle/>
                    <a:p>
                      <a:pPr algn="ctr" fontAlgn="ctr"/>
                      <a:r>
                        <a:rPr lang="en-US" altLang="zh-CN" sz="1000" u="none" strike="noStrike"/>
                        <a:t>10</a:t>
                      </a:r>
                      <a:endParaRPr lang="en-US" altLang="zh-CN" sz="1000" b="0" i="0" u="none" strike="noStrike">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en-US" altLang="zh-CN" sz="1100" u="none" strike="noStrike" dirty="0"/>
                        <a:t>%</a:t>
                      </a:r>
                      <a:endParaRPr lang="en-US" altLang="zh-CN" sz="1100" b="1" i="0" u="none" strike="noStrike" dirty="0">
                        <a:solidFill>
                          <a:schemeClr val="tx1"/>
                        </a:solidFill>
                        <a:latin typeface="楷体" panose="02010609060101010101" pitchFamily="49" charset="-122"/>
                        <a:ea typeface="楷体" panose="02010609060101010101" pitchFamily="49" charset="-122"/>
                      </a:endParaRPr>
                    </a:p>
                  </a:txBody>
                  <a:tcPr marL="0" marR="0" marT="0" marB="0" anchor="ctr"/>
                </a:tc>
              </a:tr>
              <a:tr h="184531">
                <a:tc gridSpan="3">
                  <a:txBody>
                    <a:bodyPr/>
                    <a:lstStyle/>
                    <a:p>
                      <a:pPr marL="0" algn="ctr" defTabSz="914400" rtl="0" eaLnBrk="1" fontAlgn="ctr" latinLnBrk="0" hangingPunct="1"/>
                      <a:r>
                        <a:rPr lang="zh-CN" altLang="en-US" sz="1100" u="none" strike="noStrike" kern="1200" dirty="0"/>
                        <a:t>总计</a:t>
                      </a:r>
                      <a:endParaRPr lang="zh-CN" altLang="en-US" sz="1100" b="1" i="0" u="none" strike="noStrike" kern="1200" dirty="0">
                        <a:solidFill>
                          <a:schemeClr val="dk1"/>
                        </a:solidFill>
                        <a:latin typeface="MS Sans Serif"/>
                        <a:ea typeface="+mn-ea"/>
                        <a:cs typeface="+mn-cs"/>
                      </a:endParaRPr>
                    </a:p>
                  </a:txBody>
                  <a:tcPr/>
                </a:tc>
                <a:tc hMerge="1">
                  <a:txBody>
                    <a:bodyPr/>
                    <a:lstStyle/>
                    <a:p>
                      <a:endParaRPr lang="zh-CN"/>
                    </a:p>
                  </a:txBody>
                  <a:tcPr/>
                </a:tc>
                <a:tc hMerge="1">
                  <a:txBody>
                    <a:bodyPr/>
                    <a:lstStyle/>
                    <a:p>
                      <a:endParaRPr lang="zh-CN"/>
                    </a:p>
                  </a:txBody>
                  <a:tcPr/>
                </a:tc>
                <a:tc>
                  <a:txBody>
                    <a:bodyPr/>
                    <a:lstStyle/>
                    <a:p>
                      <a:pPr algn="ctr"/>
                      <a:endParaRPr lang="zh-CN" altLang="en-US" sz="1100" b="0" i="0" u="none" strike="noStrike" kern="1200" dirty="0">
                        <a:solidFill>
                          <a:schemeClr val="dk1"/>
                        </a:solidFill>
                        <a:latin typeface="MS Sans Serif"/>
                        <a:ea typeface="+mn-ea"/>
                        <a:cs typeface="+mn-cs"/>
                      </a:endParaRPr>
                    </a:p>
                  </a:txBody>
                  <a:tcPr/>
                </a:tc>
                <a:tc>
                  <a:txBody>
                    <a:bodyPr/>
                    <a:lstStyle/>
                    <a:p>
                      <a:pPr algn="ctr"/>
                      <a:endParaRPr lang="zh-CN" altLang="en-US" sz="1100" dirty="0"/>
                    </a:p>
                  </a:txBody>
                  <a:tcPr/>
                </a:tc>
              </a:tr>
            </a:tbl>
          </a:graphicData>
        </a:graphic>
      </p:graphicFrame>
      <p:sp>
        <p:nvSpPr>
          <p:cNvPr id="6" name="TextBox 7"/>
          <p:cNvSpPr txBox="1"/>
          <p:nvPr/>
        </p:nvSpPr>
        <p:spPr>
          <a:xfrm>
            <a:off x="384171" y="858633"/>
            <a:ext cx="3960440" cy="338554"/>
          </a:xfrm>
          <a:prstGeom prst="rect">
            <a:avLst/>
          </a:prstGeom>
          <a:noFill/>
        </p:spPr>
        <p:txBody>
          <a:bodyPr wrap="square" rtlCol="0">
            <a:spAutoFit/>
          </a:bodyPr>
          <a:lstStyle/>
          <a:p>
            <a:pPr defTabSz="914400"/>
            <a:r>
              <a:rPr lang="zh-CN" altLang="en-US" sz="1600" dirty="0">
                <a:solidFill>
                  <a:prstClr val="black"/>
                </a:solidFill>
                <a:latin typeface="+mn-ea"/>
              </a:rPr>
              <a:t>前十大应收账款客户排名表</a:t>
            </a:r>
          </a:p>
        </p:txBody>
      </p:sp>
      <p:sp>
        <p:nvSpPr>
          <p:cNvPr id="7" name="标题 1"/>
          <p:cNvSpPr txBox="1"/>
          <p:nvPr/>
        </p:nvSpPr>
        <p:spPr>
          <a:xfrm>
            <a:off x="384171" y="1019472"/>
            <a:ext cx="3251200" cy="635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200"/>
              <a:t>A</a:t>
            </a:r>
            <a:r>
              <a:rPr lang="zh-CN" altLang="en-US" sz="1200"/>
              <a:t>、账上前十大应收客户</a:t>
            </a:r>
            <a:endParaRPr lang="zh-CN" altLang="en-US" sz="1200" dirty="0"/>
          </a:p>
        </p:txBody>
      </p:sp>
      <p:sp>
        <p:nvSpPr>
          <p:cNvPr id="8" name="TextBox 11"/>
          <p:cNvSpPr txBox="1"/>
          <p:nvPr/>
        </p:nvSpPr>
        <p:spPr>
          <a:xfrm>
            <a:off x="3299987" y="1235719"/>
            <a:ext cx="1296144" cy="261610"/>
          </a:xfrm>
          <a:prstGeom prst="rect">
            <a:avLst/>
          </a:prstGeom>
          <a:noFill/>
        </p:spPr>
        <p:txBody>
          <a:bodyPr wrap="square" rtlCol="0">
            <a:spAutoFit/>
          </a:bodyPr>
          <a:lstStyle/>
          <a:p>
            <a:r>
              <a:rPr lang="zh-CN" altLang="en-US" sz="1100" dirty="0"/>
              <a:t>单位：万元</a:t>
            </a:r>
          </a:p>
        </p:txBody>
      </p:sp>
      <p:sp>
        <p:nvSpPr>
          <p:cNvPr id="9" name="TextBox 8"/>
          <p:cNvSpPr txBox="1"/>
          <p:nvPr/>
        </p:nvSpPr>
        <p:spPr>
          <a:xfrm>
            <a:off x="503949" y="4054690"/>
            <a:ext cx="8184364" cy="988476"/>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分析：单击输入对图表的具体描述细节单击输入对图表的具体描述细节单击输入对图表的具体描述细节单击输入对图表的具体描述细节</a:t>
            </a:r>
          </a:p>
          <a:p>
            <a:pPr algn="just">
              <a:lnSpc>
                <a:spcPct val="150000"/>
              </a:lnSpc>
            </a:pPr>
            <a:r>
              <a:rPr lang="zh-CN" altLang="en-US" sz="1000" dirty="0">
                <a:latin typeface="+mn-ea"/>
                <a:cs typeface="+mn-ea"/>
                <a:sym typeface="+mn-lt"/>
              </a:rPr>
              <a:t>单击输入对图表的具体描述细节单击输入对图表的具体描述细节</a:t>
            </a:r>
          </a:p>
          <a:p>
            <a:pPr algn="just">
              <a:lnSpc>
                <a:spcPct val="150000"/>
              </a:lnSpc>
            </a:pPr>
            <a:endParaRPr lang="zh-CN" altLang="en-US" sz="1000" dirty="0">
              <a:latin typeface="+mn-ea"/>
              <a:cs typeface="+mn-ea"/>
              <a:sym typeface="+mn-lt"/>
            </a:endParaRPr>
          </a:p>
          <a:p>
            <a:pPr algn="just">
              <a:lnSpc>
                <a:spcPct val="150000"/>
              </a:lnSpc>
            </a:pPr>
            <a:endParaRPr lang="zh-CN" altLang="en-US" sz="1000" dirty="0">
              <a:latin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par>
                                <p:cTn id="24" presetID="1"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6" grpId="0"/>
      <p:bldP spid="7" grpId="0"/>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552932" y="36792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应收账款分析</a:t>
            </a:r>
          </a:p>
        </p:txBody>
      </p:sp>
      <p:graphicFrame>
        <p:nvGraphicFramePr>
          <p:cNvPr id="4" name="表格 3"/>
          <p:cNvGraphicFramePr>
            <a:graphicFrameLocks noGrp="1"/>
          </p:cNvGraphicFramePr>
          <p:nvPr/>
        </p:nvGraphicFramePr>
        <p:xfrm>
          <a:off x="453680" y="1281328"/>
          <a:ext cx="7958800" cy="3128804"/>
        </p:xfrm>
        <a:graphic>
          <a:graphicData uri="http://schemas.openxmlformats.org/drawingml/2006/table">
            <a:tbl>
              <a:tblPr firstRow="1" bandRow="1">
                <a:tableStyleId>{7DF18680-E054-41AD-8BC1-D1AEF772440D}</a:tableStyleId>
              </a:tblPr>
              <a:tblGrid>
                <a:gridCol w="1168415"/>
                <a:gridCol w="2774987"/>
                <a:gridCol w="2100437"/>
                <a:gridCol w="1914961"/>
              </a:tblGrid>
              <a:tr h="414849">
                <a:tc>
                  <a:txBody>
                    <a:bodyPr/>
                    <a:lstStyle/>
                    <a:p>
                      <a:pPr marL="0" algn="ctr" defTabSz="914400" rtl="0" eaLnBrk="1" fontAlgn="ctr" latinLnBrk="0" hangingPunct="1"/>
                      <a:endParaRPr lang="en-US" altLang="zh-CN" sz="1000" u="none" strike="noStrike" kern="1200" dirty="0"/>
                    </a:p>
                    <a:p>
                      <a:pPr marL="0" algn="ctr" defTabSz="914400" rtl="0" eaLnBrk="1" fontAlgn="ctr" latinLnBrk="0" hangingPunct="1"/>
                      <a:r>
                        <a:rPr lang="zh-CN" altLang="en-US" sz="1000" u="none" strike="noStrike" kern="1200" dirty="0"/>
                        <a:t>序号</a:t>
                      </a:r>
                      <a:endParaRPr lang="zh-CN" altLang="en-US" sz="1000" b="1" i="0" u="none" strike="noStrike" kern="1200" dirty="0">
                        <a:solidFill>
                          <a:schemeClr val="lt1"/>
                        </a:solidFill>
                        <a:latin typeface="MS Sans Serif"/>
                        <a:ea typeface="+mn-ea"/>
                        <a:cs typeface="+mn-cs"/>
                      </a:endParaRPr>
                    </a:p>
                  </a:txBody>
                  <a:tcPr/>
                </a:tc>
                <a:tc>
                  <a:txBody>
                    <a:bodyPr/>
                    <a:lstStyle/>
                    <a:p>
                      <a:pPr algn="ctr" fontAlgn="ctr"/>
                      <a:r>
                        <a:rPr lang="zh-CN" altLang="en-US" sz="1000" u="none" strike="noStrike" dirty="0"/>
                        <a:t>客户名称</a:t>
                      </a:r>
                      <a:endParaRPr lang="zh-CN" altLang="en-US" sz="1000" b="1" i="0" u="none" strike="noStrike" dirty="0">
                        <a:latin typeface="MS Sans Serif"/>
                      </a:endParaRPr>
                    </a:p>
                  </a:txBody>
                  <a:tcPr marL="0" marR="0" marT="0" marB="0" anchor="ctr"/>
                </a:tc>
                <a:tc>
                  <a:txBody>
                    <a:bodyPr/>
                    <a:lstStyle/>
                    <a:p>
                      <a:pPr algn="ctr" fontAlgn="ctr"/>
                      <a:r>
                        <a:rPr lang="zh-CN" altLang="en-US" sz="1000" u="none" strike="noStrike" dirty="0"/>
                        <a:t>项目名称</a:t>
                      </a:r>
                      <a:endParaRPr lang="zh-CN" altLang="en-US" sz="1000" b="1" i="0" u="none" strike="noStrike" dirty="0">
                        <a:latin typeface="MS Sans Serif"/>
                      </a:endParaRPr>
                    </a:p>
                  </a:txBody>
                  <a:tcPr marL="0" marR="0" marT="0" marB="0" anchor="ctr"/>
                </a:tc>
                <a:tc>
                  <a:txBody>
                    <a:bodyPr/>
                    <a:lstStyle/>
                    <a:p>
                      <a:pPr algn="ctr" fontAlgn="ctr"/>
                      <a:r>
                        <a:rPr lang="zh-CN" altLang="en-US" sz="1000" u="none" strike="noStrike" dirty="0"/>
                        <a:t>累计余额</a:t>
                      </a:r>
                      <a:endParaRPr lang="zh-CN" altLang="en-US" sz="1000" b="1" i="0" u="none" strike="noStrike" dirty="0">
                        <a:latin typeface="MS Sans Serif"/>
                      </a:endParaRPr>
                    </a:p>
                  </a:txBody>
                  <a:tcPr marL="0" marR="0" marT="0" marB="0" anchor="ctr"/>
                </a:tc>
              </a:tr>
              <a:tr h="315503">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100" u="none" strike="noStrike" dirty="0"/>
                        <a:t>1</a:t>
                      </a:r>
                      <a:endParaRPr lang="en-US" altLang="zh-CN" sz="1100" b="0" i="0" u="none" strike="noStrike" dirty="0">
                        <a:latin typeface="宋体" panose="02010600030101010101" pitchFamily="2"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7058">
                <a:tc>
                  <a:txBody>
                    <a:bodyPr/>
                    <a:lstStyle/>
                    <a:p>
                      <a:pPr algn="ctr" fontAlgn="ctr"/>
                      <a:r>
                        <a:rPr lang="en-US" altLang="zh-CN" sz="1100" u="none" strike="noStrike" dirty="0"/>
                        <a:t>2</a:t>
                      </a:r>
                      <a:endParaRPr lang="zh-CN" altLang="en-US" sz="1100" b="0" i="0" u="none" strike="noStrike" dirty="0">
                        <a:latin typeface="宋体" panose="02010600030101010101" pitchFamily="2"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7058">
                <a:tc>
                  <a:txBody>
                    <a:bodyPr/>
                    <a:lstStyle/>
                    <a:p>
                      <a:pPr algn="ctr" fontAlgn="ctr"/>
                      <a:r>
                        <a:rPr lang="en-US" altLang="zh-CN" sz="1100" u="none" strike="noStrike" dirty="0"/>
                        <a:t>3</a:t>
                      </a:r>
                      <a:endParaRPr lang="zh-CN" altLang="en-US" sz="1100" b="0" i="0" u="none" strike="noStrike" dirty="0">
                        <a:latin typeface="宋体" panose="02010600030101010101" pitchFamily="2"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7058">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100" u="none" strike="noStrike" dirty="0"/>
                        <a:t>4</a:t>
                      </a:r>
                      <a:endParaRPr lang="zh-CN" altLang="en-US" sz="1100" b="0" i="0" u="none" strike="noStrike" dirty="0">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7058">
                <a:tc>
                  <a:txBody>
                    <a:bodyPr/>
                    <a:lstStyle/>
                    <a:p>
                      <a:pPr algn="ctr" fontAlgn="ctr"/>
                      <a:r>
                        <a:rPr lang="en-US" altLang="zh-CN" sz="1100" u="none" strike="noStrike" dirty="0"/>
                        <a:t>5</a:t>
                      </a:r>
                      <a:endParaRPr lang="zh-CN" altLang="en-US" sz="1100" b="0" i="0" u="none" strike="noStrike" dirty="0">
                        <a:latin typeface="宋体" panose="02010600030101010101" pitchFamily="2"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7058">
                <a:tc>
                  <a:txBody>
                    <a:bodyPr/>
                    <a:lstStyle/>
                    <a:p>
                      <a:pPr algn="ctr" fontAlgn="ctr"/>
                      <a:r>
                        <a:rPr lang="en-US" altLang="zh-CN" sz="1100" u="none" strike="noStrike" dirty="0"/>
                        <a:t>6</a:t>
                      </a:r>
                      <a:endParaRPr lang="zh-CN" altLang="en-US" sz="1100" b="0" i="0" u="none" strike="noStrike" dirty="0">
                        <a:latin typeface="宋体" panose="02010600030101010101" pitchFamily="2" charset="-122"/>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7058">
                <a:tc>
                  <a:txBody>
                    <a:bodyPr/>
                    <a:lstStyle/>
                    <a:p>
                      <a:pPr algn="ctr" fontAlgn="ctr"/>
                      <a:r>
                        <a:rPr lang="en-US" altLang="zh-CN" sz="1100" u="none" strike="noStrike" dirty="0"/>
                        <a:t>7</a:t>
                      </a:r>
                      <a:endParaRPr lang="zh-CN" altLang="en-US" sz="1100" b="0" i="0" u="none" strike="noStrike" dirty="0">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7058">
                <a:tc>
                  <a:txBody>
                    <a:bodyPr/>
                    <a:lstStyle/>
                    <a:p>
                      <a:pPr algn="ctr" fontAlgn="ctr"/>
                      <a:r>
                        <a:rPr lang="en-US" altLang="zh-CN" sz="1100" u="none" strike="noStrike" dirty="0"/>
                        <a:t>8</a:t>
                      </a:r>
                      <a:endParaRPr lang="zh-CN" altLang="en-US" sz="1100" b="0" i="0" u="none" strike="noStrike" dirty="0">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7058">
                <a:tc>
                  <a:txBody>
                    <a:bodyPr/>
                    <a:lstStyle/>
                    <a:p>
                      <a:pPr algn="ctr" fontAlgn="ctr"/>
                      <a:r>
                        <a:rPr lang="en-US" altLang="zh-CN" sz="1100" u="none" strike="noStrike" dirty="0"/>
                        <a:t>9</a:t>
                      </a:r>
                      <a:endParaRPr lang="zh-CN" altLang="en-US" sz="1100" b="0" i="0" u="none" strike="noStrike" dirty="0">
                        <a:latin typeface="MS Sans Serif"/>
                      </a:endParaRPr>
                    </a:p>
                  </a:txBody>
                  <a:tcPr marL="0" marR="0" marT="0" marB="0" anchor="ctr"/>
                </a:tc>
                <a:tc>
                  <a:txBody>
                    <a:bodyPr/>
                    <a:lstStyle/>
                    <a:p>
                      <a:pPr algn="ctr" fontAlgn="ctr"/>
                      <a:endParaRPr lang="zh-CN" altLang="en-US"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dirty="0">
                        <a:latin typeface="楷体" panose="02010609060101010101" pitchFamily="49" charset="-122"/>
                        <a:ea typeface="楷体" panose="02010609060101010101" pitchFamily="49" charset="-122"/>
                      </a:endParaRPr>
                    </a:p>
                  </a:txBody>
                  <a:tcPr marL="0" marR="0" marT="0" marB="0" anchor="ctr"/>
                </a:tc>
                <a:tc>
                  <a:txBody>
                    <a:bodyPr/>
                    <a:lstStyle/>
                    <a:p>
                      <a:pPr algn="ctr" fontAlgn="b"/>
                      <a:endParaRPr lang="en-US" altLang="zh-CN" sz="1100" b="0" i="0" u="none" strike="noStrike" dirty="0">
                        <a:latin typeface="楷体" panose="02010609060101010101" pitchFamily="49" charset="-122"/>
                        <a:ea typeface="楷体" panose="02010609060101010101" pitchFamily="49" charset="-122"/>
                      </a:endParaRPr>
                    </a:p>
                  </a:txBody>
                  <a:tcPr marL="0" marR="0" marT="0" marB="0" anchor="b"/>
                </a:tc>
              </a:tr>
              <a:tr h="261988">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u="none" strike="noStrike" kern="1200" dirty="0"/>
                        <a:t>总计</a:t>
                      </a:r>
                      <a:endParaRPr lang="zh-CN" altLang="en-US" sz="11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c hMerge="1">
                  <a:txBody>
                    <a:bodyPr/>
                    <a:lstStyle/>
                    <a:p>
                      <a:endParaRPr lang="zh-CN"/>
                    </a:p>
                  </a:txBody>
                  <a:tcPr/>
                </a:tc>
                <a:tc>
                  <a:txBody>
                    <a:bodyPr/>
                    <a:lstStyle/>
                    <a:p>
                      <a:pPr marL="0" algn="ctr" defTabSz="914400" rtl="0" eaLnBrk="1" fontAlgn="ctr" latinLnBrk="0" hangingPunct="1"/>
                      <a:r>
                        <a:rPr lang="en-US" altLang="zh-CN" sz="1100" u="none" strike="noStrike" kern="1200" dirty="0"/>
                        <a:t>7</a:t>
                      </a:r>
                      <a:endParaRPr lang="zh-CN" altLang="en-US" sz="11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c>
                  <a:txBody>
                    <a:bodyPr/>
                    <a:lstStyle/>
                    <a:p>
                      <a:pPr marL="0" algn="ctr" defTabSz="914400" rtl="0" eaLnBrk="1" fontAlgn="ctr" latinLnBrk="0" hangingPunct="1"/>
                      <a:endParaRPr lang="zh-CN" altLang="en-US" sz="110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bl>
          </a:graphicData>
        </a:graphic>
      </p:graphicFrame>
      <p:sp>
        <p:nvSpPr>
          <p:cNvPr id="6" name="TextBox 7"/>
          <p:cNvSpPr txBox="1"/>
          <p:nvPr/>
        </p:nvSpPr>
        <p:spPr>
          <a:xfrm>
            <a:off x="411603" y="858633"/>
            <a:ext cx="3960440" cy="338554"/>
          </a:xfrm>
          <a:prstGeom prst="rect">
            <a:avLst/>
          </a:prstGeom>
          <a:noFill/>
        </p:spPr>
        <p:txBody>
          <a:bodyPr wrap="square" rtlCol="0">
            <a:spAutoFit/>
          </a:bodyPr>
          <a:lstStyle/>
          <a:p>
            <a:pPr defTabSz="914400"/>
            <a:r>
              <a:rPr lang="zh-CN" altLang="en-US" sz="1600" dirty="0">
                <a:solidFill>
                  <a:prstClr val="black"/>
                </a:solidFill>
                <a:latin typeface="+mn-ea"/>
              </a:rPr>
              <a:t>特殊应收账款列示</a:t>
            </a:r>
          </a:p>
        </p:txBody>
      </p:sp>
      <p:sp>
        <p:nvSpPr>
          <p:cNvPr id="7" name="TextBox 8"/>
          <p:cNvSpPr txBox="1"/>
          <p:nvPr/>
        </p:nvSpPr>
        <p:spPr>
          <a:xfrm>
            <a:off x="558813" y="4429183"/>
            <a:ext cx="8184364" cy="988476"/>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分析：单击输入对图表的具体描述细节单击输入对图表的具体描述细节单击输入对图表的具体描述细节单击输入对图表的具体描述细节</a:t>
            </a:r>
          </a:p>
          <a:p>
            <a:pPr algn="just">
              <a:lnSpc>
                <a:spcPct val="150000"/>
              </a:lnSpc>
            </a:pPr>
            <a:r>
              <a:rPr lang="zh-CN" altLang="en-US" sz="1000" dirty="0">
                <a:latin typeface="+mn-ea"/>
                <a:cs typeface="+mn-ea"/>
                <a:sym typeface="+mn-lt"/>
              </a:rPr>
              <a:t>单击输入对图表的具体描述细节单击输入对图表的具体描述细节</a:t>
            </a:r>
          </a:p>
          <a:p>
            <a:pPr algn="just">
              <a:lnSpc>
                <a:spcPct val="150000"/>
              </a:lnSpc>
            </a:pPr>
            <a:endParaRPr lang="zh-CN" altLang="en-US" sz="1000" dirty="0">
              <a:latin typeface="+mn-ea"/>
              <a:cs typeface="+mn-ea"/>
              <a:sym typeface="+mn-lt"/>
            </a:endParaRPr>
          </a:p>
          <a:p>
            <a:pPr algn="just">
              <a:lnSpc>
                <a:spcPct val="150000"/>
              </a:lnSpc>
            </a:pPr>
            <a:endParaRPr lang="zh-CN" altLang="en-US" sz="1000" dirty="0">
              <a:latin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rot="21032569">
            <a:off x="-722140" y="2022662"/>
            <a:ext cx="10299093" cy="2638018"/>
          </a:xfrm>
          <a:prstGeom prst="rect">
            <a:avLst/>
          </a:prstGeom>
          <a:solidFill>
            <a:srgbClr val="2C9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2"/>
          <p:cNvSpPr/>
          <p:nvPr/>
        </p:nvSpPr>
        <p:spPr>
          <a:xfrm>
            <a:off x="5486400" y="2637426"/>
            <a:ext cx="2646878" cy="1077218"/>
          </a:xfrm>
          <a:prstGeom prst="rect">
            <a:avLst/>
          </a:prstGeom>
        </p:spPr>
        <p:txBody>
          <a:bodyPr wrap="none">
            <a:spAutoFit/>
          </a:bodyPr>
          <a:lstStyle/>
          <a:p>
            <a:r>
              <a:rPr lang="zh-CN" altLang="en-US" sz="3200" b="1" dirty="0">
                <a:solidFill>
                  <a:schemeClr val="bg1"/>
                </a:solidFill>
                <a:cs typeface="+mn-ea"/>
                <a:sym typeface="+mn-lt"/>
              </a:rPr>
              <a:t>应付账款分析</a:t>
            </a:r>
          </a:p>
          <a:p>
            <a:endParaRPr lang="zh-CN" altLang="en-US" sz="3200" b="1" dirty="0">
              <a:solidFill>
                <a:schemeClr val="bg1"/>
              </a:solidFill>
              <a:cs typeface="+mn-ea"/>
              <a:sym typeface="+mn-lt"/>
            </a:endParaRPr>
          </a:p>
        </p:txBody>
      </p:sp>
      <p:grpSp>
        <p:nvGrpSpPr>
          <p:cNvPr id="2" name="组合 1"/>
          <p:cNvGrpSpPr/>
          <p:nvPr/>
        </p:nvGrpSpPr>
        <p:grpSpPr>
          <a:xfrm>
            <a:off x="-663549" y="367479"/>
            <a:ext cx="5320256" cy="5320256"/>
            <a:chOff x="-663549" y="367479"/>
            <a:chExt cx="5320256" cy="5320256"/>
          </a:xfrm>
        </p:grpSpPr>
        <p:sp>
          <p:nvSpPr>
            <p:cNvPr id="24" name="Oval 9"/>
            <p:cNvSpPr>
              <a:spLocks noChangeArrowheads="1"/>
            </p:cNvSpPr>
            <p:nvPr/>
          </p:nvSpPr>
          <p:spPr bwMode="auto">
            <a:xfrm>
              <a:off x="0" y="1162000"/>
              <a:ext cx="3927496" cy="3927496"/>
            </a:xfrm>
            <a:prstGeom prst="ellipse">
              <a:avLst/>
            </a:prstGeom>
            <a:solidFill>
              <a:srgbClr val="00B0F0">
                <a:alpha val="51000"/>
              </a:srgbClr>
            </a:solidFill>
            <a:ln>
              <a:noFill/>
            </a:ln>
            <a:effectLst/>
          </p:spPr>
          <p:txBody>
            <a:bodyPr wrap="none" anchor="ctr"/>
            <a:lstStyle/>
            <a:p>
              <a:endParaRPr lang="zh-CN" altLang="en-US" dirty="0">
                <a:cs typeface="+mn-ea"/>
                <a:sym typeface="+mn-lt"/>
              </a:endParaRPr>
            </a:p>
          </p:txBody>
        </p:sp>
        <p:sp>
          <p:nvSpPr>
            <p:cNvPr id="25" name="椭圆 24"/>
            <p:cNvSpPr/>
            <p:nvPr/>
          </p:nvSpPr>
          <p:spPr>
            <a:xfrm>
              <a:off x="-663549" y="367479"/>
              <a:ext cx="5320256" cy="5320256"/>
            </a:xfrm>
            <a:prstGeom prst="ellipse">
              <a:avLst/>
            </a:prstGeom>
            <a:noFill/>
            <a:ln>
              <a:solidFill>
                <a:srgbClr val="0070C0">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椭圆 27"/>
            <p:cNvSpPr/>
            <p:nvPr/>
          </p:nvSpPr>
          <p:spPr>
            <a:xfrm>
              <a:off x="458726" y="1638181"/>
              <a:ext cx="3075709" cy="3075709"/>
            </a:xfrm>
            <a:prstGeom prst="ellipse">
              <a:avLst/>
            </a:prstGeom>
            <a:solidFill>
              <a:srgbClr val="0070C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9" name="椭圆 28"/>
          <p:cNvSpPr/>
          <p:nvPr/>
        </p:nvSpPr>
        <p:spPr>
          <a:xfrm>
            <a:off x="1361249" y="2534232"/>
            <a:ext cx="1270660" cy="127066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6" name="图片 5"/>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285030" y="1795243"/>
            <a:ext cx="4072807" cy="349158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childTnLst>
                          </p:cTn>
                        </p:par>
                        <p:par>
                          <p:cTn id="12" fill="hold">
                            <p:stCondLst>
                              <p:cond delay="0"/>
                            </p:stCondLst>
                            <p:childTnLst>
                              <p:par>
                                <p:cTn id="13" presetID="42"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2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6552932" y="36792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应付账款分析</a:t>
            </a:r>
          </a:p>
        </p:txBody>
      </p:sp>
      <p:graphicFrame>
        <p:nvGraphicFramePr>
          <p:cNvPr id="4" name="内容占位符 3"/>
          <p:cNvGraphicFramePr/>
          <p:nvPr/>
        </p:nvGraphicFramePr>
        <p:xfrm>
          <a:off x="384048" y="1246442"/>
          <a:ext cx="7964423" cy="2992627"/>
        </p:xfrm>
        <a:graphic>
          <a:graphicData uri="http://schemas.openxmlformats.org/drawingml/2006/table">
            <a:tbl>
              <a:tblPr firstRow="1" bandRow="1">
                <a:tableStyleId>{7DF18680-E054-41AD-8BC1-D1AEF772440D}</a:tableStyleId>
              </a:tblPr>
              <a:tblGrid>
                <a:gridCol w="838360"/>
                <a:gridCol w="1956174"/>
                <a:gridCol w="2255699"/>
                <a:gridCol w="1676721"/>
                <a:gridCol w="1237469"/>
              </a:tblGrid>
              <a:tr h="413727">
                <a:tc>
                  <a:txBody>
                    <a:bodyPr/>
                    <a:lstStyle/>
                    <a:p>
                      <a:pPr algn="ctr" fontAlgn="ctr"/>
                      <a:r>
                        <a:rPr lang="zh-CN" altLang="en-US" sz="1000" u="none" strike="noStrike" dirty="0"/>
                        <a:t>排名</a:t>
                      </a:r>
                      <a:endParaRPr lang="zh-CN" altLang="en-US" sz="1000" b="1" i="0" u="none" strike="noStrike" dirty="0">
                        <a:latin typeface="宋体" panose="02010600030101010101" pitchFamily="2" charset="-122"/>
                      </a:endParaRPr>
                    </a:p>
                  </a:txBody>
                  <a:tcPr marL="0" marR="0" marT="0" marB="0" anchor="ctr"/>
                </a:tc>
                <a:tc>
                  <a:txBody>
                    <a:bodyPr/>
                    <a:lstStyle/>
                    <a:p>
                      <a:pPr algn="ctr" fontAlgn="ctr"/>
                      <a:r>
                        <a:rPr lang="zh-CN" altLang="en-US" sz="1000" u="none" strike="noStrike" dirty="0"/>
                        <a:t>客户名称</a:t>
                      </a:r>
                      <a:endParaRPr lang="zh-CN" altLang="en-US" sz="1000" b="1" i="0" u="none" strike="noStrike" dirty="0">
                        <a:latin typeface="MS Sans Serif"/>
                      </a:endParaRPr>
                    </a:p>
                  </a:txBody>
                  <a:tcPr marL="0" marR="0" marT="0" marB="0" anchor="ctr"/>
                </a:tc>
                <a:tc>
                  <a:txBody>
                    <a:bodyPr/>
                    <a:lstStyle/>
                    <a:p>
                      <a:pPr algn="ctr" fontAlgn="ctr"/>
                      <a:r>
                        <a:rPr lang="zh-CN" altLang="en-US" sz="1000" u="none" strike="noStrike" dirty="0"/>
                        <a:t>项目名称</a:t>
                      </a:r>
                      <a:endParaRPr lang="zh-CN" altLang="en-US" sz="1000" b="1" i="0" u="none" strike="noStrike" dirty="0">
                        <a:latin typeface="MS Sans Serif"/>
                      </a:endParaRPr>
                    </a:p>
                  </a:txBody>
                  <a:tcPr marL="0" marR="0" marT="0" marB="0" anchor="ctr"/>
                </a:tc>
                <a:tc>
                  <a:txBody>
                    <a:bodyPr/>
                    <a:lstStyle/>
                    <a:p>
                      <a:pPr algn="ctr" fontAlgn="ctr"/>
                      <a:r>
                        <a:rPr lang="zh-CN" altLang="en-US" sz="1000" u="none" strike="noStrike" dirty="0"/>
                        <a:t>余额</a:t>
                      </a:r>
                      <a:endParaRPr lang="zh-CN" altLang="en-US" sz="1000" b="1" i="0" u="none" strike="noStrike" dirty="0">
                        <a:latin typeface="MS Sans Serif"/>
                      </a:endParaRPr>
                    </a:p>
                  </a:txBody>
                  <a:tcPr marL="0" marR="0" marT="0" marB="0" anchor="ctr"/>
                </a:tc>
                <a:tc>
                  <a:txBody>
                    <a:bodyPr/>
                    <a:lstStyle/>
                    <a:p>
                      <a:pPr algn="ctr" fontAlgn="ctr"/>
                      <a:r>
                        <a:rPr lang="zh-CN" altLang="en-US" sz="1000" u="none" strike="noStrike" dirty="0"/>
                        <a:t>占比</a:t>
                      </a:r>
                      <a:endParaRPr lang="zh-CN" altLang="en-US" sz="1000" b="1" i="0" u="none" strike="noStrike" dirty="0">
                        <a:latin typeface="宋体" panose="02010600030101010101" pitchFamily="2" charset="-122"/>
                      </a:endParaRPr>
                    </a:p>
                  </a:txBody>
                  <a:tcPr marL="0" marR="0" marT="0" marB="0" anchor="ctr"/>
                </a:tc>
              </a:tr>
              <a:tr h="228172">
                <a:tc>
                  <a:txBody>
                    <a:bodyPr/>
                    <a:lstStyle/>
                    <a:p>
                      <a:pPr algn="ctr" fontAlgn="ctr"/>
                      <a:r>
                        <a:rPr lang="en-US" altLang="zh-CN" sz="1000" u="none" strike="noStrike" dirty="0"/>
                        <a:t>1</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zh-CN" altLang="en-US" sz="1000" b="0" i="0" u="none" strike="noStrike">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a:latin typeface="MS Sans Serif"/>
                      </a:endParaRPr>
                    </a:p>
                  </a:txBody>
                  <a:tcPr marL="0" marR="0" marT="0" marB="0" anchor="ctr"/>
                </a:tc>
              </a:tr>
              <a:tr h="228172">
                <a:tc>
                  <a:txBody>
                    <a:bodyPr/>
                    <a:lstStyle/>
                    <a:p>
                      <a:pPr algn="ctr" fontAlgn="ctr"/>
                      <a:r>
                        <a:rPr lang="en-US" altLang="zh-CN" sz="1000" u="none" strike="noStrike" dirty="0"/>
                        <a:t>2</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r>
              <a:tr h="228172">
                <a:tc>
                  <a:txBody>
                    <a:bodyPr/>
                    <a:lstStyle/>
                    <a:p>
                      <a:pPr algn="ctr" fontAlgn="ctr"/>
                      <a:r>
                        <a:rPr lang="en-US" altLang="zh-CN" sz="1000" u="none" strike="noStrike" dirty="0"/>
                        <a:t>3</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a:latin typeface="MS Sans Serif"/>
                      </a:endParaRPr>
                    </a:p>
                  </a:txBody>
                  <a:tcPr marL="0" marR="0" marT="0" marB="0" anchor="ctr"/>
                </a:tc>
              </a:tr>
              <a:tr h="228172">
                <a:tc>
                  <a:txBody>
                    <a:bodyPr/>
                    <a:lstStyle/>
                    <a:p>
                      <a:pPr algn="ctr" fontAlgn="ctr"/>
                      <a:r>
                        <a:rPr lang="en-US" altLang="zh-CN" sz="1000" u="none" strike="noStrike" dirty="0"/>
                        <a:t>4</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r>
              <a:tr h="228172">
                <a:tc>
                  <a:txBody>
                    <a:bodyPr/>
                    <a:lstStyle/>
                    <a:p>
                      <a:pPr algn="ctr" fontAlgn="ctr"/>
                      <a:r>
                        <a:rPr lang="en-US" altLang="zh-CN" sz="1000" u="none" strike="noStrike" dirty="0"/>
                        <a:t>5</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a:latin typeface="MS Sans Serif"/>
                      </a:endParaRPr>
                    </a:p>
                  </a:txBody>
                  <a:tcPr marL="0" marR="0" marT="0" marB="0" anchor="ctr"/>
                </a:tc>
              </a:tr>
              <a:tr h="228172">
                <a:tc>
                  <a:txBody>
                    <a:bodyPr/>
                    <a:lstStyle/>
                    <a:p>
                      <a:pPr algn="ctr" fontAlgn="ctr"/>
                      <a:r>
                        <a:rPr lang="en-US" altLang="zh-CN" sz="1000" u="none" strike="noStrike" dirty="0"/>
                        <a:t>6</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a:latin typeface="MS Sans Serif"/>
                      </a:endParaRPr>
                    </a:p>
                  </a:txBody>
                  <a:tcPr marL="0" marR="0" marT="0" marB="0" anchor="ctr"/>
                </a:tc>
              </a:tr>
              <a:tr h="228172">
                <a:tc>
                  <a:txBody>
                    <a:bodyPr/>
                    <a:lstStyle/>
                    <a:p>
                      <a:pPr algn="ctr" fontAlgn="ctr"/>
                      <a:r>
                        <a:rPr lang="en-US" altLang="zh-CN" sz="1000" u="none" strike="noStrike" dirty="0"/>
                        <a:t>7</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a:latin typeface="MS Sans Serif"/>
                      </a:endParaRPr>
                    </a:p>
                  </a:txBody>
                  <a:tcPr marL="0" marR="0" marT="0" marB="0" anchor="ctr"/>
                </a:tc>
              </a:tr>
              <a:tr h="228172">
                <a:tc>
                  <a:txBody>
                    <a:bodyPr/>
                    <a:lstStyle/>
                    <a:p>
                      <a:pPr algn="ctr" fontAlgn="ctr"/>
                      <a:r>
                        <a:rPr lang="en-US" altLang="zh-CN" sz="1000" u="none" strike="noStrike" dirty="0"/>
                        <a:t>8</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a:latin typeface="MS Sans Serif"/>
                      </a:endParaRPr>
                    </a:p>
                  </a:txBody>
                  <a:tcPr marL="0" marR="0" marT="0" marB="0" anchor="ctr"/>
                </a:tc>
              </a:tr>
              <a:tr h="228172">
                <a:tc>
                  <a:txBody>
                    <a:bodyPr/>
                    <a:lstStyle/>
                    <a:p>
                      <a:pPr algn="ctr" fontAlgn="ctr"/>
                      <a:r>
                        <a:rPr lang="en-US" altLang="zh-CN" sz="1000" u="none" strike="noStrike" dirty="0"/>
                        <a:t>9</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a:latin typeface="MS Sans Serif"/>
                      </a:endParaRPr>
                    </a:p>
                  </a:txBody>
                  <a:tcPr marL="0" marR="0" marT="0" marB="0" anchor="ctr"/>
                </a:tc>
              </a:tr>
              <a:tr h="228172">
                <a:tc>
                  <a:txBody>
                    <a:bodyPr/>
                    <a:lstStyle/>
                    <a:p>
                      <a:pPr algn="ctr" fontAlgn="ctr"/>
                      <a:r>
                        <a:rPr lang="en-US" altLang="zh-CN" sz="1000" u="none" strike="noStrike" dirty="0"/>
                        <a:t>10</a:t>
                      </a:r>
                      <a:endParaRPr lang="en-US" altLang="zh-CN" sz="1000" b="0" i="0" u="none" strike="noStrike" dirty="0">
                        <a:latin typeface="MS Sans Serif"/>
                      </a:endParaRPr>
                    </a:p>
                  </a:txBody>
                  <a:tcPr marL="0" marR="0" marT="0" marB="0" anchor="ctr"/>
                </a:tc>
                <a:tc>
                  <a:txBody>
                    <a:bodyPr/>
                    <a:lstStyle/>
                    <a:p>
                      <a:pPr algn="ctr" fontAlgn="ctr"/>
                      <a:endParaRPr lang="zh-CN" altLang="en-US" sz="1000" b="0" i="0" u="none" strike="noStrike">
                        <a:latin typeface="MS Sans Serif"/>
                      </a:endParaRPr>
                    </a:p>
                  </a:txBody>
                  <a:tcPr marL="0" marR="0" marT="0" marB="0" anchor="ctr"/>
                </a:tc>
                <a:tc>
                  <a:txBody>
                    <a:bodyPr/>
                    <a:lstStyle/>
                    <a:p>
                      <a:pPr algn="ctr" fontAlgn="ctr"/>
                      <a:endParaRPr lang="zh-CN" altLang="en-US"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c>
                  <a:txBody>
                    <a:bodyPr/>
                    <a:lstStyle/>
                    <a:p>
                      <a:pPr algn="ctr" fontAlgn="ctr"/>
                      <a:endParaRPr lang="en-US" altLang="zh-CN" sz="1000" b="0" i="0" u="none" strike="noStrike" dirty="0">
                        <a:latin typeface="MS Sans Serif"/>
                      </a:endParaRPr>
                    </a:p>
                  </a:txBody>
                  <a:tcPr marL="0" marR="0" marT="0" marB="0" anchor="ctr"/>
                </a:tc>
              </a:tr>
              <a:tr h="255206">
                <a:tc gridSpan="3">
                  <a:txBody>
                    <a:bodyPr/>
                    <a:lstStyle/>
                    <a:p>
                      <a:pPr marL="0" algn="ctr" defTabSz="914400" rtl="0" eaLnBrk="1" fontAlgn="ctr" latinLnBrk="0" hangingPunct="1"/>
                      <a:r>
                        <a:rPr lang="zh-CN" altLang="en-US" sz="1000" u="none" strike="noStrike" kern="1200" dirty="0"/>
                        <a:t>总计</a:t>
                      </a:r>
                      <a:endParaRPr lang="zh-CN" altLang="en-US" sz="1000" b="1" i="0" u="none" strike="noStrike" kern="1200" dirty="0">
                        <a:solidFill>
                          <a:schemeClr val="dk1"/>
                        </a:solidFill>
                        <a:latin typeface="MS Sans Serif"/>
                        <a:ea typeface="+mn-ea"/>
                        <a:cs typeface="+mn-cs"/>
                      </a:endParaRPr>
                    </a:p>
                  </a:txBody>
                  <a:tcPr/>
                </a:tc>
                <a:tc hMerge="1">
                  <a:txBody>
                    <a:bodyPr/>
                    <a:lstStyle/>
                    <a:p>
                      <a:endParaRPr lang="zh-CN"/>
                    </a:p>
                  </a:txBody>
                  <a:tcPr/>
                </a:tc>
                <a:tc hMerge="1">
                  <a:txBody>
                    <a:bodyPr/>
                    <a:lstStyle/>
                    <a:p>
                      <a:endParaRPr lang="zh-CN"/>
                    </a:p>
                  </a:txBody>
                  <a:tcPr/>
                </a:tc>
                <a:tc>
                  <a:txBody>
                    <a:bodyPr/>
                    <a:lstStyle/>
                    <a:p>
                      <a:pPr algn="ctr"/>
                      <a:endParaRPr lang="zh-CN" altLang="en-US" sz="1000" b="0" i="0" u="none" strike="noStrike" kern="1200" dirty="0">
                        <a:solidFill>
                          <a:schemeClr val="dk1"/>
                        </a:solidFill>
                        <a:latin typeface="MS Sans Serif"/>
                        <a:ea typeface="+mn-ea"/>
                        <a:cs typeface="+mn-cs"/>
                      </a:endParaRPr>
                    </a:p>
                  </a:txBody>
                  <a:tcPr/>
                </a:tc>
                <a:tc>
                  <a:txBody>
                    <a:bodyPr/>
                    <a:lstStyle/>
                    <a:p>
                      <a:pPr algn="ctr"/>
                      <a:endParaRPr lang="zh-CN" altLang="en-US" dirty="0"/>
                    </a:p>
                  </a:txBody>
                  <a:tcPr/>
                </a:tc>
              </a:tr>
            </a:tbl>
          </a:graphicData>
        </a:graphic>
      </p:graphicFrame>
      <p:sp>
        <p:nvSpPr>
          <p:cNvPr id="6" name="TextBox 7"/>
          <p:cNvSpPr txBox="1"/>
          <p:nvPr/>
        </p:nvSpPr>
        <p:spPr>
          <a:xfrm>
            <a:off x="411603" y="858633"/>
            <a:ext cx="3960440" cy="338554"/>
          </a:xfrm>
          <a:prstGeom prst="rect">
            <a:avLst/>
          </a:prstGeom>
          <a:noFill/>
        </p:spPr>
        <p:txBody>
          <a:bodyPr wrap="square" rtlCol="0">
            <a:spAutoFit/>
          </a:bodyPr>
          <a:lstStyle/>
          <a:p>
            <a:pPr defTabSz="914400"/>
            <a:r>
              <a:rPr lang="zh-CN" altLang="en-US" sz="1600" dirty="0">
                <a:solidFill>
                  <a:prstClr val="black"/>
                </a:solidFill>
                <a:latin typeface="+mn-ea"/>
              </a:rPr>
              <a:t>前十大应付账款供应商排名表</a:t>
            </a:r>
          </a:p>
        </p:txBody>
      </p:sp>
      <p:sp>
        <p:nvSpPr>
          <p:cNvPr id="7" name="TextBox 8"/>
          <p:cNvSpPr txBox="1"/>
          <p:nvPr/>
        </p:nvSpPr>
        <p:spPr>
          <a:xfrm>
            <a:off x="558813" y="4284867"/>
            <a:ext cx="8184364" cy="988476"/>
          </a:xfrm>
          <a:prstGeom prst="rect">
            <a:avLst/>
          </a:prstGeom>
          <a:noFill/>
        </p:spPr>
        <p:txBody>
          <a:bodyPr wrap="square" rtlCol="0">
            <a:spAutoFit/>
          </a:bodyPr>
          <a:lstStyle/>
          <a:p>
            <a:pPr algn="just">
              <a:lnSpc>
                <a:spcPct val="150000"/>
              </a:lnSpc>
            </a:pPr>
            <a:r>
              <a:rPr lang="zh-CN" altLang="en-US" sz="1000" dirty="0">
                <a:latin typeface="+mn-ea"/>
                <a:cs typeface="+mn-ea"/>
                <a:sym typeface="+mn-lt"/>
              </a:rPr>
              <a:t>分析：单击输入对图表的具体描述细节单击输入对图表的具体描述细节单击输入对图表的具体描述细节单击输入对图表的具体描述细节</a:t>
            </a:r>
          </a:p>
          <a:p>
            <a:pPr algn="just">
              <a:lnSpc>
                <a:spcPct val="150000"/>
              </a:lnSpc>
            </a:pPr>
            <a:r>
              <a:rPr lang="zh-CN" altLang="en-US" sz="1000" dirty="0">
                <a:latin typeface="+mn-ea"/>
                <a:cs typeface="+mn-ea"/>
                <a:sym typeface="+mn-lt"/>
              </a:rPr>
              <a:t>单击输入对图表的具体描述细节单击输入对图表的具体描述细节</a:t>
            </a:r>
          </a:p>
          <a:p>
            <a:pPr algn="just">
              <a:lnSpc>
                <a:spcPct val="150000"/>
              </a:lnSpc>
            </a:pPr>
            <a:endParaRPr lang="zh-CN" altLang="en-US" sz="1000" dirty="0">
              <a:latin typeface="+mn-ea"/>
              <a:cs typeface="+mn-ea"/>
              <a:sym typeface="+mn-lt"/>
            </a:endParaRPr>
          </a:p>
          <a:p>
            <a:pPr algn="just">
              <a:lnSpc>
                <a:spcPct val="150000"/>
              </a:lnSpc>
            </a:pPr>
            <a:endParaRPr lang="zh-CN" altLang="en-US" sz="1000" dirty="0">
              <a:latin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rot="21032569">
            <a:off x="-722140" y="2022662"/>
            <a:ext cx="10299093" cy="2638018"/>
          </a:xfrm>
          <a:prstGeom prst="rect">
            <a:avLst/>
          </a:prstGeom>
          <a:solidFill>
            <a:srgbClr val="2C9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2"/>
          <p:cNvSpPr/>
          <p:nvPr/>
        </p:nvSpPr>
        <p:spPr>
          <a:xfrm>
            <a:off x="4436958" y="2587139"/>
            <a:ext cx="4424609" cy="1077218"/>
          </a:xfrm>
          <a:prstGeom prst="rect">
            <a:avLst/>
          </a:prstGeom>
        </p:spPr>
        <p:txBody>
          <a:bodyPr wrap="none">
            <a:spAutoFit/>
          </a:bodyPr>
          <a:lstStyle/>
          <a:p>
            <a:r>
              <a:rPr lang="zh-CN" altLang="en-US" sz="3200" b="1" dirty="0">
                <a:solidFill>
                  <a:schemeClr val="bg1"/>
                </a:solidFill>
                <a:cs typeface="+mn-ea"/>
                <a:sym typeface="+mn-lt"/>
              </a:rPr>
              <a:t>三大报表分析</a:t>
            </a:r>
            <a:r>
              <a:rPr lang="en-US" altLang="zh-CN" sz="3200" b="1" dirty="0">
                <a:solidFill>
                  <a:schemeClr val="bg1"/>
                </a:solidFill>
                <a:cs typeface="+mn-ea"/>
                <a:sym typeface="+mn-lt"/>
              </a:rPr>
              <a:t>-</a:t>
            </a:r>
            <a:r>
              <a:rPr lang="zh-CN" altLang="en-US" sz="3200" b="1" dirty="0">
                <a:solidFill>
                  <a:schemeClr val="bg1"/>
                </a:solidFill>
                <a:cs typeface="+mn-ea"/>
                <a:sym typeface="+mn-lt"/>
              </a:rPr>
              <a:t>税费分析</a:t>
            </a:r>
          </a:p>
          <a:p>
            <a:endParaRPr lang="zh-CN" altLang="en-US" sz="3200" b="1" dirty="0">
              <a:solidFill>
                <a:schemeClr val="bg1"/>
              </a:solidFill>
              <a:cs typeface="+mn-ea"/>
              <a:sym typeface="+mn-lt"/>
            </a:endParaRPr>
          </a:p>
        </p:txBody>
      </p:sp>
      <p:grpSp>
        <p:nvGrpSpPr>
          <p:cNvPr id="2" name="组合 1"/>
          <p:cNvGrpSpPr/>
          <p:nvPr/>
        </p:nvGrpSpPr>
        <p:grpSpPr>
          <a:xfrm>
            <a:off x="-663549" y="367479"/>
            <a:ext cx="5320256" cy="5320256"/>
            <a:chOff x="-663549" y="367479"/>
            <a:chExt cx="5320256" cy="5320256"/>
          </a:xfrm>
        </p:grpSpPr>
        <p:sp>
          <p:nvSpPr>
            <p:cNvPr id="24" name="Oval 9"/>
            <p:cNvSpPr>
              <a:spLocks noChangeArrowheads="1"/>
            </p:cNvSpPr>
            <p:nvPr/>
          </p:nvSpPr>
          <p:spPr bwMode="auto">
            <a:xfrm>
              <a:off x="0" y="1162000"/>
              <a:ext cx="3927496" cy="3927496"/>
            </a:xfrm>
            <a:prstGeom prst="ellipse">
              <a:avLst/>
            </a:prstGeom>
            <a:solidFill>
              <a:srgbClr val="00B0F0">
                <a:alpha val="51000"/>
              </a:srgbClr>
            </a:solidFill>
            <a:ln>
              <a:noFill/>
            </a:ln>
            <a:effectLst/>
          </p:spPr>
          <p:txBody>
            <a:bodyPr wrap="none" anchor="ctr"/>
            <a:lstStyle/>
            <a:p>
              <a:endParaRPr lang="zh-CN" altLang="en-US" dirty="0">
                <a:cs typeface="+mn-ea"/>
                <a:sym typeface="+mn-lt"/>
              </a:endParaRPr>
            </a:p>
          </p:txBody>
        </p:sp>
        <p:sp>
          <p:nvSpPr>
            <p:cNvPr id="25" name="椭圆 24"/>
            <p:cNvSpPr/>
            <p:nvPr/>
          </p:nvSpPr>
          <p:spPr>
            <a:xfrm>
              <a:off x="-663549" y="367479"/>
              <a:ext cx="5320256" cy="5320256"/>
            </a:xfrm>
            <a:prstGeom prst="ellipse">
              <a:avLst/>
            </a:prstGeom>
            <a:noFill/>
            <a:ln>
              <a:solidFill>
                <a:srgbClr val="0070C0">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椭圆 27"/>
            <p:cNvSpPr/>
            <p:nvPr/>
          </p:nvSpPr>
          <p:spPr>
            <a:xfrm>
              <a:off x="458726" y="1638181"/>
              <a:ext cx="3075709" cy="3075709"/>
            </a:xfrm>
            <a:prstGeom prst="ellipse">
              <a:avLst/>
            </a:prstGeom>
            <a:solidFill>
              <a:srgbClr val="0070C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9" name="椭圆 28"/>
          <p:cNvSpPr/>
          <p:nvPr/>
        </p:nvSpPr>
        <p:spPr>
          <a:xfrm>
            <a:off x="1361249" y="2534232"/>
            <a:ext cx="1270660" cy="127066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6" name="图片 5"/>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285030" y="1795243"/>
            <a:ext cx="4072807" cy="349158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childTnLst>
                          </p:cTn>
                        </p:par>
                        <p:par>
                          <p:cTn id="12" fill="hold">
                            <p:stCondLst>
                              <p:cond delay="0"/>
                            </p:stCondLst>
                            <p:childTnLst>
                              <p:par>
                                <p:cTn id="13" presetID="42"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C98D6"/>
        </a:solidFill>
        <a:effectLst/>
      </p:bgPr>
    </p:bg>
    <p:spTree>
      <p:nvGrpSpPr>
        <p:cNvPr id="1" name=""/>
        <p:cNvGrpSpPr/>
        <p:nvPr/>
      </p:nvGrpSpPr>
      <p:grpSpPr>
        <a:xfrm>
          <a:off x="0" y="0"/>
          <a:ext cx="0" cy="0"/>
          <a:chOff x="0" y="0"/>
          <a:chExt cx="0" cy="0"/>
        </a:xfrm>
      </p:grpSpPr>
      <p:sp>
        <p:nvSpPr>
          <p:cNvPr id="5" name="矩形 4"/>
          <p:cNvSpPr/>
          <p:nvPr/>
        </p:nvSpPr>
        <p:spPr>
          <a:xfrm rot="21032569">
            <a:off x="-902898" y="-90998"/>
            <a:ext cx="10469578" cy="5325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Text Box 4"/>
          <p:cNvSpPr txBox="1">
            <a:spLocks noChangeArrowheads="1"/>
          </p:cNvSpPr>
          <p:nvPr/>
        </p:nvSpPr>
        <p:spPr bwMode="auto">
          <a:xfrm>
            <a:off x="7028420" y="36792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1">
                    <a:lumMod val="85000"/>
                    <a:lumOff val="15000"/>
                  </a:schemeClr>
                </a:solidFill>
                <a:latin typeface="+mn-lt"/>
                <a:ea typeface="+mn-ea"/>
                <a:cs typeface="+mn-ea"/>
                <a:sym typeface="+mn-lt"/>
              </a:rPr>
              <a:t>税费分析</a:t>
            </a:r>
          </a:p>
        </p:txBody>
      </p:sp>
      <p:graphicFrame>
        <p:nvGraphicFramePr>
          <p:cNvPr id="4" name="表格 3"/>
          <p:cNvGraphicFramePr>
            <a:graphicFrameLocks noGrp="1"/>
          </p:cNvGraphicFramePr>
          <p:nvPr/>
        </p:nvGraphicFramePr>
        <p:xfrm>
          <a:off x="323528" y="1186465"/>
          <a:ext cx="7997512" cy="3444240"/>
        </p:xfrm>
        <a:graphic>
          <a:graphicData uri="http://schemas.openxmlformats.org/drawingml/2006/table">
            <a:tbl>
              <a:tblPr firstRow="1" bandRow="1">
                <a:tableStyleId>{7DF18680-E054-41AD-8BC1-D1AEF772440D}</a:tableStyleId>
              </a:tblPr>
              <a:tblGrid>
                <a:gridCol w="1758515"/>
                <a:gridCol w="906934"/>
                <a:gridCol w="824486"/>
                <a:gridCol w="1163312"/>
                <a:gridCol w="1392594"/>
                <a:gridCol w="1951671"/>
              </a:tblGrid>
              <a:tr h="303382">
                <a:tc>
                  <a:txBody>
                    <a:bodyPr/>
                    <a:lstStyle/>
                    <a:p>
                      <a:pPr algn="ctr"/>
                      <a:r>
                        <a:rPr lang="zh-CN" altLang="en-US" sz="1600" dirty="0"/>
                        <a:t>税目</a:t>
                      </a:r>
                    </a:p>
                  </a:txBody>
                  <a:tcPr/>
                </a:tc>
                <a:tc>
                  <a:txBody>
                    <a:bodyPr/>
                    <a:lstStyle/>
                    <a:p>
                      <a:pPr algn="ctr"/>
                      <a:r>
                        <a:rPr lang="en-US" altLang="zh-CN" sz="1600" dirty="0"/>
                        <a:t>2014</a:t>
                      </a:r>
                      <a:endParaRPr lang="zh-CN" altLang="en-US" sz="1600" dirty="0"/>
                    </a:p>
                  </a:txBody>
                  <a:tcPr/>
                </a:tc>
                <a:tc>
                  <a:txBody>
                    <a:bodyPr/>
                    <a:lstStyle/>
                    <a:p>
                      <a:pPr algn="ctr"/>
                      <a:r>
                        <a:rPr lang="en-US" altLang="zh-CN" sz="1600" dirty="0"/>
                        <a:t>2015</a:t>
                      </a:r>
                      <a:endParaRPr lang="zh-CN" altLang="en-US" sz="1600" dirty="0"/>
                    </a:p>
                  </a:txBody>
                  <a:tcPr/>
                </a:tc>
                <a:tc>
                  <a:txBody>
                    <a:bodyPr/>
                    <a:lstStyle/>
                    <a:p>
                      <a:pPr algn="ctr"/>
                      <a:r>
                        <a:rPr lang="en-US" altLang="zh-CN" sz="1600" dirty="0"/>
                        <a:t>2016</a:t>
                      </a:r>
                      <a:endParaRPr lang="zh-CN" altLang="en-US" sz="1600" dirty="0"/>
                    </a:p>
                  </a:txBody>
                  <a:tcPr/>
                </a:tc>
                <a:tc>
                  <a:txBody>
                    <a:bodyPr/>
                    <a:lstStyle/>
                    <a:p>
                      <a:pPr algn="ctr"/>
                      <a:r>
                        <a:rPr lang="en-US" altLang="zh-CN" sz="1600" dirty="0"/>
                        <a:t>2017</a:t>
                      </a:r>
                      <a:r>
                        <a:rPr lang="zh-CN" altLang="en-US" sz="1600" dirty="0"/>
                        <a:t>上</a:t>
                      </a:r>
                    </a:p>
                  </a:txBody>
                  <a:tcPr/>
                </a:tc>
                <a:tc>
                  <a:txBody>
                    <a:bodyPr/>
                    <a:lstStyle/>
                    <a:p>
                      <a:pPr algn="ctr"/>
                      <a:r>
                        <a:rPr lang="zh-CN" altLang="en-US" sz="1600" dirty="0"/>
                        <a:t>说明</a:t>
                      </a:r>
                    </a:p>
                  </a:txBody>
                  <a:tcPr/>
                </a:tc>
              </a:tr>
              <a:tr h="234431">
                <a:tc>
                  <a:txBody>
                    <a:bodyPr/>
                    <a:lstStyle/>
                    <a:p>
                      <a:pPr algn="ctr"/>
                      <a:r>
                        <a:rPr lang="zh-CN" altLang="en-US" sz="1100" dirty="0"/>
                        <a:t>增值税</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en-US" altLang="zh-CN" sz="1100" b="0" i="0" u="none" strike="noStrike" kern="1200" dirty="0">
                        <a:solidFill>
                          <a:srgbClr val="000000"/>
                        </a:solidFill>
                        <a:latin typeface="+mn-ea"/>
                        <a:ea typeface="+mn-ea"/>
                        <a:cs typeface="+mn-cs"/>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50939">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t>增值税税负（账面）</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50939">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t>增值税税负（申报）</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34431">
                <a:tc>
                  <a:txBody>
                    <a:bodyPr/>
                    <a:lstStyle/>
                    <a:p>
                      <a:pPr algn="ctr"/>
                      <a:r>
                        <a:rPr lang="zh-CN" altLang="en-US" sz="1100" dirty="0"/>
                        <a:t>营业税</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en-US" altLang="zh-CN" sz="1100" b="0" i="0" u="none" strike="noStrike" kern="1200" dirty="0">
                        <a:solidFill>
                          <a:srgbClr val="000000"/>
                        </a:solidFill>
                        <a:latin typeface="+mn-ea"/>
                        <a:ea typeface="+mn-ea"/>
                        <a:cs typeface="+mn-cs"/>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50939">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t>地税附加税</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en-US" altLang="zh-CN" sz="1100" b="0" i="0" u="none" strike="noStrike" kern="1200" dirty="0">
                        <a:solidFill>
                          <a:srgbClr val="000000"/>
                        </a:solidFill>
                        <a:latin typeface="+mn-ea"/>
                        <a:ea typeface="+mn-ea"/>
                        <a:cs typeface="+mn-cs"/>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34431">
                <a:tc>
                  <a:txBody>
                    <a:bodyPr/>
                    <a:lstStyle/>
                    <a:p>
                      <a:pPr algn="ctr"/>
                      <a:r>
                        <a:rPr lang="zh-CN" altLang="en-US" sz="1100" dirty="0"/>
                        <a:t>企业所得税</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en-US" altLang="zh-CN" sz="1100" b="0" i="0" u="none" strike="noStrike" kern="1200" dirty="0">
                        <a:solidFill>
                          <a:srgbClr val="000000"/>
                        </a:solidFill>
                        <a:latin typeface="+mn-ea"/>
                        <a:ea typeface="+mn-ea"/>
                        <a:cs typeface="+mn-cs"/>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34431">
                <a:tc>
                  <a:txBody>
                    <a:bodyPr/>
                    <a:lstStyle/>
                    <a:p>
                      <a:pPr algn="ctr"/>
                      <a:r>
                        <a:rPr lang="zh-CN" altLang="en-US" sz="1100" dirty="0"/>
                        <a:t>企业所得税税负</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34431">
                <a:tc>
                  <a:txBody>
                    <a:bodyPr/>
                    <a:lstStyle/>
                    <a:p>
                      <a:pPr algn="ctr"/>
                      <a:r>
                        <a:rPr lang="zh-CN" altLang="en-US" sz="1100" dirty="0"/>
                        <a:t>房产税</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en-US" altLang="zh-CN" sz="1100" b="0" i="0" u="none" strike="noStrike" kern="1200" dirty="0">
                        <a:solidFill>
                          <a:srgbClr val="000000"/>
                        </a:solidFill>
                        <a:latin typeface="+mn-ea"/>
                        <a:ea typeface="+mn-ea"/>
                        <a:cs typeface="+mn-cs"/>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34431">
                <a:tc>
                  <a:txBody>
                    <a:bodyPr/>
                    <a:lstStyle/>
                    <a:p>
                      <a:pPr algn="ctr"/>
                      <a:r>
                        <a:rPr lang="zh-CN" altLang="en-US" sz="1100" dirty="0"/>
                        <a:t>印花税</a:t>
                      </a:r>
                      <a:endParaRPr lang="zh-CN" altLang="en-US" sz="1100" b="1" dirty="0">
                        <a:latin typeface="+mn-ea"/>
                        <a:ea typeface="+mn-ea"/>
                      </a:endParaRPr>
                    </a:p>
                  </a:txBody>
                  <a:tcP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algn="ctr" fontAlgn="ctr"/>
                      <a:endParaRPr lang="en-US" altLang="zh-CN" sz="1100" b="0" i="0" u="none" strike="noStrike" dirty="0">
                        <a:solidFill>
                          <a:srgbClr val="000000"/>
                        </a:solidFill>
                        <a:latin typeface="+mn-ea"/>
                        <a:ea typeface="+mn-ea"/>
                      </a:endParaRPr>
                    </a:p>
                  </a:txBody>
                  <a:tcPr marL="0" marR="0" marT="0" marB="0" anchor="ct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34431">
                <a:tc>
                  <a:txBody>
                    <a:bodyPr/>
                    <a:lstStyle/>
                    <a:p>
                      <a:pPr algn="ctr"/>
                      <a:r>
                        <a:rPr lang="zh-CN" altLang="en-US" sz="1100" dirty="0"/>
                        <a:t>其它税费</a:t>
                      </a:r>
                      <a:endParaRPr lang="zh-CN" altLang="en-US" sz="1100" b="1" dirty="0">
                        <a:latin typeface="+mn-ea"/>
                        <a:ea typeface="+mn-ea"/>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34431">
                <a:tc>
                  <a:txBody>
                    <a:bodyPr/>
                    <a:lstStyle/>
                    <a:p>
                      <a:pPr algn="ctr"/>
                      <a:r>
                        <a:rPr lang="zh-CN" altLang="en-US" sz="1100" dirty="0"/>
                        <a:t> 合计</a:t>
                      </a:r>
                      <a:endParaRPr lang="zh-CN" altLang="en-US" sz="1100" b="1" dirty="0">
                        <a:latin typeface="+mn-ea"/>
                        <a:ea typeface="+mn-ea"/>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c>
                  <a:txBody>
                    <a:bodyPr/>
                    <a:lstStyle/>
                    <a:p>
                      <a:pPr marL="0" algn="ctr" defTabSz="914400" rtl="0" eaLnBrk="1" fontAlgn="ctr" latinLnBrk="0" hangingPunct="1"/>
                      <a:endParaRPr lang="zh-CN" altLang="en-US" sz="1100" b="0" i="0" u="none" strike="noStrike" kern="1200" dirty="0">
                        <a:solidFill>
                          <a:srgbClr val="000000"/>
                        </a:solidFill>
                        <a:latin typeface="+mn-ea"/>
                        <a:ea typeface="+mn-ea"/>
                        <a:cs typeface="+mn-cs"/>
                      </a:endParaRPr>
                    </a:p>
                  </a:txBody>
                  <a:tcPr/>
                </a:tc>
              </a:tr>
              <a:tr h="234431">
                <a:tc>
                  <a:txBody>
                    <a:bodyPr/>
                    <a:lstStyle/>
                    <a:p>
                      <a:pPr algn="ctr"/>
                      <a:r>
                        <a:rPr lang="zh-CN" altLang="en-US" sz="1100" dirty="0"/>
                        <a:t>总税负率（账面）</a:t>
                      </a:r>
                      <a:endParaRPr lang="zh-CN" altLang="en-US" sz="1100" b="1" dirty="0">
                        <a:latin typeface="+mn-ea"/>
                        <a:ea typeface="+mn-ea"/>
                      </a:endParaRPr>
                    </a:p>
                  </a:txBody>
                  <a:tcPr/>
                </a:tc>
                <a:tc>
                  <a:txBody>
                    <a:bodyPr/>
                    <a:lstStyle/>
                    <a:p>
                      <a:pPr algn="ctr" fontAlgn="ctr"/>
                      <a:endParaRPr lang="en-US" altLang="zh-CN" sz="1100" b="1"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1"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1"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1" i="0" u="none" strike="noStrike" dirty="0">
                        <a:solidFill>
                          <a:srgbClr val="000000"/>
                        </a:solidFill>
                        <a:latin typeface="宋体" panose="02010600030101010101" pitchFamily="2" charset="-122"/>
                      </a:endParaRPr>
                    </a:p>
                  </a:txBody>
                  <a:tcPr marL="0" marR="0" marT="0" marB="0" anchor="ctr"/>
                </a:tc>
                <a:tc>
                  <a:txBody>
                    <a:bodyPr/>
                    <a:lstStyle/>
                    <a:p>
                      <a:pPr marL="0" algn="ctr" defTabSz="914400" rtl="0" eaLnBrk="1" fontAlgn="ctr" latinLnBrk="0" hangingPunct="1"/>
                      <a:endParaRPr lang="zh-CN" altLang="en-US" sz="1100" b="1" i="0" u="none" strike="noStrike" kern="1200" dirty="0">
                        <a:solidFill>
                          <a:srgbClr val="000000"/>
                        </a:solidFill>
                        <a:latin typeface="+mn-ea"/>
                        <a:ea typeface="+mn-ea"/>
                        <a:cs typeface="+mn-cs"/>
                      </a:endParaRPr>
                    </a:p>
                  </a:txBody>
                  <a:tcPr/>
                </a:tc>
              </a:tr>
            </a:tbl>
          </a:graphicData>
        </a:graphic>
      </p:graphicFrame>
      <p:sp>
        <p:nvSpPr>
          <p:cNvPr id="6" name="TextBox 7"/>
          <p:cNvSpPr txBox="1"/>
          <p:nvPr/>
        </p:nvSpPr>
        <p:spPr>
          <a:xfrm>
            <a:off x="411603" y="776337"/>
            <a:ext cx="3960440" cy="338554"/>
          </a:xfrm>
          <a:prstGeom prst="rect">
            <a:avLst/>
          </a:prstGeom>
          <a:noFill/>
        </p:spPr>
        <p:txBody>
          <a:bodyPr wrap="square" rtlCol="0">
            <a:spAutoFit/>
          </a:bodyPr>
          <a:lstStyle/>
          <a:p>
            <a:pPr defTabSz="914400"/>
            <a:r>
              <a:rPr lang="zh-CN" altLang="en-US" sz="1600" dirty="0">
                <a:solidFill>
                  <a:prstClr val="black"/>
                </a:solidFill>
                <a:latin typeface="+mn-ea"/>
              </a:rPr>
              <a:t>应交税费总体情况分析</a:t>
            </a:r>
          </a:p>
        </p:txBody>
      </p:sp>
      <p:sp>
        <p:nvSpPr>
          <p:cNvPr id="7" name="TextBox 7"/>
          <p:cNvSpPr txBox="1"/>
          <p:nvPr/>
        </p:nvSpPr>
        <p:spPr>
          <a:xfrm>
            <a:off x="7219168" y="907566"/>
            <a:ext cx="1296144" cy="261610"/>
          </a:xfrm>
          <a:prstGeom prst="rect">
            <a:avLst/>
          </a:prstGeom>
          <a:noFill/>
        </p:spPr>
        <p:txBody>
          <a:bodyPr wrap="square" rtlCol="0">
            <a:spAutoFit/>
          </a:bodyPr>
          <a:lstStyle/>
          <a:p>
            <a:r>
              <a:rPr lang="zh-CN" altLang="en-US" sz="1100" b="1" dirty="0"/>
              <a:t>单位：万元</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dirty="0">
              <a:latin typeface="+mn-lt"/>
              <a:ea typeface="+mn-ea"/>
              <a:cs typeface="+mn-ea"/>
              <a:sym typeface="+mn-lt"/>
            </a:endParaRPr>
          </a:p>
        </p:txBody>
      </p:sp>
      <p:sp>
        <p:nvSpPr>
          <p:cNvPr id="3" name="副标题 2"/>
          <p:cNvSpPr>
            <a:spLocks noGrp="1"/>
          </p:cNvSpPr>
          <p:nvPr>
            <p:ph type="subTitle" idx="1"/>
          </p:nvPr>
        </p:nvSpPr>
        <p:spPr/>
        <p:txBody>
          <a:bodyPr/>
          <a:lstStyle/>
          <a:p>
            <a:endParaRPr lang="zh-CN" altLang="en-US" dirty="0">
              <a:cs typeface="+mn-ea"/>
              <a:sym typeface="+mn-lt"/>
            </a:endParaRPr>
          </a:p>
        </p:txBody>
      </p:sp>
      <p:sp>
        <p:nvSpPr>
          <p:cNvPr id="4" name="文本框 3"/>
          <p:cNvSpPr txBox="1"/>
          <p:nvPr/>
        </p:nvSpPr>
        <p:spPr>
          <a:xfrm rot="20821939">
            <a:off x="5221000" y="3224040"/>
            <a:ext cx="1980029" cy="1169551"/>
          </a:xfrm>
          <a:prstGeom prst="rect">
            <a:avLst/>
          </a:prstGeom>
          <a:noFill/>
        </p:spPr>
        <p:txBody>
          <a:bodyPr wrap="none" rtlCol="0">
            <a:spAutoFit/>
          </a:bodyPr>
          <a:lstStyle/>
          <a:p>
            <a:r>
              <a:rPr lang="zh-CN" altLang="en-US" sz="7000" b="1" dirty="0">
                <a:solidFill>
                  <a:srgbClr val="2C98D6"/>
                </a:solidFill>
              </a:rPr>
              <a:t>谢谢</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ip143a0">
      <a:majorFont>
        <a:latin typeface="Arial"/>
        <a:ea typeface="Microsoft YaHei"/>
        <a:cs typeface=""/>
      </a:majorFont>
      <a:minorFont>
        <a:latin typeface="Arial"/>
        <a:ea typeface="Microsoft YaHe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1489</Words>
  <Application>Microsoft Macintosh PowerPoint</Application>
  <PresentationFormat>全屏显示(16:9)</PresentationFormat>
  <Paragraphs>358</Paragraphs>
  <Slides>26</Slides>
  <Notes>0</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Calibri</vt:lpstr>
      <vt:lpstr>Microsoft YaHei</vt:lpstr>
      <vt:lpstr>MS Sans Serif</vt:lpstr>
      <vt:lpstr>楷体</vt:lpstr>
      <vt:lpstr>宋体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Microsoft Office 用户</cp:lastModifiedBy>
  <cp:revision>4</cp:revision>
  <dcterms:created xsi:type="dcterms:W3CDTF">2019-05-14T02:13:00Z</dcterms:created>
  <dcterms:modified xsi:type="dcterms:W3CDTF">2020-03-13T12:06:26Z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