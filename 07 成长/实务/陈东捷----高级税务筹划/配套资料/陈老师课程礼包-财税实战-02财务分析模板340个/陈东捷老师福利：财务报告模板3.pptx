
<file path=[Content_Types].xml><?xml version="1.0" encoding="utf-8"?>
<Types xmlns="http://schemas.openxmlformats.org/package/2006/content-types">
  <Default Extension="xml" ContentType="application/xml"/>
  <Default Extension="jpeg" ContentType="image/jpeg"/>
  <Default Extension="mp3" ContentType="audio/mpeg"/>
  <Default Extension="rels" ContentType="application/vnd.openxmlformats-package.relationships+xml"/>
  <Default Extension="wdp" ContentType="image/vnd.ms-photo"/>
  <Default Extension="GIF" ContentType="image/gi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theme/themeOverride1.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30.xml" ContentType="application/vnd.openxmlformats-officedocument.presentationml.notesSlide+xml"/>
  <Override PartName="/ppt/tags/tag46.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64" r:id="rId2"/>
    <p:sldId id="257" r:id="rId3"/>
    <p:sldId id="258" r:id="rId4"/>
    <p:sldId id="259" r:id="rId5"/>
    <p:sldId id="260" r:id="rId6"/>
    <p:sldId id="275" r:id="rId7"/>
    <p:sldId id="296" r:id="rId8"/>
    <p:sldId id="276" r:id="rId9"/>
    <p:sldId id="277" r:id="rId10"/>
    <p:sldId id="265" r:id="rId11"/>
    <p:sldId id="274" r:id="rId12"/>
    <p:sldId id="261" r:id="rId13"/>
    <p:sldId id="262" r:id="rId14"/>
    <p:sldId id="280" r:id="rId15"/>
    <p:sldId id="281" r:id="rId16"/>
    <p:sldId id="282" r:id="rId17"/>
    <p:sldId id="278" r:id="rId18"/>
    <p:sldId id="283" r:id="rId19"/>
    <p:sldId id="284" r:id="rId20"/>
    <p:sldId id="279" r:id="rId21"/>
    <p:sldId id="285" r:id="rId22"/>
    <p:sldId id="286" r:id="rId23"/>
    <p:sldId id="289" r:id="rId24"/>
    <p:sldId id="288" r:id="rId25"/>
    <p:sldId id="287" r:id="rId26"/>
    <p:sldId id="266" r:id="rId27"/>
    <p:sldId id="263" r:id="rId28"/>
    <p:sldId id="267" r:id="rId29"/>
    <p:sldId id="273" r:id="rId30"/>
    <p:sldId id="268" r:id="rId31"/>
    <p:sldId id="269" r:id="rId32"/>
    <p:sldId id="270" r:id="rId33"/>
    <p:sldId id="271" r:id="rId34"/>
    <p:sldId id="272" r:id="rId35"/>
    <p:sldId id="290" r:id="rId36"/>
    <p:sldId id="295"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353"/>
    <a:srgbClr val="FF9797"/>
    <a:srgbClr val="FF3B3B"/>
    <a:srgbClr val="EA0000"/>
    <a:srgbClr val="FF6600"/>
    <a:srgbClr val="FF3300"/>
    <a:srgbClr val="F3F3F3"/>
    <a:srgbClr val="8A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showGuides="1">
      <p:cViewPr varScale="1">
        <p:scale>
          <a:sx n="113" d="100"/>
          <a:sy n="113" d="100"/>
        </p:scale>
        <p:origin x="560"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E:\&#36130;&#21153;&#31649;&#29702;&#37096;\&#36130;&#21153;&#25910;&#20837;&#20998;&#26512;\&#36130;&#21153;&#25910;&#20837;&#20998;&#26512;\&#25910;&#20837;&#26469;&#28304;&#20998;&#26512;&#34920;\&#25910;&#20837;&#26469;&#28304;&#20998;&#26512;-2015&#24180;4&#26376;.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E:\&#36130;&#21153;&#31649;&#29702;&#37096;\&#36130;&#21153;&#25910;&#20837;&#20998;&#26512;\&#36130;&#21153;&#25910;&#20837;&#20998;&#26512;\&#25910;&#20837;&#26469;&#28304;&#20998;&#26512;&#34920;\&#25910;&#20837;&#26469;&#28304;&#20998;&#26512;-2015&#24180;4&#26376;.xlsx"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D:\0111\My%20Documents\2014&#24180;&#25991;&#26723;\2014&#24180;&#36130;&#21153;&#20998;&#26512;\2014&#24180;&#21508;&#22320;&#24066;&#25910;&#20837;&#23436;&#25104;&#23545;&#27604;&#22270;&#65288;PPT&#65289;.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E:\&#36130;&#21153;&#31649;&#29702;&#37096;\&#36130;&#21153;&#25910;&#20837;&#20998;&#26512;\&#24212;&#25910;&#36134;&#27454;\&#24212;&#25910;&#36134;&#27454;&#20998;&#26512;\2015&#24180;&#24212;&#25910;&#36134;&#27454;&#20998;&#26512;&#27719;&#24635;&#65288;&#23450;&#65289;.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
          <c:y val="0.0514005540974045"/>
          <c:w val="0.970509007467077"/>
          <c:h val="0.794544446917734"/>
        </c:manualLayout>
      </c:layout>
      <c:lineChart>
        <c:grouping val="standard"/>
        <c:varyColors val="0"/>
        <c:ser>
          <c:idx val="0"/>
          <c:order val="0"/>
          <c:tx>
            <c:strRef>
              <c:f>'PPT1'!$A$4</c:f>
              <c:strCache>
                <c:ptCount val="1"/>
                <c:pt idx="0">
                  <c:v>2014-账面口径</c:v>
                </c:pt>
              </c:strCache>
            </c:strRef>
          </c:tx>
          <c:marker>
            <c:symbol val="diamond"/>
            <c:size val="3"/>
          </c:marker>
          <c:dLbls>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delete val="1"/>
              <c:extLst>
                <c:ext xmlns:c15="http://schemas.microsoft.com/office/drawing/2012/chart" uri="{CE6537A1-D6FC-4f65-9D91-7224C49458BB}"/>
              </c:extLst>
            </c:dLbl>
            <c:dLbl>
              <c:idx val="11"/>
              <c:delete val="1"/>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'PPT1'!$B$4:$M$4</c:f>
              <c:numCache>
                <c:formatCode>0_ </c:formatCode>
                <c:ptCount val="12"/>
                <c:pt idx="0">
                  <c:v>7332.3706</c:v>
                </c:pt>
                <c:pt idx="1">
                  <c:v>7025.86082600001</c:v>
                </c:pt>
                <c:pt idx="2">
                  <c:v>7020.243037</c:v>
                </c:pt>
                <c:pt idx="3">
                  <c:v>6777.423874</c:v>
                </c:pt>
                <c:pt idx="4">
                  <c:v>6998.793215</c:v>
                </c:pt>
                <c:pt idx="5">
                  <c:v>6406.64125805661</c:v>
                </c:pt>
                <c:pt idx="6">
                  <c:v>6280.247047951299</c:v>
                </c:pt>
                <c:pt idx="7">
                  <c:v>6161.20288200906</c:v>
                </c:pt>
                <c:pt idx="8">
                  <c:v>6226.44086409434</c:v>
                </c:pt>
                <c:pt idx="9">
                  <c:v>5955.65223144075</c:v>
                </c:pt>
                <c:pt idx="10">
                  <c:v>5753.83596073585</c:v>
                </c:pt>
                <c:pt idx="11">
                  <c:v>5807.383491242139</c:v>
                </c:pt>
              </c:numCache>
            </c:numRef>
          </c:val>
          <c:smooth val="1"/>
        </c:ser>
        <c:ser>
          <c:idx val="1"/>
          <c:order val="1"/>
          <c:tx>
            <c:strRef>
              <c:f>'PPT1'!$A$5</c:f>
              <c:strCache>
                <c:ptCount val="1"/>
                <c:pt idx="0">
                  <c:v>2014-可比口径</c:v>
                </c:pt>
              </c:strCache>
            </c:strRef>
          </c:tx>
          <c:spPr>
            <a:ln w="19050" cap="rnd" cmpd="sng" algn="ctr">
              <a:solidFill>
                <a:srgbClr val="92D050"/>
              </a:solidFill>
              <a:prstDash val="solid"/>
              <a:round/>
            </a:ln>
          </c:spPr>
          <c:marker>
            <c:symbol val="square"/>
            <c:size val="3"/>
            <c:spPr>
              <a:solidFill>
                <a:srgbClr val="92D050"/>
              </a:solidFill>
              <a:ln w="6350" cap="flat" cmpd="sng" algn="ctr">
                <a:solidFill>
                  <a:srgbClr val="92D050"/>
                </a:solidFill>
                <a:prstDash val="solid"/>
                <a:round/>
              </a:ln>
            </c:spPr>
          </c:marker>
          <c:dLbls>
            <c:dLbl>
              <c:idx val="0"/>
              <c:layout>
                <c:manualLayout>
                  <c:x val="0.00192400192400194"/>
                  <c:y val="-0.0787037037037037"/>
                </c:manualLayout>
              </c:layout>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'PPT1'!$B$5:$M$5</c:f>
              <c:numCache>
                <c:formatCode>0_ </c:formatCode>
                <c:ptCount val="12"/>
                <c:pt idx="0">
                  <c:v>6825.42076750943</c:v>
                </c:pt>
                <c:pt idx="1">
                  <c:v>6536.13483458491</c:v>
                </c:pt>
                <c:pt idx="2">
                  <c:v>6533.186702</c:v>
                </c:pt>
                <c:pt idx="3">
                  <c:v>6309.401335132069</c:v>
                </c:pt>
                <c:pt idx="4">
                  <c:v>6512.24559403774</c:v>
                </c:pt>
                <c:pt idx="5">
                  <c:v>6406.64125805661</c:v>
                </c:pt>
                <c:pt idx="6">
                  <c:v>6280.247047951299</c:v>
                </c:pt>
                <c:pt idx="7">
                  <c:v>6161.20288200906</c:v>
                </c:pt>
                <c:pt idx="8">
                  <c:v>6226.44086409434</c:v>
                </c:pt>
                <c:pt idx="9">
                  <c:v>5955.65223144075</c:v>
                </c:pt>
                <c:pt idx="10">
                  <c:v>5753.83596073585</c:v>
                </c:pt>
                <c:pt idx="11">
                  <c:v>5807.383491242139</c:v>
                </c:pt>
              </c:numCache>
            </c:numRef>
          </c:val>
          <c:smooth val="1"/>
        </c:ser>
        <c:ser>
          <c:idx val="2"/>
          <c:order val="2"/>
          <c:tx>
            <c:strRef>
              <c:f>'PPT1'!$A$6</c:f>
              <c:strCache>
                <c:ptCount val="1"/>
                <c:pt idx="0">
                  <c:v>2015年</c:v>
                </c:pt>
              </c:strCache>
            </c:strRef>
          </c:tx>
          <c:spPr>
            <a:ln w="19050" cap="rnd" cmpd="sng" algn="ctr">
              <a:solidFill>
                <a:srgbClr val="C00000"/>
              </a:solidFill>
              <a:prstDash val="solid"/>
              <a:round/>
            </a:ln>
          </c:spPr>
          <c:marker>
            <c:symbol val="triangle"/>
            <c:size val="3"/>
            <c:spPr>
              <a:solidFill>
                <a:schemeClr val="accent2"/>
              </a:solidFill>
              <a:ln w="6350" cap="flat" cmpd="sng" algn="ctr">
                <a:solidFill>
                  <a:srgbClr val="C00000"/>
                </a:solidFill>
                <a:prstDash val="solid"/>
                <a:round/>
              </a:ln>
            </c:spPr>
          </c:marker>
          <c:dLbls>
            <c:dLbl>
              <c:idx val="0"/>
              <c:layout>
                <c:manualLayout>
                  <c:x val="-0.0288600288600289"/>
                  <c:y val="0.0509259259259259"/>
                </c:manualLayout>
              </c:layout>
              <c:dLblPos val="r"/>
              <c:showLegendKey val="0"/>
              <c:showVal val="1"/>
              <c:showCatName val="0"/>
              <c:showSerName val="0"/>
              <c:showPercent val="0"/>
              <c:showBubbleSize val="0"/>
              <c:extLst>
                <c:ext xmlns:c15="http://schemas.microsoft.com/office/drawing/2012/chart" uri="{CE6537A1-D6FC-4f65-9D91-7224C49458BB}"/>
              </c:extLst>
            </c:dLbl>
            <c:dLbl>
              <c:idx val="1"/>
              <c:layout>
                <c:manualLayout>
                  <c:x val="-0.0518366611546666"/>
                  <c:y val="-0.0370368711330104"/>
                </c:manualLayout>
              </c:layout>
              <c:dLblPos val="r"/>
              <c:showLegendKey val="0"/>
              <c:showVal val="1"/>
              <c:showCatName val="0"/>
              <c:showSerName val="0"/>
              <c:showPercent val="0"/>
              <c:showBubbleSize val="0"/>
              <c:extLst>
                <c:ext xmlns:c15="http://schemas.microsoft.com/office/drawing/2012/chart" uri="{CE6537A1-D6FC-4f65-9D91-7224C49458BB}"/>
              </c:extLst>
            </c:dLbl>
            <c:dLbl>
              <c:idx val="2"/>
              <c:layout>
                <c:manualLayout>
                  <c:x val="-0.0517619285438836"/>
                  <c:y val="0.0558890226490104"/>
                </c:manualLayout>
              </c:layout>
              <c:dLblPos val="r"/>
              <c:showLegendKey val="0"/>
              <c:showVal val="1"/>
              <c:showCatName val="0"/>
              <c:showSerName val="0"/>
              <c:showPercent val="0"/>
              <c:showBubbleSize val="0"/>
              <c:extLst>
                <c:ext xmlns:c15="http://schemas.microsoft.com/office/drawing/2012/chart" uri="{CE6537A1-D6FC-4f65-9D91-7224C49458BB}"/>
              </c:extLst>
            </c:dLbl>
            <c:dLbl>
              <c:idx val="3"/>
              <c:layout>
                <c:manualLayout>
                  <c:x val="-0.00962000962000967"/>
                  <c:y val="-0.00925962379702537"/>
                </c:manualLayout>
              </c:layout>
              <c:dLblPos val="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'PPT1'!$B$3:$M$3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'PPT1'!$B$6:$M$6</c:f>
              <c:numCache>
                <c:formatCode>0_ </c:formatCode>
                <c:ptCount val="12"/>
                <c:pt idx="0">
                  <c:v>6668.8756481391</c:v>
                </c:pt>
                <c:pt idx="1">
                  <c:v>6701.4776208155</c:v>
                </c:pt>
                <c:pt idx="2">
                  <c:v>6902.419736122</c:v>
                </c:pt>
                <c:pt idx="3">
                  <c:v>6553.040125</c:v>
                </c:pt>
              </c:numCache>
            </c:numRef>
          </c:val>
          <c:smooth val="1"/>
        </c:ser>
        <c:dLbls>
          <c:showLegendKey val="0"/>
          <c:showVal val="0"/>
          <c:showCatName val="0"/>
          <c:showSerName val="0"/>
          <c:showPercent val="0"/>
          <c:showBubbleSize val="0"/>
        </c:dLbls>
        <c:marker val="1"/>
        <c:smooth val="0"/>
        <c:axId val="-2095490848"/>
        <c:axId val="-2095489072"/>
      </c:lineChart>
      <c:catAx>
        <c:axId val="-209549084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crossAx val="-2095489072"/>
        <c:crosses val="autoZero"/>
        <c:auto val="1"/>
        <c:lblAlgn val="ctr"/>
        <c:lblOffset val="100"/>
        <c:noMultiLvlLbl val="0"/>
      </c:catAx>
      <c:valAx>
        <c:axId val="-2095489072"/>
        <c:scaling>
          <c:orientation val="minMax"/>
          <c:max val="8000.0"/>
          <c:min val="5000.0"/>
        </c:scaling>
        <c:delete val="1"/>
        <c:axPos val="l"/>
        <c:numFmt formatCode="0_ " sourceLinked="1"/>
        <c:majorTickMark val="out"/>
        <c:minorTickMark val="none"/>
        <c:tickLblPos val="nextTo"/>
        <c:crossAx val="-2095490848"/>
        <c:crosses val="autoZero"/>
        <c:crossBetween val="between"/>
      </c:valAx>
    </c:plotArea>
    <c:legend>
      <c:legendPos val="r"/>
      <c:layout>
        <c:manualLayout>
          <c:xMode val="edge"/>
          <c:yMode val="edge"/>
          <c:x val="0.191265031265031"/>
          <c:y val="0.0457203266258385"/>
          <c:w val="0.765872139415675"/>
          <c:h val="0.121521945173521"/>
        </c:manualLayout>
      </c:layout>
      <c:overlay val="0"/>
      <c:txPr>
        <a:bodyPr rot="0" spcFirstLastPara="0" vertOverflow="ellipsis" vert="horz" wrap="square" anchor="ctr" anchorCtr="1"/>
        <a:lstStyle/>
        <a:p>
          <a:pPr>
            <a:defRPr lang="zh-CN" sz="12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legend>
    <c:plotVisOnly val="1"/>
    <c:dispBlanksAs val="gap"/>
    <c:showDLblsOverMax val="0"/>
  </c:chart>
  <c:txPr>
    <a:bodyPr/>
    <a:lstStyle/>
    <a:p>
      <a:pPr>
        <a:defRPr lang="zh-CN" sz="1200">
          <a:latin typeface="Arial" panose="020B0604020202020204"/>
          <a:ea typeface="微软雅黑" panose="020B0503020204020204" charset="-122"/>
          <a:sym typeface="Arial" panose="020B0604020202020204"/>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
          <c:y val="0.0269559816473322"/>
          <c:w val="1.0"/>
          <c:h val="0.762988920278098"/>
        </c:manualLayout>
      </c:layout>
      <c:barChart>
        <c:barDir val="col"/>
        <c:grouping val="stacked"/>
        <c:varyColors val="0"/>
        <c:ser>
          <c:idx val="0"/>
          <c:order val="0"/>
          <c:tx>
            <c:strRef>
              <c:f>'PPT1'!$E$51</c:f>
              <c:strCache>
                <c:ptCount val="1"/>
                <c:pt idx="0">
                  <c:v>A</c:v>
                </c:pt>
              </c:strCache>
            </c:strRef>
          </c:tx>
          <c:spPr>
            <a:solidFill>
              <a:schemeClr val="bg1"/>
            </a:solidFill>
          </c:spPr>
          <c:invertIfNegative val="0"/>
          <c:dPt>
            <c:idx val="0"/>
            <c:invertIfNegative val="0"/>
            <c:bubble3D val="0"/>
            <c:spPr>
              <a:solidFill>
                <a:srgbClr val="C00000"/>
              </a:solidFill>
            </c:spPr>
          </c:dPt>
          <c:dPt>
            <c:idx val="1"/>
            <c:invertIfNegative val="0"/>
            <c:bubble3D val="0"/>
            <c:spPr>
              <a:solidFill>
                <a:schemeClr val="bg1">
                  <a:lumMod val="65000"/>
                </a:schemeClr>
              </a:solidFill>
            </c:spPr>
          </c:dPt>
          <c:dPt>
            <c:idx val="2"/>
            <c:invertIfNegative val="0"/>
            <c:bubble3D val="0"/>
            <c:spPr>
              <a:solidFill>
                <a:schemeClr val="bg1">
                  <a:lumMod val="65000"/>
                </a:schemeClr>
              </a:solidFill>
            </c:spPr>
          </c:dPt>
          <c:dPt>
            <c:idx val="3"/>
            <c:invertIfNegative val="0"/>
            <c:bubble3D val="0"/>
            <c:spPr>
              <a:solidFill>
                <a:schemeClr val="bg1">
                  <a:lumMod val="65000"/>
                </a:schemeClr>
              </a:solidFill>
            </c:spPr>
          </c:dPt>
          <c:dPt>
            <c:idx val="4"/>
            <c:invertIfNegative val="0"/>
            <c:bubble3D val="0"/>
            <c:spPr>
              <a:solidFill>
                <a:schemeClr val="bg1">
                  <a:lumMod val="65000"/>
                </a:schemeClr>
              </a:solidFill>
            </c:spPr>
          </c:dPt>
          <c:dPt>
            <c:idx val="5"/>
            <c:invertIfNegative val="0"/>
            <c:bubble3D val="0"/>
            <c:spPr>
              <a:solidFill>
                <a:schemeClr val="bg1">
                  <a:lumMod val="65000"/>
                </a:schemeClr>
              </a:solidFill>
            </c:spPr>
          </c:dPt>
          <c:dPt>
            <c:idx val="6"/>
            <c:invertIfNegative val="0"/>
            <c:bubble3D val="0"/>
            <c:spPr>
              <a:solidFill>
                <a:schemeClr val="bg1">
                  <a:lumMod val="65000"/>
                </a:schemeClr>
              </a:solidFill>
            </c:spPr>
          </c:dPt>
          <c:dPt>
            <c:idx val="7"/>
            <c:invertIfNegative val="0"/>
            <c:bubble3D val="0"/>
            <c:spPr>
              <a:solidFill>
                <a:srgbClr val="C00000"/>
              </a:solidFill>
            </c:spPr>
          </c:dPt>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'PPT1'!$E$52:$E$59</c:f>
              <c:numCache>
                <c:formatCode>0.0_ </c:formatCode>
                <c:ptCount val="8"/>
                <c:pt idx="0">
                  <c:v>6902.419736122</c:v>
                </c:pt>
                <c:pt idx="1">
                  <c:v>6801.84566112201</c:v>
                </c:pt>
                <c:pt idx="2">
                  <c:v>6732.956572122</c:v>
                </c:pt>
                <c:pt idx="3">
                  <c:v>6669.379353121999</c:v>
                </c:pt>
                <c:pt idx="4">
                  <c:v>6612.476932122</c:v>
                </c:pt>
                <c:pt idx="5">
                  <c:v>6572.130300122</c:v>
                </c:pt>
                <c:pt idx="6">
                  <c:v>6553.040125</c:v>
                </c:pt>
                <c:pt idx="7">
                  <c:v>6553.040125</c:v>
                </c:pt>
              </c:numCache>
            </c:numRef>
          </c:val>
        </c:ser>
        <c:ser>
          <c:idx val="1"/>
          <c:order val="1"/>
          <c:tx>
            <c:strRef>
              <c:f>'PPT1'!$F$51</c:f>
              <c:strCache>
                <c:ptCount val="1"/>
                <c:pt idx="0">
                  <c:v>B</c:v>
                </c:pt>
              </c:strCache>
            </c:strRef>
          </c:tx>
          <c:spPr>
            <a:solidFill>
              <a:srgbClr val="C00000"/>
            </a:solidFill>
          </c:spPr>
          <c:invertIfNegative val="0"/>
          <c:dLbls>
            <c:dLbl>
              <c:idx val="0"/>
              <c:layout>
                <c:manualLayout>
                  <c:x val="0.0"/>
                  <c:y val="-0.0370370370370371"/>
                </c:manualLayout>
              </c:layout>
              <c:tx>
                <c:rich>
                  <a:bodyPr/>
                  <a:lstStyle/>
                  <a:p>
                    <a:r>
                      <a:rPr lang="en-US" altLang="en-US"/>
                      <a:t>6902</a:t>
                    </a:r>
                  </a:p>
                </c:rich>
              </c:tx>
              <c:dLblPos val="ctr"/>
              <c:showLegendKey val="0"/>
              <c:showVal val="1"/>
              <c:showCatName val="0"/>
              <c:showSerName val="0"/>
              <c:showPercent val="0"/>
              <c:showBubbleSize val="0"/>
              <c:extLst>
                <c:ext xmlns:c15="http://schemas.microsoft.com/office/drawing/2012/chart" uri="{CE6537A1-D6FC-4f65-9D91-7224C49458BB}"/>
              </c:extLst>
            </c:dLbl>
            <c:dLbl>
              <c:idx val="1"/>
              <c:layout>
                <c:manualLayout>
                  <c:x val="-0.00254452926208654"/>
                  <c:y val="-0.0837244464160298"/>
                </c:manualLayout>
              </c:layout>
              <c:tx>
                <c:rich>
                  <a:bodyPr/>
                  <a:lstStyle/>
                  <a:p>
                    <a:r>
                      <a:rPr lang="en-US" altLang="en-US"/>
                      <a:t>-100.6 </a:t>
                    </a:r>
                  </a:p>
                </c:rich>
              </c:tx>
              <c:dLblPos val="ctr"/>
              <c:showLegendKey val="0"/>
              <c:showVal val="1"/>
              <c:showCatName val="0"/>
              <c:showSerName val="0"/>
              <c:showPercent val="0"/>
              <c:showBubbleSize val="0"/>
              <c:extLst>
                <c:ext xmlns:c15="http://schemas.microsoft.com/office/drawing/2012/chart" uri="{CE6537A1-D6FC-4f65-9D91-7224C49458BB}"/>
              </c:extLst>
            </c:dLbl>
            <c:dLbl>
              <c:idx val="2"/>
              <c:layout>
                <c:manualLayout>
                  <c:x val="0.00295906713950832"/>
                  <c:y val="-0.0874281911944106"/>
                </c:manualLayout>
              </c:layout>
              <c:tx>
                <c:rich>
                  <a:bodyPr/>
                  <a:lstStyle/>
                  <a:p>
                    <a:r>
                      <a:rPr lang="en-US" altLang="en-US"/>
                      <a:t>-68.9 </a:t>
                    </a:r>
                  </a:p>
                </c:rich>
              </c:tx>
              <c:dLblPos val="ctr"/>
              <c:showLegendKey val="0"/>
              <c:showVal val="1"/>
              <c:showCatName val="0"/>
              <c:showSerName val="0"/>
              <c:showPercent val="0"/>
              <c:showBubbleSize val="0"/>
              <c:extLst>
                <c:ext xmlns:c15="http://schemas.microsoft.com/office/drawing/2012/chart" uri="{CE6537A1-D6FC-4f65-9D91-7224C49458BB}"/>
              </c:extLst>
            </c:dLbl>
            <c:dLbl>
              <c:idx val="3"/>
              <c:layout>
                <c:manualLayout>
                  <c:x val="-0.00212999138466471"/>
                  <c:y val="-0.094105208679901"/>
                </c:manualLayout>
              </c:layout>
              <c:tx>
                <c:rich>
                  <a:bodyPr/>
                  <a:lstStyle/>
                  <a:p>
                    <a:r>
                      <a:rPr lang="en-US" altLang="en-US"/>
                      <a:t>-63.6 </a:t>
                    </a:r>
                  </a:p>
                </c:rich>
              </c:tx>
              <c:dLblPos val="ctr"/>
              <c:showLegendKey val="0"/>
              <c:showVal val="1"/>
              <c:showCatName val="0"/>
              <c:showSerName val="0"/>
              <c:showPercent val="0"/>
              <c:showBubbleSize val="0"/>
              <c:extLst>
                <c:ext xmlns:c15="http://schemas.microsoft.com/office/drawing/2012/chart" uri="{CE6537A1-D6FC-4f65-9D91-7224C49458BB}"/>
              </c:extLst>
            </c:dLbl>
            <c:dLbl>
              <c:idx val="4"/>
              <c:layout>
                <c:manualLayout>
                  <c:x val="0.0"/>
                  <c:y val="-0.0592592592592593"/>
                </c:manualLayout>
              </c:layout>
              <c:tx>
                <c:rich>
                  <a:bodyPr/>
                  <a:lstStyle/>
                  <a:p>
                    <a:r>
                      <a:rPr lang="en-US" altLang="en-US"/>
                      <a:t>-56.9 </a:t>
                    </a:r>
                  </a:p>
                </c:rich>
              </c:tx>
              <c:dLblPos val="ctr"/>
              <c:showLegendKey val="0"/>
              <c:showVal val="1"/>
              <c:showCatName val="0"/>
              <c:showSerName val="0"/>
              <c:showPercent val="0"/>
              <c:showBubbleSize val="0"/>
              <c:extLst>
                <c:ext xmlns:c15="http://schemas.microsoft.com/office/drawing/2012/chart" uri="{CE6537A1-D6FC-4f65-9D91-7224C49458BB}"/>
              </c:extLst>
            </c:dLbl>
            <c:dLbl>
              <c:idx val="5"/>
              <c:layout>
                <c:manualLayout>
                  <c:x val="-0.002129925095398"/>
                  <c:y val="-0.0666666666666667"/>
                </c:manualLayout>
              </c:layout>
              <c:tx>
                <c:rich>
                  <a:bodyPr/>
                  <a:lstStyle/>
                  <a:p>
                    <a:r>
                      <a:rPr lang="en-US" altLang="en-US"/>
                      <a:t>-40.3 </a:t>
                    </a:r>
                  </a:p>
                </c:rich>
              </c:tx>
              <c:dLblPos val="ctr"/>
              <c:showLegendKey val="0"/>
              <c:showVal val="1"/>
              <c:showCatName val="0"/>
              <c:showSerName val="0"/>
              <c:showPercent val="0"/>
              <c:showBubbleSize val="0"/>
              <c:extLst>
                <c:ext xmlns:c15="http://schemas.microsoft.com/office/drawing/2012/chart" uri="{CE6537A1-D6FC-4f65-9D91-7224C49458BB}"/>
              </c:extLst>
            </c:dLbl>
            <c:dLbl>
              <c:idx val="6"/>
              <c:layout>
                <c:manualLayout>
                  <c:x val="0.0"/>
                  <c:y val="-0.0370370370370371"/>
                </c:manualLayout>
              </c:layout>
              <c:tx>
                <c:rich>
                  <a:bodyPr/>
                  <a:lstStyle/>
                  <a:p>
                    <a:r>
                      <a:rPr lang="en-US" altLang="en-US"/>
                      <a:t>-19.1 </a:t>
                    </a:r>
                  </a:p>
                </c:rich>
              </c:tx>
              <c:dLblPos val="ctr"/>
              <c:showLegendKey val="0"/>
              <c:showVal val="1"/>
              <c:showCatName val="0"/>
              <c:showSerName val="0"/>
              <c:showPercent val="0"/>
              <c:showBubbleSize val="0"/>
              <c:extLst>
                <c:ext xmlns:c15="http://schemas.microsoft.com/office/drawing/2012/chart" uri="{CE6537A1-D6FC-4f65-9D91-7224C49458BB}"/>
              </c:extLst>
            </c:dLbl>
            <c:dLbl>
              <c:idx val="7"/>
              <c:layout>
                <c:manualLayout>
                  <c:x val="0.0"/>
                  <c:y val="-0.0328638497652584"/>
                </c:manualLayout>
              </c:layout>
              <c:tx>
                <c:rich>
                  <a:bodyPr/>
                  <a:lstStyle/>
                  <a:p>
                    <a:r>
                      <a:rPr lang="en-US" altLang="en-US"/>
                      <a:t>6553</a:t>
                    </a:r>
                  </a:p>
                </c:rich>
              </c:tx>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'PPT1'!$D$52:$D$59</c:f>
              <c:strCache>
                <c:ptCount val="8"/>
                <c:pt idx="0">
                  <c:v>3月</c:v>
                </c:pt>
                <c:pt idx="1">
                  <c:v>固网宽带
减收</c:v>
                </c:pt>
                <c:pt idx="2">
                  <c:v>移动电话
减收</c:v>
                </c:pt>
                <c:pt idx="3">
                  <c:v>ICT减收</c:v>
                </c:pt>
                <c:pt idx="4">
                  <c:v>号百传媒
减收</c:v>
                </c:pt>
                <c:pt idx="5">
                  <c:v>网间结算</c:v>
                </c:pt>
                <c:pt idx="6">
                  <c:v>其他</c:v>
                </c:pt>
                <c:pt idx="7">
                  <c:v>4月</c:v>
                </c:pt>
              </c:strCache>
            </c:strRef>
          </c:cat>
          <c:val>
            <c:numRef>
              <c:f>'PPT1'!$F$52:$F$59</c:f>
              <c:numCache>
                <c:formatCode>0.0_ </c:formatCode>
                <c:ptCount val="8"/>
                <c:pt idx="0">
                  <c:v>0.0</c:v>
                </c:pt>
                <c:pt idx="1">
                  <c:v>100.574075</c:v>
                </c:pt>
                <c:pt idx="2">
                  <c:v>68.8890890000002</c:v>
                </c:pt>
                <c:pt idx="3">
                  <c:v>63.577219</c:v>
                </c:pt>
                <c:pt idx="4">
                  <c:v>56.902421</c:v>
                </c:pt>
                <c:pt idx="5">
                  <c:v>40.346632</c:v>
                </c:pt>
                <c:pt idx="6">
                  <c:v>19.0901751219988</c:v>
                </c:pt>
                <c:pt idx="7">
                  <c:v>0.0</c:v>
                </c:pt>
              </c:numCache>
            </c:numRef>
          </c:val>
        </c:ser>
        <c:dLbls>
          <c:showLegendKey val="0"/>
          <c:showVal val="0"/>
          <c:showCatName val="0"/>
          <c:showSerName val="0"/>
          <c:showPercent val="0"/>
          <c:showBubbleSize val="0"/>
        </c:dLbls>
        <c:gapWidth val="150"/>
        <c:overlap val="100"/>
        <c:axId val="2098821888"/>
        <c:axId val="2068335488"/>
      </c:barChart>
      <c:catAx>
        <c:axId val="209882188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2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crossAx val="2068335488"/>
        <c:crosses val="autoZero"/>
        <c:auto val="1"/>
        <c:lblAlgn val="ctr"/>
        <c:lblOffset val="100"/>
        <c:noMultiLvlLbl val="0"/>
      </c:catAx>
      <c:valAx>
        <c:axId val="2068335488"/>
        <c:scaling>
          <c:orientation val="minMax"/>
          <c:max val="6950.0"/>
          <c:min val="6300.0"/>
        </c:scaling>
        <c:delete val="1"/>
        <c:axPos val="l"/>
        <c:numFmt formatCode="0.0_ " sourceLinked="1"/>
        <c:majorTickMark val="out"/>
        <c:minorTickMark val="none"/>
        <c:tickLblPos val="nextTo"/>
        <c:crossAx val="2098821888"/>
        <c:crosses val="autoZero"/>
        <c:crossBetween val="between"/>
      </c:valAx>
    </c:plotArea>
    <c:plotVisOnly val="1"/>
    <c:dispBlanksAs val="gap"/>
    <c:showDLblsOverMax val="0"/>
  </c:chart>
  <c:txPr>
    <a:bodyPr/>
    <a:lstStyle/>
    <a:p>
      <a:pPr>
        <a:defRPr lang="zh-CN" sz="1200">
          <a:latin typeface="Arial" panose="020B0604020202020204"/>
          <a:ea typeface="微软雅黑" panose="020B0503020204020204" charset="-122"/>
          <a:sym typeface="Arial" panose="020B0604020202020204"/>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0605144336287267"/>
          <c:y val="0.028368958061824"/>
          <c:w val="0.970754548297363"/>
          <c:h val="0.8211638487962"/>
        </c:manualLayout>
      </c:layout>
      <c:barChart>
        <c:barDir val="col"/>
        <c:grouping val="clustered"/>
        <c:varyColors val="0"/>
        <c:ser>
          <c:idx val="1"/>
          <c:order val="0"/>
          <c:tx>
            <c:strRef>
              <c:f>全业务!$A$2</c:f>
              <c:strCache>
                <c:ptCount val="1"/>
                <c:pt idx="0">
                  <c:v>完成率</c:v>
                </c:pt>
              </c:strCache>
            </c:strRef>
          </c:tx>
          <c:spPr>
            <a:solidFill>
              <a:sysClr val="windowText" lastClr="000000">
                <a:lumMod val="50000"/>
                <a:lumOff val="50000"/>
              </a:sysClr>
            </a:solidFill>
            <a:ln w="12700">
              <a:noFill/>
              <a:prstDash val="solid"/>
            </a:ln>
          </c:spPr>
          <c:invertIfNegative val="0"/>
          <c:dPt>
            <c:idx val="0"/>
            <c:invertIfNegative val="0"/>
            <c:bubble3D val="0"/>
            <c:spPr>
              <a:solidFill>
                <a:srgbClr val="C00000"/>
              </a:solidFill>
              <a:ln w="12700">
                <a:noFill/>
                <a:prstDash val="solid"/>
              </a:ln>
            </c:spPr>
          </c:dPt>
          <c:dLbls>
            <c:spPr>
              <a:noFill/>
              <a:ln w="25400">
                <a:noFill/>
              </a:ln>
              <a:effectLst/>
            </c:spPr>
            <c:txPr>
              <a:bodyPr rot="0" spcFirstLastPara="0" vertOverflow="ellipsis" vert="horz" wrap="square" lIns="38100" tIns="19050" rIns="38100" bIns="19050" anchor="ctr" anchorCtr="1"/>
              <a:lstStyle/>
              <a:p>
                <a:pPr>
                  <a:defRPr lang="zh-CN" sz="1000" b="0" i="0" u="none" strike="noStrike" kern="1200" baseline="0">
                    <a:solidFill>
                      <a:srgbClr val="000000"/>
                    </a:solidFill>
                    <a:latin typeface="Arial" panose="020B0604020202020204"/>
                    <a:ea typeface="微软雅黑" panose="020B0503020204020204" charset="-122"/>
                    <a:cs typeface="Arial" panose="020B0604020202020204"/>
                    <a:sym typeface="Arial" panose="020B0604020202020204"/>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全业务!$B$1:$J$1</c:f>
              <c:strCache>
                <c:ptCount val="9"/>
                <c:pt idx="0">
                  <c:v>南平</c:v>
                </c:pt>
                <c:pt idx="1">
                  <c:v>莆田</c:v>
                </c:pt>
                <c:pt idx="2">
                  <c:v>泉州</c:v>
                </c:pt>
                <c:pt idx="3">
                  <c:v>漳州</c:v>
                </c:pt>
                <c:pt idx="4">
                  <c:v>宁德</c:v>
                </c:pt>
                <c:pt idx="5">
                  <c:v>福州</c:v>
                </c:pt>
                <c:pt idx="6">
                  <c:v>厦门</c:v>
                </c:pt>
                <c:pt idx="7">
                  <c:v>龙岩</c:v>
                </c:pt>
                <c:pt idx="8">
                  <c:v>三明</c:v>
                </c:pt>
              </c:strCache>
            </c:strRef>
          </c:cat>
          <c:val>
            <c:numRef>
              <c:f>全业务!$B$2:$J$2</c:f>
              <c:numCache>
                <c:formatCode>0.00%</c:formatCode>
                <c:ptCount val="9"/>
                <c:pt idx="0">
                  <c:v>0.337247851227139</c:v>
                </c:pt>
                <c:pt idx="1">
                  <c:v>0.326428978961509</c:v>
                </c:pt>
                <c:pt idx="2">
                  <c:v>0.323773027196395</c:v>
                </c:pt>
                <c:pt idx="3">
                  <c:v>0.321998635484677</c:v>
                </c:pt>
                <c:pt idx="4">
                  <c:v>0.319247099508161</c:v>
                </c:pt>
                <c:pt idx="5">
                  <c:v>0.319045725139154</c:v>
                </c:pt>
                <c:pt idx="6">
                  <c:v>0.317560538487865</c:v>
                </c:pt>
                <c:pt idx="7">
                  <c:v>0.313768393843047</c:v>
                </c:pt>
                <c:pt idx="8">
                  <c:v>0.309375923495012</c:v>
                </c:pt>
              </c:numCache>
            </c:numRef>
          </c:val>
        </c:ser>
        <c:dLbls>
          <c:showLegendKey val="0"/>
          <c:showVal val="1"/>
          <c:showCatName val="0"/>
          <c:showSerName val="0"/>
          <c:showPercent val="0"/>
          <c:showBubbleSize val="0"/>
        </c:dLbls>
        <c:gapWidth val="150"/>
        <c:axId val="2066641600"/>
        <c:axId val="1994679216"/>
      </c:barChart>
      <c:lineChart>
        <c:grouping val="standard"/>
        <c:varyColors val="0"/>
        <c:ser>
          <c:idx val="0"/>
          <c:order val="1"/>
          <c:tx>
            <c:strRef>
              <c:f>全业务!$A$3</c:f>
              <c:strCache>
                <c:ptCount val="1"/>
                <c:pt idx="0">
                  <c:v>同比增幅</c:v>
                </c:pt>
              </c:strCache>
            </c:strRef>
          </c:tx>
          <c:spPr>
            <a:ln w="38100" cap="rnd" cmpd="sng" algn="ctr">
              <a:solidFill>
                <a:srgbClr val="FF0000"/>
              </a:solidFill>
              <a:prstDash val="solid"/>
              <a:round/>
            </a:ln>
          </c:spPr>
          <c:marker>
            <c:symbol val="diamond"/>
            <c:size val="9"/>
            <c:spPr>
              <a:solidFill>
                <a:srgbClr val="FF0000"/>
              </a:solidFill>
              <a:ln w="9525" cap="flat" cmpd="sng" algn="ctr">
                <a:solidFill>
                  <a:srgbClr val="FF0000"/>
                </a:solidFill>
                <a:prstDash val="solid"/>
                <a:round/>
              </a:ln>
            </c:spPr>
          </c:marker>
          <c:dLbls>
            <c:dLbl>
              <c:idx val="8"/>
              <c:tx>
                <c:rich>
                  <a:bodyPr/>
                  <a:lstStyle/>
                  <a:p>
                    <a:r>
                      <a:rPr lang="en-US"/>
                      <a:t>-1.34%</a:t>
                    </a:r>
                  </a:p>
                </c:rich>
              </c:tx>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rgbClr val="000000"/>
                    </a:solidFill>
                    <a:latin typeface="Arial" panose="020B0604020202020204"/>
                    <a:ea typeface="微软雅黑" panose="020B0503020204020204" charset="-122"/>
                    <a:cs typeface="Arial" panose="020B0604020202020204"/>
                    <a:sym typeface="Arial" panose="020B0604020202020204"/>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全业务!$B$1:$J$1</c:f>
              <c:strCache>
                <c:ptCount val="9"/>
                <c:pt idx="0">
                  <c:v>南平</c:v>
                </c:pt>
                <c:pt idx="1">
                  <c:v>莆田</c:v>
                </c:pt>
                <c:pt idx="2">
                  <c:v>泉州</c:v>
                </c:pt>
                <c:pt idx="3">
                  <c:v>漳州</c:v>
                </c:pt>
                <c:pt idx="4">
                  <c:v>宁德</c:v>
                </c:pt>
                <c:pt idx="5">
                  <c:v>福州</c:v>
                </c:pt>
                <c:pt idx="6">
                  <c:v>厦门</c:v>
                </c:pt>
                <c:pt idx="7">
                  <c:v>龙岩</c:v>
                </c:pt>
                <c:pt idx="8">
                  <c:v>三明</c:v>
                </c:pt>
              </c:strCache>
            </c:strRef>
          </c:cat>
          <c:val>
            <c:numRef>
              <c:f>全业务!$B$3:$J$3</c:f>
              <c:numCache>
                <c:formatCode>0.00%</c:formatCode>
                <c:ptCount val="9"/>
                <c:pt idx="0">
                  <c:v>0.0387395777685404</c:v>
                </c:pt>
                <c:pt idx="1">
                  <c:v>0.0234315095574613</c:v>
                </c:pt>
                <c:pt idx="2">
                  <c:v>-0.0124263402893378</c:v>
                </c:pt>
                <c:pt idx="3">
                  <c:v>-0.00216392374793716</c:v>
                </c:pt>
                <c:pt idx="4">
                  <c:v>-0.0214435933239028</c:v>
                </c:pt>
                <c:pt idx="5">
                  <c:v>-0.00804996967604383</c:v>
                </c:pt>
                <c:pt idx="6">
                  <c:v>-0.0178011563646132</c:v>
                </c:pt>
                <c:pt idx="7">
                  <c:v>-0.0261072718125509</c:v>
                </c:pt>
                <c:pt idx="8">
                  <c:v>-0.0305604211143761</c:v>
                </c:pt>
              </c:numCache>
            </c:numRef>
          </c:val>
          <c:smooth val="1"/>
        </c:ser>
        <c:dLbls>
          <c:showLegendKey val="0"/>
          <c:showVal val="1"/>
          <c:showCatName val="0"/>
          <c:showSerName val="0"/>
          <c:showPercent val="0"/>
          <c:showBubbleSize val="0"/>
        </c:dLbls>
        <c:marker val="1"/>
        <c:smooth val="0"/>
        <c:axId val="2067541168"/>
        <c:axId val="2067087056"/>
      </c:lineChart>
      <c:catAx>
        <c:axId val="2066641600"/>
        <c:scaling>
          <c:orientation val="minMax"/>
        </c:scaling>
        <c:delete val="0"/>
        <c:axPos val="b"/>
        <c:numFmt formatCode="General" sourceLinked="1"/>
        <c:majorTickMark val="in"/>
        <c:minorTickMark val="none"/>
        <c:tickLblPos val="nextTo"/>
        <c:spPr>
          <a:ln w="3175" cap="flat" cmpd="sng" algn="ctr">
            <a:solidFill>
              <a:srgbClr val="000000"/>
            </a:solidFill>
            <a:prstDash val="solid"/>
            <a:round/>
          </a:ln>
        </c:spPr>
        <c:txPr>
          <a:bodyPr rot="0" spcFirstLastPara="0" vertOverflow="ellipsis" vert="horz" wrap="square" anchor="ctr" anchorCtr="1"/>
          <a:lstStyle/>
          <a:p>
            <a:pPr>
              <a:defRPr lang="zh-CN" sz="1000" b="0" i="0" u="none" strike="noStrike" kern="1200" baseline="0">
                <a:solidFill>
                  <a:srgbClr val="000000"/>
                </a:solidFill>
                <a:latin typeface="Arial" panose="020B0604020202020204"/>
                <a:ea typeface="微软雅黑" panose="020B0503020204020204" charset="-122"/>
                <a:cs typeface="Arial" panose="020B0604020202020204"/>
                <a:sym typeface="Arial" panose="020B0604020202020204"/>
              </a:defRPr>
            </a:pPr>
            <a:endParaRPr lang="zh-CN"/>
          </a:p>
        </c:txPr>
        <c:crossAx val="1994679216"/>
        <c:crosses val="autoZero"/>
        <c:auto val="0"/>
        <c:lblAlgn val="ctr"/>
        <c:lblOffset val="100"/>
        <c:tickLblSkip val="1"/>
        <c:noMultiLvlLbl val="0"/>
      </c:catAx>
      <c:valAx>
        <c:axId val="1994679216"/>
        <c:scaling>
          <c:orientation val="minMax"/>
        </c:scaling>
        <c:delete val="0"/>
        <c:axPos val="l"/>
        <c:numFmt formatCode="0.00%" sourceLinked="1"/>
        <c:majorTickMark val="none"/>
        <c:minorTickMark val="none"/>
        <c:tickLblPos val="none"/>
        <c:spPr>
          <a:ln w="9525" cap="flat" cmpd="sng" algn="ctr">
            <a:noFill/>
            <a:prstDash val="solid"/>
            <a:round/>
          </a:ln>
        </c:spPr>
        <c:txPr>
          <a:bodyPr rot="-60000000" spcFirstLastPara="0" vertOverflow="ellipsis" vert="horz" wrap="square" anchor="ctr" anchorCtr="1"/>
          <a:lstStyle/>
          <a:p>
            <a:pPr>
              <a:defRPr lang="zh-CN" sz="1000" b="0" i="0" u="none" strike="noStrike" kern="1200" baseline="0">
                <a:solidFill>
                  <a:srgbClr val="000000"/>
                </a:solidFill>
                <a:latin typeface="Arial" panose="020B0604020202020204"/>
                <a:ea typeface="微软雅黑" panose="020B0503020204020204" charset="-122"/>
                <a:cs typeface="Arial" panose="020B0604020202020204"/>
                <a:sym typeface="Arial" panose="020B0604020202020204"/>
              </a:defRPr>
            </a:pPr>
            <a:endParaRPr lang="zh-CN"/>
          </a:p>
        </c:txPr>
        <c:crossAx val="2066641600"/>
        <c:crosses val="autoZero"/>
        <c:crossBetween val="between"/>
      </c:valAx>
      <c:catAx>
        <c:axId val="2067541168"/>
        <c:scaling>
          <c:orientation val="minMax"/>
        </c:scaling>
        <c:delete val="1"/>
        <c:axPos val="b"/>
        <c:numFmt formatCode="General" sourceLinked="1"/>
        <c:majorTickMark val="out"/>
        <c:minorTickMark val="none"/>
        <c:tickLblPos val="none"/>
        <c:crossAx val="2067087056"/>
        <c:crossesAt val="0.0"/>
        <c:auto val="0"/>
        <c:lblAlgn val="ctr"/>
        <c:lblOffset val="100"/>
        <c:noMultiLvlLbl val="0"/>
      </c:catAx>
      <c:valAx>
        <c:axId val="2067087056"/>
        <c:scaling>
          <c:orientation val="minMax"/>
          <c:max val="0.1"/>
          <c:min val="-0.2"/>
        </c:scaling>
        <c:delete val="0"/>
        <c:axPos val="r"/>
        <c:numFmt formatCode="0.00%" sourceLinked="1"/>
        <c:majorTickMark val="none"/>
        <c:minorTickMark val="none"/>
        <c:tickLblPos val="none"/>
        <c:spPr>
          <a:ln w="3175" cap="flat" cmpd="sng" algn="ctr">
            <a:solidFill>
              <a:srgbClr val="000000"/>
            </a:solidFill>
            <a:prstDash val="solid"/>
            <a:round/>
          </a:ln>
        </c:spPr>
        <c:txPr>
          <a:bodyPr rot="-60000000" spcFirstLastPara="0" vertOverflow="ellipsis" vert="horz" wrap="square" anchor="ctr" anchorCtr="1"/>
          <a:lstStyle/>
          <a:p>
            <a:pPr>
              <a:defRPr lang="zh-CN" sz="1000" b="0" i="0" u="none" strike="noStrike" kern="1200" baseline="0">
                <a:solidFill>
                  <a:srgbClr val="000000"/>
                </a:solidFill>
                <a:latin typeface="Arial" panose="020B0604020202020204"/>
                <a:ea typeface="微软雅黑" panose="020B0503020204020204" charset="-122"/>
                <a:cs typeface="Arial" panose="020B0604020202020204"/>
                <a:sym typeface="Arial" panose="020B0604020202020204"/>
              </a:defRPr>
            </a:pPr>
            <a:endParaRPr lang="zh-CN"/>
          </a:p>
        </c:txPr>
        <c:crossAx val="2067541168"/>
        <c:crosses val="max"/>
        <c:crossBetween val="between"/>
        <c:majorUnit val="0.0400000000000001"/>
        <c:minorUnit val="0.0200000000000001"/>
      </c:valAx>
      <c:spPr>
        <a:noFill/>
        <a:ln w="25400">
          <a:noFill/>
        </a:ln>
      </c:spPr>
    </c:plotArea>
    <c:legend>
      <c:legendPos val="b"/>
      <c:layout>
        <c:manualLayout>
          <c:xMode val="edge"/>
          <c:yMode val="edge"/>
          <c:x val="0.617210473672021"/>
          <c:y val="0.00154870466189367"/>
          <c:w val="0.345598090143011"/>
          <c:h val="0.0902193637712558"/>
        </c:manualLayout>
      </c:layout>
      <c:overlay val="0"/>
      <c:spPr>
        <a:noFill/>
        <a:ln w="3175">
          <a:noFill/>
          <a:prstDash val="solid"/>
        </a:ln>
      </c:spPr>
      <c:txPr>
        <a:bodyPr rot="0" spcFirstLastPara="0" vertOverflow="ellipsis" vert="horz" wrap="square" anchor="ctr" anchorCtr="1"/>
        <a:lstStyle/>
        <a:p>
          <a:pPr>
            <a:defRPr lang="zh-CN" sz="1000" b="0" i="0" u="none" strike="noStrike" kern="1200" baseline="0">
              <a:solidFill>
                <a:srgbClr val="000000"/>
              </a:solidFill>
              <a:latin typeface="Arial" panose="020B0604020202020204"/>
              <a:ea typeface="微软雅黑" panose="020B0503020204020204" charset="-122"/>
              <a:cs typeface="Arial" panose="020B0604020202020204"/>
              <a:sym typeface="Arial" panose="020B0604020202020204"/>
            </a:defRPr>
          </a:pPr>
          <a:endParaRPr lang="zh-CN"/>
        </a:p>
      </c:txPr>
    </c:legend>
    <c:plotVisOnly val="1"/>
    <c:dispBlanksAs val="gap"/>
    <c:showDLblsOverMax val="0"/>
  </c:chart>
  <c:spPr>
    <a:noFill/>
    <a:ln w="9525">
      <a:noFill/>
    </a:ln>
  </c:spPr>
  <c:txPr>
    <a:bodyPr/>
    <a:lstStyle/>
    <a:p>
      <a:pPr>
        <a:defRPr lang="zh-CN" sz="1000" b="0" i="0" u="none" strike="noStrike" baseline="0">
          <a:solidFill>
            <a:srgbClr val="000000"/>
          </a:solidFill>
          <a:latin typeface="Arial" panose="020B0604020202020204"/>
          <a:ea typeface="微软雅黑" panose="020B0503020204020204" charset="-122"/>
          <a:cs typeface="Arial" panose="020B0604020202020204"/>
          <a:sym typeface="Arial" panose="020B0604020202020204"/>
        </a:defRPr>
      </a:pPr>
      <a:endParaRPr lang="zh-CN"/>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26"/>
    </mc:Choice>
    <mc:Fallback>
      <c:style val="26"/>
    </mc:Fallback>
  </mc:AlternateContent>
  <c:chart>
    <c:autoTitleDeleted val="1"/>
    <c:plotArea>
      <c:layout>
        <c:manualLayout>
          <c:layoutTarget val="inner"/>
          <c:xMode val="edge"/>
          <c:yMode val="edge"/>
          <c:x val="0.00982914915425342"/>
          <c:y val="0.0"/>
          <c:w val="0.990170850845747"/>
          <c:h val="0.809611144760751"/>
        </c:manualLayout>
      </c:layout>
      <c:barChart>
        <c:barDir val="col"/>
        <c:grouping val="clustered"/>
        <c:varyColors val="0"/>
        <c:ser>
          <c:idx val="0"/>
          <c:order val="0"/>
          <c:tx>
            <c:strRef>
              <c:f>'PPT2'!$D$15</c:f>
              <c:strCache>
                <c:ptCount val="1"/>
                <c:pt idx="0">
                  <c:v>应收账款余额</c:v>
                </c:pt>
              </c:strCache>
            </c:strRef>
          </c:tx>
          <c:spPr>
            <a:solidFill>
              <a:srgbClr val="C00000"/>
            </a:solidFill>
            <a:effectLst/>
            <a:scene3d>
              <a:camera prst="orthographicFront"/>
              <a:lightRig rig="threePt" dir="t"/>
            </a:scene3d>
          </c:spPr>
          <c:invertIfNegative val="0"/>
          <c:dLbls>
            <c:dLbl>
              <c:idx val="1"/>
              <c:layout>
                <c:manualLayout>
                  <c:x val="0.00159299064049011"/>
                  <c:y val="-0.0103359173126614"/>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'PPT2'!$C$16:$C$30</c:f>
              <c:strCache>
                <c:ptCount val="14"/>
                <c:pt idx="1">
                  <c:v>年初</c:v>
                </c:pt>
                <c:pt idx="2">
                  <c:v>1月</c:v>
                </c:pt>
                <c:pt idx="3">
                  <c:v>2月</c:v>
                </c:pt>
                <c:pt idx="4">
                  <c:v>3月</c:v>
                </c:pt>
                <c:pt idx="5">
                  <c:v>4月</c:v>
                </c:pt>
                <c:pt idx="6">
                  <c:v>5月</c:v>
                </c:pt>
                <c:pt idx="7">
                  <c:v>6月</c:v>
                </c:pt>
                <c:pt idx="8">
                  <c:v>7月</c:v>
                </c:pt>
                <c:pt idx="9">
                  <c:v>8月</c:v>
                </c:pt>
                <c:pt idx="10">
                  <c:v>9月</c:v>
                </c:pt>
                <c:pt idx="11">
                  <c:v>10月</c:v>
                </c:pt>
                <c:pt idx="12">
                  <c:v>11月</c:v>
                </c:pt>
                <c:pt idx="13">
                  <c:v>12月</c:v>
                </c:pt>
              </c:strCache>
            </c:strRef>
          </c:cat>
          <c:val>
            <c:numRef>
              <c:f>'PPT2'!$D$16:$D$30</c:f>
              <c:numCache>
                <c:formatCode>0_ </c:formatCode>
                <c:ptCount val="15"/>
                <c:pt idx="1">
                  <c:v>5510.932678</c:v>
                </c:pt>
                <c:pt idx="2">
                  <c:v>6107.236247</c:v>
                </c:pt>
                <c:pt idx="3">
                  <c:v>6436.049944</c:v>
                </c:pt>
                <c:pt idx="4">
                  <c:v>6423.485182</c:v>
                </c:pt>
                <c:pt idx="5">
                  <c:v>6471.924189</c:v>
                </c:pt>
              </c:numCache>
            </c:numRef>
          </c:val>
        </c:ser>
        <c:dLbls>
          <c:showLegendKey val="0"/>
          <c:showVal val="0"/>
          <c:showCatName val="0"/>
          <c:showSerName val="0"/>
          <c:showPercent val="0"/>
          <c:showBubbleSize val="0"/>
        </c:dLbls>
        <c:gapWidth val="150"/>
        <c:axId val="-2096582768"/>
        <c:axId val="2099257536"/>
      </c:barChart>
      <c:lineChart>
        <c:grouping val="standard"/>
        <c:varyColors val="0"/>
        <c:ser>
          <c:idx val="1"/>
          <c:order val="1"/>
          <c:tx>
            <c:strRef>
              <c:f>'PPT2'!$E$15</c:f>
              <c:strCache>
                <c:ptCount val="1"/>
                <c:pt idx="0">
                  <c:v>占收比</c:v>
                </c:pt>
              </c:strCache>
            </c:strRef>
          </c:tx>
          <c:spPr>
            <a:ln w="50800" cap="rnd" cmpd="sng" algn="ctr">
              <a:solidFill>
                <a:srgbClr val="FFC000"/>
              </a:solidFill>
              <a:prstDash val="solid"/>
              <a:round/>
            </a:ln>
          </c:spPr>
          <c:marker>
            <c:symbol val="square"/>
            <c:size val="3"/>
            <c:spPr>
              <a:solidFill>
                <a:srgbClr val="FFC000"/>
              </a:solidFill>
              <a:ln w="6350" cap="flat" cmpd="sng" algn="ctr">
                <a:solidFill>
                  <a:srgbClr val="FFC000"/>
                </a:solidFill>
                <a:prstDash val="solid"/>
                <a:round/>
              </a:ln>
            </c:spPr>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'PPT2'!$C$18:$C$29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'PPT2'!$E$16:$E$30</c:f>
              <c:numCache>
                <c:formatCode>0.00%</c:formatCode>
                <c:ptCount val="15"/>
                <c:pt idx="1">
                  <c:v>0.0810138711038525</c:v>
                </c:pt>
                <c:pt idx="2">
                  <c:v>0.0846414504695198</c:v>
                </c:pt>
                <c:pt idx="3">
                  <c:v>0.082462933457135</c:v>
                </c:pt>
                <c:pt idx="4">
                  <c:v>0.086388047868528</c:v>
                </c:pt>
                <c:pt idx="5">
                  <c:v>0.0867664159507753</c:v>
                </c:pt>
              </c:numCache>
            </c:numRef>
          </c:val>
          <c:smooth val="1"/>
        </c:ser>
        <c:ser>
          <c:idx val="2"/>
          <c:order val="2"/>
          <c:tx>
            <c:strRef>
              <c:f>'PPT2'!$B$15</c:f>
              <c:strCache>
                <c:ptCount val="1"/>
                <c:pt idx="0">
                  <c:v>基准值</c:v>
                </c:pt>
              </c:strCache>
            </c:strRef>
          </c:tx>
          <c:spPr>
            <a:ln w="28575" cap="rnd" cmpd="sng" algn="ctr">
              <a:solidFill>
                <a:srgbClr val="FF0000"/>
              </a:solidFill>
              <a:prstDash val="sysDash"/>
              <a:round/>
            </a:ln>
          </c:spPr>
          <c:marker>
            <c:symbol val="none"/>
          </c:marker>
          <c:dLbls>
            <c:dLbl>
              <c:idx val="0"/>
              <c:delete val="1"/>
              <c:extLst>
                <c:ext xmlns:c15="http://schemas.microsoft.com/office/drawing/2012/chart" uri="{CE6537A1-D6FC-4f65-9D91-7224C49458BB}"/>
              </c:extLst>
            </c:dLbl>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dLbl>
              <c:idx val="10"/>
              <c:layout>
                <c:manualLayout>
                  <c:x val="0.215034624909174"/>
                  <c:y val="-0.0654609452888157"/>
                </c:manualLayout>
              </c:layout>
              <c:dLblPos val="r"/>
              <c:showLegendKey val="0"/>
              <c:showVal val="1"/>
              <c:showCatName val="0"/>
              <c:showSerName val="0"/>
              <c:showPercent val="0"/>
              <c:showBubbleSize val="0"/>
              <c:extLst>
                <c:ext xmlns:c15="http://schemas.microsoft.com/office/drawing/2012/chart" uri="{CE6537A1-D6FC-4f65-9D91-7224C49458BB}"/>
              </c:extLst>
            </c:dLbl>
            <c:dLbl>
              <c:idx val="11"/>
              <c:delete val="1"/>
              <c:extLst>
                <c:ext xmlns:c15="http://schemas.microsoft.com/office/drawing/2012/chart" uri="{CE6537A1-D6FC-4f65-9D91-7224C49458BB}"/>
              </c:extLst>
            </c:dLbl>
            <c:dLbl>
              <c:idx val="12"/>
              <c:delete val="1"/>
              <c:extLst>
                <c:ext xmlns:c15="http://schemas.microsoft.com/office/drawing/2012/chart" uri="{CE6537A1-D6FC-4f65-9D91-7224C49458BB}"/>
              </c:extLst>
            </c:dLbl>
            <c:dLbl>
              <c:idx val="13"/>
              <c:delete val="1"/>
              <c:extLst>
                <c:ext xmlns:c15="http://schemas.microsoft.com/office/drawing/2012/chart" uri="{CE6537A1-D6FC-4f65-9D91-7224C49458BB}"/>
              </c:extLst>
            </c:dLbl>
            <c:dLbl>
              <c:idx val="14"/>
              <c:delete val="1"/>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'PPT2'!$C$18:$C$29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'PPT2'!$B$16:$B$30</c:f>
              <c:numCache>
                <c:formatCode>0.00%</c:formatCode>
                <c:ptCount val="15"/>
                <c:pt idx="0">
                  <c:v>0.0806</c:v>
                </c:pt>
                <c:pt idx="1">
                  <c:v>0.0806</c:v>
                </c:pt>
                <c:pt idx="2">
                  <c:v>0.0806</c:v>
                </c:pt>
                <c:pt idx="3">
                  <c:v>0.0806</c:v>
                </c:pt>
                <c:pt idx="4">
                  <c:v>0.0806</c:v>
                </c:pt>
                <c:pt idx="5">
                  <c:v>0.0806</c:v>
                </c:pt>
                <c:pt idx="6">
                  <c:v>0.0806</c:v>
                </c:pt>
                <c:pt idx="7">
                  <c:v>0.0806</c:v>
                </c:pt>
                <c:pt idx="8">
                  <c:v>0.0806</c:v>
                </c:pt>
                <c:pt idx="9">
                  <c:v>0.0806</c:v>
                </c:pt>
                <c:pt idx="10">
                  <c:v>0.0806</c:v>
                </c:pt>
                <c:pt idx="11">
                  <c:v>0.0806</c:v>
                </c:pt>
                <c:pt idx="12">
                  <c:v>0.0806</c:v>
                </c:pt>
                <c:pt idx="13">
                  <c:v>0.0806</c:v>
                </c:pt>
                <c:pt idx="14">
                  <c:v>0.0806</c:v>
                </c:pt>
              </c:numCache>
            </c:numRef>
          </c:val>
          <c:smooth val="0"/>
        </c:ser>
        <c:ser>
          <c:idx val="3"/>
          <c:order val="3"/>
          <c:tx>
            <c:strRef>
              <c:f>'PPT2'!$F$15</c:f>
              <c:strCache>
                <c:ptCount val="1"/>
                <c:pt idx="0">
                  <c:v>上年同期</c:v>
                </c:pt>
              </c:strCache>
            </c:strRef>
          </c:tx>
          <c:spPr>
            <a:ln w="38100" cap="rnd" cmpd="sng" algn="ctr">
              <a:solidFill>
                <a:srgbClr val="00B0F0"/>
              </a:solidFill>
              <a:prstDash val="solid"/>
              <a:round/>
            </a:ln>
          </c:spPr>
          <c:marker>
            <c:symbol val="x"/>
            <c:size val="3"/>
            <c:spPr>
              <a:ln w="38100" cap="flat" cmpd="sng" algn="ctr">
                <a:solidFill>
                  <a:srgbClr val="00B0F0"/>
                </a:solidFill>
                <a:prstDash val="solid"/>
                <a:round/>
              </a:ln>
            </c:spPr>
          </c:marker>
          <c:dLbls>
            <c:dLbl>
              <c:idx val="3"/>
              <c:layout>
                <c:manualLayout>
                  <c:x val="0.00345197152422482"/>
                  <c:y val="0.0102560064607309"/>
                </c:manualLayout>
              </c:layout>
              <c:dLblPos val="b"/>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'PPT2'!$C$18:$C$29</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'PPT2'!$F$16:$F$30</c:f>
              <c:numCache>
                <c:formatCode>General</c:formatCode>
                <c:ptCount val="15"/>
                <c:pt idx="2" formatCode="0.00%">
                  <c:v>0.0731724614834331</c:v>
                </c:pt>
                <c:pt idx="3" formatCode="0.00%">
                  <c:v>0.0796556191410179</c:v>
                </c:pt>
                <c:pt idx="4" formatCode="0.00%">
                  <c:v>0.0851128458784697</c:v>
                </c:pt>
                <c:pt idx="5" formatCode="0.00%">
                  <c:v>0.0836156713808737</c:v>
                </c:pt>
                <c:pt idx="6" formatCode="0.00%">
                  <c:v>0.08162190060379</c:v>
                </c:pt>
                <c:pt idx="7" formatCode="0.00%">
                  <c:v>0.0878196375214585</c:v>
                </c:pt>
                <c:pt idx="8" formatCode="0.00%">
                  <c:v>0.0897480823589149</c:v>
                </c:pt>
                <c:pt idx="9" formatCode="0.00%">
                  <c:v>0.0943704463662649</c:v>
                </c:pt>
                <c:pt idx="10" formatCode="0.00%">
                  <c:v>0.090461563967777</c:v>
                </c:pt>
                <c:pt idx="11" formatCode="0.00%">
                  <c:v>0.0873861924495695</c:v>
                </c:pt>
                <c:pt idx="12" formatCode="0.00%">
                  <c:v>0.0874603104669582</c:v>
                </c:pt>
                <c:pt idx="13" formatCode="0.00%">
                  <c:v>0.0810138711038525</c:v>
                </c:pt>
              </c:numCache>
            </c:numRef>
          </c:val>
          <c:smooth val="1"/>
        </c:ser>
        <c:dLbls>
          <c:showLegendKey val="0"/>
          <c:showVal val="0"/>
          <c:showCatName val="0"/>
          <c:showSerName val="0"/>
          <c:showPercent val="0"/>
          <c:showBubbleSize val="0"/>
        </c:dLbls>
        <c:marker val="1"/>
        <c:smooth val="0"/>
        <c:axId val="2099259312"/>
        <c:axId val="-2096716592"/>
      </c:lineChart>
      <c:catAx>
        <c:axId val="-2096582768"/>
        <c:scaling>
          <c:orientation val="minMax"/>
        </c:scaling>
        <c:delete val="0"/>
        <c:axPos val="b"/>
        <c:numFmt formatCode="General" sourceLinked="1"/>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crossAx val="2099257536"/>
        <c:crosses val="autoZero"/>
        <c:auto val="1"/>
        <c:lblAlgn val="ctr"/>
        <c:lblOffset val="100"/>
        <c:noMultiLvlLbl val="0"/>
      </c:catAx>
      <c:valAx>
        <c:axId val="2099257536"/>
        <c:scaling>
          <c:orientation val="minMax"/>
          <c:max val="7500.0"/>
          <c:min val="4000.0"/>
        </c:scaling>
        <c:delete val="0"/>
        <c:axPos val="l"/>
        <c:numFmt formatCode="General" sourceLinked="1"/>
        <c:majorTickMark val="none"/>
        <c:minorTickMark val="none"/>
        <c:tickLblPos val="none"/>
        <c:spPr>
          <a:ln w="6350"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crossAx val="-2096582768"/>
        <c:crosses val="autoZero"/>
        <c:crossBetween val="between"/>
      </c:valAx>
      <c:catAx>
        <c:axId val="2099259312"/>
        <c:scaling>
          <c:orientation val="minMax"/>
        </c:scaling>
        <c:delete val="1"/>
        <c:axPos val="b"/>
        <c:numFmt formatCode="General" sourceLinked="1"/>
        <c:majorTickMark val="out"/>
        <c:minorTickMark val="none"/>
        <c:tickLblPos val="nextTo"/>
        <c:crossAx val="-2096716592"/>
        <c:crosses val="autoZero"/>
        <c:auto val="1"/>
        <c:lblAlgn val="ctr"/>
        <c:lblOffset val="100"/>
        <c:noMultiLvlLbl val="0"/>
      </c:catAx>
      <c:valAx>
        <c:axId val="-2096716592"/>
        <c:scaling>
          <c:orientation val="minMax"/>
          <c:max val="0.12"/>
          <c:min val="0.07"/>
        </c:scaling>
        <c:delete val="0"/>
        <c:axPos val="r"/>
        <c:numFmt formatCode="General" sourceLinked="1"/>
        <c:majorTickMark val="none"/>
        <c:minorTickMark val="none"/>
        <c:tickLblPos val="none"/>
        <c:spPr>
          <a:ln w="6350" cap="flat" cmpd="sng" algn="ctr">
            <a:no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Arial" panose="020B0604020202020204"/>
                <a:ea typeface="微软雅黑" panose="020B0503020204020204" charset="-122"/>
                <a:cs typeface="+mn-cs"/>
                <a:sym typeface="Arial" panose="020B0604020202020204"/>
              </a:defRPr>
            </a:pPr>
            <a:endParaRPr lang="zh-CN"/>
          </a:p>
        </c:txPr>
        <c:crossAx val="2099259312"/>
        <c:crosses val="max"/>
        <c:crossBetween val="between"/>
      </c:valAx>
    </c:plotArea>
    <c:plotVisOnly val="1"/>
    <c:dispBlanksAs val="gap"/>
    <c:showDLblsOverMax val="0"/>
  </c:chart>
  <c:txPr>
    <a:bodyPr/>
    <a:lstStyle/>
    <a:p>
      <a:pPr>
        <a:defRPr lang="zh-CN">
          <a:latin typeface="Arial" panose="020B0604020202020204"/>
          <a:ea typeface="微软雅黑" panose="020B0503020204020204" charset="-122"/>
          <a:sym typeface="Arial" panose="020B0604020202020204"/>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51AF3E-D70E-46F9-A254-3C3F1CB3C129}" type="datetimeFigureOut">
              <a:rPr lang="zh-CN" altLang="en-US" smtClean="0"/>
              <a:t>2020/3/13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15778E-0F8F-4A77-B2C6-C362EAD4505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815778E-0F8F-4A77-B2C6-C362EAD45056}" type="slidenum">
              <a:rPr lang="zh-CN" altLang="en-US" smtClean="0"/>
              <a:t>36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0C234C90-C804-4E57-B9F2-7C5DE93BB8D9}" type="datetimeFigureOut">
              <a:rPr lang="zh-CN" altLang="en-US" smtClean="0"/>
              <a:t>2020/3/13</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AC0808F-F95E-4C53-9B01-CB409E043AF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0"/>
            <a:ext cx="12192000" cy="6858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9" name="矩形 8"/>
          <p:cNvSpPr/>
          <p:nvPr userDrawn="1"/>
        </p:nvSpPr>
        <p:spPr>
          <a:xfrm>
            <a:off x="0" y="304800"/>
            <a:ext cx="106017" cy="84813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png"/><Relationship Id="rId1" Type="http://schemas.microsoft.com/office/2007/relationships/media" Target="../media/media1.mp3"/><Relationship Id="rId2"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microsoft.com/office/2007/relationships/hdphoto" Target="../media/hdphoto1.wdp"/><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4" Type="http://schemas.microsoft.com/office/2007/relationships/hdphoto" Target="../media/hdphoto2.wdp"/><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0" Type="http://schemas.openxmlformats.org/officeDocument/2006/relationships/tags" Target="../tags/tag20.xml"/><Relationship Id="rId21" Type="http://schemas.openxmlformats.org/officeDocument/2006/relationships/tags" Target="../tags/tag21.xml"/><Relationship Id="rId22" Type="http://schemas.openxmlformats.org/officeDocument/2006/relationships/tags" Target="../tags/tag22.xml"/><Relationship Id="rId23" Type="http://schemas.openxmlformats.org/officeDocument/2006/relationships/tags" Target="../tags/tag23.xml"/><Relationship Id="rId24" Type="http://schemas.openxmlformats.org/officeDocument/2006/relationships/tags" Target="../tags/tag24.xml"/><Relationship Id="rId25" Type="http://schemas.openxmlformats.org/officeDocument/2006/relationships/tags" Target="../tags/tag25.xml"/><Relationship Id="rId26" Type="http://schemas.openxmlformats.org/officeDocument/2006/relationships/tags" Target="../tags/tag26.xml"/><Relationship Id="rId27" Type="http://schemas.openxmlformats.org/officeDocument/2006/relationships/tags" Target="../tags/tag27.xml"/><Relationship Id="rId28" Type="http://schemas.openxmlformats.org/officeDocument/2006/relationships/tags" Target="../tags/tag28.xml"/><Relationship Id="rId29" Type="http://schemas.openxmlformats.org/officeDocument/2006/relationships/tags" Target="../tags/tag29.xml"/><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30" Type="http://schemas.openxmlformats.org/officeDocument/2006/relationships/tags" Target="../tags/tag30.xml"/><Relationship Id="rId31" Type="http://schemas.openxmlformats.org/officeDocument/2006/relationships/tags" Target="../tags/tag31.xml"/><Relationship Id="rId32" Type="http://schemas.openxmlformats.org/officeDocument/2006/relationships/tags" Target="../tags/tag32.xml"/><Relationship Id="rId9" Type="http://schemas.openxmlformats.org/officeDocument/2006/relationships/tags" Target="../tags/tag9.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 Id="rId33" Type="http://schemas.openxmlformats.org/officeDocument/2006/relationships/slideLayout" Target="../slideLayouts/slideLayout1.xml"/><Relationship Id="rId34" Type="http://schemas.openxmlformats.org/officeDocument/2006/relationships/notesSlide" Target="../notesSlides/notesSlide9.xml"/><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tags" Target="../tags/tag16.xml"/><Relationship Id="rId17" Type="http://schemas.openxmlformats.org/officeDocument/2006/relationships/tags" Target="../tags/tag17.xml"/><Relationship Id="rId18" Type="http://schemas.openxmlformats.org/officeDocument/2006/relationships/tags" Target="../tags/tag18.xml"/><Relationship Id="rId19" Type="http://schemas.openxmlformats.org/officeDocument/2006/relationships/tags" Target="../tags/tag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chart" Target="../charts/chart2.xml"/><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hart" Target="../charts/char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1" Type="http://schemas.openxmlformats.org/officeDocument/2006/relationships/tags" Target="../tags/tag43.xml"/><Relationship Id="rId12" Type="http://schemas.openxmlformats.org/officeDocument/2006/relationships/tags" Target="../tags/tag44.xml"/><Relationship Id="rId13" Type="http://schemas.openxmlformats.org/officeDocument/2006/relationships/tags" Target="../tags/tag45.xml"/><Relationship Id="rId14" Type="http://schemas.openxmlformats.org/officeDocument/2006/relationships/slideLayout" Target="../slideLayouts/slideLayout1.xml"/><Relationship Id="rId15" Type="http://schemas.openxmlformats.org/officeDocument/2006/relationships/notesSlide" Target="../notesSlides/notesSlide30.xml"/><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 Id="rId5" Type="http://schemas.openxmlformats.org/officeDocument/2006/relationships/tags" Target="../tags/tag37.xml"/><Relationship Id="rId6" Type="http://schemas.openxmlformats.org/officeDocument/2006/relationships/tags" Target="../tags/tag38.xml"/><Relationship Id="rId7" Type="http://schemas.openxmlformats.org/officeDocument/2006/relationships/tags" Target="../tags/tag39.xml"/><Relationship Id="rId8" Type="http://schemas.openxmlformats.org/officeDocument/2006/relationships/tags" Target="../tags/tag40.xml"/><Relationship Id="rId9" Type="http://schemas.openxmlformats.org/officeDocument/2006/relationships/tags" Target="../tags/tag41.xml"/><Relationship Id="rId10" Type="http://schemas.openxmlformats.org/officeDocument/2006/relationships/tags" Target="../tags/tag4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4" Type="http://schemas.openxmlformats.org/officeDocument/2006/relationships/image" Target="../media/image6.jpeg"/><Relationship Id="rId1" Type="http://schemas.openxmlformats.org/officeDocument/2006/relationships/tags" Target="../tags/tag46.xml"/><Relationship Id="rId2"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notesSlide" Target="../notesSlides/notesSlide34.xml"/><Relationship Id="rId1" Type="http://schemas.openxmlformats.org/officeDocument/2006/relationships/tags" Target="../tags/tag47.xml"/><Relationship Id="rId2" Type="http://schemas.openxmlformats.org/officeDocument/2006/relationships/tags" Target="../tags/tag4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flipH="1">
            <a:off x="-3" y="0"/>
            <a:ext cx="8097080" cy="6858000"/>
          </a:xfrm>
          <a:prstGeom prst="rect">
            <a:avLst/>
          </a:prstGeom>
          <a:blipFill dpi="0" rotWithShape="1">
            <a:blip r:embed="rId5">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7" name="矩形 4"/>
          <p:cNvSpPr/>
          <p:nvPr/>
        </p:nvSpPr>
        <p:spPr>
          <a:xfrm rot="10800000">
            <a:off x="6891130" y="0"/>
            <a:ext cx="5300868" cy="6863006"/>
          </a:xfrm>
          <a:custGeom>
            <a:avLst/>
            <a:gdLst>
              <a:gd name="connsiteX0" fmla="*/ 0 w 8123583"/>
              <a:gd name="connsiteY0" fmla="*/ 0 h 4227444"/>
              <a:gd name="connsiteX1" fmla="*/ 8123583 w 8123583"/>
              <a:gd name="connsiteY1" fmla="*/ 0 h 4227444"/>
              <a:gd name="connsiteX2" fmla="*/ 8123583 w 8123583"/>
              <a:gd name="connsiteY2" fmla="*/ 4227444 h 4227444"/>
              <a:gd name="connsiteX3" fmla="*/ 0 w 8123583"/>
              <a:gd name="connsiteY3" fmla="*/ 4227444 h 4227444"/>
              <a:gd name="connsiteX4" fmla="*/ 0 w 8123583"/>
              <a:gd name="connsiteY4" fmla="*/ 0 h 4227444"/>
              <a:gd name="connsiteX0-1" fmla="*/ 0 w 8123583"/>
              <a:gd name="connsiteY0-2" fmla="*/ 0 h 4227444"/>
              <a:gd name="connsiteX1-3" fmla="*/ 5936974 w 8123583"/>
              <a:gd name="connsiteY1-4" fmla="*/ 119269 h 4227444"/>
              <a:gd name="connsiteX2-5" fmla="*/ 8123583 w 8123583"/>
              <a:gd name="connsiteY2-6" fmla="*/ 4227444 h 4227444"/>
              <a:gd name="connsiteX3-7" fmla="*/ 0 w 8123583"/>
              <a:gd name="connsiteY3-8" fmla="*/ 4227444 h 4227444"/>
              <a:gd name="connsiteX4-9" fmla="*/ 0 w 8123583"/>
              <a:gd name="connsiteY4-10" fmla="*/ 0 h 4227444"/>
              <a:gd name="connsiteX0-11" fmla="*/ 0 w 8123583"/>
              <a:gd name="connsiteY0-12" fmla="*/ 0 h 4227444"/>
              <a:gd name="connsiteX1-13" fmla="*/ 6162261 w 8123583"/>
              <a:gd name="connsiteY1-14" fmla="*/ 145773 h 4227444"/>
              <a:gd name="connsiteX2-15" fmla="*/ 8123583 w 8123583"/>
              <a:gd name="connsiteY2-16" fmla="*/ 4227444 h 4227444"/>
              <a:gd name="connsiteX3-17" fmla="*/ 0 w 8123583"/>
              <a:gd name="connsiteY3-18" fmla="*/ 4227444 h 4227444"/>
              <a:gd name="connsiteX4-19" fmla="*/ 0 w 8123583"/>
              <a:gd name="connsiteY4-20" fmla="*/ 0 h 4227444"/>
              <a:gd name="connsiteX0-21" fmla="*/ 0 w 8123583"/>
              <a:gd name="connsiteY0-22" fmla="*/ 39757 h 4267201"/>
              <a:gd name="connsiteX1-23" fmla="*/ 6281531 w 8123583"/>
              <a:gd name="connsiteY1-24" fmla="*/ 0 h 4267201"/>
              <a:gd name="connsiteX2-25" fmla="*/ 8123583 w 8123583"/>
              <a:gd name="connsiteY2-26" fmla="*/ 4267201 h 4267201"/>
              <a:gd name="connsiteX3-27" fmla="*/ 0 w 8123583"/>
              <a:gd name="connsiteY3-28" fmla="*/ 4267201 h 4267201"/>
              <a:gd name="connsiteX4-29" fmla="*/ 0 w 8123583"/>
              <a:gd name="connsiteY4-30" fmla="*/ 39757 h 4267201"/>
              <a:gd name="connsiteX0-31" fmla="*/ 0 w 8123583"/>
              <a:gd name="connsiteY0-32" fmla="*/ 0 h 4227444"/>
              <a:gd name="connsiteX1-33" fmla="*/ 6281531 w 8123583"/>
              <a:gd name="connsiteY1-34" fmla="*/ 39756 h 4227444"/>
              <a:gd name="connsiteX2-35" fmla="*/ 8123583 w 8123583"/>
              <a:gd name="connsiteY2-36" fmla="*/ 4227444 h 4227444"/>
              <a:gd name="connsiteX3-37" fmla="*/ 0 w 8123583"/>
              <a:gd name="connsiteY3-38" fmla="*/ 4227444 h 4227444"/>
              <a:gd name="connsiteX4-39" fmla="*/ 0 w 8123583"/>
              <a:gd name="connsiteY4-40" fmla="*/ 0 h 4227444"/>
              <a:gd name="connsiteX0-41" fmla="*/ 0 w 8123583"/>
              <a:gd name="connsiteY0-42" fmla="*/ 0 h 4227444"/>
              <a:gd name="connsiteX1-43" fmla="*/ 6321287 w 8123583"/>
              <a:gd name="connsiteY1-44" fmla="*/ 13252 h 4227444"/>
              <a:gd name="connsiteX2-45" fmla="*/ 8123583 w 8123583"/>
              <a:gd name="connsiteY2-46" fmla="*/ 4227444 h 4227444"/>
              <a:gd name="connsiteX3-47" fmla="*/ 0 w 8123583"/>
              <a:gd name="connsiteY3-48" fmla="*/ 4227444 h 4227444"/>
              <a:gd name="connsiteX4-49" fmla="*/ 0 w 8123583"/>
              <a:gd name="connsiteY4-50" fmla="*/ 0 h 4227444"/>
              <a:gd name="connsiteX0-51" fmla="*/ 0 w 8123583"/>
              <a:gd name="connsiteY0-52" fmla="*/ 3086 h 4230530"/>
              <a:gd name="connsiteX1-53" fmla="*/ 6321288 w 8123583"/>
              <a:gd name="connsiteY1-54" fmla="*/ 0 h 4230530"/>
              <a:gd name="connsiteX2-55" fmla="*/ 8123583 w 8123583"/>
              <a:gd name="connsiteY2-56" fmla="*/ 4230530 h 4230530"/>
              <a:gd name="connsiteX3-57" fmla="*/ 0 w 8123583"/>
              <a:gd name="connsiteY3-58" fmla="*/ 4230530 h 4230530"/>
              <a:gd name="connsiteX4-59" fmla="*/ 0 w 8123583"/>
              <a:gd name="connsiteY4-60" fmla="*/ 3086 h 42305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123583" h="4230530">
                <a:moveTo>
                  <a:pt x="0" y="3086"/>
                </a:moveTo>
                <a:lnTo>
                  <a:pt x="6321288" y="0"/>
                </a:lnTo>
                <a:lnTo>
                  <a:pt x="8123583" y="4230530"/>
                </a:lnTo>
                <a:lnTo>
                  <a:pt x="0" y="4230530"/>
                </a:lnTo>
                <a:lnTo>
                  <a:pt x="0" y="3086"/>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 name="矩形 3"/>
          <p:cNvSpPr/>
          <p:nvPr/>
        </p:nvSpPr>
        <p:spPr>
          <a:xfrm>
            <a:off x="7858541" y="268286"/>
            <a:ext cx="3789960" cy="2554545"/>
          </a:xfrm>
          <a:prstGeom prst="rect">
            <a:avLst/>
          </a:prstGeom>
        </p:spPr>
        <p:txBody>
          <a:bodyPr wrap="square">
            <a:spAutoFit/>
          </a:bodyPr>
          <a:lstStyle/>
          <a:p>
            <a:pPr algn="ctr"/>
            <a:r>
              <a:rPr lang="en-US" altLang="zh-CN" sz="4000" dirty="0">
                <a:solidFill>
                  <a:schemeClr val="bg1">
                    <a:alpha val="35000"/>
                  </a:schemeClr>
                </a:solidFill>
                <a:latin typeface="Arial" panose="020B0604020202020204"/>
                <a:ea typeface="微软雅黑" panose="020B0503020204020204" charset="-122"/>
                <a:sym typeface="Arial" panose="020B0604020202020204"/>
              </a:rPr>
              <a:t>A</a:t>
            </a:r>
            <a:r>
              <a:rPr lang="zh-CN" altLang="en-US" sz="4000" dirty="0">
                <a:solidFill>
                  <a:schemeClr val="bg1">
                    <a:alpha val="35000"/>
                  </a:schemeClr>
                </a:solidFill>
                <a:latin typeface="Arial" panose="020B0604020202020204"/>
                <a:ea typeface="微软雅黑" panose="020B0503020204020204" charset="-122"/>
                <a:sym typeface="Arial" panose="020B0604020202020204"/>
              </a:rPr>
              <a:t>nnual </a:t>
            </a:r>
            <a:r>
              <a:rPr lang="en-US" altLang="zh-CN" sz="4000" dirty="0">
                <a:solidFill>
                  <a:schemeClr val="bg1">
                    <a:alpha val="35000"/>
                  </a:schemeClr>
                </a:solidFill>
                <a:latin typeface="Arial" panose="020B0604020202020204"/>
                <a:ea typeface="微软雅黑" panose="020B0503020204020204" charset="-122"/>
                <a:sym typeface="Arial" panose="020B0604020202020204"/>
              </a:rPr>
              <a:t>B</a:t>
            </a:r>
            <a:r>
              <a:rPr lang="zh-CN" altLang="en-US" sz="4000" dirty="0">
                <a:solidFill>
                  <a:schemeClr val="bg1">
                    <a:alpha val="35000"/>
                  </a:schemeClr>
                </a:solidFill>
                <a:latin typeface="Arial" panose="020B0604020202020204"/>
                <a:ea typeface="微软雅黑" panose="020B0503020204020204" charset="-122"/>
                <a:sym typeface="Arial" panose="020B0604020202020204"/>
              </a:rPr>
              <a:t>usiness </a:t>
            </a:r>
            <a:endParaRPr lang="en-US" altLang="zh-CN" sz="4000" dirty="0">
              <a:solidFill>
                <a:schemeClr val="bg1">
                  <a:alpha val="35000"/>
                </a:schemeClr>
              </a:solidFill>
              <a:latin typeface="Arial" panose="020B0604020202020204"/>
              <a:ea typeface="微软雅黑" panose="020B0503020204020204" charset="-122"/>
              <a:sym typeface="Arial" panose="020B0604020202020204"/>
            </a:endParaRPr>
          </a:p>
          <a:p>
            <a:pPr algn="ctr"/>
            <a:r>
              <a:rPr lang="en-US" altLang="zh-CN" sz="4000" dirty="0">
                <a:solidFill>
                  <a:schemeClr val="bg1">
                    <a:alpha val="35000"/>
                  </a:schemeClr>
                </a:solidFill>
                <a:latin typeface="Arial" panose="020B0604020202020204"/>
                <a:ea typeface="微软雅黑" panose="020B0503020204020204" charset="-122"/>
                <a:sym typeface="Arial" panose="020B0604020202020204"/>
              </a:rPr>
              <a:t>A</a:t>
            </a:r>
            <a:r>
              <a:rPr lang="zh-CN" altLang="en-US" sz="4000" dirty="0">
                <a:solidFill>
                  <a:schemeClr val="bg1">
                    <a:alpha val="35000"/>
                  </a:schemeClr>
                </a:solidFill>
                <a:latin typeface="Arial" panose="020B0604020202020204"/>
                <a:ea typeface="微软雅黑" panose="020B0503020204020204" charset="-122"/>
                <a:sym typeface="Arial" panose="020B0604020202020204"/>
              </a:rPr>
              <a:t>nalysis </a:t>
            </a:r>
            <a:r>
              <a:rPr lang="en-US" altLang="zh-CN" sz="4000" dirty="0">
                <a:solidFill>
                  <a:schemeClr val="bg1">
                    <a:alpha val="35000"/>
                  </a:schemeClr>
                </a:solidFill>
                <a:latin typeface="Arial" panose="020B0604020202020204"/>
                <a:ea typeface="微软雅黑" panose="020B0503020204020204" charset="-122"/>
                <a:sym typeface="Arial" panose="020B0604020202020204"/>
              </a:rPr>
              <a:t>R</a:t>
            </a:r>
            <a:r>
              <a:rPr lang="zh-CN" altLang="en-US" sz="4000" dirty="0">
                <a:solidFill>
                  <a:schemeClr val="bg1">
                    <a:alpha val="35000"/>
                  </a:schemeClr>
                </a:solidFill>
                <a:latin typeface="Arial" panose="020B0604020202020204"/>
                <a:ea typeface="微软雅黑" panose="020B0503020204020204" charset="-122"/>
                <a:sym typeface="Arial" panose="020B0604020202020204"/>
              </a:rPr>
              <a:t>epor</a:t>
            </a:r>
            <a:r>
              <a:rPr lang="en-US" altLang="zh-CN" sz="4000" dirty="0">
                <a:solidFill>
                  <a:schemeClr val="bg1">
                    <a:alpha val="35000"/>
                  </a:schemeClr>
                </a:solidFill>
                <a:latin typeface="Arial" panose="020B0604020202020204"/>
                <a:ea typeface="微软雅黑" panose="020B0503020204020204" charset="-122"/>
                <a:sym typeface="Arial" panose="020B0604020202020204"/>
              </a:rPr>
              <a:t>t </a:t>
            </a:r>
          </a:p>
          <a:p>
            <a:pPr algn="ctr"/>
            <a:r>
              <a:rPr lang="en-US" altLang="zh-CN" sz="4000" dirty="0">
                <a:solidFill>
                  <a:schemeClr val="bg1">
                    <a:alpha val="35000"/>
                  </a:schemeClr>
                </a:solidFill>
                <a:latin typeface="Arial" panose="020B0604020202020204"/>
                <a:ea typeface="微软雅黑" panose="020B0503020204020204" charset="-122"/>
                <a:sym typeface="Arial" panose="020B0604020202020204"/>
              </a:rPr>
              <a:t>for 2017</a:t>
            </a:r>
            <a:endParaRPr lang="zh-CN" altLang="en-US" sz="4000" dirty="0">
              <a:solidFill>
                <a:schemeClr val="bg1">
                  <a:alpha val="35000"/>
                </a:schemeClr>
              </a:solidFill>
              <a:latin typeface="Arial" panose="020B0604020202020204"/>
              <a:ea typeface="微软雅黑" panose="020B0503020204020204" charset="-122"/>
              <a:sym typeface="Arial" panose="020B0604020202020204"/>
            </a:endParaRPr>
          </a:p>
        </p:txBody>
      </p:sp>
      <p:sp>
        <p:nvSpPr>
          <p:cNvPr id="6" name="矩形 5"/>
          <p:cNvSpPr/>
          <p:nvPr/>
        </p:nvSpPr>
        <p:spPr>
          <a:xfrm>
            <a:off x="709010" y="1508299"/>
            <a:ext cx="3320140" cy="1785104"/>
          </a:xfrm>
          <a:prstGeom prst="rect">
            <a:avLst/>
          </a:prstGeom>
        </p:spPr>
        <p:txBody>
          <a:bodyPr wrap="none">
            <a:spAutoFit/>
          </a:bodyPr>
          <a:lstStyle/>
          <a:p>
            <a:r>
              <a:rPr lang="en-US" altLang="zh-CN" sz="11000" b="1" dirty="0" smtClean="0">
                <a:solidFill>
                  <a:schemeClr val="bg1"/>
                </a:solidFill>
                <a:effectLst>
                  <a:glow rad="101600">
                    <a:srgbClr val="000000"/>
                  </a:glow>
                </a:effectLst>
                <a:latin typeface="Arial" panose="020B0604020202020204"/>
                <a:ea typeface="微软雅黑" panose="020B0503020204020204" charset="-122"/>
                <a:sym typeface="Arial" panose="020B0604020202020204"/>
              </a:rPr>
              <a:t>2020</a:t>
            </a:r>
            <a:endParaRPr lang="zh-CN" altLang="en-US" sz="11000" dirty="0">
              <a:effectLst>
                <a:glow rad="101600">
                  <a:srgbClr val="000000"/>
                </a:glow>
              </a:effectLst>
              <a:latin typeface="Arial" panose="020B0604020202020204"/>
              <a:ea typeface="微软雅黑" panose="020B0503020204020204" charset="-122"/>
              <a:sym typeface="Arial" panose="020B0604020202020204"/>
            </a:endParaRPr>
          </a:p>
        </p:txBody>
      </p:sp>
      <p:sp>
        <p:nvSpPr>
          <p:cNvPr id="3" name="矩形 2"/>
          <p:cNvSpPr/>
          <p:nvPr/>
        </p:nvSpPr>
        <p:spPr>
          <a:xfrm>
            <a:off x="8057976" y="4171986"/>
            <a:ext cx="3385862" cy="276999"/>
          </a:xfrm>
          <a:prstGeom prst="rect">
            <a:avLst/>
          </a:prstGeom>
        </p:spPr>
        <p:txBody>
          <a:bodyPr wrap="none">
            <a:spAutoFit/>
          </a:bodyPr>
          <a:lstStyle/>
          <a:p>
            <a:pPr algn="r"/>
            <a:r>
              <a:rPr lang="zh-CN" altLang="en-US" sz="1200" dirty="0">
                <a:solidFill>
                  <a:schemeClr val="bg1"/>
                </a:solidFill>
                <a:latin typeface="Arial" panose="020B0604020202020204"/>
                <a:ea typeface="微软雅黑" panose="020B0503020204020204" charset="-122"/>
                <a:sym typeface="Arial" panose="020B0604020202020204"/>
              </a:rPr>
              <a:t>公司经营分析会财务部月工作汇报</a:t>
            </a:r>
            <a:r>
              <a:rPr lang="en-US" altLang="zh-CN" sz="1200" dirty="0">
                <a:solidFill>
                  <a:schemeClr val="bg1"/>
                </a:solidFill>
                <a:latin typeface="Arial" panose="020B0604020202020204"/>
                <a:ea typeface="微软雅黑" panose="020B0503020204020204" charset="-122"/>
                <a:sym typeface="Arial" panose="020B0604020202020204"/>
              </a:rPr>
              <a:t>PPT</a:t>
            </a:r>
            <a:r>
              <a:rPr lang="zh-CN" altLang="en-US" sz="1200" dirty="0">
                <a:solidFill>
                  <a:schemeClr val="bg1"/>
                </a:solidFill>
                <a:latin typeface="Arial" panose="020B0604020202020204"/>
                <a:ea typeface="微软雅黑" panose="020B0503020204020204" charset="-122"/>
                <a:sym typeface="Arial" panose="020B0604020202020204"/>
              </a:rPr>
              <a:t>实战模板</a:t>
            </a:r>
          </a:p>
        </p:txBody>
      </p:sp>
      <p:sp>
        <p:nvSpPr>
          <p:cNvPr id="8" name="文本框 7"/>
          <p:cNvSpPr txBox="1"/>
          <p:nvPr/>
        </p:nvSpPr>
        <p:spPr>
          <a:xfrm>
            <a:off x="450576" y="2934851"/>
            <a:ext cx="11317357" cy="1169551"/>
          </a:xfrm>
          <a:prstGeom prst="rect">
            <a:avLst/>
          </a:prstGeom>
          <a:noFill/>
          <a:effectLst/>
        </p:spPr>
        <p:txBody>
          <a:bodyPr wrap="square" rtlCol="0">
            <a:spAutoFit/>
          </a:bodyPr>
          <a:lstStyle/>
          <a:p>
            <a:pPr algn="ctr"/>
            <a:r>
              <a:rPr lang="zh-CN" altLang="en-US" sz="7000" b="1" dirty="0">
                <a:solidFill>
                  <a:schemeClr val="bg1"/>
                </a:solidFill>
                <a:effectLst>
                  <a:glow rad="101600">
                    <a:srgbClr val="000000"/>
                  </a:glow>
                </a:effectLst>
                <a:latin typeface="Arial" panose="020B0604020202020204"/>
                <a:ea typeface="微软雅黑" panose="020B0503020204020204" charset="-122"/>
                <a:sym typeface="Arial" panose="020B0604020202020204"/>
              </a:rPr>
              <a:t>企业年度经营财务分析报告</a:t>
            </a:r>
          </a:p>
        </p:txBody>
      </p:sp>
      <p:sp>
        <p:nvSpPr>
          <p:cNvPr id="5" name="文本框 4"/>
          <p:cNvSpPr txBox="1"/>
          <p:nvPr/>
        </p:nvSpPr>
        <p:spPr>
          <a:xfrm>
            <a:off x="834886" y="4174436"/>
            <a:ext cx="2822714" cy="338554"/>
          </a:xfrm>
          <a:prstGeom prst="rect">
            <a:avLst/>
          </a:prstGeom>
          <a:solidFill>
            <a:schemeClr val="tx1">
              <a:alpha val="50000"/>
            </a:schemeClr>
          </a:solidFill>
          <a:ln>
            <a:solidFill>
              <a:schemeClr val="bg1"/>
            </a:solidFill>
          </a:ln>
        </p:spPr>
        <p:txBody>
          <a:bodyPr wrap="square" rtlCol="0">
            <a:spAutoFit/>
          </a:bodyPr>
          <a:lstStyle/>
          <a:p>
            <a:pPr algn="ctr"/>
            <a:r>
              <a:rPr lang="zh-CN" altLang="en-US" sz="1600" dirty="0">
                <a:solidFill>
                  <a:schemeClr val="bg1"/>
                </a:solidFill>
                <a:latin typeface="Arial" panose="020B0604020202020204"/>
                <a:ea typeface="微软雅黑" panose="020B0503020204020204" charset="-122"/>
                <a:sym typeface="Arial" panose="020B0604020202020204"/>
              </a:rPr>
              <a:t>适用于互联网科技通信公司</a:t>
            </a:r>
          </a:p>
        </p:txBody>
      </p:sp>
      <p:pic>
        <p:nvPicPr>
          <p:cNvPr id="9" name="El Dorado Dubstep Remix">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5791200" y="7219950"/>
            <a:ext cx="609600" cy="609600"/>
          </a:xfrm>
          <a:prstGeom prst="rect">
            <a:avLst/>
          </a:prstGeom>
        </p:spPr>
      </p:pic>
      <p:sp>
        <p:nvSpPr>
          <p:cNvPr id="10" name="文本框 9"/>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9"/>
                                        </p:tgtEl>
                                      </p:cBhvr>
                                    </p:cmd>
                                  </p:childTnLst>
                                </p:cTn>
                              </p:par>
                              <p:par>
                                <p:cTn id="7" presetID="22" presetClass="entr" presetSubtype="8"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wipe(left)">
                                      <p:cBhvr>
                                        <p:cTn id="9" dur="2000"/>
                                        <p:tgtEl>
                                          <p:spTgt spid="6"/>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0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2000"/>
                                        <p:tgtEl>
                                          <p:spTgt spid="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2000"/>
                                        <p:tgtEl>
                                          <p:spTgt spid="5"/>
                                        </p:tgtEl>
                                      </p:cBhvr>
                                    </p:animEffect>
                                  </p:childTnLst>
                                </p:cTn>
                              </p:par>
                              <p:par>
                                <p:cTn id="19" presetID="2" presetClass="entr" presetSubtype="1"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0-#ppt_h/2"/>
                                          </p:val>
                                        </p:tav>
                                        <p:tav tm="100000">
                                          <p:val>
                                            <p:strVal val="#ppt_y"/>
                                          </p:val>
                                        </p:tav>
                                      </p:tavLst>
                                    </p:anim>
                                  </p:childTnLst>
                                </p:cTn>
                              </p:par>
                              <p:par>
                                <p:cTn id="23" presetID="53" presetClass="entr" presetSubtype="16" fill="hold" grpId="1"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2000" fill="hold"/>
                                        <p:tgtEl>
                                          <p:spTgt spid="4"/>
                                        </p:tgtEl>
                                        <p:attrNameLst>
                                          <p:attrName>ppt_w</p:attrName>
                                        </p:attrNameLst>
                                      </p:cBhvr>
                                      <p:tavLst>
                                        <p:tav tm="0">
                                          <p:val>
                                            <p:fltVal val="0"/>
                                          </p:val>
                                        </p:tav>
                                        <p:tav tm="100000">
                                          <p:val>
                                            <p:strVal val="#ppt_w"/>
                                          </p:val>
                                        </p:tav>
                                      </p:tavLst>
                                    </p:anim>
                                    <p:anim calcmode="lin" valueType="num">
                                      <p:cBhvr>
                                        <p:cTn id="26" dur="2000" fill="hold"/>
                                        <p:tgtEl>
                                          <p:spTgt spid="4"/>
                                        </p:tgtEl>
                                        <p:attrNameLst>
                                          <p:attrName>ppt_h</p:attrName>
                                        </p:attrNameLst>
                                      </p:cBhvr>
                                      <p:tavLst>
                                        <p:tav tm="0">
                                          <p:val>
                                            <p:fltVal val="0"/>
                                          </p:val>
                                        </p:tav>
                                        <p:tav tm="100000">
                                          <p:val>
                                            <p:strVal val="#ppt_h"/>
                                          </p:val>
                                        </p:tav>
                                      </p:tavLst>
                                    </p:anim>
                                    <p:animEffect transition="in" filter="fade">
                                      <p:cBhvr>
                                        <p:cTn id="27" dur="2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4000"/>
                                  </p:stCondLst>
                                  <p:childTnLst>
                                    <p:animEffect transition="out" filter="fade">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p:cMediaNode vol="80000" numSld="81">
                <p:cTn id="33" repeatCount="2000" fill="hold" display="0">
                  <p:stCondLst>
                    <p:cond delay="indefinite"/>
                  </p:stCondLst>
                  <p:endCondLst>
                    <p:cond evt="onStopAudio" delay="0">
                      <p:tgtEl>
                        <p:sldTgt/>
                      </p:tgtEl>
                    </p:cond>
                  </p:endCondLst>
                </p:cTn>
                <p:tgtEl>
                  <p:spTgt spid="9"/>
                </p:tgtEl>
              </p:cMediaNode>
            </p:audio>
          </p:childTnLst>
        </p:cTn>
      </p:par>
    </p:tnLst>
    <p:bldLst>
      <p:bldP spid="4" grpId="0"/>
      <p:bldP spid="4" grpId="1"/>
      <p:bldP spid="6" grpId="0"/>
      <p:bldP spid="3" grpId="0"/>
      <p:bldP spid="8" grpId="0"/>
      <p:bldP spid="5" grpId="0" animBg="1"/>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0" y="0"/>
            <a:ext cx="8216347" cy="6858000"/>
          </a:xfrm>
          <a:prstGeom prst="rect">
            <a:avLst/>
          </a:prstGeom>
          <a:blipFill dpi="0" rotWithShape="1">
            <a:blip r:embed="rId3">
              <a:duotone>
                <a:schemeClr val="bg2">
                  <a:shade val="45000"/>
                  <a:satMod val="135000"/>
                </a:schemeClr>
                <a:prstClr val="white"/>
              </a:duotone>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7" name="矩形 4"/>
          <p:cNvSpPr/>
          <p:nvPr/>
        </p:nvSpPr>
        <p:spPr>
          <a:xfrm rot="10800000">
            <a:off x="6891130" y="0"/>
            <a:ext cx="5300868" cy="6863006"/>
          </a:xfrm>
          <a:custGeom>
            <a:avLst/>
            <a:gdLst>
              <a:gd name="connsiteX0" fmla="*/ 0 w 8123583"/>
              <a:gd name="connsiteY0" fmla="*/ 0 h 4227444"/>
              <a:gd name="connsiteX1" fmla="*/ 8123583 w 8123583"/>
              <a:gd name="connsiteY1" fmla="*/ 0 h 4227444"/>
              <a:gd name="connsiteX2" fmla="*/ 8123583 w 8123583"/>
              <a:gd name="connsiteY2" fmla="*/ 4227444 h 4227444"/>
              <a:gd name="connsiteX3" fmla="*/ 0 w 8123583"/>
              <a:gd name="connsiteY3" fmla="*/ 4227444 h 4227444"/>
              <a:gd name="connsiteX4" fmla="*/ 0 w 8123583"/>
              <a:gd name="connsiteY4" fmla="*/ 0 h 4227444"/>
              <a:gd name="connsiteX0-1" fmla="*/ 0 w 8123583"/>
              <a:gd name="connsiteY0-2" fmla="*/ 0 h 4227444"/>
              <a:gd name="connsiteX1-3" fmla="*/ 5936974 w 8123583"/>
              <a:gd name="connsiteY1-4" fmla="*/ 119269 h 4227444"/>
              <a:gd name="connsiteX2-5" fmla="*/ 8123583 w 8123583"/>
              <a:gd name="connsiteY2-6" fmla="*/ 4227444 h 4227444"/>
              <a:gd name="connsiteX3-7" fmla="*/ 0 w 8123583"/>
              <a:gd name="connsiteY3-8" fmla="*/ 4227444 h 4227444"/>
              <a:gd name="connsiteX4-9" fmla="*/ 0 w 8123583"/>
              <a:gd name="connsiteY4-10" fmla="*/ 0 h 4227444"/>
              <a:gd name="connsiteX0-11" fmla="*/ 0 w 8123583"/>
              <a:gd name="connsiteY0-12" fmla="*/ 0 h 4227444"/>
              <a:gd name="connsiteX1-13" fmla="*/ 6162261 w 8123583"/>
              <a:gd name="connsiteY1-14" fmla="*/ 145773 h 4227444"/>
              <a:gd name="connsiteX2-15" fmla="*/ 8123583 w 8123583"/>
              <a:gd name="connsiteY2-16" fmla="*/ 4227444 h 4227444"/>
              <a:gd name="connsiteX3-17" fmla="*/ 0 w 8123583"/>
              <a:gd name="connsiteY3-18" fmla="*/ 4227444 h 4227444"/>
              <a:gd name="connsiteX4-19" fmla="*/ 0 w 8123583"/>
              <a:gd name="connsiteY4-20" fmla="*/ 0 h 4227444"/>
              <a:gd name="connsiteX0-21" fmla="*/ 0 w 8123583"/>
              <a:gd name="connsiteY0-22" fmla="*/ 39757 h 4267201"/>
              <a:gd name="connsiteX1-23" fmla="*/ 6281531 w 8123583"/>
              <a:gd name="connsiteY1-24" fmla="*/ 0 h 4267201"/>
              <a:gd name="connsiteX2-25" fmla="*/ 8123583 w 8123583"/>
              <a:gd name="connsiteY2-26" fmla="*/ 4267201 h 4267201"/>
              <a:gd name="connsiteX3-27" fmla="*/ 0 w 8123583"/>
              <a:gd name="connsiteY3-28" fmla="*/ 4267201 h 4267201"/>
              <a:gd name="connsiteX4-29" fmla="*/ 0 w 8123583"/>
              <a:gd name="connsiteY4-30" fmla="*/ 39757 h 4267201"/>
              <a:gd name="connsiteX0-31" fmla="*/ 0 w 8123583"/>
              <a:gd name="connsiteY0-32" fmla="*/ 0 h 4227444"/>
              <a:gd name="connsiteX1-33" fmla="*/ 6281531 w 8123583"/>
              <a:gd name="connsiteY1-34" fmla="*/ 39756 h 4227444"/>
              <a:gd name="connsiteX2-35" fmla="*/ 8123583 w 8123583"/>
              <a:gd name="connsiteY2-36" fmla="*/ 4227444 h 4227444"/>
              <a:gd name="connsiteX3-37" fmla="*/ 0 w 8123583"/>
              <a:gd name="connsiteY3-38" fmla="*/ 4227444 h 4227444"/>
              <a:gd name="connsiteX4-39" fmla="*/ 0 w 8123583"/>
              <a:gd name="connsiteY4-40" fmla="*/ 0 h 4227444"/>
              <a:gd name="connsiteX0-41" fmla="*/ 0 w 8123583"/>
              <a:gd name="connsiteY0-42" fmla="*/ 0 h 4227444"/>
              <a:gd name="connsiteX1-43" fmla="*/ 6321287 w 8123583"/>
              <a:gd name="connsiteY1-44" fmla="*/ 13252 h 4227444"/>
              <a:gd name="connsiteX2-45" fmla="*/ 8123583 w 8123583"/>
              <a:gd name="connsiteY2-46" fmla="*/ 4227444 h 4227444"/>
              <a:gd name="connsiteX3-47" fmla="*/ 0 w 8123583"/>
              <a:gd name="connsiteY3-48" fmla="*/ 4227444 h 4227444"/>
              <a:gd name="connsiteX4-49" fmla="*/ 0 w 8123583"/>
              <a:gd name="connsiteY4-50" fmla="*/ 0 h 4227444"/>
              <a:gd name="connsiteX0-51" fmla="*/ 0 w 8123583"/>
              <a:gd name="connsiteY0-52" fmla="*/ 3086 h 4230530"/>
              <a:gd name="connsiteX1-53" fmla="*/ 6321288 w 8123583"/>
              <a:gd name="connsiteY1-54" fmla="*/ 0 h 4230530"/>
              <a:gd name="connsiteX2-55" fmla="*/ 8123583 w 8123583"/>
              <a:gd name="connsiteY2-56" fmla="*/ 4230530 h 4230530"/>
              <a:gd name="connsiteX3-57" fmla="*/ 0 w 8123583"/>
              <a:gd name="connsiteY3-58" fmla="*/ 4230530 h 4230530"/>
              <a:gd name="connsiteX4-59" fmla="*/ 0 w 8123583"/>
              <a:gd name="connsiteY4-60" fmla="*/ 3086 h 42305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123583" h="4230530">
                <a:moveTo>
                  <a:pt x="0" y="3086"/>
                </a:moveTo>
                <a:lnTo>
                  <a:pt x="6321288" y="0"/>
                </a:lnTo>
                <a:lnTo>
                  <a:pt x="8123583" y="4230530"/>
                </a:lnTo>
                <a:lnTo>
                  <a:pt x="0" y="4230530"/>
                </a:lnTo>
                <a:lnTo>
                  <a:pt x="0" y="308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nvGrpSpPr>
          <p:cNvPr id="62" name="组合 61"/>
          <p:cNvGrpSpPr/>
          <p:nvPr/>
        </p:nvGrpSpPr>
        <p:grpSpPr>
          <a:xfrm>
            <a:off x="5821579" y="2497661"/>
            <a:ext cx="5281399" cy="953520"/>
            <a:chOff x="5821579" y="2497661"/>
            <a:chExt cx="5281399" cy="953520"/>
          </a:xfrm>
        </p:grpSpPr>
        <p:sp>
          <p:nvSpPr>
            <p:cNvPr id="15" name="圆角矩形 14"/>
            <p:cNvSpPr/>
            <p:nvPr/>
          </p:nvSpPr>
          <p:spPr>
            <a:xfrm>
              <a:off x="5821579" y="2590976"/>
              <a:ext cx="1337119" cy="86020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6" name="文本框 15"/>
            <p:cNvSpPr txBox="1"/>
            <p:nvPr/>
          </p:nvSpPr>
          <p:spPr>
            <a:xfrm>
              <a:off x="5912457" y="2539689"/>
              <a:ext cx="813043" cy="769441"/>
            </a:xfrm>
            <a:prstGeom prst="rect">
              <a:avLst/>
            </a:prstGeom>
            <a:noFill/>
          </p:spPr>
          <p:txBody>
            <a:bodyPr wrap="none" rtlCol="0">
              <a:spAutoFit/>
            </a:bodyPr>
            <a:lstStyle/>
            <a:p>
              <a:r>
                <a:rPr lang="en-US" altLang="zh-CN"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rPr>
                <a:t>02</a:t>
              </a:r>
              <a:endParaRPr lang="zh-CN" altLang="en-US"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14" name="等腰三角形 13"/>
            <p:cNvSpPr/>
            <p:nvPr/>
          </p:nvSpPr>
          <p:spPr>
            <a:xfrm>
              <a:off x="6507901" y="2497661"/>
              <a:ext cx="1215906" cy="95352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28" name="平行四边形 27"/>
            <p:cNvSpPr/>
            <p:nvPr/>
          </p:nvSpPr>
          <p:spPr>
            <a:xfrm>
              <a:off x="6599459" y="2903981"/>
              <a:ext cx="1283183" cy="547200"/>
            </a:xfrm>
            <a:prstGeom prst="parallelogram">
              <a:avLst>
                <a:gd name="adj" fmla="val 61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30" name="圆角矩形 29"/>
            <p:cNvSpPr/>
            <p:nvPr/>
          </p:nvSpPr>
          <p:spPr>
            <a:xfrm>
              <a:off x="7104730" y="2905547"/>
              <a:ext cx="3998248" cy="545634"/>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31" name="矩形 30"/>
            <p:cNvSpPr/>
            <p:nvPr/>
          </p:nvSpPr>
          <p:spPr>
            <a:xfrm>
              <a:off x="7375530" y="2971919"/>
              <a:ext cx="2636735" cy="400110"/>
            </a:xfrm>
            <a:prstGeom prst="rect">
              <a:avLst/>
            </a:prstGeom>
          </p:spPr>
          <p:txBody>
            <a:bodyPr wrap="square">
              <a:spAutoFit/>
            </a:bodyPr>
            <a:lstStyle/>
            <a:p>
              <a:pPr fontAlgn="auto">
                <a:spcBef>
                  <a:spcPts val="0"/>
                </a:spcBef>
                <a:spcAft>
                  <a:spcPts val="0"/>
                </a:spcAft>
                <a:defRPr/>
              </a:pPr>
              <a:r>
                <a:rPr lang="zh-CN" altLang="en-US" sz="2000" dirty="0">
                  <a:latin typeface="Arial" panose="020B0604020202020204"/>
                  <a:ea typeface="微软雅黑" panose="020B0503020204020204" charset="-122"/>
                  <a:sym typeface="Arial" panose="020B0604020202020204"/>
                </a:rPr>
                <a:t>收入完成状况分析</a:t>
              </a:r>
            </a:p>
          </p:txBody>
        </p:sp>
        <p:sp>
          <p:nvSpPr>
            <p:cNvPr id="45" name="圆角矩形 44"/>
            <p:cNvSpPr/>
            <p:nvPr/>
          </p:nvSpPr>
          <p:spPr>
            <a:xfrm>
              <a:off x="10893057" y="2955974"/>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grpSp>
        <p:nvGrpSpPr>
          <p:cNvPr id="52" name="组合 51"/>
          <p:cNvGrpSpPr/>
          <p:nvPr/>
        </p:nvGrpSpPr>
        <p:grpSpPr>
          <a:xfrm>
            <a:off x="1987825" y="2693504"/>
            <a:ext cx="2478157" cy="1470991"/>
            <a:chOff x="1537252" y="2504660"/>
            <a:chExt cx="2478157" cy="1470991"/>
          </a:xfrm>
        </p:grpSpPr>
        <p:sp>
          <p:nvSpPr>
            <p:cNvPr id="51" name="圆角矩形 50"/>
            <p:cNvSpPr/>
            <p:nvPr/>
          </p:nvSpPr>
          <p:spPr>
            <a:xfrm>
              <a:off x="1537252" y="2504660"/>
              <a:ext cx="2478157" cy="1470991"/>
            </a:xfrm>
            <a:prstGeom prst="roundRect">
              <a:avLst>
                <a:gd name="adj" fmla="val 12568"/>
              </a:avLst>
            </a:prstGeom>
            <a:solidFill>
              <a:srgbClr val="C00000"/>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nvGrpSpPr>
            <p:cNvPr id="50" name="组合 49"/>
            <p:cNvGrpSpPr/>
            <p:nvPr/>
          </p:nvGrpSpPr>
          <p:grpSpPr>
            <a:xfrm>
              <a:off x="1555484" y="2716697"/>
              <a:ext cx="2441694" cy="1004690"/>
              <a:chOff x="1493817" y="2716697"/>
              <a:chExt cx="2441694" cy="1004690"/>
            </a:xfrm>
          </p:grpSpPr>
          <p:sp>
            <p:nvSpPr>
              <p:cNvPr id="48" name="文本框 47"/>
              <p:cNvSpPr txBox="1"/>
              <p:nvPr/>
            </p:nvSpPr>
            <p:spPr>
              <a:xfrm>
                <a:off x="1493817" y="3136612"/>
                <a:ext cx="2441694" cy="584775"/>
              </a:xfrm>
              <a:prstGeom prst="rect">
                <a:avLst/>
              </a:prstGeom>
              <a:noFill/>
            </p:spPr>
            <p:txBody>
              <a:bodyPr wrap="none" rtlCol="0">
                <a:spAutoFit/>
              </a:bodyPr>
              <a:lstStyle/>
              <a:p>
                <a:pPr algn="ctr"/>
                <a:r>
                  <a:rPr lang="en-US" altLang="zh-CN" sz="3200" dirty="0">
                    <a:solidFill>
                      <a:schemeClr val="bg1"/>
                    </a:solidFill>
                    <a:latin typeface="Arial" panose="020B0604020202020204"/>
                    <a:ea typeface="微软雅黑" panose="020B0503020204020204" charset="-122"/>
                    <a:sym typeface="Arial" panose="020B0604020202020204"/>
                  </a:rPr>
                  <a:t>CONTENTS</a:t>
                </a:r>
                <a:endParaRPr lang="zh-CN" altLang="en-US" sz="3200" dirty="0">
                  <a:solidFill>
                    <a:schemeClr val="bg1"/>
                  </a:solidFill>
                  <a:latin typeface="Arial" panose="020B0604020202020204"/>
                  <a:ea typeface="微软雅黑" panose="020B0503020204020204" charset="-122"/>
                  <a:sym typeface="Arial" panose="020B0604020202020204"/>
                </a:endParaRPr>
              </a:p>
            </p:txBody>
          </p:sp>
          <p:sp>
            <p:nvSpPr>
              <p:cNvPr id="49" name="文本框 48"/>
              <p:cNvSpPr txBox="1"/>
              <p:nvPr/>
            </p:nvSpPr>
            <p:spPr>
              <a:xfrm>
                <a:off x="2263258" y="2716697"/>
                <a:ext cx="902811" cy="523220"/>
              </a:xfrm>
              <a:prstGeom prst="rect">
                <a:avLst/>
              </a:prstGeom>
              <a:noFill/>
            </p:spPr>
            <p:txBody>
              <a:bodyPr wrap="none" rtlCol="0">
                <a:spAutoFit/>
              </a:bodyPr>
              <a:lstStyle/>
              <a:p>
                <a:pPr algn="ctr"/>
                <a:r>
                  <a:rPr lang="zh-CN" altLang="en-US" sz="2800" dirty="0">
                    <a:solidFill>
                      <a:schemeClr val="bg1"/>
                    </a:solidFill>
                    <a:latin typeface="Arial" panose="020B0604020202020204"/>
                    <a:ea typeface="微软雅黑" panose="020B0503020204020204" charset="-122"/>
                    <a:sym typeface="Arial" panose="020B0604020202020204"/>
                  </a:rPr>
                  <a:t>目录</a:t>
                </a:r>
              </a:p>
            </p:txBody>
          </p:sp>
        </p:grpSp>
      </p:grpSp>
      <p:grpSp>
        <p:nvGrpSpPr>
          <p:cNvPr id="63" name="组合 62"/>
          <p:cNvGrpSpPr/>
          <p:nvPr/>
        </p:nvGrpSpPr>
        <p:grpSpPr>
          <a:xfrm>
            <a:off x="5834277" y="3626240"/>
            <a:ext cx="5268701" cy="954647"/>
            <a:chOff x="5834277" y="3626240"/>
            <a:chExt cx="5268701" cy="954647"/>
          </a:xfrm>
        </p:grpSpPr>
        <p:sp>
          <p:nvSpPr>
            <p:cNvPr id="10" name="圆角矩形 9"/>
            <p:cNvSpPr/>
            <p:nvPr/>
          </p:nvSpPr>
          <p:spPr>
            <a:xfrm>
              <a:off x="5834277" y="3719665"/>
              <a:ext cx="1337672" cy="861222"/>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1" name="文本框 10"/>
            <p:cNvSpPr txBox="1"/>
            <p:nvPr/>
          </p:nvSpPr>
          <p:spPr>
            <a:xfrm>
              <a:off x="5912510" y="3662187"/>
              <a:ext cx="813043" cy="769441"/>
            </a:xfrm>
            <a:prstGeom prst="rect">
              <a:avLst/>
            </a:prstGeom>
            <a:noFill/>
          </p:spPr>
          <p:txBody>
            <a:bodyPr wrap="none" rtlCol="0">
              <a:spAutoFit/>
            </a:bodyPr>
            <a:lstStyle/>
            <a:p>
              <a:r>
                <a:rPr lang="en-US" altLang="zh-CN"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rPr>
                <a:t>03</a:t>
              </a:r>
              <a:endParaRPr lang="zh-CN" altLang="en-US"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9" name="等腰三角形 8"/>
            <p:cNvSpPr/>
            <p:nvPr/>
          </p:nvSpPr>
          <p:spPr>
            <a:xfrm>
              <a:off x="6510448" y="3626240"/>
              <a:ext cx="1217348" cy="95464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33" name="平行四边形 32"/>
            <p:cNvSpPr/>
            <p:nvPr/>
          </p:nvSpPr>
          <p:spPr>
            <a:xfrm>
              <a:off x="6602114" y="4033687"/>
              <a:ext cx="1284705" cy="547200"/>
            </a:xfrm>
            <a:prstGeom prst="parallelogram">
              <a:avLst>
                <a:gd name="adj" fmla="val 61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35" name="圆角矩形 34"/>
            <p:cNvSpPr/>
            <p:nvPr/>
          </p:nvSpPr>
          <p:spPr>
            <a:xfrm>
              <a:off x="7099985" y="4034609"/>
              <a:ext cx="4002993" cy="546278"/>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36" name="矩形 35"/>
            <p:cNvSpPr/>
            <p:nvPr/>
          </p:nvSpPr>
          <p:spPr>
            <a:xfrm>
              <a:off x="7375530" y="4104440"/>
              <a:ext cx="2523212" cy="400110"/>
            </a:xfrm>
            <a:prstGeom prst="rect">
              <a:avLst/>
            </a:prstGeom>
          </p:spPr>
          <p:txBody>
            <a:bodyPr wrap="square">
              <a:spAutoFit/>
            </a:bodyPr>
            <a:lstStyle/>
            <a:p>
              <a:pPr fontAlgn="auto">
                <a:spcBef>
                  <a:spcPts val="0"/>
                </a:spcBef>
                <a:spcAft>
                  <a:spcPts val="0"/>
                </a:spcAft>
                <a:defRPr/>
              </a:pPr>
              <a:r>
                <a:rPr lang="zh-CN" altLang="en-US" sz="2000" dirty="0">
                  <a:latin typeface="Arial" panose="020B0604020202020204"/>
                  <a:ea typeface="微软雅黑" panose="020B0503020204020204" charset="-122"/>
                  <a:sym typeface="Arial" panose="020B0604020202020204"/>
                </a:rPr>
                <a:t>成本费用完成情况</a:t>
              </a:r>
            </a:p>
          </p:txBody>
        </p:sp>
        <p:sp>
          <p:nvSpPr>
            <p:cNvPr id="58" name="圆角矩形 57"/>
            <p:cNvSpPr/>
            <p:nvPr/>
          </p:nvSpPr>
          <p:spPr>
            <a:xfrm>
              <a:off x="10893057" y="4088495"/>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grpSp>
        <p:nvGrpSpPr>
          <p:cNvPr id="64" name="组合 63"/>
          <p:cNvGrpSpPr/>
          <p:nvPr/>
        </p:nvGrpSpPr>
        <p:grpSpPr>
          <a:xfrm>
            <a:off x="5840231" y="4789007"/>
            <a:ext cx="5262747" cy="957600"/>
            <a:chOff x="5840231" y="4789007"/>
            <a:chExt cx="5262747" cy="957600"/>
          </a:xfrm>
        </p:grpSpPr>
        <p:sp>
          <p:nvSpPr>
            <p:cNvPr id="5" name="圆角矩形 4"/>
            <p:cNvSpPr/>
            <p:nvPr/>
          </p:nvSpPr>
          <p:spPr>
            <a:xfrm>
              <a:off x="5840231" y="4882721"/>
              <a:ext cx="1318468" cy="86388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6" name="文本框 5"/>
            <p:cNvSpPr txBox="1"/>
            <p:nvPr/>
          </p:nvSpPr>
          <p:spPr>
            <a:xfrm>
              <a:off x="5906027" y="4818823"/>
              <a:ext cx="813043" cy="769441"/>
            </a:xfrm>
            <a:prstGeom prst="rect">
              <a:avLst/>
            </a:prstGeom>
            <a:noFill/>
          </p:spPr>
          <p:txBody>
            <a:bodyPr wrap="none" rtlCol="0">
              <a:spAutoFit/>
            </a:bodyPr>
            <a:lstStyle/>
            <a:p>
              <a:r>
                <a:rPr lang="en-US" altLang="zh-CN"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rPr>
                <a:t>04</a:t>
              </a:r>
              <a:endParaRPr lang="zh-CN" altLang="en-US"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4" name="等腰三角形 3"/>
            <p:cNvSpPr/>
            <p:nvPr/>
          </p:nvSpPr>
          <p:spPr>
            <a:xfrm>
              <a:off x="6513336" y="4789007"/>
              <a:ext cx="1221114" cy="95760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38" name="平行四边形 37"/>
            <p:cNvSpPr/>
            <p:nvPr/>
          </p:nvSpPr>
          <p:spPr>
            <a:xfrm>
              <a:off x="6616287" y="5199407"/>
              <a:ext cx="1288679" cy="547200"/>
            </a:xfrm>
            <a:prstGeom prst="parallelogram">
              <a:avLst>
                <a:gd name="adj" fmla="val 61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40" name="圆角矩形 39"/>
            <p:cNvSpPr/>
            <p:nvPr/>
          </p:nvSpPr>
          <p:spPr>
            <a:xfrm>
              <a:off x="7087604" y="5198639"/>
              <a:ext cx="4015374" cy="547968"/>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41" name="矩形 40"/>
            <p:cNvSpPr/>
            <p:nvPr/>
          </p:nvSpPr>
          <p:spPr>
            <a:xfrm>
              <a:off x="7375530" y="5272568"/>
              <a:ext cx="1643531" cy="400110"/>
            </a:xfrm>
            <a:prstGeom prst="rect">
              <a:avLst/>
            </a:prstGeom>
          </p:spPr>
          <p:txBody>
            <a:bodyPr wrap="square">
              <a:spAutoFit/>
            </a:bodyPr>
            <a:lstStyle/>
            <a:p>
              <a:pPr fontAlgn="auto">
                <a:spcBef>
                  <a:spcPts val="0"/>
                </a:spcBef>
                <a:spcAft>
                  <a:spcPts val="0"/>
                </a:spcAft>
                <a:defRPr/>
              </a:pPr>
              <a:r>
                <a:rPr lang="zh-CN" altLang="en-US" sz="2000" dirty="0">
                  <a:latin typeface="Arial" panose="020B0604020202020204"/>
                  <a:ea typeface="微软雅黑" panose="020B0503020204020204" charset="-122"/>
                  <a:sym typeface="Arial" panose="020B0604020202020204"/>
                </a:rPr>
                <a:t>专题分析</a:t>
              </a:r>
            </a:p>
          </p:txBody>
        </p:sp>
        <p:sp>
          <p:nvSpPr>
            <p:cNvPr id="59" name="圆角矩形 58"/>
            <p:cNvSpPr/>
            <p:nvPr/>
          </p:nvSpPr>
          <p:spPr>
            <a:xfrm>
              <a:off x="10893057" y="5256623"/>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grpSp>
        <p:nvGrpSpPr>
          <p:cNvPr id="61" name="组合 60"/>
          <p:cNvGrpSpPr/>
          <p:nvPr/>
        </p:nvGrpSpPr>
        <p:grpSpPr>
          <a:xfrm>
            <a:off x="5846980" y="1380399"/>
            <a:ext cx="5255998" cy="956837"/>
            <a:chOff x="5846980" y="1380399"/>
            <a:chExt cx="5255998" cy="956837"/>
          </a:xfrm>
        </p:grpSpPr>
        <p:sp>
          <p:nvSpPr>
            <p:cNvPr id="20" name="圆角矩形 19"/>
            <p:cNvSpPr/>
            <p:nvPr/>
          </p:nvSpPr>
          <p:spPr>
            <a:xfrm>
              <a:off x="5846980" y="1474039"/>
              <a:ext cx="1338224" cy="86319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21" name="文本框 20"/>
            <p:cNvSpPr txBox="1"/>
            <p:nvPr/>
          </p:nvSpPr>
          <p:spPr>
            <a:xfrm>
              <a:off x="5938175" y="1427416"/>
              <a:ext cx="813043" cy="769441"/>
            </a:xfrm>
            <a:prstGeom prst="rect">
              <a:avLst/>
            </a:prstGeom>
            <a:noFill/>
          </p:spPr>
          <p:txBody>
            <a:bodyPr wrap="none" rtlCol="0">
              <a:spAutoFit/>
            </a:bodyPr>
            <a:lstStyle/>
            <a:p>
              <a:r>
                <a:rPr lang="en-US" altLang="zh-CN"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rPr>
                <a:t>01</a:t>
              </a:r>
              <a:endParaRPr lang="zh-CN" altLang="en-US" sz="4400" dirty="0">
                <a:solidFill>
                  <a:schemeClr val="bg1"/>
                </a:solidFill>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19" name="等腰三角形 18"/>
            <p:cNvSpPr/>
            <p:nvPr/>
          </p:nvSpPr>
          <p:spPr>
            <a:xfrm>
              <a:off x="6524700" y="1380399"/>
              <a:ext cx="1220141" cy="95683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23" name="平行四边形 22"/>
            <p:cNvSpPr/>
            <p:nvPr/>
          </p:nvSpPr>
          <p:spPr>
            <a:xfrm>
              <a:off x="6627568" y="1790036"/>
              <a:ext cx="4354494" cy="547200"/>
            </a:xfrm>
            <a:prstGeom prst="parallelogram">
              <a:avLst>
                <a:gd name="adj" fmla="val 61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25" name="圆角矩形 24"/>
            <p:cNvSpPr/>
            <p:nvPr/>
          </p:nvSpPr>
          <p:spPr>
            <a:xfrm>
              <a:off x="7090801" y="1789704"/>
              <a:ext cx="4012177" cy="547532"/>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26" name="矩形 25"/>
            <p:cNvSpPr/>
            <p:nvPr/>
          </p:nvSpPr>
          <p:spPr>
            <a:xfrm>
              <a:off x="7375530" y="1890317"/>
              <a:ext cx="2527929" cy="400110"/>
            </a:xfrm>
            <a:prstGeom prst="rect">
              <a:avLst/>
            </a:prstGeom>
          </p:spPr>
          <p:txBody>
            <a:bodyPr wrap="square">
              <a:spAutoFit/>
            </a:bodyPr>
            <a:lstStyle/>
            <a:p>
              <a:pPr fontAlgn="auto">
                <a:spcBef>
                  <a:spcPts val="0"/>
                </a:spcBef>
                <a:spcAft>
                  <a:spcPts val="0"/>
                </a:spcAft>
                <a:defRPr/>
              </a:pPr>
              <a:r>
                <a:rPr lang="zh-CN" altLang="en-US" sz="2000" dirty="0">
                  <a:latin typeface="Arial" panose="020B0604020202020204"/>
                  <a:ea typeface="微软雅黑" panose="020B0503020204020204" charset="-122"/>
                  <a:sym typeface="Arial" panose="020B0604020202020204"/>
                </a:rPr>
                <a:t>主要指标完成情况</a:t>
              </a:r>
            </a:p>
          </p:txBody>
        </p:sp>
        <p:sp>
          <p:nvSpPr>
            <p:cNvPr id="60" name="圆角矩形 59"/>
            <p:cNvSpPr/>
            <p:nvPr/>
          </p:nvSpPr>
          <p:spPr>
            <a:xfrm>
              <a:off x="10893057" y="1865480"/>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sp>
        <p:nvSpPr>
          <p:cNvPr id="2" name="文本框 1"/>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0-#ppt_w/2"/>
                                          </p:val>
                                        </p:tav>
                                        <p:tav tm="100000">
                                          <p:val>
                                            <p:strVal val="#ppt_x"/>
                                          </p:val>
                                        </p:tav>
                                      </p:tavLst>
                                    </p:anim>
                                    <p:anim calcmode="lin" valueType="num">
                                      <p:cBhvr additive="base">
                                        <p:cTn id="8" dur="500" fill="hold"/>
                                        <p:tgtEl>
                                          <p:spTgt spid="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1+#ppt_w/2"/>
                                          </p:val>
                                        </p:tav>
                                        <p:tav tm="100000">
                                          <p:val>
                                            <p:strVal val="#ppt_x"/>
                                          </p:val>
                                        </p:tav>
                                      </p:tavLst>
                                    </p:anim>
                                    <p:anim calcmode="lin" valueType="num">
                                      <p:cBhvr additive="base">
                                        <p:cTn id="14"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2"/>
                                        </p:tgtEl>
                                        <p:attrNameLst>
                                          <p:attrName>style.visibility</p:attrName>
                                        </p:attrNameLst>
                                      </p:cBhvr>
                                      <p:to>
                                        <p:strVal val="visible"/>
                                      </p:to>
                                    </p:set>
                                    <p:anim calcmode="lin" valueType="num">
                                      <p:cBhvr additive="base">
                                        <p:cTn id="19" dur="500" fill="hold"/>
                                        <p:tgtEl>
                                          <p:spTgt spid="62"/>
                                        </p:tgtEl>
                                        <p:attrNameLst>
                                          <p:attrName>ppt_x</p:attrName>
                                        </p:attrNameLst>
                                      </p:cBhvr>
                                      <p:tavLst>
                                        <p:tav tm="0">
                                          <p:val>
                                            <p:strVal val="1+#ppt_w/2"/>
                                          </p:val>
                                        </p:tav>
                                        <p:tav tm="100000">
                                          <p:val>
                                            <p:strVal val="#ppt_x"/>
                                          </p:val>
                                        </p:tav>
                                      </p:tavLst>
                                    </p:anim>
                                    <p:anim calcmode="lin" valueType="num">
                                      <p:cBhvr additive="base">
                                        <p:cTn id="20" dur="5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3"/>
                                        </p:tgtEl>
                                        <p:attrNameLst>
                                          <p:attrName>style.visibility</p:attrName>
                                        </p:attrNameLst>
                                      </p:cBhvr>
                                      <p:to>
                                        <p:strVal val="visible"/>
                                      </p:to>
                                    </p:set>
                                    <p:anim calcmode="lin" valueType="num">
                                      <p:cBhvr additive="base">
                                        <p:cTn id="25" dur="500" fill="hold"/>
                                        <p:tgtEl>
                                          <p:spTgt spid="63"/>
                                        </p:tgtEl>
                                        <p:attrNameLst>
                                          <p:attrName>ppt_x</p:attrName>
                                        </p:attrNameLst>
                                      </p:cBhvr>
                                      <p:tavLst>
                                        <p:tav tm="0">
                                          <p:val>
                                            <p:strVal val="1+#ppt_w/2"/>
                                          </p:val>
                                        </p:tav>
                                        <p:tav tm="100000">
                                          <p:val>
                                            <p:strVal val="#ppt_x"/>
                                          </p:val>
                                        </p:tav>
                                      </p:tavLst>
                                    </p:anim>
                                    <p:anim calcmode="lin" valueType="num">
                                      <p:cBhvr additive="base">
                                        <p:cTn id="26"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anim calcmode="lin" valueType="num">
                                      <p:cBhvr additive="base">
                                        <p:cTn id="31" dur="500" fill="hold"/>
                                        <p:tgtEl>
                                          <p:spTgt spid="64"/>
                                        </p:tgtEl>
                                        <p:attrNameLst>
                                          <p:attrName>ppt_x</p:attrName>
                                        </p:attrNameLst>
                                      </p:cBhvr>
                                      <p:tavLst>
                                        <p:tav tm="0">
                                          <p:val>
                                            <p:strVal val="1+#ppt_w/2"/>
                                          </p:val>
                                        </p:tav>
                                        <p:tav tm="100000">
                                          <p:val>
                                            <p:strVal val="#ppt_x"/>
                                          </p:val>
                                        </p:tav>
                                      </p:tavLst>
                                    </p:anim>
                                    <p:anim calcmode="lin" valueType="num">
                                      <p:cBhvr additive="base">
                                        <p:cTn id="32"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0" nodeType="clickEffect">
                                  <p:stCondLst>
                                    <p:cond delay="1500"/>
                                  </p:stCondLst>
                                  <p:childTnLst>
                                    <p:animEffect transition="out" filter="fade">
                                      <p:cBhvr>
                                        <p:cTn id="36" dur="500"/>
                                        <p:tgtEl>
                                          <p:spTgt spid="2"/>
                                        </p:tgtEl>
                                      </p:cBhvr>
                                    </p:animEffect>
                                    <p:set>
                                      <p:cBhvr>
                                        <p:cTn id="3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等腰三角形 13"/>
          <p:cNvSpPr/>
          <p:nvPr/>
        </p:nvSpPr>
        <p:spPr>
          <a:xfrm>
            <a:off x="298175" y="500269"/>
            <a:ext cx="2297709" cy="5857461"/>
          </a:xfrm>
          <a:prstGeom prst="triangle">
            <a:avLst>
              <a:gd name="adj" fmla="val 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3" name="等腰三角形 12"/>
          <p:cNvSpPr/>
          <p:nvPr/>
        </p:nvSpPr>
        <p:spPr>
          <a:xfrm rot="10800000">
            <a:off x="11368083" y="132521"/>
            <a:ext cx="691393" cy="176254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nvGrpSpPr>
          <p:cNvPr id="2" name="组合 1"/>
          <p:cNvGrpSpPr>
            <a:grpSpLocks noChangeAspect="1"/>
          </p:cNvGrpSpPr>
          <p:nvPr/>
        </p:nvGrpSpPr>
        <p:grpSpPr>
          <a:xfrm>
            <a:off x="2792134" y="1755959"/>
            <a:ext cx="7910053" cy="2084866"/>
            <a:chOff x="5846980" y="951907"/>
            <a:chExt cx="5255998" cy="1385329"/>
          </a:xfrm>
        </p:grpSpPr>
        <p:sp>
          <p:nvSpPr>
            <p:cNvPr id="3" name="圆角矩形 2"/>
            <p:cNvSpPr/>
            <p:nvPr/>
          </p:nvSpPr>
          <p:spPr>
            <a:xfrm>
              <a:off x="5846980" y="1474039"/>
              <a:ext cx="1338224" cy="86319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 name="文本框 3"/>
            <p:cNvSpPr txBox="1"/>
            <p:nvPr/>
          </p:nvSpPr>
          <p:spPr>
            <a:xfrm>
              <a:off x="5955784" y="951907"/>
              <a:ext cx="1032342" cy="1042991"/>
            </a:xfrm>
            <a:prstGeom prst="rect">
              <a:avLst/>
            </a:prstGeom>
            <a:noFill/>
          </p:spPr>
          <p:txBody>
            <a:bodyPr wrap="none" rtlCol="0">
              <a:spAutoFit/>
            </a:bodyPr>
            <a:lstStyle/>
            <a:p>
              <a:r>
                <a:rPr lang="en-US" altLang="zh-CN"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rPr>
                <a:t>01</a:t>
              </a:r>
              <a:endParaRPr lang="zh-CN" altLang="en-US"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5" name="等腰三角形 4"/>
            <p:cNvSpPr/>
            <p:nvPr/>
          </p:nvSpPr>
          <p:spPr>
            <a:xfrm>
              <a:off x="6524700" y="1380399"/>
              <a:ext cx="1220141" cy="95683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6" name="平行四边形 5"/>
            <p:cNvSpPr/>
            <p:nvPr/>
          </p:nvSpPr>
          <p:spPr>
            <a:xfrm>
              <a:off x="6627568" y="1790036"/>
              <a:ext cx="4354494" cy="547200"/>
            </a:xfrm>
            <a:prstGeom prst="parallelogram">
              <a:avLst>
                <a:gd name="adj" fmla="val 6108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7" name="圆角矩形 6"/>
            <p:cNvSpPr/>
            <p:nvPr/>
          </p:nvSpPr>
          <p:spPr>
            <a:xfrm>
              <a:off x="7090801" y="1789704"/>
              <a:ext cx="4012177" cy="547532"/>
            </a:xfrm>
            <a:prstGeom prst="round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8" name="矩形 7"/>
            <p:cNvSpPr/>
            <p:nvPr/>
          </p:nvSpPr>
          <p:spPr>
            <a:xfrm>
              <a:off x="7534030" y="1855095"/>
              <a:ext cx="3035505" cy="429467"/>
            </a:xfrm>
            <a:prstGeom prst="rect">
              <a:avLst/>
            </a:prstGeom>
          </p:spPr>
          <p:txBody>
            <a:bodyPr wrap="square">
              <a:spAutoFit/>
            </a:bodyPr>
            <a:lstStyle/>
            <a:p>
              <a:pPr algn="ct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主要指标完成情况</a:t>
              </a:r>
            </a:p>
          </p:txBody>
        </p:sp>
        <p:sp>
          <p:nvSpPr>
            <p:cNvPr id="9" name="圆角矩形 8"/>
            <p:cNvSpPr/>
            <p:nvPr/>
          </p:nvSpPr>
          <p:spPr>
            <a:xfrm>
              <a:off x="10893057" y="1865480"/>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sp>
        <p:nvSpPr>
          <p:cNvPr id="11" name="等腰三角形 10"/>
          <p:cNvSpPr/>
          <p:nvPr/>
        </p:nvSpPr>
        <p:spPr>
          <a:xfrm>
            <a:off x="0" y="0"/>
            <a:ext cx="2690191" cy="685800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2" name="等腰三角形 11"/>
          <p:cNvSpPr/>
          <p:nvPr/>
        </p:nvSpPr>
        <p:spPr>
          <a:xfrm rot="10800000">
            <a:off x="11427830" y="0"/>
            <a:ext cx="764170" cy="1948069"/>
          </a:xfrm>
          <a:prstGeom prst="triangle">
            <a:avLst>
              <a:gd name="adj" fmla="val 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5" name="文本框 14"/>
          <p:cNvSpPr txBox="1"/>
          <p:nvPr/>
        </p:nvSpPr>
        <p:spPr>
          <a:xfrm>
            <a:off x="3033012" y="3204578"/>
            <a:ext cx="782587" cy="461665"/>
          </a:xfrm>
          <a:prstGeom prst="rect">
            <a:avLst/>
          </a:prstGeom>
          <a:noFill/>
        </p:spPr>
        <p:txBody>
          <a:bodyPr wrap="none" rtlCol="0">
            <a:spAutoFit/>
          </a:bodyPr>
          <a:lstStyle/>
          <a:p>
            <a:pPr algn="ctr"/>
            <a:r>
              <a:rPr lang="en-US" altLang="zh-CN" sz="2400" dirty="0">
                <a:solidFill>
                  <a:schemeClr val="bg1"/>
                </a:solidFill>
                <a:latin typeface="Arial" panose="020B0604020202020204"/>
                <a:ea typeface="微软雅黑" panose="020B0503020204020204" charset="-122"/>
                <a:sym typeface="Arial" panose="020B0604020202020204"/>
              </a:rPr>
              <a:t>First</a:t>
            </a:r>
            <a:endParaRPr lang="zh-CN" altLang="en-US" sz="2400" dirty="0">
              <a:solidFill>
                <a:schemeClr val="bg1"/>
              </a:solidFill>
              <a:latin typeface="Arial" panose="020B0604020202020204"/>
              <a:ea typeface="微软雅黑" panose="020B0503020204020204" charset="-122"/>
              <a:sym typeface="Arial" panose="020B0604020202020204"/>
            </a:endParaRPr>
          </a:p>
        </p:txBody>
      </p:sp>
      <p:sp>
        <p:nvSpPr>
          <p:cNvPr id="16" name="文本框 15"/>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
        <p:nvSpPr>
          <p:cNvPr id="17" name="平行四边形 16"/>
          <p:cNvSpPr/>
          <p:nvPr/>
        </p:nvSpPr>
        <p:spPr>
          <a:xfrm flipH="1">
            <a:off x="-336884" y="1524000"/>
            <a:ext cx="2454440" cy="5350041"/>
          </a:xfrm>
          <a:prstGeom prst="parallelogram">
            <a:avLst>
              <a:gd name="adj" fmla="val 86044"/>
            </a:avLst>
          </a:prstGeom>
          <a:solidFill>
            <a:schemeClr val="tx1">
              <a:lumMod val="50000"/>
              <a:lumOff val="5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0-#ppt_w/2"/>
                                          </p:val>
                                        </p:tav>
                                        <p:tav tm="100000">
                                          <p:val>
                                            <p:strVal val="#ppt_x"/>
                                          </p:val>
                                        </p:tav>
                                      </p:tavLst>
                                    </p:anim>
                                    <p:anim calcmode="lin" valueType="num">
                                      <p:cBhvr additive="base">
                                        <p:cTn id="22" dur="500" fill="hold"/>
                                        <p:tgtEl>
                                          <p:spTgt spid="2"/>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0" nodeType="clickEffect">
                                  <p:stCondLst>
                                    <p:cond delay="1500"/>
                                  </p:stCondLst>
                                  <p:childTnLst>
                                    <p:animEffect transition="out" filter="fade">
                                      <p:cBhvr>
                                        <p:cTn id="30" dur="500"/>
                                        <p:tgtEl>
                                          <p:spTgt spid="16"/>
                                        </p:tgtEl>
                                      </p:cBhvr>
                                    </p:animEffect>
                                    <p:set>
                                      <p:cBhvr>
                                        <p:cTn id="31"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1" grpId="0" animBg="1"/>
      <p:bldP spid="15" grpId="0"/>
      <p:bldP spid="16" grpId="0"/>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550501" y="1587116"/>
          <a:ext cx="9037981" cy="3150062"/>
        </p:xfrm>
        <a:graphic>
          <a:graphicData uri="http://schemas.openxmlformats.org/drawingml/2006/table">
            <a:tbl>
              <a:tblPr>
                <a:tableStyleId>{5C22544A-7EE6-4342-B048-85BDC9FD1C3A}</a:tableStyleId>
              </a:tblPr>
              <a:tblGrid>
                <a:gridCol w="2341641"/>
                <a:gridCol w="1169741"/>
                <a:gridCol w="1051071"/>
                <a:gridCol w="1101929"/>
                <a:gridCol w="1000213"/>
                <a:gridCol w="1237552"/>
                <a:gridCol w="1135834"/>
              </a:tblGrid>
              <a:tr h="400957">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主要指标</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预算</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实绩</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c grid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增幅</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c hMerge="1">
                  <a:txBody>
                    <a:bodyPr/>
                    <a:lstStyle/>
                    <a:p>
                      <a:endParaRPr lang="zh-CN"/>
                    </a:p>
                  </a:txBody>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完成</a:t>
                      </a:r>
                      <a:endParaRPr kumimoji="0" lang="en-US" altLang="zh-CN"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预算</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c rowSpan="2">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与时</a:t>
                      </a:r>
                      <a:endParaRPr kumimoji="0" lang="en-US" altLang="zh-CN"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序差</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r>
              <a:tr h="412735">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账面</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rPr>
                        <a:t>可比</a:t>
                      </a:r>
                      <a:endParaRPr kumimoji="0" lang="zh-CN" altLang="en-US" sz="1400" b="1" i="0" u="none" strike="noStrike" cap="none" normalizeH="0" baseline="0" dirty="0">
                        <a:ln>
                          <a:noFill/>
                        </a:ln>
                        <a:solidFill>
                          <a:schemeClr val="bg1"/>
                        </a:solidFill>
                        <a:effectLst/>
                        <a:latin typeface="Arial" panose="020B0604020202020204"/>
                        <a:ea typeface="微软雅黑" panose="020B0503020204020204" charset="-122"/>
                        <a:sym typeface="Arial" panose="020B0604020202020204"/>
                      </a:endParaRPr>
                    </a:p>
                  </a:txBody>
                  <a:tcPr marL="0" marR="0" marT="0" marB="0" anchor="ctr" horzOverflow="overflow">
                    <a:solidFill>
                      <a:srgbClr val="C00000"/>
                    </a:solidFill>
                  </a:tcPr>
                </a:tc>
                <a:tc vMerge="1">
                  <a:txBody>
                    <a:bodyPr/>
                    <a:lstStyle/>
                    <a:p>
                      <a:endParaRPr lang="zh-CN"/>
                    </a:p>
                  </a:txBody>
                  <a:tcPr/>
                </a:tc>
                <a:tc vMerge="1">
                  <a:txBody>
                    <a:bodyPr/>
                    <a:lstStyle/>
                    <a:p>
                      <a:endParaRPr lang="zh-CN"/>
                    </a:p>
                  </a:txBody>
                  <a:tcPr/>
                </a:tc>
              </a:tr>
              <a:tr h="471696">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预算口径收入</a:t>
                      </a:r>
                      <a:r>
                        <a:rPr kumimoji="0" lang="en-US" altLang="zh-CN" sz="1100" u="none" strike="noStrike" cap="none" normalizeH="0" baseline="0" dirty="0">
                          <a:ln>
                            <a:noFill/>
                          </a:ln>
                          <a:effectLst/>
                          <a:latin typeface="Arial" panose="020B0604020202020204"/>
                          <a:ea typeface="微软雅黑" panose="020B0503020204020204" charset="-122"/>
                          <a:sym typeface="Arial" panose="020B0604020202020204"/>
                        </a:rPr>
                        <a:t>-</a:t>
                      </a: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当月</a:t>
                      </a:r>
                      <a:endParaRPr kumimoji="0" lang="zh-CN" altLang="en-US" sz="1100" b="1" i="0" u="none" strike="noStrike" cap="none" normalizeH="0" baseline="0" dirty="0">
                        <a:ln>
                          <a:noFill/>
                        </a:ln>
                        <a:solidFill>
                          <a:srgbClr val="000000"/>
                        </a:solidFill>
                        <a:effectLst/>
                        <a:latin typeface="Arial" panose="020B0604020202020204"/>
                        <a:ea typeface="微软雅黑" panose="020B0503020204020204" charset="-122"/>
                        <a:sym typeface="Arial" panose="020B0604020202020204"/>
                      </a:endParaRPr>
                    </a:p>
                  </a:txBody>
                  <a:tcPr marL="0" marR="0" marT="0" marB="0" anchor="ctr" horzOverflow="overflow">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6,848 </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6,553</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-3.31%</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3.86%</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7.97%</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-0.36%</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495281">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预算口径收入</a:t>
                      </a:r>
                      <a:r>
                        <a:rPr kumimoji="0" lang="en-US" altLang="zh-CN" sz="1100" u="none" strike="noStrike" cap="none" normalizeH="0" baseline="0" dirty="0">
                          <a:ln>
                            <a:noFill/>
                          </a:ln>
                          <a:effectLst/>
                          <a:latin typeface="Arial" panose="020B0604020202020204"/>
                          <a:ea typeface="微软雅黑" panose="020B0503020204020204" charset="-122"/>
                          <a:sym typeface="Arial" panose="020B0604020202020204"/>
                        </a:rPr>
                        <a:t>-</a:t>
                      </a: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累计</a:t>
                      </a:r>
                      <a:endParaRPr kumimoji="0" lang="zh-CN" altLang="en-US" sz="1100" b="1" i="0" u="none" strike="noStrike" cap="none" normalizeH="0" baseline="0" dirty="0">
                        <a:ln>
                          <a:noFill/>
                        </a:ln>
                        <a:solidFill>
                          <a:srgbClr val="000000"/>
                        </a:solidFill>
                        <a:effectLst/>
                        <a:latin typeface="Arial" panose="020B0604020202020204"/>
                        <a:ea typeface="微软雅黑" panose="020B0503020204020204" charset="-122"/>
                        <a:sym typeface="Arial" panose="020B0604020202020204"/>
                      </a:endParaRPr>
                    </a:p>
                  </a:txBody>
                  <a:tcPr marL="0" marR="0" marT="0" marB="0" anchor="ctr" horzOverflow="overflow">
                    <a:solidFill>
                      <a:schemeClr val="bg1">
                        <a:lumMod val="75000"/>
                      </a:schemeClr>
                    </a:solidFill>
                  </a:tcPr>
                </a:tc>
                <a:tc>
                  <a:txBody>
                    <a:bodyPr/>
                    <a:lstStyle/>
                    <a:p>
                      <a:pPr algn="ctr" fontAlgn="ctr"/>
                      <a:r>
                        <a:rPr lang="zh-CN" altLang="en-US" sz="1100" u="none" strike="noStrike" dirty="0">
                          <a:latin typeface="Arial" panose="020B0604020202020204"/>
                          <a:ea typeface="微软雅黑" panose="020B0503020204020204" charset="-122"/>
                          <a:sym typeface="Arial" panose="020B0604020202020204"/>
                        </a:rPr>
                        <a:t> </a:t>
                      </a:r>
                      <a:r>
                        <a:rPr lang="en-US" altLang="zh-CN" sz="1100" u="none" strike="noStrike" dirty="0">
                          <a:latin typeface="Arial" panose="020B0604020202020204"/>
                          <a:ea typeface="微软雅黑" panose="020B0503020204020204" charset="-122"/>
                          <a:sym typeface="Arial" panose="020B0604020202020204"/>
                        </a:rPr>
                        <a:t>82,181 </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26,826</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-4.72%</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2.34%</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32.64%</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-0.69%</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495281">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考核口径收入</a:t>
                      </a:r>
                      <a:r>
                        <a:rPr kumimoji="0" lang="en-US" altLang="zh-CN" sz="1100" u="none" strike="noStrike" cap="none" normalizeH="0" baseline="0" dirty="0">
                          <a:ln>
                            <a:noFill/>
                          </a:ln>
                          <a:effectLst/>
                          <a:latin typeface="Arial" panose="020B0604020202020204"/>
                          <a:ea typeface="微软雅黑" panose="020B0503020204020204" charset="-122"/>
                          <a:sym typeface="Arial" panose="020B0604020202020204"/>
                        </a:rPr>
                        <a:t>-</a:t>
                      </a: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累计</a:t>
                      </a:r>
                      <a:endParaRPr kumimoji="0" lang="zh-CN" altLang="en-US" sz="1100" b="1" i="0" u="none" strike="noStrike" cap="none" normalizeH="0" baseline="0" dirty="0">
                        <a:ln>
                          <a:noFill/>
                        </a:ln>
                        <a:solidFill>
                          <a:srgbClr val="000000"/>
                        </a:solidFill>
                        <a:effectLst/>
                        <a:latin typeface="Arial" panose="020B0604020202020204"/>
                        <a:ea typeface="微软雅黑" panose="020B0503020204020204" charset="-122"/>
                        <a:sym typeface="Arial" panose="020B0604020202020204"/>
                      </a:endParaRPr>
                    </a:p>
                  </a:txBody>
                  <a:tcPr marL="0" marR="0" marT="0" marB="0" anchor="ctr" horzOverflow="overflow">
                    <a:solidFill>
                      <a:schemeClr val="bg1">
                        <a:lumMod val="85000"/>
                      </a:schemeClr>
                    </a:solidFill>
                  </a:tcPr>
                </a:tc>
                <a:tc>
                  <a:txBody>
                    <a:bodyPr/>
                    <a:lstStyle/>
                    <a:p>
                      <a:pPr algn="ctr" fontAlgn="ctr"/>
                      <a:r>
                        <a:rPr lang="zh-CN" altLang="en-US" sz="1100" u="none" strike="noStrike" dirty="0">
                          <a:latin typeface="Arial" panose="020B0604020202020204"/>
                          <a:ea typeface="微软雅黑" panose="020B0503020204020204" charset="-122"/>
                          <a:sym typeface="Arial" panose="020B0604020202020204"/>
                        </a:rPr>
                        <a:t> </a:t>
                      </a:r>
                      <a:r>
                        <a:rPr lang="en-US" altLang="zh-CN" sz="1100" u="none" strike="noStrike" dirty="0">
                          <a:latin typeface="Arial" panose="020B0604020202020204"/>
                          <a:ea typeface="微软雅黑" panose="020B0503020204020204" charset="-122"/>
                          <a:sym typeface="Arial" panose="020B0604020202020204"/>
                        </a:rPr>
                        <a:t>82,181 </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26,654</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32.43%</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100" u="none" strike="noStrike" dirty="0">
                          <a:latin typeface="Arial" panose="020B0604020202020204"/>
                          <a:ea typeface="微软雅黑" panose="020B0503020204020204" charset="-122"/>
                          <a:sym typeface="Arial" panose="020B0604020202020204"/>
                        </a:rPr>
                        <a:t>-0.90%</a:t>
                      </a:r>
                      <a:endParaRPr lang="en-US" altLang="zh-CN" sz="11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446637">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净利润</a:t>
                      </a:r>
                      <a:endParaRPr kumimoji="0" lang="zh-CN" altLang="en-US" sz="1100" b="1" i="0" u="none" strike="noStrike" cap="none" normalizeH="0" baseline="0" dirty="0">
                        <a:ln>
                          <a:noFill/>
                        </a:ln>
                        <a:solidFill>
                          <a:srgbClr val="000000"/>
                        </a:solidFill>
                        <a:effectLst/>
                        <a:latin typeface="Arial" panose="020B0604020202020204"/>
                        <a:ea typeface="微软雅黑" panose="020B0503020204020204" charset="-122"/>
                        <a:sym typeface="Arial" panose="020B0604020202020204"/>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Arial" panose="020B0604020202020204"/>
                          <a:ea typeface="微软雅黑" panose="020B0503020204020204" charset="-122"/>
                          <a:sym typeface="Arial" panose="020B0604020202020204"/>
                        </a:rPr>
                        <a:t>11,543</a:t>
                      </a:r>
                      <a:endParaRPr lang="en-US" altLang="zh-CN" sz="1100" b="0" i="0" u="none" strike="noStrike" kern="1200" dirty="0">
                        <a:solidFill>
                          <a:schemeClr val="tx1"/>
                        </a:solidFill>
                        <a:latin typeface="Arial" panose="020B0604020202020204"/>
                        <a:ea typeface="微软雅黑" panose="020B0503020204020204" charset="-122"/>
                        <a:cs typeface="+mn-cs"/>
                        <a:sym typeface="Arial" panose="020B0604020202020204"/>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Arial" panose="020B0604020202020204"/>
                          <a:ea typeface="微软雅黑" panose="020B0503020204020204" charset="-122"/>
                          <a:sym typeface="Arial" panose="020B0604020202020204"/>
                        </a:rPr>
                        <a:t>3,935</a:t>
                      </a:r>
                      <a:endParaRPr lang="en-US" altLang="zh-CN" sz="1100" b="0" i="0" u="none" strike="noStrike" kern="1200" dirty="0">
                        <a:solidFill>
                          <a:schemeClr val="tx1"/>
                        </a:solidFill>
                        <a:latin typeface="Arial" panose="020B0604020202020204"/>
                        <a:ea typeface="微软雅黑" panose="020B0503020204020204" charset="-122"/>
                        <a:cs typeface="+mn-cs"/>
                        <a:sym typeface="Arial" panose="020B0604020202020204"/>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Arial" panose="020B0604020202020204"/>
                          <a:ea typeface="微软雅黑" panose="020B0503020204020204" charset="-122"/>
                          <a:sym typeface="Arial" panose="020B0604020202020204"/>
                        </a:rPr>
                        <a:t>-20.77%</a:t>
                      </a:r>
                      <a:endParaRPr lang="en-US" altLang="zh-CN" sz="1100" b="0" i="0" u="none" strike="noStrike" kern="1200" dirty="0">
                        <a:solidFill>
                          <a:schemeClr val="tx1"/>
                        </a:solidFill>
                        <a:latin typeface="Arial" panose="020B0604020202020204"/>
                        <a:ea typeface="微软雅黑" panose="020B0503020204020204" charset="-122"/>
                        <a:cs typeface="+mn-cs"/>
                        <a:sym typeface="Arial" panose="020B0604020202020204"/>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endParaRPr lang="en-US" altLang="zh-CN" sz="1100" b="0" i="0" u="none" strike="noStrike" kern="1200" dirty="0">
                        <a:solidFill>
                          <a:schemeClr val="tx1"/>
                        </a:solidFill>
                        <a:latin typeface="Arial" panose="020B0604020202020204"/>
                        <a:ea typeface="微软雅黑" panose="020B0503020204020204" charset="-122"/>
                        <a:cs typeface="+mn-cs"/>
                        <a:sym typeface="Arial" panose="020B0604020202020204"/>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Arial" panose="020B0604020202020204"/>
                          <a:ea typeface="微软雅黑" panose="020B0503020204020204" charset="-122"/>
                          <a:sym typeface="Arial" panose="020B0604020202020204"/>
                        </a:rPr>
                        <a:t>34.09%</a:t>
                      </a:r>
                      <a:endParaRPr lang="en-US" altLang="zh-CN" sz="1100" b="0" i="0" u="none" strike="noStrike" kern="1200" dirty="0">
                        <a:solidFill>
                          <a:schemeClr val="tx1"/>
                        </a:solidFill>
                        <a:latin typeface="Arial" panose="020B0604020202020204"/>
                        <a:ea typeface="微软雅黑" panose="020B0503020204020204" charset="-122"/>
                        <a:cs typeface="+mn-cs"/>
                        <a:sym typeface="Arial" panose="020B0604020202020204"/>
                      </a:endParaRPr>
                    </a:p>
                  </a:txBody>
                  <a:tcPr marL="0" marR="0" marT="0" marB="0" anchor="ctr" horzOverflow="overflow">
                    <a:solidFill>
                      <a:schemeClr val="bg1">
                        <a:lumMod val="75000"/>
                      </a:schemeClr>
                    </a:solidFill>
                  </a:tcPr>
                </a:tc>
                <a:tc>
                  <a:txBody>
                    <a:bodyPr/>
                    <a:lstStyle/>
                    <a:p>
                      <a:pPr marL="0" marR="0" lvl="0" indent="0" algn="ctr" defTabSz="914400" rtl="0" eaLnBrk="1" fontAlgn="b" latinLnBrk="0" hangingPunct="1">
                        <a:lnSpc>
                          <a:spcPct val="100000"/>
                        </a:lnSpc>
                        <a:spcBef>
                          <a:spcPct val="0"/>
                        </a:spcBef>
                        <a:spcAft>
                          <a:spcPct val="0"/>
                        </a:spcAft>
                        <a:buClrTx/>
                        <a:buSzTx/>
                        <a:buFontTx/>
                        <a:buNone/>
                      </a:pPr>
                      <a:r>
                        <a:rPr lang="en-US" altLang="zh-CN" sz="1100" u="none" strike="noStrike" kern="1200" dirty="0">
                          <a:latin typeface="Arial" panose="020B0604020202020204"/>
                          <a:ea typeface="微软雅黑" panose="020B0503020204020204" charset="-122"/>
                          <a:sym typeface="Arial" panose="020B0604020202020204"/>
                        </a:rPr>
                        <a:t>0.76%</a:t>
                      </a:r>
                      <a:endParaRPr lang="en-US" altLang="zh-CN" sz="1100" b="0" i="0" u="none" strike="noStrike" kern="1200" dirty="0">
                        <a:solidFill>
                          <a:schemeClr val="tx1"/>
                        </a:solidFill>
                        <a:latin typeface="Arial" panose="020B0604020202020204"/>
                        <a:ea typeface="微软雅黑" panose="020B0503020204020204" charset="-122"/>
                        <a:cs typeface="+mn-cs"/>
                        <a:sym typeface="Arial" panose="020B0604020202020204"/>
                      </a:endParaRPr>
                    </a:p>
                  </a:txBody>
                  <a:tcPr marL="0" marR="0" marT="0" marB="0" anchor="ctr" horzOverflow="overflow">
                    <a:solidFill>
                      <a:schemeClr val="bg1">
                        <a:lumMod val="75000"/>
                      </a:schemeClr>
                    </a:solidFill>
                  </a:tcPr>
                </a:tc>
              </a:tr>
              <a:tr h="427475">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100" u="none" strike="noStrike" cap="none" normalizeH="0" baseline="0" dirty="0">
                          <a:ln>
                            <a:noFill/>
                          </a:ln>
                          <a:effectLst/>
                          <a:latin typeface="Arial" panose="020B0604020202020204"/>
                          <a:ea typeface="微软雅黑" panose="020B0503020204020204" charset="-122"/>
                          <a:sym typeface="Arial" panose="020B0604020202020204"/>
                        </a:rPr>
                        <a:t>资本性支出</a:t>
                      </a:r>
                      <a:endParaRPr kumimoji="0" lang="zh-CN" altLang="en-US" sz="1100" b="1" i="0" u="none" strike="noStrike" cap="none" normalizeH="0" baseline="0" dirty="0">
                        <a:ln>
                          <a:noFill/>
                        </a:ln>
                        <a:solidFill>
                          <a:srgbClr val="000000"/>
                        </a:solidFill>
                        <a:effectLst/>
                        <a:latin typeface="Arial" panose="020B0604020202020204"/>
                        <a:ea typeface="微软雅黑" panose="020B0503020204020204" charset="-122"/>
                        <a:sym typeface="Arial" panose="020B0604020202020204"/>
                      </a:endParaRPr>
                    </a:p>
                  </a:txBody>
                  <a:tcPr marL="0" marR="0" marT="0" marB="0" anchor="ctr" horzOverflow="overflow">
                    <a:solidFill>
                      <a:schemeClr val="bg1">
                        <a:lumMod val="85000"/>
                      </a:schemeClr>
                    </a:solidFill>
                  </a:tcPr>
                </a:tc>
                <a:tc>
                  <a:txBody>
                    <a:bodyPr/>
                    <a:lstStyle/>
                    <a:p>
                      <a:pPr algn="ctr" fontAlgn="b"/>
                      <a:r>
                        <a:rPr lang="en-US" altLang="zh-CN" sz="1100" u="none" strike="noStrike" dirty="0">
                          <a:latin typeface="Arial" panose="020B0604020202020204"/>
                          <a:ea typeface="微软雅黑" panose="020B0503020204020204" charset="-122"/>
                          <a:sym typeface="Arial" panose="020B0604020202020204"/>
                        </a:rPr>
                        <a:t>30,266</a:t>
                      </a:r>
                      <a:endParaRPr lang="en-US" altLang="zh-CN" sz="11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100" u="none" strike="noStrike" dirty="0">
                          <a:latin typeface="Arial" panose="020B0604020202020204"/>
                          <a:ea typeface="微软雅黑" panose="020B0503020204020204" charset="-122"/>
                          <a:sym typeface="Arial" panose="020B0604020202020204"/>
                        </a:rPr>
                        <a:t>4,700</a:t>
                      </a:r>
                      <a:endParaRPr lang="en-US" altLang="zh-CN" sz="11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100" u="none" strike="noStrike" dirty="0">
                          <a:latin typeface="Arial" panose="020B0604020202020204"/>
                          <a:ea typeface="微软雅黑" panose="020B0503020204020204" charset="-122"/>
                          <a:sym typeface="Arial" panose="020B0604020202020204"/>
                        </a:rPr>
                        <a:t>4.14% </a:t>
                      </a:r>
                      <a:endParaRPr lang="en-US" altLang="zh-CN" sz="11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pPr>
                      <a:endParaRPr kumimoji="0" lang="en-US" altLang="zh-CN" sz="1100" b="1" i="0" u="none" strike="noStrike" cap="none" normalizeH="0" baseline="0" dirty="0">
                        <a:ln>
                          <a:noFill/>
                        </a:ln>
                        <a:solidFill>
                          <a:srgbClr val="000000"/>
                        </a:solidFill>
                        <a:effectLst/>
                        <a:latin typeface="Arial" panose="020B0604020202020204"/>
                        <a:ea typeface="微软雅黑" panose="020B0503020204020204" charset="-122"/>
                        <a:sym typeface="Arial" panose="020B0604020202020204"/>
                      </a:endParaRPr>
                    </a:p>
                  </a:txBody>
                  <a:tcPr marL="0" marR="0" marT="0" marB="0" anchor="ctr" horzOverflow="overflow">
                    <a:solidFill>
                      <a:schemeClr val="bg1">
                        <a:lumMod val="85000"/>
                      </a:schemeClr>
                    </a:solidFill>
                  </a:tcPr>
                </a:tc>
                <a:tc>
                  <a:txBody>
                    <a:bodyPr/>
                    <a:lstStyle/>
                    <a:p>
                      <a:pPr algn="ctr" fontAlgn="b"/>
                      <a:r>
                        <a:rPr lang="en-US" altLang="zh-CN" sz="1100" u="none" strike="noStrike" dirty="0">
                          <a:latin typeface="Arial" panose="020B0604020202020204"/>
                          <a:ea typeface="微软雅黑" panose="020B0503020204020204" charset="-122"/>
                          <a:sym typeface="Arial" panose="020B0604020202020204"/>
                        </a:rPr>
                        <a:t>15.53% </a:t>
                      </a:r>
                      <a:endParaRPr lang="en-US" altLang="zh-CN" sz="11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100" u="none" strike="noStrike" dirty="0">
                          <a:latin typeface="Arial" panose="020B0604020202020204"/>
                          <a:ea typeface="微软雅黑" panose="020B0503020204020204" charset="-122"/>
                          <a:sym typeface="Arial" panose="020B0604020202020204"/>
                        </a:rPr>
                        <a:t>-17.80 %</a:t>
                      </a:r>
                      <a:endParaRPr lang="en-US" altLang="zh-CN" sz="11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bl>
          </a:graphicData>
        </a:graphic>
      </p:graphicFrame>
      <p:sp>
        <p:nvSpPr>
          <p:cNvPr id="5" name="TextBox 10"/>
          <p:cNvSpPr txBox="1"/>
          <p:nvPr/>
        </p:nvSpPr>
        <p:spPr>
          <a:xfrm>
            <a:off x="1537249" y="4923586"/>
            <a:ext cx="9435548" cy="1061829"/>
          </a:xfrm>
          <a:prstGeom prst="rect">
            <a:avLst/>
          </a:prstGeom>
          <a:noFill/>
        </p:spPr>
        <p:txBody>
          <a:bodyPr wrap="square">
            <a:spAutoFit/>
          </a:bodyPr>
          <a:lstStyle/>
          <a:p>
            <a:pPr marL="214630" indent="-214630">
              <a:lnSpc>
                <a:spcPct val="150000"/>
              </a:lnSpc>
              <a:buClr>
                <a:srgbClr val="FF0000"/>
              </a:buClr>
              <a:buFont typeface="Wingdings" panose="05000000000000000000" pitchFamily="2" charset="2"/>
              <a:buChar char="p"/>
              <a:defRPr/>
            </a:pPr>
            <a:r>
              <a:rPr lang="zh-CN" altLang="en-US" sz="1400" dirty="0">
                <a:latin typeface="Arial" panose="020B0604020202020204"/>
                <a:ea typeface="微软雅黑" panose="020B0503020204020204" charset="-122"/>
                <a:sym typeface="Arial" panose="020B0604020202020204"/>
              </a:rPr>
              <a:t>预算口径收入累计缺口</a:t>
            </a:r>
            <a:r>
              <a:rPr lang="en-US" altLang="zh-CN" sz="1400" dirty="0">
                <a:latin typeface="Arial" panose="020B0604020202020204"/>
                <a:ea typeface="微软雅黑" panose="020B0503020204020204" charset="-122"/>
                <a:sym typeface="Arial" panose="020B0604020202020204"/>
              </a:rPr>
              <a:t>568</a:t>
            </a:r>
            <a:r>
              <a:rPr lang="zh-CN" altLang="en-US" sz="1400" dirty="0">
                <a:latin typeface="Arial" panose="020B0604020202020204"/>
                <a:ea typeface="微软雅黑" panose="020B0503020204020204" charset="-122"/>
                <a:sym typeface="Arial" panose="020B0604020202020204"/>
              </a:rPr>
              <a:t>万元，可比增幅低于目标增幅</a:t>
            </a:r>
            <a:r>
              <a:rPr lang="en-US" altLang="zh-CN" sz="1400" dirty="0">
                <a:latin typeface="Arial" panose="020B0604020202020204"/>
                <a:ea typeface="微软雅黑" panose="020B0503020204020204" charset="-122"/>
                <a:sym typeface="Arial" panose="020B0604020202020204"/>
              </a:rPr>
              <a:t>(9.13%)6.79%,</a:t>
            </a:r>
            <a:r>
              <a:rPr lang="zh-CN" altLang="en-US" sz="1400" dirty="0">
                <a:latin typeface="Arial" panose="020B0604020202020204"/>
                <a:ea typeface="微软雅黑" panose="020B0503020204020204" charset="-122"/>
                <a:sym typeface="Arial" panose="020B0604020202020204"/>
              </a:rPr>
              <a:t>账面增幅低于目标增幅（</a:t>
            </a:r>
            <a:r>
              <a:rPr lang="en-US" altLang="zh-CN" sz="1400" dirty="0">
                <a:latin typeface="Arial" panose="020B0604020202020204"/>
                <a:ea typeface="微软雅黑" panose="020B0503020204020204" charset="-122"/>
                <a:sym typeface="Arial" panose="020B0604020202020204"/>
              </a:rPr>
              <a:t>5.70%</a:t>
            </a:r>
            <a:r>
              <a:rPr lang="zh-CN" altLang="en-US" sz="1400" dirty="0">
                <a:latin typeface="Arial" panose="020B0604020202020204"/>
                <a:ea typeface="微软雅黑" panose="020B0503020204020204" charset="-122"/>
                <a:sym typeface="Arial" panose="020B0604020202020204"/>
              </a:rPr>
              <a:t>）</a:t>
            </a:r>
            <a:r>
              <a:rPr lang="en-US" altLang="zh-CN" sz="1400" dirty="0">
                <a:latin typeface="Arial" panose="020B0604020202020204"/>
                <a:ea typeface="微软雅黑" panose="020B0503020204020204" charset="-122"/>
                <a:sym typeface="Arial" panose="020B0604020202020204"/>
              </a:rPr>
              <a:t>10.43%</a:t>
            </a:r>
            <a:r>
              <a:rPr lang="zh-CN" altLang="en-US" sz="1400" dirty="0">
                <a:latin typeface="Arial" panose="020B0604020202020204"/>
                <a:ea typeface="微软雅黑" panose="020B0503020204020204" charset="-122"/>
                <a:sym typeface="Arial" panose="020B0604020202020204"/>
              </a:rPr>
              <a:t>，考核口径收入缺口</a:t>
            </a:r>
            <a:r>
              <a:rPr lang="en-US" altLang="zh-CN" sz="1400" dirty="0">
                <a:latin typeface="Arial" panose="020B0604020202020204"/>
                <a:ea typeface="微软雅黑" panose="020B0503020204020204" charset="-122"/>
                <a:sym typeface="Arial" panose="020B0604020202020204"/>
              </a:rPr>
              <a:t>740</a:t>
            </a:r>
            <a:r>
              <a:rPr lang="zh-CN" altLang="en-US" sz="1400" dirty="0">
                <a:latin typeface="Arial" panose="020B0604020202020204"/>
                <a:ea typeface="微软雅黑" panose="020B0503020204020204" charset="-122"/>
                <a:sym typeface="Arial" panose="020B0604020202020204"/>
              </a:rPr>
              <a:t>万元。</a:t>
            </a:r>
          </a:p>
          <a:p>
            <a:pPr marL="214630" indent="-214630">
              <a:lnSpc>
                <a:spcPct val="150000"/>
              </a:lnSpc>
              <a:buClr>
                <a:srgbClr val="FF0000"/>
              </a:buClr>
              <a:buFont typeface="Wingdings" panose="05000000000000000000" pitchFamily="2" charset="2"/>
              <a:buChar char="p"/>
              <a:defRPr/>
            </a:pPr>
            <a:r>
              <a:rPr lang="zh-CN" altLang="en-US" sz="1400" dirty="0">
                <a:latin typeface="Arial" panose="020B0604020202020204"/>
                <a:ea typeface="微软雅黑" panose="020B0503020204020204" charset="-122"/>
                <a:sym typeface="Arial" panose="020B0604020202020204"/>
              </a:rPr>
              <a:t>净利润累计完成</a:t>
            </a:r>
            <a:r>
              <a:rPr lang="en-US" altLang="zh-CN" sz="1400" dirty="0">
                <a:latin typeface="Arial" panose="020B0604020202020204"/>
                <a:ea typeface="微软雅黑" panose="020B0503020204020204" charset="-122"/>
                <a:sym typeface="Arial" panose="020B0604020202020204"/>
              </a:rPr>
              <a:t>3,935.36</a:t>
            </a:r>
            <a:r>
              <a:rPr lang="zh-CN" altLang="en-US" sz="1400" dirty="0">
                <a:latin typeface="Arial" panose="020B0604020202020204"/>
                <a:ea typeface="微软雅黑" panose="020B0503020204020204" charset="-122"/>
                <a:sym typeface="Arial" panose="020B0604020202020204"/>
              </a:rPr>
              <a:t>万元，高于时序进度</a:t>
            </a:r>
            <a:r>
              <a:rPr lang="en-US" altLang="zh-CN" sz="1400" dirty="0">
                <a:latin typeface="Arial" panose="020B0604020202020204"/>
                <a:ea typeface="微软雅黑" panose="020B0503020204020204" charset="-122"/>
                <a:sym typeface="Arial" panose="020B0604020202020204"/>
              </a:rPr>
              <a:t>87.69</a:t>
            </a:r>
            <a:r>
              <a:rPr lang="zh-CN" altLang="en-US" sz="1400" dirty="0">
                <a:latin typeface="Arial" panose="020B0604020202020204"/>
                <a:ea typeface="微软雅黑" panose="020B0503020204020204" charset="-122"/>
                <a:sym typeface="Arial" panose="020B0604020202020204"/>
              </a:rPr>
              <a:t>万元（</a:t>
            </a:r>
            <a:r>
              <a:rPr lang="en-US" altLang="zh-CN" sz="1400" dirty="0">
                <a:latin typeface="Arial" panose="020B0604020202020204"/>
                <a:ea typeface="微软雅黑" panose="020B0503020204020204" charset="-122"/>
                <a:sym typeface="Arial" panose="020B0604020202020204"/>
              </a:rPr>
              <a:t>0.76%</a:t>
            </a:r>
            <a:r>
              <a:rPr lang="zh-CN" altLang="en-US" sz="1400" dirty="0">
                <a:latin typeface="Arial" panose="020B0604020202020204"/>
                <a:ea typeface="微软雅黑" panose="020B0503020204020204" charset="-122"/>
                <a:sym typeface="Arial" panose="020B0604020202020204"/>
              </a:rPr>
              <a:t>） 。</a:t>
            </a:r>
            <a:endParaRPr lang="en-US" altLang="zh-CN" sz="1400" dirty="0">
              <a:latin typeface="Arial" panose="020B0604020202020204"/>
              <a:ea typeface="微软雅黑" panose="020B0503020204020204" charset="-122"/>
              <a:sym typeface="Arial" panose="020B0604020202020204"/>
            </a:endParaRPr>
          </a:p>
        </p:txBody>
      </p:sp>
      <p:sp>
        <p:nvSpPr>
          <p:cNvPr id="6" name="TextBox 14"/>
          <p:cNvSpPr txBox="1"/>
          <p:nvPr/>
        </p:nvSpPr>
        <p:spPr>
          <a:xfrm>
            <a:off x="9670728" y="1250928"/>
            <a:ext cx="954107" cy="276999"/>
          </a:xfrm>
          <a:prstGeom prst="rect">
            <a:avLst/>
          </a:prstGeom>
          <a:noFill/>
        </p:spPr>
        <p:txBody>
          <a:bodyPr wrap="none" rtlCol="0">
            <a:spAutoFit/>
          </a:bodyPr>
          <a:lstStyle/>
          <a:p>
            <a:pPr algn="r"/>
            <a:r>
              <a:rPr lang="zh-CN" altLang="en-US" sz="1200" dirty="0">
                <a:latin typeface="Arial" panose="020B0604020202020204"/>
                <a:ea typeface="微软雅黑" panose="020B0503020204020204" charset="-122"/>
                <a:sym typeface="Arial" panose="020B0604020202020204"/>
              </a:rPr>
              <a:t>单位：万元</a:t>
            </a:r>
          </a:p>
        </p:txBody>
      </p:sp>
      <p:sp>
        <p:nvSpPr>
          <p:cNvPr id="21" name="矩形 20"/>
          <p:cNvSpPr/>
          <p:nvPr/>
        </p:nvSpPr>
        <p:spPr>
          <a:xfrm>
            <a:off x="340381" y="395116"/>
            <a:ext cx="3877985" cy="646331"/>
          </a:xfrm>
          <a:prstGeom prst="rect">
            <a:avLst/>
          </a:prstGeom>
        </p:spPr>
        <p:txBody>
          <a:bodyPr wrap="none">
            <a:spAutoFit/>
          </a:bodyPr>
          <a:lstStyle/>
          <a:p>
            <a:pP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主要指标完成情况</a:t>
            </a:r>
          </a:p>
        </p:txBody>
      </p:sp>
      <p:sp>
        <p:nvSpPr>
          <p:cNvPr id="22" name="文本框 21"/>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1500"/>
                                  </p:stCondLst>
                                  <p:childTnLst>
                                    <p:animEffect transition="out" filter="fade">
                                      <p:cBhvr>
                                        <p:cTn id="19" dur="500"/>
                                        <p:tgtEl>
                                          <p:spTgt spid="22"/>
                                        </p:tgtEl>
                                      </p:cBhvr>
                                    </p:animEffect>
                                    <p:set>
                                      <p:cBhvr>
                                        <p:cTn id="20"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55435" y="3086739"/>
            <a:ext cx="3988645" cy="2346652"/>
          </a:xfrm>
          <a:prstGeom prst="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4" name="矩形 3"/>
          <p:cNvSpPr/>
          <p:nvPr/>
        </p:nvSpPr>
        <p:spPr>
          <a:xfrm>
            <a:off x="2405050" y="4174123"/>
            <a:ext cx="1609873" cy="338554"/>
          </a:xfrm>
          <a:prstGeom prst="rect">
            <a:avLst/>
          </a:prstGeom>
        </p:spPr>
        <p:txBody>
          <a:bodyPr wrap="square">
            <a:spAutoFit/>
          </a:bodyPr>
          <a:lstStyle/>
          <a:p>
            <a:pPr algn="ctr" fontAlgn="ctr"/>
            <a:r>
              <a:rPr lang="zh-CN" altLang="en-US" sz="1600" dirty="0">
                <a:latin typeface="Arial" panose="020B0604020202020204"/>
                <a:ea typeface="微软雅黑" panose="020B0503020204020204" charset="-122"/>
                <a:sym typeface="Arial" panose="020B0604020202020204"/>
              </a:rPr>
              <a:t>应收账款增加额</a:t>
            </a:r>
          </a:p>
        </p:txBody>
      </p:sp>
      <p:sp>
        <p:nvSpPr>
          <p:cNvPr id="5" name="矩形 4"/>
          <p:cNvSpPr/>
          <p:nvPr/>
        </p:nvSpPr>
        <p:spPr>
          <a:xfrm>
            <a:off x="2074718" y="4634948"/>
            <a:ext cx="1730531" cy="338554"/>
          </a:xfrm>
          <a:prstGeom prst="rect">
            <a:avLst/>
          </a:prstGeom>
        </p:spPr>
        <p:txBody>
          <a:bodyPr wrap="square">
            <a:spAutoFit/>
          </a:bodyPr>
          <a:lstStyle/>
          <a:p>
            <a:pPr fontAlgn="ctr"/>
            <a:r>
              <a:rPr lang="en-US" altLang="zh-CN" sz="1600" dirty="0">
                <a:latin typeface="Arial" panose="020B0604020202020204"/>
                <a:ea typeface="微软雅黑" panose="020B0503020204020204" charset="-122"/>
                <a:sym typeface="Arial" panose="020B0604020202020204"/>
              </a:rPr>
              <a:t>2</a:t>
            </a:r>
            <a:r>
              <a:rPr lang="zh-CN" altLang="en-US" sz="1600" dirty="0">
                <a:latin typeface="Arial" panose="020B0604020202020204"/>
                <a:ea typeface="微软雅黑" panose="020B0503020204020204" charset="-122"/>
                <a:sym typeface="Arial" panose="020B0604020202020204"/>
              </a:rPr>
              <a:t>、考核口径收入</a:t>
            </a:r>
          </a:p>
        </p:txBody>
      </p:sp>
      <p:sp>
        <p:nvSpPr>
          <p:cNvPr id="6" name="矩形 5"/>
          <p:cNvSpPr/>
          <p:nvPr/>
        </p:nvSpPr>
        <p:spPr>
          <a:xfrm>
            <a:off x="1855435" y="3086739"/>
            <a:ext cx="3988645" cy="517191"/>
          </a:xfrm>
          <a:prstGeom prst="rect">
            <a:avLst/>
          </a:prstGeom>
          <a:solidFill>
            <a:srgbClr val="C00000"/>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dirty="0">
                <a:solidFill>
                  <a:schemeClr val="bg1"/>
                </a:solidFill>
                <a:latin typeface="Arial" panose="020B0604020202020204"/>
                <a:ea typeface="微软雅黑" panose="020B0503020204020204" charset="-122"/>
                <a:sym typeface="Arial" panose="020B0604020202020204"/>
              </a:rPr>
              <a:t>考核口径收入计算过程</a:t>
            </a:r>
          </a:p>
        </p:txBody>
      </p:sp>
      <p:sp>
        <p:nvSpPr>
          <p:cNvPr id="8" name="矩形 7"/>
          <p:cNvSpPr/>
          <p:nvPr/>
        </p:nvSpPr>
        <p:spPr>
          <a:xfrm>
            <a:off x="2074719" y="3826653"/>
            <a:ext cx="1724395" cy="338554"/>
          </a:xfrm>
          <a:prstGeom prst="rect">
            <a:avLst/>
          </a:prstGeom>
        </p:spPr>
        <p:txBody>
          <a:bodyPr wrap="square">
            <a:spAutoFit/>
          </a:bodyPr>
          <a:lstStyle/>
          <a:p>
            <a:pPr fontAlgn="ctr"/>
            <a:r>
              <a:rPr lang="en-US" altLang="zh-CN" sz="1600" dirty="0">
                <a:latin typeface="Arial" panose="020B0604020202020204"/>
                <a:ea typeface="微软雅黑" panose="020B0503020204020204" charset="-122"/>
                <a:sym typeface="Arial" panose="020B0604020202020204"/>
              </a:rPr>
              <a:t>1</a:t>
            </a:r>
            <a:r>
              <a:rPr lang="zh-CN" altLang="en-US" sz="1600" dirty="0">
                <a:latin typeface="Arial" panose="020B0604020202020204"/>
                <a:ea typeface="微软雅黑" panose="020B0503020204020204" charset="-122"/>
                <a:sym typeface="Arial" panose="020B0604020202020204"/>
              </a:rPr>
              <a:t>、预算口径收入</a:t>
            </a:r>
          </a:p>
        </p:txBody>
      </p:sp>
      <p:sp>
        <p:nvSpPr>
          <p:cNvPr id="9" name="矩形 8"/>
          <p:cNvSpPr/>
          <p:nvPr/>
        </p:nvSpPr>
        <p:spPr>
          <a:xfrm>
            <a:off x="6334539" y="3088199"/>
            <a:ext cx="4028662" cy="2358444"/>
          </a:xfrm>
          <a:prstGeom prst="rect">
            <a:avLst/>
          </a:prstGeom>
          <a:solidFill>
            <a:schemeClr val="bg1">
              <a:lumMod val="9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10" name="矩形 9"/>
          <p:cNvSpPr/>
          <p:nvPr/>
        </p:nvSpPr>
        <p:spPr>
          <a:xfrm>
            <a:off x="6429544" y="4246844"/>
            <a:ext cx="3748127" cy="338554"/>
          </a:xfrm>
          <a:prstGeom prst="rect">
            <a:avLst/>
          </a:prstGeom>
        </p:spPr>
        <p:txBody>
          <a:bodyPr wrap="square">
            <a:spAutoFit/>
          </a:bodyPr>
          <a:lstStyle/>
          <a:p>
            <a:pPr fontAlgn="ctr"/>
            <a:r>
              <a:rPr lang="en-US" altLang="zh-CN" sz="1600" dirty="0">
                <a:latin typeface="Arial" panose="020B0604020202020204"/>
                <a:ea typeface="微软雅黑" panose="020B0503020204020204" charset="-122"/>
                <a:sym typeface="Arial" panose="020B0604020202020204"/>
              </a:rPr>
              <a:t>2</a:t>
            </a:r>
            <a:r>
              <a:rPr lang="zh-CN" altLang="en-US" sz="1600" dirty="0">
                <a:latin typeface="Arial" panose="020B0604020202020204"/>
                <a:ea typeface="微软雅黑" panose="020B0503020204020204" charset="-122"/>
                <a:sym typeface="Arial" panose="020B0604020202020204"/>
              </a:rPr>
              <a:t>、应收账款增加额抵减收入</a:t>
            </a:r>
            <a:r>
              <a:rPr lang="en-US" altLang="zh-CN" sz="1600" dirty="0">
                <a:latin typeface="Arial" panose="020B0604020202020204"/>
                <a:ea typeface="微软雅黑" panose="020B0503020204020204" charset="-122"/>
                <a:sym typeface="Arial" panose="020B0604020202020204"/>
              </a:rPr>
              <a:t>172</a:t>
            </a:r>
            <a:r>
              <a:rPr lang="zh-CN" altLang="en-US" sz="1600" dirty="0">
                <a:latin typeface="Arial" panose="020B0604020202020204"/>
                <a:ea typeface="微软雅黑" panose="020B0503020204020204" charset="-122"/>
                <a:sym typeface="Arial" panose="020B0604020202020204"/>
              </a:rPr>
              <a:t>万元</a:t>
            </a:r>
          </a:p>
        </p:txBody>
      </p:sp>
      <p:sp>
        <p:nvSpPr>
          <p:cNvPr id="11" name="矩形 10"/>
          <p:cNvSpPr/>
          <p:nvPr/>
        </p:nvSpPr>
        <p:spPr>
          <a:xfrm>
            <a:off x="6756917" y="4788887"/>
            <a:ext cx="2850909" cy="338554"/>
          </a:xfrm>
          <a:prstGeom prst="rect">
            <a:avLst/>
          </a:prstGeom>
        </p:spPr>
        <p:txBody>
          <a:bodyPr wrap="square">
            <a:spAutoFit/>
          </a:bodyPr>
          <a:lstStyle/>
          <a:p>
            <a:pPr fontAlgn="ctr"/>
            <a:r>
              <a:rPr lang="zh-CN" altLang="en-US" sz="1600" dirty="0">
                <a:latin typeface="Arial" panose="020B0604020202020204"/>
                <a:ea typeface="微软雅黑" panose="020B0503020204020204" charset="-122"/>
                <a:sym typeface="Arial" panose="020B0604020202020204"/>
              </a:rPr>
              <a:t>考核口径收入缺口</a:t>
            </a:r>
            <a:r>
              <a:rPr lang="en-US" altLang="zh-CN" sz="1600" dirty="0">
                <a:latin typeface="Arial" panose="020B0604020202020204"/>
                <a:ea typeface="微软雅黑" panose="020B0503020204020204" charset="-122"/>
                <a:sym typeface="Arial" panose="020B0604020202020204"/>
              </a:rPr>
              <a:t>740</a:t>
            </a:r>
            <a:r>
              <a:rPr lang="zh-CN" altLang="en-US" sz="1600" dirty="0">
                <a:latin typeface="Arial" panose="020B0604020202020204"/>
                <a:ea typeface="微软雅黑" panose="020B0503020204020204" charset="-122"/>
                <a:sym typeface="Arial" panose="020B0604020202020204"/>
              </a:rPr>
              <a:t>万元</a:t>
            </a:r>
          </a:p>
        </p:txBody>
      </p:sp>
      <p:sp>
        <p:nvSpPr>
          <p:cNvPr id="12" name="矩形 11"/>
          <p:cNvSpPr/>
          <p:nvPr/>
        </p:nvSpPr>
        <p:spPr>
          <a:xfrm>
            <a:off x="6334539" y="3088199"/>
            <a:ext cx="4028662" cy="517191"/>
          </a:xfrm>
          <a:prstGeom prst="rect">
            <a:avLst/>
          </a:prstGeom>
          <a:solidFill>
            <a:srgbClr val="C00000"/>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dirty="0">
                <a:solidFill>
                  <a:schemeClr val="bg1"/>
                </a:solidFill>
                <a:latin typeface="Arial" panose="020B0604020202020204"/>
                <a:ea typeface="微软雅黑" panose="020B0503020204020204" charset="-122"/>
                <a:sym typeface="Arial" panose="020B0604020202020204"/>
              </a:rPr>
              <a:t>考核口径收入缺口构成</a:t>
            </a:r>
          </a:p>
        </p:txBody>
      </p:sp>
      <p:sp>
        <p:nvSpPr>
          <p:cNvPr id="14" name="矩形 13"/>
          <p:cNvSpPr/>
          <p:nvPr/>
        </p:nvSpPr>
        <p:spPr>
          <a:xfrm>
            <a:off x="6438452" y="3768557"/>
            <a:ext cx="3328401" cy="338554"/>
          </a:xfrm>
          <a:prstGeom prst="rect">
            <a:avLst/>
          </a:prstGeom>
        </p:spPr>
        <p:txBody>
          <a:bodyPr wrap="square">
            <a:spAutoFit/>
          </a:bodyPr>
          <a:lstStyle/>
          <a:p>
            <a:pPr fontAlgn="ctr"/>
            <a:r>
              <a:rPr lang="en-US" altLang="zh-CN" sz="1600" dirty="0">
                <a:latin typeface="Arial" panose="020B0604020202020204"/>
                <a:ea typeface="微软雅黑" panose="020B0503020204020204" charset="-122"/>
                <a:sym typeface="Arial" panose="020B0604020202020204"/>
              </a:rPr>
              <a:t>1</a:t>
            </a:r>
            <a:r>
              <a:rPr lang="zh-CN" altLang="en-US" sz="1600" dirty="0">
                <a:latin typeface="Arial" panose="020B0604020202020204"/>
                <a:ea typeface="微软雅黑" panose="020B0503020204020204" charset="-122"/>
                <a:sym typeface="Arial" panose="020B0604020202020204"/>
              </a:rPr>
              <a:t>、预算口径收入缺口</a:t>
            </a:r>
            <a:r>
              <a:rPr lang="en-US" altLang="zh-CN" sz="1600" dirty="0">
                <a:latin typeface="Arial" panose="020B0604020202020204"/>
                <a:ea typeface="微软雅黑" panose="020B0503020204020204" charset="-122"/>
                <a:sym typeface="Arial" panose="020B0604020202020204"/>
              </a:rPr>
              <a:t>568</a:t>
            </a:r>
            <a:r>
              <a:rPr lang="zh-CN" altLang="en-US" sz="1600" dirty="0">
                <a:latin typeface="Arial" panose="020B0604020202020204"/>
                <a:ea typeface="微软雅黑" panose="020B0503020204020204" charset="-122"/>
                <a:sym typeface="Arial" panose="020B0604020202020204"/>
              </a:rPr>
              <a:t>万元</a:t>
            </a:r>
          </a:p>
        </p:txBody>
      </p:sp>
      <p:sp>
        <p:nvSpPr>
          <p:cNvPr id="16" name="TextBox 2"/>
          <p:cNvSpPr txBox="1"/>
          <p:nvPr/>
        </p:nvSpPr>
        <p:spPr bwMode="auto">
          <a:xfrm>
            <a:off x="1815548" y="5520275"/>
            <a:ext cx="8574155" cy="764402"/>
          </a:xfrm>
          <a:prstGeom prst="rect">
            <a:avLst/>
          </a:prstGeom>
          <a:noFill/>
          <a:ln>
            <a:noFill/>
          </a:ln>
        </p:spPr>
        <p:txBody>
          <a:bodyPr wrap="square" lIns="68543" tIns="34271" rIns="68543" bIns="34271">
            <a:spAutoFit/>
          </a:bodyPr>
          <a:lstStyle/>
          <a:p>
            <a:pPr>
              <a:lnSpc>
                <a:spcPct val="150000"/>
              </a:lnSpc>
              <a:buClr>
                <a:schemeClr val="accent1">
                  <a:lumMod val="75000"/>
                </a:schemeClr>
              </a:buClr>
              <a:defRPr/>
            </a:pPr>
            <a:r>
              <a:rPr lang="zh-CN" altLang="en-US" sz="1600" dirty="0">
                <a:latin typeface="Arial" panose="020B0604020202020204"/>
                <a:ea typeface="微软雅黑" panose="020B0503020204020204" charset="-122"/>
                <a:sym typeface="Arial" panose="020B0604020202020204"/>
              </a:rPr>
              <a:t>备注：</a:t>
            </a:r>
            <a:endParaRPr lang="en-US" altLang="zh-CN" sz="1600" dirty="0">
              <a:latin typeface="Arial" panose="020B0604020202020204"/>
              <a:ea typeface="微软雅黑" panose="020B0503020204020204" charset="-122"/>
              <a:sym typeface="Arial" panose="020B0604020202020204"/>
            </a:endParaRPr>
          </a:p>
          <a:p>
            <a:pPr>
              <a:lnSpc>
                <a:spcPct val="150000"/>
              </a:lnSpc>
              <a:buClr>
                <a:schemeClr val="accent1">
                  <a:lumMod val="75000"/>
                </a:schemeClr>
              </a:buClr>
              <a:defRPr/>
            </a:pPr>
            <a:r>
              <a:rPr lang="zh-CN" altLang="en-US" sz="1600" dirty="0">
                <a:latin typeface="Arial" panose="020B0604020202020204"/>
                <a:ea typeface="微软雅黑" panose="020B0503020204020204" charset="-122"/>
                <a:sym typeface="Arial" panose="020B0604020202020204"/>
              </a:rPr>
              <a:t>应收账款占收比基准值暂按省公司上年下达目标</a:t>
            </a:r>
            <a:r>
              <a:rPr lang="en-US" altLang="zh-CN" sz="1600" dirty="0">
                <a:latin typeface="Arial" panose="020B0604020202020204"/>
                <a:ea typeface="微软雅黑" panose="020B0503020204020204" charset="-122"/>
                <a:sym typeface="Arial" panose="020B0604020202020204"/>
              </a:rPr>
              <a:t>8.06%</a:t>
            </a:r>
            <a:r>
              <a:rPr lang="zh-CN" altLang="en-US" sz="1600" dirty="0">
                <a:latin typeface="Arial" panose="020B0604020202020204"/>
                <a:ea typeface="微软雅黑" panose="020B0503020204020204" charset="-122"/>
                <a:sym typeface="Arial" panose="020B0604020202020204"/>
              </a:rPr>
              <a:t>。</a:t>
            </a:r>
          </a:p>
        </p:txBody>
      </p:sp>
      <p:sp>
        <p:nvSpPr>
          <p:cNvPr id="17" name="矩形 16"/>
          <p:cNvSpPr/>
          <p:nvPr/>
        </p:nvSpPr>
        <p:spPr>
          <a:xfrm>
            <a:off x="340381" y="395116"/>
            <a:ext cx="3877985" cy="646331"/>
          </a:xfrm>
          <a:prstGeom prst="rect">
            <a:avLst/>
          </a:prstGeom>
        </p:spPr>
        <p:txBody>
          <a:bodyPr wrap="none">
            <a:spAutoFit/>
          </a:bodyPr>
          <a:lstStyle/>
          <a:p>
            <a:pP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主要指标考核情况</a:t>
            </a:r>
          </a:p>
        </p:txBody>
      </p:sp>
      <p:sp>
        <p:nvSpPr>
          <p:cNvPr id="19" name="矩形 18"/>
          <p:cNvSpPr/>
          <p:nvPr/>
        </p:nvSpPr>
        <p:spPr>
          <a:xfrm>
            <a:off x="1855305" y="1725572"/>
            <a:ext cx="3988905" cy="1364974"/>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20" name="矩形 19"/>
          <p:cNvSpPr/>
          <p:nvPr/>
        </p:nvSpPr>
        <p:spPr>
          <a:xfrm>
            <a:off x="6337853" y="1729408"/>
            <a:ext cx="4022035" cy="1364974"/>
          </a:xfrm>
          <a:prstGeom prst="rect">
            <a:avLst/>
          </a:prstGeom>
          <a:blipFill dpi="0" rotWithShape="1">
            <a:blip r:embed="rId4" cstate="print">
              <a:grayscl/>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a:ext>
              </a:extLst>
            </a:blip>
            <a:srcRect/>
            <a:stretch>
              <a:fillRect/>
            </a:stretch>
          </a:blip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21" name="文本框 20"/>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1000"/>
                                        <p:tgtEl>
                                          <p:spTgt spid="14"/>
                                        </p:tgtEl>
                                      </p:cBhvr>
                                    </p:animEffect>
                                    <p:anim calcmode="lin" valueType="num">
                                      <p:cBhvr>
                                        <p:cTn id="60" dur="1000" fill="hold"/>
                                        <p:tgtEl>
                                          <p:spTgt spid="14"/>
                                        </p:tgtEl>
                                        <p:attrNameLst>
                                          <p:attrName>ppt_x</p:attrName>
                                        </p:attrNameLst>
                                      </p:cBhvr>
                                      <p:tavLst>
                                        <p:tav tm="0">
                                          <p:val>
                                            <p:strVal val="#ppt_x"/>
                                          </p:val>
                                        </p:tav>
                                        <p:tav tm="100000">
                                          <p:val>
                                            <p:strVal val="#ppt_x"/>
                                          </p:val>
                                        </p:tav>
                                      </p:tavLst>
                                    </p:anim>
                                    <p:anim calcmode="lin" valueType="num">
                                      <p:cBhvr>
                                        <p:cTn id="61" dur="100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1000"/>
                                        <p:tgtEl>
                                          <p:spTgt spid="20"/>
                                        </p:tgtEl>
                                      </p:cBhvr>
                                    </p:animEffect>
                                    <p:anim calcmode="lin" valueType="num">
                                      <p:cBhvr>
                                        <p:cTn id="65" dur="1000" fill="hold"/>
                                        <p:tgtEl>
                                          <p:spTgt spid="20"/>
                                        </p:tgtEl>
                                        <p:attrNameLst>
                                          <p:attrName>ppt_x</p:attrName>
                                        </p:attrNameLst>
                                      </p:cBhvr>
                                      <p:tavLst>
                                        <p:tav tm="0">
                                          <p:val>
                                            <p:strVal val="#ppt_x"/>
                                          </p:val>
                                        </p:tav>
                                        <p:tav tm="100000">
                                          <p:val>
                                            <p:strVal val="#ppt_x"/>
                                          </p:val>
                                        </p:tav>
                                      </p:tavLst>
                                    </p:anim>
                                    <p:anim calcmode="lin" valueType="num">
                                      <p:cBhvr>
                                        <p:cTn id="6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xit" presetSubtype="0" fill="hold" grpId="0" nodeType="clickEffect">
                                  <p:stCondLst>
                                    <p:cond delay="1500"/>
                                  </p:stCondLst>
                                  <p:childTnLst>
                                    <p:animEffect transition="out" filter="fade">
                                      <p:cBhvr>
                                        <p:cTn id="75" dur="500"/>
                                        <p:tgtEl>
                                          <p:spTgt spid="21"/>
                                        </p:tgtEl>
                                      </p:cBhvr>
                                    </p:animEffect>
                                    <p:set>
                                      <p:cBhvr>
                                        <p:cTn id="76"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6" grpId="0" animBg="1"/>
      <p:bldP spid="8" grpId="0"/>
      <p:bldP spid="9" grpId="0" animBg="1"/>
      <p:bldP spid="10" grpId="0"/>
      <p:bldP spid="11" grpId="0"/>
      <p:bldP spid="12" grpId="0" animBg="1"/>
      <p:bldP spid="14" grpId="0"/>
      <p:bldP spid="16" grpId="0"/>
      <p:bldP spid="19" grpId="0" animBg="1"/>
      <p:bldP spid="20" grpId="0" animBg="1"/>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2954655" cy="646331"/>
          </a:xfrm>
          <a:prstGeom prst="rect">
            <a:avLst/>
          </a:prstGeom>
        </p:spPr>
        <p:txBody>
          <a:bodyPr wrap="none">
            <a:spAutoFit/>
          </a:bodyPr>
          <a:lstStyle/>
          <a:p>
            <a:pPr algn="ctr"/>
            <a:r>
              <a:rPr lang="zh-CN" altLang="en-US" sz="3600" b="1" dirty="0">
                <a:latin typeface="Arial" panose="020B0604020202020204"/>
                <a:ea typeface="微软雅黑" panose="020B0503020204020204" charset="-122"/>
                <a:sym typeface="Arial" panose="020B0604020202020204"/>
              </a:rPr>
              <a:t>销售费用情况</a:t>
            </a:r>
          </a:p>
        </p:txBody>
      </p:sp>
      <p:graphicFrame>
        <p:nvGraphicFramePr>
          <p:cNvPr id="23" name="表格 22"/>
          <p:cNvGraphicFramePr>
            <a:graphicFrameLocks noGrp="1"/>
          </p:cNvGraphicFramePr>
          <p:nvPr/>
        </p:nvGraphicFramePr>
        <p:xfrm>
          <a:off x="821633" y="1442522"/>
          <a:ext cx="10548731" cy="4852265"/>
        </p:xfrm>
        <a:graphic>
          <a:graphicData uri="http://schemas.openxmlformats.org/drawingml/2006/table">
            <a:tbl>
              <a:tblPr>
                <a:tableStyleId>{21E4AEA4-8DFA-4A89-87EB-49C32662AFE0}</a:tableStyleId>
              </a:tblPr>
              <a:tblGrid>
                <a:gridCol w="2420983"/>
                <a:gridCol w="1481218"/>
                <a:gridCol w="884821"/>
                <a:gridCol w="981600"/>
                <a:gridCol w="777675"/>
                <a:gridCol w="684354"/>
                <a:gridCol w="788043"/>
                <a:gridCol w="746569"/>
                <a:gridCol w="850259"/>
                <a:gridCol w="933209"/>
              </a:tblGrid>
              <a:tr h="313217">
                <a:tc row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项目</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成本预算分配额度</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本年累计</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占比</a:t>
                      </a:r>
                      <a:r>
                        <a:rPr lang="en-US" altLang="zh-CN" sz="1400" b="1" u="none" strike="noStrike" dirty="0">
                          <a:solidFill>
                            <a:schemeClr val="bg1"/>
                          </a:solidFill>
                          <a:latin typeface="Arial" panose="020B0604020202020204"/>
                          <a:ea typeface="微软雅黑" panose="020B0503020204020204" charset="-122"/>
                          <a:sym typeface="Arial" panose="020B0604020202020204"/>
                        </a:rPr>
                        <a:t>%</a:t>
                      </a:r>
                      <a:endParaRPr lang="en-US" altLang="zh-CN"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预算</a:t>
                      </a:r>
                      <a:br>
                        <a:rPr lang="zh-CN" altLang="en-US" sz="1400" b="1" u="none" strike="noStrike" dirty="0">
                          <a:solidFill>
                            <a:schemeClr val="bg1"/>
                          </a:solidFill>
                          <a:latin typeface="Arial" panose="020B0604020202020204"/>
                          <a:ea typeface="微软雅黑" panose="020B0503020204020204" charset="-122"/>
                          <a:sym typeface="Arial" panose="020B0604020202020204"/>
                        </a:rPr>
                      </a:br>
                      <a:r>
                        <a:rPr lang="zh-CN" altLang="en-US" sz="1400" b="1" u="none" strike="noStrike" dirty="0">
                          <a:solidFill>
                            <a:schemeClr val="bg1"/>
                          </a:solidFill>
                          <a:latin typeface="Arial" panose="020B0604020202020204"/>
                          <a:ea typeface="微软雅黑" panose="020B0503020204020204" charset="-122"/>
                          <a:sym typeface="Arial" panose="020B0604020202020204"/>
                        </a:rPr>
                        <a:t>进度</a:t>
                      </a:r>
                      <a:r>
                        <a:rPr lang="en-US" altLang="zh-CN" sz="1400" b="1" u="none" strike="noStrike" dirty="0">
                          <a:solidFill>
                            <a:schemeClr val="bg1"/>
                          </a:solidFill>
                          <a:latin typeface="Arial" panose="020B0604020202020204"/>
                          <a:ea typeface="微软雅黑" panose="020B0503020204020204" charset="-122"/>
                          <a:sym typeface="Arial" panose="020B0604020202020204"/>
                        </a:rPr>
                        <a:t>%</a:t>
                      </a:r>
                      <a:endParaRPr lang="en-US" altLang="zh-CN"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与预算目标值比</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c row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上年同期</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与上年同期比</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r>
              <a:tr h="313217">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增幅</a:t>
                      </a:r>
                      <a:r>
                        <a:rPr lang="en-US" altLang="zh-CN" sz="1400" b="1" u="none" strike="noStrike" dirty="0">
                          <a:solidFill>
                            <a:schemeClr val="bg1"/>
                          </a:solidFill>
                          <a:latin typeface="Arial" panose="020B0604020202020204"/>
                          <a:ea typeface="微软雅黑" panose="020B0503020204020204" charset="-122"/>
                          <a:sym typeface="Arial" panose="020B0604020202020204"/>
                        </a:rPr>
                        <a:t>%</a:t>
                      </a:r>
                      <a:endParaRPr lang="en-US" altLang="zh-CN"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金额</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vMerge="1">
                  <a:txBody>
                    <a:bodyPr/>
                    <a:lstStyle/>
                    <a:p>
                      <a:endParaRPr lang="zh-CN"/>
                    </a:p>
                  </a:txBody>
                  <a:tcPr/>
                </a:tc>
                <a:tc>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增幅</a:t>
                      </a:r>
                      <a:r>
                        <a:rPr lang="en-US" altLang="zh-CN" sz="1400" b="1" u="none" strike="noStrike" dirty="0">
                          <a:solidFill>
                            <a:schemeClr val="bg1"/>
                          </a:solidFill>
                          <a:latin typeface="Arial" panose="020B0604020202020204"/>
                          <a:ea typeface="微软雅黑" panose="020B0503020204020204" charset="-122"/>
                          <a:sym typeface="Arial" panose="020B0604020202020204"/>
                        </a:rPr>
                        <a:t>%</a:t>
                      </a:r>
                      <a:endParaRPr lang="en-US" altLang="zh-CN"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金额</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477280">
                <a:tc>
                  <a:txBody>
                    <a:bodyPr/>
                    <a:lstStyle/>
                    <a:p>
                      <a:pPr marL="71755" algn="l" fontAlgn="ctr"/>
                      <a:r>
                        <a:rPr lang="zh-CN" altLang="en-US" sz="1400" u="none" strike="noStrike" dirty="0">
                          <a:latin typeface="Arial" panose="020B0604020202020204"/>
                          <a:ea typeface="微软雅黑" panose="020B0503020204020204" charset="-122"/>
                          <a:sym typeface="Arial" panose="020B0604020202020204"/>
                        </a:rPr>
                        <a:t>一、销售费用（含坏账、积分兑换）</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10,422.0</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3,082.66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100.00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29.58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-3.75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-391.34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4,757.44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-35.20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-1,674.78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3217">
                <a:tc>
                  <a:txBody>
                    <a:bodyPr/>
                    <a:lstStyle/>
                    <a:p>
                      <a:pPr marL="71755" algn="l" fontAlgn="ctr"/>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、宣传及客户服务费</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305.0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99.96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3.24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32.77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-0.56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-1.71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358.42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-72.11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-258.46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464799">
                <a:tc>
                  <a:txBody>
                    <a:bodyPr/>
                    <a:lstStyle/>
                    <a:p>
                      <a:pPr marL="71755" algn="l" fontAlgn="ctr"/>
                      <a:r>
                        <a:rPr lang="zh-CN" altLang="en-US" sz="1400" u="none" strike="noStrike" dirty="0">
                          <a:latin typeface="Arial" panose="020B0604020202020204"/>
                          <a:ea typeface="微软雅黑" panose="020B0503020204020204" charset="-122"/>
                          <a:sym typeface="Arial" panose="020B0604020202020204"/>
                        </a:rPr>
                        <a:t>其中：客户服务费（不含终端）</a:t>
                      </a:r>
                      <a:endParaRPr lang="zh-CN" altLang="en-US" sz="1400" b="0" i="0" u="none" strike="noStrike" dirty="0">
                        <a:latin typeface="Arial" panose="020B0604020202020204"/>
                        <a:ea typeface="微软雅黑" panose="020B0503020204020204" charset="-122"/>
                        <a:sym typeface="Arial" panose="020B0604020202020204"/>
                      </a:endParaRPr>
                    </a:p>
                  </a:txBody>
                  <a:tcPr marL="11430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196.0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51.64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1.68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26.35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-6.98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-13.69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99.24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-47.96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-47.59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313217">
                <a:tc>
                  <a:txBody>
                    <a:bodyPr/>
                    <a:lstStyle/>
                    <a:p>
                      <a:pPr marL="71755" algn="l" fontAlgn="ctr"/>
                      <a:r>
                        <a:rPr lang="en-US" altLang="zh-CN" sz="1400" u="none" strike="noStrike" dirty="0">
                          <a:latin typeface="Arial" panose="020B0604020202020204"/>
                          <a:ea typeface="微软雅黑" panose="020B0503020204020204" charset="-122"/>
                          <a:sym typeface="Arial" panose="020B0604020202020204"/>
                        </a:rPr>
                        <a:t>2</a:t>
                      </a:r>
                      <a:r>
                        <a:rPr lang="zh-CN" altLang="en-US" sz="1400" u="none" strike="noStrike" dirty="0">
                          <a:latin typeface="Arial" panose="020B0604020202020204"/>
                          <a:ea typeface="微软雅黑" panose="020B0503020204020204" charset="-122"/>
                          <a:sym typeface="Arial" panose="020B0604020202020204"/>
                        </a:rPr>
                        <a:t>、展览广告费</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110</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6.75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0.22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6.14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-27.19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-29.91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129.74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-94.79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-122.99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3217">
                <a:tc>
                  <a:txBody>
                    <a:bodyPr/>
                    <a:lstStyle/>
                    <a:p>
                      <a:pPr marL="71755" algn="l" fontAlgn="ctr"/>
                      <a:r>
                        <a:rPr lang="en-US" altLang="zh-CN" sz="1400" u="none" strike="noStrike" dirty="0">
                          <a:latin typeface="Arial" panose="020B0604020202020204"/>
                          <a:ea typeface="微软雅黑" panose="020B0503020204020204" charset="-122"/>
                          <a:sym typeface="Arial" panose="020B0604020202020204"/>
                        </a:rPr>
                        <a:t>3</a:t>
                      </a:r>
                      <a:r>
                        <a:rPr lang="zh-CN" altLang="en-US" sz="1400" u="none" strike="noStrike" dirty="0">
                          <a:latin typeface="Arial" panose="020B0604020202020204"/>
                          <a:ea typeface="微软雅黑" panose="020B0503020204020204" charset="-122"/>
                          <a:sym typeface="Arial" panose="020B0604020202020204"/>
                        </a:rPr>
                        <a:t>、代办费</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6,822</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2,180.01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70.72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31.96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-1.38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-93.99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2,480.84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-12.13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-300.83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313217">
                <a:tc>
                  <a:txBody>
                    <a:bodyPr/>
                    <a:lstStyle/>
                    <a:p>
                      <a:pPr marL="71755" algn="l" fontAlgn="ctr"/>
                      <a:r>
                        <a:rPr lang="zh-CN" altLang="en-US" sz="1400" u="none" strike="noStrike" dirty="0">
                          <a:latin typeface="Arial" panose="020B0604020202020204"/>
                          <a:ea typeface="微软雅黑" panose="020B0503020204020204" charset="-122"/>
                          <a:sym typeface="Arial" panose="020B0604020202020204"/>
                        </a:rPr>
                        <a:t>其中：实业代办费</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2,560</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780.53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25.32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30.49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-2.84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-72.80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796.75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-2.04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-16.22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464799">
                <a:tc>
                  <a:txBody>
                    <a:bodyPr/>
                    <a:lstStyle/>
                    <a:p>
                      <a:pPr marL="71755" algn="l" fontAlgn="ctr"/>
                      <a:r>
                        <a:rPr lang="zh-CN" altLang="en-US" sz="1400" u="none" strike="noStrike" dirty="0">
                          <a:latin typeface="Arial" panose="020B0604020202020204"/>
                          <a:ea typeface="微软雅黑" panose="020B0503020204020204" charset="-122"/>
                          <a:sym typeface="Arial" panose="020B0604020202020204"/>
                        </a:rPr>
                        <a:t>其中：社会代办费（含渠道补贴）</a:t>
                      </a:r>
                      <a:endParaRPr lang="zh-CN" altLang="en-US" sz="1400" b="0" i="0" u="none" strike="noStrike" dirty="0">
                        <a:latin typeface="Arial" panose="020B0604020202020204"/>
                        <a:ea typeface="微软雅黑" panose="020B0503020204020204" charset="-122"/>
                        <a:sym typeface="Arial" panose="020B0604020202020204"/>
                      </a:endParaRPr>
                    </a:p>
                  </a:txBody>
                  <a:tcPr marL="11430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4,262</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1,399.48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45.40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32.84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-0.50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-21.19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1,684.09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-16.90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-284.61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313217">
                <a:tc>
                  <a:txBody>
                    <a:bodyPr/>
                    <a:lstStyle/>
                    <a:p>
                      <a:pPr marL="71755" algn="l" fontAlgn="ctr"/>
                      <a:r>
                        <a:rPr lang="en-US" altLang="zh-CN" sz="1400" u="none" strike="noStrike" dirty="0">
                          <a:latin typeface="Arial" panose="020B0604020202020204"/>
                          <a:ea typeface="微软雅黑" panose="020B0503020204020204" charset="-122"/>
                          <a:sym typeface="Arial" panose="020B0604020202020204"/>
                        </a:rPr>
                        <a:t>4</a:t>
                      </a:r>
                      <a:r>
                        <a:rPr lang="zh-CN" altLang="en-US" sz="1400" u="none" strike="noStrike" dirty="0">
                          <a:latin typeface="Arial" panose="020B0604020202020204"/>
                          <a:ea typeface="微软雅黑" panose="020B0503020204020204" charset="-122"/>
                          <a:sym typeface="Arial" panose="020B0604020202020204"/>
                        </a:rPr>
                        <a:t>、终端促销费</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795.00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379.69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12.32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47.76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14.43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114.69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1,510.16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-74.86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-1,130.47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3217">
                <a:tc>
                  <a:txBody>
                    <a:bodyPr/>
                    <a:lstStyle/>
                    <a:p>
                      <a:pPr marL="71755" algn="l" fontAlgn="ctr"/>
                      <a:r>
                        <a:rPr lang="zh-CN" altLang="en-US" sz="1400" u="none" strike="noStrike" dirty="0">
                          <a:latin typeface="Arial" panose="020B0604020202020204"/>
                          <a:ea typeface="微软雅黑" panose="020B0503020204020204" charset="-122"/>
                          <a:sym typeface="Arial" panose="020B0604020202020204"/>
                        </a:rPr>
                        <a:t>（</a:t>
                      </a:r>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）手机终端费用</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735</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357.15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11.59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48.59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15.26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112.15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1,415.26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-74.76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-1,058.11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3217">
                <a:tc>
                  <a:txBody>
                    <a:bodyPr/>
                    <a:lstStyle/>
                    <a:p>
                      <a:pPr marL="71755" algn="l" fontAlgn="ctr"/>
                      <a:r>
                        <a:rPr lang="zh-CN" altLang="en-US" sz="1400" u="none" strike="noStrike" dirty="0">
                          <a:latin typeface="Arial" panose="020B0604020202020204"/>
                          <a:ea typeface="微软雅黑" panose="020B0503020204020204" charset="-122"/>
                          <a:sym typeface="Arial" panose="020B0604020202020204"/>
                        </a:rPr>
                        <a:t>（</a:t>
                      </a:r>
                      <a:r>
                        <a:rPr lang="en-US" altLang="zh-CN" sz="1400" u="none" strike="noStrike" dirty="0">
                          <a:latin typeface="Arial" panose="020B0604020202020204"/>
                          <a:ea typeface="微软雅黑" panose="020B0503020204020204" charset="-122"/>
                          <a:sym typeface="Arial" panose="020B0604020202020204"/>
                        </a:rPr>
                        <a:t>2</a:t>
                      </a:r>
                      <a:r>
                        <a:rPr lang="zh-CN" altLang="en-US" sz="1400" u="none" strike="noStrike" dirty="0">
                          <a:latin typeface="Arial" panose="020B0604020202020204"/>
                          <a:ea typeface="微软雅黑" panose="020B0503020204020204" charset="-122"/>
                          <a:sym typeface="Arial" panose="020B0604020202020204"/>
                        </a:rPr>
                        <a:t>）其他终端费用</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60.00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22.55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0.73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37.58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4.24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2.55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94.90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-76.24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-72.36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3217">
                <a:tc>
                  <a:txBody>
                    <a:bodyPr/>
                    <a:lstStyle/>
                    <a:p>
                      <a:pPr marL="71755" algn="l" fontAlgn="ctr"/>
                      <a:r>
                        <a:rPr lang="en-US" altLang="zh-CN" sz="1400" u="none" strike="noStrike" dirty="0">
                          <a:latin typeface="Arial" panose="020B0604020202020204"/>
                          <a:ea typeface="微软雅黑" panose="020B0503020204020204" charset="-122"/>
                          <a:sym typeface="Arial" panose="020B0604020202020204"/>
                        </a:rPr>
                        <a:t>5</a:t>
                      </a:r>
                      <a:r>
                        <a:rPr lang="zh-CN" altLang="en-US" sz="1400" u="none" strike="noStrike" dirty="0">
                          <a:latin typeface="Arial" panose="020B0604020202020204"/>
                          <a:ea typeface="微软雅黑" panose="020B0503020204020204" charset="-122"/>
                          <a:sym typeface="Arial" panose="020B0604020202020204"/>
                        </a:rPr>
                        <a:t>、坏账准备</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1,300</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384.65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12.48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29.59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-3.74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-48.68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349.94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9.92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34.71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313217">
                <a:tc>
                  <a:txBody>
                    <a:bodyPr/>
                    <a:lstStyle/>
                    <a:p>
                      <a:pPr marL="71755" algn="l" fontAlgn="ctr"/>
                      <a:r>
                        <a:rPr lang="en-US" altLang="zh-CN" sz="1400" u="none" strike="noStrike" dirty="0">
                          <a:latin typeface="Arial" panose="020B0604020202020204"/>
                          <a:ea typeface="微软雅黑" panose="020B0503020204020204" charset="-122"/>
                          <a:sym typeface="Arial" panose="020B0604020202020204"/>
                        </a:rPr>
                        <a:t>6</a:t>
                      </a:r>
                      <a:r>
                        <a:rPr lang="zh-CN" altLang="en-US" sz="1400" u="none" strike="noStrike" dirty="0">
                          <a:latin typeface="Arial" panose="020B0604020202020204"/>
                          <a:ea typeface="微软雅黑" panose="020B0503020204020204" charset="-122"/>
                          <a:sym typeface="Arial" panose="020B0604020202020204"/>
                        </a:rPr>
                        <a:t>、积分兑换支出</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60</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14.88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0.48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24.80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-8.53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-5.12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58.07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-74.37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-43.19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bl>
          </a:graphicData>
        </a:graphic>
      </p:graphicFrame>
      <p:sp>
        <p:nvSpPr>
          <p:cNvPr id="24" name="Text Box 14" descr="蓝色砂纸"/>
          <p:cNvSpPr txBox="1">
            <a:spLocks noChangeArrowheads="1"/>
          </p:cNvSpPr>
          <p:nvPr/>
        </p:nvSpPr>
        <p:spPr bwMode="auto">
          <a:xfrm>
            <a:off x="10256257" y="1094215"/>
            <a:ext cx="1139573" cy="276948"/>
          </a:xfrm>
          <a:prstGeom prst="rect">
            <a:avLst/>
          </a:prstGeom>
          <a:noFill/>
          <a:ln w="9525" algn="ctr">
            <a:noFill/>
            <a:miter lim="800000"/>
          </a:ln>
        </p:spPr>
        <p:txBody>
          <a:bodyPr wrap="square" lIns="91391" tIns="45695" rIns="91391" bIns="45695">
            <a:spAutoFit/>
          </a:bodyPr>
          <a:lstStyle/>
          <a:p>
            <a:pPr algn="r">
              <a:spcBef>
                <a:spcPct val="50000"/>
              </a:spcBef>
            </a:pPr>
            <a:r>
              <a:rPr lang="zh-CN" altLang="en-US" sz="1200" dirty="0">
                <a:latin typeface="Arial" panose="020B0604020202020204"/>
                <a:ea typeface="微软雅黑" panose="020B0503020204020204" charset="-122"/>
                <a:sym typeface="Arial" panose="020B0604020202020204"/>
              </a:rPr>
              <a:t>单位：万元</a:t>
            </a:r>
          </a:p>
        </p:txBody>
      </p:sp>
      <p:sp>
        <p:nvSpPr>
          <p:cNvPr id="25" name="文本框 24"/>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up)">
                                      <p:cBhvr>
                                        <p:cTn id="7" dur="500"/>
                                        <p:tgtEl>
                                          <p:spTgt spid="2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up)">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1500"/>
                                  </p:stCondLst>
                                  <p:childTnLst>
                                    <p:animEffect transition="out" filter="fade">
                                      <p:cBhvr>
                                        <p:cTn id="14" dur="500"/>
                                        <p:tgtEl>
                                          <p:spTgt spid="25"/>
                                        </p:tgtEl>
                                      </p:cBhvr>
                                    </p:animEffect>
                                    <p:set>
                                      <p:cBhvr>
                                        <p:cTn id="15"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0" y="1590260"/>
            <a:ext cx="5446642" cy="4306957"/>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noFill/>
          </a:ln>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2" name="矩形 1"/>
          <p:cNvSpPr/>
          <p:nvPr/>
        </p:nvSpPr>
        <p:spPr>
          <a:xfrm>
            <a:off x="340381" y="395116"/>
            <a:ext cx="2954655" cy="646331"/>
          </a:xfrm>
          <a:prstGeom prst="rect">
            <a:avLst/>
          </a:prstGeom>
        </p:spPr>
        <p:txBody>
          <a:bodyPr wrap="none">
            <a:spAutoFit/>
          </a:bodyPr>
          <a:lstStyle/>
          <a:p>
            <a:pP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添加目录标题</a:t>
            </a:r>
          </a:p>
        </p:txBody>
      </p:sp>
      <p:sp>
        <p:nvSpPr>
          <p:cNvPr id="3" name="KSO_Shape"/>
          <p:cNvSpPr/>
          <p:nvPr/>
        </p:nvSpPr>
        <p:spPr bwMode="auto">
          <a:xfrm>
            <a:off x="1644098" y="2121452"/>
            <a:ext cx="4451902" cy="3086652"/>
          </a:xfrm>
          <a:custGeom>
            <a:avLst/>
            <a:gdLst>
              <a:gd name="T0" fmla="*/ 381408390 w 6190"/>
              <a:gd name="T1" fmla="*/ 48095465 h 4291"/>
              <a:gd name="T2" fmla="*/ 398361967 w 6190"/>
              <a:gd name="T3" fmla="*/ 65137202 h 4291"/>
              <a:gd name="T4" fmla="*/ 398361967 w 6190"/>
              <a:gd name="T5" fmla="*/ 340645740 h 4291"/>
              <a:gd name="T6" fmla="*/ 243222337 w 6190"/>
              <a:gd name="T7" fmla="*/ 340645740 h 4291"/>
              <a:gd name="T8" fmla="*/ 243222337 w 6190"/>
              <a:gd name="T9" fmla="*/ 352290696 h 4291"/>
              <a:gd name="T10" fmla="*/ 255534977 w 6190"/>
              <a:gd name="T11" fmla="*/ 354089520 h 4291"/>
              <a:gd name="T12" fmla="*/ 267942405 w 6190"/>
              <a:gd name="T13" fmla="*/ 356456556 h 4291"/>
              <a:gd name="T14" fmla="*/ 280444621 w 6190"/>
              <a:gd name="T15" fmla="*/ 359202195 h 4291"/>
              <a:gd name="T16" fmla="*/ 292852049 w 6190"/>
              <a:gd name="T17" fmla="*/ 362515737 h 4291"/>
              <a:gd name="T18" fmla="*/ 305259477 w 6190"/>
              <a:gd name="T19" fmla="*/ 366208191 h 4291"/>
              <a:gd name="T20" fmla="*/ 317666598 w 6190"/>
              <a:gd name="T21" fmla="*/ 370563353 h 4291"/>
              <a:gd name="T22" fmla="*/ 330074026 w 6190"/>
              <a:gd name="T23" fmla="*/ 375391922 h 4291"/>
              <a:gd name="T24" fmla="*/ 342481454 w 6190"/>
              <a:gd name="T25" fmla="*/ 380693590 h 4291"/>
              <a:gd name="T26" fmla="*/ 342481454 w 6190"/>
              <a:gd name="T27" fmla="*/ 406256349 h 4291"/>
              <a:gd name="T28" fmla="*/ 59858547 w 6190"/>
              <a:gd name="T29" fmla="*/ 406256349 h 4291"/>
              <a:gd name="T30" fmla="*/ 59858547 w 6190"/>
              <a:gd name="T31" fmla="*/ 380693590 h 4291"/>
              <a:gd name="T32" fmla="*/ 65920078 w 6190"/>
              <a:gd name="T33" fmla="*/ 378232057 h 4291"/>
              <a:gd name="T34" fmla="*/ 77853872 w 6190"/>
              <a:gd name="T35" fmla="*/ 373593097 h 4291"/>
              <a:gd name="T36" fmla="*/ 89882455 w 6190"/>
              <a:gd name="T37" fmla="*/ 369332432 h 4291"/>
              <a:gd name="T38" fmla="*/ 101816249 w 6190"/>
              <a:gd name="T39" fmla="*/ 365545482 h 4291"/>
              <a:gd name="T40" fmla="*/ 113939620 w 6190"/>
              <a:gd name="T41" fmla="*/ 362137135 h 4291"/>
              <a:gd name="T42" fmla="*/ 125967894 w 6190"/>
              <a:gd name="T43" fmla="*/ 359107390 h 4291"/>
              <a:gd name="T44" fmla="*/ 137901688 w 6190"/>
              <a:gd name="T45" fmla="*/ 356456556 h 4291"/>
              <a:gd name="T46" fmla="*/ 150025059 w 6190"/>
              <a:gd name="T47" fmla="*/ 354373626 h 4291"/>
              <a:gd name="T48" fmla="*/ 155992110 w 6190"/>
              <a:gd name="T49" fmla="*/ 340645740 h 4291"/>
              <a:gd name="T50" fmla="*/ 0 w 6190"/>
              <a:gd name="T51" fmla="*/ 340645740 h 4291"/>
              <a:gd name="T52" fmla="*/ 0 w 6190"/>
              <a:gd name="T53" fmla="*/ 65137202 h 4291"/>
              <a:gd name="T54" fmla="*/ 16953577 w 6190"/>
              <a:gd name="T55" fmla="*/ 48095465 h 4291"/>
              <a:gd name="T56" fmla="*/ 420335326 w 6190"/>
              <a:gd name="T57" fmla="*/ 406256349 h 4291"/>
              <a:gd name="T58" fmla="*/ 586272213 w 6190"/>
              <a:gd name="T59" fmla="*/ 0 h 4291"/>
              <a:gd name="T60" fmla="*/ 420335326 w 6190"/>
              <a:gd name="T61" fmla="*/ 406256349 h 4291"/>
              <a:gd name="T62" fmla="*/ 441266937 w 6190"/>
              <a:gd name="T63" fmla="*/ 35408890 h 4291"/>
              <a:gd name="T64" fmla="*/ 568276888 w 6190"/>
              <a:gd name="T65" fmla="*/ 74889145 h 4291"/>
              <a:gd name="T66" fmla="*/ 441266937 w 6190"/>
              <a:gd name="T67" fmla="*/ 35408890 h 4291"/>
              <a:gd name="T68" fmla="*/ 441266937 w 6190"/>
              <a:gd name="T69" fmla="*/ 97043248 h 4291"/>
              <a:gd name="T70" fmla="*/ 568276888 w 6190"/>
              <a:gd name="T71" fmla="*/ 136712804 h 4291"/>
              <a:gd name="T72" fmla="*/ 441266937 w 6190"/>
              <a:gd name="T73" fmla="*/ 97043248 h 4291"/>
              <a:gd name="T74" fmla="*/ 440604034 w 6190"/>
              <a:gd name="T75" fmla="*/ 170228065 h 4291"/>
              <a:gd name="T76" fmla="*/ 483224639 w 6190"/>
              <a:gd name="T77" fmla="*/ 200808694 h 4291"/>
              <a:gd name="T78" fmla="*/ 440604034 w 6190"/>
              <a:gd name="T79" fmla="*/ 170228065 h 4291"/>
              <a:gd name="T80" fmla="*/ 440604034 w 6190"/>
              <a:gd name="T81" fmla="*/ 219365150 h 4291"/>
              <a:gd name="T82" fmla="*/ 483224639 w 6190"/>
              <a:gd name="T83" fmla="*/ 249945779 h 4291"/>
              <a:gd name="T84" fmla="*/ 440604034 w 6190"/>
              <a:gd name="T85" fmla="*/ 219365150 h 4291"/>
              <a:gd name="T86" fmla="*/ 364360025 w 6190"/>
              <a:gd name="T87" fmla="*/ 82179246 h 4291"/>
              <a:gd name="T88" fmla="*/ 34001942 w 6190"/>
              <a:gd name="T89" fmla="*/ 306562266 h 4291"/>
              <a:gd name="T90" fmla="*/ 364360025 w 6190"/>
              <a:gd name="T91" fmla="*/ 82179246 h 429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190" h="4291">
                <a:moveTo>
                  <a:pt x="179" y="508"/>
                </a:moveTo>
                <a:lnTo>
                  <a:pt x="4027" y="508"/>
                </a:lnTo>
                <a:lnTo>
                  <a:pt x="4206" y="508"/>
                </a:lnTo>
                <a:lnTo>
                  <a:pt x="4206" y="688"/>
                </a:lnTo>
                <a:lnTo>
                  <a:pt x="4206" y="3418"/>
                </a:lnTo>
                <a:lnTo>
                  <a:pt x="4206" y="3598"/>
                </a:lnTo>
                <a:lnTo>
                  <a:pt x="4027" y="3598"/>
                </a:lnTo>
                <a:lnTo>
                  <a:pt x="2568" y="3598"/>
                </a:lnTo>
                <a:lnTo>
                  <a:pt x="2568" y="3721"/>
                </a:lnTo>
                <a:lnTo>
                  <a:pt x="2634" y="3731"/>
                </a:lnTo>
                <a:lnTo>
                  <a:pt x="2698" y="3740"/>
                </a:lnTo>
                <a:lnTo>
                  <a:pt x="2764" y="3752"/>
                </a:lnTo>
                <a:lnTo>
                  <a:pt x="2829" y="3765"/>
                </a:lnTo>
                <a:lnTo>
                  <a:pt x="2895" y="3779"/>
                </a:lnTo>
                <a:lnTo>
                  <a:pt x="2961" y="3794"/>
                </a:lnTo>
                <a:lnTo>
                  <a:pt x="3026" y="3811"/>
                </a:lnTo>
                <a:lnTo>
                  <a:pt x="3092" y="3829"/>
                </a:lnTo>
                <a:lnTo>
                  <a:pt x="3157" y="3848"/>
                </a:lnTo>
                <a:lnTo>
                  <a:pt x="3223" y="3868"/>
                </a:lnTo>
                <a:lnTo>
                  <a:pt x="3288" y="3891"/>
                </a:lnTo>
                <a:lnTo>
                  <a:pt x="3354" y="3914"/>
                </a:lnTo>
                <a:lnTo>
                  <a:pt x="3419" y="3938"/>
                </a:lnTo>
                <a:lnTo>
                  <a:pt x="3485" y="3965"/>
                </a:lnTo>
                <a:lnTo>
                  <a:pt x="3550" y="3993"/>
                </a:lnTo>
                <a:lnTo>
                  <a:pt x="3616" y="4021"/>
                </a:lnTo>
                <a:lnTo>
                  <a:pt x="3616" y="4291"/>
                </a:lnTo>
                <a:lnTo>
                  <a:pt x="632" y="4291"/>
                </a:lnTo>
                <a:lnTo>
                  <a:pt x="632" y="4021"/>
                </a:lnTo>
                <a:lnTo>
                  <a:pt x="696" y="3995"/>
                </a:lnTo>
                <a:lnTo>
                  <a:pt x="758" y="3970"/>
                </a:lnTo>
                <a:lnTo>
                  <a:pt x="822" y="3946"/>
                </a:lnTo>
                <a:lnTo>
                  <a:pt x="885" y="3924"/>
                </a:lnTo>
                <a:lnTo>
                  <a:pt x="949" y="3901"/>
                </a:lnTo>
                <a:lnTo>
                  <a:pt x="1013" y="3881"/>
                </a:lnTo>
                <a:lnTo>
                  <a:pt x="1075" y="3861"/>
                </a:lnTo>
                <a:lnTo>
                  <a:pt x="1139" y="3843"/>
                </a:lnTo>
                <a:lnTo>
                  <a:pt x="1203" y="3825"/>
                </a:lnTo>
                <a:lnTo>
                  <a:pt x="1266" y="3809"/>
                </a:lnTo>
                <a:lnTo>
                  <a:pt x="1330" y="3793"/>
                </a:lnTo>
                <a:lnTo>
                  <a:pt x="1394" y="3779"/>
                </a:lnTo>
                <a:lnTo>
                  <a:pt x="1456" y="3765"/>
                </a:lnTo>
                <a:lnTo>
                  <a:pt x="1520" y="3753"/>
                </a:lnTo>
                <a:lnTo>
                  <a:pt x="1584" y="3743"/>
                </a:lnTo>
                <a:lnTo>
                  <a:pt x="1647" y="3733"/>
                </a:lnTo>
                <a:lnTo>
                  <a:pt x="1647" y="3598"/>
                </a:lnTo>
                <a:lnTo>
                  <a:pt x="179" y="3598"/>
                </a:lnTo>
                <a:lnTo>
                  <a:pt x="0" y="3598"/>
                </a:lnTo>
                <a:lnTo>
                  <a:pt x="0" y="3418"/>
                </a:lnTo>
                <a:lnTo>
                  <a:pt x="0" y="688"/>
                </a:lnTo>
                <a:lnTo>
                  <a:pt x="0" y="508"/>
                </a:lnTo>
                <a:lnTo>
                  <a:pt x="179" y="508"/>
                </a:lnTo>
                <a:close/>
                <a:moveTo>
                  <a:pt x="4438" y="4291"/>
                </a:moveTo>
                <a:lnTo>
                  <a:pt x="6190" y="4291"/>
                </a:lnTo>
                <a:lnTo>
                  <a:pt x="6190" y="0"/>
                </a:lnTo>
                <a:lnTo>
                  <a:pt x="4438" y="0"/>
                </a:lnTo>
                <a:lnTo>
                  <a:pt x="4438" y="4291"/>
                </a:lnTo>
                <a:close/>
                <a:moveTo>
                  <a:pt x="4659" y="374"/>
                </a:moveTo>
                <a:lnTo>
                  <a:pt x="6000" y="374"/>
                </a:lnTo>
                <a:lnTo>
                  <a:pt x="6000" y="791"/>
                </a:lnTo>
                <a:lnTo>
                  <a:pt x="4659" y="791"/>
                </a:lnTo>
                <a:lnTo>
                  <a:pt x="4659" y="374"/>
                </a:lnTo>
                <a:close/>
                <a:moveTo>
                  <a:pt x="4659" y="1025"/>
                </a:moveTo>
                <a:lnTo>
                  <a:pt x="6000" y="1025"/>
                </a:lnTo>
                <a:lnTo>
                  <a:pt x="6000" y="1444"/>
                </a:lnTo>
                <a:lnTo>
                  <a:pt x="4659" y="1444"/>
                </a:lnTo>
                <a:lnTo>
                  <a:pt x="4659" y="1025"/>
                </a:lnTo>
                <a:close/>
                <a:moveTo>
                  <a:pt x="4652" y="1798"/>
                </a:moveTo>
                <a:lnTo>
                  <a:pt x="5102" y="1798"/>
                </a:lnTo>
                <a:lnTo>
                  <a:pt x="5102" y="2121"/>
                </a:lnTo>
                <a:lnTo>
                  <a:pt x="4652" y="2121"/>
                </a:lnTo>
                <a:lnTo>
                  <a:pt x="4652" y="1798"/>
                </a:lnTo>
                <a:close/>
                <a:moveTo>
                  <a:pt x="4652" y="2317"/>
                </a:moveTo>
                <a:lnTo>
                  <a:pt x="5102" y="2317"/>
                </a:lnTo>
                <a:lnTo>
                  <a:pt x="5102" y="2640"/>
                </a:lnTo>
                <a:lnTo>
                  <a:pt x="4652" y="2640"/>
                </a:lnTo>
                <a:lnTo>
                  <a:pt x="4652" y="2317"/>
                </a:lnTo>
                <a:close/>
                <a:moveTo>
                  <a:pt x="3847" y="868"/>
                </a:moveTo>
                <a:lnTo>
                  <a:pt x="359" y="868"/>
                </a:lnTo>
                <a:lnTo>
                  <a:pt x="359" y="3238"/>
                </a:lnTo>
                <a:lnTo>
                  <a:pt x="3847" y="3238"/>
                </a:lnTo>
                <a:lnTo>
                  <a:pt x="3847" y="868"/>
                </a:lnTo>
                <a:close/>
              </a:path>
            </a:pathLst>
          </a:custGeom>
          <a:solidFill>
            <a:schemeClr val="tx1">
              <a:lumMod val="75000"/>
              <a:lumOff val="25000"/>
            </a:schemeClr>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latin typeface="Arial" panose="020B0604020202020204"/>
              <a:ea typeface="微软雅黑" panose="020B0503020204020204" charset="-122"/>
              <a:sym typeface="Arial" panose="020B0604020202020204"/>
            </a:endParaRPr>
          </a:p>
        </p:txBody>
      </p:sp>
      <p:sp>
        <p:nvSpPr>
          <p:cNvPr id="4" name="矩形 3"/>
          <p:cNvSpPr/>
          <p:nvPr/>
        </p:nvSpPr>
        <p:spPr>
          <a:xfrm>
            <a:off x="2008670" y="3308457"/>
            <a:ext cx="2339102" cy="523220"/>
          </a:xfrm>
          <a:prstGeom prst="rect">
            <a:avLst/>
          </a:prstGeom>
        </p:spPr>
        <p:txBody>
          <a:bodyPr wrap="none">
            <a:spAutoFit/>
          </a:bodyPr>
          <a:lstStyle/>
          <a:p>
            <a:pPr algn="ctr" fontAlgn="auto">
              <a:spcBef>
                <a:spcPts val="0"/>
              </a:spcBef>
              <a:spcAft>
                <a:spcPts val="0"/>
              </a:spcAft>
              <a:defRPr/>
            </a:pPr>
            <a:r>
              <a:rPr lang="zh-CN" altLang="en-US" sz="2800" b="1" dirty="0">
                <a:solidFill>
                  <a:srgbClr val="C00000"/>
                </a:solidFill>
                <a:latin typeface="Arial" panose="020B0604020202020204"/>
                <a:ea typeface="微软雅黑" panose="020B0503020204020204" charset="-122"/>
                <a:sym typeface="Arial" panose="020B0604020202020204"/>
              </a:rPr>
              <a:t>指标分解分析</a:t>
            </a:r>
          </a:p>
        </p:txBody>
      </p:sp>
      <p:grpSp>
        <p:nvGrpSpPr>
          <p:cNvPr id="7" name="组合 6"/>
          <p:cNvGrpSpPr/>
          <p:nvPr/>
        </p:nvGrpSpPr>
        <p:grpSpPr>
          <a:xfrm>
            <a:off x="6579704" y="1948070"/>
            <a:ext cx="768627" cy="755373"/>
            <a:chOff x="6586330" y="1948070"/>
            <a:chExt cx="768627" cy="755373"/>
          </a:xfrm>
        </p:grpSpPr>
        <p:sp>
          <p:nvSpPr>
            <p:cNvPr id="5" name="圆角矩形 4"/>
            <p:cNvSpPr/>
            <p:nvPr/>
          </p:nvSpPr>
          <p:spPr>
            <a:xfrm>
              <a:off x="6586330" y="1948070"/>
              <a:ext cx="768627" cy="75537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6" name="KSO_Shape"/>
            <p:cNvSpPr/>
            <p:nvPr/>
          </p:nvSpPr>
          <p:spPr>
            <a:xfrm>
              <a:off x="6817968" y="2158179"/>
              <a:ext cx="338207" cy="354763"/>
            </a:xfrm>
            <a:custGeom>
              <a:avLst/>
              <a:gdLst>
                <a:gd name="connsiteX0" fmla="*/ 0 w 2171135"/>
                <a:gd name="connsiteY0" fmla="*/ 0 h 2277283"/>
                <a:gd name="connsiteX1" fmla="*/ 504915 w 2171135"/>
                <a:gd name="connsiteY1" fmla="*/ 0 h 2277283"/>
                <a:gd name="connsiteX2" fmla="*/ 1060322 w 2171135"/>
                <a:gd name="connsiteY2" fmla="*/ 860307 h 2277283"/>
                <a:gd name="connsiteX3" fmla="*/ 1615729 w 2171135"/>
                <a:gd name="connsiteY3" fmla="*/ 0 h 2277283"/>
                <a:gd name="connsiteX4" fmla="*/ 2171135 w 2171135"/>
                <a:gd name="connsiteY4" fmla="*/ 0 h 2277283"/>
                <a:gd name="connsiteX5" fmla="*/ 1464254 w 2171135"/>
                <a:gd name="connsiteY5" fmla="*/ 1062732 h 2277283"/>
                <a:gd name="connsiteX6" fmla="*/ 2120644 w 2171135"/>
                <a:gd name="connsiteY6" fmla="*/ 1062732 h 2277283"/>
                <a:gd name="connsiteX7" fmla="*/ 2120644 w 2171135"/>
                <a:gd name="connsiteY7" fmla="*/ 1265157 h 2277283"/>
                <a:gd name="connsiteX8" fmla="*/ 1363271 w 2171135"/>
                <a:gd name="connsiteY8" fmla="*/ 1265157 h 2277283"/>
                <a:gd name="connsiteX9" fmla="*/ 1363271 w 2171135"/>
                <a:gd name="connsiteY9" fmla="*/ 1467583 h 2277283"/>
                <a:gd name="connsiteX10" fmla="*/ 2120644 w 2171135"/>
                <a:gd name="connsiteY10" fmla="*/ 1467583 h 2277283"/>
                <a:gd name="connsiteX11" fmla="*/ 2120644 w 2171135"/>
                <a:gd name="connsiteY11" fmla="*/ 1670008 h 2277283"/>
                <a:gd name="connsiteX12" fmla="*/ 1363271 w 2171135"/>
                <a:gd name="connsiteY12" fmla="*/ 1670008 h 2277283"/>
                <a:gd name="connsiteX13" fmla="*/ 1363271 w 2171135"/>
                <a:gd name="connsiteY13" fmla="*/ 2277283 h 2277283"/>
                <a:gd name="connsiteX14" fmla="*/ 807864 w 2171135"/>
                <a:gd name="connsiteY14" fmla="*/ 2277283 h 2277283"/>
                <a:gd name="connsiteX15" fmla="*/ 807864 w 2171135"/>
                <a:gd name="connsiteY15" fmla="*/ 1670008 h 2277283"/>
                <a:gd name="connsiteX16" fmla="*/ 151475 w 2171135"/>
                <a:gd name="connsiteY16" fmla="*/ 1670008 h 2277283"/>
                <a:gd name="connsiteX17" fmla="*/ 151475 w 2171135"/>
                <a:gd name="connsiteY17" fmla="*/ 1467583 h 2277283"/>
                <a:gd name="connsiteX18" fmla="*/ 807864 w 2171135"/>
                <a:gd name="connsiteY18" fmla="*/ 1467583 h 2277283"/>
                <a:gd name="connsiteX19" fmla="*/ 807864 w 2171135"/>
                <a:gd name="connsiteY19" fmla="*/ 1265157 h 2277283"/>
                <a:gd name="connsiteX20" fmla="*/ 151475 w 2171135"/>
                <a:gd name="connsiteY20" fmla="*/ 1265157 h 2277283"/>
                <a:gd name="connsiteX21" fmla="*/ 151475 w 2171135"/>
                <a:gd name="connsiteY21" fmla="*/ 1062732 h 2277283"/>
                <a:gd name="connsiteX22" fmla="*/ 706881 w 2171135"/>
                <a:gd name="connsiteY22" fmla="*/ 1062732 h 2277283"/>
                <a:gd name="connsiteX23" fmla="*/ 0 w 2171135"/>
                <a:gd name="connsiteY23" fmla="*/ 0 h 227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71135" h="2277283">
                  <a:moveTo>
                    <a:pt x="0" y="0"/>
                  </a:moveTo>
                  <a:cubicBezTo>
                    <a:pt x="504915" y="0"/>
                    <a:pt x="504915" y="0"/>
                    <a:pt x="504915" y="0"/>
                  </a:cubicBezTo>
                  <a:cubicBezTo>
                    <a:pt x="1060322" y="860307"/>
                    <a:pt x="1060322" y="860307"/>
                    <a:pt x="1060322" y="860307"/>
                  </a:cubicBezTo>
                  <a:cubicBezTo>
                    <a:pt x="1615729" y="0"/>
                    <a:pt x="1615729" y="0"/>
                    <a:pt x="1615729" y="0"/>
                  </a:cubicBezTo>
                  <a:cubicBezTo>
                    <a:pt x="2171135" y="0"/>
                    <a:pt x="2171135" y="0"/>
                    <a:pt x="2171135" y="0"/>
                  </a:cubicBezTo>
                  <a:cubicBezTo>
                    <a:pt x="1464254" y="1062732"/>
                    <a:pt x="1464254" y="1062732"/>
                    <a:pt x="1464254" y="1062732"/>
                  </a:cubicBezTo>
                  <a:cubicBezTo>
                    <a:pt x="2120644" y="1062732"/>
                    <a:pt x="2120644" y="1062732"/>
                    <a:pt x="2120644" y="1062732"/>
                  </a:cubicBezTo>
                  <a:cubicBezTo>
                    <a:pt x="2120644" y="1265157"/>
                    <a:pt x="2120644" y="1265157"/>
                    <a:pt x="2120644" y="1265157"/>
                  </a:cubicBezTo>
                  <a:cubicBezTo>
                    <a:pt x="1363271" y="1265157"/>
                    <a:pt x="1363271" y="1265157"/>
                    <a:pt x="1363271" y="1265157"/>
                  </a:cubicBezTo>
                  <a:cubicBezTo>
                    <a:pt x="1363271" y="1467583"/>
                    <a:pt x="1363271" y="1467583"/>
                    <a:pt x="1363271" y="1467583"/>
                  </a:cubicBezTo>
                  <a:cubicBezTo>
                    <a:pt x="2120644" y="1467583"/>
                    <a:pt x="2120644" y="1467583"/>
                    <a:pt x="2120644" y="1467583"/>
                  </a:cubicBezTo>
                  <a:cubicBezTo>
                    <a:pt x="2120644" y="1670008"/>
                    <a:pt x="2120644" y="1670008"/>
                    <a:pt x="2120644" y="1670008"/>
                  </a:cubicBezTo>
                  <a:cubicBezTo>
                    <a:pt x="1363271" y="1670008"/>
                    <a:pt x="1363271" y="1670008"/>
                    <a:pt x="1363271" y="1670008"/>
                  </a:cubicBezTo>
                  <a:cubicBezTo>
                    <a:pt x="1363271" y="2277283"/>
                    <a:pt x="1363271" y="2277283"/>
                    <a:pt x="1363271" y="2277283"/>
                  </a:cubicBezTo>
                  <a:cubicBezTo>
                    <a:pt x="807864" y="2277283"/>
                    <a:pt x="807864" y="2277283"/>
                    <a:pt x="807864" y="2277283"/>
                  </a:cubicBezTo>
                  <a:cubicBezTo>
                    <a:pt x="807864" y="1670008"/>
                    <a:pt x="807864" y="1670008"/>
                    <a:pt x="807864" y="1670008"/>
                  </a:cubicBezTo>
                  <a:cubicBezTo>
                    <a:pt x="151475" y="1670008"/>
                    <a:pt x="151475" y="1670008"/>
                    <a:pt x="151475" y="1670008"/>
                  </a:cubicBezTo>
                  <a:cubicBezTo>
                    <a:pt x="151475" y="1467583"/>
                    <a:pt x="151475" y="1467583"/>
                    <a:pt x="151475" y="1467583"/>
                  </a:cubicBezTo>
                  <a:cubicBezTo>
                    <a:pt x="807864" y="1467583"/>
                    <a:pt x="807864" y="1467583"/>
                    <a:pt x="807864" y="1467583"/>
                  </a:cubicBezTo>
                  <a:cubicBezTo>
                    <a:pt x="807864" y="1265157"/>
                    <a:pt x="807864" y="1265157"/>
                    <a:pt x="807864" y="1265157"/>
                  </a:cubicBezTo>
                  <a:cubicBezTo>
                    <a:pt x="151475" y="1265157"/>
                    <a:pt x="151475" y="1265157"/>
                    <a:pt x="151475" y="1265157"/>
                  </a:cubicBezTo>
                  <a:cubicBezTo>
                    <a:pt x="151475" y="1062732"/>
                    <a:pt x="151475" y="1062732"/>
                    <a:pt x="151475" y="1062732"/>
                  </a:cubicBezTo>
                  <a:cubicBezTo>
                    <a:pt x="706881" y="1062732"/>
                    <a:pt x="706881" y="1062732"/>
                    <a:pt x="706881" y="1062732"/>
                  </a:cubicBezTo>
                  <a:cubicBezTo>
                    <a:pt x="0" y="0"/>
                    <a:pt x="0" y="0"/>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latin typeface="Arial" panose="020B0604020202020204"/>
                <a:ea typeface="微软雅黑" panose="020B0503020204020204" charset="-122"/>
                <a:sym typeface="Arial" panose="020B0604020202020204"/>
              </a:endParaRPr>
            </a:p>
          </p:txBody>
        </p:sp>
      </p:grpSp>
      <p:sp>
        <p:nvSpPr>
          <p:cNvPr id="8" name="文本框 7"/>
          <p:cNvSpPr txBox="1"/>
          <p:nvPr/>
        </p:nvSpPr>
        <p:spPr>
          <a:xfrm>
            <a:off x="7467601" y="1948069"/>
            <a:ext cx="3445564" cy="738664"/>
          </a:xfrm>
          <a:prstGeom prst="rect">
            <a:avLst/>
          </a:prstGeom>
          <a:noFill/>
        </p:spPr>
        <p:txBody>
          <a:bodyPr wrap="square" rtlCol="0">
            <a:spAutoFit/>
          </a:bodyPr>
          <a:lstStyle/>
          <a:p>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grpSp>
        <p:nvGrpSpPr>
          <p:cNvPr id="9" name="组合 8"/>
          <p:cNvGrpSpPr/>
          <p:nvPr/>
        </p:nvGrpSpPr>
        <p:grpSpPr>
          <a:xfrm>
            <a:off x="6579704" y="2997201"/>
            <a:ext cx="768627" cy="755373"/>
            <a:chOff x="6586330" y="1948070"/>
            <a:chExt cx="768627" cy="755373"/>
          </a:xfrm>
        </p:grpSpPr>
        <p:sp>
          <p:nvSpPr>
            <p:cNvPr id="10" name="圆角矩形 9"/>
            <p:cNvSpPr/>
            <p:nvPr/>
          </p:nvSpPr>
          <p:spPr>
            <a:xfrm>
              <a:off x="6586330" y="1948070"/>
              <a:ext cx="768627" cy="75537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1" name="KSO_Shape"/>
            <p:cNvSpPr/>
            <p:nvPr/>
          </p:nvSpPr>
          <p:spPr>
            <a:xfrm>
              <a:off x="6817968" y="2158179"/>
              <a:ext cx="338207" cy="354763"/>
            </a:xfrm>
            <a:custGeom>
              <a:avLst/>
              <a:gdLst>
                <a:gd name="connsiteX0" fmla="*/ 0 w 2171135"/>
                <a:gd name="connsiteY0" fmla="*/ 0 h 2277283"/>
                <a:gd name="connsiteX1" fmla="*/ 504915 w 2171135"/>
                <a:gd name="connsiteY1" fmla="*/ 0 h 2277283"/>
                <a:gd name="connsiteX2" fmla="*/ 1060322 w 2171135"/>
                <a:gd name="connsiteY2" fmla="*/ 860307 h 2277283"/>
                <a:gd name="connsiteX3" fmla="*/ 1615729 w 2171135"/>
                <a:gd name="connsiteY3" fmla="*/ 0 h 2277283"/>
                <a:gd name="connsiteX4" fmla="*/ 2171135 w 2171135"/>
                <a:gd name="connsiteY4" fmla="*/ 0 h 2277283"/>
                <a:gd name="connsiteX5" fmla="*/ 1464254 w 2171135"/>
                <a:gd name="connsiteY5" fmla="*/ 1062732 h 2277283"/>
                <a:gd name="connsiteX6" fmla="*/ 2120644 w 2171135"/>
                <a:gd name="connsiteY6" fmla="*/ 1062732 h 2277283"/>
                <a:gd name="connsiteX7" fmla="*/ 2120644 w 2171135"/>
                <a:gd name="connsiteY7" fmla="*/ 1265157 h 2277283"/>
                <a:gd name="connsiteX8" fmla="*/ 1363271 w 2171135"/>
                <a:gd name="connsiteY8" fmla="*/ 1265157 h 2277283"/>
                <a:gd name="connsiteX9" fmla="*/ 1363271 w 2171135"/>
                <a:gd name="connsiteY9" fmla="*/ 1467583 h 2277283"/>
                <a:gd name="connsiteX10" fmla="*/ 2120644 w 2171135"/>
                <a:gd name="connsiteY10" fmla="*/ 1467583 h 2277283"/>
                <a:gd name="connsiteX11" fmla="*/ 2120644 w 2171135"/>
                <a:gd name="connsiteY11" fmla="*/ 1670008 h 2277283"/>
                <a:gd name="connsiteX12" fmla="*/ 1363271 w 2171135"/>
                <a:gd name="connsiteY12" fmla="*/ 1670008 h 2277283"/>
                <a:gd name="connsiteX13" fmla="*/ 1363271 w 2171135"/>
                <a:gd name="connsiteY13" fmla="*/ 2277283 h 2277283"/>
                <a:gd name="connsiteX14" fmla="*/ 807864 w 2171135"/>
                <a:gd name="connsiteY14" fmla="*/ 2277283 h 2277283"/>
                <a:gd name="connsiteX15" fmla="*/ 807864 w 2171135"/>
                <a:gd name="connsiteY15" fmla="*/ 1670008 h 2277283"/>
                <a:gd name="connsiteX16" fmla="*/ 151475 w 2171135"/>
                <a:gd name="connsiteY16" fmla="*/ 1670008 h 2277283"/>
                <a:gd name="connsiteX17" fmla="*/ 151475 w 2171135"/>
                <a:gd name="connsiteY17" fmla="*/ 1467583 h 2277283"/>
                <a:gd name="connsiteX18" fmla="*/ 807864 w 2171135"/>
                <a:gd name="connsiteY18" fmla="*/ 1467583 h 2277283"/>
                <a:gd name="connsiteX19" fmla="*/ 807864 w 2171135"/>
                <a:gd name="connsiteY19" fmla="*/ 1265157 h 2277283"/>
                <a:gd name="connsiteX20" fmla="*/ 151475 w 2171135"/>
                <a:gd name="connsiteY20" fmla="*/ 1265157 h 2277283"/>
                <a:gd name="connsiteX21" fmla="*/ 151475 w 2171135"/>
                <a:gd name="connsiteY21" fmla="*/ 1062732 h 2277283"/>
                <a:gd name="connsiteX22" fmla="*/ 706881 w 2171135"/>
                <a:gd name="connsiteY22" fmla="*/ 1062732 h 2277283"/>
                <a:gd name="connsiteX23" fmla="*/ 0 w 2171135"/>
                <a:gd name="connsiteY23" fmla="*/ 0 h 227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71135" h="2277283">
                  <a:moveTo>
                    <a:pt x="0" y="0"/>
                  </a:moveTo>
                  <a:cubicBezTo>
                    <a:pt x="504915" y="0"/>
                    <a:pt x="504915" y="0"/>
                    <a:pt x="504915" y="0"/>
                  </a:cubicBezTo>
                  <a:cubicBezTo>
                    <a:pt x="1060322" y="860307"/>
                    <a:pt x="1060322" y="860307"/>
                    <a:pt x="1060322" y="860307"/>
                  </a:cubicBezTo>
                  <a:cubicBezTo>
                    <a:pt x="1615729" y="0"/>
                    <a:pt x="1615729" y="0"/>
                    <a:pt x="1615729" y="0"/>
                  </a:cubicBezTo>
                  <a:cubicBezTo>
                    <a:pt x="2171135" y="0"/>
                    <a:pt x="2171135" y="0"/>
                    <a:pt x="2171135" y="0"/>
                  </a:cubicBezTo>
                  <a:cubicBezTo>
                    <a:pt x="1464254" y="1062732"/>
                    <a:pt x="1464254" y="1062732"/>
                    <a:pt x="1464254" y="1062732"/>
                  </a:cubicBezTo>
                  <a:cubicBezTo>
                    <a:pt x="2120644" y="1062732"/>
                    <a:pt x="2120644" y="1062732"/>
                    <a:pt x="2120644" y="1062732"/>
                  </a:cubicBezTo>
                  <a:cubicBezTo>
                    <a:pt x="2120644" y="1265157"/>
                    <a:pt x="2120644" y="1265157"/>
                    <a:pt x="2120644" y="1265157"/>
                  </a:cubicBezTo>
                  <a:cubicBezTo>
                    <a:pt x="1363271" y="1265157"/>
                    <a:pt x="1363271" y="1265157"/>
                    <a:pt x="1363271" y="1265157"/>
                  </a:cubicBezTo>
                  <a:cubicBezTo>
                    <a:pt x="1363271" y="1467583"/>
                    <a:pt x="1363271" y="1467583"/>
                    <a:pt x="1363271" y="1467583"/>
                  </a:cubicBezTo>
                  <a:cubicBezTo>
                    <a:pt x="2120644" y="1467583"/>
                    <a:pt x="2120644" y="1467583"/>
                    <a:pt x="2120644" y="1467583"/>
                  </a:cubicBezTo>
                  <a:cubicBezTo>
                    <a:pt x="2120644" y="1670008"/>
                    <a:pt x="2120644" y="1670008"/>
                    <a:pt x="2120644" y="1670008"/>
                  </a:cubicBezTo>
                  <a:cubicBezTo>
                    <a:pt x="1363271" y="1670008"/>
                    <a:pt x="1363271" y="1670008"/>
                    <a:pt x="1363271" y="1670008"/>
                  </a:cubicBezTo>
                  <a:cubicBezTo>
                    <a:pt x="1363271" y="2277283"/>
                    <a:pt x="1363271" y="2277283"/>
                    <a:pt x="1363271" y="2277283"/>
                  </a:cubicBezTo>
                  <a:cubicBezTo>
                    <a:pt x="807864" y="2277283"/>
                    <a:pt x="807864" y="2277283"/>
                    <a:pt x="807864" y="2277283"/>
                  </a:cubicBezTo>
                  <a:cubicBezTo>
                    <a:pt x="807864" y="1670008"/>
                    <a:pt x="807864" y="1670008"/>
                    <a:pt x="807864" y="1670008"/>
                  </a:cubicBezTo>
                  <a:cubicBezTo>
                    <a:pt x="151475" y="1670008"/>
                    <a:pt x="151475" y="1670008"/>
                    <a:pt x="151475" y="1670008"/>
                  </a:cubicBezTo>
                  <a:cubicBezTo>
                    <a:pt x="151475" y="1467583"/>
                    <a:pt x="151475" y="1467583"/>
                    <a:pt x="151475" y="1467583"/>
                  </a:cubicBezTo>
                  <a:cubicBezTo>
                    <a:pt x="807864" y="1467583"/>
                    <a:pt x="807864" y="1467583"/>
                    <a:pt x="807864" y="1467583"/>
                  </a:cubicBezTo>
                  <a:cubicBezTo>
                    <a:pt x="807864" y="1265157"/>
                    <a:pt x="807864" y="1265157"/>
                    <a:pt x="807864" y="1265157"/>
                  </a:cubicBezTo>
                  <a:cubicBezTo>
                    <a:pt x="151475" y="1265157"/>
                    <a:pt x="151475" y="1265157"/>
                    <a:pt x="151475" y="1265157"/>
                  </a:cubicBezTo>
                  <a:cubicBezTo>
                    <a:pt x="151475" y="1062732"/>
                    <a:pt x="151475" y="1062732"/>
                    <a:pt x="151475" y="1062732"/>
                  </a:cubicBezTo>
                  <a:cubicBezTo>
                    <a:pt x="706881" y="1062732"/>
                    <a:pt x="706881" y="1062732"/>
                    <a:pt x="706881" y="1062732"/>
                  </a:cubicBezTo>
                  <a:cubicBezTo>
                    <a:pt x="0" y="0"/>
                    <a:pt x="0" y="0"/>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latin typeface="Arial" panose="020B0604020202020204"/>
                <a:ea typeface="微软雅黑" panose="020B0503020204020204" charset="-122"/>
                <a:sym typeface="Arial" panose="020B0604020202020204"/>
              </a:endParaRPr>
            </a:p>
          </p:txBody>
        </p:sp>
      </p:grpSp>
      <p:sp>
        <p:nvSpPr>
          <p:cNvPr id="12" name="文本框 11"/>
          <p:cNvSpPr txBox="1"/>
          <p:nvPr/>
        </p:nvSpPr>
        <p:spPr>
          <a:xfrm>
            <a:off x="7467601" y="2997200"/>
            <a:ext cx="3445564" cy="738664"/>
          </a:xfrm>
          <a:prstGeom prst="rect">
            <a:avLst/>
          </a:prstGeom>
          <a:noFill/>
        </p:spPr>
        <p:txBody>
          <a:bodyPr wrap="square" rtlCol="0">
            <a:spAutoFit/>
          </a:bodyPr>
          <a:lstStyle/>
          <a:p>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grpSp>
        <p:nvGrpSpPr>
          <p:cNvPr id="13" name="组合 12"/>
          <p:cNvGrpSpPr/>
          <p:nvPr/>
        </p:nvGrpSpPr>
        <p:grpSpPr>
          <a:xfrm>
            <a:off x="6579704" y="4046332"/>
            <a:ext cx="768627" cy="755373"/>
            <a:chOff x="6586330" y="1948070"/>
            <a:chExt cx="768627" cy="755373"/>
          </a:xfrm>
        </p:grpSpPr>
        <p:sp>
          <p:nvSpPr>
            <p:cNvPr id="14" name="圆角矩形 13"/>
            <p:cNvSpPr/>
            <p:nvPr/>
          </p:nvSpPr>
          <p:spPr>
            <a:xfrm>
              <a:off x="6586330" y="1948070"/>
              <a:ext cx="768627" cy="75537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5" name="KSO_Shape"/>
            <p:cNvSpPr/>
            <p:nvPr/>
          </p:nvSpPr>
          <p:spPr>
            <a:xfrm>
              <a:off x="6817968" y="2158179"/>
              <a:ext cx="338207" cy="354763"/>
            </a:xfrm>
            <a:custGeom>
              <a:avLst/>
              <a:gdLst>
                <a:gd name="connsiteX0" fmla="*/ 0 w 2171135"/>
                <a:gd name="connsiteY0" fmla="*/ 0 h 2277283"/>
                <a:gd name="connsiteX1" fmla="*/ 504915 w 2171135"/>
                <a:gd name="connsiteY1" fmla="*/ 0 h 2277283"/>
                <a:gd name="connsiteX2" fmla="*/ 1060322 w 2171135"/>
                <a:gd name="connsiteY2" fmla="*/ 860307 h 2277283"/>
                <a:gd name="connsiteX3" fmla="*/ 1615729 w 2171135"/>
                <a:gd name="connsiteY3" fmla="*/ 0 h 2277283"/>
                <a:gd name="connsiteX4" fmla="*/ 2171135 w 2171135"/>
                <a:gd name="connsiteY4" fmla="*/ 0 h 2277283"/>
                <a:gd name="connsiteX5" fmla="*/ 1464254 w 2171135"/>
                <a:gd name="connsiteY5" fmla="*/ 1062732 h 2277283"/>
                <a:gd name="connsiteX6" fmla="*/ 2120644 w 2171135"/>
                <a:gd name="connsiteY6" fmla="*/ 1062732 h 2277283"/>
                <a:gd name="connsiteX7" fmla="*/ 2120644 w 2171135"/>
                <a:gd name="connsiteY7" fmla="*/ 1265157 h 2277283"/>
                <a:gd name="connsiteX8" fmla="*/ 1363271 w 2171135"/>
                <a:gd name="connsiteY8" fmla="*/ 1265157 h 2277283"/>
                <a:gd name="connsiteX9" fmla="*/ 1363271 w 2171135"/>
                <a:gd name="connsiteY9" fmla="*/ 1467583 h 2277283"/>
                <a:gd name="connsiteX10" fmla="*/ 2120644 w 2171135"/>
                <a:gd name="connsiteY10" fmla="*/ 1467583 h 2277283"/>
                <a:gd name="connsiteX11" fmla="*/ 2120644 w 2171135"/>
                <a:gd name="connsiteY11" fmla="*/ 1670008 h 2277283"/>
                <a:gd name="connsiteX12" fmla="*/ 1363271 w 2171135"/>
                <a:gd name="connsiteY12" fmla="*/ 1670008 h 2277283"/>
                <a:gd name="connsiteX13" fmla="*/ 1363271 w 2171135"/>
                <a:gd name="connsiteY13" fmla="*/ 2277283 h 2277283"/>
                <a:gd name="connsiteX14" fmla="*/ 807864 w 2171135"/>
                <a:gd name="connsiteY14" fmla="*/ 2277283 h 2277283"/>
                <a:gd name="connsiteX15" fmla="*/ 807864 w 2171135"/>
                <a:gd name="connsiteY15" fmla="*/ 1670008 h 2277283"/>
                <a:gd name="connsiteX16" fmla="*/ 151475 w 2171135"/>
                <a:gd name="connsiteY16" fmla="*/ 1670008 h 2277283"/>
                <a:gd name="connsiteX17" fmla="*/ 151475 w 2171135"/>
                <a:gd name="connsiteY17" fmla="*/ 1467583 h 2277283"/>
                <a:gd name="connsiteX18" fmla="*/ 807864 w 2171135"/>
                <a:gd name="connsiteY18" fmla="*/ 1467583 h 2277283"/>
                <a:gd name="connsiteX19" fmla="*/ 807864 w 2171135"/>
                <a:gd name="connsiteY19" fmla="*/ 1265157 h 2277283"/>
                <a:gd name="connsiteX20" fmla="*/ 151475 w 2171135"/>
                <a:gd name="connsiteY20" fmla="*/ 1265157 h 2277283"/>
                <a:gd name="connsiteX21" fmla="*/ 151475 w 2171135"/>
                <a:gd name="connsiteY21" fmla="*/ 1062732 h 2277283"/>
                <a:gd name="connsiteX22" fmla="*/ 706881 w 2171135"/>
                <a:gd name="connsiteY22" fmla="*/ 1062732 h 2277283"/>
                <a:gd name="connsiteX23" fmla="*/ 0 w 2171135"/>
                <a:gd name="connsiteY23" fmla="*/ 0 h 227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71135" h="2277283">
                  <a:moveTo>
                    <a:pt x="0" y="0"/>
                  </a:moveTo>
                  <a:cubicBezTo>
                    <a:pt x="504915" y="0"/>
                    <a:pt x="504915" y="0"/>
                    <a:pt x="504915" y="0"/>
                  </a:cubicBezTo>
                  <a:cubicBezTo>
                    <a:pt x="1060322" y="860307"/>
                    <a:pt x="1060322" y="860307"/>
                    <a:pt x="1060322" y="860307"/>
                  </a:cubicBezTo>
                  <a:cubicBezTo>
                    <a:pt x="1615729" y="0"/>
                    <a:pt x="1615729" y="0"/>
                    <a:pt x="1615729" y="0"/>
                  </a:cubicBezTo>
                  <a:cubicBezTo>
                    <a:pt x="2171135" y="0"/>
                    <a:pt x="2171135" y="0"/>
                    <a:pt x="2171135" y="0"/>
                  </a:cubicBezTo>
                  <a:cubicBezTo>
                    <a:pt x="1464254" y="1062732"/>
                    <a:pt x="1464254" y="1062732"/>
                    <a:pt x="1464254" y="1062732"/>
                  </a:cubicBezTo>
                  <a:cubicBezTo>
                    <a:pt x="2120644" y="1062732"/>
                    <a:pt x="2120644" y="1062732"/>
                    <a:pt x="2120644" y="1062732"/>
                  </a:cubicBezTo>
                  <a:cubicBezTo>
                    <a:pt x="2120644" y="1265157"/>
                    <a:pt x="2120644" y="1265157"/>
                    <a:pt x="2120644" y="1265157"/>
                  </a:cubicBezTo>
                  <a:cubicBezTo>
                    <a:pt x="1363271" y="1265157"/>
                    <a:pt x="1363271" y="1265157"/>
                    <a:pt x="1363271" y="1265157"/>
                  </a:cubicBezTo>
                  <a:cubicBezTo>
                    <a:pt x="1363271" y="1467583"/>
                    <a:pt x="1363271" y="1467583"/>
                    <a:pt x="1363271" y="1467583"/>
                  </a:cubicBezTo>
                  <a:cubicBezTo>
                    <a:pt x="2120644" y="1467583"/>
                    <a:pt x="2120644" y="1467583"/>
                    <a:pt x="2120644" y="1467583"/>
                  </a:cubicBezTo>
                  <a:cubicBezTo>
                    <a:pt x="2120644" y="1670008"/>
                    <a:pt x="2120644" y="1670008"/>
                    <a:pt x="2120644" y="1670008"/>
                  </a:cubicBezTo>
                  <a:cubicBezTo>
                    <a:pt x="1363271" y="1670008"/>
                    <a:pt x="1363271" y="1670008"/>
                    <a:pt x="1363271" y="1670008"/>
                  </a:cubicBezTo>
                  <a:cubicBezTo>
                    <a:pt x="1363271" y="2277283"/>
                    <a:pt x="1363271" y="2277283"/>
                    <a:pt x="1363271" y="2277283"/>
                  </a:cubicBezTo>
                  <a:cubicBezTo>
                    <a:pt x="807864" y="2277283"/>
                    <a:pt x="807864" y="2277283"/>
                    <a:pt x="807864" y="2277283"/>
                  </a:cubicBezTo>
                  <a:cubicBezTo>
                    <a:pt x="807864" y="1670008"/>
                    <a:pt x="807864" y="1670008"/>
                    <a:pt x="807864" y="1670008"/>
                  </a:cubicBezTo>
                  <a:cubicBezTo>
                    <a:pt x="151475" y="1670008"/>
                    <a:pt x="151475" y="1670008"/>
                    <a:pt x="151475" y="1670008"/>
                  </a:cubicBezTo>
                  <a:cubicBezTo>
                    <a:pt x="151475" y="1467583"/>
                    <a:pt x="151475" y="1467583"/>
                    <a:pt x="151475" y="1467583"/>
                  </a:cubicBezTo>
                  <a:cubicBezTo>
                    <a:pt x="807864" y="1467583"/>
                    <a:pt x="807864" y="1467583"/>
                    <a:pt x="807864" y="1467583"/>
                  </a:cubicBezTo>
                  <a:cubicBezTo>
                    <a:pt x="807864" y="1265157"/>
                    <a:pt x="807864" y="1265157"/>
                    <a:pt x="807864" y="1265157"/>
                  </a:cubicBezTo>
                  <a:cubicBezTo>
                    <a:pt x="151475" y="1265157"/>
                    <a:pt x="151475" y="1265157"/>
                    <a:pt x="151475" y="1265157"/>
                  </a:cubicBezTo>
                  <a:cubicBezTo>
                    <a:pt x="151475" y="1062732"/>
                    <a:pt x="151475" y="1062732"/>
                    <a:pt x="151475" y="1062732"/>
                  </a:cubicBezTo>
                  <a:cubicBezTo>
                    <a:pt x="706881" y="1062732"/>
                    <a:pt x="706881" y="1062732"/>
                    <a:pt x="706881" y="1062732"/>
                  </a:cubicBezTo>
                  <a:cubicBezTo>
                    <a:pt x="0" y="0"/>
                    <a:pt x="0" y="0"/>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latin typeface="Arial" panose="020B0604020202020204"/>
                <a:ea typeface="微软雅黑" panose="020B0503020204020204" charset="-122"/>
                <a:sym typeface="Arial" panose="020B0604020202020204"/>
              </a:endParaRPr>
            </a:p>
          </p:txBody>
        </p:sp>
      </p:grpSp>
      <p:sp>
        <p:nvSpPr>
          <p:cNvPr id="16" name="文本框 15"/>
          <p:cNvSpPr txBox="1"/>
          <p:nvPr/>
        </p:nvSpPr>
        <p:spPr>
          <a:xfrm>
            <a:off x="7467601" y="4046331"/>
            <a:ext cx="3445564" cy="738664"/>
          </a:xfrm>
          <a:prstGeom prst="rect">
            <a:avLst/>
          </a:prstGeom>
          <a:noFill/>
        </p:spPr>
        <p:txBody>
          <a:bodyPr wrap="square" rtlCol="0">
            <a:spAutoFit/>
          </a:bodyPr>
          <a:lstStyle/>
          <a:p>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grpSp>
        <p:nvGrpSpPr>
          <p:cNvPr id="17" name="组合 16"/>
          <p:cNvGrpSpPr/>
          <p:nvPr/>
        </p:nvGrpSpPr>
        <p:grpSpPr>
          <a:xfrm>
            <a:off x="6579704" y="5095462"/>
            <a:ext cx="768627" cy="755373"/>
            <a:chOff x="6586330" y="1948070"/>
            <a:chExt cx="768627" cy="755373"/>
          </a:xfrm>
        </p:grpSpPr>
        <p:sp>
          <p:nvSpPr>
            <p:cNvPr id="18" name="圆角矩形 17"/>
            <p:cNvSpPr/>
            <p:nvPr/>
          </p:nvSpPr>
          <p:spPr>
            <a:xfrm>
              <a:off x="6586330" y="1948070"/>
              <a:ext cx="768627" cy="75537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9" name="KSO_Shape"/>
            <p:cNvSpPr/>
            <p:nvPr/>
          </p:nvSpPr>
          <p:spPr>
            <a:xfrm>
              <a:off x="6817968" y="2158179"/>
              <a:ext cx="338207" cy="354763"/>
            </a:xfrm>
            <a:custGeom>
              <a:avLst/>
              <a:gdLst>
                <a:gd name="connsiteX0" fmla="*/ 0 w 2171135"/>
                <a:gd name="connsiteY0" fmla="*/ 0 h 2277283"/>
                <a:gd name="connsiteX1" fmla="*/ 504915 w 2171135"/>
                <a:gd name="connsiteY1" fmla="*/ 0 h 2277283"/>
                <a:gd name="connsiteX2" fmla="*/ 1060322 w 2171135"/>
                <a:gd name="connsiteY2" fmla="*/ 860307 h 2277283"/>
                <a:gd name="connsiteX3" fmla="*/ 1615729 w 2171135"/>
                <a:gd name="connsiteY3" fmla="*/ 0 h 2277283"/>
                <a:gd name="connsiteX4" fmla="*/ 2171135 w 2171135"/>
                <a:gd name="connsiteY4" fmla="*/ 0 h 2277283"/>
                <a:gd name="connsiteX5" fmla="*/ 1464254 w 2171135"/>
                <a:gd name="connsiteY5" fmla="*/ 1062732 h 2277283"/>
                <a:gd name="connsiteX6" fmla="*/ 2120644 w 2171135"/>
                <a:gd name="connsiteY6" fmla="*/ 1062732 h 2277283"/>
                <a:gd name="connsiteX7" fmla="*/ 2120644 w 2171135"/>
                <a:gd name="connsiteY7" fmla="*/ 1265157 h 2277283"/>
                <a:gd name="connsiteX8" fmla="*/ 1363271 w 2171135"/>
                <a:gd name="connsiteY8" fmla="*/ 1265157 h 2277283"/>
                <a:gd name="connsiteX9" fmla="*/ 1363271 w 2171135"/>
                <a:gd name="connsiteY9" fmla="*/ 1467583 h 2277283"/>
                <a:gd name="connsiteX10" fmla="*/ 2120644 w 2171135"/>
                <a:gd name="connsiteY10" fmla="*/ 1467583 h 2277283"/>
                <a:gd name="connsiteX11" fmla="*/ 2120644 w 2171135"/>
                <a:gd name="connsiteY11" fmla="*/ 1670008 h 2277283"/>
                <a:gd name="connsiteX12" fmla="*/ 1363271 w 2171135"/>
                <a:gd name="connsiteY12" fmla="*/ 1670008 h 2277283"/>
                <a:gd name="connsiteX13" fmla="*/ 1363271 w 2171135"/>
                <a:gd name="connsiteY13" fmla="*/ 2277283 h 2277283"/>
                <a:gd name="connsiteX14" fmla="*/ 807864 w 2171135"/>
                <a:gd name="connsiteY14" fmla="*/ 2277283 h 2277283"/>
                <a:gd name="connsiteX15" fmla="*/ 807864 w 2171135"/>
                <a:gd name="connsiteY15" fmla="*/ 1670008 h 2277283"/>
                <a:gd name="connsiteX16" fmla="*/ 151475 w 2171135"/>
                <a:gd name="connsiteY16" fmla="*/ 1670008 h 2277283"/>
                <a:gd name="connsiteX17" fmla="*/ 151475 w 2171135"/>
                <a:gd name="connsiteY17" fmla="*/ 1467583 h 2277283"/>
                <a:gd name="connsiteX18" fmla="*/ 807864 w 2171135"/>
                <a:gd name="connsiteY18" fmla="*/ 1467583 h 2277283"/>
                <a:gd name="connsiteX19" fmla="*/ 807864 w 2171135"/>
                <a:gd name="connsiteY19" fmla="*/ 1265157 h 2277283"/>
                <a:gd name="connsiteX20" fmla="*/ 151475 w 2171135"/>
                <a:gd name="connsiteY20" fmla="*/ 1265157 h 2277283"/>
                <a:gd name="connsiteX21" fmla="*/ 151475 w 2171135"/>
                <a:gd name="connsiteY21" fmla="*/ 1062732 h 2277283"/>
                <a:gd name="connsiteX22" fmla="*/ 706881 w 2171135"/>
                <a:gd name="connsiteY22" fmla="*/ 1062732 h 2277283"/>
                <a:gd name="connsiteX23" fmla="*/ 0 w 2171135"/>
                <a:gd name="connsiteY23" fmla="*/ 0 h 227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71135" h="2277283">
                  <a:moveTo>
                    <a:pt x="0" y="0"/>
                  </a:moveTo>
                  <a:cubicBezTo>
                    <a:pt x="504915" y="0"/>
                    <a:pt x="504915" y="0"/>
                    <a:pt x="504915" y="0"/>
                  </a:cubicBezTo>
                  <a:cubicBezTo>
                    <a:pt x="1060322" y="860307"/>
                    <a:pt x="1060322" y="860307"/>
                    <a:pt x="1060322" y="860307"/>
                  </a:cubicBezTo>
                  <a:cubicBezTo>
                    <a:pt x="1615729" y="0"/>
                    <a:pt x="1615729" y="0"/>
                    <a:pt x="1615729" y="0"/>
                  </a:cubicBezTo>
                  <a:cubicBezTo>
                    <a:pt x="2171135" y="0"/>
                    <a:pt x="2171135" y="0"/>
                    <a:pt x="2171135" y="0"/>
                  </a:cubicBezTo>
                  <a:cubicBezTo>
                    <a:pt x="1464254" y="1062732"/>
                    <a:pt x="1464254" y="1062732"/>
                    <a:pt x="1464254" y="1062732"/>
                  </a:cubicBezTo>
                  <a:cubicBezTo>
                    <a:pt x="2120644" y="1062732"/>
                    <a:pt x="2120644" y="1062732"/>
                    <a:pt x="2120644" y="1062732"/>
                  </a:cubicBezTo>
                  <a:cubicBezTo>
                    <a:pt x="2120644" y="1265157"/>
                    <a:pt x="2120644" y="1265157"/>
                    <a:pt x="2120644" y="1265157"/>
                  </a:cubicBezTo>
                  <a:cubicBezTo>
                    <a:pt x="1363271" y="1265157"/>
                    <a:pt x="1363271" y="1265157"/>
                    <a:pt x="1363271" y="1265157"/>
                  </a:cubicBezTo>
                  <a:cubicBezTo>
                    <a:pt x="1363271" y="1467583"/>
                    <a:pt x="1363271" y="1467583"/>
                    <a:pt x="1363271" y="1467583"/>
                  </a:cubicBezTo>
                  <a:cubicBezTo>
                    <a:pt x="2120644" y="1467583"/>
                    <a:pt x="2120644" y="1467583"/>
                    <a:pt x="2120644" y="1467583"/>
                  </a:cubicBezTo>
                  <a:cubicBezTo>
                    <a:pt x="2120644" y="1670008"/>
                    <a:pt x="2120644" y="1670008"/>
                    <a:pt x="2120644" y="1670008"/>
                  </a:cubicBezTo>
                  <a:cubicBezTo>
                    <a:pt x="1363271" y="1670008"/>
                    <a:pt x="1363271" y="1670008"/>
                    <a:pt x="1363271" y="1670008"/>
                  </a:cubicBezTo>
                  <a:cubicBezTo>
                    <a:pt x="1363271" y="2277283"/>
                    <a:pt x="1363271" y="2277283"/>
                    <a:pt x="1363271" y="2277283"/>
                  </a:cubicBezTo>
                  <a:cubicBezTo>
                    <a:pt x="807864" y="2277283"/>
                    <a:pt x="807864" y="2277283"/>
                    <a:pt x="807864" y="2277283"/>
                  </a:cubicBezTo>
                  <a:cubicBezTo>
                    <a:pt x="807864" y="1670008"/>
                    <a:pt x="807864" y="1670008"/>
                    <a:pt x="807864" y="1670008"/>
                  </a:cubicBezTo>
                  <a:cubicBezTo>
                    <a:pt x="151475" y="1670008"/>
                    <a:pt x="151475" y="1670008"/>
                    <a:pt x="151475" y="1670008"/>
                  </a:cubicBezTo>
                  <a:cubicBezTo>
                    <a:pt x="151475" y="1467583"/>
                    <a:pt x="151475" y="1467583"/>
                    <a:pt x="151475" y="1467583"/>
                  </a:cubicBezTo>
                  <a:cubicBezTo>
                    <a:pt x="807864" y="1467583"/>
                    <a:pt x="807864" y="1467583"/>
                    <a:pt x="807864" y="1467583"/>
                  </a:cubicBezTo>
                  <a:cubicBezTo>
                    <a:pt x="807864" y="1265157"/>
                    <a:pt x="807864" y="1265157"/>
                    <a:pt x="807864" y="1265157"/>
                  </a:cubicBezTo>
                  <a:cubicBezTo>
                    <a:pt x="151475" y="1265157"/>
                    <a:pt x="151475" y="1265157"/>
                    <a:pt x="151475" y="1265157"/>
                  </a:cubicBezTo>
                  <a:cubicBezTo>
                    <a:pt x="151475" y="1062732"/>
                    <a:pt x="151475" y="1062732"/>
                    <a:pt x="151475" y="1062732"/>
                  </a:cubicBezTo>
                  <a:cubicBezTo>
                    <a:pt x="706881" y="1062732"/>
                    <a:pt x="706881" y="1062732"/>
                    <a:pt x="706881" y="1062732"/>
                  </a:cubicBezTo>
                  <a:cubicBezTo>
                    <a:pt x="0" y="0"/>
                    <a:pt x="0" y="0"/>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latin typeface="Arial" panose="020B0604020202020204"/>
                <a:ea typeface="微软雅黑" panose="020B0503020204020204" charset="-122"/>
                <a:sym typeface="Arial" panose="020B0604020202020204"/>
              </a:endParaRPr>
            </a:p>
          </p:txBody>
        </p:sp>
      </p:grpSp>
      <p:sp>
        <p:nvSpPr>
          <p:cNvPr id="20" name="文本框 19"/>
          <p:cNvSpPr txBox="1"/>
          <p:nvPr/>
        </p:nvSpPr>
        <p:spPr>
          <a:xfrm>
            <a:off x="7467601" y="5095461"/>
            <a:ext cx="3445564" cy="738664"/>
          </a:xfrm>
          <a:prstGeom prst="rect">
            <a:avLst/>
          </a:prstGeom>
          <a:noFill/>
        </p:spPr>
        <p:txBody>
          <a:bodyPr wrap="square" rtlCol="0">
            <a:spAutoFit/>
          </a:bodyPr>
          <a:lstStyle/>
          <a:p>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sp>
        <p:nvSpPr>
          <p:cNvPr id="22" name="文本框 21"/>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0-#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0-#ppt_w/2"/>
                                          </p:val>
                                        </p:tav>
                                        <p:tav tm="100000">
                                          <p:val>
                                            <p:strVal val="#ppt_x"/>
                                          </p:val>
                                        </p:tav>
                                      </p:tavLst>
                                    </p:anim>
                                    <p:anim calcmode="lin" valueType="num">
                                      <p:cBhvr additive="base">
                                        <p:cTn id="1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1+#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1+#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1+#ppt_w/2"/>
                                          </p:val>
                                        </p:tav>
                                        <p:tav tm="100000">
                                          <p:val>
                                            <p:strVal val="#ppt_x"/>
                                          </p:val>
                                        </p:tav>
                                      </p:tavLst>
                                    </p:anim>
                                    <p:anim calcmode="lin" valueType="num">
                                      <p:cBhvr additive="base">
                                        <p:cTn id="3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1+#ppt_w/2"/>
                                          </p:val>
                                        </p:tav>
                                        <p:tav tm="100000">
                                          <p:val>
                                            <p:strVal val="#ppt_x"/>
                                          </p:val>
                                        </p:tav>
                                      </p:tavLst>
                                    </p:anim>
                                    <p:anim calcmode="lin" valueType="num">
                                      <p:cBhvr additive="base">
                                        <p:cTn id="42" dur="500" fill="hold"/>
                                        <p:tgtEl>
                                          <p:spTgt spid="13"/>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1+#ppt_w/2"/>
                                          </p:val>
                                        </p:tav>
                                        <p:tav tm="100000">
                                          <p:val>
                                            <p:strVal val="#ppt_x"/>
                                          </p:val>
                                        </p:tav>
                                      </p:tavLst>
                                    </p:anim>
                                    <p:anim calcmode="lin" valueType="num">
                                      <p:cBhvr additive="base">
                                        <p:cTn id="4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1+#ppt_w/2"/>
                                          </p:val>
                                        </p:tav>
                                        <p:tav tm="100000">
                                          <p:val>
                                            <p:strVal val="#ppt_x"/>
                                          </p:val>
                                        </p:tav>
                                      </p:tavLst>
                                    </p:anim>
                                    <p:anim calcmode="lin" valueType="num">
                                      <p:cBhvr additive="base">
                                        <p:cTn id="52" dur="500" fill="hold"/>
                                        <p:tgtEl>
                                          <p:spTgt spid="17"/>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1+#ppt_w/2"/>
                                          </p:val>
                                        </p:tav>
                                        <p:tav tm="100000">
                                          <p:val>
                                            <p:strVal val="#ppt_x"/>
                                          </p:val>
                                        </p:tav>
                                      </p:tavLst>
                                    </p:anim>
                                    <p:anim calcmode="lin" valueType="num">
                                      <p:cBhvr additive="base">
                                        <p:cTn id="56"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grpId="0" nodeType="clickEffect">
                                  <p:stCondLst>
                                    <p:cond delay="1500"/>
                                  </p:stCondLst>
                                  <p:childTnLst>
                                    <p:animEffect transition="out" filter="fade">
                                      <p:cBhvr>
                                        <p:cTn id="60" dur="500"/>
                                        <p:tgtEl>
                                          <p:spTgt spid="22"/>
                                        </p:tgtEl>
                                      </p:cBhvr>
                                    </p:animEffect>
                                    <p:set>
                                      <p:cBhvr>
                                        <p:cTn id="61"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 grpId="0" animBg="1"/>
      <p:bldP spid="4" grpId="0"/>
      <p:bldP spid="8" grpId="0"/>
      <p:bldP spid="12" grpId="0"/>
      <p:bldP spid="16" grpId="0"/>
      <p:bldP spid="20"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2954655" cy="646331"/>
          </a:xfrm>
          <a:prstGeom prst="rect">
            <a:avLst/>
          </a:prstGeom>
        </p:spPr>
        <p:txBody>
          <a:bodyPr wrap="none">
            <a:spAutoFit/>
          </a:bodyPr>
          <a:lstStyle/>
          <a:p>
            <a:pP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添加目录标题</a:t>
            </a:r>
          </a:p>
        </p:txBody>
      </p:sp>
      <p:sp>
        <p:nvSpPr>
          <p:cNvPr id="3" name="KSO_Shape"/>
          <p:cNvSpPr/>
          <p:nvPr/>
        </p:nvSpPr>
        <p:spPr bwMode="auto">
          <a:xfrm>
            <a:off x="4572000" y="2026756"/>
            <a:ext cx="3060000" cy="3060000"/>
          </a:xfrm>
          <a:custGeom>
            <a:avLst/>
            <a:gdLst>
              <a:gd name="T0" fmla="*/ 0 w 4908"/>
              <a:gd name="T1" fmla="*/ 336246282 h 4907"/>
              <a:gd name="T2" fmla="*/ 0 w 4908"/>
              <a:gd name="T3" fmla="*/ 268876366 h 4907"/>
              <a:gd name="T4" fmla="*/ 268917454 w 4908"/>
              <a:gd name="T5" fmla="*/ 0 h 4907"/>
              <a:gd name="T6" fmla="*/ 335958472 w 4908"/>
              <a:gd name="T7" fmla="*/ 0 h 4907"/>
              <a:gd name="T8" fmla="*/ 335958472 w 4908"/>
              <a:gd name="T9" fmla="*/ 268876366 h 4907"/>
              <a:gd name="T10" fmla="*/ 268917454 w 4908"/>
              <a:gd name="T11" fmla="*/ 336246282 h 4907"/>
              <a:gd name="T12" fmla="*/ 0 w 4908"/>
              <a:gd name="T13" fmla="*/ 336246282 h 4907"/>
              <a:gd name="T14" fmla="*/ 0 w 4908"/>
              <a:gd name="T15" fmla="*/ 403314550 h 4907"/>
              <a:gd name="T16" fmla="*/ 0 w 4908"/>
              <a:gd name="T17" fmla="*/ 470684465 h 4907"/>
              <a:gd name="T18" fmla="*/ 268917454 w 4908"/>
              <a:gd name="T19" fmla="*/ 739560831 h 4907"/>
              <a:gd name="T20" fmla="*/ 335958472 w 4908"/>
              <a:gd name="T21" fmla="*/ 739560831 h 4907"/>
              <a:gd name="T22" fmla="*/ 335958472 w 4908"/>
              <a:gd name="T23" fmla="*/ 470684465 h 4907"/>
              <a:gd name="T24" fmla="*/ 268917454 w 4908"/>
              <a:gd name="T25" fmla="*/ 403314550 h 4907"/>
              <a:gd name="T26" fmla="*/ 0 w 4908"/>
              <a:gd name="T27" fmla="*/ 403314550 h 4907"/>
              <a:gd name="T28" fmla="*/ 739410147 w 4908"/>
              <a:gd name="T29" fmla="*/ 336246282 h 4907"/>
              <a:gd name="T30" fmla="*/ 739410147 w 4908"/>
              <a:gd name="T31" fmla="*/ 268876366 h 4907"/>
              <a:gd name="T32" fmla="*/ 470492693 w 4908"/>
              <a:gd name="T33" fmla="*/ 0 h 4907"/>
              <a:gd name="T34" fmla="*/ 403301076 w 4908"/>
              <a:gd name="T35" fmla="*/ 0 h 4907"/>
              <a:gd name="T36" fmla="*/ 403301076 w 4908"/>
              <a:gd name="T37" fmla="*/ 268876366 h 4907"/>
              <a:gd name="T38" fmla="*/ 470492693 w 4908"/>
              <a:gd name="T39" fmla="*/ 336246282 h 4907"/>
              <a:gd name="T40" fmla="*/ 739410147 w 4908"/>
              <a:gd name="T41" fmla="*/ 336246282 h 4907"/>
              <a:gd name="T42" fmla="*/ 739410147 w 4908"/>
              <a:gd name="T43" fmla="*/ 403314550 h 4907"/>
              <a:gd name="T44" fmla="*/ 739410147 w 4908"/>
              <a:gd name="T45" fmla="*/ 470684465 h 4907"/>
              <a:gd name="T46" fmla="*/ 470492693 w 4908"/>
              <a:gd name="T47" fmla="*/ 739560831 h 4907"/>
              <a:gd name="T48" fmla="*/ 403301076 w 4908"/>
              <a:gd name="T49" fmla="*/ 739560831 h 4907"/>
              <a:gd name="T50" fmla="*/ 403301076 w 4908"/>
              <a:gd name="T51" fmla="*/ 470684465 h 4907"/>
              <a:gd name="T52" fmla="*/ 470492693 w 4908"/>
              <a:gd name="T53" fmla="*/ 403314550 h 4907"/>
              <a:gd name="T54" fmla="*/ 739410147 w 4908"/>
              <a:gd name="T55" fmla="*/ 403314550 h 4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908" h="4907">
                <a:moveTo>
                  <a:pt x="0" y="2231"/>
                </a:moveTo>
                <a:lnTo>
                  <a:pt x="0" y="1784"/>
                </a:lnTo>
                <a:lnTo>
                  <a:pt x="1785" y="0"/>
                </a:lnTo>
                <a:lnTo>
                  <a:pt x="2230" y="0"/>
                </a:lnTo>
                <a:lnTo>
                  <a:pt x="2230" y="1784"/>
                </a:lnTo>
                <a:lnTo>
                  <a:pt x="1785" y="2231"/>
                </a:lnTo>
                <a:lnTo>
                  <a:pt x="0" y="2231"/>
                </a:lnTo>
                <a:close/>
                <a:moveTo>
                  <a:pt x="0" y="2676"/>
                </a:moveTo>
                <a:lnTo>
                  <a:pt x="0" y="3123"/>
                </a:lnTo>
                <a:lnTo>
                  <a:pt x="1785" y="4907"/>
                </a:lnTo>
                <a:lnTo>
                  <a:pt x="2230" y="4907"/>
                </a:lnTo>
                <a:lnTo>
                  <a:pt x="2230" y="3123"/>
                </a:lnTo>
                <a:lnTo>
                  <a:pt x="1785" y="2676"/>
                </a:lnTo>
                <a:lnTo>
                  <a:pt x="0" y="2676"/>
                </a:lnTo>
                <a:close/>
                <a:moveTo>
                  <a:pt x="4908" y="2231"/>
                </a:moveTo>
                <a:lnTo>
                  <a:pt x="4908" y="1784"/>
                </a:lnTo>
                <a:lnTo>
                  <a:pt x="3123" y="0"/>
                </a:lnTo>
                <a:lnTo>
                  <a:pt x="2677" y="0"/>
                </a:lnTo>
                <a:lnTo>
                  <a:pt x="2677" y="1784"/>
                </a:lnTo>
                <a:lnTo>
                  <a:pt x="3123" y="2231"/>
                </a:lnTo>
                <a:lnTo>
                  <a:pt x="4908" y="2231"/>
                </a:lnTo>
                <a:close/>
                <a:moveTo>
                  <a:pt x="4908" y="2676"/>
                </a:moveTo>
                <a:lnTo>
                  <a:pt x="4908" y="3123"/>
                </a:lnTo>
                <a:lnTo>
                  <a:pt x="3123" y="4907"/>
                </a:lnTo>
                <a:lnTo>
                  <a:pt x="2677" y="4907"/>
                </a:lnTo>
                <a:lnTo>
                  <a:pt x="2677" y="3123"/>
                </a:lnTo>
                <a:lnTo>
                  <a:pt x="3123" y="2676"/>
                </a:lnTo>
                <a:lnTo>
                  <a:pt x="4908" y="2676"/>
                </a:lnTo>
                <a:close/>
              </a:path>
            </a:pathLst>
          </a:custGeom>
          <a:solidFill>
            <a:srgbClr val="C00000"/>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latin typeface="Arial" panose="020B0604020202020204"/>
              <a:ea typeface="微软雅黑" panose="020B0503020204020204" charset="-122"/>
              <a:sym typeface="Arial" panose="020B0604020202020204"/>
            </a:endParaRPr>
          </a:p>
        </p:txBody>
      </p:sp>
      <p:sp>
        <p:nvSpPr>
          <p:cNvPr id="4" name="文本框 3"/>
          <p:cNvSpPr txBox="1"/>
          <p:nvPr/>
        </p:nvSpPr>
        <p:spPr>
          <a:xfrm>
            <a:off x="8103706" y="2266122"/>
            <a:ext cx="2908853" cy="954107"/>
          </a:xfrm>
          <a:prstGeom prst="rect">
            <a:avLst/>
          </a:prstGeom>
          <a:noFill/>
        </p:spPr>
        <p:txBody>
          <a:bodyPr wrap="square" rtlCol="0">
            <a:spAutoFit/>
          </a:bodyPr>
          <a:lstStyle/>
          <a:p>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sp>
        <p:nvSpPr>
          <p:cNvPr id="5" name="文本框 4"/>
          <p:cNvSpPr txBox="1"/>
          <p:nvPr/>
        </p:nvSpPr>
        <p:spPr>
          <a:xfrm>
            <a:off x="1345098" y="3955773"/>
            <a:ext cx="2763078" cy="954107"/>
          </a:xfrm>
          <a:prstGeom prst="rect">
            <a:avLst/>
          </a:prstGeom>
          <a:noFill/>
        </p:spPr>
        <p:txBody>
          <a:bodyPr wrap="square" rtlCol="0">
            <a:spAutoFit/>
          </a:bodyPr>
          <a:lstStyle/>
          <a:p>
            <a:pPr algn="r"/>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sp>
        <p:nvSpPr>
          <p:cNvPr id="6" name="文本框 5"/>
          <p:cNvSpPr txBox="1"/>
          <p:nvPr/>
        </p:nvSpPr>
        <p:spPr>
          <a:xfrm>
            <a:off x="1325219" y="2319130"/>
            <a:ext cx="2763078" cy="954107"/>
          </a:xfrm>
          <a:prstGeom prst="rect">
            <a:avLst/>
          </a:prstGeom>
          <a:noFill/>
        </p:spPr>
        <p:txBody>
          <a:bodyPr wrap="square" rtlCol="0">
            <a:spAutoFit/>
          </a:bodyPr>
          <a:lstStyle/>
          <a:p>
            <a:pPr algn="r"/>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sp>
        <p:nvSpPr>
          <p:cNvPr id="7" name="文本框 6"/>
          <p:cNvSpPr txBox="1"/>
          <p:nvPr/>
        </p:nvSpPr>
        <p:spPr>
          <a:xfrm>
            <a:off x="8123584" y="3902765"/>
            <a:ext cx="2908853" cy="954107"/>
          </a:xfrm>
          <a:prstGeom prst="rect">
            <a:avLst/>
          </a:prstGeom>
          <a:noFill/>
        </p:spPr>
        <p:txBody>
          <a:bodyPr wrap="square" rtlCol="0">
            <a:spAutoFit/>
          </a:bodyPr>
          <a:lstStyle/>
          <a:p>
            <a:r>
              <a:rPr lang="zh-CN" altLang="en-US" sz="1400" dirty="0">
                <a:latin typeface="Arial" panose="020B0604020202020204"/>
                <a:ea typeface="微软雅黑" panose="020B0503020204020204" charset="-122"/>
                <a:sym typeface="Arial" panose="020B0604020202020204"/>
              </a:rPr>
              <a:t>此处添加内容此处添加内容此处添加内容此处添加内容此处添加内容此处添加内容此处添加内容此处添加内容。</a:t>
            </a:r>
          </a:p>
        </p:txBody>
      </p:sp>
      <p:sp>
        <p:nvSpPr>
          <p:cNvPr id="9" name="圆角矩形 8"/>
          <p:cNvSpPr/>
          <p:nvPr/>
        </p:nvSpPr>
        <p:spPr>
          <a:xfrm>
            <a:off x="4572000" y="1285462"/>
            <a:ext cx="3061252" cy="4532243"/>
          </a:xfrm>
          <a:prstGeom prst="roundRect">
            <a:avLst>
              <a:gd name="adj" fmla="val 445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0" name="椭圆 9"/>
          <p:cNvSpPr/>
          <p:nvPr/>
        </p:nvSpPr>
        <p:spPr>
          <a:xfrm>
            <a:off x="4214191" y="2060712"/>
            <a:ext cx="720000" cy="720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Arial" panose="020B0604020202020204"/>
                <a:ea typeface="微软雅黑" panose="020B0503020204020204" charset="-122"/>
                <a:cs typeface="Segoe UI Light" panose="020B0502040204020203" pitchFamily="34" charset="0"/>
                <a:sym typeface="Arial" panose="020B0604020202020204"/>
              </a:rPr>
              <a:t>1</a:t>
            </a:r>
            <a:endParaRPr lang="zh-CN" altLang="en-US" sz="2800" dirty="0">
              <a:latin typeface="Arial" panose="020B0604020202020204"/>
              <a:ea typeface="微软雅黑" panose="020B0503020204020204" charset="-122"/>
              <a:cs typeface="Segoe UI Light" panose="020B0502040204020203" pitchFamily="34" charset="0"/>
              <a:sym typeface="Arial" panose="020B0604020202020204"/>
            </a:endParaRPr>
          </a:p>
        </p:txBody>
      </p:sp>
      <p:sp>
        <p:nvSpPr>
          <p:cNvPr id="11" name="椭圆 10"/>
          <p:cNvSpPr/>
          <p:nvPr/>
        </p:nvSpPr>
        <p:spPr>
          <a:xfrm>
            <a:off x="7268820" y="2060712"/>
            <a:ext cx="720000" cy="720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Arial" panose="020B0604020202020204"/>
                <a:ea typeface="微软雅黑" panose="020B0503020204020204" charset="-122"/>
                <a:cs typeface="Segoe UI Light" panose="020B0502040204020203" pitchFamily="34" charset="0"/>
                <a:sym typeface="Arial" panose="020B0604020202020204"/>
              </a:rPr>
              <a:t>2</a:t>
            </a:r>
            <a:endParaRPr lang="zh-CN" altLang="en-US" sz="2800" dirty="0">
              <a:latin typeface="Arial" panose="020B0604020202020204"/>
              <a:ea typeface="微软雅黑" panose="020B0503020204020204" charset="-122"/>
              <a:cs typeface="Segoe UI Light" panose="020B0502040204020203" pitchFamily="34" charset="0"/>
              <a:sym typeface="Arial" panose="020B0604020202020204"/>
            </a:endParaRPr>
          </a:p>
        </p:txBody>
      </p:sp>
      <p:sp>
        <p:nvSpPr>
          <p:cNvPr id="12" name="椭圆 11"/>
          <p:cNvSpPr/>
          <p:nvPr/>
        </p:nvSpPr>
        <p:spPr>
          <a:xfrm>
            <a:off x="7248942" y="4373217"/>
            <a:ext cx="720000" cy="720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Arial" panose="020B0604020202020204"/>
                <a:ea typeface="微软雅黑" panose="020B0503020204020204" charset="-122"/>
                <a:cs typeface="Segoe UI Light" panose="020B0502040204020203" pitchFamily="34" charset="0"/>
                <a:sym typeface="Arial" panose="020B0604020202020204"/>
              </a:rPr>
              <a:t>4</a:t>
            </a:r>
            <a:endParaRPr lang="zh-CN" altLang="en-US" sz="2800" dirty="0">
              <a:latin typeface="Arial" panose="020B0604020202020204"/>
              <a:ea typeface="微软雅黑" panose="020B0503020204020204" charset="-122"/>
              <a:cs typeface="Segoe UI Light" panose="020B0502040204020203" pitchFamily="34" charset="0"/>
              <a:sym typeface="Arial" panose="020B0604020202020204"/>
            </a:endParaRPr>
          </a:p>
        </p:txBody>
      </p:sp>
      <p:sp>
        <p:nvSpPr>
          <p:cNvPr id="13" name="椭圆 12"/>
          <p:cNvSpPr/>
          <p:nvPr/>
        </p:nvSpPr>
        <p:spPr>
          <a:xfrm>
            <a:off x="4207565" y="4373217"/>
            <a:ext cx="720000" cy="720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Arial" panose="020B0604020202020204"/>
                <a:ea typeface="微软雅黑" panose="020B0503020204020204" charset="-122"/>
                <a:cs typeface="Segoe UI Light" panose="020B0502040204020203" pitchFamily="34" charset="0"/>
                <a:sym typeface="Arial" panose="020B0604020202020204"/>
              </a:rPr>
              <a:t>3</a:t>
            </a:r>
            <a:endParaRPr lang="zh-CN" altLang="en-US" sz="2800" dirty="0">
              <a:latin typeface="Arial" panose="020B0604020202020204"/>
              <a:ea typeface="微软雅黑" panose="020B0503020204020204" charset="-122"/>
              <a:cs typeface="Segoe UI Light" panose="020B0502040204020203" pitchFamily="34" charset="0"/>
              <a:sym typeface="Arial" panose="020B0604020202020204"/>
            </a:endParaRPr>
          </a:p>
        </p:txBody>
      </p:sp>
      <p:sp>
        <p:nvSpPr>
          <p:cNvPr id="14" name="椭圆 13"/>
          <p:cNvSpPr/>
          <p:nvPr/>
        </p:nvSpPr>
        <p:spPr>
          <a:xfrm>
            <a:off x="5267739" y="2720006"/>
            <a:ext cx="1656522" cy="1656000"/>
          </a:xfrm>
          <a:prstGeom prst="ellipse">
            <a:avLst/>
          </a:prstGeom>
          <a:blipFill dpi="0" rotWithShape="1">
            <a:blip r:embed="rId3" cstate="print">
              <a:grayscl/>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5" name="文本框 14"/>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right)">
                                      <p:cBhvr>
                                        <p:cTn id="24" dur="500"/>
                                        <p:tgtEl>
                                          <p:spTgt spid="6"/>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righ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right)">
                                      <p:cBhvr>
                                        <p:cTn id="40" dur="500"/>
                                        <p:tgtEl>
                                          <p:spTgt spid="5"/>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right)">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0" nodeType="clickEffect">
                                  <p:stCondLst>
                                    <p:cond delay="1500"/>
                                  </p:stCondLst>
                                  <p:childTnLst>
                                    <p:animEffect transition="out" filter="fade">
                                      <p:cBhvr>
                                        <p:cTn id="55" dur="500"/>
                                        <p:tgtEl>
                                          <p:spTgt spid="15"/>
                                        </p:tgtEl>
                                      </p:cBhvr>
                                    </p:animEffect>
                                    <p:set>
                                      <p:cBhvr>
                                        <p:cTn id="56"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7" grpId="0"/>
      <p:bldP spid="9" grpId="0" animBg="1"/>
      <p:bldP spid="10" grpId="0" animBg="1"/>
      <p:bldP spid="11" grpId="0" animBg="1"/>
      <p:bldP spid="12" grpId="0" animBg="1"/>
      <p:bldP spid="13" grpId="0" animBg="1"/>
      <p:bldP spid="14" grpId="0" animBg="1"/>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2954655" cy="646331"/>
          </a:xfrm>
          <a:prstGeom prst="rect">
            <a:avLst/>
          </a:prstGeom>
        </p:spPr>
        <p:txBody>
          <a:bodyPr wrap="none">
            <a:spAutoFit/>
          </a:bodyPr>
          <a:lstStyle/>
          <a:p>
            <a:pP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添加目录标题</a:t>
            </a:r>
          </a:p>
        </p:txBody>
      </p:sp>
      <p:sp>
        <p:nvSpPr>
          <p:cNvPr id="3" name="MH_Other_1"/>
          <p:cNvSpPr/>
          <p:nvPr>
            <p:custDataLst>
              <p:tags r:id="rId1"/>
            </p:custDataLst>
          </p:nvPr>
        </p:nvSpPr>
        <p:spPr>
          <a:xfrm>
            <a:off x="2781404" y="1644930"/>
            <a:ext cx="945356" cy="945356"/>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Arial" panose="020B0604020202020204"/>
              <a:ea typeface="微软雅黑" panose="020B0503020204020204" charset="-122"/>
              <a:sym typeface="Arial" panose="020B0604020202020204"/>
            </a:endParaRPr>
          </a:p>
        </p:txBody>
      </p:sp>
      <p:sp>
        <p:nvSpPr>
          <p:cNvPr id="4" name="MH_Other_2"/>
          <p:cNvSpPr/>
          <p:nvPr>
            <p:custDataLst>
              <p:tags r:id="rId2"/>
            </p:custDataLst>
          </p:nvPr>
        </p:nvSpPr>
        <p:spPr>
          <a:xfrm>
            <a:off x="2794656" y="4309608"/>
            <a:ext cx="945356" cy="944165"/>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latin typeface="Arial" panose="020B0604020202020204"/>
              <a:ea typeface="微软雅黑" panose="020B0503020204020204" charset="-122"/>
              <a:sym typeface="Arial" panose="020B0604020202020204"/>
            </a:endParaRPr>
          </a:p>
        </p:txBody>
      </p:sp>
      <p:sp>
        <p:nvSpPr>
          <p:cNvPr id="5" name="MH_Other_3"/>
          <p:cNvSpPr/>
          <p:nvPr>
            <p:custDataLst>
              <p:tags r:id="rId3"/>
            </p:custDataLst>
          </p:nvPr>
        </p:nvSpPr>
        <p:spPr>
          <a:xfrm>
            <a:off x="4674654" y="4309608"/>
            <a:ext cx="945356" cy="944165"/>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latin typeface="Arial" panose="020B0604020202020204"/>
              <a:ea typeface="微软雅黑" panose="020B0503020204020204" charset="-122"/>
              <a:sym typeface="Arial" panose="020B0604020202020204"/>
            </a:endParaRPr>
          </a:p>
        </p:txBody>
      </p:sp>
      <p:sp>
        <p:nvSpPr>
          <p:cNvPr id="6" name="MH_Other_4"/>
          <p:cNvSpPr/>
          <p:nvPr>
            <p:custDataLst>
              <p:tags r:id="rId4"/>
            </p:custDataLst>
          </p:nvPr>
        </p:nvSpPr>
        <p:spPr>
          <a:xfrm>
            <a:off x="6553460" y="4309608"/>
            <a:ext cx="945356" cy="944165"/>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latin typeface="Arial" panose="020B0604020202020204"/>
              <a:ea typeface="微软雅黑" panose="020B0503020204020204" charset="-122"/>
              <a:sym typeface="Arial" panose="020B0604020202020204"/>
            </a:endParaRPr>
          </a:p>
        </p:txBody>
      </p:sp>
      <p:sp>
        <p:nvSpPr>
          <p:cNvPr id="7" name="MH_Other_5"/>
          <p:cNvSpPr/>
          <p:nvPr>
            <p:custDataLst>
              <p:tags r:id="rId5"/>
            </p:custDataLst>
          </p:nvPr>
        </p:nvSpPr>
        <p:spPr>
          <a:xfrm>
            <a:off x="8433456" y="4309608"/>
            <a:ext cx="945356" cy="944165"/>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latin typeface="Arial" panose="020B0604020202020204"/>
              <a:ea typeface="微软雅黑" panose="020B0503020204020204" charset="-122"/>
              <a:sym typeface="Arial" panose="020B0604020202020204"/>
            </a:endParaRPr>
          </a:p>
        </p:txBody>
      </p:sp>
      <p:sp>
        <p:nvSpPr>
          <p:cNvPr id="8" name="MH_Other_6"/>
          <p:cNvSpPr/>
          <p:nvPr>
            <p:custDataLst>
              <p:tags r:id="rId6"/>
            </p:custDataLst>
          </p:nvPr>
        </p:nvSpPr>
        <p:spPr>
          <a:xfrm>
            <a:off x="8420204" y="1644930"/>
            <a:ext cx="945356" cy="945356"/>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Arial" panose="020B0604020202020204"/>
              <a:ea typeface="微软雅黑" panose="020B0503020204020204" charset="-122"/>
              <a:sym typeface="Arial" panose="020B0604020202020204"/>
            </a:endParaRPr>
          </a:p>
        </p:txBody>
      </p:sp>
      <p:sp>
        <p:nvSpPr>
          <p:cNvPr id="9" name="MH_Other_7"/>
          <p:cNvSpPr/>
          <p:nvPr>
            <p:custDataLst>
              <p:tags r:id="rId7"/>
            </p:custDataLst>
          </p:nvPr>
        </p:nvSpPr>
        <p:spPr>
          <a:xfrm>
            <a:off x="6540208" y="1644930"/>
            <a:ext cx="945356" cy="945356"/>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Arial" panose="020B0604020202020204"/>
              <a:ea typeface="微软雅黑" panose="020B0503020204020204" charset="-122"/>
              <a:sym typeface="Arial" panose="020B0604020202020204"/>
            </a:endParaRPr>
          </a:p>
        </p:txBody>
      </p:sp>
      <p:sp>
        <p:nvSpPr>
          <p:cNvPr id="10" name="MH_Other_8"/>
          <p:cNvSpPr/>
          <p:nvPr>
            <p:custDataLst>
              <p:tags r:id="rId8"/>
            </p:custDataLst>
          </p:nvPr>
        </p:nvSpPr>
        <p:spPr>
          <a:xfrm>
            <a:off x="4661402" y="1644930"/>
            <a:ext cx="945356" cy="945356"/>
          </a:xfrm>
          <a:prstGeom prst="ellipse">
            <a:avLst/>
          </a:prstGeom>
          <a:solidFill>
            <a:srgbClr val="000000">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latin typeface="Arial" panose="020B0604020202020204"/>
              <a:ea typeface="微软雅黑" panose="020B0503020204020204" charset="-122"/>
              <a:sym typeface="Arial" panose="020B0604020202020204"/>
            </a:endParaRPr>
          </a:p>
        </p:txBody>
      </p:sp>
      <p:sp>
        <p:nvSpPr>
          <p:cNvPr id="11" name="MH_Other_9"/>
          <p:cNvSpPr/>
          <p:nvPr>
            <p:custDataLst>
              <p:tags r:id="rId9"/>
            </p:custDataLst>
          </p:nvPr>
        </p:nvSpPr>
        <p:spPr>
          <a:xfrm>
            <a:off x="2781404" y="1644930"/>
            <a:ext cx="945356" cy="945356"/>
          </a:xfrm>
          <a:prstGeom prst="pie">
            <a:avLst>
              <a:gd name="adj1" fmla="val 6867115"/>
              <a:gd name="adj2" fmla="val 16237279"/>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2" name="MH_Other_10"/>
          <p:cNvSpPr/>
          <p:nvPr>
            <p:custDataLst>
              <p:tags r:id="rId10"/>
            </p:custDataLst>
          </p:nvPr>
        </p:nvSpPr>
        <p:spPr>
          <a:xfrm>
            <a:off x="2611146" y="1474671"/>
            <a:ext cx="1285875" cy="1285875"/>
          </a:xfrm>
          <a:prstGeom prst="donut">
            <a:avLst>
              <a:gd name="adj" fmla="val 9894"/>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3" name="MH_Other_11"/>
          <p:cNvSpPr/>
          <p:nvPr>
            <p:custDataLst>
              <p:tags r:id="rId11"/>
            </p:custDataLst>
          </p:nvPr>
        </p:nvSpPr>
        <p:spPr>
          <a:xfrm>
            <a:off x="4661402" y="1644930"/>
            <a:ext cx="945356" cy="945356"/>
          </a:xfrm>
          <a:prstGeom prst="pie">
            <a:avLst>
              <a:gd name="adj1" fmla="val 2187673"/>
              <a:gd name="adj2" fmla="val 16237279"/>
            </a:avLst>
          </a:prstGeom>
          <a:solidFill>
            <a:srgbClr val="EA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4" name="MH_Other_12"/>
          <p:cNvSpPr/>
          <p:nvPr>
            <p:custDataLst>
              <p:tags r:id="rId12"/>
            </p:custDataLst>
          </p:nvPr>
        </p:nvSpPr>
        <p:spPr>
          <a:xfrm>
            <a:off x="4491142" y="1474671"/>
            <a:ext cx="1285875" cy="1285875"/>
          </a:xfrm>
          <a:prstGeom prst="donut">
            <a:avLst>
              <a:gd name="adj" fmla="val 9894"/>
            </a:avLst>
          </a:prstGeom>
          <a:solidFill>
            <a:srgbClr val="EA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5" name="MH_Other_13"/>
          <p:cNvSpPr/>
          <p:nvPr>
            <p:custDataLst>
              <p:tags r:id="rId13"/>
            </p:custDataLst>
          </p:nvPr>
        </p:nvSpPr>
        <p:spPr>
          <a:xfrm>
            <a:off x="6540208" y="1644930"/>
            <a:ext cx="945356" cy="945356"/>
          </a:xfrm>
          <a:prstGeom prst="pie">
            <a:avLst>
              <a:gd name="adj1" fmla="val 13057715"/>
              <a:gd name="adj2" fmla="val 16237279"/>
            </a:avLst>
          </a:prstGeom>
          <a:solidFill>
            <a:srgbClr val="FF535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6" name="MH_Other_14"/>
          <p:cNvSpPr/>
          <p:nvPr>
            <p:custDataLst>
              <p:tags r:id="rId14"/>
            </p:custDataLst>
          </p:nvPr>
        </p:nvSpPr>
        <p:spPr>
          <a:xfrm>
            <a:off x="6371139" y="1474671"/>
            <a:ext cx="1284684" cy="1285875"/>
          </a:xfrm>
          <a:prstGeom prst="donut">
            <a:avLst>
              <a:gd name="adj" fmla="val 9894"/>
            </a:avLst>
          </a:prstGeom>
          <a:solidFill>
            <a:srgbClr val="FF535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7" name="MH_Other_15"/>
          <p:cNvSpPr/>
          <p:nvPr>
            <p:custDataLst>
              <p:tags r:id="rId15"/>
            </p:custDataLst>
          </p:nvPr>
        </p:nvSpPr>
        <p:spPr>
          <a:xfrm>
            <a:off x="8420204" y="1644930"/>
            <a:ext cx="945356" cy="945356"/>
          </a:xfrm>
          <a:prstGeom prst="pie">
            <a:avLst>
              <a:gd name="adj1" fmla="val 19226101"/>
              <a:gd name="adj2" fmla="val 16237279"/>
            </a:avLst>
          </a:prstGeom>
          <a:solidFill>
            <a:srgbClr val="FF97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8" name="MH_Other_16"/>
          <p:cNvSpPr/>
          <p:nvPr>
            <p:custDataLst>
              <p:tags r:id="rId16"/>
            </p:custDataLst>
          </p:nvPr>
        </p:nvSpPr>
        <p:spPr>
          <a:xfrm>
            <a:off x="8249946" y="1474671"/>
            <a:ext cx="1285875" cy="1285875"/>
          </a:xfrm>
          <a:prstGeom prst="donut">
            <a:avLst>
              <a:gd name="adj" fmla="val 9894"/>
            </a:avLst>
          </a:prstGeom>
          <a:solidFill>
            <a:srgbClr val="FF979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schemeClr val="tx1"/>
              </a:solidFill>
              <a:latin typeface="Arial" panose="020B0604020202020204"/>
              <a:ea typeface="微软雅黑" panose="020B0503020204020204" charset="-122"/>
              <a:sym typeface="Arial" panose="020B0604020202020204"/>
            </a:endParaRPr>
          </a:p>
        </p:txBody>
      </p:sp>
      <p:sp>
        <p:nvSpPr>
          <p:cNvPr id="19" name="MH_Other_17"/>
          <p:cNvSpPr/>
          <p:nvPr>
            <p:custDataLst>
              <p:tags r:id="rId17"/>
            </p:custDataLst>
          </p:nvPr>
        </p:nvSpPr>
        <p:spPr>
          <a:xfrm>
            <a:off x="2794656" y="4309608"/>
            <a:ext cx="945356" cy="944165"/>
          </a:xfrm>
          <a:prstGeom prst="pie">
            <a:avLst>
              <a:gd name="adj1" fmla="val 11833589"/>
              <a:gd name="adj2" fmla="val 16237279"/>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0" name="MH_Other_18"/>
          <p:cNvSpPr/>
          <p:nvPr>
            <p:custDataLst>
              <p:tags r:id="rId18"/>
            </p:custDataLst>
          </p:nvPr>
        </p:nvSpPr>
        <p:spPr>
          <a:xfrm>
            <a:off x="2624398" y="4139348"/>
            <a:ext cx="1285875" cy="1284685"/>
          </a:xfrm>
          <a:prstGeom prst="donut">
            <a:avLst>
              <a:gd name="adj" fmla="val 9894"/>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1" name="MH_Other_19"/>
          <p:cNvSpPr/>
          <p:nvPr>
            <p:custDataLst>
              <p:tags r:id="rId19"/>
            </p:custDataLst>
          </p:nvPr>
        </p:nvSpPr>
        <p:spPr>
          <a:xfrm>
            <a:off x="4674654" y="4309608"/>
            <a:ext cx="945356" cy="944165"/>
          </a:xfrm>
          <a:prstGeom prst="pie">
            <a:avLst>
              <a:gd name="adj1" fmla="val 21260918"/>
              <a:gd name="adj2" fmla="val 16237279"/>
            </a:avLst>
          </a:prstGeom>
          <a:solidFill>
            <a:schemeClr val="bg2">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2" name="MH_Other_20"/>
          <p:cNvSpPr/>
          <p:nvPr>
            <p:custDataLst>
              <p:tags r:id="rId20"/>
            </p:custDataLst>
          </p:nvPr>
        </p:nvSpPr>
        <p:spPr>
          <a:xfrm>
            <a:off x="4504394" y="4139348"/>
            <a:ext cx="1285875" cy="1284685"/>
          </a:xfrm>
          <a:prstGeom prst="donut">
            <a:avLst>
              <a:gd name="adj" fmla="val 9894"/>
            </a:avLst>
          </a:prstGeom>
          <a:solidFill>
            <a:schemeClr val="bg2">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3" name="MH_Other_21"/>
          <p:cNvSpPr/>
          <p:nvPr>
            <p:custDataLst>
              <p:tags r:id="rId21"/>
            </p:custDataLst>
          </p:nvPr>
        </p:nvSpPr>
        <p:spPr>
          <a:xfrm>
            <a:off x="6553460" y="4309608"/>
            <a:ext cx="945356" cy="944165"/>
          </a:xfrm>
          <a:prstGeom prst="pie">
            <a:avLst>
              <a:gd name="adj1" fmla="val 9777049"/>
              <a:gd name="adj2" fmla="val 16237279"/>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4" name="MH_Other_22"/>
          <p:cNvSpPr/>
          <p:nvPr>
            <p:custDataLst>
              <p:tags r:id="rId22"/>
            </p:custDataLst>
          </p:nvPr>
        </p:nvSpPr>
        <p:spPr>
          <a:xfrm>
            <a:off x="6384391" y="4139348"/>
            <a:ext cx="1284684" cy="1284685"/>
          </a:xfrm>
          <a:prstGeom prst="donut">
            <a:avLst>
              <a:gd name="adj" fmla="val 9894"/>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5" name="MH_Other_23"/>
          <p:cNvSpPr/>
          <p:nvPr>
            <p:custDataLst>
              <p:tags r:id="rId23"/>
            </p:custDataLst>
          </p:nvPr>
        </p:nvSpPr>
        <p:spPr>
          <a:xfrm>
            <a:off x="8433456" y="4309608"/>
            <a:ext cx="945356" cy="944165"/>
          </a:xfrm>
          <a:prstGeom prst="pie">
            <a:avLst>
              <a:gd name="adj1" fmla="val 9498550"/>
              <a:gd name="adj2" fmla="val 16237279"/>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6" name="MH_Other_24"/>
          <p:cNvSpPr/>
          <p:nvPr>
            <p:custDataLst>
              <p:tags r:id="rId24"/>
            </p:custDataLst>
          </p:nvPr>
        </p:nvSpPr>
        <p:spPr>
          <a:xfrm>
            <a:off x="8263198" y="4139348"/>
            <a:ext cx="1285875" cy="1284685"/>
          </a:xfrm>
          <a:prstGeom prst="donut">
            <a:avLst>
              <a:gd name="adj" fmla="val 9894"/>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dirty="0">
              <a:solidFill>
                <a:schemeClr val="tx1"/>
              </a:solidFill>
              <a:latin typeface="Arial" panose="020B0604020202020204"/>
              <a:ea typeface="微软雅黑" panose="020B0503020204020204" charset="-122"/>
              <a:sym typeface="Arial" panose="020B0604020202020204"/>
            </a:endParaRPr>
          </a:p>
        </p:txBody>
      </p:sp>
      <p:sp>
        <p:nvSpPr>
          <p:cNvPr id="27" name="MH_SubTitle_1"/>
          <p:cNvSpPr txBox="1"/>
          <p:nvPr>
            <p:custDataLst>
              <p:tags r:id="rId25"/>
            </p:custDataLst>
          </p:nvPr>
        </p:nvSpPr>
        <p:spPr bwMode="auto">
          <a:xfrm>
            <a:off x="2531163" y="2837935"/>
            <a:ext cx="1376779" cy="263077"/>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1</a:t>
            </a:r>
            <a:endParaRPr lang="zh-CN" altLang="en-US" sz="1600" dirty="0">
              <a:latin typeface="Arial" panose="020B0604020202020204"/>
              <a:ea typeface="微软雅黑" panose="020B0503020204020204" charset="-122"/>
              <a:sym typeface="Arial" panose="020B0604020202020204"/>
            </a:endParaRPr>
          </a:p>
        </p:txBody>
      </p:sp>
      <p:sp>
        <p:nvSpPr>
          <p:cNvPr id="28" name="MH_SubTitle_2"/>
          <p:cNvSpPr txBox="1"/>
          <p:nvPr>
            <p:custDataLst>
              <p:tags r:id="rId26"/>
            </p:custDataLst>
          </p:nvPr>
        </p:nvSpPr>
        <p:spPr bwMode="auto">
          <a:xfrm>
            <a:off x="4422658" y="2837935"/>
            <a:ext cx="1376779" cy="263077"/>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2</a:t>
            </a:r>
            <a:endParaRPr lang="zh-CN" altLang="en-US" sz="1600" dirty="0">
              <a:latin typeface="Arial" panose="020B0604020202020204"/>
              <a:ea typeface="微软雅黑" panose="020B0503020204020204" charset="-122"/>
              <a:sym typeface="Arial" panose="020B0604020202020204"/>
            </a:endParaRPr>
          </a:p>
        </p:txBody>
      </p:sp>
      <p:sp>
        <p:nvSpPr>
          <p:cNvPr id="29" name="MH_SubTitle_3"/>
          <p:cNvSpPr txBox="1"/>
          <p:nvPr>
            <p:custDataLst>
              <p:tags r:id="rId27"/>
            </p:custDataLst>
          </p:nvPr>
        </p:nvSpPr>
        <p:spPr bwMode="auto">
          <a:xfrm>
            <a:off x="6314153" y="2837935"/>
            <a:ext cx="1376779" cy="263077"/>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3</a:t>
            </a:r>
            <a:endParaRPr lang="zh-CN" altLang="en-US" sz="1600" dirty="0">
              <a:latin typeface="Arial" panose="020B0604020202020204"/>
              <a:ea typeface="微软雅黑" panose="020B0503020204020204" charset="-122"/>
              <a:sym typeface="Arial" panose="020B0604020202020204"/>
            </a:endParaRPr>
          </a:p>
        </p:txBody>
      </p:sp>
      <p:sp>
        <p:nvSpPr>
          <p:cNvPr id="30" name="MH_SubTitle_4"/>
          <p:cNvSpPr txBox="1"/>
          <p:nvPr>
            <p:custDataLst>
              <p:tags r:id="rId28"/>
            </p:custDataLst>
          </p:nvPr>
        </p:nvSpPr>
        <p:spPr bwMode="auto">
          <a:xfrm>
            <a:off x="8205648" y="2837935"/>
            <a:ext cx="1378313" cy="263077"/>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4</a:t>
            </a:r>
            <a:endParaRPr lang="zh-CN" altLang="en-US" sz="1600" dirty="0">
              <a:latin typeface="Arial" panose="020B0604020202020204"/>
              <a:ea typeface="微软雅黑" panose="020B0503020204020204" charset="-122"/>
              <a:sym typeface="Arial" panose="020B0604020202020204"/>
            </a:endParaRPr>
          </a:p>
        </p:txBody>
      </p:sp>
      <p:sp>
        <p:nvSpPr>
          <p:cNvPr id="31" name="MH_SubTitle_5"/>
          <p:cNvSpPr txBox="1"/>
          <p:nvPr>
            <p:custDataLst>
              <p:tags r:id="rId29"/>
            </p:custDataLst>
          </p:nvPr>
        </p:nvSpPr>
        <p:spPr bwMode="auto">
          <a:xfrm>
            <a:off x="2732745" y="5516901"/>
            <a:ext cx="1069181" cy="315515"/>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5</a:t>
            </a:r>
            <a:endParaRPr lang="zh-CN" altLang="en-US" sz="1600" dirty="0">
              <a:latin typeface="Arial" panose="020B0604020202020204"/>
              <a:ea typeface="微软雅黑" panose="020B0503020204020204" charset="-122"/>
              <a:sym typeface="Arial" panose="020B0604020202020204"/>
            </a:endParaRPr>
          </a:p>
        </p:txBody>
      </p:sp>
      <p:sp>
        <p:nvSpPr>
          <p:cNvPr id="32" name="MH_SubTitle_6"/>
          <p:cNvSpPr txBox="1"/>
          <p:nvPr>
            <p:custDataLst>
              <p:tags r:id="rId30"/>
            </p:custDataLst>
          </p:nvPr>
        </p:nvSpPr>
        <p:spPr bwMode="auto">
          <a:xfrm>
            <a:off x="4616314" y="5516901"/>
            <a:ext cx="1069181" cy="315515"/>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6</a:t>
            </a:r>
            <a:endParaRPr lang="zh-CN" altLang="en-US" sz="1600" dirty="0">
              <a:latin typeface="Arial" panose="020B0604020202020204"/>
              <a:ea typeface="微软雅黑" panose="020B0503020204020204" charset="-122"/>
              <a:sym typeface="Arial" panose="020B0604020202020204"/>
            </a:endParaRPr>
          </a:p>
        </p:txBody>
      </p:sp>
      <p:sp>
        <p:nvSpPr>
          <p:cNvPr id="33" name="MH_SubTitle_7"/>
          <p:cNvSpPr txBox="1"/>
          <p:nvPr>
            <p:custDataLst>
              <p:tags r:id="rId31"/>
            </p:custDataLst>
          </p:nvPr>
        </p:nvSpPr>
        <p:spPr bwMode="auto">
          <a:xfrm>
            <a:off x="6498692" y="5516901"/>
            <a:ext cx="1069181" cy="315515"/>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7</a:t>
            </a:r>
            <a:endParaRPr lang="zh-CN" altLang="en-US" sz="1600" dirty="0">
              <a:latin typeface="Arial" panose="020B0604020202020204"/>
              <a:ea typeface="微软雅黑" panose="020B0503020204020204" charset="-122"/>
              <a:sym typeface="Arial" panose="020B0604020202020204"/>
            </a:endParaRPr>
          </a:p>
        </p:txBody>
      </p:sp>
      <p:sp>
        <p:nvSpPr>
          <p:cNvPr id="34" name="MH_SubTitle_8"/>
          <p:cNvSpPr txBox="1"/>
          <p:nvPr>
            <p:custDataLst>
              <p:tags r:id="rId32"/>
            </p:custDataLst>
          </p:nvPr>
        </p:nvSpPr>
        <p:spPr bwMode="auto">
          <a:xfrm>
            <a:off x="8394321" y="5516901"/>
            <a:ext cx="1070372" cy="315515"/>
          </a:xfrm>
          <a:prstGeom prst="rect">
            <a:avLst/>
          </a:prstGeom>
          <a:noFill/>
        </p:spPr>
        <p:txBody>
          <a:bodyPr anchor="ctr">
            <a:noAutofit/>
          </a:bodyPr>
          <a:lstStyle>
            <a:defPPr>
              <a:defRPr lang="zh-CN"/>
            </a:defPPr>
            <a:lvl1pPr fontAlgn="auto">
              <a:spcBef>
                <a:spcPts val="0"/>
              </a:spcBef>
              <a:spcAft>
                <a:spcPts val="0"/>
              </a:spcAft>
              <a:defRPr sz="1200" spc="300">
                <a:latin typeface="微软雅黑" panose="020B0503020204020204" charset="-122"/>
                <a:ea typeface="微软雅黑" panose="020B0503020204020204" charset="-122"/>
                <a:cs typeface="Arial" panose="020B0604020202020204" pitchFamily="34" charset="0"/>
              </a:defRPr>
            </a:lvl1pPr>
          </a:lstStyle>
          <a:p>
            <a:pPr algn="ctr">
              <a:defRPr/>
            </a:pPr>
            <a:r>
              <a:rPr lang="zh-CN" altLang="en-US" sz="1600" dirty="0">
                <a:latin typeface="Arial" panose="020B0604020202020204"/>
                <a:ea typeface="微软雅黑" panose="020B0503020204020204" charset="-122"/>
                <a:sym typeface="Arial" panose="020B0604020202020204"/>
              </a:rPr>
              <a:t>指标</a:t>
            </a:r>
            <a:r>
              <a:rPr lang="en-US" altLang="zh-CN" sz="1600" dirty="0">
                <a:latin typeface="Arial" panose="020B0604020202020204"/>
                <a:ea typeface="微软雅黑" panose="020B0503020204020204" charset="-122"/>
                <a:sym typeface="Arial" panose="020B0604020202020204"/>
              </a:rPr>
              <a:t>8</a:t>
            </a:r>
            <a:endParaRPr lang="zh-CN" altLang="en-US" sz="1600" dirty="0">
              <a:latin typeface="Arial" panose="020B0604020202020204"/>
              <a:ea typeface="微软雅黑" panose="020B0503020204020204" charset="-122"/>
              <a:sym typeface="Arial" panose="020B0604020202020204"/>
            </a:endParaRPr>
          </a:p>
        </p:txBody>
      </p:sp>
      <p:sp>
        <p:nvSpPr>
          <p:cNvPr id="35" name="矩形 34"/>
          <p:cNvSpPr/>
          <p:nvPr/>
        </p:nvSpPr>
        <p:spPr>
          <a:xfrm>
            <a:off x="2511576" y="3177212"/>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36" name="矩形 35"/>
          <p:cNvSpPr/>
          <p:nvPr/>
        </p:nvSpPr>
        <p:spPr>
          <a:xfrm>
            <a:off x="4453019" y="5840898"/>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37" name="矩形 36"/>
          <p:cNvSpPr/>
          <p:nvPr/>
        </p:nvSpPr>
        <p:spPr>
          <a:xfrm>
            <a:off x="2538081" y="5840898"/>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38" name="矩形 37"/>
          <p:cNvSpPr/>
          <p:nvPr/>
        </p:nvSpPr>
        <p:spPr>
          <a:xfrm>
            <a:off x="8176880" y="3177212"/>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39" name="矩形 38"/>
          <p:cNvSpPr/>
          <p:nvPr/>
        </p:nvSpPr>
        <p:spPr>
          <a:xfrm>
            <a:off x="6275193" y="3177212"/>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40" name="矩形 39"/>
          <p:cNvSpPr/>
          <p:nvPr/>
        </p:nvSpPr>
        <p:spPr>
          <a:xfrm>
            <a:off x="4413263" y="3177212"/>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41" name="矩形 40"/>
          <p:cNvSpPr/>
          <p:nvPr/>
        </p:nvSpPr>
        <p:spPr>
          <a:xfrm>
            <a:off x="8210010" y="5840898"/>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42" name="矩形 41"/>
          <p:cNvSpPr/>
          <p:nvPr/>
        </p:nvSpPr>
        <p:spPr>
          <a:xfrm>
            <a:off x="6334827" y="5840898"/>
            <a:ext cx="1411068" cy="461665"/>
          </a:xfrm>
          <a:prstGeom prst="rect">
            <a:avLst/>
          </a:prstGeom>
        </p:spPr>
        <p:txBody>
          <a:bodyPr wrap="square">
            <a:spAutoFit/>
          </a:bodyPr>
          <a:lstStyle/>
          <a:p>
            <a:r>
              <a:rPr lang="zh-CN" altLang="en-US" sz="1200" dirty="0">
                <a:latin typeface="Arial" panose="020B0604020202020204"/>
                <a:ea typeface="微软雅黑" panose="020B0503020204020204" charset="-122"/>
                <a:sym typeface="Arial" panose="020B0604020202020204"/>
              </a:rPr>
              <a:t>此处添加内容此处添加内容</a:t>
            </a:r>
          </a:p>
        </p:txBody>
      </p:sp>
      <p:sp>
        <p:nvSpPr>
          <p:cNvPr id="43" name="文本框 42"/>
          <p:cNvSpPr txBox="1"/>
          <p:nvPr/>
        </p:nvSpPr>
        <p:spPr>
          <a:xfrm>
            <a:off x="3233530" y="1974574"/>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25%</a:t>
            </a:r>
            <a:endParaRPr lang="zh-CN" altLang="en-US" sz="1600" dirty="0">
              <a:latin typeface="Arial" panose="020B0604020202020204"/>
              <a:ea typeface="微软雅黑" panose="020B0503020204020204" charset="-122"/>
              <a:sym typeface="Arial" panose="020B0604020202020204"/>
            </a:endParaRPr>
          </a:p>
        </p:txBody>
      </p:sp>
      <p:sp>
        <p:nvSpPr>
          <p:cNvPr id="44" name="文本框 43"/>
          <p:cNvSpPr txBox="1"/>
          <p:nvPr/>
        </p:nvSpPr>
        <p:spPr>
          <a:xfrm>
            <a:off x="5121965" y="1822174"/>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45%</a:t>
            </a:r>
            <a:endParaRPr lang="zh-CN" altLang="en-US" sz="1600" dirty="0">
              <a:latin typeface="Arial" panose="020B0604020202020204"/>
              <a:ea typeface="微软雅黑" panose="020B0503020204020204" charset="-122"/>
              <a:sym typeface="Arial" panose="020B0604020202020204"/>
            </a:endParaRPr>
          </a:p>
        </p:txBody>
      </p:sp>
      <p:sp>
        <p:nvSpPr>
          <p:cNvPr id="45" name="文本框 44"/>
          <p:cNvSpPr txBox="1"/>
          <p:nvPr/>
        </p:nvSpPr>
        <p:spPr>
          <a:xfrm>
            <a:off x="6871252" y="2087218"/>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18%</a:t>
            </a:r>
            <a:endParaRPr lang="zh-CN" altLang="en-US" sz="1600" dirty="0">
              <a:latin typeface="Arial" panose="020B0604020202020204"/>
              <a:ea typeface="微软雅黑" panose="020B0503020204020204" charset="-122"/>
              <a:sym typeface="Arial" panose="020B0604020202020204"/>
            </a:endParaRPr>
          </a:p>
        </p:txBody>
      </p:sp>
      <p:sp>
        <p:nvSpPr>
          <p:cNvPr id="46" name="文本框 45"/>
          <p:cNvSpPr txBox="1"/>
          <p:nvPr/>
        </p:nvSpPr>
        <p:spPr>
          <a:xfrm>
            <a:off x="8726556" y="2206487"/>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82%</a:t>
            </a:r>
            <a:endParaRPr lang="zh-CN" altLang="en-US" sz="1600" dirty="0">
              <a:latin typeface="Arial" panose="020B0604020202020204"/>
              <a:ea typeface="微软雅黑" panose="020B0503020204020204" charset="-122"/>
              <a:sym typeface="Arial" panose="020B0604020202020204"/>
            </a:endParaRPr>
          </a:p>
        </p:txBody>
      </p:sp>
      <p:sp>
        <p:nvSpPr>
          <p:cNvPr id="47" name="文本框 46"/>
          <p:cNvSpPr txBox="1"/>
          <p:nvPr/>
        </p:nvSpPr>
        <p:spPr>
          <a:xfrm>
            <a:off x="3147391" y="4790660"/>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22%</a:t>
            </a:r>
            <a:endParaRPr lang="zh-CN" altLang="en-US" sz="1600" dirty="0">
              <a:latin typeface="Arial" panose="020B0604020202020204"/>
              <a:ea typeface="微软雅黑" panose="020B0503020204020204" charset="-122"/>
              <a:sym typeface="Arial" panose="020B0604020202020204"/>
            </a:endParaRPr>
          </a:p>
        </p:txBody>
      </p:sp>
      <p:sp>
        <p:nvSpPr>
          <p:cNvPr id="48" name="文本框 47"/>
          <p:cNvSpPr txBox="1"/>
          <p:nvPr/>
        </p:nvSpPr>
        <p:spPr>
          <a:xfrm>
            <a:off x="5135217" y="4406348"/>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78%</a:t>
            </a:r>
            <a:endParaRPr lang="zh-CN" altLang="en-US" sz="1600" dirty="0">
              <a:latin typeface="Arial" panose="020B0604020202020204"/>
              <a:ea typeface="微软雅黑" panose="020B0503020204020204" charset="-122"/>
              <a:sym typeface="Arial" panose="020B0604020202020204"/>
            </a:endParaRPr>
          </a:p>
        </p:txBody>
      </p:sp>
      <p:sp>
        <p:nvSpPr>
          <p:cNvPr id="49" name="文本框 48"/>
          <p:cNvSpPr txBox="1"/>
          <p:nvPr/>
        </p:nvSpPr>
        <p:spPr>
          <a:xfrm>
            <a:off x="6990521" y="4671391"/>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30%</a:t>
            </a:r>
            <a:endParaRPr lang="zh-CN" altLang="en-US" sz="1600" dirty="0">
              <a:latin typeface="Arial" panose="020B0604020202020204"/>
              <a:ea typeface="微软雅黑" panose="020B0503020204020204" charset="-122"/>
              <a:sym typeface="Arial" panose="020B0604020202020204"/>
            </a:endParaRPr>
          </a:p>
        </p:txBody>
      </p:sp>
      <p:sp>
        <p:nvSpPr>
          <p:cNvPr id="50" name="文本框 49"/>
          <p:cNvSpPr txBox="1"/>
          <p:nvPr/>
        </p:nvSpPr>
        <p:spPr>
          <a:xfrm>
            <a:off x="8872330" y="4737652"/>
            <a:ext cx="595035" cy="338554"/>
          </a:xfrm>
          <a:prstGeom prst="rect">
            <a:avLst/>
          </a:prstGeom>
          <a:noFill/>
        </p:spPr>
        <p:txBody>
          <a:bodyPr wrap="none" rtlCol="0">
            <a:spAutoFit/>
          </a:bodyPr>
          <a:lstStyle/>
          <a:p>
            <a:r>
              <a:rPr lang="en-US" altLang="zh-CN" sz="1600" dirty="0">
                <a:latin typeface="Arial" panose="020B0604020202020204"/>
                <a:ea typeface="微软雅黑" panose="020B0503020204020204" charset="-122"/>
                <a:sym typeface="Arial" panose="020B0604020202020204"/>
              </a:rPr>
              <a:t>31%</a:t>
            </a:r>
            <a:endParaRPr lang="zh-CN" altLang="en-US" sz="1600" dirty="0">
              <a:latin typeface="Arial" panose="020B0604020202020204"/>
              <a:ea typeface="微软雅黑" panose="020B0503020204020204" charset="-122"/>
              <a:sym typeface="Arial" panose="020B0604020202020204"/>
            </a:endParaRPr>
          </a:p>
        </p:txBody>
      </p:sp>
      <p:sp>
        <p:nvSpPr>
          <p:cNvPr id="51" name="文本框 50"/>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anim calcmode="lin" valueType="num">
                                      <p:cBhvr>
                                        <p:cTn id="13" dur="500" fill="hold"/>
                                        <p:tgtEl>
                                          <p:spTgt spid="11"/>
                                        </p:tgtEl>
                                        <p:attrNameLst>
                                          <p:attrName>ppt_x</p:attrName>
                                        </p:attrNameLst>
                                      </p:cBhvr>
                                      <p:tavLst>
                                        <p:tav tm="0">
                                          <p:val>
                                            <p:strVal val="#ppt_x"/>
                                          </p:val>
                                        </p:tav>
                                        <p:tav tm="100000">
                                          <p:val>
                                            <p:strVal val="#ppt_x"/>
                                          </p:val>
                                        </p:tav>
                                      </p:tavLst>
                                    </p:anim>
                                    <p:anim calcmode="lin" valueType="num">
                                      <p:cBhvr>
                                        <p:cTn id="14" dur="5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anim calcmode="lin" valueType="num">
                                      <p:cBhvr>
                                        <p:cTn id="18" dur="500" fill="hold"/>
                                        <p:tgtEl>
                                          <p:spTgt spid="12"/>
                                        </p:tgtEl>
                                        <p:attrNameLst>
                                          <p:attrName>ppt_x</p:attrName>
                                        </p:attrNameLst>
                                      </p:cBhvr>
                                      <p:tavLst>
                                        <p:tav tm="0">
                                          <p:val>
                                            <p:strVal val="#ppt_x"/>
                                          </p:val>
                                        </p:tav>
                                        <p:tav tm="100000">
                                          <p:val>
                                            <p:strVal val="#ppt_x"/>
                                          </p:val>
                                        </p:tav>
                                      </p:tavLst>
                                    </p:anim>
                                    <p:anim calcmode="lin" valueType="num">
                                      <p:cBhvr>
                                        <p:cTn id="19" dur="5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anim calcmode="lin" valueType="num">
                                      <p:cBhvr>
                                        <p:cTn id="23" dur="500" fill="hold"/>
                                        <p:tgtEl>
                                          <p:spTgt spid="27"/>
                                        </p:tgtEl>
                                        <p:attrNameLst>
                                          <p:attrName>ppt_x</p:attrName>
                                        </p:attrNameLst>
                                      </p:cBhvr>
                                      <p:tavLst>
                                        <p:tav tm="0">
                                          <p:val>
                                            <p:strVal val="#ppt_x"/>
                                          </p:val>
                                        </p:tav>
                                        <p:tav tm="100000">
                                          <p:val>
                                            <p:strVal val="#ppt_x"/>
                                          </p:val>
                                        </p:tav>
                                      </p:tavLst>
                                    </p:anim>
                                    <p:anim calcmode="lin" valueType="num">
                                      <p:cBhvr>
                                        <p:cTn id="24" dur="500" fill="hold"/>
                                        <p:tgtEl>
                                          <p:spTgt spid="2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anim calcmode="lin" valueType="num">
                                      <p:cBhvr>
                                        <p:cTn id="28" dur="500" fill="hold"/>
                                        <p:tgtEl>
                                          <p:spTgt spid="35"/>
                                        </p:tgtEl>
                                        <p:attrNameLst>
                                          <p:attrName>ppt_x</p:attrName>
                                        </p:attrNameLst>
                                      </p:cBhvr>
                                      <p:tavLst>
                                        <p:tav tm="0">
                                          <p:val>
                                            <p:strVal val="#ppt_x"/>
                                          </p:val>
                                        </p:tav>
                                        <p:tav tm="100000">
                                          <p:val>
                                            <p:strVal val="#ppt_x"/>
                                          </p:val>
                                        </p:tav>
                                      </p:tavLst>
                                    </p:anim>
                                    <p:anim calcmode="lin" valueType="num">
                                      <p:cBhvr>
                                        <p:cTn id="29" dur="500" fill="hold"/>
                                        <p:tgtEl>
                                          <p:spTgt spid="3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anim calcmode="lin" valueType="num">
                                      <p:cBhvr>
                                        <p:cTn id="33" dur="500" fill="hold"/>
                                        <p:tgtEl>
                                          <p:spTgt spid="43"/>
                                        </p:tgtEl>
                                        <p:attrNameLst>
                                          <p:attrName>ppt_x</p:attrName>
                                        </p:attrNameLst>
                                      </p:cBhvr>
                                      <p:tavLst>
                                        <p:tav tm="0">
                                          <p:val>
                                            <p:strVal val="#ppt_x"/>
                                          </p:val>
                                        </p:tav>
                                        <p:tav tm="100000">
                                          <p:val>
                                            <p:strVal val="#ppt_x"/>
                                          </p:val>
                                        </p:tav>
                                      </p:tavLst>
                                    </p:anim>
                                    <p:anim calcmode="lin" valueType="num">
                                      <p:cBhvr>
                                        <p:cTn id="34" dur="5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ppt_x</p:attrName>
                                        </p:attrNameLst>
                                      </p:cBhvr>
                                      <p:tavLst>
                                        <p:tav tm="0">
                                          <p:val>
                                            <p:strVal val="#ppt_x"/>
                                          </p:val>
                                        </p:tav>
                                        <p:tav tm="100000">
                                          <p:val>
                                            <p:strVal val="#ppt_x"/>
                                          </p:val>
                                        </p:tav>
                                      </p:tavLst>
                                    </p:anim>
                                    <p:anim calcmode="lin" valueType="num">
                                      <p:cBhvr>
                                        <p:cTn id="41" dur="5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anim calcmode="lin" valueType="num">
                                      <p:cBhvr>
                                        <p:cTn id="45" dur="500" fill="hold"/>
                                        <p:tgtEl>
                                          <p:spTgt spid="13"/>
                                        </p:tgtEl>
                                        <p:attrNameLst>
                                          <p:attrName>ppt_x</p:attrName>
                                        </p:attrNameLst>
                                      </p:cBhvr>
                                      <p:tavLst>
                                        <p:tav tm="0">
                                          <p:val>
                                            <p:strVal val="#ppt_x"/>
                                          </p:val>
                                        </p:tav>
                                        <p:tav tm="100000">
                                          <p:val>
                                            <p:strVal val="#ppt_x"/>
                                          </p:val>
                                        </p:tav>
                                      </p:tavLst>
                                    </p:anim>
                                    <p:anim calcmode="lin" valueType="num">
                                      <p:cBhvr>
                                        <p:cTn id="46" dur="500" fill="hold"/>
                                        <p:tgtEl>
                                          <p:spTgt spid="13"/>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anim calcmode="lin" valueType="num">
                                      <p:cBhvr>
                                        <p:cTn id="50" dur="500" fill="hold"/>
                                        <p:tgtEl>
                                          <p:spTgt spid="14"/>
                                        </p:tgtEl>
                                        <p:attrNameLst>
                                          <p:attrName>ppt_x</p:attrName>
                                        </p:attrNameLst>
                                      </p:cBhvr>
                                      <p:tavLst>
                                        <p:tav tm="0">
                                          <p:val>
                                            <p:strVal val="#ppt_x"/>
                                          </p:val>
                                        </p:tav>
                                        <p:tav tm="100000">
                                          <p:val>
                                            <p:strVal val="#ppt_x"/>
                                          </p:val>
                                        </p:tav>
                                      </p:tavLst>
                                    </p:anim>
                                    <p:anim calcmode="lin" valueType="num">
                                      <p:cBhvr>
                                        <p:cTn id="51" dur="500" fill="hold"/>
                                        <p:tgtEl>
                                          <p:spTgt spid="14"/>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anim calcmode="lin" valueType="num">
                                      <p:cBhvr>
                                        <p:cTn id="55" dur="500" fill="hold"/>
                                        <p:tgtEl>
                                          <p:spTgt spid="28"/>
                                        </p:tgtEl>
                                        <p:attrNameLst>
                                          <p:attrName>ppt_x</p:attrName>
                                        </p:attrNameLst>
                                      </p:cBhvr>
                                      <p:tavLst>
                                        <p:tav tm="0">
                                          <p:val>
                                            <p:strVal val="#ppt_x"/>
                                          </p:val>
                                        </p:tav>
                                        <p:tav tm="100000">
                                          <p:val>
                                            <p:strVal val="#ppt_x"/>
                                          </p:val>
                                        </p:tav>
                                      </p:tavLst>
                                    </p:anim>
                                    <p:anim calcmode="lin" valueType="num">
                                      <p:cBhvr>
                                        <p:cTn id="56" dur="500" fill="hold"/>
                                        <p:tgtEl>
                                          <p:spTgt spid="28"/>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anim calcmode="lin" valueType="num">
                                      <p:cBhvr>
                                        <p:cTn id="60" dur="500" fill="hold"/>
                                        <p:tgtEl>
                                          <p:spTgt spid="40"/>
                                        </p:tgtEl>
                                        <p:attrNameLst>
                                          <p:attrName>ppt_x</p:attrName>
                                        </p:attrNameLst>
                                      </p:cBhvr>
                                      <p:tavLst>
                                        <p:tav tm="0">
                                          <p:val>
                                            <p:strVal val="#ppt_x"/>
                                          </p:val>
                                        </p:tav>
                                        <p:tav tm="100000">
                                          <p:val>
                                            <p:strVal val="#ppt_x"/>
                                          </p:val>
                                        </p:tav>
                                      </p:tavLst>
                                    </p:anim>
                                    <p:anim calcmode="lin" valueType="num">
                                      <p:cBhvr>
                                        <p:cTn id="61" dur="500" fill="hold"/>
                                        <p:tgtEl>
                                          <p:spTgt spid="4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500"/>
                                        <p:tgtEl>
                                          <p:spTgt spid="44"/>
                                        </p:tgtEl>
                                      </p:cBhvr>
                                    </p:animEffect>
                                    <p:anim calcmode="lin" valueType="num">
                                      <p:cBhvr>
                                        <p:cTn id="65" dur="500" fill="hold"/>
                                        <p:tgtEl>
                                          <p:spTgt spid="44"/>
                                        </p:tgtEl>
                                        <p:attrNameLst>
                                          <p:attrName>ppt_x</p:attrName>
                                        </p:attrNameLst>
                                      </p:cBhvr>
                                      <p:tavLst>
                                        <p:tav tm="0">
                                          <p:val>
                                            <p:strVal val="#ppt_x"/>
                                          </p:val>
                                        </p:tav>
                                        <p:tav tm="100000">
                                          <p:val>
                                            <p:strVal val="#ppt_x"/>
                                          </p:val>
                                        </p:tav>
                                      </p:tavLst>
                                    </p:anim>
                                    <p:anim calcmode="lin" valueType="num">
                                      <p:cBhvr>
                                        <p:cTn id="66"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500"/>
                                        <p:tgtEl>
                                          <p:spTgt spid="9"/>
                                        </p:tgtEl>
                                      </p:cBhvr>
                                    </p:animEffect>
                                    <p:anim calcmode="lin" valueType="num">
                                      <p:cBhvr>
                                        <p:cTn id="72" dur="500" fill="hold"/>
                                        <p:tgtEl>
                                          <p:spTgt spid="9"/>
                                        </p:tgtEl>
                                        <p:attrNameLst>
                                          <p:attrName>ppt_x</p:attrName>
                                        </p:attrNameLst>
                                      </p:cBhvr>
                                      <p:tavLst>
                                        <p:tav tm="0">
                                          <p:val>
                                            <p:strVal val="#ppt_x"/>
                                          </p:val>
                                        </p:tav>
                                        <p:tav tm="100000">
                                          <p:val>
                                            <p:strVal val="#ppt_x"/>
                                          </p:val>
                                        </p:tav>
                                      </p:tavLst>
                                    </p:anim>
                                    <p:anim calcmode="lin" valueType="num">
                                      <p:cBhvr>
                                        <p:cTn id="73" dur="500" fill="hold"/>
                                        <p:tgtEl>
                                          <p:spTgt spid="9"/>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anim calcmode="lin" valueType="num">
                                      <p:cBhvr>
                                        <p:cTn id="77" dur="500" fill="hold"/>
                                        <p:tgtEl>
                                          <p:spTgt spid="15"/>
                                        </p:tgtEl>
                                        <p:attrNameLst>
                                          <p:attrName>ppt_x</p:attrName>
                                        </p:attrNameLst>
                                      </p:cBhvr>
                                      <p:tavLst>
                                        <p:tav tm="0">
                                          <p:val>
                                            <p:strVal val="#ppt_x"/>
                                          </p:val>
                                        </p:tav>
                                        <p:tav tm="100000">
                                          <p:val>
                                            <p:strVal val="#ppt_x"/>
                                          </p:val>
                                        </p:tav>
                                      </p:tavLst>
                                    </p:anim>
                                    <p:anim calcmode="lin" valueType="num">
                                      <p:cBhvr>
                                        <p:cTn id="78" dur="500" fill="hold"/>
                                        <p:tgtEl>
                                          <p:spTgt spid="15"/>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500"/>
                                        <p:tgtEl>
                                          <p:spTgt spid="16"/>
                                        </p:tgtEl>
                                      </p:cBhvr>
                                    </p:animEffect>
                                    <p:anim calcmode="lin" valueType="num">
                                      <p:cBhvr>
                                        <p:cTn id="82" dur="500" fill="hold"/>
                                        <p:tgtEl>
                                          <p:spTgt spid="16"/>
                                        </p:tgtEl>
                                        <p:attrNameLst>
                                          <p:attrName>ppt_x</p:attrName>
                                        </p:attrNameLst>
                                      </p:cBhvr>
                                      <p:tavLst>
                                        <p:tav tm="0">
                                          <p:val>
                                            <p:strVal val="#ppt_x"/>
                                          </p:val>
                                        </p:tav>
                                        <p:tav tm="100000">
                                          <p:val>
                                            <p:strVal val="#ppt_x"/>
                                          </p:val>
                                        </p:tav>
                                      </p:tavLst>
                                    </p:anim>
                                    <p:anim calcmode="lin" valueType="num">
                                      <p:cBhvr>
                                        <p:cTn id="83" dur="500" fill="hold"/>
                                        <p:tgtEl>
                                          <p:spTgt spid="16"/>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anim calcmode="lin" valueType="num">
                                      <p:cBhvr>
                                        <p:cTn id="87" dur="500" fill="hold"/>
                                        <p:tgtEl>
                                          <p:spTgt spid="29"/>
                                        </p:tgtEl>
                                        <p:attrNameLst>
                                          <p:attrName>ppt_x</p:attrName>
                                        </p:attrNameLst>
                                      </p:cBhvr>
                                      <p:tavLst>
                                        <p:tav tm="0">
                                          <p:val>
                                            <p:strVal val="#ppt_x"/>
                                          </p:val>
                                        </p:tav>
                                        <p:tav tm="100000">
                                          <p:val>
                                            <p:strVal val="#ppt_x"/>
                                          </p:val>
                                        </p:tav>
                                      </p:tavLst>
                                    </p:anim>
                                    <p:anim calcmode="lin" valueType="num">
                                      <p:cBhvr>
                                        <p:cTn id="88" dur="500" fill="hold"/>
                                        <p:tgtEl>
                                          <p:spTgt spid="29"/>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500"/>
                                        <p:tgtEl>
                                          <p:spTgt spid="39"/>
                                        </p:tgtEl>
                                      </p:cBhvr>
                                    </p:animEffect>
                                    <p:anim calcmode="lin" valueType="num">
                                      <p:cBhvr>
                                        <p:cTn id="92" dur="500" fill="hold"/>
                                        <p:tgtEl>
                                          <p:spTgt spid="39"/>
                                        </p:tgtEl>
                                        <p:attrNameLst>
                                          <p:attrName>ppt_x</p:attrName>
                                        </p:attrNameLst>
                                      </p:cBhvr>
                                      <p:tavLst>
                                        <p:tav tm="0">
                                          <p:val>
                                            <p:strVal val="#ppt_x"/>
                                          </p:val>
                                        </p:tav>
                                        <p:tav tm="100000">
                                          <p:val>
                                            <p:strVal val="#ppt_x"/>
                                          </p:val>
                                        </p:tav>
                                      </p:tavLst>
                                    </p:anim>
                                    <p:anim calcmode="lin" valueType="num">
                                      <p:cBhvr>
                                        <p:cTn id="93" dur="500" fill="hold"/>
                                        <p:tgtEl>
                                          <p:spTgt spid="39"/>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500"/>
                                        <p:tgtEl>
                                          <p:spTgt spid="45"/>
                                        </p:tgtEl>
                                      </p:cBhvr>
                                    </p:animEffect>
                                    <p:anim calcmode="lin" valueType="num">
                                      <p:cBhvr>
                                        <p:cTn id="97" dur="500" fill="hold"/>
                                        <p:tgtEl>
                                          <p:spTgt spid="45"/>
                                        </p:tgtEl>
                                        <p:attrNameLst>
                                          <p:attrName>ppt_x</p:attrName>
                                        </p:attrNameLst>
                                      </p:cBhvr>
                                      <p:tavLst>
                                        <p:tav tm="0">
                                          <p:val>
                                            <p:strVal val="#ppt_x"/>
                                          </p:val>
                                        </p:tav>
                                        <p:tav tm="100000">
                                          <p:val>
                                            <p:strVal val="#ppt_x"/>
                                          </p:val>
                                        </p:tav>
                                      </p:tavLst>
                                    </p:anim>
                                    <p:anim calcmode="lin" valueType="num">
                                      <p:cBhvr>
                                        <p:cTn id="98"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8"/>
                                        </p:tgtEl>
                                        <p:attrNameLst>
                                          <p:attrName>style.visibility</p:attrName>
                                        </p:attrNameLst>
                                      </p:cBhvr>
                                      <p:to>
                                        <p:strVal val="visible"/>
                                      </p:to>
                                    </p:set>
                                    <p:animEffect transition="in" filter="fade">
                                      <p:cBhvr>
                                        <p:cTn id="103" dur="500"/>
                                        <p:tgtEl>
                                          <p:spTgt spid="8"/>
                                        </p:tgtEl>
                                      </p:cBhvr>
                                    </p:animEffect>
                                    <p:anim calcmode="lin" valueType="num">
                                      <p:cBhvr>
                                        <p:cTn id="104" dur="500" fill="hold"/>
                                        <p:tgtEl>
                                          <p:spTgt spid="8"/>
                                        </p:tgtEl>
                                        <p:attrNameLst>
                                          <p:attrName>ppt_x</p:attrName>
                                        </p:attrNameLst>
                                      </p:cBhvr>
                                      <p:tavLst>
                                        <p:tav tm="0">
                                          <p:val>
                                            <p:strVal val="#ppt_x"/>
                                          </p:val>
                                        </p:tav>
                                        <p:tav tm="100000">
                                          <p:val>
                                            <p:strVal val="#ppt_x"/>
                                          </p:val>
                                        </p:tav>
                                      </p:tavLst>
                                    </p:anim>
                                    <p:anim calcmode="lin" valueType="num">
                                      <p:cBhvr>
                                        <p:cTn id="105" dur="500" fill="hold"/>
                                        <p:tgtEl>
                                          <p:spTgt spid="8"/>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17"/>
                                        </p:tgtEl>
                                        <p:attrNameLst>
                                          <p:attrName>style.visibility</p:attrName>
                                        </p:attrNameLst>
                                      </p:cBhvr>
                                      <p:to>
                                        <p:strVal val="visible"/>
                                      </p:to>
                                    </p:set>
                                    <p:animEffect transition="in" filter="fade">
                                      <p:cBhvr>
                                        <p:cTn id="108" dur="500"/>
                                        <p:tgtEl>
                                          <p:spTgt spid="17"/>
                                        </p:tgtEl>
                                      </p:cBhvr>
                                    </p:animEffect>
                                    <p:anim calcmode="lin" valueType="num">
                                      <p:cBhvr>
                                        <p:cTn id="109" dur="500" fill="hold"/>
                                        <p:tgtEl>
                                          <p:spTgt spid="17"/>
                                        </p:tgtEl>
                                        <p:attrNameLst>
                                          <p:attrName>ppt_x</p:attrName>
                                        </p:attrNameLst>
                                      </p:cBhvr>
                                      <p:tavLst>
                                        <p:tav tm="0">
                                          <p:val>
                                            <p:strVal val="#ppt_x"/>
                                          </p:val>
                                        </p:tav>
                                        <p:tav tm="100000">
                                          <p:val>
                                            <p:strVal val="#ppt_x"/>
                                          </p:val>
                                        </p:tav>
                                      </p:tavLst>
                                    </p:anim>
                                    <p:anim calcmode="lin" valueType="num">
                                      <p:cBhvr>
                                        <p:cTn id="110" dur="500" fill="hold"/>
                                        <p:tgtEl>
                                          <p:spTgt spid="17"/>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fade">
                                      <p:cBhvr>
                                        <p:cTn id="113" dur="500"/>
                                        <p:tgtEl>
                                          <p:spTgt spid="18"/>
                                        </p:tgtEl>
                                      </p:cBhvr>
                                    </p:animEffect>
                                    <p:anim calcmode="lin" valueType="num">
                                      <p:cBhvr>
                                        <p:cTn id="114" dur="500" fill="hold"/>
                                        <p:tgtEl>
                                          <p:spTgt spid="18"/>
                                        </p:tgtEl>
                                        <p:attrNameLst>
                                          <p:attrName>ppt_x</p:attrName>
                                        </p:attrNameLst>
                                      </p:cBhvr>
                                      <p:tavLst>
                                        <p:tav tm="0">
                                          <p:val>
                                            <p:strVal val="#ppt_x"/>
                                          </p:val>
                                        </p:tav>
                                        <p:tav tm="100000">
                                          <p:val>
                                            <p:strVal val="#ppt_x"/>
                                          </p:val>
                                        </p:tav>
                                      </p:tavLst>
                                    </p:anim>
                                    <p:anim calcmode="lin" valueType="num">
                                      <p:cBhvr>
                                        <p:cTn id="115" dur="500" fill="hold"/>
                                        <p:tgtEl>
                                          <p:spTgt spid="18"/>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500"/>
                                        <p:tgtEl>
                                          <p:spTgt spid="30"/>
                                        </p:tgtEl>
                                      </p:cBhvr>
                                    </p:animEffect>
                                    <p:anim calcmode="lin" valueType="num">
                                      <p:cBhvr>
                                        <p:cTn id="119" dur="500" fill="hold"/>
                                        <p:tgtEl>
                                          <p:spTgt spid="30"/>
                                        </p:tgtEl>
                                        <p:attrNameLst>
                                          <p:attrName>ppt_x</p:attrName>
                                        </p:attrNameLst>
                                      </p:cBhvr>
                                      <p:tavLst>
                                        <p:tav tm="0">
                                          <p:val>
                                            <p:strVal val="#ppt_x"/>
                                          </p:val>
                                        </p:tav>
                                        <p:tav tm="100000">
                                          <p:val>
                                            <p:strVal val="#ppt_x"/>
                                          </p:val>
                                        </p:tav>
                                      </p:tavLst>
                                    </p:anim>
                                    <p:anim calcmode="lin" valueType="num">
                                      <p:cBhvr>
                                        <p:cTn id="120" dur="500" fill="hold"/>
                                        <p:tgtEl>
                                          <p:spTgt spid="30"/>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500"/>
                                        <p:tgtEl>
                                          <p:spTgt spid="38"/>
                                        </p:tgtEl>
                                      </p:cBhvr>
                                    </p:animEffect>
                                    <p:anim calcmode="lin" valueType="num">
                                      <p:cBhvr>
                                        <p:cTn id="124" dur="500" fill="hold"/>
                                        <p:tgtEl>
                                          <p:spTgt spid="38"/>
                                        </p:tgtEl>
                                        <p:attrNameLst>
                                          <p:attrName>ppt_x</p:attrName>
                                        </p:attrNameLst>
                                      </p:cBhvr>
                                      <p:tavLst>
                                        <p:tav tm="0">
                                          <p:val>
                                            <p:strVal val="#ppt_x"/>
                                          </p:val>
                                        </p:tav>
                                        <p:tav tm="100000">
                                          <p:val>
                                            <p:strVal val="#ppt_x"/>
                                          </p:val>
                                        </p:tav>
                                      </p:tavLst>
                                    </p:anim>
                                    <p:anim calcmode="lin" valueType="num">
                                      <p:cBhvr>
                                        <p:cTn id="125" dur="500" fill="hold"/>
                                        <p:tgtEl>
                                          <p:spTgt spid="38"/>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500"/>
                                        <p:tgtEl>
                                          <p:spTgt spid="46"/>
                                        </p:tgtEl>
                                      </p:cBhvr>
                                    </p:animEffect>
                                    <p:anim calcmode="lin" valueType="num">
                                      <p:cBhvr>
                                        <p:cTn id="129" dur="500" fill="hold"/>
                                        <p:tgtEl>
                                          <p:spTgt spid="46"/>
                                        </p:tgtEl>
                                        <p:attrNameLst>
                                          <p:attrName>ppt_x</p:attrName>
                                        </p:attrNameLst>
                                      </p:cBhvr>
                                      <p:tavLst>
                                        <p:tav tm="0">
                                          <p:val>
                                            <p:strVal val="#ppt_x"/>
                                          </p:val>
                                        </p:tav>
                                        <p:tav tm="100000">
                                          <p:val>
                                            <p:strVal val="#ppt_x"/>
                                          </p:val>
                                        </p:tav>
                                      </p:tavLst>
                                    </p:anim>
                                    <p:anim calcmode="lin" valueType="num">
                                      <p:cBhvr>
                                        <p:cTn id="130" dur="5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grpId="0" nodeType="clickEffect">
                                  <p:stCondLst>
                                    <p:cond delay="0"/>
                                  </p:stCondLst>
                                  <p:childTnLst>
                                    <p:set>
                                      <p:cBhvr>
                                        <p:cTn id="134" dur="1" fill="hold">
                                          <p:stCondLst>
                                            <p:cond delay="0"/>
                                          </p:stCondLst>
                                        </p:cTn>
                                        <p:tgtEl>
                                          <p:spTgt spid="4"/>
                                        </p:tgtEl>
                                        <p:attrNameLst>
                                          <p:attrName>style.visibility</p:attrName>
                                        </p:attrNameLst>
                                      </p:cBhvr>
                                      <p:to>
                                        <p:strVal val="visible"/>
                                      </p:to>
                                    </p:set>
                                    <p:animEffect transition="in" filter="fade">
                                      <p:cBhvr>
                                        <p:cTn id="135" dur="500"/>
                                        <p:tgtEl>
                                          <p:spTgt spid="4"/>
                                        </p:tgtEl>
                                      </p:cBhvr>
                                    </p:animEffect>
                                    <p:anim calcmode="lin" valueType="num">
                                      <p:cBhvr>
                                        <p:cTn id="136" dur="500" fill="hold"/>
                                        <p:tgtEl>
                                          <p:spTgt spid="4"/>
                                        </p:tgtEl>
                                        <p:attrNameLst>
                                          <p:attrName>ppt_x</p:attrName>
                                        </p:attrNameLst>
                                      </p:cBhvr>
                                      <p:tavLst>
                                        <p:tav tm="0">
                                          <p:val>
                                            <p:strVal val="#ppt_x"/>
                                          </p:val>
                                        </p:tav>
                                        <p:tav tm="100000">
                                          <p:val>
                                            <p:strVal val="#ppt_x"/>
                                          </p:val>
                                        </p:tav>
                                      </p:tavLst>
                                    </p:anim>
                                    <p:anim calcmode="lin" valueType="num">
                                      <p:cBhvr>
                                        <p:cTn id="137" dur="500" fill="hold"/>
                                        <p:tgtEl>
                                          <p:spTgt spid="4"/>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19"/>
                                        </p:tgtEl>
                                        <p:attrNameLst>
                                          <p:attrName>style.visibility</p:attrName>
                                        </p:attrNameLst>
                                      </p:cBhvr>
                                      <p:to>
                                        <p:strVal val="visible"/>
                                      </p:to>
                                    </p:set>
                                    <p:animEffect transition="in" filter="fade">
                                      <p:cBhvr>
                                        <p:cTn id="140" dur="500"/>
                                        <p:tgtEl>
                                          <p:spTgt spid="19"/>
                                        </p:tgtEl>
                                      </p:cBhvr>
                                    </p:animEffect>
                                    <p:anim calcmode="lin" valueType="num">
                                      <p:cBhvr>
                                        <p:cTn id="141" dur="500" fill="hold"/>
                                        <p:tgtEl>
                                          <p:spTgt spid="19"/>
                                        </p:tgtEl>
                                        <p:attrNameLst>
                                          <p:attrName>ppt_x</p:attrName>
                                        </p:attrNameLst>
                                      </p:cBhvr>
                                      <p:tavLst>
                                        <p:tav tm="0">
                                          <p:val>
                                            <p:strVal val="#ppt_x"/>
                                          </p:val>
                                        </p:tav>
                                        <p:tav tm="100000">
                                          <p:val>
                                            <p:strVal val="#ppt_x"/>
                                          </p:val>
                                        </p:tav>
                                      </p:tavLst>
                                    </p:anim>
                                    <p:anim calcmode="lin" valueType="num">
                                      <p:cBhvr>
                                        <p:cTn id="142" dur="500" fill="hold"/>
                                        <p:tgtEl>
                                          <p:spTgt spid="19"/>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20"/>
                                        </p:tgtEl>
                                        <p:attrNameLst>
                                          <p:attrName>style.visibility</p:attrName>
                                        </p:attrNameLst>
                                      </p:cBhvr>
                                      <p:to>
                                        <p:strVal val="visible"/>
                                      </p:to>
                                    </p:set>
                                    <p:animEffect transition="in" filter="fade">
                                      <p:cBhvr>
                                        <p:cTn id="145" dur="500"/>
                                        <p:tgtEl>
                                          <p:spTgt spid="20"/>
                                        </p:tgtEl>
                                      </p:cBhvr>
                                    </p:animEffect>
                                    <p:anim calcmode="lin" valueType="num">
                                      <p:cBhvr>
                                        <p:cTn id="146" dur="500" fill="hold"/>
                                        <p:tgtEl>
                                          <p:spTgt spid="20"/>
                                        </p:tgtEl>
                                        <p:attrNameLst>
                                          <p:attrName>ppt_x</p:attrName>
                                        </p:attrNameLst>
                                      </p:cBhvr>
                                      <p:tavLst>
                                        <p:tav tm="0">
                                          <p:val>
                                            <p:strVal val="#ppt_x"/>
                                          </p:val>
                                        </p:tav>
                                        <p:tav tm="100000">
                                          <p:val>
                                            <p:strVal val="#ppt_x"/>
                                          </p:val>
                                        </p:tav>
                                      </p:tavLst>
                                    </p:anim>
                                    <p:anim calcmode="lin" valueType="num">
                                      <p:cBhvr>
                                        <p:cTn id="147" dur="500" fill="hold"/>
                                        <p:tgtEl>
                                          <p:spTgt spid="20"/>
                                        </p:tgtEl>
                                        <p:attrNameLst>
                                          <p:attrName>ppt_y</p:attrName>
                                        </p:attrNameLst>
                                      </p:cBhvr>
                                      <p:tavLst>
                                        <p:tav tm="0">
                                          <p:val>
                                            <p:strVal val="#ppt_y+.1"/>
                                          </p:val>
                                        </p:tav>
                                        <p:tav tm="100000">
                                          <p:val>
                                            <p:strVal val="#ppt_y"/>
                                          </p:val>
                                        </p:tav>
                                      </p:tavLst>
                                    </p:anim>
                                  </p:childTnLst>
                                </p:cTn>
                              </p:par>
                              <p:par>
                                <p:cTn id="148" presetID="42" presetClass="entr" presetSubtype="0" fill="hold" grpId="0" nodeType="withEffect">
                                  <p:stCondLst>
                                    <p:cond delay="0"/>
                                  </p:stCondLst>
                                  <p:childTnLst>
                                    <p:set>
                                      <p:cBhvr>
                                        <p:cTn id="149" dur="1" fill="hold">
                                          <p:stCondLst>
                                            <p:cond delay="0"/>
                                          </p:stCondLst>
                                        </p:cTn>
                                        <p:tgtEl>
                                          <p:spTgt spid="31"/>
                                        </p:tgtEl>
                                        <p:attrNameLst>
                                          <p:attrName>style.visibility</p:attrName>
                                        </p:attrNameLst>
                                      </p:cBhvr>
                                      <p:to>
                                        <p:strVal val="visible"/>
                                      </p:to>
                                    </p:set>
                                    <p:animEffect transition="in" filter="fade">
                                      <p:cBhvr>
                                        <p:cTn id="150" dur="500"/>
                                        <p:tgtEl>
                                          <p:spTgt spid="31"/>
                                        </p:tgtEl>
                                      </p:cBhvr>
                                    </p:animEffect>
                                    <p:anim calcmode="lin" valueType="num">
                                      <p:cBhvr>
                                        <p:cTn id="151" dur="500" fill="hold"/>
                                        <p:tgtEl>
                                          <p:spTgt spid="31"/>
                                        </p:tgtEl>
                                        <p:attrNameLst>
                                          <p:attrName>ppt_x</p:attrName>
                                        </p:attrNameLst>
                                      </p:cBhvr>
                                      <p:tavLst>
                                        <p:tav tm="0">
                                          <p:val>
                                            <p:strVal val="#ppt_x"/>
                                          </p:val>
                                        </p:tav>
                                        <p:tav tm="100000">
                                          <p:val>
                                            <p:strVal val="#ppt_x"/>
                                          </p:val>
                                        </p:tav>
                                      </p:tavLst>
                                    </p:anim>
                                    <p:anim calcmode="lin" valueType="num">
                                      <p:cBhvr>
                                        <p:cTn id="152" dur="500" fill="hold"/>
                                        <p:tgtEl>
                                          <p:spTgt spid="31"/>
                                        </p:tgtEl>
                                        <p:attrNameLst>
                                          <p:attrName>ppt_y</p:attrName>
                                        </p:attrNameLst>
                                      </p:cBhvr>
                                      <p:tavLst>
                                        <p:tav tm="0">
                                          <p:val>
                                            <p:strVal val="#ppt_y+.1"/>
                                          </p:val>
                                        </p:tav>
                                        <p:tav tm="100000">
                                          <p:val>
                                            <p:strVal val="#ppt_y"/>
                                          </p:val>
                                        </p:tav>
                                      </p:tavLst>
                                    </p:anim>
                                  </p:childTnLst>
                                </p:cTn>
                              </p:par>
                              <p:par>
                                <p:cTn id="153" presetID="42" presetClass="entr" presetSubtype="0" fill="hold" grpId="0" nodeType="withEffect">
                                  <p:stCondLst>
                                    <p:cond delay="0"/>
                                  </p:stCondLst>
                                  <p:childTnLst>
                                    <p:set>
                                      <p:cBhvr>
                                        <p:cTn id="154" dur="1" fill="hold">
                                          <p:stCondLst>
                                            <p:cond delay="0"/>
                                          </p:stCondLst>
                                        </p:cTn>
                                        <p:tgtEl>
                                          <p:spTgt spid="37"/>
                                        </p:tgtEl>
                                        <p:attrNameLst>
                                          <p:attrName>style.visibility</p:attrName>
                                        </p:attrNameLst>
                                      </p:cBhvr>
                                      <p:to>
                                        <p:strVal val="visible"/>
                                      </p:to>
                                    </p:set>
                                    <p:animEffect transition="in" filter="fade">
                                      <p:cBhvr>
                                        <p:cTn id="155" dur="500"/>
                                        <p:tgtEl>
                                          <p:spTgt spid="37"/>
                                        </p:tgtEl>
                                      </p:cBhvr>
                                    </p:animEffect>
                                    <p:anim calcmode="lin" valueType="num">
                                      <p:cBhvr>
                                        <p:cTn id="156" dur="500" fill="hold"/>
                                        <p:tgtEl>
                                          <p:spTgt spid="37"/>
                                        </p:tgtEl>
                                        <p:attrNameLst>
                                          <p:attrName>ppt_x</p:attrName>
                                        </p:attrNameLst>
                                      </p:cBhvr>
                                      <p:tavLst>
                                        <p:tav tm="0">
                                          <p:val>
                                            <p:strVal val="#ppt_x"/>
                                          </p:val>
                                        </p:tav>
                                        <p:tav tm="100000">
                                          <p:val>
                                            <p:strVal val="#ppt_x"/>
                                          </p:val>
                                        </p:tav>
                                      </p:tavLst>
                                    </p:anim>
                                    <p:anim calcmode="lin" valueType="num">
                                      <p:cBhvr>
                                        <p:cTn id="157" dur="500" fill="hold"/>
                                        <p:tgtEl>
                                          <p:spTgt spid="37"/>
                                        </p:tgtEl>
                                        <p:attrNameLst>
                                          <p:attrName>ppt_y</p:attrName>
                                        </p:attrNameLst>
                                      </p:cBhvr>
                                      <p:tavLst>
                                        <p:tav tm="0">
                                          <p:val>
                                            <p:strVal val="#ppt_y+.1"/>
                                          </p:val>
                                        </p:tav>
                                        <p:tav tm="100000">
                                          <p:val>
                                            <p:strVal val="#ppt_y"/>
                                          </p:val>
                                        </p:tav>
                                      </p:tavLst>
                                    </p:anim>
                                  </p:childTnLst>
                                </p:cTn>
                              </p:par>
                              <p:par>
                                <p:cTn id="158" presetID="42" presetClass="entr" presetSubtype="0" fill="hold" grpId="0" nodeType="withEffect">
                                  <p:stCondLst>
                                    <p:cond delay="0"/>
                                  </p:stCondLst>
                                  <p:childTnLst>
                                    <p:set>
                                      <p:cBhvr>
                                        <p:cTn id="159" dur="1" fill="hold">
                                          <p:stCondLst>
                                            <p:cond delay="0"/>
                                          </p:stCondLst>
                                        </p:cTn>
                                        <p:tgtEl>
                                          <p:spTgt spid="47"/>
                                        </p:tgtEl>
                                        <p:attrNameLst>
                                          <p:attrName>style.visibility</p:attrName>
                                        </p:attrNameLst>
                                      </p:cBhvr>
                                      <p:to>
                                        <p:strVal val="visible"/>
                                      </p:to>
                                    </p:set>
                                    <p:animEffect transition="in" filter="fade">
                                      <p:cBhvr>
                                        <p:cTn id="160" dur="500"/>
                                        <p:tgtEl>
                                          <p:spTgt spid="47"/>
                                        </p:tgtEl>
                                      </p:cBhvr>
                                    </p:animEffect>
                                    <p:anim calcmode="lin" valueType="num">
                                      <p:cBhvr>
                                        <p:cTn id="161" dur="500" fill="hold"/>
                                        <p:tgtEl>
                                          <p:spTgt spid="47"/>
                                        </p:tgtEl>
                                        <p:attrNameLst>
                                          <p:attrName>ppt_x</p:attrName>
                                        </p:attrNameLst>
                                      </p:cBhvr>
                                      <p:tavLst>
                                        <p:tav tm="0">
                                          <p:val>
                                            <p:strVal val="#ppt_x"/>
                                          </p:val>
                                        </p:tav>
                                        <p:tav tm="100000">
                                          <p:val>
                                            <p:strVal val="#ppt_x"/>
                                          </p:val>
                                        </p:tav>
                                      </p:tavLst>
                                    </p:anim>
                                    <p:anim calcmode="lin" valueType="num">
                                      <p:cBhvr>
                                        <p:cTn id="162" dur="5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42" presetClass="entr" presetSubtype="0" fill="hold" grpId="0" nodeType="clickEffect">
                                  <p:stCondLst>
                                    <p:cond delay="0"/>
                                  </p:stCondLst>
                                  <p:childTnLst>
                                    <p:set>
                                      <p:cBhvr>
                                        <p:cTn id="166" dur="1" fill="hold">
                                          <p:stCondLst>
                                            <p:cond delay="0"/>
                                          </p:stCondLst>
                                        </p:cTn>
                                        <p:tgtEl>
                                          <p:spTgt spid="5"/>
                                        </p:tgtEl>
                                        <p:attrNameLst>
                                          <p:attrName>style.visibility</p:attrName>
                                        </p:attrNameLst>
                                      </p:cBhvr>
                                      <p:to>
                                        <p:strVal val="visible"/>
                                      </p:to>
                                    </p:set>
                                    <p:animEffect transition="in" filter="fade">
                                      <p:cBhvr>
                                        <p:cTn id="167" dur="500"/>
                                        <p:tgtEl>
                                          <p:spTgt spid="5"/>
                                        </p:tgtEl>
                                      </p:cBhvr>
                                    </p:animEffect>
                                    <p:anim calcmode="lin" valueType="num">
                                      <p:cBhvr>
                                        <p:cTn id="168" dur="500" fill="hold"/>
                                        <p:tgtEl>
                                          <p:spTgt spid="5"/>
                                        </p:tgtEl>
                                        <p:attrNameLst>
                                          <p:attrName>ppt_x</p:attrName>
                                        </p:attrNameLst>
                                      </p:cBhvr>
                                      <p:tavLst>
                                        <p:tav tm="0">
                                          <p:val>
                                            <p:strVal val="#ppt_x"/>
                                          </p:val>
                                        </p:tav>
                                        <p:tav tm="100000">
                                          <p:val>
                                            <p:strVal val="#ppt_x"/>
                                          </p:val>
                                        </p:tav>
                                      </p:tavLst>
                                    </p:anim>
                                    <p:anim calcmode="lin" valueType="num">
                                      <p:cBhvr>
                                        <p:cTn id="169" dur="500" fill="hold"/>
                                        <p:tgtEl>
                                          <p:spTgt spid="5"/>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21"/>
                                        </p:tgtEl>
                                        <p:attrNameLst>
                                          <p:attrName>style.visibility</p:attrName>
                                        </p:attrNameLst>
                                      </p:cBhvr>
                                      <p:to>
                                        <p:strVal val="visible"/>
                                      </p:to>
                                    </p:set>
                                    <p:animEffect transition="in" filter="fade">
                                      <p:cBhvr>
                                        <p:cTn id="172" dur="500"/>
                                        <p:tgtEl>
                                          <p:spTgt spid="21"/>
                                        </p:tgtEl>
                                      </p:cBhvr>
                                    </p:animEffect>
                                    <p:anim calcmode="lin" valueType="num">
                                      <p:cBhvr>
                                        <p:cTn id="173" dur="500" fill="hold"/>
                                        <p:tgtEl>
                                          <p:spTgt spid="21"/>
                                        </p:tgtEl>
                                        <p:attrNameLst>
                                          <p:attrName>ppt_x</p:attrName>
                                        </p:attrNameLst>
                                      </p:cBhvr>
                                      <p:tavLst>
                                        <p:tav tm="0">
                                          <p:val>
                                            <p:strVal val="#ppt_x"/>
                                          </p:val>
                                        </p:tav>
                                        <p:tav tm="100000">
                                          <p:val>
                                            <p:strVal val="#ppt_x"/>
                                          </p:val>
                                        </p:tav>
                                      </p:tavLst>
                                    </p:anim>
                                    <p:anim calcmode="lin" valueType="num">
                                      <p:cBhvr>
                                        <p:cTn id="174" dur="500" fill="hold"/>
                                        <p:tgtEl>
                                          <p:spTgt spid="21"/>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22"/>
                                        </p:tgtEl>
                                        <p:attrNameLst>
                                          <p:attrName>style.visibility</p:attrName>
                                        </p:attrNameLst>
                                      </p:cBhvr>
                                      <p:to>
                                        <p:strVal val="visible"/>
                                      </p:to>
                                    </p:set>
                                    <p:animEffect transition="in" filter="fade">
                                      <p:cBhvr>
                                        <p:cTn id="177" dur="500"/>
                                        <p:tgtEl>
                                          <p:spTgt spid="22"/>
                                        </p:tgtEl>
                                      </p:cBhvr>
                                    </p:animEffect>
                                    <p:anim calcmode="lin" valueType="num">
                                      <p:cBhvr>
                                        <p:cTn id="178" dur="500" fill="hold"/>
                                        <p:tgtEl>
                                          <p:spTgt spid="22"/>
                                        </p:tgtEl>
                                        <p:attrNameLst>
                                          <p:attrName>ppt_x</p:attrName>
                                        </p:attrNameLst>
                                      </p:cBhvr>
                                      <p:tavLst>
                                        <p:tav tm="0">
                                          <p:val>
                                            <p:strVal val="#ppt_x"/>
                                          </p:val>
                                        </p:tav>
                                        <p:tav tm="100000">
                                          <p:val>
                                            <p:strVal val="#ppt_x"/>
                                          </p:val>
                                        </p:tav>
                                      </p:tavLst>
                                    </p:anim>
                                    <p:anim calcmode="lin" valueType="num">
                                      <p:cBhvr>
                                        <p:cTn id="179" dur="500" fill="hold"/>
                                        <p:tgtEl>
                                          <p:spTgt spid="22"/>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32"/>
                                        </p:tgtEl>
                                        <p:attrNameLst>
                                          <p:attrName>style.visibility</p:attrName>
                                        </p:attrNameLst>
                                      </p:cBhvr>
                                      <p:to>
                                        <p:strVal val="visible"/>
                                      </p:to>
                                    </p:set>
                                    <p:animEffect transition="in" filter="fade">
                                      <p:cBhvr>
                                        <p:cTn id="182" dur="500"/>
                                        <p:tgtEl>
                                          <p:spTgt spid="32"/>
                                        </p:tgtEl>
                                      </p:cBhvr>
                                    </p:animEffect>
                                    <p:anim calcmode="lin" valueType="num">
                                      <p:cBhvr>
                                        <p:cTn id="183" dur="500" fill="hold"/>
                                        <p:tgtEl>
                                          <p:spTgt spid="32"/>
                                        </p:tgtEl>
                                        <p:attrNameLst>
                                          <p:attrName>ppt_x</p:attrName>
                                        </p:attrNameLst>
                                      </p:cBhvr>
                                      <p:tavLst>
                                        <p:tav tm="0">
                                          <p:val>
                                            <p:strVal val="#ppt_x"/>
                                          </p:val>
                                        </p:tav>
                                        <p:tav tm="100000">
                                          <p:val>
                                            <p:strVal val="#ppt_x"/>
                                          </p:val>
                                        </p:tav>
                                      </p:tavLst>
                                    </p:anim>
                                    <p:anim calcmode="lin" valueType="num">
                                      <p:cBhvr>
                                        <p:cTn id="184" dur="500" fill="hold"/>
                                        <p:tgtEl>
                                          <p:spTgt spid="32"/>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0"/>
                                  </p:stCondLst>
                                  <p:childTnLst>
                                    <p:set>
                                      <p:cBhvr>
                                        <p:cTn id="186" dur="1" fill="hold">
                                          <p:stCondLst>
                                            <p:cond delay="0"/>
                                          </p:stCondLst>
                                        </p:cTn>
                                        <p:tgtEl>
                                          <p:spTgt spid="36"/>
                                        </p:tgtEl>
                                        <p:attrNameLst>
                                          <p:attrName>style.visibility</p:attrName>
                                        </p:attrNameLst>
                                      </p:cBhvr>
                                      <p:to>
                                        <p:strVal val="visible"/>
                                      </p:to>
                                    </p:set>
                                    <p:animEffect transition="in" filter="fade">
                                      <p:cBhvr>
                                        <p:cTn id="187" dur="500"/>
                                        <p:tgtEl>
                                          <p:spTgt spid="36"/>
                                        </p:tgtEl>
                                      </p:cBhvr>
                                    </p:animEffect>
                                    <p:anim calcmode="lin" valueType="num">
                                      <p:cBhvr>
                                        <p:cTn id="188" dur="500" fill="hold"/>
                                        <p:tgtEl>
                                          <p:spTgt spid="36"/>
                                        </p:tgtEl>
                                        <p:attrNameLst>
                                          <p:attrName>ppt_x</p:attrName>
                                        </p:attrNameLst>
                                      </p:cBhvr>
                                      <p:tavLst>
                                        <p:tav tm="0">
                                          <p:val>
                                            <p:strVal val="#ppt_x"/>
                                          </p:val>
                                        </p:tav>
                                        <p:tav tm="100000">
                                          <p:val>
                                            <p:strVal val="#ppt_x"/>
                                          </p:val>
                                        </p:tav>
                                      </p:tavLst>
                                    </p:anim>
                                    <p:anim calcmode="lin" valueType="num">
                                      <p:cBhvr>
                                        <p:cTn id="189" dur="500" fill="hold"/>
                                        <p:tgtEl>
                                          <p:spTgt spid="36"/>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48"/>
                                        </p:tgtEl>
                                        <p:attrNameLst>
                                          <p:attrName>style.visibility</p:attrName>
                                        </p:attrNameLst>
                                      </p:cBhvr>
                                      <p:to>
                                        <p:strVal val="visible"/>
                                      </p:to>
                                    </p:set>
                                    <p:animEffect transition="in" filter="fade">
                                      <p:cBhvr>
                                        <p:cTn id="192" dur="500"/>
                                        <p:tgtEl>
                                          <p:spTgt spid="48"/>
                                        </p:tgtEl>
                                      </p:cBhvr>
                                    </p:animEffect>
                                    <p:anim calcmode="lin" valueType="num">
                                      <p:cBhvr>
                                        <p:cTn id="193" dur="500" fill="hold"/>
                                        <p:tgtEl>
                                          <p:spTgt spid="48"/>
                                        </p:tgtEl>
                                        <p:attrNameLst>
                                          <p:attrName>ppt_x</p:attrName>
                                        </p:attrNameLst>
                                      </p:cBhvr>
                                      <p:tavLst>
                                        <p:tav tm="0">
                                          <p:val>
                                            <p:strVal val="#ppt_x"/>
                                          </p:val>
                                        </p:tav>
                                        <p:tav tm="100000">
                                          <p:val>
                                            <p:strVal val="#ppt_x"/>
                                          </p:val>
                                        </p:tav>
                                      </p:tavLst>
                                    </p:anim>
                                    <p:anim calcmode="lin" valueType="num">
                                      <p:cBhvr>
                                        <p:cTn id="194" dur="5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42" presetClass="entr" presetSubtype="0" fill="hold" grpId="0" nodeType="clickEffect">
                                  <p:stCondLst>
                                    <p:cond delay="0"/>
                                  </p:stCondLst>
                                  <p:childTnLst>
                                    <p:set>
                                      <p:cBhvr>
                                        <p:cTn id="198" dur="1" fill="hold">
                                          <p:stCondLst>
                                            <p:cond delay="0"/>
                                          </p:stCondLst>
                                        </p:cTn>
                                        <p:tgtEl>
                                          <p:spTgt spid="6"/>
                                        </p:tgtEl>
                                        <p:attrNameLst>
                                          <p:attrName>style.visibility</p:attrName>
                                        </p:attrNameLst>
                                      </p:cBhvr>
                                      <p:to>
                                        <p:strVal val="visible"/>
                                      </p:to>
                                    </p:set>
                                    <p:animEffect transition="in" filter="fade">
                                      <p:cBhvr>
                                        <p:cTn id="199" dur="500"/>
                                        <p:tgtEl>
                                          <p:spTgt spid="6"/>
                                        </p:tgtEl>
                                      </p:cBhvr>
                                    </p:animEffect>
                                    <p:anim calcmode="lin" valueType="num">
                                      <p:cBhvr>
                                        <p:cTn id="200" dur="500" fill="hold"/>
                                        <p:tgtEl>
                                          <p:spTgt spid="6"/>
                                        </p:tgtEl>
                                        <p:attrNameLst>
                                          <p:attrName>ppt_x</p:attrName>
                                        </p:attrNameLst>
                                      </p:cBhvr>
                                      <p:tavLst>
                                        <p:tav tm="0">
                                          <p:val>
                                            <p:strVal val="#ppt_x"/>
                                          </p:val>
                                        </p:tav>
                                        <p:tav tm="100000">
                                          <p:val>
                                            <p:strVal val="#ppt_x"/>
                                          </p:val>
                                        </p:tav>
                                      </p:tavLst>
                                    </p:anim>
                                    <p:anim calcmode="lin" valueType="num">
                                      <p:cBhvr>
                                        <p:cTn id="201" dur="500" fill="hold"/>
                                        <p:tgtEl>
                                          <p:spTgt spid="6"/>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23"/>
                                        </p:tgtEl>
                                        <p:attrNameLst>
                                          <p:attrName>style.visibility</p:attrName>
                                        </p:attrNameLst>
                                      </p:cBhvr>
                                      <p:to>
                                        <p:strVal val="visible"/>
                                      </p:to>
                                    </p:set>
                                    <p:animEffect transition="in" filter="fade">
                                      <p:cBhvr>
                                        <p:cTn id="204" dur="500"/>
                                        <p:tgtEl>
                                          <p:spTgt spid="23"/>
                                        </p:tgtEl>
                                      </p:cBhvr>
                                    </p:animEffect>
                                    <p:anim calcmode="lin" valueType="num">
                                      <p:cBhvr>
                                        <p:cTn id="205" dur="500" fill="hold"/>
                                        <p:tgtEl>
                                          <p:spTgt spid="23"/>
                                        </p:tgtEl>
                                        <p:attrNameLst>
                                          <p:attrName>ppt_x</p:attrName>
                                        </p:attrNameLst>
                                      </p:cBhvr>
                                      <p:tavLst>
                                        <p:tav tm="0">
                                          <p:val>
                                            <p:strVal val="#ppt_x"/>
                                          </p:val>
                                        </p:tav>
                                        <p:tav tm="100000">
                                          <p:val>
                                            <p:strVal val="#ppt_x"/>
                                          </p:val>
                                        </p:tav>
                                      </p:tavLst>
                                    </p:anim>
                                    <p:anim calcmode="lin" valueType="num">
                                      <p:cBhvr>
                                        <p:cTn id="206" dur="500" fill="hold"/>
                                        <p:tgtEl>
                                          <p:spTgt spid="23"/>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24"/>
                                        </p:tgtEl>
                                        <p:attrNameLst>
                                          <p:attrName>style.visibility</p:attrName>
                                        </p:attrNameLst>
                                      </p:cBhvr>
                                      <p:to>
                                        <p:strVal val="visible"/>
                                      </p:to>
                                    </p:set>
                                    <p:animEffect transition="in" filter="fade">
                                      <p:cBhvr>
                                        <p:cTn id="209" dur="500"/>
                                        <p:tgtEl>
                                          <p:spTgt spid="24"/>
                                        </p:tgtEl>
                                      </p:cBhvr>
                                    </p:animEffect>
                                    <p:anim calcmode="lin" valueType="num">
                                      <p:cBhvr>
                                        <p:cTn id="210" dur="500" fill="hold"/>
                                        <p:tgtEl>
                                          <p:spTgt spid="24"/>
                                        </p:tgtEl>
                                        <p:attrNameLst>
                                          <p:attrName>ppt_x</p:attrName>
                                        </p:attrNameLst>
                                      </p:cBhvr>
                                      <p:tavLst>
                                        <p:tav tm="0">
                                          <p:val>
                                            <p:strVal val="#ppt_x"/>
                                          </p:val>
                                        </p:tav>
                                        <p:tav tm="100000">
                                          <p:val>
                                            <p:strVal val="#ppt_x"/>
                                          </p:val>
                                        </p:tav>
                                      </p:tavLst>
                                    </p:anim>
                                    <p:anim calcmode="lin" valueType="num">
                                      <p:cBhvr>
                                        <p:cTn id="211" dur="500" fill="hold"/>
                                        <p:tgtEl>
                                          <p:spTgt spid="24"/>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33"/>
                                        </p:tgtEl>
                                        <p:attrNameLst>
                                          <p:attrName>style.visibility</p:attrName>
                                        </p:attrNameLst>
                                      </p:cBhvr>
                                      <p:to>
                                        <p:strVal val="visible"/>
                                      </p:to>
                                    </p:set>
                                    <p:animEffect transition="in" filter="fade">
                                      <p:cBhvr>
                                        <p:cTn id="214" dur="500"/>
                                        <p:tgtEl>
                                          <p:spTgt spid="33"/>
                                        </p:tgtEl>
                                      </p:cBhvr>
                                    </p:animEffect>
                                    <p:anim calcmode="lin" valueType="num">
                                      <p:cBhvr>
                                        <p:cTn id="215" dur="500" fill="hold"/>
                                        <p:tgtEl>
                                          <p:spTgt spid="33"/>
                                        </p:tgtEl>
                                        <p:attrNameLst>
                                          <p:attrName>ppt_x</p:attrName>
                                        </p:attrNameLst>
                                      </p:cBhvr>
                                      <p:tavLst>
                                        <p:tav tm="0">
                                          <p:val>
                                            <p:strVal val="#ppt_x"/>
                                          </p:val>
                                        </p:tav>
                                        <p:tav tm="100000">
                                          <p:val>
                                            <p:strVal val="#ppt_x"/>
                                          </p:val>
                                        </p:tav>
                                      </p:tavLst>
                                    </p:anim>
                                    <p:anim calcmode="lin" valueType="num">
                                      <p:cBhvr>
                                        <p:cTn id="216" dur="500" fill="hold"/>
                                        <p:tgtEl>
                                          <p:spTgt spid="33"/>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0"/>
                                  </p:stCondLst>
                                  <p:childTnLst>
                                    <p:set>
                                      <p:cBhvr>
                                        <p:cTn id="218" dur="1" fill="hold">
                                          <p:stCondLst>
                                            <p:cond delay="0"/>
                                          </p:stCondLst>
                                        </p:cTn>
                                        <p:tgtEl>
                                          <p:spTgt spid="42"/>
                                        </p:tgtEl>
                                        <p:attrNameLst>
                                          <p:attrName>style.visibility</p:attrName>
                                        </p:attrNameLst>
                                      </p:cBhvr>
                                      <p:to>
                                        <p:strVal val="visible"/>
                                      </p:to>
                                    </p:set>
                                    <p:animEffect transition="in" filter="fade">
                                      <p:cBhvr>
                                        <p:cTn id="219" dur="500"/>
                                        <p:tgtEl>
                                          <p:spTgt spid="42"/>
                                        </p:tgtEl>
                                      </p:cBhvr>
                                    </p:animEffect>
                                    <p:anim calcmode="lin" valueType="num">
                                      <p:cBhvr>
                                        <p:cTn id="220" dur="500" fill="hold"/>
                                        <p:tgtEl>
                                          <p:spTgt spid="42"/>
                                        </p:tgtEl>
                                        <p:attrNameLst>
                                          <p:attrName>ppt_x</p:attrName>
                                        </p:attrNameLst>
                                      </p:cBhvr>
                                      <p:tavLst>
                                        <p:tav tm="0">
                                          <p:val>
                                            <p:strVal val="#ppt_x"/>
                                          </p:val>
                                        </p:tav>
                                        <p:tav tm="100000">
                                          <p:val>
                                            <p:strVal val="#ppt_x"/>
                                          </p:val>
                                        </p:tav>
                                      </p:tavLst>
                                    </p:anim>
                                    <p:anim calcmode="lin" valueType="num">
                                      <p:cBhvr>
                                        <p:cTn id="221" dur="500" fill="hold"/>
                                        <p:tgtEl>
                                          <p:spTgt spid="42"/>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0"/>
                                  </p:stCondLst>
                                  <p:childTnLst>
                                    <p:set>
                                      <p:cBhvr>
                                        <p:cTn id="223" dur="1" fill="hold">
                                          <p:stCondLst>
                                            <p:cond delay="0"/>
                                          </p:stCondLst>
                                        </p:cTn>
                                        <p:tgtEl>
                                          <p:spTgt spid="49"/>
                                        </p:tgtEl>
                                        <p:attrNameLst>
                                          <p:attrName>style.visibility</p:attrName>
                                        </p:attrNameLst>
                                      </p:cBhvr>
                                      <p:to>
                                        <p:strVal val="visible"/>
                                      </p:to>
                                    </p:set>
                                    <p:animEffect transition="in" filter="fade">
                                      <p:cBhvr>
                                        <p:cTn id="224" dur="500"/>
                                        <p:tgtEl>
                                          <p:spTgt spid="49"/>
                                        </p:tgtEl>
                                      </p:cBhvr>
                                    </p:animEffect>
                                    <p:anim calcmode="lin" valueType="num">
                                      <p:cBhvr>
                                        <p:cTn id="225" dur="500" fill="hold"/>
                                        <p:tgtEl>
                                          <p:spTgt spid="49"/>
                                        </p:tgtEl>
                                        <p:attrNameLst>
                                          <p:attrName>ppt_x</p:attrName>
                                        </p:attrNameLst>
                                      </p:cBhvr>
                                      <p:tavLst>
                                        <p:tav tm="0">
                                          <p:val>
                                            <p:strVal val="#ppt_x"/>
                                          </p:val>
                                        </p:tav>
                                        <p:tav tm="100000">
                                          <p:val>
                                            <p:strVal val="#ppt_x"/>
                                          </p:val>
                                        </p:tav>
                                      </p:tavLst>
                                    </p:anim>
                                    <p:anim calcmode="lin" valueType="num">
                                      <p:cBhvr>
                                        <p:cTn id="226" dur="5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227" fill="hold">
                      <p:stCondLst>
                        <p:cond delay="indefinite"/>
                      </p:stCondLst>
                      <p:childTnLst>
                        <p:par>
                          <p:cTn id="228" fill="hold">
                            <p:stCondLst>
                              <p:cond delay="0"/>
                            </p:stCondLst>
                            <p:childTnLst>
                              <p:par>
                                <p:cTn id="229" presetID="42" presetClass="entr" presetSubtype="0" fill="hold" grpId="0" nodeType="clickEffect">
                                  <p:stCondLst>
                                    <p:cond delay="0"/>
                                  </p:stCondLst>
                                  <p:childTnLst>
                                    <p:set>
                                      <p:cBhvr>
                                        <p:cTn id="230" dur="1" fill="hold">
                                          <p:stCondLst>
                                            <p:cond delay="0"/>
                                          </p:stCondLst>
                                        </p:cTn>
                                        <p:tgtEl>
                                          <p:spTgt spid="7"/>
                                        </p:tgtEl>
                                        <p:attrNameLst>
                                          <p:attrName>style.visibility</p:attrName>
                                        </p:attrNameLst>
                                      </p:cBhvr>
                                      <p:to>
                                        <p:strVal val="visible"/>
                                      </p:to>
                                    </p:set>
                                    <p:animEffect transition="in" filter="fade">
                                      <p:cBhvr>
                                        <p:cTn id="231" dur="500"/>
                                        <p:tgtEl>
                                          <p:spTgt spid="7"/>
                                        </p:tgtEl>
                                      </p:cBhvr>
                                    </p:animEffect>
                                    <p:anim calcmode="lin" valueType="num">
                                      <p:cBhvr>
                                        <p:cTn id="232" dur="500" fill="hold"/>
                                        <p:tgtEl>
                                          <p:spTgt spid="7"/>
                                        </p:tgtEl>
                                        <p:attrNameLst>
                                          <p:attrName>ppt_x</p:attrName>
                                        </p:attrNameLst>
                                      </p:cBhvr>
                                      <p:tavLst>
                                        <p:tav tm="0">
                                          <p:val>
                                            <p:strVal val="#ppt_x"/>
                                          </p:val>
                                        </p:tav>
                                        <p:tav tm="100000">
                                          <p:val>
                                            <p:strVal val="#ppt_x"/>
                                          </p:val>
                                        </p:tav>
                                      </p:tavLst>
                                    </p:anim>
                                    <p:anim calcmode="lin" valueType="num">
                                      <p:cBhvr>
                                        <p:cTn id="233" dur="500" fill="hold"/>
                                        <p:tgtEl>
                                          <p:spTgt spid="7"/>
                                        </p:tgtEl>
                                        <p:attrNameLst>
                                          <p:attrName>ppt_y</p:attrName>
                                        </p:attrNameLst>
                                      </p:cBhvr>
                                      <p:tavLst>
                                        <p:tav tm="0">
                                          <p:val>
                                            <p:strVal val="#ppt_y+.1"/>
                                          </p:val>
                                        </p:tav>
                                        <p:tav tm="100000">
                                          <p:val>
                                            <p:strVal val="#ppt_y"/>
                                          </p:val>
                                        </p:tav>
                                      </p:tavLst>
                                    </p:anim>
                                  </p:childTnLst>
                                </p:cTn>
                              </p:par>
                              <p:par>
                                <p:cTn id="234" presetID="42" presetClass="entr" presetSubtype="0" fill="hold" grpId="0" nodeType="withEffect">
                                  <p:stCondLst>
                                    <p:cond delay="0"/>
                                  </p:stCondLst>
                                  <p:childTnLst>
                                    <p:set>
                                      <p:cBhvr>
                                        <p:cTn id="235" dur="1" fill="hold">
                                          <p:stCondLst>
                                            <p:cond delay="0"/>
                                          </p:stCondLst>
                                        </p:cTn>
                                        <p:tgtEl>
                                          <p:spTgt spid="25"/>
                                        </p:tgtEl>
                                        <p:attrNameLst>
                                          <p:attrName>style.visibility</p:attrName>
                                        </p:attrNameLst>
                                      </p:cBhvr>
                                      <p:to>
                                        <p:strVal val="visible"/>
                                      </p:to>
                                    </p:set>
                                    <p:animEffect transition="in" filter="fade">
                                      <p:cBhvr>
                                        <p:cTn id="236" dur="500"/>
                                        <p:tgtEl>
                                          <p:spTgt spid="25"/>
                                        </p:tgtEl>
                                      </p:cBhvr>
                                    </p:animEffect>
                                    <p:anim calcmode="lin" valueType="num">
                                      <p:cBhvr>
                                        <p:cTn id="237" dur="500" fill="hold"/>
                                        <p:tgtEl>
                                          <p:spTgt spid="25"/>
                                        </p:tgtEl>
                                        <p:attrNameLst>
                                          <p:attrName>ppt_x</p:attrName>
                                        </p:attrNameLst>
                                      </p:cBhvr>
                                      <p:tavLst>
                                        <p:tav tm="0">
                                          <p:val>
                                            <p:strVal val="#ppt_x"/>
                                          </p:val>
                                        </p:tav>
                                        <p:tav tm="100000">
                                          <p:val>
                                            <p:strVal val="#ppt_x"/>
                                          </p:val>
                                        </p:tav>
                                      </p:tavLst>
                                    </p:anim>
                                    <p:anim calcmode="lin" valueType="num">
                                      <p:cBhvr>
                                        <p:cTn id="238" dur="500" fill="hold"/>
                                        <p:tgtEl>
                                          <p:spTgt spid="25"/>
                                        </p:tgtEl>
                                        <p:attrNameLst>
                                          <p:attrName>ppt_y</p:attrName>
                                        </p:attrNameLst>
                                      </p:cBhvr>
                                      <p:tavLst>
                                        <p:tav tm="0">
                                          <p:val>
                                            <p:strVal val="#ppt_y+.1"/>
                                          </p:val>
                                        </p:tav>
                                        <p:tav tm="100000">
                                          <p:val>
                                            <p:strVal val="#ppt_y"/>
                                          </p:val>
                                        </p:tav>
                                      </p:tavLst>
                                    </p:anim>
                                  </p:childTnLst>
                                </p:cTn>
                              </p:par>
                              <p:par>
                                <p:cTn id="239" presetID="42" presetClass="entr" presetSubtype="0" fill="hold" grpId="0" nodeType="withEffect">
                                  <p:stCondLst>
                                    <p:cond delay="0"/>
                                  </p:stCondLst>
                                  <p:childTnLst>
                                    <p:set>
                                      <p:cBhvr>
                                        <p:cTn id="240" dur="1" fill="hold">
                                          <p:stCondLst>
                                            <p:cond delay="0"/>
                                          </p:stCondLst>
                                        </p:cTn>
                                        <p:tgtEl>
                                          <p:spTgt spid="26"/>
                                        </p:tgtEl>
                                        <p:attrNameLst>
                                          <p:attrName>style.visibility</p:attrName>
                                        </p:attrNameLst>
                                      </p:cBhvr>
                                      <p:to>
                                        <p:strVal val="visible"/>
                                      </p:to>
                                    </p:set>
                                    <p:animEffect transition="in" filter="fade">
                                      <p:cBhvr>
                                        <p:cTn id="241" dur="500"/>
                                        <p:tgtEl>
                                          <p:spTgt spid="26"/>
                                        </p:tgtEl>
                                      </p:cBhvr>
                                    </p:animEffect>
                                    <p:anim calcmode="lin" valueType="num">
                                      <p:cBhvr>
                                        <p:cTn id="242" dur="500" fill="hold"/>
                                        <p:tgtEl>
                                          <p:spTgt spid="26"/>
                                        </p:tgtEl>
                                        <p:attrNameLst>
                                          <p:attrName>ppt_x</p:attrName>
                                        </p:attrNameLst>
                                      </p:cBhvr>
                                      <p:tavLst>
                                        <p:tav tm="0">
                                          <p:val>
                                            <p:strVal val="#ppt_x"/>
                                          </p:val>
                                        </p:tav>
                                        <p:tav tm="100000">
                                          <p:val>
                                            <p:strVal val="#ppt_x"/>
                                          </p:val>
                                        </p:tav>
                                      </p:tavLst>
                                    </p:anim>
                                    <p:anim calcmode="lin" valueType="num">
                                      <p:cBhvr>
                                        <p:cTn id="243" dur="500" fill="hold"/>
                                        <p:tgtEl>
                                          <p:spTgt spid="26"/>
                                        </p:tgtEl>
                                        <p:attrNameLst>
                                          <p:attrName>ppt_y</p:attrName>
                                        </p:attrNameLst>
                                      </p:cBhvr>
                                      <p:tavLst>
                                        <p:tav tm="0">
                                          <p:val>
                                            <p:strVal val="#ppt_y+.1"/>
                                          </p:val>
                                        </p:tav>
                                        <p:tav tm="100000">
                                          <p:val>
                                            <p:strVal val="#ppt_y"/>
                                          </p:val>
                                        </p:tav>
                                      </p:tavLst>
                                    </p:anim>
                                  </p:childTnLst>
                                </p:cTn>
                              </p:par>
                              <p:par>
                                <p:cTn id="244" presetID="42" presetClass="entr" presetSubtype="0" fill="hold" grpId="0" nodeType="withEffect">
                                  <p:stCondLst>
                                    <p:cond delay="0"/>
                                  </p:stCondLst>
                                  <p:childTnLst>
                                    <p:set>
                                      <p:cBhvr>
                                        <p:cTn id="245" dur="1" fill="hold">
                                          <p:stCondLst>
                                            <p:cond delay="0"/>
                                          </p:stCondLst>
                                        </p:cTn>
                                        <p:tgtEl>
                                          <p:spTgt spid="34"/>
                                        </p:tgtEl>
                                        <p:attrNameLst>
                                          <p:attrName>style.visibility</p:attrName>
                                        </p:attrNameLst>
                                      </p:cBhvr>
                                      <p:to>
                                        <p:strVal val="visible"/>
                                      </p:to>
                                    </p:set>
                                    <p:animEffect transition="in" filter="fade">
                                      <p:cBhvr>
                                        <p:cTn id="246" dur="500"/>
                                        <p:tgtEl>
                                          <p:spTgt spid="34"/>
                                        </p:tgtEl>
                                      </p:cBhvr>
                                    </p:animEffect>
                                    <p:anim calcmode="lin" valueType="num">
                                      <p:cBhvr>
                                        <p:cTn id="247" dur="500" fill="hold"/>
                                        <p:tgtEl>
                                          <p:spTgt spid="34"/>
                                        </p:tgtEl>
                                        <p:attrNameLst>
                                          <p:attrName>ppt_x</p:attrName>
                                        </p:attrNameLst>
                                      </p:cBhvr>
                                      <p:tavLst>
                                        <p:tav tm="0">
                                          <p:val>
                                            <p:strVal val="#ppt_x"/>
                                          </p:val>
                                        </p:tav>
                                        <p:tav tm="100000">
                                          <p:val>
                                            <p:strVal val="#ppt_x"/>
                                          </p:val>
                                        </p:tav>
                                      </p:tavLst>
                                    </p:anim>
                                    <p:anim calcmode="lin" valueType="num">
                                      <p:cBhvr>
                                        <p:cTn id="248" dur="500" fill="hold"/>
                                        <p:tgtEl>
                                          <p:spTgt spid="34"/>
                                        </p:tgtEl>
                                        <p:attrNameLst>
                                          <p:attrName>ppt_y</p:attrName>
                                        </p:attrNameLst>
                                      </p:cBhvr>
                                      <p:tavLst>
                                        <p:tav tm="0">
                                          <p:val>
                                            <p:strVal val="#ppt_y+.1"/>
                                          </p:val>
                                        </p:tav>
                                        <p:tav tm="100000">
                                          <p:val>
                                            <p:strVal val="#ppt_y"/>
                                          </p:val>
                                        </p:tav>
                                      </p:tavLst>
                                    </p:anim>
                                  </p:childTnLst>
                                </p:cTn>
                              </p:par>
                              <p:par>
                                <p:cTn id="249" presetID="42" presetClass="entr" presetSubtype="0" fill="hold" grpId="0" nodeType="withEffect">
                                  <p:stCondLst>
                                    <p:cond delay="0"/>
                                  </p:stCondLst>
                                  <p:childTnLst>
                                    <p:set>
                                      <p:cBhvr>
                                        <p:cTn id="250" dur="1" fill="hold">
                                          <p:stCondLst>
                                            <p:cond delay="0"/>
                                          </p:stCondLst>
                                        </p:cTn>
                                        <p:tgtEl>
                                          <p:spTgt spid="41"/>
                                        </p:tgtEl>
                                        <p:attrNameLst>
                                          <p:attrName>style.visibility</p:attrName>
                                        </p:attrNameLst>
                                      </p:cBhvr>
                                      <p:to>
                                        <p:strVal val="visible"/>
                                      </p:to>
                                    </p:set>
                                    <p:animEffect transition="in" filter="fade">
                                      <p:cBhvr>
                                        <p:cTn id="251" dur="500"/>
                                        <p:tgtEl>
                                          <p:spTgt spid="41"/>
                                        </p:tgtEl>
                                      </p:cBhvr>
                                    </p:animEffect>
                                    <p:anim calcmode="lin" valueType="num">
                                      <p:cBhvr>
                                        <p:cTn id="252" dur="500" fill="hold"/>
                                        <p:tgtEl>
                                          <p:spTgt spid="41"/>
                                        </p:tgtEl>
                                        <p:attrNameLst>
                                          <p:attrName>ppt_x</p:attrName>
                                        </p:attrNameLst>
                                      </p:cBhvr>
                                      <p:tavLst>
                                        <p:tav tm="0">
                                          <p:val>
                                            <p:strVal val="#ppt_x"/>
                                          </p:val>
                                        </p:tav>
                                        <p:tav tm="100000">
                                          <p:val>
                                            <p:strVal val="#ppt_x"/>
                                          </p:val>
                                        </p:tav>
                                      </p:tavLst>
                                    </p:anim>
                                    <p:anim calcmode="lin" valueType="num">
                                      <p:cBhvr>
                                        <p:cTn id="253" dur="500" fill="hold"/>
                                        <p:tgtEl>
                                          <p:spTgt spid="41"/>
                                        </p:tgtEl>
                                        <p:attrNameLst>
                                          <p:attrName>ppt_y</p:attrName>
                                        </p:attrNameLst>
                                      </p:cBhvr>
                                      <p:tavLst>
                                        <p:tav tm="0">
                                          <p:val>
                                            <p:strVal val="#ppt_y+.1"/>
                                          </p:val>
                                        </p:tav>
                                        <p:tav tm="100000">
                                          <p:val>
                                            <p:strVal val="#ppt_y"/>
                                          </p:val>
                                        </p:tav>
                                      </p:tavLst>
                                    </p:anim>
                                  </p:childTnLst>
                                </p:cTn>
                              </p:par>
                              <p:par>
                                <p:cTn id="254" presetID="42" presetClass="entr" presetSubtype="0" fill="hold" grpId="0" nodeType="withEffect">
                                  <p:stCondLst>
                                    <p:cond delay="0"/>
                                  </p:stCondLst>
                                  <p:childTnLst>
                                    <p:set>
                                      <p:cBhvr>
                                        <p:cTn id="255" dur="1" fill="hold">
                                          <p:stCondLst>
                                            <p:cond delay="0"/>
                                          </p:stCondLst>
                                        </p:cTn>
                                        <p:tgtEl>
                                          <p:spTgt spid="50"/>
                                        </p:tgtEl>
                                        <p:attrNameLst>
                                          <p:attrName>style.visibility</p:attrName>
                                        </p:attrNameLst>
                                      </p:cBhvr>
                                      <p:to>
                                        <p:strVal val="visible"/>
                                      </p:to>
                                    </p:set>
                                    <p:animEffect transition="in" filter="fade">
                                      <p:cBhvr>
                                        <p:cTn id="256" dur="500"/>
                                        <p:tgtEl>
                                          <p:spTgt spid="50"/>
                                        </p:tgtEl>
                                      </p:cBhvr>
                                    </p:animEffect>
                                    <p:anim calcmode="lin" valueType="num">
                                      <p:cBhvr>
                                        <p:cTn id="257" dur="500" fill="hold"/>
                                        <p:tgtEl>
                                          <p:spTgt spid="50"/>
                                        </p:tgtEl>
                                        <p:attrNameLst>
                                          <p:attrName>ppt_x</p:attrName>
                                        </p:attrNameLst>
                                      </p:cBhvr>
                                      <p:tavLst>
                                        <p:tav tm="0">
                                          <p:val>
                                            <p:strVal val="#ppt_x"/>
                                          </p:val>
                                        </p:tav>
                                        <p:tav tm="100000">
                                          <p:val>
                                            <p:strVal val="#ppt_x"/>
                                          </p:val>
                                        </p:tav>
                                      </p:tavLst>
                                    </p:anim>
                                    <p:anim calcmode="lin" valueType="num">
                                      <p:cBhvr>
                                        <p:cTn id="258" dur="5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259" fill="hold">
                      <p:stCondLst>
                        <p:cond delay="indefinite"/>
                      </p:stCondLst>
                      <p:childTnLst>
                        <p:par>
                          <p:cTn id="260" fill="hold">
                            <p:stCondLst>
                              <p:cond delay="0"/>
                            </p:stCondLst>
                            <p:childTnLst>
                              <p:par>
                                <p:cTn id="261" presetID="10" presetClass="exit" presetSubtype="0" fill="hold" grpId="0" nodeType="clickEffect">
                                  <p:stCondLst>
                                    <p:cond delay="1500"/>
                                  </p:stCondLst>
                                  <p:childTnLst>
                                    <p:animEffect transition="out" filter="fade">
                                      <p:cBhvr>
                                        <p:cTn id="262" dur="500"/>
                                        <p:tgtEl>
                                          <p:spTgt spid="51"/>
                                        </p:tgtEl>
                                      </p:cBhvr>
                                    </p:animEffect>
                                    <p:set>
                                      <p:cBhvr>
                                        <p:cTn id="263" dur="1" fill="hold">
                                          <p:stCondLst>
                                            <p:cond delay="499"/>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等腰三角形 13"/>
          <p:cNvSpPr/>
          <p:nvPr/>
        </p:nvSpPr>
        <p:spPr>
          <a:xfrm>
            <a:off x="298175" y="500269"/>
            <a:ext cx="2297709" cy="5857461"/>
          </a:xfrm>
          <a:prstGeom prst="triangle">
            <a:avLst>
              <a:gd name="adj" fmla="val 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3" name="等腰三角形 12"/>
          <p:cNvSpPr/>
          <p:nvPr/>
        </p:nvSpPr>
        <p:spPr>
          <a:xfrm rot="10800000">
            <a:off x="11368083" y="132521"/>
            <a:ext cx="691393" cy="176254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nvGrpSpPr>
          <p:cNvPr id="2" name="组合 1"/>
          <p:cNvGrpSpPr>
            <a:grpSpLocks noChangeAspect="1"/>
          </p:cNvGrpSpPr>
          <p:nvPr/>
        </p:nvGrpSpPr>
        <p:grpSpPr>
          <a:xfrm>
            <a:off x="2792134" y="1755959"/>
            <a:ext cx="7910053" cy="2084866"/>
            <a:chOff x="5846980" y="951907"/>
            <a:chExt cx="5255998" cy="1385329"/>
          </a:xfrm>
        </p:grpSpPr>
        <p:sp>
          <p:nvSpPr>
            <p:cNvPr id="3" name="圆角矩形 2"/>
            <p:cNvSpPr/>
            <p:nvPr/>
          </p:nvSpPr>
          <p:spPr>
            <a:xfrm>
              <a:off x="5846980" y="1474039"/>
              <a:ext cx="1338224" cy="86319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 name="文本框 3"/>
            <p:cNvSpPr txBox="1"/>
            <p:nvPr/>
          </p:nvSpPr>
          <p:spPr>
            <a:xfrm>
              <a:off x="5920562" y="951907"/>
              <a:ext cx="1032342" cy="1042991"/>
            </a:xfrm>
            <a:prstGeom prst="rect">
              <a:avLst/>
            </a:prstGeom>
            <a:noFill/>
          </p:spPr>
          <p:txBody>
            <a:bodyPr wrap="none" rtlCol="0">
              <a:spAutoFit/>
            </a:bodyPr>
            <a:lstStyle/>
            <a:p>
              <a:r>
                <a:rPr lang="en-US" altLang="zh-CN"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rPr>
                <a:t>02</a:t>
              </a:r>
              <a:endParaRPr lang="zh-CN" altLang="en-US"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5" name="等腰三角形 4"/>
            <p:cNvSpPr/>
            <p:nvPr/>
          </p:nvSpPr>
          <p:spPr>
            <a:xfrm>
              <a:off x="6524700" y="1380399"/>
              <a:ext cx="1220141" cy="95683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6" name="平行四边形 5"/>
            <p:cNvSpPr/>
            <p:nvPr/>
          </p:nvSpPr>
          <p:spPr>
            <a:xfrm>
              <a:off x="6627568" y="1790036"/>
              <a:ext cx="4354494" cy="547200"/>
            </a:xfrm>
            <a:prstGeom prst="parallelogram">
              <a:avLst>
                <a:gd name="adj" fmla="val 6108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7" name="圆角矩形 6"/>
            <p:cNvSpPr/>
            <p:nvPr/>
          </p:nvSpPr>
          <p:spPr>
            <a:xfrm>
              <a:off x="7090801" y="1789704"/>
              <a:ext cx="4012177" cy="547532"/>
            </a:xfrm>
            <a:prstGeom prst="round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8" name="矩形 7"/>
            <p:cNvSpPr/>
            <p:nvPr/>
          </p:nvSpPr>
          <p:spPr>
            <a:xfrm>
              <a:off x="7534030" y="1855095"/>
              <a:ext cx="3035505" cy="429467"/>
            </a:xfrm>
            <a:prstGeom prst="rect">
              <a:avLst/>
            </a:prstGeom>
          </p:spPr>
          <p:txBody>
            <a:bodyPr wrap="square">
              <a:spAutoFit/>
            </a:bodyPr>
            <a:lstStyle/>
            <a:p>
              <a:pPr algn="ct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收入完成状况分析</a:t>
              </a:r>
            </a:p>
          </p:txBody>
        </p:sp>
        <p:sp>
          <p:nvSpPr>
            <p:cNvPr id="9" name="圆角矩形 8"/>
            <p:cNvSpPr/>
            <p:nvPr/>
          </p:nvSpPr>
          <p:spPr>
            <a:xfrm>
              <a:off x="10893057" y="1865480"/>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sp>
        <p:nvSpPr>
          <p:cNvPr id="11" name="等腰三角形 10"/>
          <p:cNvSpPr/>
          <p:nvPr/>
        </p:nvSpPr>
        <p:spPr>
          <a:xfrm>
            <a:off x="0" y="0"/>
            <a:ext cx="2690191" cy="685800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2" name="等腰三角形 11"/>
          <p:cNvSpPr/>
          <p:nvPr/>
        </p:nvSpPr>
        <p:spPr>
          <a:xfrm rot="10800000">
            <a:off x="11427830" y="0"/>
            <a:ext cx="764170" cy="1948069"/>
          </a:xfrm>
          <a:prstGeom prst="triangle">
            <a:avLst>
              <a:gd name="adj" fmla="val 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5" name="文本框 14"/>
          <p:cNvSpPr txBox="1"/>
          <p:nvPr/>
        </p:nvSpPr>
        <p:spPr>
          <a:xfrm>
            <a:off x="2809394" y="3204578"/>
            <a:ext cx="1229825" cy="461665"/>
          </a:xfrm>
          <a:prstGeom prst="rect">
            <a:avLst/>
          </a:prstGeom>
          <a:noFill/>
        </p:spPr>
        <p:txBody>
          <a:bodyPr wrap="none" rtlCol="0">
            <a:spAutoFit/>
          </a:bodyPr>
          <a:lstStyle/>
          <a:p>
            <a:pPr algn="ctr"/>
            <a:r>
              <a:rPr lang="en-US" altLang="zh-CN" sz="2400" dirty="0">
                <a:solidFill>
                  <a:schemeClr val="bg1"/>
                </a:solidFill>
                <a:latin typeface="Arial" panose="020B0604020202020204"/>
                <a:ea typeface="微软雅黑" panose="020B0503020204020204" charset="-122"/>
                <a:sym typeface="Arial" panose="020B0604020202020204"/>
              </a:rPr>
              <a:t>Second</a:t>
            </a:r>
            <a:endParaRPr lang="zh-CN" altLang="en-US" sz="2400" dirty="0">
              <a:solidFill>
                <a:schemeClr val="bg1"/>
              </a:solidFill>
              <a:latin typeface="Arial" panose="020B0604020202020204"/>
              <a:ea typeface="微软雅黑" panose="020B0503020204020204" charset="-122"/>
              <a:sym typeface="Arial" panose="020B0604020202020204"/>
            </a:endParaRPr>
          </a:p>
        </p:txBody>
      </p:sp>
      <p:sp>
        <p:nvSpPr>
          <p:cNvPr id="16" name="文本框 15"/>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
        <p:nvSpPr>
          <p:cNvPr id="17" name="平行四边形 16"/>
          <p:cNvSpPr/>
          <p:nvPr/>
        </p:nvSpPr>
        <p:spPr>
          <a:xfrm flipH="1">
            <a:off x="-336884" y="1524000"/>
            <a:ext cx="2454440" cy="5350041"/>
          </a:xfrm>
          <a:prstGeom prst="parallelogram">
            <a:avLst>
              <a:gd name="adj" fmla="val 86044"/>
            </a:avLst>
          </a:prstGeom>
          <a:solidFill>
            <a:schemeClr val="tx1">
              <a:lumMod val="50000"/>
              <a:lumOff val="5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0381" y="395116"/>
            <a:ext cx="2954655" cy="646331"/>
          </a:xfrm>
          <a:prstGeom prst="rect">
            <a:avLst/>
          </a:prstGeom>
        </p:spPr>
        <p:txBody>
          <a:bodyPr wrap="none">
            <a:spAutoFit/>
          </a:bodyPr>
          <a:lstStyle/>
          <a:p>
            <a:r>
              <a:rPr lang="zh-CN" altLang="en-US" sz="3600" b="1" dirty="0">
                <a:latin typeface="Arial" panose="020B0604020202020204"/>
                <a:ea typeface="微软雅黑" panose="020B0503020204020204" charset="-122"/>
                <a:sym typeface="Arial" panose="020B0604020202020204"/>
              </a:rPr>
              <a:t>收入来源分析</a:t>
            </a:r>
          </a:p>
        </p:txBody>
      </p:sp>
      <p:graphicFrame>
        <p:nvGraphicFramePr>
          <p:cNvPr id="5" name="表格 4"/>
          <p:cNvGraphicFramePr>
            <a:graphicFrameLocks noGrp="1"/>
          </p:cNvGraphicFramePr>
          <p:nvPr/>
        </p:nvGraphicFramePr>
        <p:xfrm>
          <a:off x="1004549" y="1409787"/>
          <a:ext cx="10182901" cy="4911503"/>
        </p:xfrm>
        <a:graphic>
          <a:graphicData uri="http://schemas.openxmlformats.org/drawingml/2006/table">
            <a:tbl>
              <a:tblPr>
                <a:tableStyleId>{5C22544A-7EE6-4342-B048-85BDC9FD1C3A}</a:tableStyleId>
              </a:tblPr>
              <a:tblGrid>
                <a:gridCol w="3152990"/>
                <a:gridCol w="1330470"/>
                <a:gridCol w="1132695"/>
                <a:gridCol w="1114718"/>
                <a:gridCol w="1150676"/>
                <a:gridCol w="1168657"/>
                <a:gridCol w="1132695"/>
              </a:tblGrid>
              <a:tr h="286684">
                <a:tc rowSpan="2">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收入主要项目</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本月</a:t>
                      </a:r>
                      <a:endParaRPr lang="en-US" altLang="zh-CN" sz="1400" u="none" strike="noStrike" dirty="0">
                        <a:solidFill>
                          <a:schemeClr val="bg1"/>
                        </a:solidFill>
                        <a:effectLst/>
                        <a:latin typeface="Arial" panose="020B0604020202020204"/>
                        <a:ea typeface="微软雅黑" panose="020B0503020204020204" charset="-122"/>
                        <a:sym typeface="Arial" panose="020B0604020202020204"/>
                      </a:endParaRPr>
                    </a:p>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（不含税）</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环比</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c rowSpan="2">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累计</a:t>
                      </a:r>
                      <a:endParaRPr lang="en-US" altLang="zh-CN" sz="1400" u="none" strike="noStrike" dirty="0">
                        <a:solidFill>
                          <a:schemeClr val="bg1"/>
                        </a:solidFill>
                        <a:effectLst/>
                        <a:latin typeface="Arial" panose="020B0604020202020204"/>
                        <a:ea typeface="微软雅黑" panose="020B0503020204020204" charset="-122"/>
                        <a:sym typeface="Arial" panose="020B0604020202020204"/>
                      </a:endParaRPr>
                    </a:p>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（含税）</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累计同比</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r>
              <a:tr h="274218">
                <a:tc vMerge="1">
                  <a:txBody>
                    <a:bodyPr/>
                    <a:lstStyle/>
                    <a:p>
                      <a:endParaRPr lang="zh-CN"/>
                    </a:p>
                  </a:txBody>
                  <a:tcPr/>
                </a:tc>
                <a:tc vMerge="1">
                  <a:txBody>
                    <a:bodyPr/>
                    <a:lstStyle/>
                    <a:p>
                      <a:endParaRPr lang="zh-CN"/>
                    </a:p>
                  </a:txBody>
                  <a:tcPr/>
                </a:tc>
                <a:tc>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增量</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增幅</a:t>
                      </a:r>
                      <a:r>
                        <a:rPr lang="en-US" altLang="zh-CN" sz="1400" u="none" strike="noStrike" dirty="0">
                          <a:solidFill>
                            <a:schemeClr val="bg1"/>
                          </a:solidFill>
                          <a:effectLst/>
                          <a:latin typeface="Arial" panose="020B0604020202020204"/>
                          <a:ea typeface="微软雅黑" panose="020B0503020204020204" charset="-122"/>
                          <a:sym typeface="Arial" panose="020B0604020202020204"/>
                        </a:rPr>
                        <a:t>%</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vMerge="1">
                  <a:txBody>
                    <a:bodyPr/>
                    <a:lstStyle/>
                    <a:p>
                      <a:endParaRPr lang="zh-CN"/>
                    </a:p>
                  </a:txBody>
                  <a:tcPr/>
                </a:tc>
                <a:tc>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增量</a:t>
                      </a:r>
                      <a:endParaRPr lang="zh-CN" altLang="en-US"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effectLst/>
                          <a:latin typeface="Arial" panose="020B0604020202020204"/>
                          <a:ea typeface="微软雅黑" panose="020B0503020204020204" charset="-122"/>
                          <a:sym typeface="Arial" panose="020B0604020202020204"/>
                        </a:rPr>
                        <a:t>增幅</a:t>
                      </a:r>
                      <a:r>
                        <a:rPr lang="en-US" altLang="zh-CN" sz="1400" u="none" strike="noStrike" dirty="0">
                          <a:solidFill>
                            <a:schemeClr val="bg1"/>
                          </a:solidFill>
                          <a:effectLst/>
                          <a:latin typeface="Arial" panose="020B0604020202020204"/>
                          <a:ea typeface="微软雅黑" panose="020B0503020204020204" charset="-122"/>
                          <a:sym typeface="Arial" panose="020B0604020202020204"/>
                        </a:rPr>
                        <a:t>%</a:t>
                      </a:r>
                      <a:endParaRPr lang="en-US" altLang="zh-CN" sz="1400" b="0" i="0" u="none" strike="noStrike" dirty="0">
                        <a:solidFill>
                          <a:schemeClr val="bg1"/>
                        </a:solidFill>
                        <a:effectLst/>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306899">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脱机收入（不含云、导航）</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6,366.7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-295.6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-4.4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27,797.7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1,060.4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4.0</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r h="288347">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积分计提</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-41.1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5.9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-12.5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-168.1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120.0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-0.4</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90870">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积分兑换</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3.9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-0.8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-16.7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20.2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-33.2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-0.6</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r h="290870">
                <a:tc>
                  <a:txBody>
                    <a:bodyPr/>
                    <a:lstStyle/>
                    <a:p>
                      <a:pPr marL="71755" algn="l" fontAlgn="b"/>
                      <a:r>
                        <a:rPr lang="en-US" sz="1000" u="none" strike="noStrike" dirty="0">
                          <a:effectLst/>
                          <a:latin typeface="Arial" panose="020B0604020202020204"/>
                          <a:ea typeface="微软雅黑" panose="020B0503020204020204" charset="-122"/>
                          <a:sym typeface="Arial" panose="020B0604020202020204"/>
                        </a:rPr>
                        <a:t>    SP</a:t>
                      </a:r>
                      <a:r>
                        <a:rPr lang="zh-CN" altLang="en-US" sz="1000" u="none" strike="noStrike" dirty="0">
                          <a:effectLst/>
                          <a:latin typeface="Arial" panose="020B0604020202020204"/>
                          <a:ea typeface="微软雅黑" panose="020B0503020204020204" charset="-122"/>
                          <a:sym typeface="Arial" panose="020B0604020202020204"/>
                        </a:rPr>
                        <a:t>分成</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-226.5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-40.3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21.6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-813.1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-227.7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0.4</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11113">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电信卡</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1.9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-0.1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-4.7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8.5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-0.3</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r h="295004">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网间结算</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385.3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-18.2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1,724.8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-57.4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0.0</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90870">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漫游结算</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28.2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-22.2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-44.1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322.3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72.0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0.3</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r h="290870">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宣传用卡</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-6.5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28.3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-81.3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-124.6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-31.9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0.3</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90870">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资金平台分成</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 </a:t>
                      </a:r>
                      <a:endParaRPr lang="en-US"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-59.3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233.7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-0.8</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r h="290870">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其他零星</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24.3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12.7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109.1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71.6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-489.6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-0.9</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90870">
                <a:tc>
                  <a:txBody>
                    <a:bodyPr/>
                    <a:lstStyle/>
                    <a:p>
                      <a:pPr marL="71755" algn="l" fontAlgn="b"/>
                      <a:r>
                        <a:rPr lang="en-US" altLang="zh-CN" sz="1000" u="none" strike="noStrike" baseline="0" dirty="0">
                          <a:effectLst/>
                          <a:latin typeface="Arial" panose="020B0604020202020204"/>
                          <a:ea typeface="微软雅黑" panose="020B0503020204020204" charset="-122"/>
                          <a:sym typeface="Arial" panose="020B0604020202020204"/>
                        </a:rPr>
                        <a:t>  </a:t>
                      </a:r>
                      <a:r>
                        <a:rPr lang="zh-CN" altLang="en-US" sz="1000" u="none" strike="noStrike" baseline="0" dirty="0">
                          <a:effectLst/>
                          <a:latin typeface="Arial" panose="020B0604020202020204"/>
                          <a:ea typeface="微软雅黑" panose="020B0503020204020204" charset="-122"/>
                          <a:sym typeface="Arial" panose="020B0604020202020204"/>
                        </a:rPr>
                        <a:t>减：非主营业务收入</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84.6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5.2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en-US" altLang="zh-CN" sz="1000" u="none" strike="noStrike" dirty="0">
                          <a:latin typeface="Arial" panose="020B0604020202020204"/>
                          <a:ea typeface="微软雅黑" panose="020B0503020204020204" charset="-122"/>
                          <a:sym typeface="Arial" panose="020B0604020202020204"/>
                        </a:rPr>
                        <a:t>      365.3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6.4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en-US" altLang="zh-CN" sz="1000" u="none" strike="noStrike" dirty="0">
                          <a:latin typeface="Arial" panose="020B0604020202020204"/>
                          <a:ea typeface="微软雅黑" panose="020B0503020204020204" charset="-122"/>
                          <a:sym typeface="Arial" panose="020B0604020202020204"/>
                        </a:rPr>
                        <a:t>0.0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r h="352075">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主营业务收入</a:t>
                      </a:r>
                      <a:r>
                        <a:rPr lang="en-US" altLang="zh-CN" sz="1000" u="none" strike="noStrike" dirty="0">
                          <a:effectLst/>
                          <a:latin typeface="Arial" panose="020B0604020202020204"/>
                          <a:ea typeface="微软雅黑" panose="020B0503020204020204" charset="-122"/>
                          <a:sym typeface="Arial" panose="020B0604020202020204"/>
                        </a:rPr>
                        <a:t>(</a:t>
                      </a:r>
                      <a:r>
                        <a:rPr lang="zh-CN" altLang="en-US" sz="1000" u="none" strike="noStrike" dirty="0">
                          <a:effectLst/>
                          <a:latin typeface="Arial" panose="020B0604020202020204"/>
                          <a:ea typeface="微软雅黑" panose="020B0503020204020204" charset="-122"/>
                          <a:sym typeface="Arial" panose="020B0604020202020204"/>
                        </a:rPr>
                        <a:t>不含云及导航）</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6,452.6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-341.6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-5.0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28,427.6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648.5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000" u="none" strike="noStrike" dirty="0">
                          <a:latin typeface="Arial" panose="020B0604020202020204"/>
                          <a:ea typeface="微软雅黑" panose="020B0503020204020204" charset="-122"/>
                          <a:sym typeface="Arial" panose="020B0604020202020204"/>
                        </a:rPr>
                        <a:t>0.0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90870">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加：云协同收入</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52.8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-11.5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-17.8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272.2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65.5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en-US" altLang="zh-CN" sz="1000" u="none" strike="noStrike" dirty="0">
                          <a:latin typeface="Arial" panose="020B0604020202020204"/>
                          <a:ea typeface="微软雅黑" panose="020B0503020204020204" charset="-122"/>
                          <a:sym typeface="Arial" panose="020B0604020202020204"/>
                        </a:rPr>
                        <a:t>0.3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r h="275020">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    加：导航协同收入</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43.4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4.0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10.2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175.2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5.2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000" u="none" strike="noStrike" dirty="0">
                          <a:latin typeface="Arial" panose="020B0604020202020204"/>
                          <a:ea typeface="微软雅黑" panose="020B0503020204020204" charset="-122"/>
                          <a:sym typeface="Arial" panose="020B0604020202020204"/>
                        </a:rPr>
                        <a:t>0.0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95183">
                <a:tc>
                  <a:txBody>
                    <a:bodyPr/>
                    <a:lstStyle/>
                    <a:p>
                      <a:pPr marL="71755" algn="l" fontAlgn="b"/>
                      <a:r>
                        <a:rPr lang="zh-CN" altLang="en-US" sz="1000" u="none" strike="noStrike" dirty="0">
                          <a:effectLst/>
                          <a:latin typeface="Arial" panose="020B0604020202020204"/>
                          <a:ea typeface="微软雅黑" panose="020B0503020204020204" charset="-122"/>
                          <a:sym typeface="Arial" panose="020B0604020202020204"/>
                        </a:rPr>
                        <a:t>主营业务收入</a:t>
                      </a:r>
                      <a:r>
                        <a:rPr lang="en-US" altLang="zh-CN" sz="1000" u="none" strike="noStrike" dirty="0">
                          <a:effectLst/>
                          <a:latin typeface="Arial" panose="020B0604020202020204"/>
                          <a:ea typeface="微软雅黑" panose="020B0503020204020204" charset="-122"/>
                          <a:sym typeface="Arial" panose="020B0604020202020204"/>
                        </a:rPr>
                        <a:t>(</a:t>
                      </a:r>
                      <a:r>
                        <a:rPr lang="zh-CN" altLang="en-US" sz="1000" u="none" strike="noStrike" dirty="0">
                          <a:effectLst/>
                          <a:latin typeface="Arial" panose="020B0604020202020204"/>
                          <a:ea typeface="微软雅黑" panose="020B0503020204020204" charset="-122"/>
                          <a:sym typeface="Arial" panose="020B0604020202020204"/>
                        </a:rPr>
                        <a:t>含云及导航协同）</a:t>
                      </a:r>
                      <a:endParaRPr lang="zh-CN" altLang="en-US" sz="1000" b="0" i="0" u="none" strike="noStrike" dirty="0">
                        <a:solidFill>
                          <a:srgbClr val="000000"/>
                        </a:solidFill>
                        <a:effectLst/>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6,553.0</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- 349.4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en-US" altLang="zh-CN" sz="1000" u="none" strike="noStrike" dirty="0">
                          <a:latin typeface="Arial" panose="020B0604020202020204"/>
                          <a:ea typeface="微软雅黑" panose="020B0503020204020204" charset="-122"/>
                          <a:sym typeface="Arial" panose="020B0604020202020204"/>
                        </a:rPr>
                        <a:t>-5.1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ctr"/>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28,326.1</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zh-CN" altLang="en-US" sz="1000" u="none" strike="noStrike" dirty="0">
                          <a:latin typeface="Arial" panose="020B0604020202020204"/>
                          <a:ea typeface="微软雅黑" panose="020B0503020204020204" charset="-122"/>
                          <a:sym typeface="Arial" panose="020B0604020202020204"/>
                        </a:rPr>
                        <a:t>    </a:t>
                      </a:r>
                      <a:r>
                        <a:rPr lang="en-US" altLang="zh-CN" sz="1000" u="none" strike="noStrike" dirty="0">
                          <a:latin typeface="Arial" panose="020B0604020202020204"/>
                          <a:ea typeface="微软雅黑" panose="020B0503020204020204" charset="-122"/>
                          <a:sym typeface="Arial" panose="020B0604020202020204"/>
                        </a:rPr>
                        <a:t>170.2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c>
                  <a:txBody>
                    <a:bodyPr/>
                    <a:lstStyle/>
                    <a:p>
                      <a:pPr algn="ctr" fontAlgn="b"/>
                      <a:r>
                        <a:rPr lang="en-US" altLang="zh-CN" sz="1000" u="none" strike="noStrike" dirty="0">
                          <a:latin typeface="Arial" panose="020B0604020202020204"/>
                          <a:ea typeface="微软雅黑" panose="020B0503020204020204" charset="-122"/>
                          <a:sym typeface="Arial" panose="020B0604020202020204"/>
                        </a:rPr>
                        <a:t>0.0 </a:t>
                      </a:r>
                      <a:endParaRPr lang="en-US" altLang="zh-CN" sz="10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65000"/>
                      </a:schemeClr>
                    </a:solidFill>
                  </a:tcPr>
                </a:tc>
              </a:tr>
            </a:tbl>
          </a:graphicData>
        </a:graphic>
      </p:graphicFrame>
      <p:sp>
        <p:nvSpPr>
          <p:cNvPr id="6" name="文本框 5"/>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150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87280" y="1473958"/>
            <a:ext cx="9826463" cy="755788"/>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sz="2000" b="1" dirty="0">
                <a:solidFill>
                  <a:schemeClr val="bg1"/>
                </a:solidFill>
                <a:latin typeface="Arial" panose="020B0604020202020204"/>
                <a:ea typeface="微软雅黑" panose="020B0503020204020204" charset="-122"/>
                <a:sym typeface="Arial" panose="020B0604020202020204"/>
              </a:rPr>
              <a:t>环比分析（不含税口径）：</a:t>
            </a:r>
            <a:endParaRPr lang="en-US" altLang="zh-CN" sz="2000" b="1" dirty="0">
              <a:solidFill>
                <a:schemeClr val="bg1"/>
              </a:solidFill>
              <a:latin typeface="Arial" panose="020B0604020202020204"/>
              <a:ea typeface="微软雅黑" panose="020B0503020204020204" charset="-122"/>
              <a:sym typeface="Arial" panose="020B0604020202020204"/>
            </a:endParaRPr>
          </a:p>
        </p:txBody>
      </p:sp>
      <p:sp>
        <p:nvSpPr>
          <p:cNvPr id="3" name="TextBox 8"/>
          <p:cNvSpPr txBox="1"/>
          <p:nvPr/>
        </p:nvSpPr>
        <p:spPr>
          <a:xfrm>
            <a:off x="6711854" y="2290399"/>
            <a:ext cx="4301889" cy="2321358"/>
          </a:xfrm>
          <a:prstGeom prst="rect">
            <a:avLst/>
          </a:prstGeom>
          <a:solidFill>
            <a:schemeClr val="bg1">
              <a:lumMod val="95000"/>
            </a:schemeClr>
          </a:solidFill>
          <a:ln>
            <a:solidFill>
              <a:schemeClr val="tx1"/>
            </a:solidFill>
          </a:ln>
        </p:spPr>
        <p:txBody>
          <a:bodyPr wrap="square" rtlCol="0" anchor="ctr">
            <a:noAutofit/>
          </a:bodyPr>
          <a:lstStyle/>
          <a:p>
            <a:pPr marL="342900" indent="-342900">
              <a:lnSpc>
                <a:spcPts val="2500"/>
              </a:lnSpc>
              <a:buAutoNum type="arabicPeriod" startAt="2"/>
            </a:pPr>
            <a:r>
              <a:rPr lang="en-US" altLang="zh-CN" sz="1400" dirty="0">
                <a:latin typeface="Arial" panose="020B0604020202020204"/>
                <a:ea typeface="微软雅黑" panose="020B0503020204020204" charset="-122"/>
                <a:sym typeface="Arial" panose="020B0604020202020204"/>
              </a:rPr>
              <a:t>SP</a:t>
            </a:r>
            <a:r>
              <a:rPr lang="zh-CN" altLang="en-US" sz="1400" dirty="0">
                <a:latin typeface="Arial" panose="020B0604020202020204"/>
                <a:ea typeface="微软雅黑" panose="020B0503020204020204" charset="-122"/>
                <a:sym typeface="Arial" panose="020B0604020202020204"/>
              </a:rPr>
              <a:t>分成环比增</a:t>
            </a:r>
            <a:r>
              <a:rPr lang="en-US" altLang="zh-CN" sz="1400" dirty="0">
                <a:latin typeface="Arial" panose="020B0604020202020204"/>
                <a:ea typeface="微软雅黑" panose="020B0503020204020204" charset="-122"/>
                <a:sym typeface="Arial" panose="020B0604020202020204"/>
              </a:rPr>
              <a:t>40.3</a:t>
            </a:r>
            <a:r>
              <a:rPr lang="zh-CN" altLang="en-US" sz="1400" dirty="0">
                <a:latin typeface="Arial" panose="020B0604020202020204"/>
                <a:ea typeface="微软雅黑" panose="020B0503020204020204" charset="-122"/>
                <a:sym typeface="Arial" panose="020B0604020202020204"/>
              </a:rPr>
              <a:t>万元，主要是</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zh-CN" altLang="en-US" sz="1400" dirty="0">
                <a:latin typeface="Arial" panose="020B0604020202020204"/>
                <a:ea typeface="微软雅黑" panose="020B0503020204020204" charset="-122"/>
                <a:sym typeface="Arial" panose="020B0604020202020204"/>
              </a:rPr>
              <a:t>本月补列</a:t>
            </a:r>
            <a:r>
              <a:rPr lang="en-US" altLang="zh-CN" sz="1400" dirty="0">
                <a:latin typeface="Arial" panose="020B0604020202020204"/>
                <a:ea typeface="微软雅黑" panose="020B0503020204020204" charset="-122"/>
                <a:sym typeface="Arial" panose="020B0604020202020204"/>
              </a:rPr>
              <a:t>2010</a:t>
            </a:r>
            <a:r>
              <a:rPr lang="zh-CN" altLang="en-US" sz="1400" dirty="0">
                <a:latin typeface="Arial" panose="020B0604020202020204"/>
                <a:ea typeface="微软雅黑" panose="020B0503020204020204" charset="-122"/>
                <a:sym typeface="Arial" panose="020B0604020202020204"/>
              </a:rPr>
              <a:t>年</a:t>
            </a:r>
            <a:r>
              <a:rPr lang="en-US" altLang="zh-CN" sz="1400" dirty="0">
                <a:latin typeface="Arial" panose="020B0604020202020204"/>
                <a:ea typeface="微软雅黑" panose="020B0503020204020204" charset="-122"/>
                <a:sym typeface="Arial" panose="020B0604020202020204"/>
              </a:rPr>
              <a:t>3-5</a:t>
            </a:r>
            <a:r>
              <a:rPr lang="zh-CN" altLang="en-US" sz="1400" dirty="0">
                <a:latin typeface="Arial" panose="020B0604020202020204"/>
                <a:ea typeface="微软雅黑" panose="020B0503020204020204" charset="-122"/>
                <a:sym typeface="Arial" panose="020B0604020202020204"/>
              </a:rPr>
              <a:t>月网吧联盟分成</a:t>
            </a:r>
            <a:r>
              <a:rPr lang="en-US" altLang="zh-CN" sz="1400" dirty="0">
                <a:latin typeface="Arial" panose="020B0604020202020204"/>
                <a:ea typeface="微软雅黑" panose="020B0503020204020204" charset="-122"/>
                <a:sym typeface="Arial" panose="020B0604020202020204"/>
              </a:rPr>
              <a:t>16.3</a:t>
            </a:r>
            <a:r>
              <a:rPr lang="zh-CN" altLang="en-US" sz="1400" dirty="0">
                <a:latin typeface="Arial" panose="020B0604020202020204"/>
                <a:ea typeface="微软雅黑" panose="020B0503020204020204" charset="-122"/>
                <a:sym typeface="Arial" panose="020B0604020202020204"/>
              </a:rPr>
              <a:t>万元、</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zh-CN" altLang="en-US" sz="1400" dirty="0">
                <a:latin typeface="Arial" panose="020B0604020202020204"/>
                <a:ea typeface="微软雅黑" panose="020B0503020204020204" charset="-122"/>
                <a:sym typeface="Arial" panose="020B0604020202020204"/>
              </a:rPr>
              <a:t>某某学院上年学生宽带分成</a:t>
            </a:r>
            <a:r>
              <a:rPr lang="en-US" altLang="zh-CN" sz="1400" dirty="0">
                <a:latin typeface="Arial" panose="020B0604020202020204"/>
                <a:ea typeface="微软雅黑" panose="020B0503020204020204" charset="-122"/>
                <a:sym typeface="Arial" panose="020B0604020202020204"/>
              </a:rPr>
              <a:t>14.6</a:t>
            </a:r>
            <a:r>
              <a:rPr lang="zh-CN" altLang="en-US" sz="1400" dirty="0">
                <a:latin typeface="Arial" panose="020B0604020202020204"/>
                <a:ea typeface="微软雅黑" panose="020B0503020204020204" charset="-122"/>
                <a:sym typeface="Arial" panose="020B0604020202020204"/>
              </a:rPr>
              <a:t>万元、</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zh-CN" altLang="en-US" sz="1400" dirty="0">
                <a:latin typeface="Arial" panose="020B0604020202020204"/>
                <a:ea typeface="微软雅黑" panose="020B0503020204020204" charset="-122"/>
                <a:sym typeface="Arial" panose="020B0604020202020204"/>
              </a:rPr>
              <a:t>省级固话畅打包</a:t>
            </a:r>
            <a:r>
              <a:rPr lang="en-US" altLang="zh-CN" sz="1400" dirty="0">
                <a:latin typeface="Arial" panose="020B0604020202020204"/>
                <a:ea typeface="微软雅黑" panose="020B0503020204020204" charset="-122"/>
                <a:sym typeface="Arial" panose="020B0604020202020204"/>
              </a:rPr>
              <a:t>4.7</a:t>
            </a:r>
            <a:r>
              <a:rPr lang="zh-CN" altLang="en-US" sz="1400" dirty="0">
                <a:latin typeface="Arial" panose="020B0604020202020204"/>
                <a:ea typeface="微软雅黑" panose="020B0503020204020204" charset="-122"/>
                <a:sym typeface="Arial" panose="020B0604020202020204"/>
              </a:rPr>
              <a:t>万元及</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zh-CN" altLang="en-US" sz="1400" dirty="0">
                <a:latin typeface="Arial" panose="020B0604020202020204"/>
                <a:ea typeface="微软雅黑" panose="020B0503020204020204" charset="-122"/>
                <a:sym typeface="Arial" panose="020B0604020202020204"/>
              </a:rPr>
              <a:t> </a:t>
            </a:r>
            <a:r>
              <a:rPr lang="en-US" altLang="zh-CN" sz="1400" dirty="0">
                <a:latin typeface="Arial" panose="020B0604020202020204"/>
                <a:ea typeface="微软雅黑" panose="020B0503020204020204" charset="-122"/>
                <a:sym typeface="Arial" panose="020B0604020202020204"/>
              </a:rPr>
              <a:t>ITV</a:t>
            </a:r>
            <a:r>
              <a:rPr lang="zh-CN" altLang="en-US" sz="1400" dirty="0">
                <a:latin typeface="Arial" panose="020B0604020202020204"/>
                <a:ea typeface="微软雅黑" panose="020B0503020204020204" charset="-122"/>
                <a:sym typeface="Arial" panose="020B0604020202020204"/>
              </a:rPr>
              <a:t>平台省级电路费用分摊</a:t>
            </a:r>
            <a:r>
              <a:rPr lang="en-US" altLang="zh-CN" sz="1400" dirty="0">
                <a:latin typeface="Arial" panose="020B0604020202020204"/>
                <a:ea typeface="微软雅黑" panose="020B0503020204020204" charset="-122"/>
                <a:sym typeface="Arial" panose="020B0604020202020204"/>
              </a:rPr>
              <a:t>4.8</a:t>
            </a:r>
            <a:r>
              <a:rPr lang="zh-CN" altLang="en-US" sz="1400" dirty="0">
                <a:latin typeface="Arial" panose="020B0604020202020204"/>
                <a:ea typeface="微软雅黑" panose="020B0503020204020204" charset="-122"/>
                <a:sym typeface="Arial" panose="020B0604020202020204"/>
              </a:rPr>
              <a:t>万元（</a:t>
            </a:r>
            <a:r>
              <a:rPr lang="en-US" altLang="zh-CN" sz="1400" dirty="0">
                <a:latin typeface="Arial" panose="020B0604020202020204"/>
                <a:ea typeface="微软雅黑" panose="020B0503020204020204" charset="-122"/>
                <a:sym typeface="Arial" panose="020B0604020202020204"/>
              </a:rPr>
              <a:t>2009</a:t>
            </a:r>
            <a:r>
              <a:rPr lang="zh-CN" altLang="en-US" sz="1400" dirty="0">
                <a:latin typeface="Arial" panose="020B0604020202020204"/>
                <a:ea typeface="微软雅黑" panose="020B0503020204020204" charset="-122"/>
                <a:sym typeface="Arial" panose="020B0604020202020204"/>
              </a:rPr>
              <a:t>年</a:t>
            </a:r>
            <a:r>
              <a:rPr lang="en-US" altLang="zh-CN" sz="1400" dirty="0">
                <a:latin typeface="Arial" panose="020B0604020202020204"/>
                <a:ea typeface="微软雅黑" panose="020B0503020204020204" charset="-122"/>
                <a:sym typeface="Arial" panose="020B0604020202020204"/>
              </a:rPr>
              <a:t>12</a:t>
            </a:r>
            <a:r>
              <a:rPr lang="zh-CN" altLang="en-US" sz="1400" dirty="0">
                <a:latin typeface="Arial" panose="020B0604020202020204"/>
                <a:ea typeface="微软雅黑" panose="020B0503020204020204" charset="-122"/>
                <a:sym typeface="Arial" panose="020B0604020202020204"/>
              </a:rPr>
              <a:t>月</a:t>
            </a:r>
            <a:r>
              <a:rPr lang="en-US" altLang="zh-CN" sz="1400" dirty="0">
                <a:latin typeface="Arial" panose="020B0604020202020204"/>
                <a:ea typeface="微软雅黑" panose="020B0503020204020204" charset="-122"/>
                <a:sym typeface="Arial" panose="020B0604020202020204"/>
              </a:rPr>
              <a:t>-2010</a:t>
            </a:r>
            <a:r>
              <a:rPr lang="zh-CN" altLang="en-US" sz="1400" dirty="0">
                <a:latin typeface="Arial" panose="020B0604020202020204"/>
                <a:ea typeface="微软雅黑" panose="020B0503020204020204" charset="-122"/>
                <a:sym typeface="Arial" panose="020B0604020202020204"/>
              </a:rPr>
              <a:t>年</a:t>
            </a:r>
            <a:r>
              <a:rPr lang="en-US" altLang="zh-CN" sz="1400" dirty="0">
                <a:latin typeface="Arial" panose="020B0604020202020204"/>
                <a:ea typeface="微软雅黑" panose="020B0503020204020204" charset="-122"/>
                <a:sym typeface="Arial" panose="020B0604020202020204"/>
              </a:rPr>
              <a:t>3</a:t>
            </a:r>
            <a:r>
              <a:rPr lang="zh-CN" altLang="en-US" sz="1400" dirty="0">
                <a:latin typeface="Arial" panose="020B0604020202020204"/>
                <a:ea typeface="微软雅黑" panose="020B0503020204020204" charset="-122"/>
                <a:sym typeface="Arial" panose="020B0604020202020204"/>
              </a:rPr>
              <a:t>月）。</a:t>
            </a:r>
            <a:endParaRPr lang="en-US" altLang="zh-CN" sz="1400" dirty="0">
              <a:latin typeface="Arial" panose="020B0604020202020204"/>
              <a:ea typeface="微软雅黑" panose="020B0503020204020204" charset="-122"/>
              <a:sym typeface="Arial" panose="020B0604020202020204"/>
            </a:endParaRPr>
          </a:p>
        </p:txBody>
      </p:sp>
      <p:sp>
        <p:nvSpPr>
          <p:cNvPr id="5" name="矩形 4"/>
          <p:cNvSpPr/>
          <p:nvPr/>
        </p:nvSpPr>
        <p:spPr>
          <a:xfrm>
            <a:off x="1187281" y="2287081"/>
            <a:ext cx="5377292" cy="3567810"/>
          </a:xfrm>
          <a:prstGeom prst="rect">
            <a:avLst/>
          </a:prstGeom>
          <a:solidFill>
            <a:schemeClr val="bg1">
              <a:lumMod val="95000"/>
            </a:schemeClr>
          </a:solidFill>
          <a:ln>
            <a:solidFill>
              <a:schemeClr val="tx1"/>
            </a:solidFill>
          </a:ln>
        </p:spPr>
        <p:txBody>
          <a:bodyPr wrap="square" anchor="ctr">
            <a:noAutofit/>
          </a:bodyPr>
          <a:lstStyle/>
          <a:p>
            <a:pPr marL="342900" indent="-342900">
              <a:lnSpc>
                <a:spcPts val="2500"/>
              </a:lnSpc>
              <a:buAutoNum type="arabicPeriod"/>
            </a:pPr>
            <a:r>
              <a:rPr lang="zh-CN" altLang="en-US" sz="1400" dirty="0">
                <a:latin typeface="Arial" panose="020B0604020202020204"/>
                <a:ea typeface="微软雅黑" panose="020B0503020204020204" charset="-122"/>
                <a:sym typeface="Arial" panose="020B0604020202020204"/>
              </a:rPr>
              <a:t>脱机收入环比减</a:t>
            </a:r>
            <a:r>
              <a:rPr lang="en-US" altLang="zh-CN" sz="1400" dirty="0">
                <a:latin typeface="Arial" panose="020B0604020202020204"/>
                <a:ea typeface="微软雅黑" panose="020B0503020204020204" charset="-122"/>
                <a:sym typeface="Arial" panose="020B0604020202020204"/>
              </a:rPr>
              <a:t>295.6</a:t>
            </a:r>
            <a:r>
              <a:rPr lang="zh-CN" altLang="en-US" sz="1400" dirty="0">
                <a:latin typeface="Arial" panose="020B0604020202020204"/>
                <a:ea typeface="微软雅黑" panose="020B0503020204020204" charset="-122"/>
                <a:sym typeface="Arial" panose="020B0604020202020204"/>
              </a:rPr>
              <a:t>万元，分别为：</a:t>
            </a:r>
            <a:endParaRPr lang="en-US" altLang="zh-CN" sz="1400" dirty="0">
              <a:latin typeface="Arial" panose="020B0604020202020204"/>
              <a:ea typeface="微软雅黑" panose="020B0503020204020204" charset="-122"/>
              <a:sym typeface="Arial" panose="020B0604020202020204"/>
            </a:endParaRPr>
          </a:p>
          <a:p>
            <a:pPr>
              <a:lnSpc>
                <a:spcPts val="2500"/>
              </a:lnSpc>
            </a:pPr>
            <a:r>
              <a:rPr lang="zh-CN" altLang="en-US" sz="1400" dirty="0">
                <a:latin typeface="Arial" panose="020B0604020202020204"/>
                <a:ea typeface="微软雅黑" panose="020B0503020204020204" charset="-122"/>
                <a:sym typeface="Arial" panose="020B0604020202020204"/>
              </a:rPr>
              <a:t>固网宽带减</a:t>
            </a:r>
            <a:r>
              <a:rPr lang="en-US" altLang="zh-CN" sz="1400" dirty="0">
                <a:latin typeface="Arial" panose="020B0604020202020204"/>
                <a:ea typeface="微软雅黑" panose="020B0503020204020204" charset="-122"/>
                <a:sym typeface="Arial" panose="020B0604020202020204"/>
              </a:rPr>
              <a:t>100.7</a:t>
            </a:r>
            <a:r>
              <a:rPr lang="zh-CN" altLang="en-US" sz="1400" dirty="0">
                <a:latin typeface="Arial" panose="020B0604020202020204"/>
                <a:ea typeface="微软雅黑" panose="020B0503020204020204" charset="-122"/>
                <a:sym typeface="Arial" panose="020B0604020202020204"/>
              </a:rPr>
              <a:t>万元，其中</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zh-CN" altLang="en-US" sz="1400" dirty="0">
                <a:latin typeface="Arial" panose="020B0604020202020204"/>
                <a:ea typeface="微软雅黑" panose="020B0503020204020204" charset="-122"/>
                <a:sym typeface="Arial" panose="020B0604020202020204"/>
              </a:rPr>
              <a:t>终端用户收入减收</a:t>
            </a:r>
            <a:r>
              <a:rPr lang="en-US" altLang="zh-CN" sz="1400" dirty="0">
                <a:latin typeface="Arial" panose="020B0604020202020204"/>
                <a:ea typeface="微软雅黑" panose="020B0503020204020204" charset="-122"/>
                <a:sym typeface="Arial" panose="020B0604020202020204"/>
              </a:rPr>
              <a:t>50.1</a:t>
            </a:r>
            <a:r>
              <a:rPr lang="zh-CN" altLang="en-US" sz="1400" dirty="0">
                <a:latin typeface="Arial" panose="020B0604020202020204"/>
                <a:ea typeface="微软雅黑" panose="020B0503020204020204" charset="-122"/>
                <a:sym typeface="Arial" panose="020B0604020202020204"/>
              </a:rPr>
              <a:t>万元（主要是春节结束停保用户上升：</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en-US" altLang="zh-CN" sz="1400" dirty="0">
                <a:latin typeface="Arial" panose="020B0604020202020204"/>
                <a:ea typeface="微软雅黑" panose="020B0503020204020204" charset="-122"/>
                <a:sym typeface="Arial" panose="020B0604020202020204"/>
              </a:rPr>
              <a:t>3</a:t>
            </a:r>
            <a:r>
              <a:rPr lang="zh-CN" altLang="en-US" sz="1400" dirty="0">
                <a:latin typeface="Arial" panose="020B0604020202020204"/>
                <a:ea typeface="微软雅黑" panose="020B0503020204020204" charset="-122"/>
                <a:sym typeface="Arial" panose="020B0604020202020204"/>
              </a:rPr>
              <a:t>月份停保用户净增</a:t>
            </a:r>
            <a:r>
              <a:rPr lang="en-US" altLang="zh-CN" sz="1400" dirty="0">
                <a:latin typeface="Arial" panose="020B0604020202020204"/>
                <a:ea typeface="微软雅黑" panose="020B0503020204020204" charset="-122"/>
                <a:sym typeface="Arial" panose="020B0604020202020204"/>
              </a:rPr>
              <a:t>2.2</a:t>
            </a:r>
            <a:r>
              <a:rPr lang="zh-CN" altLang="en-US" sz="1400" dirty="0">
                <a:latin typeface="Arial" panose="020B0604020202020204"/>
                <a:ea typeface="微软雅黑" panose="020B0503020204020204" charset="-122"/>
                <a:sym typeface="Arial" panose="020B0604020202020204"/>
              </a:rPr>
              <a:t>万）、</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zh-CN" altLang="en-US" sz="1400" dirty="0">
                <a:latin typeface="Arial" panose="020B0604020202020204"/>
                <a:ea typeface="微软雅黑" panose="020B0503020204020204" charset="-122"/>
                <a:sym typeface="Arial" panose="020B0604020202020204"/>
              </a:rPr>
              <a:t>装移机收入减</a:t>
            </a:r>
            <a:r>
              <a:rPr lang="en-US" altLang="zh-CN" sz="1400" dirty="0">
                <a:latin typeface="Arial" panose="020B0604020202020204"/>
                <a:ea typeface="微软雅黑" panose="020B0503020204020204" charset="-122"/>
                <a:sym typeface="Arial" panose="020B0604020202020204"/>
              </a:rPr>
              <a:t>27.1</a:t>
            </a:r>
            <a:r>
              <a:rPr lang="zh-CN" altLang="en-US" sz="1400" dirty="0">
                <a:latin typeface="Arial" panose="020B0604020202020204"/>
                <a:ea typeface="微软雅黑" panose="020B0503020204020204" charset="-122"/>
                <a:sym typeface="Arial" panose="020B0604020202020204"/>
              </a:rPr>
              <a:t>万元（新装减少</a:t>
            </a:r>
            <a:r>
              <a:rPr lang="en-US" altLang="zh-CN" sz="1400" dirty="0">
                <a:latin typeface="Arial" panose="020B0604020202020204"/>
                <a:ea typeface="微软雅黑" panose="020B0503020204020204" charset="-122"/>
                <a:sym typeface="Arial" panose="020B0604020202020204"/>
              </a:rPr>
              <a:t>1804</a:t>
            </a:r>
            <a:r>
              <a:rPr lang="zh-CN" altLang="en-US" sz="1400" dirty="0">
                <a:latin typeface="Arial" panose="020B0604020202020204"/>
                <a:ea typeface="微软雅黑" panose="020B0503020204020204" charset="-122"/>
                <a:sym typeface="Arial" panose="020B0604020202020204"/>
              </a:rPr>
              <a:t>户）、</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p"/>
            </a:pPr>
            <a:r>
              <a:rPr lang="zh-CN" altLang="en-US" sz="1400" dirty="0">
                <a:latin typeface="Arial" panose="020B0604020202020204"/>
                <a:ea typeface="微软雅黑" panose="020B0503020204020204" charset="-122"/>
                <a:sym typeface="Arial" panose="020B0604020202020204"/>
              </a:rPr>
              <a:t>专线收入减</a:t>
            </a:r>
            <a:r>
              <a:rPr lang="en-US" altLang="zh-CN" sz="1400" dirty="0">
                <a:latin typeface="Arial" panose="020B0604020202020204"/>
                <a:ea typeface="微软雅黑" panose="020B0503020204020204" charset="-122"/>
                <a:sym typeface="Arial" panose="020B0604020202020204"/>
              </a:rPr>
              <a:t>22.8</a:t>
            </a:r>
            <a:r>
              <a:rPr lang="zh-CN" altLang="en-US" sz="1400" dirty="0">
                <a:latin typeface="Arial" panose="020B0604020202020204"/>
                <a:ea typeface="微软雅黑" panose="020B0503020204020204" charset="-122"/>
                <a:sym typeface="Arial" panose="020B0604020202020204"/>
              </a:rPr>
              <a:t>万元（主要是上月仙游校校通半年出账引起）；</a:t>
            </a:r>
            <a:endParaRPr lang="en-US" altLang="zh-CN" sz="1400" dirty="0">
              <a:latin typeface="Arial" panose="020B0604020202020204"/>
              <a:ea typeface="微软雅黑" panose="020B0503020204020204" charset="-122"/>
              <a:sym typeface="Arial" panose="020B0604020202020204"/>
            </a:endParaRPr>
          </a:p>
          <a:p>
            <a:pPr>
              <a:lnSpc>
                <a:spcPts val="2500"/>
              </a:lnSpc>
            </a:pP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l"/>
            </a:pPr>
            <a:r>
              <a:rPr lang="zh-CN" altLang="en-US" sz="1400" dirty="0">
                <a:latin typeface="Arial" panose="020B0604020202020204"/>
                <a:ea typeface="微软雅黑" panose="020B0503020204020204" charset="-122"/>
                <a:sym typeface="Arial" panose="020B0604020202020204"/>
              </a:rPr>
              <a:t>移动用户减收</a:t>
            </a:r>
            <a:r>
              <a:rPr lang="en-US" altLang="zh-CN" sz="1400" dirty="0">
                <a:latin typeface="Arial" panose="020B0604020202020204"/>
                <a:ea typeface="微软雅黑" panose="020B0503020204020204" charset="-122"/>
                <a:sym typeface="Arial" panose="020B0604020202020204"/>
              </a:rPr>
              <a:t>60.9</a:t>
            </a:r>
            <a:r>
              <a:rPr lang="zh-CN" altLang="en-US" sz="1400" dirty="0">
                <a:latin typeface="Arial" panose="020B0604020202020204"/>
                <a:ea typeface="微软雅黑" panose="020B0503020204020204" charset="-122"/>
                <a:sym typeface="Arial" panose="020B0604020202020204"/>
              </a:rPr>
              <a:t>万元（主要是通话费减收</a:t>
            </a:r>
            <a:r>
              <a:rPr lang="en-US" altLang="zh-CN" sz="1400" dirty="0">
                <a:latin typeface="Arial" panose="020B0604020202020204"/>
                <a:ea typeface="微软雅黑" panose="020B0503020204020204" charset="-122"/>
                <a:sym typeface="Arial" panose="020B0604020202020204"/>
              </a:rPr>
              <a:t>58.1</a:t>
            </a:r>
            <a:r>
              <a:rPr lang="zh-CN" altLang="en-US" sz="1400" dirty="0">
                <a:latin typeface="Arial" panose="020B0604020202020204"/>
                <a:ea typeface="微软雅黑" panose="020B0503020204020204" charset="-122"/>
                <a:sym typeface="Arial" panose="020B0604020202020204"/>
              </a:rPr>
              <a:t>万元）；</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l"/>
            </a:pPr>
            <a:r>
              <a:rPr lang="zh-CN" altLang="en-US" sz="1400" dirty="0">
                <a:latin typeface="Arial" panose="020B0604020202020204"/>
                <a:ea typeface="微软雅黑" panose="020B0503020204020204" charset="-122"/>
                <a:sym typeface="Arial" panose="020B0604020202020204"/>
              </a:rPr>
              <a:t>电信传媒减</a:t>
            </a:r>
            <a:r>
              <a:rPr lang="en-US" altLang="zh-CN" sz="1400" dirty="0">
                <a:latin typeface="Arial" panose="020B0604020202020204"/>
                <a:ea typeface="微软雅黑" panose="020B0503020204020204" charset="-122"/>
                <a:sym typeface="Arial" panose="020B0604020202020204"/>
              </a:rPr>
              <a:t>56.9</a:t>
            </a:r>
            <a:r>
              <a:rPr lang="zh-CN" altLang="en-US" sz="1400" dirty="0">
                <a:latin typeface="Arial" panose="020B0604020202020204"/>
                <a:ea typeface="微软雅黑" panose="020B0503020204020204" charset="-122"/>
                <a:sym typeface="Arial" panose="020B0604020202020204"/>
              </a:rPr>
              <a:t>万元；</a:t>
            </a:r>
            <a:endParaRPr lang="en-US" altLang="zh-CN" sz="1400" dirty="0">
              <a:latin typeface="Arial" panose="020B0604020202020204"/>
              <a:ea typeface="微软雅黑" panose="020B0503020204020204" charset="-122"/>
              <a:sym typeface="Arial" panose="020B0604020202020204"/>
            </a:endParaRPr>
          </a:p>
          <a:p>
            <a:pPr marL="285750" indent="-285750">
              <a:lnSpc>
                <a:spcPts val="2500"/>
              </a:lnSpc>
              <a:buFont typeface="Wingdings" panose="05000000000000000000" pitchFamily="2" charset="2"/>
              <a:buChar char="l"/>
            </a:pPr>
            <a:r>
              <a:rPr lang="en-US" altLang="zh-CN" sz="1400" dirty="0">
                <a:latin typeface="Arial" panose="020B0604020202020204"/>
                <a:ea typeface="微软雅黑" panose="020B0503020204020204" charset="-122"/>
                <a:sym typeface="Arial" panose="020B0604020202020204"/>
              </a:rPr>
              <a:t>ICT</a:t>
            </a:r>
            <a:r>
              <a:rPr lang="zh-CN" altLang="en-US" sz="1400" dirty="0">
                <a:latin typeface="Arial" panose="020B0604020202020204"/>
                <a:ea typeface="微软雅黑" panose="020B0503020204020204" charset="-122"/>
                <a:sym typeface="Arial" panose="020B0604020202020204"/>
              </a:rPr>
              <a:t>减</a:t>
            </a:r>
            <a:r>
              <a:rPr lang="en-US" altLang="zh-CN" sz="1400" dirty="0">
                <a:latin typeface="Arial" panose="020B0604020202020204"/>
                <a:ea typeface="微软雅黑" panose="020B0503020204020204" charset="-122"/>
                <a:sym typeface="Arial" panose="020B0604020202020204"/>
              </a:rPr>
              <a:t>63.6</a:t>
            </a:r>
            <a:r>
              <a:rPr lang="zh-CN" altLang="en-US" sz="1400" dirty="0">
                <a:latin typeface="Arial" panose="020B0604020202020204"/>
                <a:ea typeface="微软雅黑" panose="020B0503020204020204" charset="-122"/>
                <a:sym typeface="Arial" panose="020B0604020202020204"/>
              </a:rPr>
              <a:t>万元。</a:t>
            </a:r>
            <a:endParaRPr lang="en-US" altLang="zh-CN" sz="1400" dirty="0">
              <a:latin typeface="Arial" panose="020B0604020202020204"/>
              <a:ea typeface="微软雅黑" panose="020B0503020204020204" charset="-122"/>
              <a:sym typeface="Arial" panose="020B0604020202020204"/>
            </a:endParaRPr>
          </a:p>
        </p:txBody>
      </p:sp>
      <p:sp>
        <p:nvSpPr>
          <p:cNvPr id="6" name="矩形 5"/>
          <p:cNvSpPr/>
          <p:nvPr/>
        </p:nvSpPr>
        <p:spPr>
          <a:xfrm>
            <a:off x="6714697" y="4744278"/>
            <a:ext cx="4299045" cy="1096964"/>
          </a:xfrm>
          <a:prstGeom prst="rect">
            <a:avLst/>
          </a:prstGeom>
          <a:solidFill>
            <a:schemeClr val="bg1">
              <a:lumMod val="95000"/>
            </a:schemeClr>
          </a:solidFill>
          <a:ln>
            <a:solidFill>
              <a:schemeClr val="tx1"/>
            </a:solidFill>
          </a:ln>
        </p:spPr>
        <p:txBody>
          <a:bodyPr wrap="square" anchor="ctr">
            <a:noAutofit/>
          </a:bodyPr>
          <a:lstStyle/>
          <a:p>
            <a:pPr>
              <a:lnSpc>
                <a:spcPts val="2500"/>
              </a:lnSpc>
            </a:pPr>
            <a:r>
              <a:rPr lang="en-US" altLang="zh-CN" sz="1400" dirty="0">
                <a:latin typeface="Arial" panose="020B0604020202020204"/>
                <a:ea typeface="微软雅黑" panose="020B0503020204020204" charset="-122"/>
                <a:sym typeface="Arial" panose="020B0604020202020204"/>
              </a:rPr>
              <a:t>3.</a:t>
            </a:r>
            <a:r>
              <a:rPr lang="zh-CN" altLang="en-US" sz="1400" dirty="0">
                <a:latin typeface="Arial" panose="020B0604020202020204"/>
                <a:ea typeface="微软雅黑" panose="020B0503020204020204" charset="-122"/>
                <a:sym typeface="Arial" panose="020B0604020202020204"/>
              </a:rPr>
              <a:t> </a:t>
            </a:r>
            <a:r>
              <a:rPr lang="zh-CN" altLang="en-US" sz="1400" kern="0" dirty="0">
                <a:solidFill>
                  <a:srgbClr val="000000"/>
                </a:solidFill>
                <a:latin typeface="Arial" panose="020B0604020202020204"/>
                <a:ea typeface="微软雅黑" panose="020B0503020204020204" charset="-122"/>
                <a:sym typeface="Arial" panose="020B0604020202020204"/>
              </a:rPr>
              <a:t>受计费天数及假期等因素影响，</a:t>
            </a:r>
            <a:r>
              <a:rPr lang="zh-CN" altLang="en-US" sz="1400" dirty="0">
                <a:latin typeface="Arial" panose="020B0604020202020204"/>
                <a:ea typeface="微软雅黑" panose="020B0503020204020204" charset="-122"/>
                <a:sym typeface="Arial" panose="020B0604020202020204"/>
              </a:rPr>
              <a:t>网间结算环比减</a:t>
            </a:r>
            <a:r>
              <a:rPr lang="en-US" altLang="zh-CN" sz="1400" dirty="0">
                <a:latin typeface="Arial" panose="020B0604020202020204"/>
                <a:ea typeface="微软雅黑" panose="020B0503020204020204" charset="-122"/>
                <a:sym typeface="Arial" panose="020B0604020202020204"/>
              </a:rPr>
              <a:t>18.2</a:t>
            </a:r>
            <a:r>
              <a:rPr lang="zh-CN" altLang="en-US" sz="1400" dirty="0">
                <a:latin typeface="Arial" panose="020B0604020202020204"/>
                <a:ea typeface="微软雅黑" panose="020B0503020204020204" charset="-122"/>
                <a:sym typeface="Arial" panose="020B0604020202020204"/>
              </a:rPr>
              <a:t>万元，漫游结算环比减</a:t>
            </a:r>
            <a:r>
              <a:rPr lang="en-US" altLang="zh-CN" sz="1400" dirty="0">
                <a:latin typeface="Arial" panose="020B0604020202020204"/>
                <a:ea typeface="微软雅黑" panose="020B0503020204020204" charset="-122"/>
                <a:sym typeface="Arial" panose="020B0604020202020204"/>
              </a:rPr>
              <a:t>22.2</a:t>
            </a:r>
            <a:r>
              <a:rPr lang="zh-CN" altLang="en-US" sz="1400" dirty="0">
                <a:latin typeface="Arial" panose="020B0604020202020204"/>
                <a:ea typeface="微软雅黑" panose="020B0503020204020204" charset="-122"/>
                <a:sym typeface="Arial" panose="020B0604020202020204"/>
              </a:rPr>
              <a:t>万元，</a:t>
            </a:r>
            <a:endParaRPr lang="en-US" altLang="zh-CN" sz="1400" dirty="0">
              <a:latin typeface="Arial" panose="020B0604020202020204"/>
              <a:ea typeface="微软雅黑" panose="020B0503020204020204" charset="-122"/>
              <a:sym typeface="Arial" panose="020B0604020202020204"/>
            </a:endParaRPr>
          </a:p>
        </p:txBody>
      </p:sp>
      <p:sp>
        <p:nvSpPr>
          <p:cNvPr id="7" name="矩形 6"/>
          <p:cNvSpPr/>
          <p:nvPr/>
        </p:nvSpPr>
        <p:spPr>
          <a:xfrm>
            <a:off x="340381" y="395116"/>
            <a:ext cx="2954655" cy="646331"/>
          </a:xfrm>
          <a:prstGeom prst="rect">
            <a:avLst/>
          </a:prstGeom>
        </p:spPr>
        <p:txBody>
          <a:bodyPr wrap="none">
            <a:spAutoFit/>
          </a:bodyPr>
          <a:lstStyle/>
          <a:p>
            <a:r>
              <a:rPr lang="zh-CN" altLang="en-US" sz="3600" b="1" dirty="0">
                <a:latin typeface="Arial" panose="020B0604020202020204"/>
                <a:ea typeface="微软雅黑" panose="020B0503020204020204" charset="-122"/>
                <a:sym typeface="Arial" panose="020B0604020202020204"/>
              </a:rPr>
              <a:t>环比数据分析</a:t>
            </a:r>
          </a:p>
        </p:txBody>
      </p:sp>
      <p:sp>
        <p:nvSpPr>
          <p:cNvPr id="9" name="文本框 8"/>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500"/>
                                        <p:tgtEl>
                                          <p:spTgt spid="3"/>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500"/>
                                        <p:tgtEl>
                                          <p:spTgt spid="5"/>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150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381" y="395116"/>
            <a:ext cx="2954655" cy="646331"/>
          </a:xfrm>
          <a:prstGeom prst="rect">
            <a:avLst/>
          </a:prstGeom>
        </p:spPr>
        <p:txBody>
          <a:bodyPr wrap="none">
            <a:spAutoFit/>
          </a:bodyPr>
          <a:lstStyle/>
          <a:p>
            <a:pPr lvl="0">
              <a:defRPr/>
            </a:pPr>
            <a:r>
              <a:rPr lang="zh-CN" altLang="en-US" sz="3600" b="1" dirty="0">
                <a:latin typeface="Arial" panose="020B0604020202020204"/>
                <a:ea typeface="微软雅黑" panose="020B0503020204020204" charset="-122"/>
                <a:sym typeface="Arial" panose="020B0604020202020204"/>
              </a:rPr>
              <a:t>指标完成进度</a:t>
            </a:r>
          </a:p>
        </p:txBody>
      </p:sp>
      <p:sp>
        <p:nvSpPr>
          <p:cNvPr id="5" name="Text Box 2"/>
          <p:cNvSpPr txBox="1">
            <a:spLocks noChangeArrowheads="1"/>
          </p:cNvSpPr>
          <p:nvPr/>
        </p:nvSpPr>
        <p:spPr bwMode="auto">
          <a:xfrm>
            <a:off x="895664" y="2202631"/>
            <a:ext cx="9891606" cy="458858"/>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defRPr/>
            </a:pPr>
            <a:r>
              <a:rPr lang="zh-CN" altLang="en-US" dirty="0">
                <a:latin typeface="Arial" panose="020B0604020202020204"/>
                <a:ea typeface="微软雅黑" panose="020B0503020204020204" charset="-122"/>
                <a:sym typeface="Arial" panose="020B0604020202020204"/>
              </a:rPr>
              <a:t>完成预算口径收入</a:t>
            </a:r>
            <a:r>
              <a:rPr lang="en-US" altLang="zh-CN" dirty="0">
                <a:latin typeface="Arial" panose="020B0604020202020204"/>
                <a:ea typeface="微软雅黑" panose="020B0503020204020204" charset="-122"/>
                <a:sym typeface="Arial" panose="020B0604020202020204"/>
              </a:rPr>
              <a:t>6553</a:t>
            </a:r>
            <a:r>
              <a:rPr lang="zh-CN" altLang="en-US" dirty="0">
                <a:latin typeface="Arial" panose="020B0604020202020204"/>
                <a:ea typeface="微软雅黑" panose="020B0503020204020204" charset="-122"/>
                <a:sym typeface="Arial" panose="020B0604020202020204"/>
              </a:rPr>
              <a:t>万元，当月预算进度</a:t>
            </a:r>
            <a:r>
              <a:rPr lang="en-US" altLang="zh-CN" dirty="0">
                <a:latin typeface="Arial" panose="020B0604020202020204"/>
                <a:ea typeface="微软雅黑" panose="020B0503020204020204" charset="-122"/>
                <a:sym typeface="Arial" panose="020B0604020202020204"/>
              </a:rPr>
              <a:t>95.7%</a:t>
            </a:r>
            <a:r>
              <a:rPr lang="zh-CN" altLang="en-US" dirty="0">
                <a:latin typeface="Arial" panose="020B0604020202020204"/>
                <a:ea typeface="微软雅黑" panose="020B0503020204020204" charset="-122"/>
                <a:sym typeface="Arial" panose="020B0604020202020204"/>
              </a:rPr>
              <a:t>，缺口</a:t>
            </a:r>
            <a:r>
              <a:rPr lang="en-US" altLang="zh-CN" dirty="0">
                <a:latin typeface="Arial" panose="020B0604020202020204"/>
                <a:ea typeface="微软雅黑" panose="020B0503020204020204" charset="-122"/>
                <a:sym typeface="Arial" panose="020B0604020202020204"/>
              </a:rPr>
              <a:t>295.4</a:t>
            </a:r>
            <a:r>
              <a:rPr lang="zh-CN" altLang="en-US" dirty="0">
                <a:latin typeface="Arial" panose="020B0604020202020204"/>
                <a:ea typeface="微软雅黑" panose="020B0503020204020204" charset="-122"/>
                <a:sym typeface="Arial" panose="020B0604020202020204"/>
              </a:rPr>
              <a:t>万元。</a:t>
            </a:r>
          </a:p>
        </p:txBody>
      </p:sp>
      <p:graphicFrame>
        <p:nvGraphicFramePr>
          <p:cNvPr id="6" name="表格 5"/>
          <p:cNvGraphicFramePr>
            <a:graphicFrameLocks noGrp="1"/>
          </p:cNvGraphicFramePr>
          <p:nvPr/>
        </p:nvGraphicFramePr>
        <p:xfrm>
          <a:off x="980660" y="3185983"/>
          <a:ext cx="5685182" cy="2750994"/>
        </p:xfrm>
        <a:graphic>
          <a:graphicData uri="http://schemas.openxmlformats.org/drawingml/2006/table">
            <a:tbl>
              <a:tblPr>
                <a:tableStyleId>{21E4AEA4-8DFA-4A89-87EB-49C32662AFE0}</a:tableStyleId>
              </a:tblPr>
              <a:tblGrid>
                <a:gridCol w="1768724"/>
                <a:gridCol w="685831"/>
                <a:gridCol w="884361"/>
                <a:gridCol w="758024"/>
                <a:gridCol w="794121"/>
                <a:gridCol w="794121"/>
              </a:tblGrid>
              <a:tr h="1023627">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项目</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当月</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完成</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月度进度</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完成</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缺口</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账面</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增幅</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可比</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增幅</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575789">
                <a:tc>
                  <a:txBody>
                    <a:bodyPr/>
                    <a:lstStyle/>
                    <a:p>
                      <a:pPr marL="107950" algn="l" fontAlgn="ctr"/>
                      <a:r>
                        <a:rPr lang="zh-CN" altLang="en-US" sz="1400" u="none" strike="noStrike" kern="1200" dirty="0">
                          <a:latin typeface="Arial" panose="020B0604020202020204"/>
                          <a:ea typeface="微软雅黑" panose="020B0503020204020204" charset="-122"/>
                          <a:sym typeface="Arial" panose="020B0604020202020204"/>
                        </a:rPr>
                        <a:t> 预算口径收入</a:t>
                      </a:r>
                      <a:endParaRPr lang="zh-CN" altLang="en-US" sz="1400" b="0" i="0" u="none" strike="noStrike" kern="1200" dirty="0">
                        <a:solidFill>
                          <a:srgbClr val="000000"/>
                        </a:solidFill>
                        <a:latin typeface="Arial" panose="020B0604020202020204"/>
                        <a:ea typeface="微软雅黑" panose="020B0503020204020204" charset="-122"/>
                        <a:cs typeface="+mn-cs"/>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6,553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95.7%</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-295.4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-3.3%</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3.9%</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575789">
                <a:tc>
                  <a:txBody>
                    <a:bodyPr/>
                    <a:lstStyle/>
                    <a:p>
                      <a:pPr marL="107950" algn="l" fontAlgn="ctr"/>
                      <a:r>
                        <a:rPr lang="zh-CN" altLang="en-US" sz="1400" u="none" strike="noStrike" dirty="0">
                          <a:latin typeface="Arial" panose="020B0604020202020204"/>
                          <a:ea typeface="微软雅黑" panose="020B0503020204020204" charset="-122"/>
                          <a:sym typeface="Arial" panose="020B0604020202020204"/>
                        </a:rPr>
                        <a:t> 其中：云协同收入</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53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79.2%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-13.9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-8.8%</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-3.4%</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575789">
                <a:tc>
                  <a:txBody>
                    <a:bodyPr/>
                    <a:lstStyle/>
                    <a:p>
                      <a:pPr marL="107950" algn="l" fontAlgn="ctr"/>
                      <a:r>
                        <a:rPr lang="zh-CN" altLang="en-US" sz="1400" u="none" strike="noStrike" dirty="0">
                          <a:latin typeface="Arial" panose="020B0604020202020204"/>
                          <a:ea typeface="微软雅黑" panose="020B0503020204020204" charset="-122"/>
                          <a:sym typeface="Arial" panose="020B0604020202020204"/>
                        </a:rPr>
                        <a:t> 其中：导航协同收入</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43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89.8%</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-4.9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10.1%</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bl>
          </a:graphicData>
        </a:graphic>
      </p:graphicFrame>
      <p:sp>
        <p:nvSpPr>
          <p:cNvPr id="7" name="TextBox 13"/>
          <p:cNvSpPr txBox="1"/>
          <p:nvPr/>
        </p:nvSpPr>
        <p:spPr>
          <a:xfrm>
            <a:off x="5634030" y="2889824"/>
            <a:ext cx="1071570" cy="276999"/>
          </a:xfrm>
          <a:prstGeom prst="rect">
            <a:avLst/>
          </a:prstGeom>
          <a:noFill/>
        </p:spPr>
        <p:txBody>
          <a:bodyPr wrap="square" rtlCol="0">
            <a:spAutoFit/>
          </a:bodyPr>
          <a:lstStyle/>
          <a:p>
            <a:pPr algn="r"/>
            <a:r>
              <a:rPr lang="zh-CN" altLang="en-US" sz="1200" dirty="0">
                <a:latin typeface="Arial" panose="020B0604020202020204"/>
                <a:ea typeface="微软雅黑" panose="020B0503020204020204" charset="-122"/>
                <a:sym typeface="Arial" panose="020B0604020202020204"/>
              </a:rPr>
              <a:t>单位：万元</a:t>
            </a:r>
          </a:p>
        </p:txBody>
      </p:sp>
      <p:sp>
        <p:nvSpPr>
          <p:cNvPr id="8" name="矩形 7"/>
          <p:cNvSpPr/>
          <p:nvPr/>
        </p:nvSpPr>
        <p:spPr>
          <a:xfrm>
            <a:off x="6851374" y="3207028"/>
            <a:ext cx="4518991" cy="2703443"/>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9" name="五边形 8"/>
          <p:cNvSpPr/>
          <p:nvPr/>
        </p:nvSpPr>
        <p:spPr>
          <a:xfrm>
            <a:off x="959383" y="1481796"/>
            <a:ext cx="3228304" cy="572291"/>
          </a:xfrm>
          <a:prstGeom prst="homePlate">
            <a:avLst>
              <a:gd name="adj" fmla="val 19897"/>
            </a:avLst>
          </a:prstGeom>
          <a:solidFill>
            <a:srgbClr val="C00000"/>
          </a:solidFill>
          <a:ln>
            <a:solidFill>
              <a:srgbClr val="C00000"/>
            </a:solidFill>
          </a:ln>
        </p:spPr>
        <p:txBody>
          <a:bodyPr wrap="square" anchor="ctr">
            <a:noAutofit/>
          </a:bodyPr>
          <a:lstStyle/>
          <a:p>
            <a:pPr marL="107950"/>
            <a:r>
              <a:rPr lang="en-US" altLang="zh-CN" sz="2400" b="1" dirty="0">
                <a:solidFill>
                  <a:schemeClr val="bg1"/>
                </a:solidFill>
                <a:latin typeface="Arial" panose="020B0604020202020204"/>
                <a:ea typeface="微软雅黑" panose="020B0503020204020204" charset="-122"/>
                <a:sym typeface="Arial" panose="020B0604020202020204"/>
              </a:rPr>
              <a:t>1</a:t>
            </a:r>
            <a:r>
              <a:rPr lang="zh-CN" altLang="en-US" sz="2400" b="1" dirty="0">
                <a:solidFill>
                  <a:schemeClr val="bg1"/>
                </a:solidFill>
                <a:latin typeface="Arial" panose="020B0604020202020204"/>
                <a:ea typeface="微软雅黑" panose="020B0503020204020204" charset="-122"/>
                <a:sym typeface="Arial" panose="020B0604020202020204"/>
              </a:rPr>
              <a:t>）当月收入：</a:t>
            </a:r>
            <a:endParaRPr lang="zh-CN" altLang="en-US" sz="2400" dirty="0">
              <a:solidFill>
                <a:schemeClr val="bg1"/>
              </a:solidFill>
              <a:latin typeface="Arial" panose="020B0604020202020204"/>
              <a:ea typeface="微软雅黑" panose="020B0503020204020204" charset="-122"/>
              <a:sym typeface="Arial" panose="020B0604020202020204"/>
            </a:endParaRPr>
          </a:p>
        </p:txBody>
      </p:sp>
      <p:sp>
        <p:nvSpPr>
          <p:cNvPr id="10" name="文本框 9"/>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1500"/>
                                  </p:stCondLst>
                                  <p:childTnLst>
                                    <p:animEffect transition="out" filter="fade">
                                      <p:cBhvr>
                                        <p:cTn id="29" dur="500"/>
                                        <p:tgtEl>
                                          <p:spTgt spid="10"/>
                                        </p:tgtEl>
                                      </p:cBhvr>
                                    </p:animEffect>
                                    <p:set>
                                      <p:cBhvr>
                                        <p:cTn id="30"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9"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381" y="395116"/>
            <a:ext cx="2954655" cy="646331"/>
          </a:xfrm>
          <a:prstGeom prst="rect">
            <a:avLst/>
          </a:prstGeom>
        </p:spPr>
        <p:txBody>
          <a:bodyPr wrap="none">
            <a:spAutoFit/>
          </a:bodyPr>
          <a:lstStyle/>
          <a:p>
            <a:pPr lvl="0">
              <a:defRPr/>
            </a:pPr>
            <a:r>
              <a:rPr lang="zh-CN" altLang="en-US" sz="3600" b="1" dirty="0">
                <a:latin typeface="Arial" panose="020B0604020202020204"/>
                <a:ea typeface="微软雅黑" panose="020B0503020204020204" charset="-122"/>
                <a:sym typeface="Arial" panose="020B0604020202020204"/>
              </a:rPr>
              <a:t>指标完成进度</a:t>
            </a:r>
          </a:p>
        </p:txBody>
      </p:sp>
      <p:sp>
        <p:nvSpPr>
          <p:cNvPr id="5" name="Text Box 2"/>
          <p:cNvSpPr txBox="1">
            <a:spLocks noChangeArrowheads="1"/>
          </p:cNvSpPr>
          <p:nvPr/>
        </p:nvSpPr>
        <p:spPr bwMode="auto">
          <a:xfrm>
            <a:off x="895663" y="2202631"/>
            <a:ext cx="11031293" cy="369281"/>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dirty="0">
                <a:latin typeface="Arial" panose="020B0604020202020204"/>
                <a:ea typeface="微软雅黑" panose="020B0503020204020204" charset="-122"/>
                <a:sym typeface="Arial" panose="020B0604020202020204"/>
              </a:rPr>
              <a:t>当月可比预算口径收入同比增加</a:t>
            </a:r>
            <a:r>
              <a:rPr lang="en-US" altLang="zh-CN" dirty="0">
                <a:latin typeface="Arial" panose="020B0604020202020204"/>
                <a:ea typeface="微软雅黑" panose="020B0503020204020204" charset="-122"/>
                <a:sym typeface="Arial" panose="020B0604020202020204"/>
              </a:rPr>
              <a:t>243.6</a:t>
            </a:r>
            <a:r>
              <a:rPr lang="zh-CN" altLang="en-US" dirty="0">
                <a:latin typeface="Arial" panose="020B0604020202020204"/>
                <a:ea typeface="微软雅黑" panose="020B0503020204020204" charset="-122"/>
                <a:sym typeface="Arial" panose="020B0604020202020204"/>
              </a:rPr>
              <a:t>万元，增幅</a:t>
            </a:r>
            <a:r>
              <a:rPr lang="en-US" altLang="zh-CN" dirty="0">
                <a:latin typeface="Arial" panose="020B0604020202020204"/>
                <a:ea typeface="微软雅黑" panose="020B0503020204020204" charset="-122"/>
                <a:sym typeface="Arial" panose="020B0604020202020204"/>
              </a:rPr>
              <a:t>3.9%</a:t>
            </a:r>
            <a:r>
              <a:rPr lang="zh-CN" altLang="en-US" dirty="0">
                <a:latin typeface="Arial" panose="020B0604020202020204"/>
                <a:ea typeface="微软雅黑" panose="020B0503020204020204" charset="-122"/>
                <a:sym typeface="Arial" panose="020B0604020202020204"/>
              </a:rPr>
              <a:t>；账面预算口径收入同比减少</a:t>
            </a:r>
            <a:r>
              <a:rPr lang="en-US" altLang="zh-CN" dirty="0">
                <a:latin typeface="Arial" panose="020B0604020202020204"/>
                <a:ea typeface="微软雅黑" panose="020B0503020204020204" charset="-122"/>
                <a:sym typeface="Arial" panose="020B0604020202020204"/>
              </a:rPr>
              <a:t>224.4</a:t>
            </a:r>
            <a:r>
              <a:rPr lang="zh-CN" altLang="en-US" dirty="0">
                <a:latin typeface="Arial" panose="020B0604020202020204"/>
                <a:ea typeface="微软雅黑" panose="020B0503020204020204" charset="-122"/>
                <a:sym typeface="Arial" panose="020B0604020202020204"/>
              </a:rPr>
              <a:t>万元，降幅</a:t>
            </a:r>
            <a:r>
              <a:rPr lang="en-US" altLang="zh-CN" dirty="0">
                <a:latin typeface="Arial" panose="020B0604020202020204"/>
                <a:ea typeface="微软雅黑" panose="020B0503020204020204" charset="-122"/>
                <a:sym typeface="Arial" panose="020B0604020202020204"/>
              </a:rPr>
              <a:t>3.3%</a:t>
            </a:r>
            <a:r>
              <a:rPr lang="zh-CN" altLang="en-US" dirty="0">
                <a:latin typeface="Arial" panose="020B0604020202020204"/>
                <a:ea typeface="微软雅黑" panose="020B0503020204020204" charset="-122"/>
                <a:sym typeface="Arial" panose="020B0604020202020204"/>
              </a:rPr>
              <a:t>。</a:t>
            </a:r>
          </a:p>
        </p:txBody>
      </p:sp>
      <p:sp>
        <p:nvSpPr>
          <p:cNvPr id="9" name="五边形 8"/>
          <p:cNvSpPr/>
          <p:nvPr/>
        </p:nvSpPr>
        <p:spPr>
          <a:xfrm>
            <a:off x="959383" y="1481796"/>
            <a:ext cx="3228304" cy="572291"/>
          </a:xfrm>
          <a:prstGeom prst="homePlate">
            <a:avLst>
              <a:gd name="adj" fmla="val 19897"/>
            </a:avLst>
          </a:prstGeom>
          <a:solidFill>
            <a:srgbClr val="C00000"/>
          </a:solidFill>
          <a:ln>
            <a:solidFill>
              <a:srgbClr val="C00000"/>
            </a:solidFill>
          </a:ln>
        </p:spPr>
        <p:txBody>
          <a:bodyPr wrap="square" anchor="ctr">
            <a:noAutofit/>
          </a:bodyPr>
          <a:lstStyle/>
          <a:p>
            <a:pPr marL="107950"/>
            <a:r>
              <a:rPr lang="en-US" altLang="zh-CN" sz="2400" b="1" dirty="0">
                <a:solidFill>
                  <a:schemeClr val="bg1"/>
                </a:solidFill>
                <a:latin typeface="Arial" panose="020B0604020202020204"/>
                <a:ea typeface="微软雅黑" panose="020B0503020204020204" charset="-122"/>
                <a:sym typeface="Arial" panose="020B0604020202020204"/>
              </a:rPr>
              <a:t>2</a:t>
            </a:r>
            <a:r>
              <a:rPr lang="zh-CN" altLang="en-US" sz="2400" b="1" dirty="0">
                <a:solidFill>
                  <a:schemeClr val="bg1"/>
                </a:solidFill>
                <a:latin typeface="Arial" panose="020B0604020202020204"/>
                <a:ea typeface="微软雅黑" panose="020B0503020204020204" charset="-122"/>
                <a:sym typeface="Arial" panose="020B0604020202020204"/>
              </a:rPr>
              <a:t>）同比：</a:t>
            </a:r>
            <a:endParaRPr lang="zh-CN" altLang="en-US" sz="2400" dirty="0">
              <a:solidFill>
                <a:schemeClr val="bg1"/>
              </a:solidFill>
              <a:latin typeface="Arial" panose="020B0604020202020204"/>
              <a:ea typeface="微软雅黑" panose="020B0503020204020204" charset="-122"/>
              <a:sym typeface="Arial" panose="020B0604020202020204"/>
            </a:endParaRPr>
          </a:p>
        </p:txBody>
      </p:sp>
      <p:graphicFrame>
        <p:nvGraphicFramePr>
          <p:cNvPr id="11" name="图表 10"/>
          <p:cNvGraphicFramePr/>
          <p:nvPr/>
        </p:nvGraphicFramePr>
        <p:xfrm>
          <a:off x="1080052" y="2888900"/>
          <a:ext cx="5811079" cy="3154090"/>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p:nvPr/>
        </p:nvSpPr>
        <p:spPr>
          <a:xfrm>
            <a:off x="7089913" y="3180524"/>
            <a:ext cx="4280452" cy="2703443"/>
          </a:xfrm>
          <a:prstGeom prst="rect">
            <a:avLst/>
          </a:prstGeom>
          <a:blipFill dpi="0" rotWithShape="1">
            <a:blip r:embed="rId4">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3" name="文本框 12"/>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1500"/>
                                  </p:stCondLst>
                                  <p:childTnLst>
                                    <p:animEffect transition="out" filter="fade">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Graphic spid="11" grpId="0">
        <p:bldAsOne/>
      </p:bldGraphic>
      <p:bldP spid="12" grpId="0" animBg="1"/>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381" y="395116"/>
            <a:ext cx="2954655" cy="646331"/>
          </a:xfrm>
          <a:prstGeom prst="rect">
            <a:avLst/>
          </a:prstGeom>
        </p:spPr>
        <p:txBody>
          <a:bodyPr wrap="none">
            <a:spAutoFit/>
          </a:bodyPr>
          <a:lstStyle/>
          <a:p>
            <a:pPr lvl="0">
              <a:defRPr/>
            </a:pPr>
            <a:r>
              <a:rPr lang="zh-CN" altLang="en-US" sz="3600" b="1" dirty="0">
                <a:latin typeface="Arial" panose="020B0604020202020204"/>
                <a:ea typeface="微软雅黑" panose="020B0503020204020204" charset="-122"/>
                <a:sym typeface="Arial" panose="020B0604020202020204"/>
              </a:rPr>
              <a:t>指标完成进度</a:t>
            </a:r>
          </a:p>
        </p:txBody>
      </p:sp>
      <p:sp>
        <p:nvSpPr>
          <p:cNvPr id="5" name="Text Box 2"/>
          <p:cNvSpPr txBox="1">
            <a:spLocks noChangeArrowheads="1"/>
          </p:cNvSpPr>
          <p:nvPr/>
        </p:nvSpPr>
        <p:spPr bwMode="auto">
          <a:xfrm>
            <a:off x="895663" y="2202631"/>
            <a:ext cx="10381937" cy="646280"/>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accent1">
                  <a:lumMod val="75000"/>
                </a:schemeClr>
              </a:buClr>
              <a:defRPr/>
            </a:pPr>
            <a:r>
              <a:rPr lang="zh-CN" altLang="en-US" dirty="0">
                <a:latin typeface="Arial" panose="020B0604020202020204"/>
                <a:ea typeface="微软雅黑" panose="020B0503020204020204" charset="-122"/>
                <a:sym typeface="Arial" panose="020B0604020202020204"/>
              </a:rPr>
              <a:t>环比减少</a:t>
            </a:r>
            <a:r>
              <a:rPr lang="en-US" altLang="zh-CN" dirty="0">
                <a:latin typeface="Arial" panose="020B0604020202020204"/>
                <a:ea typeface="微软雅黑" panose="020B0503020204020204" charset="-122"/>
                <a:sym typeface="Arial" panose="020B0604020202020204"/>
              </a:rPr>
              <a:t>349.4</a:t>
            </a:r>
            <a:r>
              <a:rPr lang="zh-CN" altLang="en-US" dirty="0">
                <a:latin typeface="Arial" panose="020B0604020202020204"/>
                <a:ea typeface="微软雅黑" panose="020B0503020204020204" charset="-122"/>
                <a:sym typeface="Arial" panose="020B0604020202020204"/>
              </a:rPr>
              <a:t>万元，降幅</a:t>
            </a:r>
            <a:r>
              <a:rPr lang="en-US" altLang="zh-CN" dirty="0">
                <a:latin typeface="Arial" panose="020B0604020202020204"/>
                <a:ea typeface="微软雅黑" panose="020B0503020204020204" charset="-122"/>
                <a:sym typeface="Arial" panose="020B0604020202020204"/>
              </a:rPr>
              <a:t>5.1%</a:t>
            </a:r>
            <a:r>
              <a:rPr lang="zh-CN" altLang="en-US" dirty="0">
                <a:latin typeface="Arial" panose="020B0604020202020204"/>
                <a:ea typeface="微软雅黑" panose="020B0503020204020204" charset="-122"/>
                <a:sym typeface="Arial" panose="020B0604020202020204"/>
              </a:rPr>
              <a:t>，剔除上月省公司计费报表跑错多计收入</a:t>
            </a:r>
            <a:r>
              <a:rPr lang="en-US" altLang="zh-CN" dirty="0">
                <a:latin typeface="Arial" panose="020B0604020202020204"/>
                <a:ea typeface="微软雅黑" panose="020B0503020204020204" charset="-122"/>
                <a:sym typeface="Arial" panose="020B0604020202020204"/>
              </a:rPr>
              <a:t>50</a:t>
            </a:r>
            <a:r>
              <a:rPr lang="zh-CN" altLang="en-US" dirty="0">
                <a:latin typeface="Arial" panose="020B0604020202020204"/>
                <a:ea typeface="微软雅黑" panose="020B0503020204020204" charset="-122"/>
                <a:sym typeface="Arial" panose="020B0604020202020204"/>
              </a:rPr>
              <a:t>万元，实际环比减收</a:t>
            </a:r>
            <a:r>
              <a:rPr lang="en-US" altLang="zh-CN" dirty="0">
                <a:latin typeface="Arial" panose="020B0604020202020204"/>
                <a:ea typeface="微软雅黑" panose="020B0503020204020204" charset="-122"/>
                <a:sym typeface="Arial" panose="020B0604020202020204"/>
              </a:rPr>
              <a:t>300</a:t>
            </a:r>
            <a:r>
              <a:rPr lang="zh-CN" altLang="en-US" dirty="0">
                <a:latin typeface="Arial" panose="020B0604020202020204"/>
                <a:ea typeface="微软雅黑" panose="020B0503020204020204" charset="-122"/>
                <a:sym typeface="Arial" panose="020B0604020202020204"/>
              </a:rPr>
              <a:t>万元，降幅</a:t>
            </a:r>
            <a:r>
              <a:rPr lang="en-US" altLang="zh-CN" dirty="0">
                <a:latin typeface="Arial" panose="020B0604020202020204"/>
                <a:ea typeface="微软雅黑" panose="020B0503020204020204" charset="-122"/>
                <a:sym typeface="Arial" panose="020B0604020202020204"/>
              </a:rPr>
              <a:t>4.4%</a:t>
            </a:r>
            <a:r>
              <a:rPr lang="zh-CN" altLang="en-US" dirty="0">
                <a:latin typeface="Arial" panose="020B0604020202020204"/>
                <a:ea typeface="微软雅黑" panose="020B0503020204020204" charset="-122"/>
                <a:sym typeface="Arial" panose="020B0604020202020204"/>
              </a:rPr>
              <a:t>。</a:t>
            </a:r>
          </a:p>
        </p:txBody>
      </p:sp>
      <p:sp>
        <p:nvSpPr>
          <p:cNvPr id="9" name="五边形 8"/>
          <p:cNvSpPr/>
          <p:nvPr/>
        </p:nvSpPr>
        <p:spPr>
          <a:xfrm>
            <a:off x="959383" y="1481796"/>
            <a:ext cx="3228304" cy="572291"/>
          </a:xfrm>
          <a:prstGeom prst="homePlate">
            <a:avLst>
              <a:gd name="adj" fmla="val 19897"/>
            </a:avLst>
          </a:prstGeom>
          <a:solidFill>
            <a:srgbClr val="C00000"/>
          </a:solidFill>
          <a:ln>
            <a:solidFill>
              <a:srgbClr val="C00000"/>
            </a:solidFill>
          </a:ln>
        </p:spPr>
        <p:txBody>
          <a:bodyPr wrap="square" anchor="ctr">
            <a:noAutofit/>
          </a:bodyPr>
          <a:lstStyle/>
          <a:p>
            <a:pPr marL="107950"/>
            <a:r>
              <a:rPr lang="en-US" altLang="zh-CN" sz="2400" b="1" dirty="0">
                <a:solidFill>
                  <a:schemeClr val="bg1"/>
                </a:solidFill>
                <a:latin typeface="Arial" panose="020B0604020202020204"/>
                <a:ea typeface="微软雅黑" panose="020B0503020204020204" charset="-122"/>
                <a:sym typeface="Arial" panose="020B0604020202020204"/>
              </a:rPr>
              <a:t>3</a:t>
            </a:r>
            <a:r>
              <a:rPr lang="zh-CN" altLang="en-US" sz="2400" b="1" dirty="0">
                <a:solidFill>
                  <a:schemeClr val="bg1"/>
                </a:solidFill>
                <a:latin typeface="Arial" panose="020B0604020202020204"/>
                <a:ea typeface="微软雅黑" panose="020B0503020204020204" charset="-122"/>
                <a:sym typeface="Arial" panose="020B0604020202020204"/>
              </a:rPr>
              <a:t>）环比：</a:t>
            </a:r>
            <a:endParaRPr lang="zh-CN" altLang="en-US" sz="2400" dirty="0">
              <a:solidFill>
                <a:schemeClr val="bg1"/>
              </a:solidFill>
              <a:latin typeface="Arial" panose="020B0604020202020204"/>
              <a:ea typeface="微软雅黑" panose="020B0503020204020204" charset="-122"/>
              <a:sym typeface="Arial" panose="020B0604020202020204"/>
            </a:endParaRPr>
          </a:p>
        </p:txBody>
      </p:sp>
      <p:sp>
        <p:nvSpPr>
          <p:cNvPr id="12" name="矩形 11"/>
          <p:cNvSpPr/>
          <p:nvPr/>
        </p:nvSpPr>
        <p:spPr>
          <a:xfrm>
            <a:off x="7089913" y="3034750"/>
            <a:ext cx="4280452" cy="2703443"/>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aphicFrame>
        <p:nvGraphicFramePr>
          <p:cNvPr id="8" name="图表 7"/>
          <p:cNvGraphicFramePr/>
          <p:nvPr/>
        </p:nvGraphicFramePr>
        <p:xfrm>
          <a:off x="962517" y="2981739"/>
          <a:ext cx="5891404" cy="3021495"/>
        </p:xfrm>
        <a:graphic>
          <a:graphicData uri="http://schemas.openxmlformats.org/drawingml/2006/chart">
            <c:chart xmlns:c="http://schemas.openxmlformats.org/drawingml/2006/chart" xmlns:r="http://schemas.openxmlformats.org/officeDocument/2006/relationships" r:id="rId4"/>
          </a:graphicData>
        </a:graphic>
      </p:graphicFrame>
      <p:sp>
        <p:nvSpPr>
          <p:cNvPr id="10" name="文本框 9"/>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150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2" grpId="0" animBg="1"/>
      <p:bldGraphic spid="8" grpId="0">
        <p:bldAsOne/>
      </p:bldGraphic>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381" y="395116"/>
            <a:ext cx="2954655" cy="646331"/>
          </a:xfrm>
          <a:prstGeom prst="rect">
            <a:avLst/>
          </a:prstGeom>
        </p:spPr>
        <p:txBody>
          <a:bodyPr wrap="none">
            <a:spAutoFit/>
          </a:bodyPr>
          <a:lstStyle/>
          <a:p>
            <a:pPr lvl="0">
              <a:defRPr/>
            </a:pPr>
            <a:r>
              <a:rPr lang="zh-CN" altLang="en-US" sz="3600" b="1" dirty="0">
                <a:latin typeface="Arial" panose="020B0604020202020204"/>
                <a:ea typeface="微软雅黑" panose="020B0503020204020204" charset="-122"/>
                <a:sym typeface="Arial" panose="020B0604020202020204"/>
              </a:rPr>
              <a:t>指标完成进度</a:t>
            </a:r>
          </a:p>
        </p:txBody>
      </p:sp>
      <p:sp>
        <p:nvSpPr>
          <p:cNvPr id="5" name="Text Box 2"/>
          <p:cNvSpPr txBox="1">
            <a:spLocks noChangeArrowheads="1"/>
          </p:cNvSpPr>
          <p:nvPr/>
        </p:nvSpPr>
        <p:spPr bwMode="auto">
          <a:xfrm>
            <a:off x="895663" y="2202631"/>
            <a:ext cx="10381937" cy="646280"/>
          </a:xfrm>
          <a:prstGeom prst="rect">
            <a:avLst/>
          </a:prstGeom>
          <a:noFill/>
          <a:ln>
            <a:noFill/>
          </a:ln>
        </p:spPr>
        <p:txBody>
          <a:bodyPr wrap="square" lIns="91391" tIns="45695" rIns="91391" bIns="4569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accent1">
                  <a:lumMod val="75000"/>
                </a:schemeClr>
              </a:buClr>
              <a:defRPr/>
            </a:pPr>
            <a:r>
              <a:rPr lang="zh-CN" altLang="en-US" dirty="0">
                <a:latin typeface="Arial" panose="020B0604020202020204"/>
                <a:ea typeface="微软雅黑" panose="020B0503020204020204" charset="-122"/>
                <a:sym typeface="Arial" panose="020B0604020202020204"/>
              </a:rPr>
              <a:t>累计完成预算口径收入</a:t>
            </a:r>
            <a:r>
              <a:rPr lang="en-US" altLang="zh-CN" dirty="0">
                <a:latin typeface="Arial" panose="020B0604020202020204"/>
                <a:ea typeface="微软雅黑" panose="020B0503020204020204" charset="-122"/>
                <a:sym typeface="Arial" panose="020B0604020202020204"/>
              </a:rPr>
              <a:t>26826</a:t>
            </a:r>
            <a:r>
              <a:rPr lang="zh-CN" altLang="en-US" dirty="0">
                <a:latin typeface="Arial" panose="020B0604020202020204"/>
                <a:ea typeface="微软雅黑" panose="020B0503020204020204" charset="-122"/>
                <a:sym typeface="Arial" panose="020B0604020202020204"/>
              </a:rPr>
              <a:t>万元，预算进度缺口</a:t>
            </a:r>
            <a:r>
              <a:rPr lang="en-US" altLang="zh-CN" dirty="0">
                <a:latin typeface="Arial" panose="020B0604020202020204"/>
                <a:ea typeface="微软雅黑" panose="020B0503020204020204" charset="-122"/>
                <a:sym typeface="Arial" panose="020B0604020202020204"/>
              </a:rPr>
              <a:t>567.9</a:t>
            </a:r>
            <a:r>
              <a:rPr lang="zh-CN" altLang="en-US" dirty="0">
                <a:latin typeface="Arial" panose="020B0604020202020204"/>
                <a:ea typeface="微软雅黑" panose="020B0503020204020204" charset="-122"/>
                <a:sym typeface="Arial" panose="020B0604020202020204"/>
              </a:rPr>
              <a:t>万元；可比口径累计同比增加</a:t>
            </a:r>
            <a:r>
              <a:rPr lang="en-US" altLang="zh-CN" dirty="0">
                <a:latin typeface="Arial" panose="020B0604020202020204"/>
                <a:ea typeface="微软雅黑" panose="020B0503020204020204" charset="-122"/>
                <a:sym typeface="Arial" panose="020B0604020202020204"/>
              </a:rPr>
              <a:t>613.7</a:t>
            </a:r>
            <a:r>
              <a:rPr lang="zh-CN" altLang="en-US" dirty="0">
                <a:latin typeface="Arial" panose="020B0604020202020204"/>
                <a:ea typeface="微软雅黑" panose="020B0503020204020204" charset="-122"/>
                <a:sym typeface="Arial" panose="020B0604020202020204"/>
              </a:rPr>
              <a:t>万元，</a:t>
            </a:r>
            <a:endParaRPr lang="en-US" altLang="zh-CN" dirty="0">
              <a:latin typeface="Arial" panose="020B0604020202020204"/>
              <a:ea typeface="微软雅黑" panose="020B0503020204020204" charset="-122"/>
              <a:sym typeface="Arial" panose="020B0604020202020204"/>
            </a:endParaRPr>
          </a:p>
          <a:p>
            <a:pPr>
              <a:buClr>
                <a:schemeClr val="accent1">
                  <a:lumMod val="75000"/>
                </a:schemeClr>
              </a:buClr>
              <a:defRPr/>
            </a:pPr>
            <a:r>
              <a:rPr lang="zh-CN" altLang="en-US" dirty="0">
                <a:latin typeface="Arial" panose="020B0604020202020204"/>
                <a:ea typeface="微软雅黑" panose="020B0503020204020204" charset="-122"/>
                <a:sym typeface="Arial" panose="020B0604020202020204"/>
              </a:rPr>
              <a:t>增幅</a:t>
            </a:r>
            <a:r>
              <a:rPr lang="en-US" altLang="zh-CN" dirty="0">
                <a:latin typeface="Arial" panose="020B0604020202020204"/>
                <a:ea typeface="微软雅黑" panose="020B0503020204020204" charset="-122"/>
                <a:sym typeface="Arial" panose="020B0604020202020204"/>
              </a:rPr>
              <a:t>2.3%</a:t>
            </a:r>
            <a:r>
              <a:rPr lang="zh-CN" altLang="en-US" dirty="0">
                <a:latin typeface="Arial" panose="020B0604020202020204"/>
                <a:ea typeface="微软雅黑" panose="020B0503020204020204" charset="-122"/>
                <a:sym typeface="Arial" panose="020B0604020202020204"/>
              </a:rPr>
              <a:t>（较上月提升</a:t>
            </a:r>
            <a:r>
              <a:rPr lang="en-US" altLang="zh-CN" dirty="0">
                <a:latin typeface="Arial" panose="020B0604020202020204"/>
                <a:ea typeface="微软雅黑" panose="020B0503020204020204" charset="-122"/>
                <a:sym typeface="Arial" panose="020B0604020202020204"/>
              </a:rPr>
              <a:t>0.5</a:t>
            </a:r>
            <a:r>
              <a:rPr lang="zh-CN" altLang="en-US" dirty="0">
                <a:latin typeface="Arial" panose="020B0604020202020204"/>
                <a:ea typeface="微软雅黑" panose="020B0503020204020204" charset="-122"/>
                <a:sym typeface="Arial" panose="020B0604020202020204"/>
              </a:rPr>
              <a:t>个百分点）。</a:t>
            </a:r>
          </a:p>
        </p:txBody>
      </p:sp>
      <p:sp>
        <p:nvSpPr>
          <p:cNvPr id="9" name="五边形 8"/>
          <p:cNvSpPr/>
          <p:nvPr/>
        </p:nvSpPr>
        <p:spPr>
          <a:xfrm>
            <a:off x="959383" y="1481796"/>
            <a:ext cx="3228304" cy="572291"/>
          </a:xfrm>
          <a:prstGeom prst="homePlate">
            <a:avLst>
              <a:gd name="adj" fmla="val 19897"/>
            </a:avLst>
          </a:prstGeom>
          <a:solidFill>
            <a:srgbClr val="C00000"/>
          </a:solidFill>
          <a:ln>
            <a:solidFill>
              <a:srgbClr val="C00000"/>
            </a:solidFill>
          </a:ln>
        </p:spPr>
        <p:txBody>
          <a:bodyPr wrap="square" anchor="ctr">
            <a:noAutofit/>
          </a:bodyPr>
          <a:lstStyle/>
          <a:p>
            <a:pPr marL="107950"/>
            <a:r>
              <a:rPr lang="en-US" altLang="zh-CN" sz="2400" b="1" dirty="0">
                <a:solidFill>
                  <a:schemeClr val="bg1"/>
                </a:solidFill>
                <a:latin typeface="Arial" panose="020B0604020202020204"/>
                <a:ea typeface="微软雅黑" panose="020B0503020204020204" charset="-122"/>
                <a:sym typeface="Arial" panose="020B0604020202020204"/>
              </a:rPr>
              <a:t>4</a:t>
            </a:r>
            <a:r>
              <a:rPr lang="zh-CN" altLang="en-US" sz="2400" b="1" dirty="0">
                <a:solidFill>
                  <a:schemeClr val="bg1"/>
                </a:solidFill>
                <a:latin typeface="Arial" panose="020B0604020202020204"/>
                <a:ea typeface="微软雅黑" panose="020B0503020204020204" charset="-122"/>
                <a:sym typeface="Arial" panose="020B0604020202020204"/>
              </a:rPr>
              <a:t>）累计收入完成：</a:t>
            </a:r>
            <a:endParaRPr lang="zh-CN" altLang="en-US" sz="2400" dirty="0">
              <a:solidFill>
                <a:schemeClr val="bg1"/>
              </a:solidFill>
              <a:latin typeface="Arial" panose="020B0604020202020204"/>
              <a:ea typeface="微软雅黑" panose="020B0503020204020204" charset="-122"/>
              <a:sym typeface="Arial" panose="020B0604020202020204"/>
            </a:endParaRPr>
          </a:p>
        </p:txBody>
      </p:sp>
      <p:sp>
        <p:nvSpPr>
          <p:cNvPr id="12" name="矩形 11"/>
          <p:cNvSpPr/>
          <p:nvPr/>
        </p:nvSpPr>
        <p:spPr>
          <a:xfrm>
            <a:off x="6798365" y="3180524"/>
            <a:ext cx="4280452" cy="2703443"/>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aphicFrame>
        <p:nvGraphicFramePr>
          <p:cNvPr id="7" name="表格 6"/>
          <p:cNvGraphicFramePr>
            <a:graphicFrameLocks noGrp="1"/>
          </p:cNvGraphicFramePr>
          <p:nvPr/>
        </p:nvGraphicFramePr>
        <p:xfrm>
          <a:off x="966303" y="3172455"/>
          <a:ext cx="5646531" cy="2260935"/>
        </p:xfrm>
        <a:graphic>
          <a:graphicData uri="http://schemas.openxmlformats.org/drawingml/2006/table">
            <a:tbl>
              <a:tblPr>
                <a:tableStyleId>{21E4AEA4-8DFA-4A89-87EB-49C32662AFE0}</a:tableStyleId>
              </a:tblPr>
              <a:tblGrid>
                <a:gridCol w="1803401"/>
                <a:gridCol w="892662"/>
                <a:gridCol w="733733"/>
                <a:gridCol w="722378"/>
                <a:gridCol w="822583"/>
                <a:gridCol w="671774"/>
              </a:tblGrid>
              <a:tr h="904374">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项目</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累计</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完成</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预算</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进度</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缺口</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账面</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增幅</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可比</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增幅</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452187">
                <a:tc>
                  <a:txBody>
                    <a:bodyPr/>
                    <a:lstStyle/>
                    <a:p>
                      <a:pPr marL="107950" algn="l" fontAlgn="ctr"/>
                      <a:r>
                        <a:rPr lang="zh-CN" altLang="en-US" sz="1400" u="none" strike="noStrike" kern="1200" dirty="0">
                          <a:latin typeface="Arial" panose="020B0604020202020204"/>
                          <a:ea typeface="微软雅黑" panose="020B0503020204020204" charset="-122"/>
                          <a:sym typeface="Arial" panose="020B0604020202020204"/>
                        </a:rPr>
                        <a:t> 预算口径收入</a:t>
                      </a:r>
                      <a:endParaRPr lang="zh-CN" altLang="en-US" sz="1400" b="0" i="0" u="none" strike="noStrike" kern="1200" dirty="0">
                        <a:solidFill>
                          <a:srgbClr val="000000"/>
                        </a:solidFill>
                        <a:latin typeface="Arial" panose="020B0604020202020204"/>
                        <a:ea typeface="微软雅黑" panose="020B0503020204020204" charset="-122"/>
                        <a:cs typeface="+mn-cs"/>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26,826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32.6%</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-567.9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-4.7%</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2.3%</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452187">
                <a:tc>
                  <a:txBody>
                    <a:bodyPr/>
                    <a:lstStyle/>
                    <a:p>
                      <a:pPr marL="107950" algn="l" fontAlgn="ctr"/>
                      <a:r>
                        <a:rPr lang="zh-CN" altLang="en-US" sz="1400" u="none" strike="noStrike" dirty="0">
                          <a:latin typeface="Arial" panose="020B0604020202020204"/>
                          <a:ea typeface="微软雅黑" panose="020B0503020204020204" charset="-122"/>
                          <a:sym typeface="Arial" panose="020B0604020202020204"/>
                        </a:rPr>
                        <a:t> 其中：云协同收入</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257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32.0%</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-10.4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-1.9%</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3.9%</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452187">
                <a:tc>
                  <a:txBody>
                    <a:bodyPr/>
                    <a:lstStyle/>
                    <a:p>
                      <a:pPr marL="107950" algn="l" fontAlgn="ctr"/>
                      <a:r>
                        <a:rPr lang="zh-CN" altLang="en-US" sz="1400" u="none" strike="noStrike" dirty="0">
                          <a:latin typeface="Arial" panose="020B0604020202020204"/>
                          <a:ea typeface="微软雅黑" panose="020B0503020204020204" charset="-122"/>
                          <a:sym typeface="Arial" panose="020B0604020202020204"/>
                        </a:rPr>
                        <a:t> 其中：导航协同收入</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165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28.5%</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-28.0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0.2%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6.3%</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bl>
          </a:graphicData>
        </a:graphic>
      </p:graphicFrame>
      <p:sp>
        <p:nvSpPr>
          <p:cNvPr id="10" name="TextBox 3"/>
          <p:cNvSpPr txBox="1">
            <a:spLocks noChangeArrowheads="1"/>
          </p:cNvSpPr>
          <p:nvPr/>
        </p:nvSpPr>
        <p:spPr bwMode="auto">
          <a:xfrm>
            <a:off x="962991" y="5693291"/>
            <a:ext cx="4258366" cy="307726"/>
          </a:xfrm>
          <a:prstGeom prst="rect">
            <a:avLst/>
          </a:prstGeom>
          <a:noFill/>
          <a:ln w="9525">
            <a:noFill/>
            <a:miter lim="800000"/>
          </a:ln>
        </p:spPr>
        <p:txBody>
          <a:bodyPr wrap="square" lIns="91391" tIns="45695" rIns="91391" bIns="45695">
            <a:spAutoFit/>
          </a:bodyPr>
          <a:lstStyle/>
          <a:p>
            <a:pPr>
              <a:buClr>
                <a:srgbClr val="72BFC5"/>
              </a:buClr>
            </a:pPr>
            <a:r>
              <a:rPr lang="zh-CN" altLang="en-US" sz="1400" dirty="0">
                <a:latin typeface="Arial" panose="020B0604020202020204"/>
                <a:ea typeface="微软雅黑" panose="020B0503020204020204" charset="-122"/>
                <a:sym typeface="Arial" panose="020B0604020202020204"/>
              </a:rPr>
              <a:t>注：为保持可比，同比及趋势图均采用可比口径。</a:t>
            </a:r>
          </a:p>
        </p:txBody>
      </p:sp>
      <p:sp>
        <p:nvSpPr>
          <p:cNvPr id="11" name="文本框 10"/>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1500"/>
                                  </p:stCondLst>
                                  <p:childTnLst>
                                    <p:animEffect transition="out" filter="fade">
                                      <p:cBhvr>
                                        <p:cTn id="29" dur="500"/>
                                        <p:tgtEl>
                                          <p:spTgt spid="11"/>
                                        </p:tgtEl>
                                      </p:cBhvr>
                                    </p:animEffect>
                                    <p:set>
                                      <p:cBhvr>
                                        <p:cTn id="30"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2" grpId="0" animBg="1"/>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4339650"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收入结构及变化情况</a:t>
            </a:r>
            <a:endParaRPr lang="zh-CN" altLang="en-US" sz="3600" b="1" dirty="0">
              <a:solidFill>
                <a:srgbClr val="000000"/>
              </a:solidFill>
              <a:latin typeface="Arial" panose="020B0604020202020204"/>
              <a:ea typeface="微软雅黑" panose="020B0503020204020204" charset="-122"/>
              <a:sym typeface="Arial" panose="020B0604020202020204"/>
            </a:endParaRPr>
          </a:p>
        </p:txBody>
      </p:sp>
      <p:pic>
        <p:nvPicPr>
          <p:cNvPr id="3" name="Picture 1"/>
          <p:cNvPicPr>
            <a:picLocks noChangeAspect="1" noChangeArrowheads="1"/>
          </p:cNvPicPr>
          <p:nvPr/>
        </p:nvPicPr>
        <p:blipFill>
          <a:blip r:embed="rId3"/>
          <a:srcRect/>
          <a:stretch>
            <a:fillRect/>
          </a:stretch>
        </p:blipFill>
        <p:spPr bwMode="auto">
          <a:xfrm>
            <a:off x="2080591" y="2338440"/>
            <a:ext cx="3915584" cy="3468185"/>
          </a:xfrm>
          <a:prstGeom prst="rect">
            <a:avLst/>
          </a:prstGeom>
          <a:noFill/>
          <a:ln w="9525">
            <a:solidFill>
              <a:schemeClr val="tx1">
                <a:lumMod val="50000"/>
                <a:lumOff val="50000"/>
              </a:schemeClr>
            </a:solidFill>
            <a:miter lim="800000"/>
            <a:headEnd/>
            <a:tailEnd/>
          </a:ln>
          <a:effectLst/>
        </p:spPr>
      </p:pic>
      <p:pic>
        <p:nvPicPr>
          <p:cNvPr id="4" name="Picture 2"/>
          <p:cNvPicPr>
            <a:picLocks noChangeAspect="1" noChangeArrowheads="1"/>
          </p:cNvPicPr>
          <p:nvPr/>
        </p:nvPicPr>
        <p:blipFill>
          <a:blip r:embed="rId4"/>
          <a:srcRect/>
          <a:stretch>
            <a:fillRect/>
          </a:stretch>
        </p:blipFill>
        <p:spPr bwMode="auto">
          <a:xfrm>
            <a:off x="6202016" y="2338440"/>
            <a:ext cx="3975654" cy="3457042"/>
          </a:xfrm>
          <a:prstGeom prst="rect">
            <a:avLst/>
          </a:prstGeom>
          <a:noFill/>
          <a:ln w="9525">
            <a:solidFill>
              <a:schemeClr val="tx1">
                <a:lumMod val="50000"/>
                <a:lumOff val="50000"/>
              </a:schemeClr>
            </a:solidFill>
            <a:miter lim="800000"/>
            <a:headEnd/>
            <a:tailEnd/>
          </a:ln>
          <a:effectLst/>
        </p:spPr>
      </p:pic>
      <p:sp>
        <p:nvSpPr>
          <p:cNvPr id="5" name="矩形 4"/>
          <p:cNvSpPr/>
          <p:nvPr/>
        </p:nvSpPr>
        <p:spPr>
          <a:xfrm>
            <a:off x="2069918" y="1656524"/>
            <a:ext cx="3933317" cy="539802"/>
          </a:xfrm>
          <a:prstGeom prst="rect">
            <a:avLst/>
          </a:prstGeom>
          <a:solidFill>
            <a:srgbClr val="C00000"/>
          </a:solidFill>
          <a:ln>
            <a:solidFill>
              <a:srgbClr val="C00000"/>
            </a:solidFill>
          </a:ln>
        </p:spPr>
        <p:txBody>
          <a:bodyPr wrap="square" anchor="ctr">
            <a:noAutofit/>
          </a:bodyPr>
          <a:lstStyle/>
          <a:p>
            <a:pPr algn="ctr"/>
            <a:r>
              <a:rPr lang="en-US" altLang="zh-CN" sz="32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rPr>
              <a:t>2009</a:t>
            </a:r>
            <a:r>
              <a:rPr lang="zh-CN" altLang="en-US" sz="32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rPr>
              <a:t>年</a:t>
            </a:r>
            <a:endParaRPr lang="en-US" altLang="zh-CN" sz="32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endParaRPr>
          </a:p>
        </p:txBody>
      </p:sp>
      <p:sp>
        <p:nvSpPr>
          <p:cNvPr id="6" name="矩形 5"/>
          <p:cNvSpPr/>
          <p:nvPr/>
        </p:nvSpPr>
        <p:spPr>
          <a:xfrm>
            <a:off x="6203326" y="1656524"/>
            <a:ext cx="3960995" cy="539802"/>
          </a:xfrm>
          <a:prstGeom prst="rect">
            <a:avLst/>
          </a:prstGeom>
          <a:solidFill>
            <a:srgbClr val="C00000"/>
          </a:solidFill>
          <a:ln>
            <a:solidFill>
              <a:srgbClr val="C00000"/>
            </a:solidFill>
          </a:ln>
        </p:spPr>
        <p:txBody>
          <a:bodyPr wrap="square" anchor="ctr">
            <a:noAutofit/>
          </a:bodyPr>
          <a:lstStyle/>
          <a:p>
            <a:pPr algn="ctr"/>
            <a:r>
              <a:rPr lang="en-US" altLang="zh-CN" sz="32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rPr>
              <a:t>2010</a:t>
            </a:r>
            <a:r>
              <a:rPr lang="zh-CN" altLang="en-US" sz="32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rPr>
              <a:t>年</a:t>
            </a:r>
            <a:endParaRPr lang="en-US" altLang="zh-CN" sz="32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endParaRPr>
          </a:p>
        </p:txBody>
      </p:sp>
      <p:sp>
        <p:nvSpPr>
          <p:cNvPr id="7" name="文本框 6"/>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1500"/>
                                  </p:stCondLst>
                                  <p:childTnLst>
                                    <p:animEffect transition="out" filter="fade">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4339650"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收入结构及变化情况</a:t>
            </a:r>
            <a:endParaRPr lang="zh-CN" altLang="en-US" sz="3600" b="1" dirty="0">
              <a:solidFill>
                <a:srgbClr val="000000"/>
              </a:solidFill>
              <a:latin typeface="Arial" panose="020B0604020202020204"/>
              <a:ea typeface="微软雅黑" panose="020B0503020204020204" charset="-122"/>
              <a:sym typeface="Arial" panose="020B0604020202020204"/>
            </a:endParaRPr>
          </a:p>
        </p:txBody>
      </p:sp>
      <p:graphicFrame>
        <p:nvGraphicFramePr>
          <p:cNvPr id="3" name="表格 2"/>
          <p:cNvGraphicFramePr>
            <a:graphicFrameLocks noGrp="1"/>
          </p:cNvGraphicFramePr>
          <p:nvPr/>
        </p:nvGraphicFramePr>
        <p:xfrm>
          <a:off x="1046921" y="1579764"/>
          <a:ext cx="10124663" cy="4688511"/>
        </p:xfrm>
        <a:graphic>
          <a:graphicData uri="http://schemas.openxmlformats.org/drawingml/2006/table">
            <a:tbl>
              <a:tblPr>
                <a:tableStyleId>{21E4AEA4-8DFA-4A89-87EB-49C32662AFE0}</a:tableStyleId>
              </a:tblPr>
              <a:tblGrid>
                <a:gridCol w="3878360"/>
                <a:gridCol w="2035311"/>
                <a:gridCol w="2140587"/>
                <a:gridCol w="2070405"/>
              </a:tblGrid>
              <a:tr h="448611">
                <a:tc>
                  <a:txBody>
                    <a:bodyPr/>
                    <a:lstStyle/>
                    <a:p>
                      <a:pPr marL="107950" algn="l" fontAlgn="ctr"/>
                      <a:r>
                        <a:rPr lang="zh-CN" altLang="en-US" sz="1800" b="1" u="none" strike="noStrike" dirty="0">
                          <a:solidFill>
                            <a:schemeClr val="bg1"/>
                          </a:solidFill>
                          <a:latin typeface="Arial" panose="020B0604020202020204"/>
                          <a:ea typeface="微软雅黑" panose="020B0503020204020204" charset="-122"/>
                          <a:sym typeface="Arial" panose="020B0604020202020204"/>
                        </a:rPr>
                        <a:t> 业务</a:t>
                      </a:r>
                      <a:endParaRPr lang="zh-CN" altLang="en-US" sz="1800" b="1"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rgbClr val="C00000"/>
                    </a:solidFill>
                  </a:tcPr>
                </a:tc>
                <a:tc>
                  <a:txBody>
                    <a:bodyPr/>
                    <a:lstStyle/>
                    <a:p>
                      <a:pPr algn="ctr" fontAlgn="b"/>
                      <a:r>
                        <a:rPr lang="zh-CN" altLang="en-US" sz="1800" b="1" u="none" strike="noStrike" dirty="0">
                          <a:solidFill>
                            <a:schemeClr val="bg1"/>
                          </a:solidFill>
                          <a:latin typeface="Arial" panose="020B0604020202020204"/>
                          <a:ea typeface="微软雅黑" panose="020B0503020204020204" charset="-122"/>
                          <a:sym typeface="Arial" panose="020B0604020202020204"/>
                        </a:rPr>
                        <a:t>同比增量</a:t>
                      </a:r>
                      <a:endParaRPr lang="zh-CN" altLang="en-US" sz="1800" b="1"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rgbClr val="C00000"/>
                    </a:solidFill>
                  </a:tcPr>
                </a:tc>
                <a:tc>
                  <a:txBody>
                    <a:bodyPr/>
                    <a:lstStyle/>
                    <a:p>
                      <a:pPr algn="ctr" fontAlgn="b"/>
                      <a:r>
                        <a:rPr lang="zh-CN" altLang="en-US" sz="1800" b="1" u="none" strike="noStrike" dirty="0">
                          <a:solidFill>
                            <a:schemeClr val="bg1"/>
                          </a:solidFill>
                          <a:latin typeface="Arial" panose="020B0604020202020204"/>
                          <a:ea typeface="微软雅黑" panose="020B0503020204020204" charset="-122"/>
                          <a:sym typeface="Arial" panose="020B0604020202020204"/>
                        </a:rPr>
                        <a:t>同比增幅</a:t>
                      </a:r>
                      <a:endParaRPr lang="zh-CN" altLang="en-US" sz="1800" b="1"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rgbClr val="C00000"/>
                    </a:solidFill>
                  </a:tcPr>
                </a:tc>
                <a:tc>
                  <a:txBody>
                    <a:bodyPr/>
                    <a:lstStyle/>
                    <a:p>
                      <a:pPr algn="ctr" fontAlgn="b"/>
                      <a:r>
                        <a:rPr lang="zh-CN" altLang="en-US" sz="1800" b="1" u="none" strike="noStrike" dirty="0">
                          <a:solidFill>
                            <a:schemeClr val="bg1"/>
                          </a:solidFill>
                          <a:latin typeface="Arial" panose="020B0604020202020204"/>
                          <a:ea typeface="微软雅黑" panose="020B0503020204020204" charset="-122"/>
                          <a:sym typeface="Arial" panose="020B0604020202020204"/>
                        </a:rPr>
                        <a:t>拉动</a:t>
                      </a:r>
                      <a:endParaRPr lang="zh-CN" altLang="en-US" sz="1800" b="1"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rgbClr val="C00000"/>
                    </a:solidFill>
                  </a:tcPr>
                </a:tc>
              </a:tr>
              <a:tr h="353325">
                <a:tc>
                  <a:txBody>
                    <a:bodyPr/>
                    <a:lstStyle/>
                    <a:p>
                      <a:pPr marL="393700" indent="-285750" algn="l" rtl="0" fontAlgn="ctr">
                        <a:buFont typeface="Wingdings" panose="05000000000000000000" pitchFamily="2" charset="2"/>
                        <a:buChar char="l"/>
                      </a:pPr>
                      <a:r>
                        <a:rPr lang="zh-CN" altLang="en-US" sz="1400" b="1" u="none" strike="noStrike" dirty="0">
                          <a:solidFill>
                            <a:schemeClr val="bg1"/>
                          </a:solidFill>
                          <a:latin typeface="Arial" panose="020B0604020202020204"/>
                          <a:ea typeface="微软雅黑" panose="020B0503020204020204" charset="-122"/>
                          <a:sym typeface="Arial" panose="020B0604020202020204"/>
                        </a:rPr>
                        <a:t> 号码型业务 </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c>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 </a:t>
                      </a:r>
                      <a:r>
                        <a:rPr lang="en-US" altLang="zh-CN" sz="1400" u="none" strike="noStrike" dirty="0">
                          <a:solidFill>
                            <a:schemeClr val="bg1"/>
                          </a:solidFill>
                          <a:latin typeface="Arial" panose="020B0604020202020204"/>
                          <a:ea typeface="微软雅黑" panose="020B0503020204020204" charset="-122"/>
                          <a:sym typeface="Arial" panose="020B0604020202020204"/>
                        </a:rPr>
                        <a:t>573.2 </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2.4%</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2.13%</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r>
              <a:tr h="353325">
                <a:tc>
                  <a:txBody>
                    <a:bodyPr/>
                    <a:lstStyle/>
                    <a:p>
                      <a:pPr marL="107950" algn="l" rtl="0" fontAlgn="ctr"/>
                      <a:r>
                        <a:rPr lang="zh-CN" altLang="en-US" sz="1400" u="none" strike="noStrike" dirty="0">
                          <a:latin typeface="Arial" panose="020B0604020202020204"/>
                          <a:ea typeface="微软雅黑" panose="020B0503020204020204" charset="-122"/>
                          <a:sym typeface="Arial" panose="020B0604020202020204"/>
                        </a:rPr>
                        <a:t>   固定电话 </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-189.1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-6.6%</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-0.7%</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b"/>
                      <a:r>
                        <a:rPr lang="zh-CN" altLang="en-US" sz="1400" u="none" strike="noStrike" dirty="0">
                          <a:latin typeface="Arial" panose="020B0604020202020204"/>
                          <a:ea typeface="微软雅黑" panose="020B0503020204020204" charset="-122"/>
                          <a:sym typeface="Arial" panose="020B0604020202020204"/>
                        </a:rPr>
                        <a:t>   移动电话 </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-147.3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a:latin typeface="Arial" panose="020B0604020202020204"/>
                          <a:ea typeface="微软雅黑" panose="020B0503020204020204" charset="-122"/>
                          <a:sym typeface="Arial" panose="020B0604020202020204"/>
                        </a:rPr>
                        <a:t>-1.2%</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-0.5%</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b"/>
                      <a:r>
                        <a:rPr lang="zh-CN" altLang="en-US" sz="1400" u="none" strike="noStrike" kern="1200" dirty="0">
                          <a:latin typeface="Arial" panose="020B0604020202020204"/>
                          <a:ea typeface="微软雅黑" panose="020B0503020204020204" charset="-122"/>
                          <a:sym typeface="Arial" panose="020B0604020202020204"/>
                        </a:rPr>
                        <a:t>   其中，流量收入</a:t>
                      </a:r>
                      <a:endParaRPr lang="zh-CN" altLang="en-US" sz="1400" b="1" u="none" strike="noStrike" kern="1200" dirty="0">
                        <a:solidFill>
                          <a:schemeClr val="tx1"/>
                        </a:solidFill>
                        <a:latin typeface="Arial" panose="020B0604020202020204"/>
                        <a:ea typeface="微软雅黑" panose="020B0503020204020204" charset="-122"/>
                        <a:cs typeface="+mn-cs"/>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275.3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9.8%</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1.0%</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ctr"/>
                      <a:r>
                        <a:rPr lang="zh-CN" altLang="en-US" sz="1400" u="none" strike="noStrike" dirty="0">
                          <a:latin typeface="Arial" panose="020B0604020202020204"/>
                          <a:ea typeface="微软雅黑" panose="020B0503020204020204" charset="-122"/>
                          <a:sym typeface="Arial" panose="020B0604020202020204"/>
                        </a:rPr>
                        <a:t>   固网宽带 </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996.8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12.2%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3.7%</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ctr"/>
                      <a:r>
                        <a:rPr lang="en-US" sz="1400" u="none" strike="noStrike" dirty="0">
                          <a:latin typeface="Arial" panose="020B0604020202020204"/>
                          <a:ea typeface="微软雅黑" panose="020B0503020204020204" charset="-122"/>
                          <a:sym typeface="Arial" panose="020B0604020202020204"/>
                        </a:rPr>
                        <a:t>   ITV </a:t>
                      </a:r>
                      <a:endParaRPr 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-87.3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-9.7%</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-0.3%</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393700" indent="-285750" algn="l" rtl="0" fontAlgn="ctr">
                        <a:buFont typeface="Wingdings" panose="05000000000000000000" pitchFamily="2" charset="2"/>
                        <a:buChar char="l"/>
                      </a:pPr>
                      <a:r>
                        <a:rPr lang="zh-CN" altLang="en-US" sz="1400" u="none" strike="noStrike" dirty="0">
                          <a:solidFill>
                            <a:schemeClr val="bg1"/>
                          </a:solidFill>
                          <a:latin typeface="Arial" panose="020B0604020202020204"/>
                          <a:ea typeface="微软雅黑" panose="020B0503020204020204" charset="-122"/>
                          <a:sym typeface="Arial" panose="020B0604020202020204"/>
                        </a:rPr>
                        <a:t> 非号码型业务 </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78.7 </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2.5%</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0.3%</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9525" marR="9525" marT="9525" marB="0" anchor="ctr">
                    <a:solidFill>
                      <a:schemeClr val="tx1">
                        <a:lumMod val="65000"/>
                        <a:lumOff val="35000"/>
                      </a:schemeClr>
                    </a:solidFill>
                  </a:tcPr>
                </a:tc>
              </a:tr>
              <a:tr h="353325">
                <a:tc>
                  <a:txBody>
                    <a:bodyPr/>
                    <a:lstStyle/>
                    <a:p>
                      <a:pPr marL="107950" algn="l" rtl="0" fontAlgn="ctr"/>
                      <a:r>
                        <a:rPr lang="zh-CN" altLang="en-US" sz="1400" u="none" strike="noStrike" dirty="0">
                          <a:latin typeface="Arial" panose="020B0604020202020204"/>
                          <a:ea typeface="微软雅黑" panose="020B0503020204020204" charset="-122"/>
                          <a:sym typeface="Arial" panose="020B0604020202020204"/>
                        </a:rPr>
                        <a:t>  资源出租 </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-40.5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-6.5%</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ctr"/>
                      <a:r>
                        <a:rPr lang="zh-CN" altLang="en-US" sz="1400" u="none" strike="noStrike" dirty="0">
                          <a:latin typeface="Arial" panose="020B0604020202020204"/>
                          <a:ea typeface="微软雅黑" panose="020B0503020204020204" charset="-122"/>
                          <a:sym typeface="Arial" panose="020B0604020202020204"/>
                        </a:rPr>
                        <a:t>  号百 </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88.4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17.3%</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0.3%</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ctr"/>
                      <a:r>
                        <a:rPr lang="en-US" sz="1400" u="none" strike="noStrike" dirty="0">
                          <a:latin typeface="Arial" panose="020B0604020202020204"/>
                          <a:ea typeface="微软雅黑" panose="020B0503020204020204" charset="-122"/>
                          <a:sym typeface="Arial" panose="020B0604020202020204"/>
                        </a:rPr>
                        <a:t>  IDC+</a:t>
                      </a:r>
                      <a:r>
                        <a:rPr lang="zh-CN" altLang="en-US" sz="1400" u="none" strike="noStrike" dirty="0">
                          <a:latin typeface="Arial" panose="020B0604020202020204"/>
                          <a:ea typeface="微软雅黑" panose="020B0503020204020204" charset="-122"/>
                          <a:sym typeface="Arial" panose="020B0604020202020204"/>
                        </a:rPr>
                        <a:t>云业务 </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59.7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6.7%</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ctr"/>
                      <a:r>
                        <a:rPr lang="en-US" sz="1400" u="none" strike="noStrike" dirty="0">
                          <a:latin typeface="Arial" panose="020B0604020202020204"/>
                          <a:ea typeface="微软雅黑" panose="020B0503020204020204" charset="-122"/>
                          <a:sym typeface="Arial" panose="020B0604020202020204"/>
                        </a:rPr>
                        <a:t>  ICT </a:t>
                      </a:r>
                      <a:endParaRPr 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20.3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0.1%</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r h="353325">
                <a:tc>
                  <a:txBody>
                    <a:bodyPr/>
                    <a:lstStyle/>
                    <a:p>
                      <a:pPr marL="107950" algn="l" rtl="0" fontAlgn="ctr"/>
                      <a:r>
                        <a:rPr lang="zh-CN" altLang="en-US" sz="1400" u="none" strike="noStrike" dirty="0">
                          <a:latin typeface="Arial" panose="020B0604020202020204"/>
                          <a:ea typeface="微软雅黑" panose="020B0503020204020204" charset="-122"/>
                          <a:sym typeface="Arial" panose="020B0604020202020204"/>
                        </a:rPr>
                        <a:t>  其他收入 </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-49.2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-28.9%</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-0.2%</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9525" marR="9525" marT="9525" marB="0" anchor="ctr">
                    <a:solidFill>
                      <a:schemeClr val="bg1">
                        <a:lumMod val="85000"/>
                      </a:schemeClr>
                    </a:solidFill>
                  </a:tcPr>
                </a:tc>
              </a:tr>
            </a:tbl>
          </a:graphicData>
        </a:graphic>
      </p:graphicFrame>
      <p:sp>
        <p:nvSpPr>
          <p:cNvPr id="4" name="文本框 3"/>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1500"/>
                                  </p:stCondLst>
                                  <p:childTnLst>
                                    <p:animEffect transition="out" filter="fad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4339650"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收入结构及变化情况</a:t>
            </a:r>
            <a:endParaRPr lang="zh-CN" altLang="en-US" sz="3600" b="1" dirty="0">
              <a:solidFill>
                <a:srgbClr val="000000"/>
              </a:solidFill>
              <a:latin typeface="Arial" panose="020B0604020202020204"/>
              <a:ea typeface="微软雅黑" panose="020B0503020204020204" charset="-122"/>
              <a:sym typeface="Arial" panose="020B0604020202020204"/>
            </a:endParaRPr>
          </a:p>
        </p:txBody>
      </p:sp>
      <p:sp>
        <p:nvSpPr>
          <p:cNvPr id="3" name="矩形 2"/>
          <p:cNvSpPr/>
          <p:nvPr/>
        </p:nvSpPr>
        <p:spPr>
          <a:xfrm>
            <a:off x="1470991" y="2221045"/>
            <a:ext cx="4094921" cy="2169825"/>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dirty="0">
                <a:latin typeface="Arial" panose="020B0604020202020204"/>
                <a:ea typeface="微软雅黑" panose="020B0503020204020204" charset="-122"/>
                <a:sym typeface="Arial" panose="020B0604020202020204"/>
              </a:rPr>
              <a:t>号码型和非号码型收入总体占比与上年同期持平。</a:t>
            </a:r>
            <a:endParaRPr lang="en-US" altLang="zh-CN" dirty="0">
              <a:latin typeface="Arial" panose="020B0604020202020204"/>
              <a:ea typeface="微软雅黑" panose="020B0503020204020204" charset="-122"/>
              <a:sym typeface="Arial" panose="020B0604020202020204"/>
            </a:endParaRPr>
          </a:p>
          <a:p>
            <a:pPr marL="285750" indent="-285750">
              <a:lnSpc>
                <a:spcPct val="150000"/>
              </a:lnSpc>
              <a:buFont typeface="Wingdings" panose="05000000000000000000" pitchFamily="2" charset="2"/>
              <a:buChar char="l"/>
            </a:pPr>
            <a:r>
              <a:rPr lang="zh-CN" altLang="en-US" dirty="0">
                <a:latin typeface="Arial" panose="020B0604020202020204"/>
                <a:ea typeface="微软雅黑" panose="020B0503020204020204" charset="-122"/>
                <a:sym typeface="Arial" panose="020B0604020202020204"/>
              </a:rPr>
              <a:t>固网宽带收入占比较去年同期提升</a:t>
            </a:r>
            <a:r>
              <a:rPr lang="en-US" altLang="zh-CN" dirty="0">
                <a:latin typeface="Arial" panose="020B0604020202020204"/>
                <a:ea typeface="微软雅黑" panose="020B0503020204020204" charset="-122"/>
                <a:sym typeface="Arial" panose="020B0604020202020204"/>
              </a:rPr>
              <a:t>2.9%</a:t>
            </a:r>
            <a:r>
              <a:rPr lang="zh-CN" altLang="en-US" dirty="0">
                <a:latin typeface="Arial" panose="020B0604020202020204"/>
                <a:ea typeface="微软雅黑" panose="020B0503020204020204" charset="-122"/>
                <a:sym typeface="Arial" panose="020B0604020202020204"/>
              </a:rPr>
              <a:t>；移动电话下降</a:t>
            </a:r>
            <a:r>
              <a:rPr lang="en-US" altLang="zh-CN" dirty="0">
                <a:latin typeface="Arial" panose="020B0604020202020204"/>
                <a:ea typeface="微软雅黑" panose="020B0503020204020204" charset="-122"/>
                <a:sym typeface="Arial" panose="020B0604020202020204"/>
              </a:rPr>
              <a:t>1.6%</a:t>
            </a:r>
            <a:r>
              <a:rPr lang="zh-CN" altLang="en-US" dirty="0">
                <a:latin typeface="Arial" panose="020B0604020202020204"/>
                <a:ea typeface="微软雅黑" panose="020B0503020204020204" charset="-122"/>
                <a:sym typeface="Arial" panose="020B0604020202020204"/>
              </a:rPr>
              <a:t>，其中流量收入占比同比提升</a:t>
            </a:r>
            <a:r>
              <a:rPr lang="en-US" altLang="zh-CN" dirty="0">
                <a:latin typeface="Arial" panose="020B0604020202020204"/>
                <a:ea typeface="微软雅黑" panose="020B0503020204020204" charset="-122"/>
                <a:sym typeface="Arial" panose="020B0604020202020204"/>
              </a:rPr>
              <a:t>0.8%</a:t>
            </a:r>
            <a:r>
              <a:rPr lang="zh-CN" altLang="en-US" dirty="0">
                <a:latin typeface="Arial" panose="020B0604020202020204"/>
                <a:ea typeface="微软雅黑" panose="020B0503020204020204" charset="-122"/>
                <a:sym typeface="Arial" panose="020B0604020202020204"/>
              </a:rPr>
              <a:t>。</a:t>
            </a:r>
          </a:p>
        </p:txBody>
      </p:sp>
      <p:sp>
        <p:nvSpPr>
          <p:cNvPr id="4" name="矩形 3"/>
          <p:cNvSpPr/>
          <p:nvPr/>
        </p:nvSpPr>
        <p:spPr bwMode="auto">
          <a:xfrm>
            <a:off x="1506330" y="1404732"/>
            <a:ext cx="3980069" cy="684991"/>
          </a:xfrm>
          <a:prstGeom prst="rect">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fontAlgn="base">
              <a:spcBef>
                <a:spcPct val="0"/>
              </a:spcBef>
              <a:spcAft>
                <a:spcPct val="0"/>
              </a:spcAft>
            </a:pPr>
            <a:r>
              <a:rPr lang="zh-CN" altLang="en-US" sz="2400" dirty="0">
                <a:solidFill>
                  <a:schemeClr val="bg1"/>
                </a:solidFill>
                <a:latin typeface="Arial" panose="020B0604020202020204"/>
                <a:ea typeface="微软雅黑" panose="020B0503020204020204" charset="-122"/>
                <a:sym typeface="Arial" panose="020B0604020202020204"/>
              </a:rPr>
              <a:t>结构变化</a:t>
            </a:r>
          </a:p>
        </p:txBody>
      </p:sp>
      <p:sp>
        <p:nvSpPr>
          <p:cNvPr id="5" name="矩形 4"/>
          <p:cNvSpPr/>
          <p:nvPr/>
        </p:nvSpPr>
        <p:spPr>
          <a:xfrm>
            <a:off x="6612834" y="2221045"/>
            <a:ext cx="4161183" cy="2585323"/>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b="1" dirty="0">
                <a:latin typeface="Arial" panose="020B0604020202020204"/>
                <a:ea typeface="微软雅黑" panose="020B0503020204020204" charset="-122"/>
                <a:sym typeface="Arial" panose="020B0604020202020204"/>
              </a:rPr>
              <a:t>号码型业务：</a:t>
            </a:r>
            <a:r>
              <a:rPr lang="zh-CN" altLang="en-US" dirty="0">
                <a:latin typeface="Arial" panose="020B0604020202020204"/>
                <a:ea typeface="微软雅黑" panose="020B0503020204020204" charset="-122"/>
                <a:sym typeface="Arial" panose="020B0604020202020204"/>
              </a:rPr>
              <a:t>固网宽带拉动仍为主要驱动因素，其余的号码型业务均负同比、负拉动，但其中移动流量收入保持正向拉动（</a:t>
            </a:r>
            <a:r>
              <a:rPr lang="en-US" altLang="zh-CN" b="1" dirty="0">
                <a:solidFill>
                  <a:srgbClr val="FF0000"/>
                </a:solidFill>
                <a:latin typeface="Arial" panose="020B0604020202020204"/>
                <a:ea typeface="微软雅黑" panose="020B0503020204020204" charset="-122"/>
                <a:sym typeface="Arial" panose="020B0604020202020204"/>
              </a:rPr>
              <a:t>1.0%</a:t>
            </a:r>
            <a:r>
              <a:rPr lang="zh-CN" altLang="en-US" dirty="0">
                <a:latin typeface="Arial" panose="020B0604020202020204"/>
                <a:ea typeface="微软雅黑" panose="020B0503020204020204" charset="-122"/>
                <a:sym typeface="Arial" panose="020B0604020202020204"/>
              </a:rPr>
              <a:t>）。</a:t>
            </a:r>
            <a:endParaRPr lang="en-US" altLang="zh-CN" dirty="0">
              <a:latin typeface="Arial" panose="020B0604020202020204"/>
              <a:ea typeface="微软雅黑" panose="020B0503020204020204" charset="-122"/>
              <a:sym typeface="Arial" panose="020B0604020202020204"/>
            </a:endParaRPr>
          </a:p>
          <a:p>
            <a:pPr marL="285750" indent="-285750">
              <a:lnSpc>
                <a:spcPct val="150000"/>
              </a:lnSpc>
              <a:buFont typeface="Wingdings" panose="05000000000000000000" pitchFamily="2" charset="2"/>
              <a:buChar char="l"/>
            </a:pPr>
            <a:r>
              <a:rPr lang="zh-CN" altLang="en-US" b="1" dirty="0">
                <a:latin typeface="Arial" panose="020B0604020202020204"/>
                <a:ea typeface="微软雅黑" panose="020B0503020204020204" charset="-122"/>
                <a:sym typeface="Arial" panose="020B0604020202020204"/>
              </a:rPr>
              <a:t>非号码型业务：</a:t>
            </a:r>
            <a:r>
              <a:rPr lang="zh-CN" altLang="en-US" dirty="0">
                <a:latin typeface="Arial" panose="020B0604020202020204"/>
                <a:ea typeface="微软雅黑" panose="020B0503020204020204" charset="-122"/>
                <a:sym typeface="Arial" panose="020B0604020202020204"/>
              </a:rPr>
              <a:t>号百业务的收入拉动效果逐步凸显。</a:t>
            </a:r>
            <a:endParaRPr lang="en-US" altLang="zh-CN" dirty="0">
              <a:latin typeface="Arial" panose="020B0604020202020204"/>
              <a:ea typeface="微软雅黑" panose="020B0503020204020204" charset="-122"/>
              <a:sym typeface="Arial" panose="020B0604020202020204"/>
            </a:endParaRPr>
          </a:p>
        </p:txBody>
      </p:sp>
      <p:sp>
        <p:nvSpPr>
          <p:cNvPr id="6" name="矩形 5"/>
          <p:cNvSpPr/>
          <p:nvPr/>
        </p:nvSpPr>
        <p:spPr bwMode="auto">
          <a:xfrm>
            <a:off x="6661426" y="1404732"/>
            <a:ext cx="3980069" cy="684991"/>
          </a:xfrm>
          <a:prstGeom prst="rect">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fontAlgn="base">
              <a:spcBef>
                <a:spcPct val="0"/>
              </a:spcBef>
              <a:spcAft>
                <a:spcPct val="0"/>
              </a:spcAft>
            </a:pPr>
            <a:r>
              <a:rPr lang="zh-CN" altLang="en-US" sz="2400" dirty="0">
                <a:solidFill>
                  <a:schemeClr val="bg1"/>
                </a:solidFill>
                <a:latin typeface="Arial" panose="020B0604020202020204"/>
                <a:ea typeface="微软雅黑" panose="020B0503020204020204" charset="-122"/>
                <a:sym typeface="Arial" panose="020B0604020202020204"/>
              </a:rPr>
              <a:t>收入增幅及拉动</a:t>
            </a:r>
          </a:p>
        </p:txBody>
      </p:sp>
      <p:sp>
        <p:nvSpPr>
          <p:cNvPr id="7" name="矩形 6"/>
          <p:cNvSpPr/>
          <p:nvPr/>
        </p:nvSpPr>
        <p:spPr>
          <a:xfrm>
            <a:off x="1457738" y="4876801"/>
            <a:ext cx="9289775" cy="1981200"/>
          </a:xfrm>
          <a:prstGeom prst="rect">
            <a:avLst/>
          </a:prstGeom>
          <a:blipFill dpi="0" rotWithShape="1">
            <a:blip r:embed="rId3">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8" name="TextBox 13"/>
          <p:cNvSpPr txBox="1"/>
          <p:nvPr/>
        </p:nvSpPr>
        <p:spPr>
          <a:xfrm>
            <a:off x="1752254" y="4999259"/>
            <a:ext cx="5125624" cy="553998"/>
          </a:xfrm>
          <a:prstGeom prst="rect">
            <a:avLst/>
          </a:prstGeom>
          <a:noFill/>
        </p:spPr>
        <p:txBody>
          <a:bodyPr wrap="square" rtlCol="0">
            <a:spAutoFit/>
          </a:bodyPr>
          <a:lstStyle/>
          <a:p>
            <a:pPr>
              <a:lnSpc>
                <a:spcPts val="1800"/>
              </a:lnSpc>
            </a:pPr>
            <a:r>
              <a:rPr lang="zh-CN" altLang="en-US" sz="1400" dirty="0">
                <a:latin typeface="Arial" panose="020B0604020202020204"/>
                <a:ea typeface="微软雅黑" panose="020B0503020204020204" charset="-122"/>
                <a:sym typeface="Arial" panose="020B0604020202020204"/>
              </a:rPr>
              <a:t>备注：</a:t>
            </a:r>
            <a:endParaRPr lang="en-US" altLang="zh-CN" sz="1400" dirty="0">
              <a:latin typeface="Arial" panose="020B0604020202020204"/>
              <a:ea typeface="微软雅黑" panose="020B0503020204020204" charset="-122"/>
              <a:sym typeface="Arial" panose="020B0604020202020204"/>
            </a:endParaRPr>
          </a:p>
          <a:p>
            <a:pPr>
              <a:lnSpc>
                <a:spcPts val="1800"/>
              </a:lnSpc>
            </a:pPr>
            <a:r>
              <a:rPr lang="zh-CN" altLang="en-US" sz="1400" dirty="0">
                <a:latin typeface="Arial" panose="020B0604020202020204"/>
                <a:ea typeface="微软雅黑" panose="020B0503020204020204" charset="-122"/>
                <a:sym typeface="Arial" panose="020B0604020202020204"/>
              </a:rPr>
              <a:t>为保持可 比，</a:t>
            </a:r>
            <a:r>
              <a:rPr lang="en-US" altLang="zh-CN" sz="1400" dirty="0">
                <a:latin typeface="Arial" panose="020B0604020202020204"/>
                <a:ea typeface="微软雅黑" panose="020B0503020204020204" charset="-122"/>
                <a:sym typeface="Arial" panose="020B0604020202020204"/>
              </a:rPr>
              <a:t>2010</a:t>
            </a:r>
            <a:r>
              <a:rPr lang="zh-CN" altLang="en-US" sz="1400" dirty="0">
                <a:latin typeface="Arial" panose="020B0604020202020204"/>
                <a:ea typeface="微软雅黑" panose="020B0503020204020204" charset="-122"/>
                <a:sym typeface="Arial" panose="020B0604020202020204"/>
              </a:rPr>
              <a:t>年沿用可比口径报表，剔除营改增影响。</a:t>
            </a:r>
            <a:endParaRPr lang="en-US" altLang="zh-CN" sz="1400" dirty="0">
              <a:latin typeface="Arial" panose="020B0604020202020204"/>
              <a:ea typeface="微软雅黑" panose="020B0503020204020204" charset="-122"/>
              <a:sym typeface="Arial" panose="020B0604020202020204"/>
            </a:endParaRPr>
          </a:p>
        </p:txBody>
      </p:sp>
      <p:sp>
        <p:nvSpPr>
          <p:cNvPr id="9" name="文本框 8"/>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1"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0" nodeType="clickEffect">
                                  <p:stCondLst>
                                    <p:cond delay="1500"/>
                                  </p:stCondLst>
                                  <p:childTnLst>
                                    <p:animEffect transition="out" filter="fade">
                                      <p:cBhvr>
                                        <p:cTn id="41" dur="500"/>
                                        <p:tgtEl>
                                          <p:spTgt spid="9"/>
                                        </p:tgtEl>
                                      </p:cBhvr>
                                    </p:animEffect>
                                    <p:set>
                                      <p:cBhvr>
                                        <p:cTn id="4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animBg="1"/>
      <p:bldP spid="8" grpId="0"/>
      <p:bldP spid="9" grpId="0"/>
      <p:bldP spid="9"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5724644"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全省预算口径收入对标分析</a:t>
            </a:r>
            <a:endParaRPr lang="zh-CN" altLang="en-US" sz="3600" b="1" dirty="0">
              <a:solidFill>
                <a:srgbClr val="000000"/>
              </a:solidFill>
              <a:latin typeface="Arial" panose="020B0604020202020204"/>
              <a:ea typeface="微软雅黑" panose="020B0503020204020204" charset="-122"/>
              <a:sym typeface="Arial" panose="020B0604020202020204"/>
            </a:endParaRPr>
          </a:p>
        </p:txBody>
      </p:sp>
      <p:graphicFrame>
        <p:nvGraphicFramePr>
          <p:cNvPr id="3" name="Chart 2"/>
          <p:cNvGraphicFramePr/>
          <p:nvPr/>
        </p:nvGraphicFramePr>
        <p:xfrm>
          <a:off x="1697335" y="1510747"/>
          <a:ext cx="8847147" cy="2981739"/>
        </p:xfrm>
        <a:graphic>
          <a:graphicData uri="http://schemas.openxmlformats.org/drawingml/2006/chart">
            <c:chart xmlns:c="http://schemas.openxmlformats.org/drawingml/2006/chart" xmlns:r="http://schemas.openxmlformats.org/officeDocument/2006/relationships" r:id="rId3"/>
          </a:graphicData>
        </a:graphic>
      </p:graphicFrame>
      <p:grpSp>
        <p:nvGrpSpPr>
          <p:cNvPr id="4" name="组合 3"/>
          <p:cNvGrpSpPr/>
          <p:nvPr/>
        </p:nvGrpSpPr>
        <p:grpSpPr>
          <a:xfrm>
            <a:off x="810465" y="1959665"/>
            <a:ext cx="806712" cy="812800"/>
            <a:chOff x="484132" y="1866901"/>
            <a:chExt cx="806712" cy="812800"/>
          </a:xfrm>
        </p:grpSpPr>
        <p:sp>
          <p:nvSpPr>
            <p:cNvPr id="5" name="圆角矩形 4"/>
            <p:cNvSpPr/>
            <p:nvPr/>
          </p:nvSpPr>
          <p:spPr bwMode="auto">
            <a:xfrm>
              <a:off x="484132" y="1866901"/>
              <a:ext cx="806712" cy="812800"/>
            </a:xfrm>
            <a:prstGeom prst="roundRect">
              <a:avLst/>
            </a:prstGeom>
            <a:solidFill>
              <a:srgbClr val="C00000"/>
            </a:solid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6" name="TextBox 8"/>
            <p:cNvSpPr txBox="1">
              <a:spLocks noChangeArrowheads="1"/>
            </p:cNvSpPr>
            <p:nvPr/>
          </p:nvSpPr>
          <p:spPr bwMode="auto">
            <a:xfrm>
              <a:off x="539032" y="1975644"/>
              <a:ext cx="696912" cy="584775"/>
            </a:xfrm>
            <a:prstGeom prst="rect">
              <a:avLst/>
            </a:prstGeom>
            <a:noFill/>
            <a:ln w="9525">
              <a:noFill/>
              <a:miter lim="800000"/>
            </a:ln>
          </p:spPr>
          <p:txBody>
            <a:bodyPr>
              <a:spAutoFit/>
            </a:bodyPr>
            <a:lstStyle/>
            <a:p>
              <a:pPr algn="ctr"/>
              <a:r>
                <a:rPr lang="zh-CN" altLang="en-US" sz="1600" dirty="0">
                  <a:solidFill>
                    <a:schemeClr val="bg1"/>
                  </a:solidFill>
                  <a:latin typeface="Arial" panose="020B0604020202020204"/>
                  <a:ea typeface="微软雅黑" panose="020B0503020204020204" charset="-122"/>
                  <a:sym typeface="Arial" panose="020B0604020202020204"/>
                </a:rPr>
                <a:t>完成进度</a:t>
              </a:r>
            </a:p>
          </p:txBody>
        </p:sp>
      </p:grpSp>
      <p:sp>
        <p:nvSpPr>
          <p:cNvPr id="7" name="矩形 5"/>
          <p:cNvSpPr>
            <a:spLocks noChangeArrowheads="1"/>
          </p:cNvSpPr>
          <p:nvPr/>
        </p:nvSpPr>
        <p:spPr bwMode="auto">
          <a:xfrm>
            <a:off x="1817631" y="4766598"/>
            <a:ext cx="8572072" cy="931836"/>
          </a:xfrm>
          <a:prstGeom prst="rect">
            <a:avLst/>
          </a:prstGeom>
          <a:noFill/>
          <a:ln w="9525">
            <a:noFill/>
            <a:miter lim="800000"/>
          </a:ln>
        </p:spPr>
        <p:txBody>
          <a:bodyPr wrap="square" anchor="ctr">
            <a:noAutofit/>
          </a:bodyPr>
          <a:lstStyle/>
          <a:p>
            <a:pPr>
              <a:lnSpc>
                <a:spcPct val="150000"/>
              </a:lnSpc>
            </a:pPr>
            <a:r>
              <a:rPr lang="zh-CN" altLang="en-US" sz="1600" dirty="0">
                <a:latin typeface="Arial" panose="020B0604020202020204"/>
                <a:ea typeface="微软雅黑" panose="020B0503020204020204" charset="-122"/>
                <a:sym typeface="Arial" panose="020B0604020202020204"/>
              </a:rPr>
              <a:t>仅山东预算完成超时序进度，我司完成</a:t>
            </a:r>
            <a:r>
              <a:rPr lang="en-US" altLang="zh-CN" sz="1600" dirty="0">
                <a:latin typeface="Arial" panose="020B0604020202020204"/>
                <a:ea typeface="微软雅黑" panose="020B0503020204020204" charset="-122"/>
                <a:sym typeface="Arial" panose="020B0604020202020204"/>
              </a:rPr>
              <a:t>32.64%</a:t>
            </a:r>
            <a:r>
              <a:rPr lang="zh-CN" altLang="en-US" sz="1600" dirty="0">
                <a:latin typeface="Arial" panose="020B0604020202020204"/>
                <a:ea typeface="微软雅黑" panose="020B0503020204020204" charset="-122"/>
                <a:sym typeface="Arial" panose="020B0604020202020204"/>
              </a:rPr>
              <a:t>，排名第二（上月第二），超九地市综合进度</a:t>
            </a:r>
            <a:r>
              <a:rPr lang="en-US" altLang="zh-CN" sz="1600" dirty="0">
                <a:latin typeface="Arial" panose="020B0604020202020204"/>
                <a:ea typeface="微软雅黑" panose="020B0503020204020204" charset="-122"/>
                <a:sym typeface="Arial" panose="020B0604020202020204"/>
              </a:rPr>
              <a:t>0.55%</a:t>
            </a:r>
            <a:r>
              <a:rPr lang="zh-CN" altLang="en-US" sz="1600" dirty="0">
                <a:latin typeface="Arial" panose="020B0604020202020204"/>
                <a:ea typeface="微软雅黑" panose="020B0503020204020204" charset="-122"/>
                <a:sym typeface="Arial" panose="020B0604020202020204"/>
              </a:rPr>
              <a:t>，可比增幅</a:t>
            </a:r>
            <a:r>
              <a:rPr lang="en-US" altLang="zh-CN" sz="1600" dirty="0">
                <a:latin typeface="Arial" panose="020B0604020202020204"/>
                <a:ea typeface="微软雅黑" panose="020B0503020204020204" charset="-122"/>
                <a:sym typeface="Arial" panose="020B0604020202020204"/>
              </a:rPr>
              <a:t>.34%</a:t>
            </a:r>
            <a:r>
              <a:rPr lang="zh-CN" altLang="en-US" sz="1600" dirty="0">
                <a:latin typeface="Arial" panose="020B0604020202020204"/>
                <a:ea typeface="微软雅黑" panose="020B0503020204020204" charset="-122"/>
                <a:sym typeface="Arial" panose="020B0604020202020204"/>
              </a:rPr>
              <a:t>，排名第二，仅次于山东（</a:t>
            </a:r>
            <a:r>
              <a:rPr lang="en-US" altLang="zh-CN" sz="1600" dirty="0">
                <a:latin typeface="Arial" panose="020B0604020202020204"/>
                <a:ea typeface="微软雅黑" panose="020B0503020204020204" charset="-122"/>
                <a:sym typeface="Arial" panose="020B0604020202020204"/>
              </a:rPr>
              <a:t>3.87%</a:t>
            </a:r>
            <a:r>
              <a:rPr lang="zh-CN" altLang="en-US" sz="1600" dirty="0">
                <a:latin typeface="Arial" panose="020B0604020202020204"/>
                <a:ea typeface="微软雅黑" panose="020B0503020204020204" charset="-122"/>
                <a:sym typeface="Arial" panose="020B0604020202020204"/>
              </a:rPr>
              <a:t>）。</a:t>
            </a:r>
          </a:p>
        </p:txBody>
      </p:sp>
      <p:grpSp>
        <p:nvGrpSpPr>
          <p:cNvPr id="8" name="组合 7"/>
          <p:cNvGrpSpPr/>
          <p:nvPr/>
        </p:nvGrpSpPr>
        <p:grpSpPr>
          <a:xfrm>
            <a:off x="10585600" y="1959665"/>
            <a:ext cx="806712" cy="812800"/>
            <a:chOff x="484132" y="1866901"/>
            <a:chExt cx="806712" cy="812800"/>
          </a:xfrm>
        </p:grpSpPr>
        <p:sp>
          <p:nvSpPr>
            <p:cNvPr id="9" name="圆角矩形 8"/>
            <p:cNvSpPr/>
            <p:nvPr/>
          </p:nvSpPr>
          <p:spPr bwMode="auto">
            <a:xfrm>
              <a:off x="484132" y="1866901"/>
              <a:ext cx="806712" cy="812800"/>
            </a:xfrm>
            <a:prstGeom prst="roundRect">
              <a:avLst/>
            </a:prstGeom>
            <a:solidFill>
              <a:srgbClr val="C00000"/>
            </a:solid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10" name="TextBox 8"/>
            <p:cNvSpPr txBox="1">
              <a:spLocks noChangeArrowheads="1"/>
            </p:cNvSpPr>
            <p:nvPr/>
          </p:nvSpPr>
          <p:spPr bwMode="auto">
            <a:xfrm>
              <a:off x="539032" y="1975644"/>
              <a:ext cx="696912" cy="584775"/>
            </a:xfrm>
            <a:prstGeom prst="rect">
              <a:avLst/>
            </a:prstGeom>
            <a:noFill/>
            <a:ln w="9525">
              <a:noFill/>
              <a:miter lim="800000"/>
            </a:ln>
          </p:spPr>
          <p:txBody>
            <a:bodyPr>
              <a:spAutoFit/>
            </a:bodyPr>
            <a:lstStyle/>
            <a:p>
              <a:pPr algn="ctr"/>
              <a:r>
                <a:rPr lang="zh-CN" altLang="en-US" sz="1600" dirty="0">
                  <a:solidFill>
                    <a:schemeClr val="bg1"/>
                  </a:solidFill>
                  <a:latin typeface="Arial" panose="020B0604020202020204"/>
                  <a:ea typeface="微软雅黑" panose="020B0503020204020204" charset="-122"/>
                  <a:sym typeface="Arial" panose="020B0604020202020204"/>
                </a:rPr>
                <a:t>同比增幅</a:t>
              </a:r>
            </a:p>
          </p:txBody>
        </p:sp>
      </p:grpSp>
      <p:sp>
        <p:nvSpPr>
          <p:cNvPr id="11" name="文本框 10"/>
          <p:cNvSpPr txBox="1"/>
          <p:nvPr/>
        </p:nvSpPr>
        <p:spPr>
          <a:xfrm>
            <a:off x="898176" y="2747890"/>
            <a:ext cx="646331" cy="646331"/>
          </a:xfrm>
          <a:prstGeom prst="rect">
            <a:avLst/>
          </a:prstGeom>
          <a:noFill/>
        </p:spPr>
        <p:txBody>
          <a:bodyPr wrap="none" rtlCol="0">
            <a:spAutoFit/>
          </a:bodyPr>
          <a:lstStyle/>
          <a:p>
            <a:r>
              <a:rPr lang="zh-CN" altLang="en-US" sz="3600" dirty="0">
                <a:solidFill>
                  <a:srgbClr val="C00000"/>
                </a:solidFill>
                <a:latin typeface="Arial" panose="020B0604020202020204"/>
                <a:ea typeface="微软雅黑" panose="020B0503020204020204" charset="-122"/>
                <a:sym typeface="Arial" panose="020B0604020202020204"/>
              </a:rPr>
              <a:t></a:t>
            </a:r>
          </a:p>
        </p:txBody>
      </p:sp>
      <p:sp>
        <p:nvSpPr>
          <p:cNvPr id="12" name="文本框 11"/>
          <p:cNvSpPr txBox="1"/>
          <p:nvPr/>
        </p:nvSpPr>
        <p:spPr>
          <a:xfrm>
            <a:off x="10696143" y="2742334"/>
            <a:ext cx="646331" cy="646331"/>
          </a:xfrm>
          <a:prstGeom prst="rect">
            <a:avLst/>
          </a:prstGeom>
          <a:noFill/>
        </p:spPr>
        <p:txBody>
          <a:bodyPr wrap="none" rtlCol="0">
            <a:spAutoFit/>
          </a:bodyPr>
          <a:lstStyle/>
          <a:p>
            <a:r>
              <a:rPr lang="zh-CN" altLang="en-US" sz="3600" dirty="0">
                <a:solidFill>
                  <a:srgbClr val="C00000"/>
                </a:solidFill>
                <a:latin typeface="Arial" panose="020B0604020202020204"/>
                <a:ea typeface="微软雅黑" panose="020B0503020204020204" charset="-122"/>
                <a:sym typeface="Arial" panose="020B0604020202020204"/>
              </a:rPr>
              <a:t></a:t>
            </a:r>
          </a:p>
        </p:txBody>
      </p:sp>
      <p:sp>
        <p:nvSpPr>
          <p:cNvPr id="13" name="文本框 12"/>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0" nodeType="clickEffect">
                                  <p:stCondLst>
                                    <p:cond delay="1500"/>
                                  </p:stCondLst>
                                  <p:childTnLst>
                                    <p:animEffect transition="out" filter="fade">
                                      <p:cBhvr>
                                        <p:cTn id="28" dur="500"/>
                                        <p:tgtEl>
                                          <p:spTgt spid="13"/>
                                        </p:tgtEl>
                                      </p:cBhvr>
                                    </p:animEffect>
                                    <p:set>
                                      <p:cBhvr>
                                        <p:cTn id="2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7" grpId="0"/>
      <p:bldP spid="11" grpId="0"/>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5724644"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全省预算口径收入对标分析</a:t>
            </a:r>
            <a:endParaRPr lang="zh-CN" altLang="en-US" sz="3600" b="1" dirty="0">
              <a:solidFill>
                <a:srgbClr val="000000"/>
              </a:solidFill>
              <a:latin typeface="Arial" panose="020B0604020202020204"/>
              <a:ea typeface="微软雅黑" panose="020B0503020204020204" charset="-122"/>
              <a:sym typeface="Arial" panose="020B0604020202020204"/>
            </a:endParaRPr>
          </a:p>
        </p:txBody>
      </p:sp>
      <p:graphicFrame>
        <p:nvGraphicFramePr>
          <p:cNvPr id="3" name="表格 2"/>
          <p:cNvGraphicFramePr>
            <a:graphicFrameLocks noGrp="1"/>
          </p:cNvGraphicFramePr>
          <p:nvPr/>
        </p:nvGraphicFramePr>
        <p:xfrm>
          <a:off x="1126436" y="1673234"/>
          <a:ext cx="9992138" cy="4369756"/>
        </p:xfrm>
        <a:graphic>
          <a:graphicData uri="http://schemas.openxmlformats.org/drawingml/2006/table">
            <a:tbl>
              <a:tblPr>
                <a:tableStyleId>{21E4AEA4-8DFA-4A89-87EB-49C32662AFE0}</a:tableStyleId>
              </a:tblPr>
              <a:tblGrid>
                <a:gridCol w="772000"/>
                <a:gridCol w="947456"/>
                <a:gridCol w="1000090"/>
                <a:gridCol w="1039568"/>
                <a:gridCol w="894818"/>
                <a:gridCol w="877272"/>
                <a:gridCol w="881660"/>
                <a:gridCol w="894818"/>
                <a:gridCol w="868501"/>
                <a:gridCol w="973773"/>
                <a:gridCol w="842182"/>
              </a:tblGrid>
              <a:tr h="492739">
                <a:tc rowSpan="2">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地市</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预算</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本月完成</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c gridSpan="3">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累计完成</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c hMerge="1">
                  <a:txBody>
                    <a:bodyPr/>
                    <a:lstStyle/>
                    <a:p>
                      <a:endParaRPr lang="zh-CN"/>
                    </a:p>
                  </a:txBody>
                  <a:tcPr/>
                </a:tc>
                <a:tc gridSpan="2">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与时序进度比</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c gridSpan="2">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可比增幅</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r>
              <a:tr h="631462">
                <a:tc vMerge="1">
                  <a:txBody>
                    <a:bodyPr/>
                    <a:lstStyle/>
                    <a:p>
                      <a:endParaRPr lang="zh-CN"/>
                    </a:p>
                  </a:txBody>
                  <a:tcPr/>
                </a:tc>
                <a:tc vMerge="1">
                  <a:txBody>
                    <a:bodyPr/>
                    <a:lstStyle/>
                    <a:p>
                      <a:endParaRPr lang="zh-CN"/>
                    </a:p>
                  </a:txBody>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本月实绩</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时序进度</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累计实绩</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进度</a:t>
                      </a:r>
                      <a:r>
                        <a:rPr lang="en-US" altLang="zh-CN" sz="1400" u="none" strike="noStrike" dirty="0">
                          <a:solidFill>
                            <a:schemeClr val="bg1"/>
                          </a:solidFill>
                          <a:latin typeface="Arial" panose="020B0604020202020204"/>
                          <a:ea typeface="微软雅黑" panose="020B0503020204020204" charset="-122"/>
                          <a:sym typeface="Arial" panose="020B0604020202020204"/>
                        </a:rPr>
                        <a:t>%</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进度</a:t>
                      </a:r>
                      <a:br>
                        <a:rPr lang="zh-CN" altLang="en-US" sz="1400" u="none" strike="noStrike" dirty="0">
                          <a:solidFill>
                            <a:schemeClr val="bg1"/>
                          </a:solidFill>
                          <a:latin typeface="Arial" panose="020B0604020202020204"/>
                          <a:ea typeface="微软雅黑" panose="020B0503020204020204" charset="-122"/>
                          <a:sym typeface="Arial" panose="020B0604020202020204"/>
                        </a:rPr>
                      </a:br>
                      <a:r>
                        <a:rPr lang="zh-CN" altLang="en-US" sz="1400" u="none" strike="noStrike" dirty="0">
                          <a:solidFill>
                            <a:schemeClr val="bg1"/>
                          </a:solidFill>
                          <a:latin typeface="Arial" panose="020B0604020202020204"/>
                          <a:ea typeface="微软雅黑" panose="020B0503020204020204" charset="-122"/>
                          <a:sym typeface="Arial" panose="020B0604020202020204"/>
                        </a:rPr>
                        <a:t>排名</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绝对量</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相对量</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增幅</a:t>
                      </a:r>
                      <a:r>
                        <a:rPr lang="en-US" altLang="zh-CN" sz="1400" u="none" strike="noStrike" dirty="0">
                          <a:solidFill>
                            <a:schemeClr val="bg1"/>
                          </a:solidFill>
                          <a:latin typeface="Arial" panose="020B0604020202020204"/>
                          <a:ea typeface="微软雅黑" panose="020B0503020204020204" charset="-122"/>
                          <a:sym typeface="Arial" panose="020B0604020202020204"/>
                        </a:rPr>
                        <a:t>%</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增速</a:t>
                      </a:r>
                      <a:br>
                        <a:rPr lang="zh-CN" altLang="en-US" sz="1400" u="none" strike="noStrike" dirty="0">
                          <a:solidFill>
                            <a:schemeClr val="bg1"/>
                          </a:solidFill>
                          <a:latin typeface="Arial" panose="020B0604020202020204"/>
                          <a:ea typeface="微软雅黑" panose="020B0503020204020204" charset="-122"/>
                          <a:sym typeface="Arial" panose="020B0604020202020204"/>
                        </a:rPr>
                      </a:br>
                      <a:r>
                        <a:rPr lang="zh-CN" altLang="en-US" sz="1400" u="none" strike="noStrike" dirty="0">
                          <a:solidFill>
                            <a:schemeClr val="bg1"/>
                          </a:solidFill>
                          <a:latin typeface="Arial" panose="020B0604020202020204"/>
                          <a:ea typeface="微软雅黑" panose="020B0503020204020204" charset="-122"/>
                          <a:sym typeface="Arial" panose="020B0604020202020204"/>
                        </a:rPr>
                        <a:t>排名</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上海</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316619</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25646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8.10%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101016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31.90%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6</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-4524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-1.43%</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-0.80%</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4</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深圳</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230180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18708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8.13%</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73096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31.76%</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7</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-3631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-1.58%</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-1.78%</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6</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宁德</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79770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5910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7.41%</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25466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31.92%</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5</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-1124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-1.41%</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-2.14%</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7</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某某</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82181</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6553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7.97%</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26826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32.64%</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2</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-568</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-0.69%</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2.34%</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2</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新疆</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329410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26495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8.04%</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106654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32.38%</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3</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-3149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-0.96%</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-1.24%</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5</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福建</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115223</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9322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8.09%</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37102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32.20%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4</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-1306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-1.13%</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-0.22%</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广东</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59480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4394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7.39%</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18663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31.38%</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8</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-1164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-1.96%</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-2.61%</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8</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大连</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60166</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4389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7.29%</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18614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30.94%</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9</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-1441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-2.40%</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-3.06%</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9</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15731">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山东</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66621</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5556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8.34%</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22468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33.72%</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a:latin typeface="Arial" panose="020B0604020202020204"/>
                          <a:ea typeface="微软雅黑" panose="020B0503020204020204" charset="-122"/>
                          <a:sym typeface="Arial" panose="020B0604020202020204"/>
                        </a:rPr>
                        <a:t>1</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261 </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a:latin typeface="Arial" panose="020B0604020202020204"/>
                          <a:ea typeface="微软雅黑" panose="020B0503020204020204" charset="-122"/>
                          <a:sym typeface="Arial" panose="020B0604020202020204"/>
                        </a:rPr>
                        <a:t>0.39%</a:t>
                      </a:r>
                      <a:endParaRPr lang="en-US" altLang="zh-CN" sz="12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3.87%</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403976">
                <a:tc>
                  <a:txBody>
                    <a:bodyPr/>
                    <a:lstStyle/>
                    <a:p>
                      <a:pPr algn="ctr" fontAlgn="ctr"/>
                      <a:r>
                        <a:rPr lang="zh-CN" altLang="en-US" sz="1200" u="none" strike="noStrike" dirty="0">
                          <a:solidFill>
                            <a:schemeClr val="bg1"/>
                          </a:solidFill>
                          <a:latin typeface="Arial" panose="020B0604020202020204"/>
                          <a:ea typeface="微软雅黑" panose="020B0503020204020204" charset="-122"/>
                          <a:sym typeface="Arial" panose="020B0604020202020204"/>
                        </a:rPr>
                        <a:t>九地市</a:t>
                      </a:r>
                      <a:endParaRPr lang="zh-CN" altLang="en-US" sz="12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1339650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106973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7.99%</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429905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32.09%</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200" u="none" strike="noStrike" dirty="0">
                          <a:latin typeface="Arial" panose="020B0604020202020204"/>
                          <a:ea typeface="微软雅黑" panose="020B0503020204020204" charset="-122"/>
                          <a:sym typeface="Arial" panose="020B0604020202020204"/>
                        </a:rPr>
                        <a:t>　</a:t>
                      </a:r>
                      <a:endParaRPr lang="zh-CN" altLang="en-US"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200" u="none" strike="noStrike" dirty="0">
                          <a:latin typeface="Arial" panose="020B0604020202020204"/>
                          <a:ea typeface="微软雅黑" panose="020B0503020204020204" charset="-122"/>
                          <a:sym typeface="Arial" panose="020B0604020202020204"/>
                        </a:rPr>
                        <a:t>-16645 </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-1.24%</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200" u="none" strike="noStrike" dirty="0">
                          <a:latin typeface="Arial" panose="020B0604020202020204"/>
                          <a:ea typeface="微软雅黑" panose="020B0503020204020204" charset="-122"/>
                          <a:sym typeface="Arial" panose="020B0604020202020204"/>
                        </a:rPr>
                        <a:t>-0.87%</a:t>
                      </a:r>
                      <a:endParaRPr lang="en-US" altLang="zh-CN"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200" u="none" strike="noStrike" dirty="0">
                          <a:latin typeface="Arial" panose="020B0604020202020204"/>
                          <a:ea typeface="微软雅黑" panose="020B0503020204020204" charset="-122"/>
                          <a:sym typeface="Arial" panose="020B0604020202020204"/>
                        </a:rPr>
                        <a:t>　</a:t>
                      </a:r>
                      <a:endParaRPr lang="zh-CN" altLang="en-US" sz="12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bl>
          </a:graphicData>
        </a:graphic>
      </p:graphicFrame>
      <p:sp>
        <p:nvSpPr>
          <p:cNvPr id="4" name="TextBox 13"/>
          <p:cNvSpPr txBox="1"/>
          <p:nvPr/>
        </p:nvSpPr>
        <p:spPr>
          <a:xfrm>
            <a:off x="10063068" y="1353083"/>
            <a:ext cx="1071570" cy="276999"/>
          </a:xfrm>
          <a:prstGeom prst="rect">
            <a:avLst/>
          </a:prstGeom>
          <a:noFill/>
        </p:spPr>
        <p:txBody>
          <a:bodyPr wrap="square" rtlCol="0">
            <a:spAutoFit/>
          </a:bodyPr>
          <a:lstStyle/>
          <a:p>
            <a:pPr algn="r"/>
            <a:r>
              <a:rPr lang="zh-CN" altLang="en-US" sz="1200" dirty="0">
                <a:latin typeface="Arial" panose="020B0604020202020204"/>
                <a:ea typeface="微软雅黑" panose="020B0503020204020204" charset="-122"/>
                <a:sym typeface="Arial" panose="020B0604020202020204"/>
              </a:rPr>
              <a:t>单位：万元</a:t>
            </a:r>
          </a:p>
        </p:txBody>
      </p:sp>
      <p:sp>
        <p:nvSpPr>
          <p:cNvPr id="5" name="文本框 4"/>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150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2031325"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风险管控</a:t>
            </a:r>
          </a:p>
        </p:txBody>
      </p:sp>
      <p:sp>
        <p:nvSpPr>
          <p:cNvPr id="4" name="六边形 3"/>
          <p:cNvSpPr/>
          <p:nvPr/>
        </p:nvSpPr>
        <p:spPr>
          <a:xfrm>
            <a:off x="4056472" y="1243258"/>
            <a:ext cx="4079056" cy="771073"/>
          </a:xfrm>
          <a:prstGeom prst="hexagon">
            <a:avLst>
              <a:gd name="adj" fmla="val 11604"/>
              <a:gd name="vf" fmla="val 115470"/>
            </a:avLst>
          </a:prstGeom>
          <a:solidFill>
            <a:schemeClr val="tx1">
              <a:lumMod val="65000"/>
              <a:lumOff val="35000"/>
            </a:schemeClr>
          </a:solidFill>
          <a:ln>
            <a:solidFill>
              <a:schemeClr val="tx1">
                <a:lumMod val="65000"/>
                <a:lumOff val="35000"/>
              </a:schemeClr>
            </a:solidFill>
          </a:ln>
        </p:spPr>
        <p:txBody>
          <a:bodyPr wrap="square" anchor="ctr">
            <a:noAutofit/>
          </a:bodyPr>
          <a:lstStyle/>
          <a:p>
            <a:pPr algn="ctr">
              <a:defRPr/>
            </a:pPr>
            <a:r>
              <a:rPr lang="zh-CN" altLang="en-US" sz="2800" dirty="0">
                <a:solidFill>
                  <a:schemeClr val="bg1"/>
                </a:solidFill>
                <a:latin typeface="Arial" panose="020B0604020202020204"/>
                <a:ea typeface="微软雅黑" panose="020B0503020204020204" charset="-122"/>
                <a:sym typeface="Arial" panose="020B0604020202020204"/>
              </a:rPr>
              <a:t> 应收账款分析</a:t>
            </a:r>
          </a:p>
        </p:txBody>
      </p:sp>
      <p:graphicFrame>
        <p:nvGraphicFramePr>
          <p:cNvPr id="5" name="图表 4"/>
          <p:cNvGraphicFramePr/>
          <p:nvPr/>
        </p:nvGraphicFramePr>
        <p:xfrm>
          <a:off x="2040836" y="2952647"/>
          <a:ext cx="8825948" cy="2944570"/>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p:cNvSpPr/>
          <p:nvPr/>
        </p:nvSpPr>
        <p:spPr>
          <a:xfrm>
            <a:off x="2040835" y="2385391"/>
            <a:ext cx="8799444" cy="563015"/>
          </a:xfrm>
          <a:prstGeom prst="rect">
            <a:avLst/>
          </a:prstGeom>
          <a:solidFill>
            <a:srgbClr val="C00000"/>
          </a:solidFill>
        </p:spPr>
        <p:txBody>
          <a:bodyPr wrap="square" anchor="ctr">
            <a:noAutofit/>
          </a:bodyPr>
          <a:lstStyle/>
          <a:p>
            <a:pPr algn="ctr" eaLnBrk="0" hangingPunct="0">
              <a:defRPr/>
            </a:pPr>
            <a:r>
              <a:rPr lang="zh-CN" altLang="en-US" sz="2400" dirty="0">
                <a:solidFill>
                  <a:schemeClr val="bg1"/>
                </a:solidFill>
                <a:latin typeface="Arial" panose="020B0604020202020204"/>
                <a:ea typeface="微软雅黑" panose="020B0503020204020204" charset="-122"/>
                <a:sym typeface="Arial" panose="020B0604020202020204"/>
              </a:rPr>
              <a:t>全业务应收账款变化趋势</a:t>
            </a:r>
          </a:p>
        </p:txBody>
      </p:sp>
      <p:grpSp>
        <p:nvGrpSpPr>
          <p:cNvPr id="7" name="组合 6"/>
          <p:cNvGrpSpPr/>
          <p:nvPr/>
        </p:nvGrpSpPr>
        <p:grpSpPr>
          <a:xfrm>
            <a:off x="1015658" y="3193408"/>
            <a:ext cx="806712" cy="812800"/>
            <a:chOff x="484132" y="1866901"/>
            <a:chExt cx="806712" cy="812800"/>
          </a:xfrm>
        </p:grpSpPr>
        <p:sp>
          <p:nvSpPr>
            <p:cNvPr id="8" name="圆角矩形 7"/>
            <p:cNvSpPr/>
            <p:nvPr/>
          </p:nvSpPr>
          <p:spPr bwMode="auto">
            <a:xfrm>
              <a:off x="484132" y="1866901"/>
              <a:ext cx="806712" cy="812800"/>
            </a:xfrm>
            <a:prstGeom prst="roundRect">
              <a:avLst/>
            </a:prstGeom>
            <a:solidFill>
              <a:srgbClr val="C00000"/>
            </a:solid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9" name="TextBox 8"/>
            <p:cNvSpPr txBox="1">
              <a:spLocks noChangeArrowheads="1"/>
            </p:cNvSpPr>
            <p:nvPr/>
          </p:nvSpPr>
          <p:spPr bwMode="auto">
            <a:xfrm>
              <a:off x="539032" y="1975644"/>
              <a:ext cx="696912" cy="584775"/>
            </a:xfrm>
            <a:prstGeom prst="rect">
              <a:avLst/>
            </a:prstGeom>
            <a:noFill/>
            <a:ln w="9525">
              <a:noFill/>
              <a:miter lim="800000"/>
            </a:ln>
          </p:spPr>
          <p:txBody>
            <a:bodyPr>
              <a:spAutoFit/>
            </a:bodyPr>
            <a:lstStyle/>
            <a:p>
              <a:pPr algn="ctr"/>
              <a:r>
                <a:rPr lang="zh-CN" altLang="en-US" sz="1600" dirty="0">
                  <a:solidFill>
                    <a:schemeClr val="bg1"/>
                  </a:solidFill>
                  <a:latin typeface="Arial" panose="020B0604020202020204"/>
                  <a:ea typeface="微软雅黑" panose="020B0503020204020204" charset="-122"/>
                  <a:sym typeface="Arial" panose="020B0604020202020204"/>
                </a:rPr>
                <a:t>营改增后</a:t>
              </a:r>
            </a:p>
          </p:txBody>
        </p:sp>
      </p:grpSp>
      <p:sp>
        <p:nvSpPr>
          <p:cNvPr id="10" name="TextBox 13"/>
          <p:cNvSpPr txBox="1"/>
          <p:nvPr/>
        </p:nvSpPr>
        <p:spPr>
          <a:xfrm>
            <a:off x="10068685" y="3037005"/>
            <a:ext cx="897489" cy="246221"/>
          </a:xfrm>
          <a:prstGeom prst="rect">
            <a:avLst/>
          </a:prstGeom>
          <a:noFill/>
        </p:spPr>
        <p:txBody>
          <a:bodyPr wrap="square" rtlCol="0">
            <a:spAutoFit/>
          </a:bodyPr>
          <a:lstStyle/>
          <a:p>
            <a:r>
              <a:rPr lang="zh-CN" altLang="en-US" sz="1000" dirty="0">
                <a:latin typeface="Arial" panose="020B0604020202020204"/>
                <a:ea typeface="微软雅黑" panose="020B0503020204020204" charset="-122"/>
                <a:sym typeface="Arial" panose="020B0604020202020204"/>
              </a:rPr>
              <a:t>单位：万元</a:t>
            </a:r>
          </a:p>
        </p:txBody>
      </p:sp>
      <p:sp>
        <p:nvSpPr>
          <p:cNvPr id="11" name="文本框 10"/>
          <p:cNvSpPr txBox="1"/>
          <p:nvPr/>
        </p:nvSpPr>
        <p:spPr>
          <a:xfrm>
            <a:off x="1108658" y="3942371"/>
            <a:ext cx="646331" cy="646331"/>
          </a:xfrm>
          <a:prstGeom prst="rect">
            <a:avLst/>
          </a:prstGeom>
          <a:noFill/>
        </p:spPr>
        <p:txBody>
          <a:bodyPr wrap="none" rtlCol="0">
            <a:spAutoFit/>
          </a:bodyPr>
          <a:lstStyle/>
          <a:p>
            <a:r>
              <a:rPr lang="zh-CN" altLang="en-US" sz="3600" dirty="0">
                <a:solidFill>
                  <a:srgbClr val="C00000"/>
                </a:solidFill>
                <a:latin typeface="Arial" panose="020B0604020202020204"/>
                <a:ea typeface="微软雅黑" panose="020B0503020204020204" charset="-122"/>
                <a:sym typeface="Arial" panose="020B0604020202020204"/>
              </a:rPr>
              <a:t></a:t>
            </a:r>
          </a:p>
        </p:txBody>
      </p:sp>
      <p:sp>
        <p:nvSpPr>
          <p:cNvPr id="12" name="文本框 11"/>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par>
                                <p:cTn id="20" presetID="22" presetClass="entr" presetSubtype="4"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0" nodeType="clickEffect">
                                  <p:stCondLst>
                                    <p:cond delay="1500"/>
                                  </p:stCondLst>
                                  <p:childTnLst>
                                    <p:animEffect transition="out" filter="fade">
                                      <p:cBhvr>
                                        <p:cTn id="32" dur="500"/>
                                        <p:tgtEl>
                                          <p:spTgt spid="12"/>
                                        </p:tgtEl>
                                      </p:cBhvr>
                                    </p:animEffect>
                                    <p:set>
                                      <p:cBhvr>
                                        <p:cTn id="33"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5" grpId="0">
        <p:bldAsOne/>
      </p:bldGraphic>
      <p:bldP spid="6" grpId="0" animBg="1"/>
      <p:bldP spid="10" grpId="0"/>
      <p:bldP spid="11" grpId="0"/>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2031325"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风险管控</a:t>
            </a:r>
          </a:p>
        </p:txBody>
      </p:sp>
      <p:sp>
        <p:nvSpPr>
          <p:cNvPr id="3" name="TextBox 8"/>
          <p:cNvSpPr txBox="1">
            <a:spLocks noChangeArrowheads="1"/>
          </p:cNvSpPr>
          <p:nvPr/>
        </p:nvSpPr>
        <p:spPr bwMode="auto">
          <a:xfrm>
            <a:off x="1166191" y="2166717"/>
            <a:ext cx="3529839" cy="1689665"/>
          </a:xfrm>
          <a:prstGeom prst="rect">
            <a:avLst/>
          </a:prstGeom>
          <a:noFill/>
          <a:ln w="9525">
            <a:noFill/>
            <a:miter lim="800000"/>
          </a:ln>
        </p:spPr>
        <p:txBody>
          <a:bodyPr wrap="square" anchor="ctr">
            <a:noAutofit/>
          </a:bodyPr>
          <a:lstStyle/>
          <a:p>
            <a:pPr>
              <a:lnSpc>
                <a:spcPct val="150000"/>
              </a:lnSpc>
            </a:pPr>
            <a:r>
              <a:rPr lang="en-US" altLang="zh-CN" sz="2000" b="1" dirty="0">
                <a:latin typeface="Arial" panose="020B0604020202020204"/>
                <a:ea typeface="微软雅黑" panose="020B0503020204020204" charset="-122"/>
                <a:sym typeface="Arial" panose="020B0604020202020204"/>
              </a:rPr>
              <a:t>1</a:t>
            </a:r>
            <a:r>
              <a:rPr lang="zh-CN" altLang="en-US" sz="2000" b="1" dirty="0">
                <a:latin typeface="Arial" panose="020B0604020202020204"/>
                <a:ea typeface="微软雅黑" panose="020B0503020204020204" charset="-122"/>
                <a:sym typeface="Arial" panose="020B0604020202020204"/>
              </a:rPr>
              <a:t>、应收账款总额：</a:t>
            </a:r>
            <a:endParaRPr lang="en-US" altLang="zh-CN" sz="2000" b="1" dirty="0">
              <a:latin typeface="Arial" panose="020B0604020202020204"/>
              <a:ea typeface="微软雅黑" panose="020B0503020204020204" charset="-122"/>
              <a:sym typeface="Arial" panose="020B0604020202020204"/>
            </a:endParaRPr>
          </a:p>
          <a:p>
            <a:pPr>
              <a:lnSpc>
                <a:spcPct val="150000"/>
              </a:lnSpc>
            </a:pPr>
            <a:r>
              <a:rPr lang="zh-CN" altLang="en-US" sz="1600" dirty="0">
                <a:latin typeface="Arial" panose="020B0604020202020204"/>
                <a:ea typeface="微软雅黑" panose="020B0503020204020204" charset="-122"/>
                <a:sym typeface="Arial" panose="020B0604020202020204"/>
              </a:rPr>
              <a:t>截止</a:t>
            </a:r>
            <a:r>
              <a:rPr lang="en-US" altLang="zh-CN" sz="1600" dirty="0">
                <a:latin typeface="Arial" panose="020B0604020202020204"/>
                <a:ea typeface="微软雅黑" panose="020B0503020204020204" charset="-122"/>
                <a:sym typeface="Arial" panose="020B0604020202020204"/>
              </a:rPr>
              <a:t>4</a:t>
            </a:r>
            <a:r>
              <a:rPr lang="zh-CN" altLang="en-US" sz="1600" dirty="0">
                <a:latin typeface="Arial" panose="020B0604020202020204"/>
                <a:ea typeface="微软雅黑" panose="020B0503020204020204" charset="-122"/>
                <a:sym typeface="Arial" panose="020B0604020202020204"/>
              </a:rPr>
              <a:t>月份我司应收账款总额达</a:t>
            </a:r>
            <a:r>
              <a:rPr lang="en-US" altLang="zh-CN" sz="1600" dirty="0">
                <a:latin typeface="Arial" panose="020B0604020202020204"/>
                <a:ea typeface="微软雅黑" panose="020B0503020204020204" charset="-122"/>
                <a:sym typeface="Arial" panose="020B0604020202020204"/>
              </a:rPr>
              <a:t>6472</a:t>
            </a:r>
            <a:r>
              <a:rPr lang="zh-CN" altLang="en-US" sz="1600" dirty="0">
                <a:latin typeface="Arial" panose="020B0604020202020204"/>
                <a:ea typeface="微软雅黑" panose="020B0503020204020204" charset="-122"/>
                <a:sym typeface="Arial" panose="020B0604020202020204"/>
              </a:rPr>
              <a:t>万元，占收入比达</a:t>
            </a:r>
            <a:r>
              <a:rPr lang="en-US" altLang="zh-CN" sz="1600" dirty="0">
                <a:latin typeface="Arial" panose="020B0604020202020204"/>
                <a:ea typeface="微软雅黑" panose="020B0503020204020204" charset="-122"/>
                <a:sym typeface="Arial" panose="020B0604020202020204"/>
              </a:rPr>
              <a:t>8.68%</a:t>
            </a:r>
            <a:r>
              <a:rPr lang="zh-CN" altLang="en-US" sz="1600" dirty="0">
                <a:latin typeface="Arial" panose="020B0604020202020204"/>
                <a:ea typeface="微软雅黑" panose="020B0503020204020204" charset="-122"/>
                <a:sym typeface="Arial" panose="020B0604020202020204"/>
              </a:rPr>
              <a:t>，超预算基准值</a:t>
            </a:r>
            <a:r>
              <a:rPr lang="en-US" altLang="zh-CN" sz="1600" dirty="0">
                <a:latin typeface="Arial" panose="020B0604020202020204"/>
                <a:ea typeface="微软雅黑" panose="020B0503020204020204" charset="-122"/>
                <a:sym typeface="Arial" panose="020B0604020202020204"/>
              </a:rPr>
              <a:t>0.62</a:t>
            </a:r>
            <a:r>
              <a:rPr lang="zh-CN" altLang="en-US" sz="1600" dirty="0">
                <a:latin typeface="Arial" panose="020B0604020202020204"/>
                <a:ea typeface="微软雅黑" panose="020B0503020204020204" charset="-122"/>
                <a:sym typeface="Arial" panose="020B0604020202020204"/>
              </a:rPr>
              <a:t>个百分点。</a:t>
            </a:r>
            <a:r>
              <a:rPr lang="zh-CN" altLang="en-US" sz="1600" b="1" dirty="0">
                <a:latin typeface="Arial" panose="020B0604020202020204"/>
                <a:ea typeface="微软雅黑" panose="020B0503020204020204" charset="-122"/>
                <a:sym typeface="Arial" panose="020B0604020202020204"/>
              </a:rPr>
              <a:t>应收账款增加额抵减考核口径收入</a:t>
            </a:r>
            <a:r>
              <a:rPr lang="en-US" altLang="zh-CN" sz="1600" b="1" dirty="0">
                <a:latin typeface="Arial" panose="020B0604020202020204"/>
                <a:ea typeface="微软雅黑" panose="020B0503020204020204" charset="-122"/>
                <a:sym typeface="Arial" panose="020B0604020202020204"/>
              </a:rPr>
              <a:t>172</a:t>
            </a:r>
            <a:r>
              <a:rPr lang="zh-CN" altLang="en-US" sz="1600" b="1" dirty="0">
                <a:latin typeface="Arial" panose="020B0604020202020204"/>
                <a:ea typeface="微软雅黑" panose="020B0503020204020204" charset="-122"/>
                <a:sym typeface="Arial" panose="020B0604020202020204"/>
              </a:rPr>
              <a:t>万元。</a:t>
            </a:r>
            <a:r>
              <a:rPr lang="zh-CN" altLang="en-US" sz="1600" dirty="0">
                <a:latin typeface="Arial" panose="020B0604020202020204"/>
                <a:ea typeface="微软雅黑" panose="020B0503020204020204" charset="-122"/>
                <a:sym typeface="Arial" panose="020B0604020202020204"/>
              </a:rPr>
              <a:t>       </a:t>
            </a:r>
            <a:endParaRPr lang="en-US" altLang="zh-CN" sz="1600" dirty="0">
              <a:latin typeface="Arial" panose="020B0604020202020204"/>
              <a:ea typeface="微软雅黑" panose="020B0503020204020204" charset="-122"/>
              <a:sym typeface="Arial" panose="020B0604020202020204"/>
            </a:endParaRPr>
          </a:p>
        </p:txBody>
      </p:sp>
      <p:sp>
        <p:nvSpPr>
          <p:cNvPr id="4" name="矩形 3"/>
          <p:cNvSpPr/>
          <p:nvPr/>
        </p:nvSpPr>
        <p:spPr>
          <a:xfrm>
            <a:off x="1166191" y="4065655"/>
            <a:ext cx="3551583" cy="2123109"/>
          </a:xfrm>
          <a:prstGeom prst="rect">
            <a:avLst/>
          </a:prstGeom>
          <a:noFill/>
          <a:ln>
            <a:noFill/>
          </a:ln>
        </p:spPr>
        <p:txBody>
          <a:bodyPr wrap="square" anchor="ctr">
            <a:noAutofit/>
          </a:bodyPr>
          <a:lstStyle/>
          <a:p>
            <a:pPr>
              <a:lnSpc>
                <a:spcPct val="150000"/>
              </a:lnSpc>
            </a:pPr>
            <a:r>
              <a:rPr lang="en-US" altLang="zh-CN" sz="2000" b="1" dirty="0">
                <a:latin typeface="Arial" panose="020B0604020202020204"/>
                <a:ea typeface="微软雅黑" panose="020B0503020204020204" charset="-122"/>
                <a:sym typeface="Arial" panose="020B0604020202020204"/>
              </a:rPr>
              <a:t>2</a:t>
            </a:r>
            <a:r>
              <a:rPr lang="zh-CN" altLang="en-US" sz="2000" b="1" dirty="0">
                <a:latin typeface="Arial" panose="020B0604020202020204"/>
                <a:ea typeface="微软雅黑" panose="020B0503020204020204" charset="-122"/>
                <a:sym typeface="Arial" panose="020B0604020202020204"/>
              </a:rPr>
              <a:t>、应收账款余额环比：</a:t>
            </a:r>
            <a:endParaRPr lang="en-US" altLang="zh-CN" sz="2000" b="1" dirty="0">
              <a:latin typeface="Arial" panose="020B0604020202020204"/>
              <a:ea typeface="微软雅黑" panose="020B0503020204020204" charset="-122"/>
              <a:sym typeface="Arial" panose="020B0604020202020204"/>
            </a:endParaRPr>
          </a:p>
          <a:p>
            <a:pPr>
              <a:lnSpc>
                <a:spcPct val="150000"/>
              </a:lnSpc>
            </a:pPr>
            <a:r>
              <a:rPr lang="zh-CN" altLang="en-US" sz="1600" dirty="0">
                <a:latin typeface="Arial" panose="020B0604020202020204"/>
                <a:ea typeface="微软雅黑" panose="020B0503020204020204" charset="-122"/>
                <a:sym typeface="Arial" panose="020B0604020202020204"/>
              </a:rPr>
              <a:t>用户欠费：环比增</a:t>
            </a:r>
            <a:r>
              <a:rPr lang="en-US" altLang="zh-CN" sz="1600" dirty="0">
                <a:latin typeface="Arial" panose="020B0604020202020204"/>
                <a:ea typeface="微软雅黑" panose="020B0503020204020204" charset="-122"/>
                <a:sym typeface="Arial" panose="020B0604020202020204"/>
              </a:rPr>
              <a:t>115.5</a:t>
            </a:r>
            <a:r>
              <a:rPr lang="zh-CN" altLang="en-US" sz="1600" dirty="0">
                <a:latin typeface="Arial" panose="020B0604020202020204"/>
                <a:ea typeface="微软雅黑" panose="020B0503020204020204" charset="-122"/>
                <a:sym typeface="Arial" panose="020B0604020202020204"/>
              </a:rPr>
              <a:t>万元，其中，</a:t>
            </a:r>
            <a:r>
              <a:rPr lang="en-US" altLang="zh-CN" sz="1600" b="1" dirty="0">
                <a:latin typeface="Arial" panose="020B0604020202020204"/>
                <a:ea typeface="微软雅黑" panose="020B0503020204020204" charset="-122"/>
                <a:sym typeface="Arial" panose="020B0604020202020204"/>
              </a:rPr>
              <a:t>1</a:t>
            </a:r>
            <a:r>
              <a:rPr lang="zh-CN" altLang="en-US" sz="1600" b="1" dirty="0">
                <a:latin typeface="Arial" panose="020B0604020202020204"/>
                <a:ea typeface="微软雅黑" panose="020B0503020204020204" charset="-122"/>
                <a:sym typeface="Arial" panose="020B0604020202020204"/>
              </a:rPr>
              <a:t>年以上账龄环比增</a:t>
            </a:r>
            <a:r>
              <a:rPr lang="en-US" altLang="zh-CN" sz="1600" b="1" dirty="0">
                <a:latin typeface="Arial" panose="020B0604020202020204"/>
                <a:ea typeface="微软雅黑" panose="020B0503020204020204" charset="-122"/>
                <a:sym typeface="Arial" panose="020B0604020202020204"/>
              </a:rPr>
              <a:t>113.8</a:t>
            </a:r>
            <a:r>
              <a:rPr lang="zh-CN" altLang="en-US" sz="1600" b="1" dirty="0">
                <a:latin typeface="Arial" panose="020B0604020202020204"/>
                <a:ea typeface="微软雅黑" panose="020B0503020204020204" charset="-122"/>
                <a:sym typeface="Arial" panose="020B0604020202020204"/>
              </a:rPr>
              <a:t>万元</a:t>
            </a:r>
            <a:r>
              <a:rPr lang="zh-CN" altLang="en-US" sz="1600" dirty="0">
                <a:latin typeface="Arial" panose="020B0604020202020204"/>
                <a:ea typeface="微软雅黑" panose="020B0503020204020204" charset="-122"/>
                <a:sym typeface="Arial" panose="020B0604020202020204"/>
              </a:rPr>
              <a:t>（</a:t>
            </a:r>
            <a:r>
              <a:rPr lang="en-US" altLang="zh-CN" sz="1600" dirty="0">
                <a:latin typeface="Arial" panose="020B0604020202020204"/>
                <a:ea typeface="微软雅黑" panose="020B0503020204020204" charset="-122"/>
                <a:sym typeface="Arial" panose="020B0604020202020204"/>
              </a:rPr>
              <a:t>2009</a:t>
            </a:r>
            <a:r>
              <a:rPr lang="zh-CN" altLang="en-US" sz="1600" dirty="0">
                <a:latin typeface="Arial" panose="020B0604020202020204"/>
                <a:ea typeface="微软雅黑" panose="020B0503020204020204" charset="-122"/>
                <a:sym typeface="Arial" panose="020B0604020202020204"/>
              </a:rPr>
              <a:t>年</a:t>
            </a:r>
            <a:r>
              <a:rPr lang="en-US" altLang="zh-CN" sz="1600" dirty="0">
                <a:latin typeface="Arial" panose="020B0604020202020204"/>
                <a:ea typeface="微软雅黑" panose="020B0503020204020204" charset="-122"/>
                <a:sym typeface="Arial" panose="020B0604020202020204"/>
              </a:rPr>
              <a:t>4</a:t>
            </a:r>
            <a:r>
              <a:rPr lang="zh-CN" altLang="en-US" sz="1600" dirty="0">
                <a:latin typeface="Arial" panose="020B0604020202020204"/>
                <a:ea typeface="微软雅黑" panose="020B0503020204020204" charset="-122"/>
                <a:sym typeface="Arial" panose="020B0604020202020204"/>
              </a:rPr>
              <a:t>月坏账沉淀），</a:t>
            </a:r>
            <a:r>
              <a:rPr lang="en-US" altLang="zh-CN" sz="1600" b="1" dirty="0">
                <a:latin typeface="Arial" panose="020B0604020202020204"/>
                <a:ea typeface="微软雅黑" panose="020B0503020204020204" charset="-122"/>
                <a:sym typeface="Arial" panose="020B0604020202020204"/>
              </a:rPr>
              <a:t>1-3</a:t>
            </a:r>
            <a:r>
              <a:rPr lang="zh-CN" altLang="en-US" sz="1600" b="1" dirty="0">
                <a:latin typeface="Arial" panose="020B0604020202020204"/>
                <a:ea typeface="微软雅黑" panose="020B0503020204020204" charset="-122"/>
                <a:sym typeface="Arial" panose="020B0604020202020204"/>
              </a:rPr>
              <a:t>个月账龄环比增</a:t>
            </a:r>
            <a:r>
              <a:rPr lang="en-US" altLang="zh-CN" sz="1600" b="1" dirty="0">
                <a:latin typeface="Arial" panose="020B0604020202020204"/>
                <a:ea typeface="微软雅黑" panose="020B0503020204020204" charset="-122"/>
                <a:sym typeface="Arial" panose="020B0604020202020204"/>
              </a:rPr>
              <a:t>101.3</a:t>
            </a:r>
            <a:r>
              <a:rPr lang="zh-CN" altLang="en-US" sz="1600" b="1" dirty="0">
                <a:latin typeface="Arial" panose="020B0604020202020204"/>
                <a:ea typeface="微软雅黑" panose="020B0503020204020204" charset="-122"/>
                <a:sym typeface="Arial" panose="020B0604020202020204"/>
              </a:rPr>
              <a:t>万元</a:t>
            </a:r>
            <a:r>
              <a:rPr lang="zh-CN" altLang="en-US" sz="1600" dirty="0">
                <a:latin typeface="Arial" panose="020B0604020202020204"/>
                <a:ea typeface="微软雅黑" panose="020B0503020204020204" charset="-122"/>
                <a:sym typeface="Arial" panose="020B0604020202020204"/>
              </a:rPr>
              <a:t>。</a:t>
            </a:r>
          </a:p>
        </p:txBody>
      </p:sp>
      <p:graphicFrame>
        <p:nvGraphicFramePr>
          <p:cNvPr id="5" name="表格 4"/>
          <p:cNvGraphicFramePr>
            <a:graphicFrameLocks noGrp="1"/>
          </p:cNvGraphicFramePr>
          <p:nvPr/>
        </p:nvGraphicFramePr>
        <p:xfrm>
          <a:off x="5022575" y="2226364"/>
          <a:ext cx="6175512" cy="3909391"/>
        </p:xfrm>
        <a:graphic>
          <a:graphicData uri="http://schemas.openxmlformats.org/drawingml/2006/table">
            <a:tbl>
              <a:tblPr>
                <a:tableStyleId>{21E4AEA4-8DFA-4A89-87EB-49C32662AFE0}</a:tableStyleId>
              </a:tblPr>
              <a:tblGrid>
                <a:gridCol w="1120337"/>
                <a:gridCol w="759913"/>
                <a:gridCol w="783436"/>
                <a:gridCol w="834887"/>
                <a:gridCol w="821635"/>
                <a:gridCol w="980660"/>
                <a:gridCol w="874644"/>
              </a:tblGrid>
              <a:tr h="1088086">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项   目</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年初数</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en-US" altLang="zh-CN" sz="1400" u="none" strike="noStrike" dirty="0">
                          <a:solidFill>
                            <a:schemeClr val="bg1"/>
                          </a:solidFill>
                          <a:latin typeface="Arial" panose="020B0604020202020204"/>
                          <a:ea typeface="微软雅黑" panose="020B0503020204020204" charset="-122"/>
                          <a:sym typeface="Arial" panose="020B0604020202020204"/>
                        </a:rPr>
                        <a:t>3</a:t>
                      </a:r>
                      <a:r>
                        <a:rPr lang="zh-CN" altLang="en-US" sz="1400" u="none" strike="noStrike" dirty="0">
                          <a:solidFill>
                            <a:schemeClr val="bg1"/>
                          </a:solidFill>
                          <a:latin typeface="Arial" panose="020B0604020202020204"/>
                          <a:ea typeface="微软雅黑" panose="020B0503020204020204" charset="-122"/>
                          <a:sym typeface="Arial" panose="020B0604020202020204"/>
                        </a:rPr>
                        <a:t>月份</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en-US" altLang="zh-CN" sz="1400" u="none" strike="noStrike" dirty="0">
                          <a:solidFill>
                            <a:schemeClr val="bg1"/>
                          </a:solidFill>
                          <a:latin typeface="Arial" panose="020B0604020202020204"/>
                          <a:ea typeface="微软雅黑" panose="020B0503020204020204" charset="-122"/>
                          <a:sym typeface="Arial" panose="020B0604020202020204"/>
                        </a:rPr>
                        <a:t>4</a:t>
                      </a:r>
                      <a:r>
                        <a:rPr lang="zh-CN" altLang="en-US" sz="1400" u="none" strike="noStrike" dirty="0">
                          <a:solidFill>
                            <a:schemeClr val="bg1"/>
                          </a:solidFill>
                          <a:latin typeface="Arial" panose="020B0604020202020204"/>
                          <a:ea typeface="微软雅黑" panose="020B0503020204020204" charset="-122"/>
                          <a:sym typeface="Arial" panose="020B0604020202020204"/>
                        </a:rPr>
                        <a:t>月份</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比上月</a:t>
                      </a:r>
                      <a:br>
                        <a:rPr lang="zh-CN" altLang="en-US" sz="1400" u="none" strike="noStrike" dirty="0">
                          <a:solidFill>
                            <a:schemeClr val="bg1"/>
                          </a:solidFill>
                          <a:latin typeface="Arial" panose="020B0604020202020204"/>
                          <a:ea typeface="微软雅黑" panose="020B0503020204020204" charset="-122"/>
                          <a:sym typeface="Arial" panose="020B0604020202020204"/>
                        </a:rPr>
                      </a:br>
                      <a:r>
                        <a:rPr lang="zh-CN" altLang="en-US" sz="1400" u="none" strike="noStrike" dirty="0">
                          <a:solidFill>
                            <a:schemeClr val="bg1"/>
                          </a:solidFill>
                          <a:latin typeface="Arial" panose="020B0604020202020204"/>
                          <a:ea typeface="微软雅黑" panose="020B0503020204020204" charset="-122"/>
                          <a:sym typeface="Arial" panose="020B0604020202020204"/>
                        </a:rPr>
                        <a:t>增减</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比上年</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同期增减</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比年初</a:t>
                      </a:r>
                      <a:br>
                        <a:rPr lang="zh-CN" altLang="en-US" sz="1400" u="none" strike="noStrike" dirty="0">
                          <a:solidFill>
                            <a:schemeClr val="bg1"/>
                          </a:solidFill>
                          <a:latin typeface="Arial" panose="020B0604020202020204"/>
                          <a:ea typeface="微软雅黑" panose="020B0503020204020204" charset="-122"/>
                          <a:sym typeface="Arial" panose="020B0604020202020204"/>
                        </a:rPr>
                      </a:br>
                      <a:r>
                        <a:rPr lang="zh-CN" altLang="en-US" sz="1400" u="none" strike="noStrike" dirty="0">
                          <a:solidFill>
                            <a:schemeClr val="bg1"/>
                          </a:solidFill>
                          <a:latin typeface="Arial" panose="020B0604020202020204"/>
                          <a:ea typeface="微软雅黑" panose="020B0503020204020204" charset="-122"/>
                          <a:sym typeface="Arial" panose="020B0604020202020204"/>
                        </a:rPr>
                        <a:t>增减</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564261">
                <a:tc>
                  <a:txBody>
                    <a:bodyPr/>
                    <a:lstStyle/>
                    <a:p>
                      <a:pPr algn="ctr" rtl="0" fontAlgn="ctr"/>
                      <a:r>
                        <a:rPr lang="zh-CN" altLang="en-US" sz="1400" u="none" strike="noStrike" dirty="0">
                          <a:latin typeface="Arial" panose="020B0604020202020204"/>
                          <a:ea typeface="微软雅黑" panose="020B0503020204020204" charset="-122"/>
                          <a:sym typeface="Arial" panose="020B0604020202020204"/>
                        </a:rPr>
                        <a:t>用户欠费</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4,908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5,760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5,875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115 </a:t>
                      </a:r>
                      <a:endParaRPr lang="en-US" altLang="zh-CN" sz="1400" b="1"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191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967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564261">
                <a:tc>
                  <a:txBody>
                    <a:bodyPr/>
                    <a:lstStyle/>
                    <a:p>
                      <a:pPr algn="ctr" rtl="0" fontAlgn="ctr"/>
                      <a:r>
                        <a:rPr lang="zh-CN" altLang="en-US" sz="1400" u="none" strike="noStrike" dirty="0">
                          <a:latin typeface="Arial" panose="020B0604020202020204"/>
                          <a:ea typeface="微软雅黑" panose="020B0503020204020204" charset="-122"/>
                          <a:sym typeface="Arial" panose="020B0604020202020204"/>
                        </a:rPr>
                        <a:t>网间结算款</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389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379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380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-178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564261">
                <a:tc>
                  <a:txBody>
                    <a:bodyPr/>
                    <a:lstStyle/>
                    <a:p>
                      <a:pPr algn="ctr" rtl="0" fontAlgn="ctr"/>
                      <a:r>
                        <a:rPr lang="zh-CN" altLang="en-US" sz="1400" u="none" strike="noStrike" dirty="0">
                          <a:latin typeface="Arial" panose="020B0604020202020204"/>
                          <a:ea typeface="微软雅黑" panose="020B0503020204020204" charset="-122"/>
                          <a:sym typeface="Arial" panose="020B0604020202020204"/>
                        </a:rPr>
                        <a:t>营业款结算</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149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114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93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22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-56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564261">
                <a:tc>
                  <a:txBody>
                    <a:bodyPr/>
                    <a:lstStyle/>
                    <a:p>
                      <a:pPr algn="ctr" rtl="0" fontAlgn="ctr"/>
                      <a:r>
                        <a:rPr lang="zh-CN" altLang="en-US" sz="1400" u="none" strike="noStrike" dirty="0">
                          <a:latin typeface="Arial" panose="020B0604020202020204"/>
                          <a:ea typeface="微软雅黑" panose="020B0503020204020204" charset="-122"/>
                          <a:sym typeface="Arial" panose="020B0604020202020204"/>
                        </a:rPr>
                        <a:t>其他</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171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124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-47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38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59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564261">
                <a:tc>
                  <a:txBody>
                    <a:bodyPr/>
                    <a:lstStyle/>
                    <a:p>
                      <a:pPr algn="ctr" rtl="0" fontAlgn="ctr"/>
                      <a:r>
                        <a:rPr lang="zh-CN" altLang="en-US" sz="1400" u="none" strike="noStrike" dirty="0">
                          <a:latin typeface="Arial" panose="020B0604020202020204"/>
                          <a:ea typeface="微软雅黑" panose="020B0503020204020204" charset="-122"/>
                          <a:sym typeface="Arial" panose="020B0604020202020204"/>
                        </a:rPr>
                        <a:t>合   计</a:t>
                      </a:r>
                      <a:endParaRPr lang="zh-CN" altLang="en-US" sz="1400" b="1"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400" u="none" strike="noStrike">
                          <a:latin typeface="Arial" panose="020B0604020202020204"/>
                          <a:ea typeface="微软雅黑" panose="020B0503020204020204" charset="-122"/>
                          <a:sym typeface="Arial" panose="020B0604020202020204"/>
                        </a:rPr>
                        <a:t>   </a:t>
                      </a:r>
                      <a:r>
                        <a:rPr lang="en-US" altLang="zh-CN" sz="1400" u="none" strike="noStrike">
                          <a:latin typeface="Arial" panose="020B0604020202020204"/>
                          <a:ea typeface="微软雅黑" panose="020B0503020204020204" charset="-122"/>
                          <a:sym typeface="Arial" panose="020B0604020202020204"/>
                        </a:rPr>
                        <a:t>5,511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6,423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6,472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a:latin typeface="Arial" panose="020B0604020202020204"/>
                          <a:ea typeface="微软雅黑" panose="020B0503020204020204" charset="-122"/>
                          <a:sym typeface="Arial" panose="020B0604020202020204"/>
                        </a:rPr>
                        <a:t>48 </a:t>
                      </a:r>
                      <a:endParaRPr lang="en-US" altLang="zh-CN" sz="1400" b="0" i="0" u="none" strike="noStrike">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-138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ctr"/>
                      <a:r>
                        <a:rPr lang="en-US" altLang="zh-CN" sz="1400" u="none" strike="noStrike" dirty="0">
                          <a:latin typeface="Arial" panose="020B0604020202020204"/>
                          <a:ea typeface="微软雅黑" panose="020B0503020204020204" charset="-122"/>
                          <a:sym typeface="Arial" panose="020B0604020202020204"/>
                        </a:rPr>
                        <a:t>961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bl>
          </a:graphicData>
        </a:graphic>
      </p:graphicFrame>
      <p:sp>
        <p:nvSpPr>
          <p:cNvPr id="6" name="六边形 5"/>
          <p:cNvSpPr/>
          <p:nvPr/>
        </p:nvSpPr>
        <p:spPr>
          <a:xfrm>
            <a:off x="4056472" y="1230006"/>
            <a:ext cx="4079056" cy="771073"/>
          </a:xfrm>
          <a:prstGeom prst="hexagon">
            <a:avLst>
              <a:gd name="adj" fmla="val 11604"/>
              <a:gd name="vf" fmla="val 115470"/>
            </a:avLst>
          </a:prstGeom>
          <a:solidFill>
            <a:schemeClr val="tx1">
              <a:lumMod val="65000"/>
              <a:lumOff val="35000"/>
            </a:schemeClr>
          </a:solidFill>
          <a:ln>
            <a:solidFill>
              <a:schemeClr val="tx1">
                <a:lumMod val="65000"/>
                <a:lumOff val="35000"/>
              </a:schemeClr>
            </a:solidFill>
          </a:ln>
        </p:spPr>
        <p:txBody>
          <a:bodyPr wrap="square" anchor="ctr">
            <a:noAutofit/>
          </a:bodyPr>
          <a:lstStyle/>
          <a:p>
            <a:pPr algn="ctr">
              <a:defRPr/>
            </a:pPr>
            <a:r>
              <a:rPr lang="zh-CN" altLang="en-US" sz="2800" dirty="0">
                <a:solidFill>
                  <a:schemeClr val="bg1"/>
                </a:solidFill>
                <a:latin typeface="Arial" panose="020B0604020202020204"/>
                <a:ea typeface="微软雅黑" panose="020B0503020204020204" charset="-122"/>
                <a:sym typeface="Arial" panose="020B0604020202020204"/>
              </a:rPr>
              <a:t> 应收账款分析</a:t>
            </a:r>
          </a:p>
        </p:txBody>
      </p:sp>
      <p:sp>
        <p:nvSpPr>
          <p:cNvPr id="7" name="文本框 6"/>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1500"/>
                                  </p:stCondLst>
                                  <p:childTnLst>
                                    <p:animEffect transition="out" filter="fad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2031325"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风险管控</a:t>
            </a:r>
          </a:p>
        </p:txBody>
      </p:sp>
      <p:sp>
        <p:nvSpPr>
          <p:cNvPr id="3" name="六边形 2"/>
          <p:cNvSpPr/>
          <p:nvPr/>
        </p:nvSpPr>
        <p:spPr>
          <a:xfrm>
            <a:off x="4056472" y="1190249"/>
            <a:ext cx="4079056" cy="771073"/>
          </a:xfrm>
          <a:prstGeom prst="hexagon">
            <a:avLst>
              <a:gd name="adj" fmla="val 11604"/>
              <a:gd name="vf" fmla="val 115470"/>
            </a:avLst>
          </a:prstGeom>
          <a:solidFill>
            <a:schemeClr val="tx1">
              <a:lumMod val="65000"/>
              <a:lumOff val="35000"/>
            </a:schemeClr>
          </a:solidFill>
          <a:ln>
            <a:solidFill>
              <a:schemeClr val="tx1">
                <a:lumMod val="65000"/>
                <a:lumOff val="35000"/>
              </a:schemeClr>
            </a:solidFill>
          </a:ln>
        </p:spPr>
        <p:txBody>
          <a:bodyPr wrap="square" anchor="ctr">
            <a:noAutofit/>
          </a:bodyPr>
          <a:lstStyle/>
          <a:p>
            <a:pPr algn="ctr">
              <a:defRPr/>
            </a:pPr>
            <a:r>
              <a:rPr lang="zh-CN" altLang="en-US" sz="2800" dirty="0">
                <a:solidFill>
                  <a:schemeClr val="bg1"/>
                </a:solidFill>
                <a:latin typeface="Arial" panose="020B0604020202020204"/>
                <a:ea typeface="微软雅黑" panose="020B0503020204020204" charset="-122"/>
                <a:sym typeface="Arial" panose="020B0604020202020204"/>
              </a:rPr>
              <a:t> 应收账款分析</a:t>
            </a:r>
          </a:p>
        </p:txBody>
      </p:sp>
      <p:graphicFrame>
        <p:nvGraphicFramePr>
          <p:cNvPr id="5" name="表格 4"/>
          <p:cNvGraphicFramePr>
            <a:graphicFrameLocks noGrp="1"/>
          </p:cNvGraphicFramePr>
          <p:nvPr/>
        </p:nvGraphicFramePr>
        <p:xfrm>
          <a:off x="875202" y="2800076"/>
          <a:ext cx="6493012" cy="3203159"/>
        </p:xfrm>
        <a:graphic>
          <a:graphicData uri="http://schemas.openxmlformats.org/drawingml/2006/table">
            <a:tbl>
              <a:tblPr>
                <a:tableStyleId>{21E4AEA4-8DFA-4A89-87EB-49C32662AFE0}</a:tableStyleId>
              </a:tblPr>
              <a:tblGrid>
                <a:gridCol w="1917185"/>
                <a:gridCol w="603888"/>
                <a:gridCol w="504522"/>
                <a:gridCol w="504522"/>
                <a:gridCol w="504522"/>
                <a:gridCol w="504522"/>
                <a:gridCol w="659630"/>
                <a:gridCol w="504522"/>
                <a:gridCol w="789699"/>
              </a:tblGrid>
              <a:tr h="721417">
                <a:tc>
                  <a:txBody>
                    <a:bodyPr/>
                    <a:lstStyle/>
                    <a:p>
                      <a:pPr algn="ctr" rtl="0" fontAlgn="b"/>
                      <a:r>
                        <a:rPr lang="zh-CN" altLang="en-US" sz="1400" u="none" strike="noStrike" dirty="0">
                          <a:solidFill>
                            <a:schemeClr val="bg1"/>
                          </a:solidFill>
                          <a:latin typeface="Arial" panose="020B0604020202020204"/>
                          <a:ea typeface="微软雅黑" panose="020B0503020204020204" charset="-122"/>
                          <a:sym typeface="Arial" panose="020B0604020202020204"/>
                        </a:rPr>
                        <a:t>账龄</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仙游</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en-US" altLang="zh-CN" sz="1400" u="none" strike="noStrike" dirty="0">
                          <a:solidFill>
                            <a:schemeClr val="bg1"/>
                          </a:solidFill>
                          <a:latin typeface="Arial" panose="020B0604020202020204"/>
                          <a:ea typeface="微软雅黑" panose="020B0503020204020204" charset="-122"/>
                          <a:sym typeface="Arial" panose="020B0604020202020204"/>
                        </a:rPr>
                        <a:t>A</a:t>
                      </a:r>
                      <a:r>
                        <a:rPr lang="zh-CN" altLang="en-US" sz="1400" u="none" strike="noStrike" dirty="0">
                          <a:solidFill>
                            <a:schemeClr val="bg1"/>
                          </a:solidFill>
                          <a:latin typeface="Arial" panose="020B0604020202020204"/>
                          <a:ea typeface="微软雅黑" panose="020B0503020204020204" charset="-122"/>
                          <a:sym typeface="Arial" panose="020B0604020202020204"/>
                        </a:rPr>
                        <a:t>区</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城厢</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en-US" altLang="zh-CN" sz="1400" u="none" strike="noStrike" dirty="0">
                          <a:solidFill>
                            <a:schemeClr val="bg1"/>
                          </a:solidFill>
                          <a:latin typeface="Arial" panose="020B0604020202020204"/>
                          <a:ea typeface="微软雅黑" panose="020B0503020204020204" charset="-122"/>
                          <a:sym typeface="Arial" panose="020B0604020202020204"/>
                        </a:rPr>
                        <a:t>B</a:t>
                      </a:r>
                      <a:r>
                        <a:rPr lang="zh-CN" altLang="en-US" sz="1400" u="none" strike="noStrike" dirty="0">
                          <a:solidFill>
                            <a:schemeClr val="bg1"/>
                          </a:solidFill>
                          <a:latin typeface="Arial" panose="020B0604020202020204"/>
                          <a:ea typeface="微软雅黑" panose="020B0503020204020204" charset="-122"/>
                          <a:sym typeface="Arial" panose="020B0604020202020204"/>
                        </a:rPr>
                        <a:t>区</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en-US" altLang="zh-CN" sz="1400" u="none" strike="noStrike" dirty="0">
                          <a:solidFill>
                            <a:schemeClr val="bg1"/>
                          </a:solidFill>
                          <a:latin typeface="Arial" panose="020B0604020202020204"/>
                          <a:ea typeface="微软雅黑" panose="020B0503020204020204" charset="-122"/>
                          <a:sym typeface="Arial" panose="020B0604020202020204"/>
                        </a:rPr>
                        <a:t>C</a:t>
                      </a:r>
                      <a:r>
                        <a:rPr lang="zh-CN" altLang="en-US" sz="1400" u="none" strike="noStrike" dirty="0">
                          <a:solidFill>
                            <a:schemeClr val="bg1"/>
                          </a:solidFill>
                          <a:latin typeface="Arial" panose="020B0604020202020204"/>
                          <a:ea typeface="微软雅黑" panose="020B0503020204020204" charset="-122"/>
                          <a:sym typeface="Arial" panose="020B0604020202020204"/>
                        </a:rPr>
                        <a:t>区</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政企客户部</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云事</a:t>
                      </a:r>
                      <a:endParaRPr lang="en-US" altLang="zh-CN" sz="1400" u="none" strike="noStrike" dirty="0">
                        <a:solidFill>
                          <a:schemeClr val="bg1"/>
                        </a:solidFill>
                        <a:latin typeface="Arial" panose="020B0604020202020204"/>
                        <a:ea typeface="微软雅黑" panose="020B0503020204020204" charset="-122"/>
                        <a:sym typeface="Arial" panose="020B0604020202020204"/>
                      </a:endParaRPr>
                    </a:p>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业部</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u="none" strike="noStrike" dirty="0">
                          <a:solidFill>
                            <a:schemeClr val="bg1"/>
                          </a:solidFill>
                          <a:latin typeface="Arial" panose="020B0604020202020204"/>
                          <a:ea typeface="微软雅黑" panose="020B0503020204020204" charset="-122"/>
                          <a:sym typeface="Arial" panose="020B0604020202020204"/>
                        </a:rPr>
                        <a:t>总计</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360709">
                <a:tc>
                  <a:txBody>
                    <a:bodyPr/>
                    <a:lstStyle/>
                    <a:p>
                      <a:pPr algn="ctr" rtl="0" fontAlgn="t"/>
                      <a:r>
                        <a:rPr lang="zh-CN" altLang="en-US" sz="1400" u="none" strike="noStrike" dirty="0">
                          <a:latin typeface="Arial" panose="020B0604020202020204"/>
                          <a:ea typeface="微软雅黑" panose="020B0503020204020204" charset="-122"/>
                          <a:sym typeface="Arial" panose="020B0604020202020204"/>
                        </a:rPr>
                        <a:t>账龄＜</a:t>
                      </a:r>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个月</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5.0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4.8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0.4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2.5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6.1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1.9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2.1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22.9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519453">
                <a:tc>
                  <a:txBody>
                    <a:bodyPr/>
                    <a:lstStyle/>
                    <a:p>
                      <a:pPr algn="ctr" rtl="0" fontAlgn="t"/>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个月≤账龄≤</a:t>
                      </a:r>
                      <a:r>
                        <a:rPr lang="en-US" altLang="zh-CN" sz="1400" u="none" strike="noStrike" dirty="0">
                          <a:latin typeface="Arial" panose="020B0604020202020204"/>
                          <a:ea typeface="微软雅黑" panose="020B0503020204020204" charset="-122"/>
                          <a:sym typeface="Arial" panose="020B0604020202020204"/>
                        </a:rPr>
                        <a:t>3</a:t>
                      </a:r>
                      <a:r>
                        <a:rPr lang="zh-CN" altLang="en-US" sz="1400" u="none" strike="noStrike" dirty="0">
                          <a:latin typeface="Arial" panose="020B0604020202020204"/>
                          <a:ea typeface="微软雅黑" panose="020B0503020204020204" charset="-122"/>
                          <a:sym typeface="Arial" panose="020B0604020202020204"/>
                        </a:rPr>
                        <a:t>个月</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3.6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2.7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6.5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3.4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10.2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0.8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27.1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519453">
                <a:tc>
                  <a:txBody>
                    <a:bodyPr/>
                    <a:lstStyle/>
                    <a:p>
                      <a:pPr algn="ctr" rtl="0" fontAlgn="t"/>
                      <a:r>
                        <a:rPr lang="en-US" altLang="zh-CN" sz="1400" u="none" strike="noStrike" dirty="0">
                          <a:latin typeface="Arial" panose="020B0604020202020204"/>
                          <a:ea typeface="微软雅黑" panose="020B0503020204020204" charset="-122"/>
                          <a:sym typeface="Arial" panose="020B0604020202020204"/>
                        </a:rPr>
                        <a:t>3</a:t>
                      </a:r>
                      <a:r>
                        <a:rPr lang="zh-CN" altLang="en-US" sz="1400" u="none" strike="noStrike" dirty="0">
                          <a:latin typeface="Arial" panose="020B0604020202020204"/>
                          <a:ea typeface="微软雅黑" panose="020B0503020204020204" charset="-122"/>
                          <a:sym typeface="Arial" panose="020B0604020202020204"/>
                        </a:rPr>
                        <a:t>个月＜账龄≤</a:t>
                      </a:r>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年</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1.8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7.8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14.2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60709">
                <a:tc>
                  <a:txBody>
                    <a:bodyPr/>
                    <a:lstStyle/>
                    <a:p>
                      <a:pPr algn="ctr" rtl="0" fontAlgn="t"/>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年＜账龄</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0.8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0.8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360709">
                <a:tc>
                  <a:txBody>
                    <a:bodyPr/>
                    <a:lstStyle/>
                    <a:p>
                      <a:pPr algn="ctr" rtl="0" fontAlgn="b"/>
                      <a:r>
                        <a:rPr lang="zh-CN" altLang="en-US" sz="1400" u="none" strike="noStrike" dirty="0">
                          <a:latin typeface="Arial" panose="020B0604020202020204"/>
                          <a:ea typeface="微软雅黑" panose="020B0503020204020204" charset="-122"/>
                          <a:sym typeface="Arial" panose="020B0604020202020204"/>
                        </a:rPr>
                        <a:t>合  计</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11.2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4.8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5.4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a:latin typeface="Arial" panose="020B0604020202020204"/>
                          <a:ea typeface="微软雅黑" panose="020B0503020204020204" charset="-122"/>
                          <a:sym typeface="Arial" panose="020B0604020202020204"/>
                        </a:rPr>
                        <a:t>9.0 </a:t>
                      </a:r>
                      <a:endParaRPr lang="en-US" altLang="zh-CN" sz="1400" b="0" i="0" u="none" strike="noStrike">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9.5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19.9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5.2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65.0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360709">
                <a:tc>
                  <a:txBody>
                    <a:bodyPr/>
                    <a:lstStyle/>
                    <a:p>
                      <a:pPr algn="ctr" rtl="0" fontAlgn="b"/>
                      <a:r>
                        <a:rPr lang="zh-CN" altLang="en-US" sz="1400" u="none" strike="noStrike" dirty="0">
                          <a:latin typeface="Arial" panose="020B0604020202020204"/>
                          <a:ea typeface="微软雅黑" panose="020B0503020204020204" charset="-122"/>
                          <a:sym typeface="Arial" panose="020B0604020202020204"/>
                        </a:rPr>
                        <a:t>其中：欠费销账</a:t>
                      </a:r>
                      <a:endParaRPr lang="zh-CN" altLang="en-US"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7.4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0.0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2.1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7.0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8.3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15.0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5.2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ctr"/>
                      <a:r>
                        <a:rPr lang="en-US" altLang="zh-CN" sz="1400" u="none" strike="noStrike" dirty="0">
                          <a:latin typeface="Arial" panose="020B0604020202020204"/>
                          <a:ea typeface="微软雅黑" panose="020B0503020204020204" charset="-122"/>
                          <a:sym typeface="Arial" panose="020B0604020202020204"/>
                        </a:rPr>
                        <a:t>45.0 </a:t>
                      </a:r>
                      <a:endParaRPr lang="en-US" altLang="zh-CN" sz="1400" b="0" i="0" u="none" strike="noStrike" dirty="0">
                        <a:solidFill>
                          <a:srgbClr val="00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bl>
          </a:graphicData>
        </a:graphic>
      </p:graphicFrame>
      <p:sp>
        <p:nvSpPr>
          <p:cNvPr id="6" name="TextBox 8"/>
          <p:cNvSpPr txBox="1"/>
          <p:nvPr/>
        </p:nvSpPr>
        <p:spPr>
          <a:xfrm>
            <a:off x="6042994" y="2483233"/>
            <a:ext cx="1367790" cy="276999"/>
          </a:xfrm>
          <a:prstGeom prst="rect">
            <a:avLst/>
          </a:prstGeom>
          <a:noFill/>
        </p:spPr>
        <p:txBody>
          <a:bodyPr wrap="square" rtlCol="0">
            <a:spAutoFit/>
          </a:bodyPr>
          <a:lstStyle/>
          <a:p>
            <a:pPr algn="r"/>
            <a:r>
              <a:rPr lang="zh-CN" altLang="en-US" sz="1200" dirty="0">
                <a:latin typeface="Arial" panose="020B0604020202020204"/>
                <a:ea typeface="微软雅黑" panose="020B0503020204020204" charset="-122"/>
                <a:sym typeface="Arial" panose="020B0604020202020204"/>
              </a:rPr>
              <a:t>单位：万元</a:t>
            </a:r>
          </a:p>
        </p:txBody>
      </p:sp>
      <p:sp>
        <p:nvSpPr>
          <p:cNvPr id="7" name="TextBox 11"/>
          <p:cNvSpPr txBox="1"/>
          <p:nvPr/>
        </p:nvSpPr>
        <p:spPr>
          <a:xfrm>
            <a:off x="851009" y="6199989"/>
            <a:ext cx="4714908" cy="261610"/>
          </a:xfrm>
          <a:prstGeom prst="rect">
            <a:avLst/>
          </a:prstGeom>
          <a:noFill/>
        </p:spPr>
        <p:txBody>
          <a:bodyPr wrap="square" rtlCol="0">
            <a:spAutoFit/>
          </a:bodyPr>
          <a:lstStyle/>
          <a:p>
            <a:r>
              <a:rPr lang="zh-CN" altLang="en-US" sz="1100" dirty="0">
                <a:latin typeface="Arial" panose="020B0604020202020204"/>
                <a:ea typeface="微软雅黑" panose="020B0503020204020204" charset="-122"/>
                <a:sym typeface="Arial" panose="020B0604020202020204"/>
              </a:rPr>
              <a:t>备注：表格中县区欠款仅是主营业厅欠款，不包含代办点欠款。</a:t>
            </a:r>
            <a:endParaRPr lang="en-US" altLang="zh-CN" sz="1100" dirty="0">
              <a:latin typeface="Arial" panose="020B0604020202020204"/>
              <a:ea typeface="微软雅黑" panose="020B0503020204020204" charset="-122"/>
              <a:sym typeface="Arial" panose="020B0604020202020204"/>
            </a:endParaRPr>
          </a:p>
        </p:txBody>
      </p:sp>
      <p:sp>
        <p:nvSpPr>
          <p:cNvPr id="9" name="矩形 8"/>
          <p:cNvSpPr/>
          <p:nvPr/>
        </p:nvSpPr>
        <p:spPr>
          <a:xfrm>
            <a:off x="7593495" y="2259617"/>
            <a:ext cx="4174435" cy="3785652"/>
          </a:xfrm>
          <a:prstGeom prst="rect">
            <a:avLst/>
          </a:prstGeom>
        </p:spPr>
        <p:txBody>
          <a:bodyPr wrap="square">
            <a:spAutoFit/>
          </a:bodyPr>
          <a:lstStyle/>
          <a:p>
            <a:pPr marL="171450" indent="-215900">
              <a:lnSpc>
                <a:spcPct val="150000"/>
              </a:lnSpc>
              <a:buClr>
                <a:srgbClr val="C00000"/>
              </a:buClr>
              <a:buFont typeface="Wingdings" panose="05000000000000000000" pitchFamily="2" charset="2"/>
              <a:buChar char="l"/>
            </a:pPr>
            <a:r>
              <a:rPr lang="zh-CN" altLang="en-US" sz="1600" b="1" dirty="0">
                <a:latin typeface="Arial" panose="020B0604020202020204"/>
                <a:ea typeface="微软雅黑" panose="020B0503020204020204" charset="-122"/>
                <a:sym typeface="Arial" panose="020B0604020202020204"/>
              </a:rPr>
              <a:t>账龄分析：</a:t>
            </a:r>
            <a:r>
              <a:rPr lang="zh-CN" altLang="en-US" sz="1600" dirty="0">
                <a:latin typeface="Arial" panose="020B0604020202020204"/>
                <a:ea typeface="微软雅黑" panose="020B0503020204020204" charset="-122"/>
                <a:sym typeface="Arial" panose="020B0604020202020204"/>
              </a:rPr>
              <a:t>除</a:t>
            </a:r>
            <a:r>
              <a:rPr lang="en-US" altLang="zh-CN" sz="1600" dirty="0">
                <a:latin typeface="Arial" panose="020B0604020202020204"/>
                <a:ea typeface="微软雅黑" panose="020B0503020204020204" charset="-122"/>
                <a:sym typeface="Arial" panose="020B0604020202020204"/>
              </a:rPr>
              <a:t>A</a:t>
            </a:r>
            <a:r>
              <a:rPr lang="zh-CN" altLang="en-US" sz="1600" dirty="0">
                <a:latin typeface="Arial" panose="020B0604020202020204"/>
                <a:ea typeface="微软雅黑" panose="020B0503020204020204" charset="-122"/>
                <a:sym typeface="Arial" panose="020B0604020202020204"/>
              </a:rPr>
              <a:t>区、</a:t>
            </a:r>
            <a:r>
              <a:rPr lang="en-US" altLang="zh-CN" sz="1600" dirty="0">
                <a:latin typeface="Arial" panose="020B0604020202020204"/>
                <a:ea typeface="微软雅黑" panose="020B0503020204020204" charset="-122"/>
                <a:sym typeface="Arial" panose="020B0604020202020204"/>
              </a:rPr>
              <a:t>B</a:t>
            </a:r>
            <a:r>
              <a:rPr lang="zh-CN" altLang="en-US" sz="1600" dirty="0">
                <a:latin typeface="Arial" panose="020B0604020202020204"/>
                <a:ea typeface="微软雅黑" panose="020B0503020204020204" charset="-122"/>
                <a:sym typeface="Arial" panose="020B0604020202020204"/>
              </a:rPr>
              <a:t>区及</a:t>
            </a:r>
            <a:r>
              <a:rPr lang="en-US" altLang="zh-CN" sz="1600" dirty="0">
                <a:latin typeface="Arial" panose="020B0604020202020204"/>
                <a:ea typeface="微软雅黑" panose="020B0503020204020204" charset="-122"/>
                <a:sym typeface="Arial" panose="020B0604020202020204"/>
              </a:rPr>
              <a:t>C</a:t>
            </a:r>
            <a:r>
              <a:rPr lang="zh-CN" altLang="en-US" sz="1600" dirty="0">
                <a:latin typeface="Arial" panose="020B0604020202020204"/>
                <a:ea typeface="微软雅黑" panose="020B0503020204020204" charset="-122"/>
                <a:sym typeface="Arial" panose="020B0604020202020204"/>
              </a:rPr>
              <a:t>区，其他单位均存在</a:t>
            </a:r>
            <a:r>
              <a:rPr lang="en-US" altLang="zh-CN" sz="1600" dirty="0">
                <a:latin typeface="Arial" panose="020B0604020202020204"/>
                <a:ea typeface="微软雅黑" panose="020B0503020204020204" charset="-122"/>
                <a:sym typeface="Arial" panose="020B0604020202020204"/>
              </a:rPr>
              <a:t>3</a:t>
            </a:r>
            <a:r>
              <a:rPr lang="zh-CN" altLang="en-US" sz="1600" dirty="0">
                <a:latin typeface="Arial" panose="020B0604020202020204"/>
                <a:ea typeface="微软雅黑" panose="020B0503020204020204" charset="-122"/>
                <a:sym typeface="Arial" panose="020B0604020202020204"/>
              </a:rPr>
              <a:t>个月以上的营业欠款，请加强催缴。</a:t>
            </a:r>
            <a:endParaRPr lang="en-US" altLang="zh-CN" sz="1600" dirty="0">
              <a:latin typeface="Arial" panose="020B0604020202020204"/>
              <a:ea typeface="微软雅黑" panose="020B0503020204020204" charset="-122"/>
              <a:sym typeface="Arial" panose="020B0604020202020204"/>
            </a:endParaRPr>
          </a:p>
          <a:p>
            <a:pPr marL="171450" indent="-215900">
              <a:lnSpc>
                <a:spcPct val="150000"/>
              </a:lnSpc>
              <a:buClr>
                <a:srgbClr val="C00000"/>
              </a:buClr>
              <a:buFont typeface="Wingdings" panose="05000000000000000000" pitchFamily="2" charset="2"/>
              <a:buChar char="l"/>
            </a:pPr>
            <a:r>
              <a:rPr lang="zh-CN" altLang="en-US" sz="1600" b="1" dirty="0">
                <a:latin typeface="Arial" panose="020B0604020202020204"/>
                <a:ea typeface="微软雅黑" panose="020B0503020204020204" charset="-122"/>
                <a:sym typeface="Arial" panose="020B0604020202020204"/>
              </a:rPr>
              <a:t>欠款结构分析：</a:t>
            </a:r>
            <a:r>
              <a:rPr lang="zh-CN" altLang="en-US" sz="1600" dirty="0">
                <a:latin typeface="Arial" panose="020B0604020202020204"/>
                <a:ea typeface="微软雅黑" panose="020B0503020204020204" charset="-122"/>
                <a:sym typeface="Arial" panose="020B0604020202020204"/>
              </a:rPr>
              <a:t>欠费销账引发的欠款占比高达</a:t>
            </a:r>
            <a:r>
              <a:rPr lang="en-US" altLang="zh-CN" sz="1600" dirty="0">
                <a:latin typeface="Arial" panose="020B0604020202020204"/>
                <a:ea typeface="微软雅黑" panose="020B0503020204020204" charset="-122"/>
                <a:sym typeface="Arial" panose="020B0604020202020204"/>
              </a:rPr>
              <a:t>69%</a:t>
            </a:r>
            <a:r>
              <a:rPr lang="zh-CN" altLang="en-US" sz="1600" dirty="0">
                <a:latin typeface="Arial" panose="020B0604020202020204"/>
                <a:ea typeface="微软雅黑" panose="020B0503020204020204" charset="-122"/>
                <a:sym typeface="Arial" panose="020B0604020202020204"/>
              </a:rPr>
              <a:t>，主要是发票和长账龄欠费转移。</a:t>
            </a:r>
            <a:endParaRPr lang="en-US" altLang="zh-CN" sz="1600" dirty="0">
              <a:latin typeface="Arial" panose="020B0604020202020204"/>
              <a:ea typeface="微软雅黑" panose="020B0503020204020204" charset="-122"/>
              <a:sym typeface="Arial" panose="020B0604020202020204"/>
            </a:endParaRPr>
          </a:p>
          <a:p>
            <a:pPr>
              <a:lnSpc>
                <a:spcPct val="150000"/>
              </a:lnSpc>
              <a:buClr>
                <a:srgbClr val="C00000"/>
              </a:buClr>
            </a:pPr>
            <a:r>
              <a:rPr lang="en-US" altLang="zh-CN" sz="1600" dirty="0">
                <a:latin typeface="Arial" panose="020B0604020202020204"/>
                <a:ea typeface="微软雅黑" panose="020B0503020204020204" charset="-122"/>
                <a:sym typeface="Arial" panose="020B0604020202020204"/>
              </a:rPr>
              <a:t>1. </a:t>
            </a:r>
            <a:r>
              <a:rPr lang="zh-CN" altLang="en-US" sz="1600" dirty="0">
                <a:latin typeface="Arial" panose="020B0604020202020204"/>
                <a:ea typeface="微软雅黑" panose="020B0503020204020204" charset="-122"/>
                <a:sym typeface="Arial" panose="020B0604020202020204"/>
              </a:rPr>
              <a:t>未到账先开票的需求请各单位严格遵照“预借发票”流程执行，违规开票销账拟列  入</a:t>
            </a:r>
            <a:r>
              <a:rPr lang="en-US" altLang="zh-CN" sz="1600" dirty="0">
                <a:latin typeface="Arial" panose="020B0604020202020204"/>
                <a:ea typeface="微软雅黑" panose="020B0503020204020204" charset="-122"/>
                <a:sym typeface="Arial" panose="020B0604020202020204"/>
              </a:rPr>
              <a:t>2</a:t>
            </a:r>
            <a:r>
              <a:rPr lang="zh-CN" altLang="en-US" sz="1600" dirty="0">
                <a:latin typeface="Arial" panose="020B0604020202020204"/>
                <a:ea typeface="微软雅黑" panose="020B0503020204020204" charset="-122"/>
                <a:sym typeface="Arial" panose="020B0604020202020204"/>
              </a:rPr>
              <a:t>季度发票通报考核。</a:t>
            </a:r>
            <a:endParaRPr lang="en-US" altLang="zh-CN" sz="1600" dirty="0">
              <a:latin typeface="Arial" panose="020B0604020202020204"/>
              <a:ea typeface="微软雅黑" panose="020B0503020204020204" charset="-122"/>
              <a:sym typeface="Arial" panose="020B0604020202020204"/>
            </a:endParaRPr>
          </a:p>
          <a:p>
            <a:pPr>
              <a:lnSpc>
                <a:spcPct val="150000"/>
              </a:lnSpc>
              <a:buClr>
                <a:srgbClr val="C00000"/>
              </a:buClr>
            </a:pPr>
            <a:r>
              <a:rPr lang="en-US" altLang="zh-CN" sz="1600" dirty="0">
                <a:latin typeface="Arial" panose="020B0604020202020204"/>
                <a:ea typeface="微软雅黑" panose="020B0503020204020204" charset="-122"/>
                <a:sym typeface="Arial" panose="020B0604020202020204"/>
              </a:rPr>
              <a:t>2. </a:t>
            </a:r>
            <a:r>
              <a:rPr lang="zh-CN" altLang="en-US" sz="1600" dirty="0">
                <a:latin typeface="Arial" panose="020B0604020202020204"/>
                <a:ea typeface="微软雅黑" panose="020B0503020204020204" charset="-122"/>
                <a:sym typeface="Arial" panose="020B0604020202020204"/>
              </a:rPr>
              <a:t>省公司已通知严禁未达账销账，同时分公司</a:t>
            </a:r>
            <a:r>
              <a:rPr lang="en-US" altLang="zh-CN" sz="1600" dirty="0">
                <a:latin typeface="Arial" panose="020B0604020202020204"/>
                <a:ea typeface="微软雅黑" panose="020B0503020204020204" charset="-122"/>
                <a:sym typeface="Arial" panose="020B0604020202020204"/>
              </a:rPr>
              <a:t>2</a:t>
            </a:r>
            <a:r>
              <a:rPr lang="zh-CN" altLang="en-US" sz="1600" dirty="0">
                <a:latin typeface="Arial" panose="020B0604020202020204"/>
                <a:ea typeface="微软雅黑" panose="020B0503020204020204" charset="-122"/>
                <a:sym typeface="Arial" panose="020B0604020202020204"/>
              </a:rPr>
              <a:t>季度执行还原欠费考核，请各单位加强营业款管理。</a:t>
            </a:r>
          </a:p>
        </p:txBody>
      </p:sp>
      <p:sp>
        <p:nvSpPr>
          <p:cNvPr id="10" name="矩形 9"/>
          <p:cNvSpPr/>
          <p:nvPr/>
        </p:nvSpPr>
        <p:spPr>
          <a:xfrm>
            <a:off x="881272" y="2264149"/>
            <a:ext cx="3962399" cy="465801"/>
          </a:xfrm>
          <a:prstGeom prst="rect">
            <a:avLst/>
          </a:prstGeom>
          <a:solidFill>
            <a:srgbClr val="C00000"/>
          </a:solidFill>
        </p:spPr>
        <p:txBody>
          <a:bodyPr wrap="square" anchor="ctr">
            <a:noAutofit/>
          </a:bodyPr>
          <a:lstStyle/>
          <a:p>
            <a:pPr algn="ctr"/>
            <a:r>
              <a:rPr lang="en-US" altLang="zh-CN" sz="2000" b="1" dirty="0">
                <a:solidFill>
                  <a:schemeClr val="bg1"/>
                </a:solidFill>
                <a:latin typeface="Arial" panose="020B0604020202020204"/>
                <a:ea typeface="微软雅黑" panose="020B0503020204020204" charset="-122"/>
                <a:sym typeface="Arial" panose="020B0604020202020204"/>
              </a:rPr>
              <a:t>1. </a:t>
            </a:r>
            <a:r>
              <a:rPr lang="zh-CN" altLang="en-US" sz="2000" b="1" dirty="0">
                <a:solidFill>
                  <a:schemeClr val="bg1"/>
                </a:solidFill>
                <a:latin typeface="Arial" panose="020B0604020202020204"/>
                <a:ea typeface="微软雅黑" panose="020B0503020204020204" charset="-122"/>
                <a:sym typeface="Arial" panose="020B0604020202020204"/>
              </a:rPr>
              <a:t>营业欠款账龄结构分析</a:t>
            </a:r>
            <a:endParaRPr lang="en-US" altLang="zh-CN" sz="2000" b="1" dirty="0">
              <a:solidFill>
                <a:schemeClr val="bg1"/>
              </a:solidFill>
              <a:latin typeface="Arial" panose="020B0604020202020204"/>
              <a:ea typeface="微软雅黑" panose="020B0503020204020204" charset="-122"/>
              <a:sym typeface="Arial" panose="020B0604020202020204"/>
            </a:endParaRPr>
          </a:p>
        </p:txBody>
      </p:sp>
      <p:sp>
        <p:nvSpPr>
          <p:cNvPr id="11" name="文本框 10"/>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grpId="0" nodeType="clickEffect">
                                  <p:stCondLst>
                                    <p:cond delay="1500"/>
                                  </p:stCondLst>
                                  <p:childTnLst>
                                    <p:animEffect transition="out" filter="fade">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animBg="1"/>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2031325" cy="646331"/>
          </a:xfrm>
          <a:prstGeom prst="rect">
            <a:avLst/>
          </a:prstGeom>
        </p:spPr>
        <p:txBody>
          <a:bodyPr wrap="none">
            <a:spAutoFit/>
          </a:bodyPr>
          <a:lstStyle/>
          <a:p>
            <a:pPr>
              <a:defRPr/>
            </a:pPr>
            <a:r>
              <a:rPr lang="zh-CN" altLang="en-US" sz="3600" b="1" dirty="0">
                <a:latin typeface="Arial" panose="020B0604020202020204"/>
                <a:ea typeface="微软雅黑" panose="020B0503020204020204" charset="-122"/>
                <a:sym typeface="Arial" panose="020B0604020202020204"/>
              </a:rPr>
              <a:t>风险管控</a:t>
            </a:r>
          </a:p>
        </p:txBody>
      </p:sp>
      <p:sp>
        <p:nvSpPr>
          <p:cNvPr id="3" name="矩形 2"/>
          <p:cNvSpPr/>
          <p:nvPr/>
        </p:nvSpPr>
        <p:spPr>
          <a:xfrm>
            <a:off x="1119809" y="2330409"/>
            <a:ext cx="3962399" cy="465801"/>
          </a:xfrm>
          <a:prstGeom prst="rect">
            <a:avLst/>
          </a:prstGeom>
          <a:solidFill>
            <a:srgbClr val="C00000"/>
          </a:solidFill>
        </p:spPr>
        <p:txBody>
          <a:bodyPr wrap="square" anchor="ctr">
            <a:noAutofit/>
          </a:bodyPr>
          <a:lstStyle/>
          <a:p>
            <a:pPr algn="ctr"/>
            <a:r>
              <a:rPr lang="zh-CN" altLang="en-US" sz="2000" b="1" dirty="0">
                <a:solidFill>
                  <a:schemeClr val="bg1"/>
                </a:solidFill>
                <a:latin typeface="Arial" panose="020B0604020202020204"/>
                <a:ea typeface="微软雅黑" panose="020B0503020204020204" charset="-122"/>
                <a:sym typeface="Arial" panose="020B0604020202020204"/>
              </a:rPr>
              <a:t> </a:t>
            </a:r>
            <a:r>
              <a:rPr lang="en-US" altLang="zh-CN" sz="2000" b="1" dirty="0">
                <a:solidFill>
                  <a:schemeClr val="bg1"/>
                </a:solidFill>
                <a:latin typeface="Arial" panose="020B0604020202020204"/>
                <a:ea typeface="微软雅黑" panose="020B0503020204020204" charset="-122"/>
                <a:sym typeface="Arial" panose="020B0604020202020204"/>
              </a:rPr>
              <a:t>2. </a:t>
            </a:r>
            <a:r>
              <a:rPr lang="zh-CN" altLang="en-US" sz="2000" b="1" dirty="0">
                <a:solidFill>
                  <a:schemeClr val="bg1"/>
                </a:solidFill>
                <a:latin typeface="Arial" panose="020B0604020202020204"/>
                <a:ea typeface="微软雅黑" panose="020B0503020204020204" charset="-122"/>
                <a:sym typeface="Arial" panose="020B0604020202020204"/>
              </a:rPr>
              <a:t>用户欠费账龄结构分析</a:t>
            </a:r>
            <a:endParaRPr lang="en-US" altLang="zh-CN" sz="2000" b="1" dirty="0">
              <a:solidFill>
                <a:schemeClr val="bg1"/>
              </a:solidFill>
              <a:latin typeface="Arial" panose="020B0604020202020204"/>
              <a:ea typeface="微软雅黑" panose="020B0503020204020204" charset="-122"/>
              <a:sym typeface="Arial" panose="020B0604020202020204"/>
            </a:endParaRPr>
          </a:p>
        </p:txBody>
      </p:sp>
      <p:graphicFrame>
        <p:nvGraphicFramePr>
          <p:cNvPr id="4" name="表格 3"/>
          <p:cNvGraphicFramePr>
            <a:graphicFrameLocks noGrp="1"/>
          </p:cNvGraphicFramePr>
          <p:nvPr/>
        </p:nvGraphicFramePr>
        <p:xfrm>
          <a:off x="1113184" y="2906608"/>
          <a:ext cx="5610087" cy="3215898"/>
        </p:xfrm>
        <a:graphic>
          <a:graphicData uri="http://schemas.openxmlformats.org/drawingml/2006/table">
            <a:tbl>
              <a:tblPr>
                <a:tableStyleId>{21E4AEA4-8DFA-4A89-87EB-49C32662AFE0}</a:tableStyleId>
              </a:tblPr>
              <a:tblGrid>
                <a:gridCol w="1820082"/>
                <a:gridCol w="748241"/>
                <a:gridCol w="817372"/>
                <a:gridCol w="748241"/>
                <a:gridCol w="792973"/>
                <a:gridCol w="683178"/>
              </a:tblGrid>
              <a:tr h="403335">
                <a:tc rowSpan="2">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账龄</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年初数</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4</a:t>
                      </a:r>
                      <a:r>
                        <a:rPr lang="zh-CN" altLang="en-US" sz="1400" u="none" strike="noStrike" dirty="0">
                          <a:solidFill>
                            <a:schemeClr val="bg1"/>
                          </a:solidFill>
                          <a:latin typeface="Arial" panose="020B0604020202020204"/>
                          <a:ea typeface="微软雅黑" panose="020B0503020204020204" charset="-122"/>
                          <a:sym typeface="Arial" panose="020B0604020202020204"/>
                        </a:rPr>
                        <a:t>月份</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增量</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其中：</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r>
              <a:tr h="401538">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固话</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移动</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401538">
                <a:tc>
                  <a:txBody>
                    <a:bodyPr/>
                    <a:lstStyle/>
                    <a:p>
                      <a:pPr algn="ctr" fontAlgn="t"/>
                      <a:r>
                        <a:rPr lang="zh-CN" altLang="en-US" sz="1400" u="none" strike="noStrike" dirty="0">
                          <a:latin typeface="Arial" panose="020B0604020202020204"/>
                          <a:ea typeface="微软雅黑" panose="020B0503020204020204" charset="-122"/>
                          <a:sym typeface="Arial" panose="020B0604020202020204"/>
                        </a:rPr>
                        <a:t>账龄＜</a:t>
                      </a:r>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个月</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3,074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3,198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124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400" u="none" strike="noStrike" dirty="0">
                          <a:latin typeface="Arial" panose="020B0604020202020204"/>
                          <a:ea typeface="微软雅黑" panose="020B0503020204020204" charset="-122"/>
                          <a:sym typeface="Arial" panose="020B0604020202020204"/>
                        </a:rPr>
                        <a:t>　</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zh-CN" altLang="en-US" sz="1400" u="none" strike="noStrike" dirty="0">
                          <a:latin typeface="Arial" panose="020B0604020202020204"/>
                          <a:ea typeface="微软雅黑" panose="020B0503020204020204" charset="-122"/>
                          <a:sym typeface="Arial" panose="020B0604020202020204"/>
                        </a:rPr>
                        <a:t>　</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401538">
                <a:tc>
                  <a:txBody>
                    <a:bodyPr/>
                    <a:lstStyle/>
                    <a:p>
                      <a:pPr algn="ctr" fontAlgn="t"/>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个月≤账龄≤</a:t>
                      </a:r>
                      <a:r>
                        <a:rPr lang="en-US" altLang="zh-CN" sz="1400" u="none" strike="noStrike" dirty="0">
                          <a:latin typeface="Arial" panose="020B0604020202020204"/>
                          <a:ea typeface="微软雅黑" panose="020B0503020204020204" charset="-122"/>
                          <a:sym typeface="Arial" panose="020B0604020202020204"/>
                        </a:rPr>
                        <a:t>2</a:t>
                      </a:r>
                      <a:r>
                        <a:rPr lang="zh-CN" altLang="en-US" sz="1400" u="none" strike="noStrike" dirty="0">
                          <a:latin typeface="Arial" panose="020B0604020202020204"/>
                          <a:ea typeface="微软雅黑" panose="020B0503020204020204" charset="-122"/>
                          <a:sym typeface="Arial" panose="020B0604020202020204"/>
                        </a:rPr>
                        <a:t>个月</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645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1,051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405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397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8</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401538">
                <a:tc>
                  <a:txBody>
                    <a:bodyPr/>
                    <a:lstStyle/>
                    <a:p>
                      <a:pPr algn="ctr" fontAlgn="t"/>
                      <a:r>
                        <a:rPr lang="en-US" altLang="zh-CN" sz="1400" u="none" strike="noStrike" dirty="0">
                          <a:latin typeface="Arial" panose="020B0604020202020204"/>
                          <a:ea typeface="微软雅黑" panose="020B0503020204020204" charset="-122"/>
                          <a:sym typeface="Arial" panose="020B0604020202020204"/>
                        </a:rPr>
                        <a:t>2</a:t>
                      </a:r>
                      <a:r>
                        <a:rPr lang="zh-CN" altLang="en-US" sz="1400" u="none" strike="noStrike" dirty="0">
                          <a:latin typeface="Arial" panose="020B0604020202020204"/>
                          <a:ea typeface="微软雅黑" panose="020B0503020204020204" charset="-122"/>
                          <a:sym typeface="Arial" panose="020B0604020202020204"/>
                        </a:rPr>
                        <a:t>个月＜账龄≤</a:t>
                      </a:r>
                      <a:r>
                        <a:rPr lang="en-US" altLang="zh-CN" sz="1400" u="none" strike="noStrike" dirty="0">
                          <a:latin typeface="Arial" panose="020B0604020202020204"/>
                          <a:ea typeface="微软雅黑" panose="020B0503020204020204" charset="-122"/>
                          <a:sym typeface="Arial" panose="020B0604020202020204"/>
                        </a:rPr>
                        <a:t>3</a:t>
                      </a:r>
                      <a:r>
                        <a:rPr lang="zh-CN" altLang="en-US" sz="1400" u="none" strike="noStrike" dirty="0">
                          <a:latin typeface="Arial" panose="020B0604020202020204"/>
                          <a:ea typeface="微软雅黑" panose="020B0503020204020204" charset="-122"/>
                          <a:sym typeface="Arial" panose="020B0604020202020204"/>
                        </a:rPr>
                        <a:t>个月</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128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175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47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63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401538">
                <a:tc>
                  <a:txBody>
                    <a:bodyPr/>
                    <a:lstStyle/>
                    <a:p>
                      <a:pPr algn="ctr" fontAlgn="t"/>
                      <a:r>
                        <a:rPr lang="en-US" altLang="zh-CN" sz="1400" u="none" strike="noStrike" dirty="0">
                          <a:latin typeface="Arial" panose="020B0604020202020204"/>
                          <a:ea typeface="微软雅黑" panose="020B0503020204020204" charset="-122"/>
                          <a:sym typeface="Arial" panose="020B0604020202020204"/>
                        </a:rPr>
                        <a:t>3</a:t>
                      </a:r>
                      <a:r>
                        <a:rPr lang="zh-CN" altLang="en-US" sz="1400" u="none" strike="noStrike" dirty="0">
                          <a:latin typeface="Arial" panose="020B0604020202020204"/>
                          <a:ea typeface="微软雅黑" panose="020B0503020204020204" charset="-122"/>
                          <a:sym typeface="Arial" panose="020B0604020202020204"/>
                        </a:rPr>
                        <a:t>个月＜账龄≤</a:t>
                      </a:r>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年</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956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951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-4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401538">
                <a:tc>
                  <a:txBody>
                    <a:bodyPr/>
                    <a:lstStyle/>
                    <a:p>
                      <a:pPr algn="ctr" fontAlgn="t"/>
                      <a:r>
                        <a:rPr lang="en-US" altLang="zh-CN" sz="1400" u="none" strike="noStrike" dirty="0">
                          <a:latin typeface="Arial" panose="020B0604020202020204"/>
                          <a:ea typeface="微软雅黑" panose="020B0503020204020204" charset="-122"/>
                          <a:sym typeface="Arial" panose="020B0604020202020204"/>
                        </a:rPr>
                        <a:t>1</a:t>
                      </a:r>
                      <a:r>
                        <a:rPr lang="zh-CN" altLang="en-US" sz="1400" u="none" strike="noStrike" dirty="0">
                          <a:latin typeface="Arial" panose="020B0604020202020204"/>
                          <a:ea typeface="微软雅黑" panose="020B0503020204020204" charset="-122"/>
                          <a:sym typeface="Arial" panose="020B0604020202020204"/>
                        </a:rPr>
                        <a:t>年＜账龄</a:t>
                      </a:r>
                      <a:endParaRPr lang="zh-CN" altLang="en-US"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105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500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396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171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fontAlgn="b"/>
                      <a:r>
                        <a:rPr lang="en-US" altLang="zh-CN" sz="1400" u="none" strike="noStrike" dirty="0">
                          <a:latin typeface="Arial" panose="020B0604020202020204"/>
                          <a:ea typeface="微软雅黑" panose="020B0503020204020204" charset="-122"/>
                          <a:sym typeface="Arial" panose="020B0604020202020204"/>
                        </a:rPr>
                        <a:t>225 </a:t>
                      </a:r>
                      <a:endParaRPr lang="en-US" altLang="zh-CN" sz="1400" b="0" i="0" u="none" strike="noStrike" dirty="0">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403335">
                <a:tc>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合  计</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4,908 </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5,875 </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b"/>
                      <a:r>
                        <a:rPr lang="en-US" altLang="zh-CN" sz="1400" u="none" strike="noStrike" dirty="0">
                          <a:solidFill>
                            <a:schemeClr val="bg1"/>
                          </a:solidFill>
                          <a:latin typeface="Arial" panose="020B0604020202020204"/>
                          <a:ea typeface="微软雅黑" panose="020B0503020204020204" charset="-122"/>
                          <a:sym typeface="Arial" panose="020B0604020202020204"/>
                        </a:rPr>
                        <a:t>967 </a:t>
                      </a:r>
                      <a:endParaRPr lang="en-US" altLang="zh-CN"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　</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c>
                  <a:txBody>
                    <a:bodyPr/>
                    <a:lstStyle/>
                    <a:p>
                      <a:pPr algn="ctr" fontAlgn="b"/>
                      <a:r>
                        <a:rPr lang="zh-CN" altLang="en-US" sz="1400" u="none" strike="noStrike" dirty="0">
                          <a:solidFill>
                            <a:schemeClr val="bg1"/>
                          </a:solidFill>
                          <a:latin typeface="Arial" panose="020B0604020202020204"/>
                          <a:ea typeface="微软雅黑" panose="020B0503020204020204" charset="-122"/>
                          <a:sym typeface="Arial" panose="020B0604020202020204"/>
                        </a:rPr>
                        <a:t>　</a:t>
                      </a:r>
                      <a:endParaRPr lang="zh-CN" altLang="en-US" sz="1400" b="0"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chemeClr val="tx1">
                        <a:lumMod val="65000"/>
                        <a:lumOff val="35000"/>
                      </a:schemeClr>
                    </a:solidFill>
                  </a:tcPr>
                </a:tc>
              </a:tr>
            </a:tbl>
          </a:graphicData>
        </a:graphic>
      </p:graphicFrame>
      <p:sp>
        <p:nvSpPr>
          <p:cNvPr id="5" name="矩形 4"/>
          <p:cNvSpPr/>
          <p:nvPr/>
        </p:nvSpPr>
        <p:spPr>
          <a:xfrm>
            <a:off x="7142922" y="2797503"/>
            <a:ext cx="4081669" cy="2754600"/>
          </a:xfrm>
          <a:prstGeom prst="rect">
            <a:avLst/>
          </a:prstGeom>
        </p:spPr>
        <p:txBody>
          <a:bodyPr wrap="square">
            <a:spAutoFit/>
          </a:bodyPr>
          <a:lstStyle/>
          <a:p>
            <a:pPr marL="171450" indent="-215900">
              <a:lnSpc>
                <a:spcPct val="150000"/>
              </a:lnSpc>
              <a:spcBef>
                <a:spcPts val="600"/>
              </a:spcBef>
              <a:buClr>
                <a:srgbClr val="C00000"/>
              </a:buClr>
              <a:buFont typeface="Wingdings" panose="05000000000000000000" pitchFamily="2" charset="2"/>
              <a:buChar char="l"/>
            </a:pPr>
            <a:r>
              <a:rPr lang="zh-CN" altLang="en-US" sz="1600" dirty="0">
                <a:latin typeface="Arial" panose="020B0604020202020204"/>
                <a:ea typeface="微软雅黑" panose="020B0503020204020204" charset="-122"/>
                <a:sym typeface="Arial" panose="020B0604020202020204"/>
              </a:rPr>
              <a:t>用户欠费较年初增</a:t>
            </a:r>
            <a:r>
              <a:rPr lang="en-US" altLang="zh-CN" sz="1600" dirty="0">
                <a:latin typeface="Arial" panose="020B0604020202020204"/>
                <a:ea typeface="微软雅黑" panose="020B0503020204020204" charset="-122"/>
                <a:sym typeface="Arial" panose="020B0604020202020204"/>
              </a:rPr>
              <a:t>967</a:t>
            </a:r>
            <a:r>
              <a:rPr lang="zh-CN" altLang="en-US" sz="1600" dirty="0">
                <a:latin typeface="Arial" panose="020B0604020202020204"/>
                <a:ea typeface="微软雅黑" panose="020B0503020204020204" charset="-122"/>
                <a:sym typeface="Arial" panose="020B0604020202020204"/>
              </a:rPr>
              <a:t>万元，主要是</a:t>
            </a:r>
            <a:r>
              <a:rPr lang="en-US" altLang="zh-CN" sz="1600" dirty="0">
                <a:latin typeface="Arial" panose="020B0604020202020204"/>
                <a:ea typeface="微软雅黑" panose="020B0503020204020204" charset="-122"/>
                <a:sym typeface="Arial" panose="020B0604020202020204"/>
              </a:rPr>
              <a:t>1-3</a:t>
            </a:r>
            <a:r>
              <a:rPr lang="zh-CN" altLang="en-US" sz="1600" dirty="0">
                <a:latin typeface="Arial" panose="020B0604020202020204"/>
                <a:ea typeface="微软雅黑" panose="020B0503020204020204" charset="-122"/>
                <a:sym typeface="Arial" panose="020B0604020202020204"/>
              </a:rPr>
              <a:t>月份账期新增欠费比年初增</a:t>
            </a:r>
            <a:r>
              <a:rPr lang="en-US" altLang="zh-CN" sz="1600" b="1" dirty="0">
                <a:latin typeface="Arial" panose="020B0604020202020204"/>
                <a:ea typeface="微软雅黑" panose="020B0503020204020204" charset="-122"/>
                <a:sym typeface="Arial" panose="020B0604020202020204"/>
              </a:rPr>
              <a:t>452</a:t>
            </a:r>
            <a:r>
              <a:rPr lang="zh-CN" altLang="en-US" sz="1600" b="1" dirty="0">
                <a:latin typeface="Arial" panose="020B0604020202020204"/>
                <a:ea typeface="微软雅黑" panose="020B0503020204020204" charset="-122"/>
                <a:sym typeface="Arial" panose="020B0604020202020204"/>
              </a:rPr>
              <a:t>万元</a:t>
            </a:r>
            <a:r>
              <a:rPr lang="zh-CN" altLang="en-US" sz="1600" dirty="0">
                <a:latin typeface="Arial" panose="020B0604020202020204"/>
                <a:ea typeface="微软雅黑" panose="020B0503020204020204" charset="-122"/>
                <a:sym typeface="Arial" panose="020B0604020202020204"/>
              </a:rPr>
              <a:t>（主要是固话用户欠费），</a:t>
            </a:r>
            <a:r>
              <a:rPr lang="en-US" altLang="zh-CN" sz="1600" dirty="0">
                <a:latin typeface="Arial" panose="020B0604020202020204"/>
                <a:ea typeface="微软雅黑" panose="020B0503020204020204" charset="-122"/>
                <a:sym typeface="Arial" panose="020B0604020202020204"/>
              </a:rPr>
              <a:t>1</a:t>
            </a:r>
            <a:r>
              <a:rPr lang="zh-CN" altLang="en-US" sz="1600" dirty="0">
                <a:latin typeface="Arial" panose="020B0604020202020204"/>
                <a:ea typeface="微软雅黑" panose="020B0503020204020204" charset="-122"/>
                <a:sym typeface="Arial" panose="020B0604020202020204"/>
              </a:rPr>
              <a:t>年以上账期坏账沉淀</a:t>
            </a:r>
            <a:r>
              <a:rPr lang="en-US" altLang="zh-CN" sz="1600" b="1" dirty="0">
                <a:latin typeface="Arial" panose="020B0604020202020204"/>
                <a:ea typeface="微软雅黑" panose="020B0503020204020204" charset="-122"/>
                <a:sym typeface="Arial" panose="020B0604020202020204"/>
              </a:rPr>
              <a:t>396</a:t>
            </a:r>
            <a:r>
              <a:rPr lang="zh-CN" altLang="en-US" sz="1600" b="1" dirty="0">
                <a:latin typeface="Arial" panose="020B0604020202020204"/>
                <a:ea typeface="微软雅黑" panose="020B0503020204020204" charset="-122"/>
                <a:sym typeface="Arial" panose="020B0604020202020204"/>
              </a:rPr>
              <a:t>万元</a:t>
            </a:r>
            <a:r>
              <a:rPr lang="zh-CN" altLang="en-US" sz="1600" dirty="0">
                <a:latin typeface="Arial" panose="020B0604020202020204"/>
                <a:ea typeface="微软雅黑" panose="020B0503020204020204" charset="-122"/>
                <a:sym typeface="Arial" panose="020B0604020202020204"/>
              </a:rPr>
              <a:t>（其中，固话用户欠费</a:t>
            </a:r>
            <a:r>
              <a:rPr lang="en-US" altLang="zh-CN" sz="1600" dirty="0">
                <a:latin typeface="Arial" panose="020B0604020202020204"/>
                <a:ea typeface="微软雅黑" panose="020B0503020204020204" charset="-122"/>
                <a:sym typeface="Arial" panose="020B0604020202020204"/>
              </a:rPr>
              <a:t>171</a:t>
            </a:r>
            <a:r>
              <a:rPr lang="zh-CN" altLang="en-US" sz="1600" dirty="0">
                <a:latin typeface="Arial" panose="020B0604020202020204"/>
                <a:ea typeface="微软雅黑" panose="020B0503020204020204" charset="-122"/>
                <a:sym typeface="Arial" panose="020B0604020202020204"/>
              </a:rPr>
              <a:t>万元，移动用户欠费</a:t>
            </a:r>
            <a:r>
              <a:rPr lang="en-US" altLang="zh-CN" sz="1600" dirty="0">
                <a:latin typeface="Arial" panose="020B0604020202020204"/>
                <a:ea typeface="微软雅黑" panose="020B0503020204020204" charset="-122"/>
                <a:sym typeface="Arial" panose="020B0604020202020204"/>
              </a:rPr>
              <a:t>225</a:t>
            </a:r>
            <a:r>
              <a:rPr lang="zh-CN" altLang="en-US" sz="1600" dirty="0">
                <a:latin typeface="Arial" panose="020B0604020202020204"/>
                <a:ea typeface="微软雅黑" panose="020B0503020204020204" charset="-122"/>
                <a:sym typeface="Arial" panose="020B0604020202020204"/>
              </a:rPr>
              <a:t>万元）。</a:t>
            </a:r>
            <a:endParaRPr lang="en-US" altLang="zh-CN" sz="1600" dirty="0">
              <a:latin typeface="Arial" panose="020B0604020202020204"/>
              <a:ea typeface="微软雅黑" panose="020B0503020204020204" charset="-122"/>
              <a:sym typeface="Arial" panose="020B0604020202020204"/>
            </a:endParaRPr>
          </a:p>
          <a:p>
            <a:pPr marL="171450" indent="-215900">
              <a:lnSpc>
                <a:spcPct val="150000"/>
              </a:lnSpc>
              <a:spcBef>
                <a:spcPts val="600"/>
              </a:spcBef>
              <a:buClr>
                <a:srgbClr val="C00000"/>
              </a:buClr>
              <a:buFont typeface="Wingdings" panose="05000000000000000000" pitchFamily="2" charset="2"/>
              <a:buChar char="l"/>
            </a:pPr>
            <a:r>
              <a:rPr lang="zh-CN" altLang="en-US" sz="1600" dirty="0">
                <a:latin typeface="Arial" panose="020B0604020202020204"/>
                <a:ea typeface="微软雅黑" panose="020B0503020204020204" charset="-122"/>
                <a:sym typeface="Arial" panose="020B0604020202020204"/>
              </a:rPr>
              <a:t>重点关注每月用户欠费的结构情况，分类采取不同的催缴措施，避免坏账沉淀。</a:t>
            </a:r>
          </a:p>
        </p:txBody>
      </p:sp>
      <p:sp>
        <p:nvSpPr>
          <p:cNvPr id="7" name="TextBox 8"/>
          <p:cNvSpPr txBox="1"/>
          <p:nvPr/>
        </p:nvSpPr>
        <p:spPr>
          <a:xfrm>
            <a:off x="5695902" y="2581628"/>
            <a:ext cx="1071570" cy="276999"/>
          </a:xfrm>
          <a:prstGeom prst="rect">
            <a:avLst/>
          </a:prstGeom>
          <a:noFill/>
        </p:spPr>
        <p:txBody>
          <a:bodyPr wrap="square" rtlCol="0">
            <a:spAutoFit/>
          </a:bodyPr>
          <a:lstStyle/>
          <a:p>
            <a:pPr algn="r"/>
            <a:r>
              <a:rPr lang="zh-CN" altLang="en-US" sz="1200" dirty="0">
                <a:latin typeface="Arial" panose="020B0604020202020204"/>
                <a:ea typeface="微软雅黑" panose="020B0503020204020204" charset="-122"/>
                <a:sym typeface="Arial" panose="020B0604020202020204"/>
              </a:rPr>
              <a:t>单位：万元</a:t>
            </a:r>
          </a:p>
        </p:txBody>
      </p:sp>
      <p:sp>
        <p:nvSpPr>
          <p:cNvPr id="9" name="六边形 8"/>
          <p:cNvSpPr/>
          <p:nvPr/>
        </p:nvSpPr>
        <p:spPr>
          <a:xfrm>
            <a:off x="4056472" y="1190249"/>
            <a:ext cx="4079056" cy="771073"/>
          </a:xfrm>
          <a:prstGeom prst="hexagon">
            <a:avLst>
              <a:gd name="adj" fmla="val 11604"/>
              <a:gd name="vf" fmla="val 115470"/>
            </a:avLst>
          </a:prstGeom>
          <a:solidFill>
            <a:schemeClr val="tx1">
              <a:lumMod val="65000"/>
              <a:lumOff val="35000"/>
            </a:schemeClr>
          </a:solidFill>
          <a:ln>
            <a:solidFill>
              <a:schemeClr val="tx1">
                <a:lumMod val="65000"/>
                <a:lumOff val="35000"/>
              </a:schemeClr>
            </a:solidFill>
          </a:ln>
        </p:spPr>
        <p:txBody>
          <a:bodyPr wrap="square" anchor="ctr">
            <a:noAutofit/>
          </a:bodyPr>
          <a:lstStyle/>
          <a:p>
            <a:pPr algn="ctr">
              <a:defRPr/>
            </a:pPr>
            <a:r>
              <a:rPr lang="zh-CN" altLang="en-US" sz="2800" dirty="0">
                <a:solidFill>
                  <a:schemeClr val="bg1"/>
                </a:solidFill>
                <a:latin typeface="Arial" panose="020B0604020202020204"/>
                <a:ea typeface="微软雅黑" panose="020B0503020204020204" charset="-122"/>
                <a:sym typeface="Arial" panose="020B0604020202020204"/>
              </a:rPr>
              <a:t> 应收账款分析</a:t>
            </a:r>
          </a:p>
        </p:txBody>
      </p:sp>
      <p:sp>
        <p:nvSpPr>
          <p:cNvPr id="10" name="文本框 9"/>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0" nodeType="clickEffect">
                                  <p:stCondLst>
                                    <p:cond delay="1500"/>
                                  </p:stCondLst>
                                  <p:childTnLst>
                                    <p:animEffect transition="out" filter="fade">
                                      <p:cBhvr>
                                        <p:cTn id="24" dur="500"/>
                                        <p:tgtEl>
                                          <p:spTgt spid="10"/>
                                        </p:tgtEl>
                                      </p:cBhvr>
                                    </p:animEffect>
                                    <p:set>
                                      <p:cBhvr>
                                        <p:cTn id="25"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等腰三角形 13"/>
          <p:cNvSpPr/>
          <p:nvPr/>
        </p:nvSpPr>
        <p:spPr>
          <a:xfrm>
            <a:off x="298175" y="500269"/>
            <a:ext cx="2297709" cy="5857461"/>
          </a:xfrm>
          <a:prstGeom prst="triangle">
            <a:avLst>
              <a:gd name="adj" fmla="val 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3" name="等腰三角形 12"/>
          <p:cNvSpPr/>
          <p:nvPr/>
        </p:nvSpPr>
        <p:spPr>
          <a:xfrm rot="10800000">
            <a:off x="11368083" y="132521"/>
            <a:ext cx="691393" cy="176254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nvGrpSpPr>
          <p:cNvPr id="2" name="组合 1"/>
          <p:cNvGrpSpPr>
            <a:grpSpLocks noChangeAspect="1"/>
          </p:cNvGrpSpPr>
          <p:nvPr/>
        </p:nvGrpSpPr>
        <p:grpSpPr>
          <a:xfrm>
            <a:off x="2792134" y="1755959"/>
            <a:ext cx="7910053" cy="2084866"/>
            <a:chOff x="5846980" y="951907"/>
            <a:chExt cx="5255998" cy="1385329"/>
          </a:xfrm>
        </p:grpSpPr>
        <p:sp>
          <p:nvSpPr>
            <p:cNvPr id="3" name="圆角矩形 2"/>
            <p:cNvSpPr/>
            <p:nvPr/>
          </p:nvSpPr>
          <p:spPr>
            <a:xfrm>
              <a:off x="5846980" y="1474039"/>
              <a:ext cx="1338224" cy="86319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 name="文本框 3"/>
            <p:cNvSpPr txBox="1"/>
            <p:nvPr/>
          </p:nvSpPr>
          <p:spPr>
            <a:xfrm>
              <a:off x="5920562" y="951907"/>
              <a:ext cx="1032342" cy="1042991"/>
            </a:xfrm>
            <a:prstGeom prst="rect">
              <a:avLst/>
            </a:prstGeom>
            <a:noFill/>
          </p:spPr>
          <p:txBody>
            <a:bodyPr wrap="none" rtlCol="0">
              <a:spAutoFit/>
            </a:bodyPr>
            <a:lstStyle/>
            <a:p>
              <a:r>
                <a:rPr lang="en-US" altLang="zh-CN"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rPr>
                <a:t>03</a:t>
              </a:r>
              <a:endParaRPr lang="zh-CN" altLang="en-US"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5" name="等腰三角形 4"/>
            <p:cNvSpPr/>
            <p:nvPr/>
          </p:nvSpPr>
          <p:spPr>
            <a:xfrm>
              <a:off x="6524700" y="1380399"/>
              <a:ext cx="1220141" cy="95683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6" name="平行四边形 5"/>
            <p:cNvSpPr/>
            <p:nvPr/>
          </p:nvSpPr>
          <p:spPr>
            <a:xfrm>
              <a:off x="6627568" y="1790036"/>
              <a:ext cx="4354494" cy="547200"/>
            </a:xfrm>
            <a:prstGeom prst="parallelogram">
              <a:avLst>
                <a:gd name="adj" fmla="val 6108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7" name="圆角矩形 6"/>
            <p:cNvSpPr/>
            <p:nvPr/>
          </p:nvSpPr>
          <p:spPr>
            <a:xfrm>
              <a:off x="7090801" y="1789704"/>
              <a:ext cx="4012177" cy="547532"/>
            </a:xfrm>
            <a:prstGeom prst="round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8" name="矩形 7"/>
            <p:cNvSpPr/>
            <p:nvPr/>
          </p:nvSpPr>
          <p:spPr>
            <a:xfrm>
              <a:off x="7534030" y="1855095"/>
              <a:ext cx="3035505" cy="429467"/>
            </a:xfrm>
            <a:prstGeom prst="rect">
              <a:avLst/>
            </a:prstGeom>
          </p:spPr>
          <p:txBody>
            <a:bodyPr wrap="square">
              <a:spAutoFit/>
            </a:bodyPr>
            <a:lstStyle/>
            <a:p>
              <a:pPr algn="ct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成本费用完成情况</a:t>
              </a:r>
            </a:p>
          </p:txBody>
        </p:sp>
        <p:sp>
          <p:nvSpPr>
            <p:cNvPr id="9" name="圆角矩形 8"/>
            <p:cNvSpPr/>
            <p:nvPr/>
          </p:nvSpPr>
          <p:spPr>
            <a:xfrm>
              <a:off x="10893057" y="1865480"/>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sp>
        <p:nvSpPr>
          <p:cNvPr id="11" name="等腰三角形 10"/>
          <p:cNvSpPr/>
          <p:nvPr/>
        </p:nvSpPr>
        <p:spPr>
          <a:xfrm>
            <a:off x="0" y="0"/>
            <a:ext cx="2690191" cy="685800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2" name="等腰三角形 11"/>
          <p:cNvSpPr/>
          <p:nvPr/>
        </p:nvSpPr>
        <p:spPr>
          <a:xfrm rot="10800000">
            <a:off x="11427830" y="0"/>
            <a:ext cx="764170" cy="1948069"/>
          </a:xfrm>
          <a:prstGeom prst="triangle">
            <a:avLst>
              <a:gd name="adj" fmla="val 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5" name="文本框 14"/>
          <p:cNvSpPr txBox="1"/>
          <p:nvPr/>
        </p:nvSpPr>
        <p:spPr>
          <a:xfrm>
            <a:off x="2980915" y="3204578"/>
            <a:ext cx="886781" cy="461665"/>
          </a:xfrm>
          <a:prstGeom prst="rect">
            <a:avLst/>
          </a:prstGeom>
          <a:noFill/>
        </p:spPr>
        <p:txBody>
          <a:bodyPr wrap="none" rtlCol="0">
            <a:spAutoFit/>
          </a:bodyPr>
          <a:lstStyle/>
          <a:p>
            <a:pPr algn="ctr"/>
            <a:r>
              <a:rPr lang="en-US" altLang="zh-CN" sz="2400" dirty="0">
                <a:solidFill>
                  <a:schemeClr val="bg1"/>
                </a:solidFill>
                <a:latin typeface="Arial" panose="020B0604020202020204"/>
                <a:ea typeface="微软雅黑" panose="020B0503020204020204" charset="-122"/>
                <a:sym typeface="Arial" panose="020B0604020202020204"/>
              </a:rPr>
              <a:t>Third</a:t>
            </a:r>
            <a:endParaRPr lang="zh-CN" altLang="en-US" sz="2400" dirty="0">
              <a:solidFill>
                <a:schemeClr val="bg1"/>
              </a:solidFill>
              <a:latin typeface="Arial" panose="020B0604020202020204"/>
              <a:ea typeface="微软雅黑" panose="020B0503020204020204" charset="-122"/>
              <a:sym typeface="Arial" panose="020B0604020202020204"/>
            </a:endParaRPr>
          </a:p>
        </p:txBody>
      </p:sp>
      <p:sp>
        <p:nvSpPr>
          <p:cNvPr id="16" name="文本框 15"/>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
        <p:nvSpPr>
          <p:cNvPr id="17" name="平行四边形 16"/>
          <p:cNvSpPr/>
          <p:nvPr/>
        </p:nvSpPr>
        <p:spPr>
          <a:xfrm flipH="1">
            <a:off x="-336884" y="1524000"/>
            <a:ext cx="2454440" cy="5350041"/>
          </a:xfrm>
          <a:prstGeom prst="parallelogram">
            <a:avLst>
              <a:gd name="adj" fmla="val 86044"/>
            </a:avLst>
          </a:prstGeom>
          <a:solidFill>
            <a:schemeClr val="tx1">
              <a:lumMod val="50000"/>
              <a:lumOff val="5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3416320" cy="646331"/>
          </a:xfrm>
          <a:prstGeom prst="rect">
            <a:avLst/>
          </a:prstGeom>
        </p:spPr>
        <p:txBody>
          <a:bodyPr wrap="none">
            <a:spAutoFit/>
          </a:bodyPr>
          <a:lstStyle/>
          <a:p>
            <a:pPr fontAlgn="auto">
              <a:spcBef>
                <a:spcPct val="50000"/>
              </a:spcBef>
              <a:spcAft>
                <a:spcPts val="0"/>
              </a:spcAft>
              <a:defRPr/>
            </a:pPr>
            <a:r>
              <a:rPr lang="zh-CN" altLang="en-US" sz="3600" b="1" dirty="0">
                <a:latin typeface="Arial" panose="020B0604020202020204"/>
                <a:ea typeface="微软雅黑" panose="020B0503020204020204" charset="-122"/>
                <a:sym typeface="Arial" panose="020B0604020202020204"/>
              </a:rPr>
              <a:t>各分项成本情况</a:t>
            </a:r>
          </a:p>
        </p:txBody>
      </p:sp>
      <p:graphicFrame>
        <p:nvGraphicFramePr>
          <p:cNvPr id="3" name="表格 2"/>
          <p:cNvGraphicFramePr>
            <a:graphicFrameLocks noGrp="1"/>
          </p:cNvGraphicFramePr>
          <p:nvPr/>
        </p:nvGraphicFramePr>
        <p:xfrm>
          <a:off x="940904" y="1245700"/>
          <a:ext cx="10429461" cy="5327377"/>
        </p:xfrm>
        <a:graphic>
          <a:graphicData uri="http://schemas.openxmlformats.org/drawingml/2006/table">
            <a:tbl>
              <a:tblPr>
                <a:tableStyleId>{21E4AEA4-8DFA-4A89-87EB-49C32662AFE0}</a:tableStyleId>
              </a:tblPr>
              <a:tblGrid>
                <a:gridCol w="2842974"/>
                <a:gridCol w="1344233"/>
                <a:gridCol w="940428"/>
                <a:gridCol w="816504"/>
                <a:gridCol w="827388"/>
                <a:gridCol w="899969"/>
                <a:gridCol w="783841"/>
                <a:gridCol w="987062"/>
                <a:gridCol w="987062"/>
              </a:tblGrid>
              <a:tr h="326836">
                <a:tc rowSpan="2">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项目</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省对地</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rowSpan="2">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本年累计</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b="1" u="none" strike="noStrike">
                          <a:solidFill>
                            <a:schemeClr val="bg1"/>
                          </a:solidFill>
                          <a:latin typeface="Arial" panose="020B0604020202020204"/>
                          <a:ea typeface="微软雅黑" panose="020B0503020204020204" charset="-122"/>
                          <a:sym typeface="Arial" panose="020B0604020202020204"/>
                        </a:rPr>
                        <a:t>预算</a:t>
                      </a:r>
                      <a:endParaRPr lang="zh-CN" altLang="en-US" sz="1400" b="1" i="0" u="none" strike="noStrike">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与时序进度比</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c rowSpan="2">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上年同期</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gridSpan="2">
                  <a:txBody>
                    <a:bodyPr/>
                    <a:lstStyle/>
                    <a:p>
                      <a:pPr algn="ctr"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与上年同期比</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hMerge="1">
                  <a:txBody>
                    <a:bodyPr/>
                    <a:lstStyle/>
                    <a:p>
                      <a:endParaRPr lang="zh-CN"/>
                    </a:p>
                  </a:txBody>
                  <a:tcPr/>
                </a:tc>
              </a:tr>
              <a:tr h="299746">
                <a:tc vMerge="1">
                  <a:txBody>
                    <a:bodyPr/>
                    <a:lstStyle/>
                    <a:p>
                      <a:endParaRPr lang="zh-CN"/>
                    </a:p>
                  </a:txBody>
                  <a:tcPr/>
                </a:tc>
                <a:tc>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预算</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vMerge="1">
                  <a:txBody>
                    <a:bodyPr/>
                    <a:lstStyle/>
                    <a:p>
                      <a:endParaRPr lang="zh-CN"/>
                    </a:p>
                  </a:txBody>
                  <a:tcPr/>
                </a:tc>
                <a:tc>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进度</a:t>
                      </a:r>
                      <a:r>
                        <a:rPr lang="en-US" altLang="zh-CN" sz="1400" b="1" u="none" strike="noStrike" dirty="0">
                          <a:solidFill>
                            <a:schemeClr val="bg1"/>
                          </a:solidFill>
                          <a:latin typeface="Arial" panose="020B0604020202020204"/>
                          <a:ea typeface="微软雅黑" panose="020B0503020204020204" charset="-122"/>
                          <a:sym typeface="Arial" panose="020B0604020202020204"/>
                        </a:rPr>
                        <a:t>%</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增幅</a:t>
                      </a:r>
                      <a:r>
                        <a:rPr lang="en-US" altLang="zh-CN" sz="1400" b="1" u="none" strike="noStrike" dirty="0">
                          <a:solidFill>
                            <a:schemeClr val="bg1"/>
                          </a:solidFill>
                          <a:latin typeface="Arial" panose="020B0604020202020204"/>
                          <a:ea typeface="微软雅黑" panose="020B0503020204020204" charset="-122"/>
                          <a:sym typeface="Arial" panose="020B0604020202020204"/>
                        </a:rPr>
                        <a:t>%</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金额</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vMerge="1">
                  <a:txBody>
                    <a:bodyPr/>
                    <a:lstStyle/>
                    <a:p>
                      <a:endParaRPr lang="zh-CN"/>
                    </a:p>
                  </a:txBody>
                  <a:tcPr/>
                </a:tc>
                <a:tc>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增幅</a:t>
                      </a:r>
                      <a:r>
                        <a:rPr lang="en-US" altLang="zh-CN" sz="1400" b="1" u="none" strike="noStrike" dirty="0">
                          <a:solidFill>
                            <a:schemeClr val="bg1"/>
                          </a:solidFill>
                          <a:latin typeface="Arial" panose="020B0604020202020204"/>
                          <a:ea typeface="微软雅黑" panose="020B0503020204020204" charset="-122"/>
                          <a:sym typeface="Arial" panose="020B0604020202020204"/>
                        </a:rPr>
                        <a:t>%</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c>
                  <a:txBody>
                    <a:bodyPr/>
                    <a:lstStyle/>
                    <a:p>
                      <a:pPr algn="ctr" rtl="0" fontAlgn="ctr"/>
                      <a:r>
                        <a:rPr lang="zh-CN" altLang="en-US" sz="1400" b="1" u="none" strike="noStrike" dirty="0">
                          <a:solidFill>
                            <a:schemeClr val="bg1"/>
                          </a:solidFill>
                          <a:latin typeface="Arial" panose="020B0604020202020204"/>
                          <a:ea typeface="微软雅黑" panose="020B0503020204020204" charset="-122"/>
                          <a:sym typeface="Arial" panose="020B0604020202020204"/>
                        </a:rPr>
                        <a:t>金额</a:t>
                      </a:r>
                      <a:endParaRPr lang="zh-CN" altLang="en-US" sz="1400" b="1" i="0" u="none" strike="noStrike" dirty="0">
                        <a:solidFill>
                          <a:schemeClr val="bg1"/>
                        </a:solidFill>
                        <a:latin typeface="Arial" panose="020B0604020202020204"/>
                        <a:ea typeface="微软雅黑" panose="020B0503020204020204" charset="-122"/>
                        <a:sym typeface="Arial" panose="020B0604020202020204"/>
                      </a:endParaRPr>
                    </a:p>
                  </a:txBody>
                  <a:tcPr marL="0" marR="0" marT="0" marB="0" anchor="ctr">
                    <a:solidFill>
                      <a:srgbClr val="C00000"/>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（一）折旧及摊销</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19240.00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6138.82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31.91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-1.43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-274.51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6103.45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0.58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35.37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（二）付现成本</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48081.00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15926.84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33.13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-0.21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-100.16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15634.93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1.87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291.91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en-US" altLang="zh-CN" sz="1200" b="0" u="none" strike="noStrike" dirty="0">
                          <a:latin typeface="Arial" panose="020B0604020202020204"/>
                          <a:ea typeface="微软雅黑" panose="020B0503020204020204" charset="-122"/>
                          <a:sym typeface="Arial" panose="020B0604020202020204"/>
                        </a:rPr>
                        <a:t>1</a:t>
                      </a:r>
                      <a:r>
                        <a:rPr lang="zh-CN" altLang="en-US" sz="1200" b="0" u="none" strike="noStrike" dirty="0">
                          <a:latin typeface="Arial" panose="020B0604020202020204"/>
                          <a:ea typeface="微软雅黑" panose="020B0503020204020204" charset="-122"/>
                          <a:sym typeface="Arial" panose="020B0604020202020204"/>
                        </a:rPr>
                        <a:t>、人工成本预算</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10460.00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a:latin typeface="Arial" panose="020B0604020202020204"/>
                          <a:ea typeface="微软雅黑" panose="020B0503020204020204" charset="-122"/>
                          <a:sym typeface="Arial" panose="020B0604020202020204"/>
                        </a:rPr>
                        <a:t>4038.76 </a:t>
                      </a:r>
                      <a:endParaRPr lang="en-US" altLang="zh-CN" sz="1200" b="0" i="0" u="none" strike="noStrike">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38.61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5.28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552.09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3568.39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13.18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470.37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en-US" altLang="zh-CN" sz="1200" b="0" u="none" strike="noStrike" dirty="0">
                          <a:latin typeface="Arial" panose="020B0604020202020204"/>
                          <a:ea typeface="微软雅黑" panose="020B0503020204020204" charset="-122"/>
                          <a:sym typeface="Arial" panose="020B0604020202020204"/>
                        </a:rPr>
                        <a:t>2</a:t>
                      </a:r>
                      <a:r>
                        <a:rPr lang="zh-CN" altLang="en-US" sz="1200" b="0" u="none" strike="noStrike" dirty="0">
                          <a:latin typeface="Arial" panose="020B0604020202020204"/>
                          <a:ea typeface="微软雅黑" panose="020B0503020204020204" charset="-122"/>
                          <a:sym typeface="Arial" panose="020B0604020202020204"/>
                        </a:rPr>
                        <a:t>、市场运营费用</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17131.00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5924.97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34.59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1.25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214.63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6172.99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-4.02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-248.02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80954">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a:t>
                      </a:r>
                      <a:r>
                        <a:rPr lang="en-US" altLang="zh-CN" sz="1200" b="0" u="none" strike="noStrike" dirty="0">
                          <a:latin typeface="Arial" panose="020B0604020202020204"/>
                          <a:ea typeface="微软雅黑" panose="020B0503020204020204" charset="-122"/>
                          <a:sym typeface="Arial" panose="020B0604020202020204"/>
                        </a:rPr>
                        <a:t>1</a:t>
                      </a:r>
                      <a:r>
                        <a:rPr lang="zh-CN" altLang="en-US" sz="1200" b="0" u="none" strike="noStrike" dirty="0">
                          <a:latin typeface="Arial" panose="020B0604020202020204"/>
                          <a:ea typeface="微软雅黑" panose="020B0503020204020204" charset="-122"/>
                          <a:sym typeface="Arial" panose="020B0604020202020204"/>
                        </a:rPr>
                        <a:t>）销售费用（含坏账、积分兑换）</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10422.00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4620.98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44.34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11.01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1146.98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4757.44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-2.87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-136.45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a:t>
                      </a:r>
                      <a:r>
                        <a:rPr lang="en-US" altLang="zh-CN" sz="1200" b="0" u="none" strike="noStrike" dirty="0">
                          <a:latin typeface="Arial" panose="020B0604020202020204"/>
                          <a:ea typeface="微软雅黑" panose="020B0503020204020204" charset="-122"/>
                          <a:sym typeface="Arial" panose="020B0604020202020204"/>
                        </a:rPr>
                        <a:t>2</a:t>
                      </a:r>
                      <a:r>
                        <a:rPr lang="zh-CN" altLang="en-US" sz="1200" b="0" u="none" strike="noStrike" dirty="0">
                          <a:latin typeface="Arial" panose="020B0604020202020204"/>
                          <a:ea typeface="微软雅黑" panose="020B0503020204020204" charset="-122"/>
                          <a:sym typeface="Arial" panose="020B0604020202020204"/>
                        </a:rPr>
                        <a:t>）专项运营费用</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6709.00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1303.99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19.44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-13.90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-932.35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1415.55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-7.88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-111.56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① 系统集成支出</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690.00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-33.33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-230.00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zh-CN" altLang="en-US" sz="1200" u="none" strike="noStrike" dirty="0">
                          <a:latin typeface="Arial" panose="020B0604020202020204"/>
                          <a:ea typeface="微软雅黑" panose="020B0503020204020204" charset="-122"/>
                          <a:sym typeface="Arial" panose="020B0604020202020204"/>
                        </a:rPr>
                        <a:t>　</a:t>
                      </a:r>
                      <a:r>
                        <a:rPr lang="en-US" altLang="zh-CN" sz="1200" u="none" strike="noStrike" dirty="0">
                          <a:latin typeface="Arial" panose="020B0604020202020204"/>
                          <a:ea typeface="微软雅黑" panose="020B0503020204020204" charset="-122"/>
                          <a:sym typeface="Arial" panose="020B0604020202020204"/>
                        </a:rPr>
                        <a:t>0.00</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② 号百信息服务成本</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200.00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12.63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6.31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-27.02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-54.04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17.50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-27.83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-4.87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③ 网间结算支出</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4920.00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1084.14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22.04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-11.30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-555.86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1243.16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-12.79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-159.01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④ 固网商品销售支出</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899.00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207.21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23.05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-10.28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-92.45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154.90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33.77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52.32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en-US" altLang="zh-CN" sz="1200" b="0" u="none" strike="noStrike" dirty="0">
                          <a:latin typeface="Arial" panose="020B0604020202020204"/>
                          <a:ea typeface="微软雅黑" panose="020B0503020204020204" charset="-122"/>
                          <a:sym typeface="Arial" panose="020B0604020202020204"/>
                        </a:rPr>
                        <a:t>3</a:t>
                      </a:r>
                      <a:r>
                        <a:rPr lang="zh-CN" altLang="en-US" sz="1200" b="0" u="none" strike="noStrike" dirty="0">
                          <a:latin typeface="Arial" panose="020B0604020202020204"/>
                          <a:ea typeface="微软雅黑" panose="020B0503020204020204" charset="-122"/>
                          <a:sym typeface="Arial" panose="020B0604020202020204"/>
                        </a:rPr>
                        <a:t>、网络运营费用</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18078.00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5446.19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30.13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-3.21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-579.81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5352.67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1.75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93.52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① 修理费用及低耗</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8500.00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2751.10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32.37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-0.97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-82.23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2782.89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-1.14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-31.79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② 支撑类业务费用</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a:latin typeface="Arial" panose="020B0604020202020204"/>
                          <a:ea typeface="微软雅黑" panose="020B0503020204020204" charset="-122"/>
                          <a:sym typeface="Arial" panose="020B0604020202020204"/>
                        </a:rPr>
                        <a:t>6678.00 </a:t>
                      </a:r>
                      <a:endParaRPr lang="en-US" altLang="zh-CN" sz="1200" b="0" i="0" u="none" strike="noStrike">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1975.72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29.59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-3.75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-250.28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1748.99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12.96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226.73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③ 能源类业务费用</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2900.00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719.37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24.81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-8.53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-247.30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820.79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-12.36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-101.42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④ 云分摊网络成本</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en-US" altLang="zh-CN" sz="1200" b="0" u="none" strike="noStrike" dirty="0">
                          <a:latin typeface="Arial" panose="020B0604020202020204"/>
                          <a:ea typeface="微软雅黑" panose="020B0503020204020204" charset="-122"/>
                          <a:sym typeface="Arial" panose="020B0604020202020204"/>
                        </a:rPr>
                        <a:t>4</a:t>
                      </a:r>
                      <a:r>
                        <a:rPr lang="zh-CN" altLang="en-US" sz="1200" b="0" u="none" strike="noStrike" dirty="0">
                          <a:latin typeface="Arial" panose="020B0604020202020204"/>
                          <a:ea typeface="微软雅黑" panose="020B0503020204020204" charset="-122"/>
                          <a:sym typeface="Arial" panose="020B0604020202020204"/>
                        </a:rPr>
                        <a:t>、管理费用</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1650.00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221.37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13.42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-19.92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-328.63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272.58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-18.79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-51.21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en-US" altLang="zh-CN" sz="1200" b="0" u="none" strike="noStrike" dirty="0">
                          <a:latin typeface="Arial" panose="020B0604020202020204"/>
                          <a:ea typeface="微软雅黑" panose="020B0503020204020204" charset="-122"/>
                          <a:sym typeface="Arial" panose="020B0604020202020204"/>
                        </a:rPr>
                        <a:t>5</a:t>
                      </a:r>
                      <a:r>
                        <a:rPr lang="zh-CN" altLang="en-US" sz="1200" b="0" u="none" strike="noStrike" dirty="0">
                          <a:latin typeface="Arial" panose="020B0604020202020204"/>
                          <a:ea typeface="微软雅黑" panose="020B0503020204020204" charset="-122"/>
                          <a:sym typeface="Arial" panose="020B0604020202020204"/>
                        </a:rPr>
                        <a:t>、其他</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762.00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294.13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38.60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5.27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40.13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266.87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10.21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27.25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② 移动商品销售支出</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92.00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29.50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32.07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-1.27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-1.16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9.96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196.20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19.54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  ③ 营业外收支净额预算</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670.00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264.62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39.50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6.16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41.29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256.91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7.71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r h="195533">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其中：固定资产和无形资产报废报损</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500.00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262.93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52.59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19.25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96.26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254.06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3.49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8.87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75000"/>
                      </a:schemeClr>
                    </a:solidFill>
                  </a:tcPr>
                </a:tc>
              </a:tr>
              <a:tr h="222332">
                <a:tc>
                  <a:txBody>
                    <a:bodyPr/>
                    <a:lstStyle/>
                    <a:p>
                      <a:pPr marL="71755" algn="l" rtl="0" fontAlgn="b"/>
                      <a:r>
                        <a:rPr lang="zh-CN" altLang="en-US" sz="1200" b="0" u="none" strike="noStrike" dirty="0">
                          <a:latin typeface="Arial" panose="020B0604020202020204"/>
                          <a:ea typeface="微软雅黑" panose="020B0503020204020204" charset="-122"/>
                          <a:sym typeface="Arial" panose="020B0604020202020204"/>
                        </a:rPr>
                        <a:t>成本费用合计</a:t>
                      </a:r>
                      <a:endParaRPr lang="zh-CN" altLang="en-US"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67321.00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22063.38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32.77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-0.56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-376.95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21724.44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1.56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c>
                  <a:txBody>
                    <a:bodyPr/>
                    <a:lstStyle/>
                    <a:p>
                      <a:pPr algn="ctr" rtl="0" fontAlgn="b"/>
                      <a:r>
                        <a:rPr lang="en-US" altLang="zh-CN" sz="1200" u="none" strike="noStrike" dirty="0">
                          <a:latin typeface="Arial" panose="020B0604020202020204"/>
                          <a:ea typeface="微软雅黑" panose="020B0503020204020204" charset="-122"/>
                          <a:sym typeface="Arial" panose="020B0604020202020204"/>
                        </a:rPr>
                        <a:t>338.94 </a:t>
                      </a:r>
                      <a:endParaRPr lang="en-US" altLang="zh-CN" sz="1200" b="0" i="0" u="none" strike="noStrike" dirty="0">
                        <a:solidFill>
                          <a:srgbClr val="010000"/>
                        </a:solidFill>
                        <a:latin typeface="Arial" panose="020B0604020202020204"/>
                        <a:ea typeface="微软雅黑" panose="020B0503020204020204" charset="-122"/>
                        <a:sym typeface="Arial" panose="020B0604020202020204"/>
                      </a:endParaRPr>
                    </a:p>
                  </a:txBody>
                  <a:tcPr marL="0" marR="0" marT="0" marB="0" anchor="ctr">
                    <a:solidFill>
                      <a:schemeClr val="bg1">
                        <a:lumMod val="85000"/>
                      </a:schemeClr>
                    </a:solidFill>
                  </a:tcPr>
                </a:tc>
              </a:tr>
            </a:tbl>
          </a:graphicData>
        </a:graphic>
      </p:graphicFrame>
      <p:sp>
        <p:nvSpPr>
          <p:cNvPr id="4" name="矩形 3"/>
          <p:cNvSpPr/>
          <p:nvPr/>
        </p:nvSpPr>
        <p:spPr>
          <a:xfrm>
            <a:off x="5075582" y="566501"/>
            <a:ext cx="6440557" cy="579646"/>
          </a:xfrm>
          <a:prstGeom prst="rect">
            <a:avLst/>
          </a:prstGeom>
        </p:spPr>
        <p:txBody>
          <a:bodyPr wrap="square">
            <a:spAutoFit/>
          </a:bodyPr>
          <a:lstStyle/>
          <a:p>
            <a:pPr>
              <a:lnSpc>
                <a:spcPts val="1900"/>
              </a:lnSpc>
            </a:pPr>
            <a:r>
              <a:rPr lang="zh-CN" altLang="en-US" sz="1600" b="1" dirty="0">
                <a:latin typeface="Arial" panose="020B0604020202020204"/>
                <a:ea typeface="微软雅黑" panose="020B0503020204020204" charset="-122"/>
                <a:sym typeface="Arial" panose="020B0604020202020204"/>
              </a:rPr>
              <a:t>总体完成情况：</a:t>
            </a:r>
            <a:endParaRPr lang="en-US" altLang="zh-CN" sz="1600" b="1" dirty="0">
              <a:latin typeface="Arial" panose="020B0604020202020204"/>
              <a:ea typeface="微软雅黑" panose="020B0503020204020204" charset="-122"/>
              <a:sym typeface="Arial" panose="020B0604020202020204"/>
            </a:endParaRPr>
          </a:p>
          <a:p>
            <a:pPr>
              <a:lnSpc>
                <a:spcPts val="1900"/>
              </a:lnSpc>
            </a:pPr>
            <a:r>
              <a:rPr lang="zh-CN" altLang="en-US" sz="1400" b="1" dirty="0">
                <a:latin typeface="Arial" panose="020B0604020202020204"/>
                <a:ea typeface="微软雅黑" panose="020B0503020204020204" charset="-122"/>
                <a:sym typeface="Arial" panose="020B0604020202020204"/>
              </a:rPr>
              <a:t>本年经营费用累计完成</a:t>
            </a:r>
            <a:r>
              <a:rPr lang="en-US" altLang="zh-CN" sz="1400" b="1" dirty="0">
                <a:solidFill>
                  <a:srgbClr val="FF0000"/>
                </a:solidFill>
                <a:latin typeface="Arial" panose="020B0604020202020204"/>
                <a:ea typeface="微软雅黑" panose="020B0503020204020204" charset="-122"/>
                <a:sym typeface="Arial" panose="020B0604020202020204"/>
              </a:rPr>
              <a:t>22063.38</a:t>
            </a:r>
            <a:r>
              <a:rPr lang="zh-CN" altLang="en-US" sz="1400" b="1" dirty="0">
                <a:latin typeface="Arial" panose="020B0604020202020204"/>
                <a:ea typeface="微软雅黑" panose="020B0503020204020204" charset="-122"/>
                <a:sym typeface="Arial" panose="020B0604020202020204"/>
              </a:rPr>
              <a:t>万元，低于时序进度</a:t>
            </a:r>
            <a:r>
              <a:rPr lang="en-US" altLang="zh-CN" sz="1400" b="1" dirty="0">
                <a:solidFill>
                  <a:srgbClr val="FF0000"/>
                </a:solidFill>
                <a:latin typeface="Arial" panose="020B0604020202020204"/>
                <a:ea typeface="微软雅黑" panose="020B0503020204020204" charset="-122"/>
                <a:sym typeface="Arial" panose="020B0604020202020204"/>
              </a:rPr>
              <a:t>0.56%</a:t>
            </a:r>
            <a:r>
              <a:rPr lang="zh-CN" altLang="en-US" sz="1400" b="1" dirty="0">
                <a:latin typeface="Arial" panose="020B0604020202020204"/>
                <a:ea typeface="微软雅黑" panose="020B0503020204020204" charset="-122"/>
                <a:sym typeface="Arial" panose="020B0604020202020204"/>
              </a:rPr>
              <a:t>（</a:t>
            </a:r>
            <a:r>
              <a:rPr lang="en-US" altLang="zh-CN" sz="1400" b="1" dirty="0">
                <a:latin typeface="Arial" panose="020B0604020202020204"/>
                <a:ea typeface="微软雅黑" panose="020B0503020204020204" charset="-122"/>
                <a:sym typeface="Arial" panose="020B0604020202020204"/>
              </a:rPr>
              <a:t>-376.95</a:t>
            </a:r>
            <a:r>
              <a:rPr lang="zh-CN" altLang="en-US" sz="1400" b="1" dirty="0">
                <a:latin typeface="Arial" panose="020B0604020202020204"/>
                <a:ea typeface="微软雅黑" panose="020B0503020204020204" charset="-122"/>
                <a:sym typeface="Arial" panose="020B0604020202020204"/>
              </a:rPr>
              <a:t>万元）</a:t>
            </a:r>
          </a:p>
        </p:txBody>
      </p:sp>
      <p:sp>
        <p:nvSpPr>
          <p:cNvPr id="5" name="文本框 4"/>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4339650" cy="646331"/>
          </a:xfrm>
          <a:prstGeom prst="rect">
            <a:avLst/>
          </a:prstGeom>
        </p:spPr>
        <p:txBody>
          <a:bodyPr wrap="none">
            <a:spAutoFit/>
          </a:bodyPr>
          <a:lstStyle/>
          <a:p>
            <a:pPr fontAlgn="auto">
              <a:spcBef>
                <a:spcPct val="50000"/>
              </a:spcBef>
              <a:spcAft>
                <a:spcPts val="0"/>
              </a:spcAft>
              <a:defRPr/>
            </a:pPr>
            <a:r>
              <a:rPr lang="zh-CN" altLang="en-US" sz="3600" b="1" dirty="0">
                <a:latin typeface="Arial" panose="020B0604020202020204"/>
                <a:ea typeface="微软雅黑" panose="020B0503020204020204" charset="-122"/>
                <a:sym typeface="Arial" panose="020B0604020202020204"/>
              </a:rPr>
              <a:t>固定资产与折旧情况</a:t>
            </a:r>
          </a:p>
        </p:txBody>
      </p:sp>
      <p:grpSp>
        <p:nvGrpSpPr>
          <p:cNvPr id="3" name="组合 2"/>
          <p:cNvGrpSpPr/>
          <p:nvPr/>
        </p:nvGrpSpPr>
        <p:grpSpPr>
          <a:xfrm>
            <a:off x="2389337" y="1561186"/>
            <a:ext cx="2284035" cy="1160059"/>
            <a:chOff x="1641295" y="1282890"/>
            <a:chExt cx="2284035" cy="1160059"/>
          </a:xfrm>
        </p:grpSpPr>
        <p:sp>
          <p:nvSpPr>
            <p:cNvPr id="4" name="椭圆 3"/>
            <p:cNvSpPr/>
            <p:nvPr/>
          </p:nvSpPr>
          <p:spPr bwMode="auto">
            <a:xfrm>
              <a:off x="2156346" y="1282890"/>
              <a:ext cx="1173708" cy="1160059"/>
            </a:xfrm>
            <a:prstGeom prst="ellipse">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5" name="圆角矩形 4"/>
            <p:cNvSpPr/>
            <p:nvPr/>
          </p:nvSpPr>
          <p:spPr>
            <a:xfrm>
              <a:off x="1641295" y="1904775"/>
              <a:ext cx="2284035" cy="408623"/>
            </a:xfrm>
            <a:prstGeom prst="roundRect">
              <a:avLst/>
            </a:prstGeom>
            <a:solidFill>
              <a:schemeClr val="tx1">
                <a:lumMod val="50000"/>
                <a:lumOff val="50000"/>
              </a:schemeClr>
            </a:solidFill>
            <a:ln w="57150">
              <a:noFill/>
            </a:ln>
          </p:spPr>
          <p:txBody>
            <a:bodyPr wrap="none" anchor="ctr">
              <a:noAutofit/>
            </a:bodyPr>
            <a:lstStyle/>
            <a:p>
              <a:pPr algn="ctr" eaLnBrk="0" fontAlgn="auto" hangingPunct="0">
                <a:spcBef>
                  <a:spcPts val="0"/>
                </a:spcBef>
                <a:spcAft>
                  <a:spcPts val="0"/>
                </a:spcAft>
                <a:defRPr/>
              </a:pPr>
              <a:r>
                <a:rPr lang="zh-CN" altLang="en-US" sz="1600" kern="0" dirty="0">
                  <a:solidFill>
                    <a:schemeClr val="bg1"/>
                  </a:solidFill>
                  <a:latin typeface="Arial" panose="020B0604020202020204"/>
                  <a:ea typeface="微软雅黑" panose="020B0503020204020204" charset="-122"/>
                  <a:sym typeface="Arial" panose="020B0604020202020204"/>
                </a:rPr>
                <a:t>折旧及摊销预算进度</a:t>
              </a:r>
              <a:endParaRPr lang="en-US" altLang="ko-KR" sz="1600" kern="0" dirty="0">
                <a:solidFill>
                  <a:schemeClr val="bg1"/>
                </a:solidFill>
                <a:latin typeface="Arial" panose="020B0604020202020204"/>
                <a:ea typeface="微软雅黑" panose="020B0503020204020204" charset="-122"/>
                <a:sym typeface="Arial" panose="020B0604020202020204"/>
              </a:endParaRPr>
            </a:p>
          </p:txBody>
        </p:sp>
      </p:grpSp>
      <p:grpSp>
        <p:nvGrpSpPr>
          <p:cNvPr id="6" name="组合 5"/>
          <p:cNvGrpSpPr/>
          <p:nvPr/>
        </p:nvGrpSpPr>
        <p:grpSpPr>
          <a:xfrm>
            <a:off x="7408872" y="1561186"/>
            <a:ext cx="2517100" cy="1160059"/>
            <a:chOff x="1484650" y="1282890"/>
            <a:chExt cx="2517100" cy="1160059"/>
          </a:xfrm>
        </p:grpSpPr>
        <p:sp>
          <p:nvSpPr>
            <p:cNvPr id="7" name="椭圆 6"/>
            <p:cNvSpPr/>
            <p:nvPr/>
          </p:nvSpPr>
          <p:spPr bwMode="auto">
            <a:xfrm>
              <a:off x="2156346" y="1282890"/>
              <a:ext cx="1173708" cy="1160059"/>
            </a:xfrm>
            <a:prstGeom prst="ellipse">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8" name="圆角矩形 7"/>
            <p:cNvSpPr/>
            <p:nvPr/>
          </p:nvSpPr>
          <p:spPr>
            <a:xfrm>
              <a:off x="1484650" y="1929595"/>
              <a:ext cx="2517100" cy="408623"/>
            </a:xfrm>
            <a:prstGeom prst="roundRect">
              <a:avLst/>
            </a:prstGeom>
            <a:solidFill>
              <a:schemeClr val="tx1">
                <a:lumMod val="50000"/>
                <a:lumOff val="50000"/>
              </a:schemeClr>
            </a:solidFill>
            <a:ln w="57150">
              <a:noFill/>
            </a:ln>
          </p:spPr>
          <p:txBody>
            <a:bodyPr wrap="none" anchor="ctr">
              <a:noAutofit/>
            </a:bodyPr>
            <a:lstStyle/>
            <a:p>
              <a:pPr algn="ctr" eaLnBrk="0" fontAlgn="auto" hangingPunct="0">
                <a:spcBef>
                  <a:spcPts val="0"/>
                </a:spcBef>
                <a:spcAft>
                  <a:spcPts val="0"/>
                </a:spcAft>
                <a:defRPr/>
              </a:pPr>
              <a:r>
                <a:rPr lang="zh-CN" altLang="en-US" sz="1600" kern="0" dirty="0">
                  <a:solidFill>
                    <a:schemeClr val="bg1"/>
                  </a:solidFill>
                  <a:latin typeface="Arial" panose="020B0604020202020204"/>
                  <a:ea typeface="微软雅黑" panose="020B0503020204020204" charset="-122"/>
                  <a:sym typeface="Arial" panose="020B0604020202020204"/>
                </a:rPr>
                <a:t>固定资产报废预算进度</a:t>
              </a:r>
              <a:endParaRPr lang="en-US" altLang="zh-CN" sz="1600" kern="0" dirty="0">
                <a:solidFill>
                  <a:schemeClr val="bg1"/>
                </a:solidFill>
                <a:latin typeface="Arial" panose="020B0604020202020204"/>
                <a:ea typeface="微软雅黑" panose="020B0503020204020204" charset="-122"/>
                <a:sym typeface="Arial" panose="020B0604020202020204"/>
              </a:endParaRPr>
            </a:p>
          </p:txBody>
        </p:sp>
      </p:grpSp>
      <p:pic>
        <p:nvPicPr>
          <p:cNvPr id="9" name="图片 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44939" y="1688731"/>
            <a:ext cx="406949" cy="542598"/>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510682" y="1730996"/>
            <a:ext cx="406949" cy="542598"/>
          </a:xfrm>
          <a:prstGeom prst="rect">
            <a:avLst/>
          </a:prstGeom>
        </p:spPr>
      </p:pic>
      <p:sp>
        <p:nvSpPr>
          <p:cNvPr id="11" name="矩形 10"/>
          <p:cNvSpPr/>
          <p:nvPr/>
        </p:nvSpPr>
        <p:spPr>
          <a:xfrm>
            <a:off x="1416001" y="2829702"/>
            <a:ext cx="4185751" cy="1061829"/>
          </a:xfrm>
          <a:prstGeom prst="rect">
            <a:avLst/>
          </a:prstGeom>
        </p:spPr>
        <p:txBody>
          <a:bodyPr wrap="square">
            <a:spAutoFit/>
          </a:bodyPr>
          <a:lstStyle/>
          <a:p>
            <a:pPr marL="285750" indent="-285750">
              <a:lnSpc>
                <a:spcPct val="150000"/>
              </a:lnSpc>
              <a:spcBef>
                <a:spcPts val="500"/>
              </a:spcBef>
              <a:buClr>
                <a:srgbClr val="C00000"/>
              </a:buClr>
              <a:buFont typeface="Wingdings" panose="05000000000000000000" pitchFamily="2" charset="2"/>
              <a:buChar char="l"/>
              <a:defRPr/>
            </a:pPr>
            <a:r>
              <a:rPr lang="zh-CN" altLang="en-US" sz="1400" kern="0" dirty="0">
                <a:latin typeface="Arial" panose="020B0604020202020204"/>
                <a:ea typeface="微软雅黑" panose="020B0503020204020204" charset="-122"/>
                <a:sym typeface="Arial" panose="020B0604020202020204"/>
              </a:rPr>
              <a:t>折旧摊销累计完成</a:t>
            </a:r>
            <a:r>
              <a:rPr lang="en-US" altLang="zh-CN" sz="1400" b="1" kern="0" dirty="0">
                <a:latin typeface="Arial" panose="020B0604020202020204"/>
                <a:ea typeface="微软雅黑" panose="020B0503020204020204" charset="-122"/>
                <a:sym typeface="Arial" panose="020B0604020202020204"/>
              </a:rPr>
              <a:t>6138.82</a:t>
            </a:r>
            <a:r>
              <a:rPr lang="zh-CN" altLang="en-US" sz="1400" kern="0" dirty="0">
                <a:latin typeface="Arial" panose="020B0604020202020204"/>
                <a:ea typeface="微软雅黑" panose="020B0503020204020204" charset="-122"/>
                <a:sym typeface="Arial" panose="020B0604020202020204"/>
              </a:rPr>
              <a:t>万元，低于时序进度</a:t>
            </a:r>
            <a:r>
              <a:rPr lang="en-US" altLang="zh-CN" sz="1400" b="1" kern="0" dirty="0">
                <a:latin typeface="Arial" panose="020B0604020202020204"/>
                <a:ea typeface="微软雅黑" panose="020B0503020204020204" charset="-122"/>
                <a:sym typeface="Arial" panose="020B0604020202020204"/>
              </a:rPr>
              <a:t>274.51</a:t>
            </a:r>
            <a:r>
              <a:rPr lang="zh-CN" altLang="en-US" sz="1400" kern="0" dirty="0">
                <a:latin typeface="Arial" panose="020B0604020202020204"/>
                <a:ea typeface="微软雅黑" panose="020B0503020204020204" charset="-122"/>
                <a:sym typeface="Arial" panose="020B0604020202020204"/>
              </a:rPr>
              <a:t>万元（</a:t>
            </a:r>
            <a:r>
              <a:rPr lang="en-US" altLang="zh-CN" sz="1400" b="1" kern="0" dirty="0">
                <a:latin typeface="Arial" panose="020B0604020202020204"/>
                <a:ea typeface="微软雅黑" panose="020B0503020204020204" charset="-122"/>
                <a:sym typeface="Arial" panose="020B0604020202020204"/>
              </a:rPr>
              <a:t>1.43%</a:t>
            </a:r>
            <a:r>
              <a:rPr lang="zh-CN" altLang="en-US" sz="1400" kern="0" dirty="0">
                <a:latin typeface="Arial" panose="020B0604020202020204"/>
                <a:ea typeface="微软雅黑" panose="020B0503020204020204" charset="-122"/>
                <a:sym typeface="Arial" panose="020B0604020202020204"/>
              </a:rPr>
              <a:t>），与时序进度差距较上月增大</a:t>
            </a:r>
            <a:r>
              <a:rPr lang="en-US" altLang="zh-CN" sz="1400" b="1" kern="0" dirty="0">
                <a:latin typeface="Arial" panose="020B0604020202020204"/>
                <a:ea typeface="微软雅黑" panose="020B0503020204020204" charset="-122"/>
                <a:sym typeface="Arial" panose="020B0604020202020204"/>
              </a:rPr>
              <a:t>0.45%</a:t>
            </a:r>
            <a:r>
              <a:rPr lang="zh-CN" altLang="en-US" sz="1400" kern="0" dirty="0">
                <a:latin typeface="Arial" panose="020B0604020202020204"/>
                <a:ea typeface="微软雅黑" panose="020B0503020204020204" charset="-122"/>
                <a:sym typeface="Arial" panose="020B0604020202020204"/>
              </a:rPr>
              <a:t>；</a:t>
            </a:r>
            <a:endParaRPr lang="en-US" altLang="zh-CN" sz="1400" kern="0" dirty="0">
              <a:latin typeface="Arial" panose="020B0604020202020204"/>
              <a:ea typeface="微软雅黑" panose="020B0503020204020204" charset="-122"/>
              <a:sym typeface="Arial" panose="020B0604020202020204"/>
            </a:endParaRPr>
          </a:p>
        </p:txBody>
      </p:sp>
      <p:sp>
        <p:nvSpPr>
          <p:cNvPr id="12" name="矩形 11"/>
          <p:cNvSpPr/>
          <p:nvPr/>
        </p:nvSpPr>
        <p:spPr>
          <a:xfrm>
            <a:off x="1422824" y="3938585"/>
            <a:ext cx="4288863" cy="2354491"/>
          </a:xfrm>
          <a:prstGeom prst="rect">
            <a:avLst/>
          </a:prstGeom>
        </p:spPr>
        <p:txBody>
          <a:bodyPr wrap="square">
            <a:spAutoFit/>
          </a:bodyPr>
          <a:lstStyle/>
          <a:p>
            <a:pPr marL="285750" indent="-285750">
              <a:lnSpc>
                <a:spcPct val="150000"/>
              </a:lnSpc>
              <a:spcBef>
                <a:spcPts val="500"/>
              </a:spcBef>
              <a:buClr>
                <a:srgbClr val="C00000"/>
              </a:buClr>
              <a:buFont typeface="Wingdings" panose="05000000000000000000" pitchFamily="2" charset="2"/>
              <a:buChar char="l"/>
              <a:defRPr/>
            </a:pPr>
            <a:r>
              <a:rPr lang="zh-CN" altLang="en-US" sz="1400" b="1" kern="0" dirty="0">
                <a:latin typeface="Arial" panose="020B0604020202020204"/>
                <a:ea typeface="微软雅黑" panose="020B0503020204020204" charset="-122"/>
                <a:sym typeface="Arial" panose="020B0604020202020204"/>
              </a:rPr>
              <a:t>折旧及摊销节余部分全额贡献利润</a:t>
            </a:r>
            <a:r>
              <a:rPr lang="zh-CN" altLang="en-US" sz="1400" kern="0" dirty="0">
                <a:latin typeface="Arial" panose="020B0604020202020204"/>
                <a:ea typeface="微软雅黑" panose="020B0503020204020204" charset="-122"/>
                <a:sym typeface="Arial" panose="020B0604020202020204"/>
              </a:rPr>
              <a:t>，请建设部加强工程项目进度管理，提高完工工程预转固、转固的力度，以便及时计提新资产的折旧；请各县区资产管理员协同本局政企部，对</a:t>
            </a:r>
            <a:r>
              <a:rPr lang="en-US" altLang="zh-CN" sz="1400" kern="0" dirty="0">
                <a:latin typeface="Arial" panose="020B0604020202020204"/>
                <a:ea typeface="微软雅黑" panose="020B0503020204020204" charset="-122"/>
                <a:sym typeface="Arial" panose="020B0604020202020204"/>
              </a:rPr>
              <a:t>IDC</a:t>
            </a:r>
            <a:r>
              <a:rPr lang="zh-CN" altLang="en-US" sz="1400" kern="0" dirty="0">
                <a:latin typeface="Arial" panose="020B0604020202020204"/>
                <a:ea typeface="微软雅黑" panose="020B0503020204020204" charset="-122"/>
                <a:sym typeface="Arial" panose="020B0604020202020204"/>
              </a:rPr>
              <a:t>、客户端资产的使用状况进行确认，如协议已到期且规定资产所有权归属客户，则应立即发起资产报废，以便对未逾龄资产全额补提折旧。</a:t>
            </a:r>
          </a:p>
        </p:txBody>
      </p:sp>
      <p:sp>
        <p:nvSpPr>
          <p:cNvPr id="13" name="矩形 12"/>
          <p:cNvSpPr/>
          <p:nvPr/>
        </p:nvSpPr>
        <p:spPr>
          <a:xfrm>
            <a:off x="6674943" y="2839756"/>
            <a:ext cx="4258100" cy="3064942"/>
          </a:xfrm>
          <a:prstGeom prst="rect">
            <a:avLst/>
          </a:prstGeom>
        </p:spPr>
        <p:txBody>
          <a:bodyPr wrap="square">
            <a:spAutoFit/>
          </a:bodyPr>
          <a:lstStyle/>
          <a:p>
            <a:pPr marL="285750" indent="-285750">
              <a:lnSpc>
                <a:spcPct val="150000"/>
              </a:lnSpc>
              <a:spcBef>
                <a:spcPts val="500"/>
              </a:spcBef>
              <a:buClr>
                <a:srgbClr val="C00000"/>
              </a:buClr>
              <a:buFont typeface="Wingdings" panose="05000000000000000000" pitchFamily="2" charset="2"/>
              <a:buChar char="l"/>
              <a:defRPr/>
            </a:pPr>
            <a:r>
              <a:rPr lang="zh-CN" altLang="en-US" sz="1400" kern="0" dirty="0">
                <a:latin typeface="Arial" panose="020B0604020202020204"/>
                <a:ea typeface="微软雅黑" panose="020B0503020204020204" charset="-122"/>
                <a:sym typeface="Arial" panose="020B0604020202020204"/>
              </a:rPr>
              <a:t>固定资产报废报损截止</a:t>
            </a:r>
            <a:r>
              <a:rPr lang="en-US" altLang="zh-CN" sz="1400" kern="0" dirty="0">
                <a:latin typeface="Arial" panose="020B0604020202020204"/>
                <a:ea typeface="微软雅黑" panose="020B0503020204020204" charset="-122"/>
                <a:sym typeface="Arial" panose="020B0604020202020204"/>
              </a:rPr>
              <a:t>4</a:t>
            </a:r>
            <a:r>
              <a:rPr lang="zh-CN" altLang="en-US" sz="1400" kern="0" dirty="0">
                <a:latin typeface="Arial" panose="020B0604020202020204"/>
                <a:ea typeface="微软雅黑" panose="020B0503020204020204" charset="-122"/>
                <a:sym typeface="Arial" panose="020B0604020202020204"/>
              </a:rPr>
              <a:t>月累计完成</a:t>
            </a:r>
            <a:r>
              <a:rPr lang="en-US" altLang="zh-CN" sz="1400" b="1" kern="0" dirty="0">
                <a:solidFill>
                  <a:srgbClr val="C00000"/>
                </a:solidFill>
                <a:latin typeface="Arial" panose="020B0604020202020204"/>
                <a:ea typeface="微软雅黑" panose="020B0503020204020204" charset="-122"/>
                <a:sym typeface="Arial" panose="020B0604020202020204"/>
              </a:rPr>
              <a:t>262.93</a:t>
            </a:r>
            <a:r>
              <a:rPr lang="zh-CN" altLang="en-US" sz="1400" kern="0" dirty="0">
                <a:latin typeface="Arial" panose="020B0604020202020204"/>
                <a:ea typeface="微软雅黑" panose="020B0503020204020204" charset="-122"/>
                <a:sym typeface="Arial" panose="020B0604020202020204"/>
              </a:rPr>
              <a:t>万元，占年度预算</a:t>
            </a:r>
            <a:r>
              <a:rPr lang="en-US" altLang="zh-CN" sz="1400" b="1" kern="0" dirty="0">
                <a:solidFill>
                  <a:srgbClr val="C00000"/>
                </a:solidFill>
                <a:latin typeface="Arial" panose="020B0604020202020204"/>
                <a:ea typeface="微软雅黑" panose="020B0503020204020204" charset="-122"/>
                <a:sym typeface="Arial" panose="020B0604020202020204"/>
              </a:rPr>
              <a:t>52.59%</a:t>
            </a:r>
            <a:r>
              <a:rPr lang="zh-CN" altLang="en-US" sz="1400" kern="0" dirty="0">
                <a:latin typeface="Arial" panose="020B0604020202020204"/>
                <a:ea typeface="微软雅黑" panose="020B0503020204020204" charset="-122"/>
                <a:sym typeface="Arial" panose="020B0604020202020204"/>
              </a:rPr>
              <a:t>，按省公司要求，第二季度末报废预算完成率应不低于</a:t>
            </a:r>
            <a:r>
              <a:rPr lang="en-US" altLang="zh-CN" sz="1400" b="1" kern="0" dirty="0">
                <a:solidFill>
                  <a:srgbClr val="C00000"/>
                </a:solidFill>
                <a:latin typeface="Arial" panose="020B0604020202020204"/>
                <a:ea typeface="微软雅黑" panose="020B0503020204020204" charset="-122"/>
                <a:sym typeface="Arial" panose="020B0604020202020204"/>
              </a:rPr>
              <a:t>80%</a:t>
            </a:r>
            <a:r>
              <a:rPr lang="zh-CN" altLang="en-US" sz="1400" kern="0" dirty="0">
                <a:latin typeface="Arial" panose="020B0604020202020204"/>
                <a:ea typeface="微软雅黑" panose="020B0503020204020204" charset="-122"/>
                <a:sym typeface="Arial" panose="020B0604020202020204"/>
              </a:rPr>
              <a:t>，目前缺口为</a:t>
            </a:r>
            <a:r>
              <a:rPr lang="en-US" altLang="zh-CN" sz="1400" b="1" kern="0" dirty="0">
                <a:solidFill>
                  <a:srgbClr val="C00000"/>
                </a:solidFill>
                <a:latin typeface="Arial" panose="020B0604020202020204"/>
                <a:ea typeface="微软雅黑" panose="020B0503020204020204" charset="-122"/>
                <a:sym typeface="Arial" panose="020B0604020202020204"/>
              </a:rPr>
              <a:t>137.05</a:t>
            </a:r>
            <a:r>
              <a:rPr lang="zh-CN" altLang="en-US" sz="1400" kern="0" dirty="0">
                <a:latin typeface="Arial" panose="020B0604020202020204"/>
                <a:ea typeface="微软雅黑" panose="020B0503020204020204" charset="-122"/>
                <a:sym typeface="Arial" panose="020B0604020202020204"/>
              </a:rPr>
              <a:t>万元（</a:t>
            </a:r>
            <a:r>
              <a:rPr lang="en-US" altLang="zh-CN" sz="1400" b="1" kern="0" dirty="0">
                <a:solidFill>
                  <a:srgbClr val="C00000"/>
                </a:solidFill>
                <a:latin typeface="Arial" panose="020B0604020202020204"/>
                <a:ea typeface="微软雅黑" panose="020B0503020204020204" charset="-122"/>
                <a:sym typeface="Arial" panose="020B0604020202020204"/>
              </a:rPr>
              <a:t>27.41%</a:t>
            </a:r>
            <a:r>
              <a:rPr lang="zh-CN" altLang="en-US" sz="1400" kern="0" dirty="0">
                <a:latin typeface="Arial" panose="020B0604020202020204"/>
                <a:ea typeface="微软雅黑" panose="020B0503020204020204" charset="-122"/>
                <a:sym typeface="Arial" panose="020B0604020202020204"/>
              </a:rPr>
              <a:t>）。</a:t>
            </a:r>
            <a:endParaRPr lang="en-US" altLang="zh-CN" sz="1400" kern="0" dirty="0">
              <a:latin typeface="Arial" panose="020B0604020202020204"/>
              <a:ea typeface="微软雅黑" panose="020B0503020204020204" charset="-122"/>
              <a:sym typeface="Arial" panose="020B0604020202020204"/>
            </a:endParaRPr>
          </a:p>
          <a:p>
            <a:pPr marL="285750" indent="-285750">
              <a:lnSpc>
                <a:spcPct val="150000"/>
              </a:lnSpc>
              <a:spcBef>
                <a:spcPts val="500"/>
              </a:spcBef>
              <a:buClr>
                <a:srgbClr val="C00000"/>
              </a:buClr>
              <a:buFont typeface="Wingdings" panose="05000000000000000000" pitchFamily="2" charset="2"/>
              <a:buChar char="l"/>
              <a:defRPr/>
            </a:pPr>
            <a:r>
              <a:rPr lang="zh-CN" altLang="en-US" sz="1400" kern="0" dirty="0">
                <a:latin typeface="Arial" panose="020B0604020202020204"/>
                <a:ea typeface="微软雅黑" panose="020B0503020204020204" charset="-122"/>
                <a:sym typeface="Arial" panose="020B0604020202020204"/>
              </a:rPr>
              <a:t>请网络运营部牵头，结合网络优化进度，做好资产盘点清退工作，跟踪本月</a:t>
            </a:r>
            <a:r>
              <a:rPr lang="en-US" altLang="zh-CN" sz="1400" kern="0" dirty="0">
                <a:latin typeface="Arial" panose="020B0604020202020204"/>
                <a:ea typeface="微软雅黑" panose="020B0503020204020204" charset="-122"/>
                <a:sym typeface="Arial" panose="020B0604020202020204"/>
              </a:rPr>
              <a:t>WIFI</a:t>
            </a:r>
            <a:r>
              <a:rPr lang="zh-CN" altLang="en-US" sz="1400" kern="0" dirty="0">
                <a:latin typeface="Arial" panose="020B0604020202020204"/>
                <a:ea typeface="微软雅黑" panose="020B0503020204020204" charset="-122"/>
                <a:sym typeface="Arial" panose="020B0604020202020204"/>
              </a:rPr>
              <a:t>资产清查中发现的</a:t>
            </a:r>
            <a:r>
              <a:rPr lang="en-US" altLang="zh-CN" sz="1400" kern="0" dirty="0">
                <a:latin typeface="Arial" panose="020B0604020202020204"/>
                <a:ea typeface="微软雅黑" panose="020B0503020204020204" charset="-122"/>
                <a:sym typeface="Arial" panose="020B0604020202020204"/>
              </a:rPr>
              <a:t>AP</a:t>
            </a:r>
            <a:r>
              <a:rPr lang="zh-CN" altLang="en-US" sz="1400" kern="0" dirty="0">
                <a:latin typeface="Arial" panose="020B0604020202020204"/>
                <a:ea typeface="微软雅黑" panose="020B0503020204020204" charset="-122"/>
                <a:sym typeface="Arial" panose="020B0604020202020204"/>
              </a:rPr>
              <a:t>、交换机等实物已拆除资产的报废流程，并督促各县区尽快发起退网站点的固资报废申请，确保第二季度按要求完成报废预算。</a:t>
            </a:r>
            <a:endParaRPr lang="en-US" altLang="zh-CN" sz="1400" kern="0" dirty="0">
              <a:latin typeface="Arial" panose="020B0604020202020204"/>
              <a:ea typeface="微软雅黑" panose="020B0503020204020204" charset="-122"/>
              <a:sym typeface="Arial" panose="020B0604020202020204"/>
            </a:endParaRPr>
          </a:p>
        </p:txBody>
      </p:sp>
      <p:sp>
        <p:nvSpPr>
          <p:cNvPr id="14" name="文本框 13"/>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500" fill="hold"/>
                                        <p:tgtEl>
                                          <p:spTgt spid="6"/>
                                        </p:tgtEl>
                                        <p:attrNameLst>
                                          <p:attrName>ppt_w</p:attrName>
                                        </p:attrNameLst>
                                      </p:cBhvr>
                                      <p:tavLst>
                                        <p:tav tm="0">
                                          <p:val>
                                            <p:fltVal val="0"/>
                                          </p:val>
                                        </p:tav>
                                        <p:tav tm="100000">
                                          <p:val>
                                            <p:strVal val="#ppt_w"/>
                                          </p:val>
                                        </p:tav>
                                      </p:tavLst>
                                    </p:anim>
                                    <p:anim calcmode="lin" valueType="num">
                                      <p:cBhvr>
                                        <p:cTn id="30" dur="500" fill="hold"/>
                                        <p:tgtEl>
                                          <p:spTgt spid="6"/>
                                        </p:tgtEl>
                                        <p:attrNameLst>
                                          <p:attrName>ppt_h</p:attrName>
                                        </p:attrNameLst>
                                      </p:cBhvr>
                                      <p:tavLst>
                                        <p:tav tm="0">
                                          <p:val>
                                            <p:fltVal val="0"/>
                                          </p:val>
                                        </p:tav>
                                        <p:tav tm="100000">
                                          <p:val>
                                            <p:strVal val="#ppt_h"/>
                                          </p:val>
                                        </p:tav>
                                      </p:tavLst>
                                    </p:anim>
                                    <p:animEffect transition="in" filter="fade">
                                      <p:cBhvr>
                                        <p:cTn id="31" dur="500"/>
                                        <p:tgtEl>
                                          <p:spTgt spid="6"/>
                                        </p:tgtEl>
                                      </p:cBhvr>
                                    </p:animEffect>
                                  </p:childTnLst>
                                </p:cTn>
                              </p:par>
                              <p:par>
                                <p:cTn id="32" presetID="53" presetClass="entr" presetSubtype="16"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p:cTn id="34" dur="500" fill="hold"/>
                                        <p:tgtEl>
                                          <p:spTgt spid="10"/>
                                        </p:tgtEl>
                                        <p:attrNameLst>
                                          <p:attrName>ppt_w</p:attrName>
                                        </p:attrNameLst>
                                      </p:cBhvr>
                                      <p:tavLst>
                                        <p:tav tm="0">
                                          <p:val>
                                            <p:fltVal val="0"/>
                                          </p:val>
                                        </p:tav>
                                        <p:tav tm="100000">
                                          <p:val>
                                            <p:strVal val="#ppt_w"/>
                                          </p:val>
                                        </p:tav>
                                      </p:tavLst>
                                    </p:anim>
                                    <p:anim calcmode="lin" valueType="num">
                                      <p:cBhvr>
                                        <p:cTn id="35" dur="500" fill="hold"/>
                                        <p:tgtEl>
                                          <p:spTgt spid="10"/>
                                        </p:tgtEl>
                                        <p:attrNameLst>
                                          <p:attrName>ppt_h</p:attrName>
                                        </p:attrNameLst>
                                      </p:cBhvr>
                                      <p:tavLst>
                                        <p:tav tm="0">
                                          <p:val>
                                            <p:fltVal val="0"/>
                                          </p:val>
                                        </p:tav>
                                        <p:tav tm="100000">
                                          <p:val>
                                            <p:strVal val="#ppt_h"/>
                                          </p:val>
                                        </p:tav>
                                      </p:tavLst>
                                    </p:anim>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0" nodeType="clickEffect">
                                  <p:stCondLst>
                                    <p:cond delay="1500"/>
                                  </p:stCondLst>
                                  <p:childTnLst>
                                    <p:animEffect transition="out" filter="fade">
                                      <p:cBhvr>
                                        <p:cTn id="45" dur="500"/>
                                        <p:tgtEl>
                                          <p:spTgt spid="14"/>
                                        </p:tgtEl>
                                      </p:cBhvr>
                                    </p:animEffect>
                                    <p:set>
                                      <p:cBhvr>
                                        <p:cTn id="46"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等腰三角形 13"/>
          <p:cNvSpPr/>
          <p:nvPr/>
        </p:nvSpPr>
        <p:spPr>
          <a:xfrm>
            <a:off x="298175" y="500269"/>
            <a:ext cx="2297709" cy="5857461"/>
          </a:xfrm>
          <a:prstGeom prst="triangle">
            <a:avLst>
              <a:gd name="adj" fmla="val 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3" name="等腰三角形 12"/>
          <p:cNvSpPr/>
          <p:nvPr/>
        </p:nvSpPr>
        <p:spPr>
          <a:xfrm rot="10800000">
            <a:off x="11368083" y="132521"/>
            <a:ext cx="691393" cy="176254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nvGrpSpPr>
          <p:cNvPr id="2" name="组合 1"/>
          <p:cNvGrpSpPr>
            <a:grpSpLocks noChangeAspect="1"/>
          </p:cNvGrpSpPr>
          <p:nvPr/>
        </p:nvGrpSpPr>
        <p:grpSpPr>
          <a:xfrm>
            <a:off x="2792134" y="1755959"/>
            <a:ext cx="7910053" cy="2084866"/>
            <a:chOff x="5846980" y="951907"/>
            <a:chExt cx="5255998" cy="1385329"/>
          </a:xfrm>
        </p:grpSpPr>
        <p:sp>
          <p:nvSpPr>
            <p:cNvPr id="3" name="圆角矩形 2"/>
            <p:cNvSpPr/>
            <p:nvPr/>
          </p:nvSpPr>
          <p:spPr>
            <a:xfrm>
              <a:off x="5846980" y="1474039"/>
              <a:ext cx="1338224" cy="86319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 name="文本框 3"/>
            <p:cNvSpPr txBox="1"/>
            <p:nvPr/>
          </p:nvSpPr>
          <p:spPr>
            <a:xfrm>
              <a:off x="5920562" y="951907"/>
              <a:ext cx="1032342" cy="1042991"/>
            </a:xfrm>
            <a:prstGeom prst="rect">
              <a:avLst/>
            </a:prstGeom>
            <a:noFill/>
          </p:spPr>
          <p:txBody>
            <a:bodyPr wrap="none" rtlCol="0">
              <a:spAutoFit/>
            </a:bodyPr>
            <a:lstStyle/>
            <a:p>
              <a:r>
                <a:rPr lang="en-US" altLang="zh-CN"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rPr>
                <a:t>04</a:t>
              </a:r>
              <a:endParaRPr lang="zh-CN" altLang="en-US" sz="9600" dirty="0">
                <a:solidFill>
                  <a:srgbClr val="C00000"/>
                </a:solidFill>
                <a:effectLst>
                  <a:outerShdw blurRad="50800" dist="38100" dir="5400000" algn="t" rotWithShape="0">
                    <a:prstClr val="black">
                      <a:alpha val="40000"/>
                    </a:prstClr>
                  </a:outerShdw>
                </a:effectLst>
                <a:latin typeface="Arial" panose="020B0604020202020204"/>
                <a:ea typeface="微软雅黑" panose="020B0503020204020204" charset="-122"/>
                <a:cs typeface="Arial Unicode MS" panose="020B0604020202020204" pitchFamily="34" charset="-122"/>
                <a:sym typeface="Arial" panose="020B0604020202020204"/>
              </a:endParaRPr>
            </a:p>
          </p:txBody>
        </p:sp>
        <p:sp>
          <p:nvSpPr>
            <p:cNvPr id="5" name="等腰三角形 4"/>
            <p:cNvSpPr/>
            <p:nvPr/>
          </p:nvSpPr>
          <p:spPr>
            <a:xfrm>
              <a:off x="6524700" y="1380399"/>
              <a:ext cx="1220141" cy="95683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6" name="平行四边形 5"/>
            <p:cNvSpPr/>
            <p:nvPr/>
          </p:nvSpPr>
          <p:spPr>
            <a:xfrm>
              <a:off x="6627568" y="1790036"/>
              <a:ext cx="4354494" cy="547200"/>
            </a:xfrm>
            <a:prstGeom prst="parallelogram">
              <a:avLst>
                <a:gd name="adj" fmla="val 6108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7" name="圆角矩形 6"/>
            <p:cNvSpPr/>
            <p:nvPr/>
          </p:nvSpPr>
          <p:spPr>
            <a:xfrm>
              <a:off x="7090801" y="1789704"/>
              <a:ext cx="4012177" cy="547532"/>
            </a:xfrm>
            <a:prstGeom prst="round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Arial" panose="020B0604020202020204"/>
                <a:ea typeface="微软雅黑" panose="020B0503020204020204" charset="-122"/>
                <a:sym typeface="Arial" panose="020B0604020202020204"/>
              </a:endParaRPr>
            </a:p>
          </p:txBody>
        </p:sp>
        <p:sp>
          <p:nvSpPr>
            <p:cNvPr id="8" name="矩形 7"/>
            <p:cNvSpPr/>
            <p:nvPr/>
          </p:nvSpPr>
          <p:spPr>
            <a:xfrm>
              <a:off x="7534030" y="1855095"/>
              <a:ext cx="3035505" cy="429467"/>
            </a:xfrm>
            <a:prstGeom prst="rect">
              <a:avLst/>
            </a:prstGeom>
          </p:spPr>
          <p:txBody>
            <a:bodyPr wrap="square">
              <a:spAutoFit/>
            </a:bodyPr>
            <a:lstStyle/>
            <a:p>
              <a:pPr algn="ctr" fontAlgn="auto">
                <a:spcBef>
                  <a:spcPts val="0"/>
                </a:spcBef>
                <a:spcAft>
                  <a:spcPts val="0"/>
                </a:spcAft>
                <a:defRPr/>
              </a:pPr>
              <a:r>
                <a:rPr lang="zh-CN" altLang="en-US" sz="3600" b="1" dirty="0">
                  <a:latin typeface="Arial" panose="020B0604020202020204"/>
                  <a:ea typeface="微软雅黑" panose="020B0503020204020204" charset="-122"/>
                  <a:sym typeface="Arial" panose="020B0604020202020204"/>
                </a:rPr>
                <a:t>专题分析</a:t>
              </a:r>
            </a:p>
          </p:txBody>
        </p:sp>
        <p:sp>
          <p:nvSpPr>
            <p:cNvPr id="9" name="圆角矩形 8"/>
            <p:cNvSpPr/>
            <p:nvPr/>
          </p:nvSpPr>
          <p:spPr>
            <a:xfrm>
              <a:off x="10893057" y="1865480"/>
              <a:ext cx="91557" cy="432000"/>
            </a:xfrm>
            <a:prstGeom prst="roundRect">
              <a:avLst>
                <a:gd name="adj" fmla="val 50000"/>
              </a:avLst>
            </a:prstGeom>
            <a:solidFill>
              <a:srgbClr val="C0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grpSp>
      <p:sp>
        <p:nvSpPr>
          <p:cNvPr id="11" name="等腰三角形 10"/>
          <p:cNvSpPr/>
          <p:nvPr/>
        </p:nvSpPr>
        <p:spPr>
          <a:xfrm>
            <a:off x="0" y="0"/>
            <a:ext cx="2690191" cy="6858000"/>
          </a:xfrm>
          <a:prstGeom prst="triangle">
            <a:avLst>
              <a:gd name="adj"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2" name="等腰三角形 11"/>
          <p:cNvSpPr/>
          <p:nvPr/>
        </p:nvSpPr>
        <p:spPr>
          <a:xfrm rot="10800000">
            <a:off x="11427830" y="0"/>
            <a:ext cx="764170" cy="1948069"/>
          </a:xfrm>
          <a:prstGeom prst="triangle">
            <a:avLst>
              <a:gd name="adj" fmla="val 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5" name="文本框 14"/>
          <p:cNvSpPr txBox="1"/>
          <p:nvPr/>
        </p:nvSpPr>
        <p:spPr>
          <a:xfrm>
            <a:off x="2887139" y="3204578"/>
            <a:ext cx="1074333" cy="461665"/>
          </a:xfrm>
          <a:prstGeom prst="rect">
            <a:avLst/>
          </a:prstGeom>
          <a:noFill/>
        </p:spPr>
        <p:txBody>
          <a:bodyPr wrap="none" rtlCol="0">
            <a:spAutoFit/>
          </a:bodyPr>
          <a:lstStyle/>
          <a:p>
            <a:pPr algn="ctr"/>
            <a:r>
              <a:rPr lang="en-US" altLang="zh-CN" sz="2400" dirty="0">
                <a:solidFill>
                  <a:schemeClr val="bg1"/>
                </a:solidFill>
                <a:latin typeface="Arial" panose="020B0604020202020204"/>
                <a:ea typeface="微软雅黑" panose="020B0503020204020204" charset="-122"/>
                <a:sym typeface="Arial" panose="020B0604020202020204"/>
              </a:rPr>
              <a:t>Fourth</a:t>
            </a:r>
            <a:endParaRPr lang="zh-CN" altLang="en-US" sz="2400" dirty="0">
              <a:solidFill>
                <a:schemeClr val="bg1"/>
              </a:solidFill>
              <a:latin typeface="Arial" panose="020B0604020202020204"/>
              <a:ea typeface="微软雅黑" panose="020B0503020204020204" charset="-122"/>
              <a:sym typeface="Arial" panose="020B0604020202020204"/>
            </a:endParaRPr>
          </a:p>
        </p:txBody>
      </p:sp>
      <p:sp>
        <p:nvSpPr>
          <p:cNvPr id="16" name="文本框 15"/>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
        <p:nvSpPr>
          <p:cNvPr id="10" name="平行四边形 9"/>
          <p:cNvSpPr/>
          <p:nvPr/>
        </p:nvSpPr>
        <p:spPr>
          <a:xfrm flipH="1">
            <a:off x="-336884" y="1524000"/>
            <a:ext cx="2454440" cy="5350041"/>
          </a:xfrm>
          <a:prstGeom prst="parallelogram">
            <a:avLst>
              <a:gd name="adj" fmla="val 86044"/>
            </a:avLst>
          </a:prstGeom>
          <a:solidFill>
            <a:schemeClr val="tx1">
              <a:lumMod val="50000"/>
              <a:lumOff val="50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1500"/>
                                  </p:stCondLst>
                                  <p:childTnLst>
                                    <p:animEffect transition="out" filter="fade">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5086649" cy="646331"/>
          </a:xfrm>
          <a:prstGeom prst="rect">
            <a:avLst/>
          </a:prstGeom>
        </p:spPr>
        <p:txBody>
          <a:bodyPr wrap="none">
            <a:spAutoFit/>
          </a:bodyPr>
          <a:lstStyle/>
          <a:p>
            <a:pPr>
              <a:defRPr/>
            </a:pPr>
            <a:r>
              <a:rPr lang="zh-CN" altLang="en-US" sz="3600" b="1" kern="0" dirty="0">
                <a:latin typeface="Arial" panose="020B0604020202020204"/>
                <a:ea typeface="微软雅黑" panose="020B0503020204020204" charset="-122"/>
                <a:sym typeface="Arial" panose="020B0604020202020204"/>
              </a:rPr>
              <a:t>专题</a:t>
            </a:r>
            <a:r>
              <a:rPr lang="en-US" altLang="zh-CN" sz="3600" b="1" kern="0" dirty="0">
                <a:latin typeface="Arial" panose="020B0604020202020204"/>
                <a:ea typeface="微软雅黑" panose="020B0503020204020204" charset="-122"/>
                <a:sym typeface="Arial" panose="020B0604020202020204"/>
              </a:rPr>
              <a:t>1</a:t>
            </a:r>
            <a:r>
              <a:rPr lang="zh-CN" altLang="en-US" sz="3600" b="1" kern="0" dirty="0">
                <a:latin typeface="Arial" panose="020B0604020202020204"/>
                <a:ea typeface="微软雅黑" panose="020B0503020204020204" charset="-122"/>
                <a:sym typeface="Arial" panose="020B0604020202020204"/>
              </a:rPr>
              <a:t>：代理商保证金续</a:t>
            </a:r>
            <a:endParaRPr lang="zh-CN" altLang="en-US" sz="3600" b="1" dirty="0">
              <a:latin typeface="Arial" panose="020B0604020202020204"/>
              <a:ea typeface="微软雅黑" panose="020B0503020204020204" charset="-122"/>
              <a:sym typeface="Arial" panose="020B0604020202020204"/>
            </a:endParaRPr>
          </a:p>
        </p:txBody>
      </p:sp>
      <p:sp>
        <p:nvSpPr>
          <p:cNvPr id="3" name="六边形 2"/>
          <p:cNvSpPr/>
          <p:nvPr/>
        </p:nvSpPr>
        <p:spPr>
          <a:xfrm>
            <a:off x="3424643" y="1455289"/>
            <a:ext cx="5342713" cy="466275"/>
          </a:xfrm>
          <a:prstGeom prst="hexagon">
            <a:avLst>
              <a:gd name="adj" fmla="val 13631"/>
              <a:gd name="vf" fmla="val 115470"/>
            </a:avLst>
          </a:prstGeom>
          <a:ln w="19050">
            <a:solidFill>
              <a:srgbClr val="C00000"/>
            </a:solidFill>
          </a:ln>
        </p:spPr>
        <p:txBody>
          <a:bodyPr wrap="square" anchor="ctr">
            <a:noAutofit/>
          </a:bodyPr>
          <a:lstStyle/>
          <a:p>
            <a:pPr algn="ctr" defTabSz="629285"/>
            <a:r>
              <a:rPr lang="zh-CN" altLang="en-US" sz="2000" dirty="0">
                <a:latin typeface="Arial" panose="020B0604020202020204"/>
                <a:ea typeface="微软雅黑" panose="020B0503020204020204" charset="-122"/>
                <a:sym typeface="Arial" panose="020B0604020202020204"/>
              </a:rPr>
              <a:t>（一）、代理商保证金信息比对情况</a:t>
            </a:r>
          </a:p>
        </p:txBody>
      </p:sp>
      <p:cxnSp>
        <p:nvCxnSpPr>
          <p:cNvPr id="5" name="肘形连接符 4"/>
          <p:cNvCxnSpPr>
            <a:stCxn id="77" idx="2"/>
            <a:endCxn id="84" idx="3"/>
          </p:cNvCxnSpPr>
          <p:nvPr/>
        </p:nvCxnSpPr>
        <p:spPr>
          <a:xfrm rot="5400000">
            <a:off x="6191494" y="4507239"/>
            <a:ext cx="421772" cy="1071617"/>
          </a:xfrm>
          <a:prstGeom prst="bent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2083868" y="4277639"/>
            <a:ext cx="530915" cy="507831"/>
          </a:xfrm>
          <a:prstGeom prst="rect">
            <a:avLst/>
          </a:prstGeom>
          <a:noFill/>
        </p:spPr>
        <p:txBody>
          <a:bodyPr wrap="none" rtlCol="0">
            <a:spAutoFit/>
          </a:bodyPr>
          <a:lstStyle/>
          <a:p>
            <a:r>
              <a:rPr lang="zh-CN" altLang="en-US" sz="2700" dirty="0">
                <a:solidFill>
                  <a:srgbClr val="C00000"/>
                </a:solidFill>
                <a:latin typeface="Arial" panose="020B0604020202020204"/>
                <a:ea typeface="微软雅黑" panose="020B0503020204020204" charset="-122"/>
                <a:sym typeface="Arial" panose="020B0604020202020204"/>
              </a:rPr>
              <a:t></a:t>
            </a:r>
          </a:p>
        </p:txBody>
      </p:sp>
      <p:sp>
        <p:nvSpPr>
          <p:cNvPr id="7" name="椭圆 6"/>
          <p:cNvSpPr/>
          <p:nvPr/>
        </p:nvSpPr>
        <p:spPr>
          <a:xfrm>
            <a:off x="3699926" y="3226185"/>
            <a:ext cx="590550" cy="593999"/>
          </a:xfrm>
          <a:prstGeom prst="ellipse">
            <a:avLst/>
          </a:prstGeom>
          <a:solidFill>
            <a:schemeClr val="bg1">
              <a:lumMod val="95000"/>
            </a:schemeClr>
          </a:solid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8" name="椭圆 7"/>
          <p:cNvSpPr/>
          <p:nvPr/>
        </p:nvSpPr>
        <p:spPr>
          <a:xfrm>
            <a:off x="3699926" y="5225952"/>
            <a:ext cx="590550" cy="593999"/>
          </a:xfrm>
          <a:prstGeom prst="ellipse">
            <a:avLst/>
          </a:prstGeom>
          <a:solidFill>
            <a:schemeClr val="bg1">
              <a:lumMod val="95000"/>
            </a:schemeClr>
          </a:solid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9" name="椭圆 8"/>
          <p:cNvSpPr/>
          <p:nvPr/>
        </p:nvSpPr>
        <p:spPr>
          <a:xfrm>
            <a:off x="3699926" y="4217082"/>
            <a:ext cx="590550" cy="593999"/>
          </a:xfrm>
          <a:prstGeom prst="ellipse">
            <a:avLst/>
          </a:prstGeom>
          <a:solidFill>
            <a:schemeClr val="bg1">
              <a:lumMod val="95000"/>
            </a:schemeClr>
          </a:solidFill>
          <a:ln w="952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10" name="梯形 9"/>
          <p:cNvSpPr/>
          <p:nvPr/>
        </p:nvSpPr>
        <p:spPr>
          <a:xfrm rot="16200000">
            <a:off x="2154214" y="4290928"/>
            <a:ext cx="2351976" cy="463470"/>
          </a:xfrm>
          <a:prstGeom prst="trapezoid">
            <a:avLst>
              <a:gd name="adj" fmla="val 19323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nvGrpSpPr>
          <p:cNvPr id="11" name="组合 10"/>
          <p:cNvGrpSpPr>
            <a:grpSpLocks noChangeAspect="1"/>
          </p:cNvGrpSpPr>
          <p:nvPr/>
        </p:nvGrpSpPr>
        <p:grpSpPr>
          <a:xfrm>
            <a:off x="2646765" y="4226129"/>
            <a:ext cx="690782" cy="594000"/>
            <a:chOff x="3831423" y="3729598"/>
            <a:chExt cx="1107693" cy="952500"/>
          </a:xfrm>
        </p:grpSpPr>
        <p:sp>
          <p:nvSpPr>
            <p:cNvPr id="12" name="椭圆 11"/>
            <p:cNvSpPr/>
            <p:nvPr/>
          </p:nvSpPr>
          <p:spPr>
            <a:xfrm>
              <a:off x="3924300" y="3729598"/>
              <a:ext cx="927100" cy="952500"/>
            </a:xfrm>
            <a:prstGeom prst="ellipse">
              <a:avLst/>
            </a:prstGeom>
            <a:solidFill>
              <a:srgbClr val="C00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13" name="矩形 12"/>
            <p:cNvSpPr/>
            <p:nvPr/>
          </p:nvSpPr>
          <p:spPr>
            <a:xfrm>
              <a:off x="3831423" y="3904842"/>
              <a:ext cx="1107693" cy="690943"/>
            </a:xfrm>
            <a:prstGeom prst="rect">
              <a:avLst/>
            </a:prstGeom>
          </p:spPr>
          <p:txBody>
            <a:bodyPr wrap="square">
              <a:spAutoFit/>
            </a:bodyPr>
            <a:lstStyle/>
            <a:p>
              <a:pPr algn="ctr"/>
              <a:r>
                <a:rPr lang="en-US" altLang="zh-CN" sz="1100" dirty="0">
                  <a:solidFill>
                    <a:schemeClr val="bg1"/>
                  </a:solidFill>
                  <a:latin typeface="Arial" panose="020B0604020202020204"/>
                  <a:ea typeface="微软雅黑" panose="020B0503020204020204" charset="-122"/>
                  <a:sym typeface="Arial" panose="020B0604020202020204"/>
                </a:rPr>
                <a:t>266</a:t>
              </a:r>
              <a:r>
                <a:rPr lang="zh-CN" altLang="en-US" sz="1100" dirty="0">
                  <a:solidFill>
                    <a:schemeClr val="bg1"/>
                  </a:solidFill>
                  <a:latin typeface="Arial" panose="020B0604020202020204"/>
                  <a:ea typeface="微软雅黑" panose="020B0503020204020204" charset="-122"/>
                  <a:sym typeface="Arial" panose="020B0604020202020204"/>
                </a:rPr>
                <a:t>家</a:t>
              </a:r>
              <a:endParaRPr lang="en-US" altLang="zh-CN" sz="1100" dirty="0">
                <a:solidFill>
                  <a:schemeClr val="bg1"/>
                </a:solidFill>
                <a:latin typeface="Arial" panose="020B0604020202020204"/>
                <a:ea typeface="微软雅黑" panose="020B0503020204020204" charset="-122"/>
                <a:sym typeface="Arial" panose="020B0604020202020204"/>
              </a:endParaRPr>
            </a:p>
            <a:p>
              <a:pPr algn="ctr"/>
              <a:r>
                <a:rPr lang="zh-CN" altLang="en-US" sz="1100" dirty="0">
                  <a:solidFill>
                    <a:schemeClr val="bg1"/>
                  </a:solidFill>
                  <a:latin typeface="Arial" panose="020B0604020202020204"/>
                  <a:ea typeface="微软雅黑" panose="020B0503020204020204" charset="-122"/>
                  <a:sym typeface="Arial" panose="020B0604020202020204"/>
                </a:rPr>
                <a:t>专营店</a:t>
              </a:r>
            </a:p>
          </p:txBody>
        </p:sp>
      </p:grpSp>
      <p:grpSp>
        <p:nvGrpSpPr>
          <p:cNvPr id="14" name="组合 13"/>
          <p:cNvGrpSpPr>
            <a:grpSpLocks noChangeAspect="1"/>
          </p:cNvGrpSpPr>
          <p:nvPr/>
        </p:nvGrpSpPr>
        <p:grpSpPr>
          <a:xfrm>
            <a:off x="3395552" y="5228761"/>
            <a:ext cx="607859" cy="594000"/>
            <a:chOff x="3886597" y="3729598"/>
            <a:chExt cx="974722" cy="952500"/>
          </a:xfrm>
        </p:grpSpPr>
        <p:sp>
          <p:nvSpPr>
            <p:cNvPr id="15" name="椭圆 14"/>
            <p:cNvSpPr/>
            <p:nvPr/>
          </p:nvSpPr>
          <p:spPr>
            <a:xfrm>
              <a:off x="3924300" y="3729598"/>
              <a:ext cx="927100" cy="952500"/>
            </a:xfrm>
            <a:prstGeom prst="ellipse">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16" name="矩形 15"/>
            <p:cNvSpPr/>
            <p:nvPr/>
          </p:nvSpPr>
          <p:spPr>
            <a:xfrm>
              <a:off x="3886597" y="3869981"/>
              <a:ext cx="974722" cy="690943"/>
            </a:xfrm>
            <a:prstGeom prst="rect">
              <a:avLst/>
            </a:prstGeom>
          </p:spPr>
          <p:txBody>
            <a:bodyPr wrap="none">
              <a:spAutoFit/>
            </a:bodyPr>
            <a:lstStyle/>
            <a:p>
              <a:pPr algn="ctr"/>
              <a:r>
                <a:rPr lang="en-US" altLang="zh-CN" sz="1100" dirty="0">
                  <a:solidFill>
                    <a:schemeClr val="bg1"/>
                  </a:solidFill>
                  <a:latin typeface="Arial" panose="020B0604020202020204"/>
                  <a:ea typeface="微软雅黑" panose="020B0503020204020204" charset="-122"/>
                  <a:sym typeface="Arial" panose="020B0604020202020204"/>
                </a:rPr>
                <a:t>77</a:t>
              </a:r>
              <a:r>
                <a:rPr lang="zh-CN" altLang="en-US" sz="1100" dirty="0">
                  <a:solidFill>
                    <a:schemeClr val="bg1"/>
                  </a:solidFill>
                  <a:latin typeface="Arial" panose="020B0604020202020204"/>
                  <a:ea typeface="微软雅黑" panose="020B0503020204020204" charset="-122"/>
                  <a:sym typeface="Arial" panose="020B0604020202020204"/>
                </a:rPr>
                <a:t>家</a:t>
              </a:r>
              <a:endParaRPr lang="en-US" altLang="zh-CN" sz="1100" dirty="0">
                <a:solidFill>
                  <a:schemeClr val="bg1"/>
                </a:solidFill>
                <a:latin typeface="Arial" panose="020B0604020202020204"/>
                <a:ea typeface="微软雅黑" panose="020B0503020204020204" charset="-122"/>
                <a:sym typeface="Arial" panose="020B0604020202020204"/>
              </a:endParaRPr>
            </a:p>
            <a:p>
              <a:pPr algn="ctr"/>
              <a:r>
                <a:rPr lang="zh-CN" altLang="en-US" sz="1100" dirty="0">
                  <a:solidFill>
                    <a:schemeClr val="bg1"/>
                  </a:solidFill>
                  <a:latin typeface="Arial" panose="020B0604020202020204"/>
                  <a:ea typeface="微软雅黑" panose="020B0503020204020204" charset="-122"/>
                  <a:sym typeface="Arial" panose="020B0604020202020204"/>
                </a:rPr>
                <a:t>专营店</a:t>
              </a:r>
            </a:p>
          </p:txBody>
        </p:sp>
      </p:grpSp>
      <p:grpSp>
        <p:nvGrpSpPr>
          <p:cNvPr id="17" name="组合 16"/>
          <p:cNvGrpSpPr>
            <a:grpSpLocks noChangeAspect="1"/>
          </p:cNvGrpSpPr>
          <p:nvPr/>
        </p:nvGrpSpPr>
        <p:grpSpPr>
          <a:xfrm>
            <a:off x="3395551" y="4227472"/>
            <a:ext cx="607859" cy="594000"/>
            <a:chOff x="3886597" y="3729598"/>
            <a:chExt cx="974723" cy="952500"/>
          </a:xfrm>
        </p:grpSpPr>
        <p:sp>
          <p:nvSpPr>
            <p:cNvPr id="18" name="椭圆 17"/>
            <p:cNvSpPr/>
            <p:nvPr/>
          </p:nvSpPr>
          <p:spPr>
            <a:xfrm>
              <a:off x="3924300" y="3729598"/>
              <a:ext cx="927100" cy="952500"/>
            </a:xfrm>
            <a:prstGeom prst="ellipse">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19" name="矩形 18"/>
            <p:cNvSpPr/>
            <p:nvPr/>
          </p:nvSpPr>
          <p:spPr>
            <a:xfrm>
              <a:off x="3886597" y="3869981"/>
              <a:ext cx="974723" cy="690943"/>
            </a:xfrm>
            <a:prstGeom prst="rect">
              <a:avLst/>
            </a:prstGeom>
          </p:spPr>
          <p:txBody>
            <a:bodyPr wrap="none">
              <a:spAutoFit/>
            </a:bodyPr>
            <a:lstStyle/>
            <a:p>
              <a:pPr algn="ctr"/>
              <a:r>
                <a:rPr lang="en-US" altLang="zh-CN" sz="1100" dirty="0">
                  <a:solidFill>
                    <a:schemeClr val="bg1"/>
                  </a:solidFill>
                  <a:latin typeface="Arial" panose="020B0604020202020204"/>
                  <a:ea typeface="微软雅黑" panose="020B0503020204020204" charset="-122"/>
                  <a:sym typeface="Arial" panose="020B0604020202020204"/>
                </a:rPr>
                <a:t>8</a:t>
              </a:r>
              <a:r>
                <a:rPr lang="zh-CN" altLang="en-US" sz="1100" dirty="0">
                  <a:solidFill>
                    <a:schemeClr val="bg1"/>
                  </a:solidFill>
                  <a:latin typeface="Arial" panose="020B0604020202020204"/>
                  <a:ea typeface="微软雅黑" panose="020B0503020204020204" charset="-122"/>
                  <a:sym typeface="Arial" panose="020B0604020202020204"/>
                </a:rPr>
                <a:t>家</a:t>
              </a:r>
              <a:endParaRPr lang="en-US" altLang="zh-CN" sz="1100" dirty="0">
                <a:solidFill>
                  <a:schemeClr val="bg1"/>
                </a:solidFill>
                <a:latin typeface="Arial" panose="020B0604020202020204"/>
                <a:ea typeface="微软雅黑" panose="020B0503020204020204" charset="-122"/>
                <a:sym typeface="Arial" panose="020B0604020202020204"/>
              </a:endParaRPr>
            </a:p>
            <a:p>
              <a:pPr algn="ctr"/>
              <a:r>
                <a:rPr lang="zh-CN" altLang="en-US" sz="1100" dirty="0">
                  <a:solidFill>
                    <a:schemeClr val="bg1"/>
                  </a:solidFill>
                  <a:latin typeface="Arial" panose="020B0604020202020204"/>
                  <a:ea typeface="微软雅黑" panose="020B0503020204020204" charset="-122"/>
                  <a:sym typeface="Arial" panose="020B0604020202020204"/>
                </a:rPr>
                <a:t>专营店</a:t>
              </a:r>
            </a:p>
          </p:txBody>
        </p:sp>
      </p:grpSp>
      <p:grpSp>
        <p:nvGrpSpPr>
          <p:cNvPr id="20" name="组合 19"/>
          <p:cNvGrpSpPr>
            <a:grpSpLocks noChangeAspect="1"/>
          </p:cNvGrpSpPr>
          <p:nvPr/>
        </p:nvGrpSpPr>
        <p:grpSpPr>
          <a:xfrm>
            <a:off x="3398058" y="3226185"/>
            <a:ext cx="607859" cy="594000"/>
            <a:chOff x="3890618" y="3729598"/>
            <a:chExt cx="974723" cy="952500"/>
          </a:xfrm>
        </p:grpSpPr>
        <p:sp>
          <p:nvSpPr>
            <p:cNvPr id="21" name="椭圆 20"/>
            <p:cNvSpPr/>
            <p:nvPr/>
          </p:nvSpPr>
          <p:spPr>
            <a:xfrm>
              <a:off x="3924300" y="3729598"/>
              <a:ext cx="927100" cy="952500"/>
            </a:xfrm>
            <a:prstGeom prst="ellipse">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22" name="矩形 21"/>
            <p:cNvSpPr/>
            <p:nvPr/>
          </p:nvSpPr>
          <p:spPr>
            <a:xfrm>
              <a:off x="3890618" y="3874001"/>
              <a:ext cx="974723" cy="690943"/>
            </a:xfrm>
            <a:prstGeom prst="rect">
              <a:avLst/>
            </a:prstGeom>
          </p:spPr>
          <p:txBody>
            <a:bodyPr wrap="none">
              <a:spAutoFit/>
            </a:bodyPr>
            <a:lstStyle/>
            <a:p>
              <a:pPr algn="ctr"/>
              <a:r>
                <a:rPr lang="en-US" altLang="zh-CN" sz="1100" dirty="0">
                  <a:solidFill>
                    <a:schemeClr val="bg1"/>
                  </a:solidFill>
                  <a:latin typeface="Arial" panose="020B0604020202020204"/>
                  <a:ea typeface="微软雅黑" panose="020B0503020204020204" charset="-122"/>
                  <a:sym typeface="Arial" panose="020B0604020202020204"/>
                </a:rPr>
                <a:t>181</a:t>
              </a:r>
              <a:r>
                <a:rPr lang="zh-CN" altLang="en-US" sz="1100" dirty="0">
                  <a:solidFill>
                    <a:schemeClr val="bg1"/>
                  </a:solidFill>
                  <a:latin typeface="Arial" panose="020B0604020202020204"/>
                  <a:ea typeface="微软雅黑" panose="020B0503020204020204" charset="-122"/>
                  <a:sym typeface="Arial" panose="020B0604020202020204"/>
                </a:rPr>
                <a:t>家</a:t>
              </a:r>
              <a:endParaRPr lang="en-US" altLang="zh-CN" sz="1100" dirty="0">
                <a:solidFill>
                  <a:schemeClr val="bg1"/>
                </a:solidFill>
                <a:latin typeface="Arial" panose="020B0604020202020204"/>
                <a:ea typeface="微软雅黑" panose="020B0503020204020204" charset="-122"/>
                <a:sym typeface="Arial" panose="020B0604020202020204"/>
              </a:endParaRPr>
            </a:p>
            <a:p>
              <a:pPr algn="ctr"/>
              <a:r>
                <a:rPr lang="zh-CN" altLang="en-US" sz="1100" dirty="0">
                  <a:solidFill>
                    <a:schemeClr val="bg1"/>
                  </a:solidFill>
                  <a:latin typeface="Arial" panose="020B0604020202020204"/>
                  <a:ea typeface="微软雅黑" panose="020B0503020204020204" charset="-122"/>
                  <a:sym typeface="Arial" panose="020B0604020202020204"/>
                </a:rPr>
                <a:t>专营店</a:t>
              </a:r>
            </a:p>
          </p:txBody>
        </p:sp>
      </p:grpSp>
      <p:grpSp>
        <p:nvGrpSpPr>
          <p:cNvPr id="23" name="组合 22"/>
          <p:cNvGrpSpPr>
            <a:grpSpLocks noChangeAspect="1"/>
          </p:cNvGrpSpPr>
          <p:nvPr/>
        </p:nvGrpSpPr>
        <p:grpSpPr>
          <a:xfrm>
            <a:off x="4000306" y="5228761"/>
            <a:ext cx="578721" cy="594000"/>
            <a:chOff x="3923402" y="3729598"/>
            <a:chExt cx="927998" cy="952500"/>
          </a:xfrm>
          <a:solidFill>
            <a:schemeClr val="bg1">
              <a:lumMod val="95000"/>
            </a:schemeClr>
          </a:solidFill>
        </p:grpSpPr>
        <p:sp>
          <p:nvSpPr>
            <p:cNvPr id="24" name="椭圆 23"/>
            <p:cNvSpPr/>
            <p:nvPr/>
          </p:nvSpPr>
          <p:spPr>
            <a:xfrm>
              <a:off x="3924300" y="3729598"/>
              <a:ext cx="927100" cy="95250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25" name="矩形 24"/>
            <p:cNvSpPr/>
            <p:nvPr/>
          </p:nvSpPr>
          <p:spPr>
            <a:xfrm>
              <a:off x="3923402" y="4030758"/>
              <a:ext cx="913032" cy="394824"/>
            </a:xfrm>
            <a:prstGeom prst="rect">
              <a:avLst/>
            </a:prstGeom>
            <a:noFill/>
            <a:ln>
              <a:noFill/>
            </a:ln>
          </p:spPr>
          <p:txBody>
            <a:bodyPr wrap="none">
              <a:spAutoFit/>
            </a:bodyPr>
            <a:lstStyle/>
            <a:p>
              <a:r>
                <a:rPr lang="zh-CN" altLang="en-US" sz="1000" dirty="0">
                  <a:solidFill>
                    <a:schemeClr val="bg1"/>
                  </a:solidFill>
                  <a:latin typeface="Arial" panose="020B0604020202020204"/>
                  <a:ea typeface="微软雅黑" panose="020B0503020204020204" charset="-122"/>
                  <a:sym typeface="Arial" panose="020B0604020202020204"/>
                </a:rPr>
                <a:t>未稽核</a:t>
              </a:r>
            </a:p>
          </p:txBody>
        </p:sp>
      </p:grpSp>
      <p:grpSp>
        <p:nvGrpSpPr>
          <p:cNvPr id="26" name="组合 25"/>
          <p:cNvGrpSpPr>
            <a:grpSpLocks noChangeAspect="1"/>
          </p:cNvGrpSpPr>
          <p:nvPr/>
        </p:nvGrpSpPr>
        <p:grpSpPr>
          <a:xfrm>
            <a:off x="4000863" y="4227472"/>
            <a:ext cx="586668" cy="594000"/>
            <a:chOff x="3924300" y="3729598"/>
            <a:chExt cx="940743" cy="952500"/>
          </a:xfrm>
          <a:solidFill>
            <a:schemeClr val="bg1">
              <a:lumMod val="95000"/>
            </a:schemeClr>
          </a:solidFill>
        </p:grpSpPr>
        <p:sp>
          <p:nvSpPr>
            <p:cNvPr id="27" name="椭圆 26"/>
            <p:cNvSpPr/>
            <p:nvPr/>
          </p:nvSpPr>
          <p:spPr>
            <a:xfrm>
              <a:off x="3924300" y="3729598"/>
              <a:ext cx="927100" cy="95250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900">
                <a:latin typeface="Arial" panose="020B0604020202020204"/>
                <a:ea typeface="微软雅黑" panose="020B0503020204020204" charset="-122"/>
                <a:sym typeface="Arial" panose="020B0604020202020204"/>
              </a:endParaRPr>
            </a:p>
          </p:txBody>
        </p:sp>
        <p:sp>
          <p:nvSpPr>
            <p:cNvPr id="28" name="矩形 27"/>
            <p:cNvSpPr/>
            <p:nvPr/>
          </p:nvSpPr>
          <p:spPr>
            <a:xfrm>
              <a:off x="3952011" y="3943136"/>
              <a:ext cx="913032" cy="641591"/>
            </a:xfrm>
            <a:prstGeom prst="rect">
              <a:avLst/>
            </a:prstGeom>
            <a:noFill/>
            <a:ln>
              <a:noFill/>
            </a:ln>
          </p:spPr>
          <p:txBody>
            <a:bodyPr wrap="none">
              <a:spAutoFit/>
            </a:bodyPr>
            <a:lstStyle/>
            <a:p>
              <a:pPr algn="ctr"/>
              <a:r>
                <a:rPr lang="zh-CN" altLang="en-US" sz="1000" dirty="0">
                  <a:latin typeface="Arial" panose="020B0604020202020204"/>
                  <a:ea typeface="微软雅黑" panose="020B0503020204020204" charset="-122"/>
                  <a:sym typeface="Arial" panose="020B0604020202020204"/>
                </a:rPr>
                <a:t>系统已</a:t>
              </a:r>
              <a:endParaRPr lang="en-US" altLang="zh-CN" sz="1000" dirty="0">
                <a:latin typeface="Arial" panose="020B0604020202020204"/>
                <a:ea typeface="微软雅黑" panose="020B0503020204020204" charset="-122"/>
                <a:sym typeface="Arial" panose="020B0604020202020204"/>
              </a:endParaRPr>
            </a:p>
            <a:p>
              <a:pPr algn="ctr"/>
              <a:r>
                <a:rPr lang="zh-CN" altLang="en-US" sz="1000" dirty="0">
                  <a:latin typeface="Arial" panose="020B0604020202020204"/>
                  <a:ea typeface="微软雅黑" panose="020B0503020204020204" charset="-122"/>
                  <a:sym typeface="Arial" panose="020B0604020202020204"/>
                </a:rPr>
                <a:t>退款</a:t>
              </a:r>
            </a:p>
          </p:txBody>
        </p:sp>
      </p:grpSp>
      <p:grpSp>
        <p:nvGrpSpPr>
          <p:cNvPr id="29" name="组合 28"/>
          <p:cNvGrpSpPr>
            <a:grpSpLocks noChangeAspect="1"/>
          </p:cNvGrpSpPr>
          <p:nvPr/>
        </p:nvGrpSpPr>
        <p:grpSpPr>
          <a:xfrm>
            <a:off x="4000859" y="3226185"/>
            <a:ext cx="592322" cy="594000"/>
            <a:chOff x="3924300" y="3729598"/>
            <a:chExt cx="949811" cy="952500"/>
          </a:xfrm>
          <a:solidFill>
            <a:schemeClr val="bg1">
              <a:lumMod val="95000"/>
            </a:schemeClr>
          </a:solidFill>
        </p:grpSpPr>
        <p:sp>
          <p:nvSpPr>
            <p:cNvPr id="30" name="椭圆 29"/>
            <p:cNvSpPr/>
            <p:nvPr/>
          </p:nvSpPr>
          <p:spPr>
            <a:xfrm>
              <a:off x="3924300" y="3729598"/>
              <a:ext cx="927100" cy="952500"/>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31" name="矩形 30"/>
            <p:cNvSpPr/>
            <p:nvPr/>
          </p:nvSpPr>
          <p:spPr>
            <a:xfrm>
              <a:off x="3927420" y="3918788"/>
              <a:ext cx="946691" cy="641591"/>
            </a:xfrm>
            <a:prstGeom prst="rect">
              <a:avLst/>
            </a:prstGeom>
            <a:noFill/>
            <a:ln>
              <a:noFill/>
            </a:ln>
          </p:spPr>
          <p:txBody>
            <a:bodyPr wrap="square">
              <a:spAutoFit/>
            </a:bodyPr>
            <a:lstStyle/>
            <a:p>
              <a:pPr algn="ctr"/>
              <a:r>
                <a:rPr lang="zh-CN" altLang="en-US" sz="1000" dirty="0">
                  <a:latin typeface="Arial" panose="020B0604020202020204"/>
                  <a:ea typeface="微软雅黑" panose="020B0503020204020204" charset="-122"/>
                  <a:sym typeface="Arial" panose="020B0604020202020204"/>
                </a:rPr>
                <a:t>系统已受理</a:t>
              </a:r>
            </a:p>
          </p:txBody>
        </p:sp>
      </p:grpSp>
      <p:sp>
        <p:nvSpPr>
          <p:cNvPr id="32" name="矩形 31"/>
          <p:cNvSpPr/>
          <p:nvPr/>
        </p:nvSpPr>
        <p:spPr>
          <a:xfrm>
            <a:off x="1762540" y="4386470"/>
            <a:ext cx="340056" cy="31120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nvGrpSpPr>
          <p:cNvPr id="33" name="组合 32"/>
          <p:cNvGrpSpPr/>
          <p:nvPr/>
        </p:nvGrpSpPr>
        <p:grpSpPr>
          <a:xfrm>
            <a:off x="7895730" y="2322378"/>
            <a:ext cx="702000" cy="718794"/>
            <a:chOff x="8866758" y="2281646"/>
            <a:chExt cx="936000" cy="958392"/>
          </a:xfrm>
        </p:grpSpPr>
        <p:sp>
          <p:nvSpPr>
            <p:cNvPr id="34" name="椭圆 33"/>
            <p:cNvSpPr/>
            <p:nvPr/>
          </p:nvSpPr>
          <p:spPr>
            <a:xfrm>
              <a:off x="8874034" y="2294646"/>
              <a:ext cx="920182" cy="945392"/>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35" name="任意多边形 34"/>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sp>
        <p:nvSpPr>
          <p:cNvPr id="39" name="矩形 38"/>
          <p:cNvSpPr/>
          <p:nvPr/>
        </p:nvSpPr>
        <p:spPr>
          <a:xfrm>
            <a:off x="7959750" y="2396835"/>
            <a:ext cx="607509" cy="276999"/>
          </a:xfrm>
          <a:prstGeom prst="rect">
            <a:avLst/>
          </a:prstGeom>
        </p:spPr>
        <p:txBody>
          <a:bodyPr wrap="square">
            <a:spAutoFit/>
          </a:bodyPr>
          <a:lstStyle/>
          <a:p>
            <a:pPr algn="ctr"/>
            <a:r>
              <a:rPr lang="en-US" altLang="zh-CN" sz="1200" b="1" dirty="0">
                <a:solidFill>
                  <a:schemeClr val="bg1"/>
                </a:solidFill>
                <a:latin typeface="Arial" panose="020B0604020202020204"/>
                <a:ea typeface="微软雅黑" panose="020B0503020204020204" charset="-122"/>
                <a:sym typeface="Arial" panose="020B0604020202020204"/>
              </a:rPr>
              <a:t>10</a:t>
            </a:r>
            <a:r>
              <a:rPr lang="zh-CN" altLang="en-US" sz="1200" b="1" dirty="0">
                <a:solidFill>
                  <a:schemeClr val="bg1"/>
                </a:solidFill>
                <a:latin typeface="Arial" panose="020B0604020202020204"/>
                <a:ea typeface="微软雅黑" panose="020B0503020204020204" charset="-122"/>
                <a:sym typeface="Arial" panose="020B0604020202020204"/>
              </a:rPr>
              <a:t>家</a:t>
            </a:r>
            <a:endParaRPr lang="en-US" altLang="zh-CN" sz="1200" b="1" dirty="0">
              <a:solidFill>
                <a:schemeClr val="bg1"/>
              </a:solidFill>
              <a:latin typeface="Arial" panose="020B0604020202020204"/>
              <a:ea typeface="微软雅黑" panose="020B0503020204020204" charset="-122"/>
              <a:sym typeface="Arial" panose="020B0604020202020204"/>
            </a:endParaRPr>
          </a:p>
        </p:txBody>
      </p:sp>
      <p:sp>
        <p:nvSpPr>
          <p:cNvPr id="40" name="TextBox 98"/>
          <p:cNvSpPr txBox="1">
            <a:spLocks noChangeArrowheads="1"/>
          </p:cNvSpPr>
          <p:nvPr>
            <p:custDataLst>
              <p:tags r:id="rId1"/>
            </p:custDataLst>
          </p:nvPr>
        </p:nvSpPr>
        <p:spPr bwMode="auto">
          <a:xfrm>
            <a:off x="8799828" y="2552805"/>
            <a:ext cx="973240" cy="307777"/>
          </a:xfrm>
          <a:prstGeom prst="rect">
            <a:avLst/>
          </a:prstGeom>
          <a:noFill/>
          <a:ln w="9525">
            <a:noFill/>
            <a:miter lim="800000"/>
          </a:ln>
        </p:spPr>
        <p:txBody>
          <a:bodyPr wrap="square">
            <a:spAutoFit/>
          </a:bodyPr>
          <a:lstStyle/>
          <a:p>
            <a:r>
              <a:rPr lang="zh-CN" altLang="en-US" sz="1400" dirty="0">
                <a:latin typeface="Arial" panose="020B0604020202020204"/>
                <a:ea typeface="微软雅黑" panose="020B0503020204020204" charset="-122"/>
                <a:sym typeface="Arial" panose="020B0604020202020204"/>
              </a:rPr>
              <a:t>关门</a:t>
            </a:r>
          </a:p>
        </p:txBody>
      </p:sp>
      <p:grpSp>
        <p:nvGrpSpPr>
          <p:cNvPr id="41" name="组合 40"/>
          <p:cNvGrpSpPr/>
          <p:nvPr/>
        </p:nvGrpSpPr>
        <p:grpSpPr>
          <a:xfrm>
            <a:off x="7905221" y="3112607"/>
            <a:ext cx="702000" cy="718794"/>
            <a:chOff x="8866758" y="2281646"/>
            <a:chExt cx="936000" cy="958392"/>
          </a:xfrm>
        </p:grpSpPr>
        <p:sp>
          <p:nvSpPr>
            <p:cNvPr id="42" name="椭圆 41"/>
            <p:cNvSpPr/>
            <p:nvPr/>
          </p:nvSpPr>
          <p:spPr>
            <a:xfrm>
              <a:off x="8874034" y="2294646"/>
              <a:ext cx="920182" cy="945392"/>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43" name="任意多边形 42"/>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46" name="椭圆 45"/>
            <p:cNvSpPr/>
            <p:nvPr/>
          </p:nvSpPr>
          <p:spPr>
            <a:xfrm>
              <a:off x="9064489" y="2768081"/>
              <a:ext cx="549499" cy="4055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sp>
        <p:nvSpPr>
          <p:cNvPr id="47" name="矩形 46"/>
          <p:cNvSpPr/>
          <p:nvPr/>
        </p:nvSpPr>
        <p:spPr>
          <a:xfrm>
            <a:off x="7993306" y="3187064"/>
            <a:ext cx="515122" cy="276999"/>
          </a:xfrm>
          <a:prstGeom prst="rect">
            <a:avLst/>
          </a:prstGeom>
        </p:spPr>
        <p:txBody>
          <a:bodyPr wrap="square">
            <a:spAutoFit/>
          </a:bodyPr>
          <a:lstStyle/>
          <a:p>
            <a:pPr algn="ctr"/>
            <a:r>
              <a:rPr lang="en-US" altLang="zh-CN" sz="1200" b="1" dirty="0">
                <a:solidFill>
                  <a:schemeClr val="bg1"/>
                </a:solidFill>
                <a:latin typeface="Arial" panose="020B0604020202020204"/>
                <a:ea typeface="微软雅黑" panose="020B0503020204020204" charset="-122"/>
                <a:sym typeface="Arial" panose="020B0604020202020204"/>
              </a:rPr>
              <a:t>7</a:t>
            </a:r>
            <a:r>
              <a:rPr lang="zh-CN" altLang="en-US" sz="1200" b="1" dirty="0">
                <a:solidFill>
                  <a:schemeClr val="bg1"/>
                </a:solidFill>
                <a:latin typeface="Arial" panose="020B0604020202020204"/>
                <a:ea typeface="微软雅黑" panose="020B0503020204020204" charset="-122"/>
                <a:sym typeface="Arial" panose="020B0604020202020204"/>
              </a:rPr>
              <a:t>家</a:t>
            </a:r>
            <a:endParaRPr lang="en-US" altLang="zh-CN" sz="1200" b="1" dirty="0">
              <a:solidFill>
                <a:schemeClr val="bg1"/>
              </a:solidFill>
              <a:latin typeface="Arial" panose="020B0604020202020204"/>
              <a:ea typeface="微软雅黑" panose="020B0503020204020204" charset="-122"/>
              <a:sym typeface="Arial" panose="020B0604020202020204"/>
            </a:endParaRPr>
          </a:p>
        </p:txBody>
      </p:sp>
      <p:sp>
        <p:nvSpPr>
          <p:cNvPr id="48" name="TextBox 98"/>
          <p:cNvSpPr txBox="1">
            <a:spLocks noChangeArrowheads="1"/>
          </p:cNvSpPr>
          <p:nvPr>
            <p:custDataLst>
              <p:tags r:id="rId2"/>
            </p:custDataLst>
          </p:nvPr>
        </p:nvSpPr>
        <p:spPr bwMode="auto">
          <a:xfrm>
            <a:off x="8799828" y="3230218"/>
            <a:ext cx="1828416" cy="523220"/>
          </a:xfrm>
          <a:prstGeom prst="rect">
            <a:avLst/>
          </a:prstGeom>
          <a:noFill/>
          <a:ln w="9525">
            <a:noFill/>
            <a:miter lim="800000"/>
          </a:ln>
        </p:spPr>
        <p:txBody>
          <a:bodyPr wrap="square">
            <a:spAutoFit/>
          </a:bodyPr>
          <a:lstStyle/>
          <a:p>
            <a:r>
              <a:rPr lang="zh-CN" altLang="en-US" sz="1400" dirty="0">
                <a:latin typeface="Arial" panose="020B0604020202020204"/>
                <a:ea typeface="微软雅黑" panose="020B0503020204020204" charset="-122"/>
                <a:sym typeface="Arial" panose="020B0604020202020204"/>
              </a:rPr>
              <a:t>房租、补贴等置换为代办押金</a:t>
            </a:r>
          </a:p>
        </p:txBody>
      </p:sp>
      <p:grpSp>
        <p:nvGrpSpPr>
          <p:cNvPr id="49" name="组合 48"/>
          <p:cNvGrpSpPr/>
          <p:nvPr/>
        </p:nvGrpSpPr>
        <p:grpSpPr>
          <a:xfrm>
            <a:off x="7899030" y="3902836"/>
            <a:ext cx="702000" cy="718794"/>
            <a:chOff x="8866758" y="2281646"/>
            <a:chExt cx="936000" cy="958392"/>
          </a:xfrm>
        </p:grpSpPr>
        <p:sp>
          <p:nvSpPr>
            <p:cNvPr id="50" name="椭圆 49"/>
            <p:cNvSpPr/>
            <p:nvPr/>
          </p:nvSpPr>
          <p:spPr>
            <a:xfrm>
              <a:off x="8874034" y="2294646"/>
              <a:ext cx="920182" cy="945392"/>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51" name="任意多边形 50"/>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sp>
        <p:nvSpPr>
          <p:cNvPr id="55" name="矩形 54"/>
          <p:cNvSpPr/>
          <p:nvPr/>
        </p:nvSpPr>
        <p:spPr>
          <a:xfrm>
            <a:off x="7987115" y="3917133"/>
            <a:ext cx="515122" cy="276999"/>
          </a:xfrm>
          <a:prstGeom prst="rect">
            <a:avLst/>
          </a:prstGeom>
        </p:spPr>
        <p:txBody>
          <a:bodyPr wrap="square">
            <a:spAutoFit/>
          </a:bodyPr>
          <a:lstStyle/>
          <a:p>
            <a:pPr algn="ctr"/>
            <a:r>
              <a:rPr lang="en-US" altLang="zh-CN" sz="1200" b="1" dirty="0">
                <a:solidFill>
                  <a:schemeClr val="bg1"/>
                </a:solidFill>
                <a:latin typeface="Arial" panose="020B0604020202020204"/>
                <a:ea typeface="微软雅黑" panose="020B0503020204020204" charset="-122"/>
                <a:sym typeface="Arial" panose="020B0604020202020204"/>
              </a:rPr>
              <a:t>6</a:t>
            </a:r>
            <a:r>
              <a:rPr lang="zh-CN" altLang="en-US" sz="1200" b="1" dirty="0">
                <a:solidFill>
                  <a:schemeClr val="bg1"/>
                </a:solidFill>
                <a:latin typeface="Arial" panose="020B0604020202020204"/>
                <a:ea typeface="微软雅黑" panose="020B0503020204020204" charset="-122"/>
                <a:sym typeface="Arial" panose="020B0604020202020204"/>
              </a:rPr>
              <a:t>家</a:t>
            </a:r>
            <a:endParaRPr lang="en-US" altLang="zh-CN" sz="1200" b="1" dirty="0">
              <a:solidFill>
                <a:schemeClr val="bg1"/>
              </a:solidFill>
              <a:latin typeface="Arial" panose="020B0604020202020204"/>
              <a:ea typeface="微软雅黑" panose="020B0503020204020204" charset="-122"/>
              <a:sym typeface="Arial" panose="020B0604020202020204"/>
            </a:endParaRPr>
          </a:p>
        </p:txBody>
      </p:sp>
      <p:sp>
        <p:nvSpPr>
          <p:cNvPr id="56" name="TextBox 98"/>
          <p:cNvSpPr txBox="1">
            <a:spLocks noChangeArrowheads="1"/>
          </p:cNvSpPr>
          <p:nvPr>
            <p:custDataLst>
              <p:tags r:id="rId3"/>
            </p:custDataLst>
          </p:nvPr>
        </p:nvSpPr>
        <p:spPr bwMode="auto">
          <a:xfrm>
            <a:off x="8799828" y="4018331"/>
            <a:ext cx="1808550" cy="523220"/>
          </a:xfrm>
          <a:prstGeom prst="rect">
            <a:avLst/>
          </a:prstGeom>
          <a:noFill/>
          <a:ln w="9525">
            <a:noFill/>
            <a:miter lim="800000"/>
          </a:ln>
        </p:spPr>
        <p:txBody>
          <a:bodyPr wrap="square">
            <a:spAutoFit/>
          </a:bodyPr>
          <a:lstStyle/>
          <a:p>
            <a:r>
              <a:rPr lang="zh-CN" altLang="en-US" sz="1400" dirty="0">
                <a:latin typeface="Arial" panose="020B0604020202020204"/>
                <a:ea typeface="微软雅黑" panose="020B0503020204020204" charset="-122"/>
                <a:sym typeface="Arial" panose="020B0604020202020204"/>
              </a:rPr>
              <a:t>省</a:t>
            </a:r>
            <a:r>
              <a:rPr lang="en-US" altLang="zh-CN" sz="1400" dirty="0">
                <a:latin typeface="Arial" panose="020B0604020202020204"/>
                <a:ea typeface="微软雅黑" panose="020B0503020204020204" charset="-122"/>
                <a:sym typeface="Arial" panose="020B0604020202020204"/>
              </a:rPr>
              <a:t>/</a:t>
            </a:r>
            <a:r>
              <a:rPr lang="zh-CN" altLang="en-US" sz="1400" dirty="0">
                <a:latin typeface="Arial" panose="020B0604020202020204"/>
                <a:ea typeface="微软雅黑" panose="020B0503020204020204" charset="-122"/>
                <a:sym typeface="Arial" panose="020B0604020202020204"/>
              </a:rPr>
              <a:t>市公司统谈装修补贴转保证金</a:t>
            </a:r>
          </a:p>
        </p:txBody>
      </p:sp>
      <p:grpSp>
        <p:nvGrpSpPr>
          <p:cNvPr id="57" name="组合 56"/>
          <p:cNvGrpSpPr/>
          <p:nvPr/>
        </p:nvGrpSpPr>
        <p:grpSpPr>
          <a:xfrm>
            <a:off x="7908524" y="4693066"/>
            <a:ext cx="702000" cy="718794"/>
            <a:chOff x="8866758" y="2281646"/>
            <a:chExt cx="936000" cy="958392"/>
          </a:xfrm>
        </p:grpSpPr>
        <p:sp>
          <p:nvSpPr>
            <p:cNvPr id="58" name="椭圆 57"/>
            <p:cNvSpPr/>
            <p:nvPr/>
          </p:nvSpPr>
          <p:spPr>
            <a:xfrm>
              <a:off x="8874034" y="2294646"/>
              <a:ext cx="920182" cy="945392"/>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59" name="任意多边形 58"/>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sp>
        <p:nvSpPr>
          <p:cNvPr id="63" name="矩形 62"/>
          <p:cNvSpPr/>
          <p:nvPr/>
        </p:nvSpPr>
        <p:spPr>
          <a:xfrm>
            <a:off x="7996609" y="4767523"/>
            <a:ext cx="515122" cy="276999"/>
          </a:xfrm>
          <a:prstGeom prst="rect">
            <a:avLst/>
          </a:prstGeom>
        </p:spPr>
        <p:txBody>
          <a:bodyPr wrap="square">
            <a:spAutoFit/>
          </a:bodyPr>
          <a:lstStyle/>
          <a:p>
            <a:pPr algn="ctr"/>
            <a:r>
              <a:rPr lang="en-US" altLang="zh-CN" sz="1200" b="1" dirty="0">
                <a:solidFill>
                  <a:schemeClr val="bg1"/>
                </a:solidFill>
                <a:latin typeface="Arial" panose="020B0604020202020204"/>
                <a:ea typeface="微软雅黑" panose="020B0503020204020204" charset="-122"/>
                <a:sym typeface="Arial" panose="020B0604020202020204"/>
              </a:rPr>
              <a:t>5</a:t>
            </a:r>
            <a:r>
              <a:rPr lang="zh-CN" altLang="en-US" sz="1200" b="1" dirty="0">
                <a:solidFill>
                  <a:schemeClr val="bg1"/>
                </a:solidFill>
                <a:latin typeface="Arial" panose="020B0604020202020204"/>
                <a:ea typeface="微软雅黑" panose="020B0503020204020204" charset="-122"/>
                <a:sym typeface="Arial" panose="020B0604020202020204"/>
              </a:rPr>
              <a:t>家</a:t>
            </a:r>
            <a:endParaRPr lang="en-US" altLang="zh-CN" sz="1200" b="1" dirty="0">
              <a:solidFill>
                <a:schemeClr val="bg1"/>
              </a:solidFill>
              <a:latin typeface="Arial" panose="020B0604020202020204"/>
              <a:ea typeface="微软雅黑" panose="020B0503020204020204" charset="-122"/>
              <a:sym typeface="Arial" panose="020B0604020202020204"/>
            </a:endParaRPr>
          </a:p>
        </p:txBody>
      </p:sp>
      <p:sp>
        <p:nvSpPr>
          <p:cNvPr id="64" name="TextBox 98"/>
          <p:cNvSpPr txBox="1">
            <a:spLocks noChangeArrowheads="1"/>
          </p:cNvSpPr>
          <p:nvPr>
            <p:custDataLst>
              <p:tags r:id="rId4"/>
            </p:custDataLst>
          </p:nvPr>
        </p:nvSpPr>
        <p:spPr bwMode="auto">
          <a:xfrm>
            <a:off x="8799828" y="4936746"/>
            <a:ext cx="1312844" cy="307777"/>
          </a:xfrm>
          <a:prstGeom prst="rect">
            <a:avLst/>
          </a:prstGeom>
          <a:noFill/>
          <a:ln w="9525">
            <a:noFill/>
            <a:miter lim="800000"/>
          </a:ln>
        </p:spPr>
        <p:txBody>
          <a:bodyPr wrap="square">
            <a:spAutoFit/>
          </a:bodyPr>
          <a:lstStyle/>
          <a:p>
            <a:r>
              <a:rPr lang="zh-CN" altLang="en-US" sz="1400" dirty="0">
                <a:latin typeface="Arial" panose="020B0604020202020204"/>
                <a:ea typeface="微软雅黑" panose="020B0503020204020204" charset="-122"/>
                <a:sym typeface="Arial" panose="020B0604020202020204"/>
              </a:rPr>
              <a:t>降为代理点</a:t>
            </a:r>
          </a:p>
        </p:txBody>
      </p:sp>
      <p:grpSp>
        <p:nvGrpSpPr>
          <p:cNvPr id="65" name="组合 64"/>
          <p:cNvGrpSpPr/>
          <p:nvPr/>
        </p:nvGrpSpPr>
        <p:grpSpPr>
          <a:xfrm>
            <a:off x="7911271" y="5483292"/>
            <a:ext cx="702000" cy="718794"/>
            <a:chOff x="8866758" y="2281646"/>
            <a:chExt cx="936000" cy="958392"/>
          </a:xfrm>
        </p:grpSpPr>
        <p:sp>
          <p:nvSpPr>
            <p:cNvPr id="66" name="椭圆 65"/>
            <p:cNvSpPr/>
            <p:nvPr/>
          </p:nvSpPr>
          <p:spPr>
            <a:xfrm>
              <a:off x="8874034" y="2294646"/>
              <a:ext cx="920182" cy="945392"/>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67" name="任意多边形 66"/>
            <p:cNvSpPr/>
            <p:nvPr/>
          </p:nvSpPr>
          <p:spPr>
            <a:xfrm>
              <a:off x="8866758" y="2281646"/>
              <a:ext cx="936000" cy="461554"/>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sp>
        <p:nvSpPr>
          <p:cNvPr id="71" name="矩形 70"/>
          <p:cNvSpPr/>
          <p:nvPr/>
        </p:nvSpPr>
        <p:spPr>
          <a:xfrm>
            <a:off x="7999357" y="5509621"/>
            <a:ext cx="515122" cy="276999"/>
          </a:xfrm>
          <a:prstGeom prst="rect">
            <a:avLst/>
          </a:prstGeom>
        </p:spPr>
        <p:txBody>
          <a:bodyPr wrap="square">
            <a:spAutoFit/>
          </a:bodyPr>
          <a:lstStyle/>
          <a:p>
            <a:pPr algn="ctr"/>
            <a:r>
              <a:rPr lang="en-US" altLang="zh-CN" sz="1200" b="1" dirty="0">
                <a:solidFill>
                  <a:schemeClr val="bg1"/>
                </a:solidFill>
                <a:latin typeface="Arial" panose="020B0604020202020204"/>
                <a:ea typeface="微软雅黑" panose="020B0503020204020204" charset="-122"/>
                <a:sym typeface="Arial" panose="020B0604020202020204"/>
              </a:rPr>
              <a:t>2</a:t>
            </a:r>
            <a:r>
              <a:rPr lang="zh-CN" altLang="en-US" sz="1200" b="1" dirty="0">
                <a:solidFill>
                  <a:schemeClr val="bg1"/>
                </a:solidFill>
                <a:latin typeface="Arial" panose="020B0604020202020204"/>
                <a:ea typeface="微软雅黑" panose="020B0503020204020204" charset="-122"/>
                <a:sym typeface="Arial" panose="020B0604020202020204"/>
              </a:rPr>
              <a:t>家</a:t>
            </a:r>
            <a:endParaRPr lang="en-US" altLang="zh-CN" sz="1200" b="1" dirty="0">
              <a:solidFill>
                <a:schemeClr val="bg1"/>
              </a:solidFill>
              <a:latin typeface="Arial" panose="020B0604020202020204"/>
              <a:ea typeface="微软雅黑" panose="020B0503020204020204" charset="-122"/>
              <a:sym typeface="Arial" panose="020B0604020202020204"/>
            </a:endParaRPr>
          </a:p>
        </p:txBody>
      </p:sp>
      <p:sp>
        <p:nvSpPr>
          <p:cNvPr id="72" name="TextBox 98"/>
          <p:cNvSpPr txBox="1">
            <a:spLocks noChangeArrowheads="1"/>
          </p:cNvSpPr>
          <p:nvPr>
            <p:custDataLst>
              <p:tags r:id="rId5"/>
            </p:custDataLst>
          </p:nvPr>
        </p:nvSpPr>
        <p:spPr bwMode="auto">
          <a:xfrm>
            <a:off x="8799828" y="5584889"/>
            <a:ext cx="1803733" cy="523220"/>
          </a:xfrm>
          <a:prstGeom prst="rect">
            <a:avLst/>
          </a:prstGeom>
          <a:noFill/>
          <a:ln w="9525">
            <a:noFill/>
            <a:miter lim="800000"/>
          </a:ln>
        </p:spPr>
        <p:txBody>
          <a:bodyPr wrap="square">
            <a:spAutoFit/>
          </a:bodyPr>
          <a:lstStyle/>
          <a:p>
            <a:r>
              <a:rPr lang="zh-CN" altLang="en-US" sz="1400" dirty="0">
                <a:latin typeface="Arial" panose="020B0604020202020204"/>
                <a:ea typeface="微软雅黑" panose="020B0503020204020204" charset="-122"/>
                <a:sym typeface="Arial" panose="020B0604020202020204"/>
              </a:rPr>
              <a:t>拒缴或上报信息不实，待确认</a:t>
            </a:r>
          </a:p>
        </p:txBody>
      </p:sp>
      <p:sp>
        <p:nvSpPr>
          <p:cNvPr id="73" name="圆角矩形 72"/>
          <p:cNvSpPr/>
          <p:nvPr/>
        </p:nvSpPr>
        <p:spPr>
          <a:xfrm>
            <a:off x="4662470" y="2905670"/>
            <a:ext cx="893771" cy="339302"/>
          </a:xfrm>
          <a:prstGeom prst="roundRect">
            <a:avLst>
              <a:gd name="adj" fmla="val 50000"/>
            </a:avLst>
          </a:prstGeom>
          <a:solidFill>
            <a:srgbClr val="C00000"/>
          </a:solidFill>
        </p:spPr>
        <p:txBody>
          <a:bodyPr wrap="none" anchor="ctr">
            <a:noAutofit/>
          </a:bodyPr>
          <a:lstStyle/>
          <a:p>
            <a:pPr algn="ctr"/>
            <a:r>
              <a:rPr lang="zh-CN" altLang="en-US" sz="1100" dirty="0">
                <a:solidFill>
                  <a:schemeClr val="bg1"/>
                </a:solidFill>
                <a:latin typeface="Arial" panose="020B0604020202020204"/>
                <a:ea typeface="微软雅黑" panose="020B0503020204020204" charset="-122"/>
                <a:sym typeface="Arial" panose="020B0604020202020204"/>
              </a:rPr>
              <a:t>手工账系统</a:t>
            </a:r>
          </a:p>
        </p:txBody>
      </p:sp>
      <p:sp>
        <p:nvSpPr>
          <p:cNvPr id="74" name="圆角矩形 73"/>
          <p:cNvSpPr/>
          <p:nvPr/>
        </p:nvSpPr>
        <p:spPr>
          <a:xfrm>
            <a:off x="5701536" y="2905670"/>
            <a:ext cx="917925" cy="339302"/>
          </a:xfrm>
          <a:prstGeom prst="roundRect">
            <a:avLst>
              <a:gd name="adj" fmla="val 50000"/>
            </a:avLst>
          </a:prstGeom>
          <a:solidFill>
            <a:srgbClr val="C00000"/>
          </a:solidFill>
        </p:spPr>
        <p:txBody>
          <a:bodyPr wrap="none" anchor="ctr">
            <a:noAutofit/>
          </a:bodyPr>
          <a:lstStyle/>
          <a:p>
            <a:pPr algn="ctr"/>
            <a:r>
              <a:rPr lang="zh-CN" altLang="en-US" sz="1100" dirty="0">
                <a:solidFill>
                  <a:schemeClr val="bg1"/>
                </a:solidFill>
                <a:latin typeface="Arial" panose="020B0604020202020204"/>
                <a:ea typeface="微软雅黑" panose="020B0503020204020204" charset="-122"/>
                <a:sym typeface="Arial" panose="020B0604020202020204"/>
              </a:rPr>
              <a:t>押金管理系统</a:t>
            </a:r>
          </a:p>
        </p:txBody>
      </p:sp>
      <p:sp>
        <p:nvSpPr>
          <p:cNvPr id="75" name="TextBox 2104"/>
          <p:cNvSpPr txBox="1">
            <a:spLocks noChangeArrowheads="1"/>
          </p:cNvSpPr>
          <p:nvPr>
            <p:custDataLst>
              <p:tags r:id="rId6"/>
            </p:custDataLst>
          </p:nvPr>
        </p:nvSpPr>
        <p:spPr bwMode="auto">
          <a:xfrm>
            <a:off x="4811900" y="3332447"/>
            <a:ext cx="627452" cy="253916"/>
          </a:xfrm>
          <a:prstGeom prst="rect">
            <a:avLst/>
          </a:prstGeom>
          <a:noFill/>
          <a:ln w="9525">
            <a:noFill/>
            <a:miter lim="800000"/>
          </a:ln>
        </p:spPr>
        <p:txBody>
          <a:bodyPr>
            <a:spAutoFit/>
          </a:bodyPr>
          <a:lstStyle/>
          <a:p>
            <a:r>
              <a:rPr lang="en-US" altLang="zh-CN" sz="1050" dirty="0">
                <a:latin typeface="Arial" panose="020B0604020202020204"/>
                <a:ea typeface="微软雅黑" panose="020B0503020204020204" charset="-122"/>
                <a:sym typeface="Arial" panose="020B0604020202020204"/>
              </a:rPr>
              <a:t>41.1</a:t>
            </a:r>
            <a:r>
              <a:rPr lang="zh-CN" altLang="en-US" sz="1050" dirty="0">
                <a:latin typeface="Arial" panose="020B0604020202020204"/>
                <a:ea typeface="微软雅黑" panose="020B0503020204020204" charset="-122"/>
                <a:sym typeface="Arial" panose="020B0604020202020204"/>
              </a:rPr>
              <a:t>万</a:t>
            </a:r>
          </a:p>
        </p:txBody>
      </p:sp>
      <p:sp>
        <p:nvSpPr>
          <p:cNvPr id="76" name="TextBox 95"/>
          <p:cNvSpPr txBox="1">
            <a:spLocks noChangeArrowheads="1"/>
          </p:cNvSpPr>
          <p:nvPr>
            <p:custDataLst>
              <p:tags r:id="rId7"/>
            </p:custDataLst>
          </p:nvPr>
        </p:nvSpPr>
        <p:spPr bwMode="auto">
          <a:xfrm>
            <a:off x="5631031" y="3332447"/>
            <a:ext cx="776910" cy="253916"/>
          </a:xfrm>
          <a:prstGeom prst="rect">
            <a:avLst/>
          </a:prstGeom>
          <a:noFill/>
          <a:ln w="9525">
            <a:noFill/>
            <a:miter lim="800000"/>
          </a:ln>
        </p:spPr>
        <p:txBody>
          <a:bodyPr wrap="square">
            <a:spAutoFit/>
          </a:bodyPr>
          <a:lstStyle/>
          <a:p>
            <a:pPr algn="ctr"/>
            <a:r>
              <a:rPr lang="en-US" altLang="zh-CN" sz="1050" dirty="0">
                <a:latin typeface="Arial" panose="020B0604020202020204"/>
                <a:ea typeface="微软雅黑" panose="020B0503020204020204" charset="-122"/>
                <a:sym typeface="Arial" panose="020B0604020202020204"/>
              </a:rPr>
              <a:t>122.1</a:t>
            </a:r>
            <a:r>
              <a:rPr lang="zh-CN" altLang="en-US" sz="1050" dirty="0">
                <a:latin typeface="Arial" panose="020B0604020202020204"/>
                <a:ea typeface="微软雅黑" panose="020B0503020204020204" charset="-122"/>
                <a:sym typeface="Arial" panose="020B0604020202020204"/>
              </a:rPr>
              <a:t>万</a:t>
            </a:r>
          </a:p>
        </p:txBody>
      </p:sp>
      <p:sp>
        <p:nvSpPr>
          <p:cNvPr id="77" name="Text Box 121"/>
          <p:cNvSpPr txBox="1">
            <a:spLocks noChangeArrowheads="1"/>
          </p:cNvSpPr>
          <p:nvPr>
            <p:custDataLst>
              <p:tags r:id="rId8"/>
            </p:custDataLst>
          </p:nvPr>
        </p:nvSpPr>
        <p:spPr bwMode="auto">
          <a:xfrm>
            <a:off x="6346194" y="3747947"/>
            <a:ext cx="1183989" cy="1084214"/>
          </a:xfrm>
          <a:prstGeom prst="rect">
            <a:avLst/>
          </a:prstGeom>
          <a:solidFill>
            <a:srgbClr val="C00000"/>
          </a:solidFill>
          <a:ln w="9525">
            <a:noFill/>
            <a:miter lim="800000"/>
          </a:ln>
        </p:spPr>
        <p:txBody>
          <a:bodyPr anchor="ctr"/>
          <a:lstStyle/>
          <a:p>
            <a:pPr algn="ctr">
              <a:lnSpc>
                <a:spcPct val="150000"/>
              </a:lnSpc>
              <a:defRPr/>
            </a:pPr>
            <a:r>
              <a:rPr lang="zh-CN" altLang="en-US" sz="1050" dirty="0">
                <a:solidFill>
                  <a:schemeClr val="bg1"/>
                </a:solidFill>
                <a:latin typeface="Arial" panose="020B0604020202020204"/>
                <a:ea typeface="微软雅黑" panose="020B0503020204020204" charset="-122"/>
                <a:sym typeface="Arial" panose="020B0604020202020204"/>
              </a:rPr>
              <a:t>前期通报的</a:t>
            </a:r>
            <a:r>
              <a:rPr lang="en-US" altLang="zh-CN" sz="1050" dirty="0">
                <a:solidFill>
                  <a:schemeClr val="bg1"/>
                </a:solidFill>
                <a:latin typeface="Arial" panose="020B0604020202020204"/>
                <a:ea typeface="微软雅黑" panose="020B0503020204020204" charset="-122"/>
                <a:sym typeface="Arial" panose="020B0604020202020204"/>
              </a:rPr>
              <a:t>60</a:t>
            </a:r>
            <a:r>
              <a:rPr lang="zh-CN" altLang="en-US" sz="1050" dirty="0">
                <a:solidFill>
                  <a:schemeClr val="bg1"/>
                </a:solidFill>
                <a:latin typeface="Arial" panose="020B0604020202020204"/>
                <a:ea typeface="微软雅黑" panose="020B0503020204020204" charset="-122"/>
                <a:sym typeface="Arial" panose="020B0604020202020204"/>
              </a:rPr>
              <a:t>家未缴保证金的专营店</a:t>
            </a:r>
            <a:endParaRPr lang="en-US" altLang="zh-CN" sz="1050" dirty="0">
              <a:solidFill>
                <a:schemeClr val="bg1"/>
              </a:solidFill>
              <a:latin typeface="Arial" panose="020B0604020202020204"/>
              <a:ea typeface="微软雅黑" panose="020B0503020204020204" charset="-122"/>
              <a:sym typeface="Arial" panose="020B0604020202020204"/>
            </a:endParaRPr>
          </a:p>
          <a:p>
            <a:pPr algn="ctr">
              <a:lnSpc>
                <a:spcPct val="150000"/>
              </a:lnSpc>
              <a:defRPr/>
            </a:pPr>
            <a:r>
              <a:rPr lang="zh-CN" altLang="en-US" sz="900" b="1" dirty="0">
                <a:solidFill>
                  <a:schemeClr val="bg1"/>
                </a:solidFill>
                <a:latin typeface="Arial" panose="020B0604020202020204"/>
                <a:ea typeface="微软雅黑" panose="020B0503020204020204" charset="-122"/>
                <a:sym typeface="Arial" panose="020B0604020202020204"/>
              </a:rPr>
              <a:t>（其中：</a:t>
            </a:r>
            <a:r>
              <a:rPr lang="en-US" altLang="zh-CN" sz="900" b="1" dirty="0">
                <a:solidFill>
                  <a:schemeClr val="bg1"/>
                </a:solidFill>
                <a:latin typeface="Arial" panose="020B0604020202020204"/>
                <a:ea typeface="微软雅黑" panose="020B0503020204020204" charset="-122"/>
                <a:sym typeface="Arial" panose="020B0604020202020204"/>
              </a:rPr>
              <a:t>1</a:t>
            </a:r>
            <a:r>
              <a:rPr lang="zh-CN" altLang="en-US" sz="900" b="1" dirty="0">
                <a:solidFill>
                  <a:schemeClr val="bg1"/>
                </a:solidFill>
                <a:latin typeface="Arial" panose="020B0604020202020204"/>
                <a:ea typeface="微软雅黑" panose="020B0503020204020204" charset="-122"/>
                <a:sym typeface="Arial" panose="020B0604020202020204"/>
              </a:rPr>
              <a:t>家分</a:t>
            </a:r>
            <a:r>
              <a:rPr lang="en-US" altLang="zh-CN" sz="900" b="1" dirty="0">
                <a:solidFill>
                  <a:schemeClr val="bg1"/>
                </a:solidFill>
                <a:latin typeface="Arial" panose="020B0604020202020204"/>
                <a:ea typeface="微软雅黑" panose="020B0503020204020204" charset="-122"/>
                <a:sym typeface="Arial" panose="020B0604020202020204"/>
              </a:rPr>
              <a:t>2</a:t>
            </a:r>
            <a:r>
              <a:rPr lang="zh-CN" altLang="en-US" sz="900" b="1" dirty="0">
                <a:solidFill>
                  <a:schemeClr val="bg1"/>
                </a:solidFill>
                <a:latin typeface="Arial" panose="020B0604020202020204"/>
                <a:ea typeface="微软雅黑" panose="020B0503020204020204" charset="-122"/>
                <a:sym typeface="Arial" panose="020B0604020202020204"/>
              </a:rPr>
              <a:t>个）</a:t>
            </a:r>
            <a:endParaRPr lang="zh-CN" altLang="en-US" sz="900" b="1" dirty="0">
              <a:solidFill>
                <a:schemeClr val="bg1"/>
              </a:solidFill>
              <a:effectLst>
                <a:outerShdw blurRad="38100" dist="38100" dir="2700000" algn="tl">
                  <a:srgbClr val="C0C0C0"/>
                </a:outerShdw>
              </a:effectLst>
              <a:latin typeface="Arial" panose="020B0604020202020204"/>
              <a:ea typeface="微软雅黑" panose="020B0503020204020204" charset="-122"/>
              <a:sym typeface="Arial" panose="020B0604020202020204"/>
            </a:endParaRPr>
          </a:p>
        </p:txBody>
      </p:sp>
      <p:sp>
        <p:nvSpPr>
          <p:cNvPr id="78" name="TextBox 96"/>
          <p:cNvSpPr txBox="1">
            <a:spLocks noChangeArrowheads="1"/>
          </p:cNvSpPr>
          <p:nvPr>
            <p:custDataLst>
              <p:tags r:id="rId9"/>
            </p:custDataLst>
          </p:nvPr>
        </p:nvSpPr>
        <p:spPr bwMode="auto">
          <a:xfrm>
            <a:off x="4832372" y="4383648"/>
            <a:ext cx="627452" cy="253916"/>
          </a:xfrm>
          <a:prstGeom prst="rect">
            <a:avLst/>
          </a:prstGeom>
          <a:noFill/>
          <a:ln w="9525">
            <a:noFill/>
            <a:miter lim="800000"/>
          </a:ln>
        </p:spPr>
        <p:txBody>
          <a:bodyPr>
            <a:spAutoFit/>
          </a:bodyPr>
          <a:lstStyle/>
          <a:p>
            <a:r>
              <a:rPr lang="en-US" altLang="zh-CN" sz="1050" dirty="0">
                <a:latin typeface="Arial" panose="020B0604020202020204"/>
                <a:ea typeface="微软雅黑" panose="020B0503020204020204" charset="-122"/>
                <a:sym typeface="Arial" panose="020B0604020202020204"/>
              </a:rPr>
              <a:t>5.9</a:t>
            </a:r>
            <a:r>
              <a:rPr lang="zh-CN" altLang="en-US" sz="1050" dirty="0">
                <a:latin typeface="Arial" panose="020B0604020202020204"/>
                <a:ea typeface="微软雅黑" panose="020B0503020204020204" charset="-122"/>
                <a:sym typeface="Arial" panose="020B0604020202020204"/>
              </a:rPr>
              <a:t>万</a:t>
            </a:r>
          </a:p>
        </p:txBody>
      </p:sp>
      <p:sp>
        <p:nvSpPr>
          <p:cNvPr id="79" name="TextBox 97"/>
          <p:cNvSpPr txBox="1">
            <a:spLocks noChangeArrowheads="1"/>
          </p:cNvSpPr>
          <p:nvPr>
            <p:custDataLst>
              <p:tags r:id="rId10"/>
            </p:custDataLst>
          </p:nvPr>
        </p:nvSpPr>
        <p:spPr bwMode="auto">
          <a:xfrm>
            <a:off x="5784569" y="4383648"/>
            <a:ext cx="627452" cy="253916"/>
          </a:xfrm>
          <a:prstGeom prst="rect">
            <a:avLst/>
          </a:prstGeom>
          <a:noFill/>
          <a:ln w="9525">
            <a:noFill/>
            <a:miter lim="800000"/>
          </a:ln>
        </p:spPr>
        <p:txBody>
          <a:bodyPr>
            <a:spAutoFit/>
          </a:bodyPr>
          <a:lstStyle/>
          <a:p>
            <a:r>
              <a:rPr lang="en-US" altLang="zh-CN" sz="1050" dirty="0">
                <a:latin typeface="Arial" panose="020B0604020202020204"/>
                <a:ea typeface="微软雅黑" panose="020B0503020204020204" charset="-122"/>
                <a:sym typeface="Arial" panose="020B0604020202020204"/>
              </a:rPr>
              <a:t>1.1</a:t>
            </a:r>
            <a:r>
              <a:rPr lang="zh-CN" altLang="en-US" sz="1050" dirty="0">
                <a:latin typeface="Arial" panose="020B0604020202020204"/>
                <a:ea typeface="微软雅黑" panose="020B0503020204020204" charset="-122"/>
                <a:sym typeface="Arial" panose="020B0604020202020204"/>
              </a:rPr>
              <a:t>万</a:t>
            </a:r>
          </a:p>
        </p:txBody>
      </p:sp>
      <p:cxnSp>
        <p:nvCxnSpPr>
          <p:cNvPr id="80" name="肘形连接符 79"/>
          <p:cNvCxnSpPr>
            <a:stCxn id="77" idx="0"/>
          </p:cNvCxnSpPr>
          <p:nvPr/>
        </p:nvCxnSpPr>
        <p:spPr>
          <a:xfrm rot="16200000" flipV="1">
            <a:off x="5923527" y="2733285"/>
            <a:ext cx="144519" cy="1884804"/>
          </a:xfrm>
          <a:prstGeom prst="bentConnector2">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1" name="肘形连接符 80"/>
          <p:cNvCxnSpPr>
            <a:endCxn id="76" idx="3"/>
          </p:cNvCxnSpPr>
          <p:nvPr/>
        </p:nvCxnSpPr>
        <p:spPr>
          <a:xfrm rot="10800000">
            <a:off x="6407941" y="3459405"/>
            <a:ext cx="833306" cy="281160"/>
          </a:xfrm>
          <a:prstGeom prst="bentConnector3">
            <a:avLst>
              <a:gd name="adj1" fmla="val 910"/>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2" name="矩形 81"/>
          <p:cNvSpPr/>
          <p:nvPr/>
        </p:nvSpPr>
        <p:spPr>
          <a:xfrm>
            <a:off x="6661298" y="3173055"/>
            <a:ext cx="527709" cy="276999"/>
          </a:xfrm>
          <a:prstGeom prst="rect">
            <a:avLst/>
          </a:prstGeom>
        </p:spPr>
        <p:txBody>
          <a:bodyPr wrap="none">
            <a:spAutoFit/>
          </a:bodyPr>
          <a:lstStyle/>
          <a:p>
            <a:r>
              <a:rPr lang="en-US" altLang="zh-CN" sz="1200" b="1" dirty="0">
                <a:latin typeface="Arial" panose="020B0604020202020204"/>
                <a:ea typeface="微软雅黑" panose="020B0503020204020204" charset="-122"/>
                <a:sym typeface="Arial" panose="020B0604020202020204"/>
              </a:rPr>
              <a:t>26</a:t>
            </a:r>
            <a:r>
              <a:rPr lang="zh-CN" altLang="en-US" sz="1200" b="1" dirty="0">
                <a:latin typeface="Arial" panose="020B0604020202020204"/>
                <a:ea typeface="微软雅黑" panose="020B0503020204020204" charset="-122"/>
                <a:sym typeface="Arial" panose="020B0604020202020204"/>
              </a:rPr>
              <a:t>家</a:t>
            </a:r>
          </a:p>
        </p:txBody>
      </p:sp>
      <p:sp>
        <p:nvSpPr>
          <p:cNvPr id="83" name="矩形 82"/>
          <p:cNvSpPr/>
          <p:nvPr/>
        </p:nvSpPr>
        <p:spPr>
          <a:xfrm>
            <a:off x="5201630" y="3630272"/>
            <a:ext cx="433132" cy="276999"/>
          </a:xfrm>
          <a:prstGeom prst="rect">
            <a:avLst/>
          </a:prstGeom>
        </p:spPr>
        <p:txBody>
          <a:bodyPr wrap="none">
            <a:spAutoFit/>
          </a:bodyPr>
          <a:lstStyle/>
          <a:p>
            <a:r>
              <a:rPr lang="en-US" altLang="zh-CN" sz="1200" b="1" dirty="0">
                <a:latin typeface="Arial" panose="020B0604020202020204"/>
                <a:ea typeface="微软雅黑" panose="020B0503020204020204" charset="-122"/>
                <a:sym typeface="Arial" panose="020B0604020202020204"/>
              </a:rPr>
              <a:t>5</a:t>
            </a:r>
            <a:r>
              <a:rPr lang="zh-CN" altLang="en-US" sz="1200" b="1" dirty="0">
                <a:latin typeface="Arial" panose="020B0604020202020204"/>
                <a:ea typeface="微软雅黑" panose="020B0503020204020204" charset="-122"/>
                <a:sym typeface="Arial" panose="020B0604020202020204"/>
              </a:rPr>
              <a:t>家</a:t>
            </a:r>
          </a:p>
        </p:txBody>
      </p:sp>
      <p:sp>
        <p:nvSpPr>
          <p:cNvPr id="84" name="Text Box 73"/>
          <p:cNvSpPr txBox="1">
            <a:spLocks noChangeArrowheads="1"/>
          </p:cNvSpPr>
          <p:nvPr>
            <p:custDataLst>
              <p:tags r:id="rId11"/>
            </p:custDataLst>
          </p:nvPr>
        </p:nvSpPr>
        <p:spPr bwMode="auto">
          <a:xfrm>
            <a:off x="4836866" y="5068195"/>
            <a:ext cx="1029705" cy="371475"/>
          </a:xfrm>
          <a:prstGeom prst="rect">
            <a:avLst/>
          </a:prstGeom>
          <a:solidFill>
            <a:schemeClr val="tx1">
              <a:lumMod val="50000"/>
              <a:lumOff val="50000"/>
            </a:schemeClr>
          </a:solidFill>
          <a:ln w="9525">
            <a:solidFill>
              <a:srgbClr val="005DA2"/>
            </a:solidFill>
            <a:miter lim="800000"/>
          </a:ln>
        </p:spPr>
        <p:txBody>
          <a:bodyPr/>
          <a:lstStyle/>
          <a:p>
            <a:pPr algn="ctr" eaLnBrk="0" hangingPunct="0"/>
            <a:r>
              <a:rPr lang="en-US" altLang="zh-CN" sz="1050" dirty="0">
                <a:solidFill>
                  <a:schemeClr val="bg1"/>
                </a:solidFill>
                <a:latin typeface="Arial" panose="020B0604020202020204"/>
                <a:ea typeface="微软雅黑" panose="020B0503020204020204" charset="-122"/>
                <a:cs typeface="Times New Roman" panose="02020603050405020304" pitchFamily="18" charset="0"/>
                <a:sym typeface="Arial" panose="020B0604020202020204"/>
              </a:rPr>
              <a:t>47</a:t>
            </a:r>
            <a:r>
              <a:rPr lang="zh-CN" altLang="en-US" sz="1050" dirty="0">
                <a:solidFill>
                  <a:schemeClr val="bg1"/>
                </a:solidFill>
                <a:latin typeface="Arial" panose="020B0604020202020204"/>
                <a:ea typeface="微软雅黑" panose="020B0503020204020204" charset="-122"/>
                <a:cs typeface="Times New Roman" panose="02020603050405020304" pitchFamily="18" charset="0"/>
                <a:sym typeface="Arial" panose="020B0604020202020204"/>
              </a:rPr>
              <a:t>家代理商：</a:t>
            </a:r>
            <a:endParaRPr lang="zh-CN" altLang="en-US" sz="1050" dirty="0">
              <a:solidFill>
                <a:schemeClr val="bg1"/>
              </a:solidFill>
              <a:latin typeface="Arial" panose="020B0604020202020204"/>
              <a:ea typeface="微软雅黑" panose="020B0503020204020204" charset="-122"/>
              <a:sym typeface="Arial" panose="020B0604020202020204"/>
            </a:endParaRPr>
          </a:p>
          <a:p>
            <a:pPr algn="ctr" eaLnBrk="0" hangingPunct="0"/>
            <a:r>
              <a:rPr lang="zh-CN" altLang="en-US" sz="1050" dirty="0">
                <a:solidFill>
                  <a:schemeClr val="bg1"/>
                </a:solidFill>
                <a:latin typeface="Arial" panose="020B0604020202020204"/>
                <a:ea typeface="微软雅黑" panose="020B0503020204020204" charset="-122"/>
                <a:cs typeface="Times New Roman" panose="02020603050405020304" pitchFamily="18" charset="0"/>
                <a:sym typeface="Arial" panose="020B0604020202020204"/>
              </a:rPr>
              <a:t>未稽核</a:t>
            </a:r>
            <a:endParaRPr lang="zh-CN" altLang="en-US" sz="1050" dirty="0">
              <a:solidFill>
                <a:schemeClr val="bg1"/>
              </a:solidFill>
              <a:latin typeface="Arial" panose="020B0604020202020204"/>
              <a:ea typeface="微软雅黑" panose="020B0503020204020204" charset="-122"/>
              <a:sym typeface="Arial" panose="020B0604020202020204"/>
            </a:endParaRPr>
          </a:p>
        </p:txBody>
      </p:sp>
      <p:sp>
        <p:nvSpPr>
          <p:cNvPr id="85" name="Text Box 72"/>
          <p:cNvSpPr txBox="1">
            <a:spLocks noChangeArrowheads="1"/>
          </p:cNvSpPr>
          <p:nvPr>
            <p:custDataLst>
              <p:tags r:id="rId12"/>
            </p:custDataLst>
          </p:nvPr>
        </p:nvSpPr>
        <p:spPr bwMode="auto">
          <a:xfrm>
            <a:off x="4836866" y="5614692"/>
            <a:ext cx="1029705" cy="370284"/>
          </a:xfrm>
          <a:prstGeom prst="rect">
            <a:avLst/>
          </a:prstGeom>
          <a:solidFill>
            <a:srgbClr val="C00000"/>
          </a:solidFill>
          <a:ln w="9525">
            <a:noFill/>
            <a:miter lim="800000"/>
          </a:ln>
        </p:spPr>
        <p:txBody>
          <a:bodyPr anchor="ctr"/>
          <a:lstStyle/>
          <a:p>
            <a:pPr algn="ctr" eaLnBrk="0" hangingPunct="0"/>
            <a:r>
              <a:rPr lang="en-US" altLang="zh-CN" sz="1050" dirty="0">
                <a:solidFill>
                  <a:schemeClr val="bg1"/>
                </a:solidFill>
                <a:latin typeface="Arial" panose="020B0604020202020204"/>
                <a:ea typeface="微软雅黑" panose="020B0503020204020204" charset="-122"/>
                <a:cs typeface="Times New Roman" panose="02020603050405020304" pitchFamily="18" charset="0"/>
                <a:sym typeface="Arial" panose="020B0604020202020204"/>
              </a:rPr>
              <a:t>30</a:t>
            </a:r>
            <a:r>
              <a:rPr lang="zh-CN" altLang="en-US" sz="1050" dirty="0">
                <a:solidFill>
                  <a:schemeClr val="bg1"/>
                </a:solidFill>
                <a:latin typeface="Arial" panose="020B0604020202020204"/>
                <a:ea typeface="微软雅黑" panose="020B0503020204020204" charset="-122"/>
                <a:cs typeface="Times New Roman" panose="02020603050405020304" pitchFamily="18" charset="0"/>
                <a:sym typeface="Arial" panose="020B0604020202020204"/>
              </a:rPr>
              <a:t>家专营店</a:t>
            </a:r>
            <a:endParaRPr lang="zh-CN" altLang="en-US" sz="1050" dirty="0">
              <a:solidFill>
                <a:schemeClr val="bg1"/>
              </a:solidFill>
              <a:latin typeface="Arial" panose="020B0604020202020204"/>
              <a:ea typeface="微软雅黑" panose="020B0503020204020204" charset="-122"/>
              <a:sym typeface="Arial" panose="020B0604020202020204"/>
            </a:endParaRPr>
          </a:p>
        </p:txBody>
      </p:sp>
      <p:cxnSp>
        <p:nvCxnSpPr>
          <p:cNvPr id="86" name="肘形连接符 85"/>
          <p:cNvCxnSpPr>
            <a:stCxn id="24" idx="6"/>
            <a:endCxn id="84" idx="1"/>
          </p:cNvCxnSpPr>
          <p:nvPr/>
        </p:nvCxnSpPr>
        <p:spPr>
          <a:xfrm flipV="1">
            <a:off x="4579026" y="5253932"/>
            <a:ext cx="257840" cy="27182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肘形连接符 86"/>
          <p:cNvCxnSpPr>
            <a:stCxn id="24" idx="6"/>
            <a:endCxn id="85" idx="1"/>
          </p:cNvCxnSpPr>
          <p:nvPr/>
        </p:nvCxnSpPr>
        <p:spPr>
          <a:xfrm>
            <a:off x="4579026" y="5525761"/>
            <a:ext cx="257840" cy="27407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 name="组合 87"/>
          <p:cNvGrpSpPr/>
          <p:nvPr/>
        </p:nvGrpSpPr>
        <p:grpSpPr>
          <a:xfrm>
            <a:off x="6050407" y="4895898"/>
            <a:ext cx="725952" cy="718794"/>
            <a:chOff x="10572111" y="2281646"/>
            <a:chExt cx="967936" cy="958392"/>
          </a:xfrm>
        </p:grpSpPr>
        <p:grpSp>
          <p:nvGrpSpPr>
            <p:cNvPr id="89" name="组合 88"/>
            <p:cNvGrpSpPr/>
            <p:nvPr/>
          </p:nvGrpSpPr>
          <p:grpSpPr>
            <a:xfrm>
              <a:off x="10593654" y="2281646"/>
              <a:ext cx="946393" cy="958392"/>
              <a:chOff x="8874034" y="2281646"/>
              <a:chExt cx="946393" cy="958392"/>
            </a:xfrm>
          </p:grpSpPr>
          <p:sp>
            <p:nvSpPr>
              <p:cNvPr id="91" name="椭圆 90"/>
              <p:cNvSpPr/>
              <p:nvPr/>
            </p:nvSpPr>
            <p:spPr>
              <a:xfrm>
                <a:off x="8874034" y="2294646"/>
                <a:ext cx="920182" cy="945392"/>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nvGrpSpPr>
              <p:cNvPr id="92" name="组合 91"/>
              <p:cNvGrpSpPr/>
              <p:nvPr/>
            </p:nvGrpSpPr>
            <p:grpSpPr>
              <a:xfrm>
                <a:off x="9064488" y="2727137"/>
                <a:ext cx="549498" cy="441991"/>
                <a:chOff x="9100270" y="2727137"/>
                <a:chExt cx="472427" cy="441991"/>
              </a:xfrm>
            </p:grpSpPr>
            <p:sp>
              <p:nvSpPr>
                <p:cNvPr id="94" name="椭圆 93"/>
                <p:cNvSpPr/>
                <p:nvPr/>
              </p:nvSpPr>
              <p:spPr>
                <a:xfrm>
                  <a:off x="9132073" y="2763612"/>
                  <a:ext cx="413468" cy="405516"/>
                </a:xfrm>
                <a:prstGeom prst="ellips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sp>
              <p:nvSpPr>
                <p:cNvPr id="95" name="椭圆 94"/>
                <p:cNvSpPr/>
                <p:nvPr/>
              </p:nvSpPr>
              <p:spPr>
                <a:xfrm>
                  <a:off x="9100270" y="2727137"/>
                  <a:ext cx="472427" cy="4055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sp>
            <p:nvSpPr>
              <p:cNvPr id="93" name="任意多边形 92"/>
              <p:cNvSpPr/>
              <p:nvPr/>
            </p:nvSpPr>
            <p:spPr>
              <a:xfrm>
                <a:off x="8884427" y="2281646"/>
                <a:ext cx="936000" cy="461555"/>
              </a:xfrm>
              <a:custGeom>
                <a:avLst/>
                <a:gdLst>
                  <a:gd name="connsiteX0" fmla="*/ 452846 w 905691"/>
                  <a:gd name="connsiteY0" fmla="*/ 0 h 461554"/>
                  <a:gd name="connsiteX1" fmla="*/ 905691 w 905691"/>
                  <a:gd name="connsiteY1" fmla="*/ 461554 h 461554"/>
                  <a:gd name="connsiteX2" fmla="*/ 0 w 905691"/>
                  <a:gd name="connsiteY2" fmla="*/ 461554 h 461554"/>
                  <a:gd name="connsiteX3" fmla="*/ 452846 w 905691"/>
                  <a:gd name="connsiteY3" fmla="*/ 0 h 461554"/>
                  <a:gd name="connsiteX0-1" fmla="*/ 452846 w 905691"/>
                  <a:gd name="connsiteY0-2" fmla="*/ 0 h 461554"/>
                  <a:gd name="connsiteX1-3" fmla="*/ 905691 w 905691"/>
                  <a:gd name="connsiteY1-4" fmla="*/ 461554 h 461554"/>
                  <a:gd name="connsiteX2-5" fmla="*/ 0 w 905691"/>
                  <a:gd name="connsiteY2-6" fmla="*/ 461554 h 461554"/>
                  <a:gd name="connsiteX3-7" fmla="*/ 452846 w 905691"/>
                  <a:gd name="connsiteY3-8" fmla="*/ 0 h 461554"/>
                  <a:gd name="connsiteX0-9" fmla="*/ 452846 w 905691"/>
                  <a:gd name="connsiteY0-10" fmla="*/ 0 h 461554"/>
                  <a:gd name="connsiteX1-11" fmla="*/ 905691 w 905691"/>
                  <a:gd name="connsiteY1-12" fmla="*/ 461554 h 461554"/>
                  <a:gd name="connsiteX2-13" fmla="*/ 0 w 905691"/>
                  <a:gd name="connsiteY2-14" fmla="*/ 461554 h 461554"/>
                  <a:gd name="connsiteX3-15" fmla="*/ 452846 w 905691"/>
                  <a:gd name="connsiteY3-16" fmla="*/ 0 h 461554"/>
                  <a:gd name="connsiteX0-17" fmla="*/ 452846 w 905691"/>
                  <a:gd name="connsiteY0-18" fmla="*/ 0 h 461554"/>
                  <a:gd name="connsiteX1-19" fmla="*/ 905691 w 905691"/>
                  <a:gd name="connsiteY1-20" fmla="*/ 461554 h 461554"/>
                  <a:gd name="connsiteX2-21" fmla="*/ 0 w 905691"/>
                  <a:gd name="connsiteY2-22" fmla="*/ 461554 h 461554"/>
                  <a:gd name="connsiteX3-23" fmla="*/ 452846 w 905691"/>
                  <a:gd name="connsiteY3-24" fmla="*/ 0 h 461554"/>
                  <a:gd name="connsiteX0-25" fmla="*/ 452846 w 905691"/>
                  <a:gd name="connsiteY0-26" fmla="*/ 0 h 461554"/>
                  <a:gd name="connsiteX1-27" fmla="*/ 905691 w 905691"/>
                  <a:gd name="connsiteY1-28" fmla="*/ 461554 h 461554"/>
                  <a:gd name="connsiteX2-29" fmla="*/ 0 w 905691"/>
                  <a:gd name="connsiteY2-30" fmla="*/ 461554 h 461554"/>
                  <a:gd name="connsiteX3-31" fmla="*/ 452846 w 905691"/>
                  <a:gd name="connsiteY3-32" fmla="*/ 0 h 461554"/>
                  <a:gd name="connsiteX0-33" fmla="*/ 452846 w 905691"/>
                  <a:gd name="connsiteY0-34" fmla="*/ 0 h 461554"/>
                  <a:gd name="connsiteX1-35" fmla="*/ 905691 w 905691"/>
                  <a:gd name="connsiteY1-36" fmla="*/ 461554 h 461554"/>
                  <a:gd name="connsiteX2-37" fmla="*/ 0 w 905691"/>
                  <a:gd name="connsiteY2-38" fmla="*/ 461554 h 461554"/>
                  <a:gd name="connsiteX3-39" fmla="*/ 452846 w 905691"/>
                  <a:gd name="connsiteY3-40" fmla="*/ 0 h 461554"/>
                  <a:gd name="connsiteX0-41" fmla="*/ 452846 w 905691"/>
                  <a:gd name="connsiteY0-42" fmla="*/ 0 h 461554"/>
                  <a:gd name="connsiteX1-43" fmla="*/ 905691 w 905691"/>
                  <a:gd name="connsiteY1-44" fmla="*/ 461554 h 461554"/>
                  <a:gd name="connsiteX2-45" fmla="*/ 0 w 905691"/>
                  <a:gd name="connsiteY2-46" fmla="*/ 461554 h 461554"/>
                  <a:gd name="connsiteX3-47" fmla="*/ 452846 w 905691"/>
                  <a:gd name="connsiteY3-48" fmla="*/ 0 h 461554"/>
                  <a:gd name="connsiteX0-49" fmla="*/ 452927 w 905772"/>
                  <a:gd name="connsiteY0-50" fmla="*/ 0 h 461554"/>
                  <a:gd name="connsiteX1-51" fmla="*/ 905772 w 905772"/>
                  <a:gd name="connsiteY1-52" fmla="*/ 461554 h 461554"/>
                  <a:gd name="connsiteX2-53" fmla="*/ 81 w 905772"/>
                  <a:gd name="connsiteY2-54" fmla="*/ 461554 h 461554"/>
                  <a:gd name="connsiteX3-55" fmla="*/ 452927 w 905772"/>
                  <a:gd name="connsiteY3-56" fmla="*/ 0 h 461554"/>
                </a:gdLst>
                <a:ahLst/>
                <a:cxnLst>
                  <a:cxn ang="0">
                    <a:pos x="connsiteX0-1" y="connsiteY0-2"/>
                  </a:cxn>
                  <a:cxn ang="0">
                    <a:pos x="connsiteX1-3" y="connsiteY1-4"/>
                  </a:cxn>
                  <a:cxn ang="0">
                    <a:pos x="connsiteX2-5" y="connsiteY2-6"/>
                  </a:cxn>
                  <a:cxn ang="0">
                    <a:pos x="connsiteX3-7" y="connsiteY3-8"/>
                  </a:cxn>
                </a:cxnLst>
                <a:rect l="l" t="t" r="r" b="b"/>
                <a:pathLst>
                  <a:path w="905772" h="461554">
                    <a:moveTo>
                      <a:pt x="452927" y="0"/>
                    </a:moveTo>
                    <a:cubicBezTo>
                      <a:pt x="739047" y="2777"/>
                      <a:pt x="901923" y="252044"/>
                      <a:pt x="905772" y="461554"/>
                    </a:cubicBezTo>
                    <a:lnTo>
                      <a:pt x="81" y="461554"/>
                    </a:lnTo>
                    <a:cubicBezTo>
                      <a:pt x="-4021" y="259995"/>
                      <a:pt x="146927" y="6752"/>
                      <a:pt x="452927"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latin typeface="Arial" panose="020B0604020202020204"/>
                  <a:ea typeface="微软雅黑" panose="020B0503020204020204" charset="-122"/>
                  <a:sym typeface="Arial" panose="020B0604020202020204"/>
                </a:endParaRPr>
              </a:p>
            </p:txBody>
          </p:sp>
        </p:grpSp>
        <p:sp>
          <p:nvSpPr>
            <p:cNvPr id="90" name="TextBox 98"/>
            <p:cNvSpPr txBox="1">
              <a:spLocks noChangeArrowheads="1"/>
            </p:cNvSpPr>
            <p:nvPr>
              <p:custDataLst>
                <p:tags r:id="rId13"/>
              </p:custDataLst>
            </p:nvPr>
          </p:nvSpPr>
          <p:spPr bwMode="auto">
            <a:xfrm>
              <a:off x="10572111" y="2352305"/>
              <a:ext cx="964790" cy="683948"/>
            </a:xfrm>
            <a:prstGeom prst="rect">
              <a:avLst/>
            </a:prstGeom>
            <a:noFill/>
            <a:ln w="9525">
              <a:noFill/>
              <a:miter lim="800000"/>
            </a:ln>
          </p:spPr>
          <p:txBody>
            <a:bodyPr wrap="square">
              <a:spAutoFit/>
            </a:bodyPr>
            <a:lstStyle/>
            <a:p>
              <a:pPr algn="ctr"/>
              <a:r>
                <a:rPr lang="en-US" altLang="zh-CN" sz="1500" dirty="0">
                  <a:solidFill>
                    <a:schemeClr val="bg1"/>
                  </a:solidFill>
                  <a:latin typeface="Arial" panose="020B0604020202020204"/>
                  <a:ea typeface="微软雅黑" panose="020B0503020204020204" charset="-122"/>
                  <a:sym typeface="Arial" panose="020B0604020202020204"/>
                </a:rPr>
                <a:t>43.5</a:t>
              </a:r>
            </a:p>
            <a:p>
              <a:pPr algn="ctr">
                <a:lnSpc>
                  <a:spcPts val="375"/>
                </a:lnSpc>
              </a:pPr>
              <a:endParaRPr lang="en-US" altLang="zh-CN" sz="600" dirty="0">
                <a:solidFill>
                  <a:schemeClr val="bg1"/>
                </a:solidFill>
                <a:latin typeface="Arial" panose="020B0604020202020204"/>
                <a:ea typeface="微软雅黑" panose="020B0503020204020204" charset="-122"/>
                <a:sym typeface="Arial" panose="020B0604020202020204"/>
              </a:endParaRPr>
            </a:p>
            <a:p>
              <a:pPr algn="ctr"/>
              <a:r>
                <a:rPr lang="zh-CN" altLang="en-US" sz="900" dirty="0">
                  <a:latin typeface="Arial" panose="020B0604020202020204"/>
                  <a:ea typeface="微软雅黑" panose="020B0503020204020204" charset="-122"/>
                  <a:sym typeface="Arial" panose="020B0604020202020204"/>
                </a:rPr>
                <a:t>万</a:t>
              </a:r>
            </a:p>
          </p:txBody>
        </p:sp>
      </p:grpSp>
      <p:cxnSp>
        <p:nvCxnSpPr>
          <p:cNvPr id="98" name="直接连接符 97"/>
          <p:cNvCxnSpPr/>
          <p:nvPr/>
        </p:nvCxnSpPr>
        <p:spPr>
          <a:xfrm>
            <a:off x="5631031" y="2905670"/>
            <a:ext cx="0" cy="1861853"/>
          </a:xfrm>
          <a:prstGeom prst="line">
            <a:avLst/>
          </a:prstGeom>
          <a:ln>
            <a:solidFill>
              <a:srgbClr val="FF6600"/>
            </a:solidFill>
            <a:prstDash val="dash"/>
          </a:ln>
        </p:spPr>
        <p:style>
          <a:lnRef idx="1">
            <a:schemeClr val="accent1"/>
          </a:lnRef>
          <a:fillRef idx="0">
            <a:schemeClr val="accent1"/>
          </a:fillRef>
          <a:effectRef idx="0">
            <a:schemeClr val="accent1"/>
          </a:effectRef>
          <a:fontRef idx="minor">
            <a:schemeClr val="tx1"/>
          </a:fontRef>
        </p:style>
      </p:cxnSp>
      <p:sp>
        <p:nvSpPr>
          <p:cNvPr id="101" name="KSO_Shape"/>
          <p:cNvSpPr>
            <a:spLocks noChangeAspect="1"/>
          </p:cNvSpPr>
          <p:nvPr/>
        </p:nvSpPr>
        <p:spPr>
          <a:xfrm>
            <a:off x="8164996" y="2732930"/>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latin typeface="Arial" panose="020B0604020202020204"/>
              <a:ea typeface="微软雅黑" panose="020B0503020204020204" charset="-122"/>
              <a:sym typeface="Arial" panose="020B0604020202020204"/>
            </a:endParaRPr>
          </a:p>
        </p:txBody>
      </p:sp>
      <p:sp>
        <p:nvSpPr>
          <p:cNvPr id="102" name="KSO_Shape"/>
          <p:cNvSpPr>
            <a:spLocks noChangeAspect="1"/>
          </p:cNvSpPr>
          <p:nvPr/>
        </p:nvSpPr>
        <p:spPr>
          <a:xfrm>
            <a:off x="8158372" y="3521433"/>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latin typeface="Arial" panose="020B0604020202020204"/>
              <a:ea typeface="微软雅黑" panose="020B0503020204020204" charset="-122"/>
              <a:sym typeface="Arial" panose="020B0604020202020204"/>
            </a:endParaRPr>
          </a:p>
        </p:txBody>
      </p:sp>
      <p:sp>
        <p:nvSpPr>
          <p:cNvPr id="103" name="KSO_Shape"/>
          <p:cNvSpPr>
            <a:spLocks noChangeAspect="1"/>
          </p:cNvSpPr>
          <p:nvPr/>
        </p:nvSpPr>
        <p:spPr>
          <a:xfrm>
            <a:off x="8165000" y="4309937"/>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latin typeface="Arial" panose="020B0604020202020204"/>
              <a:ea typeface="微软雅黑" panose="020B0503020204020204" charset="-122"/>
              <a:sym typeface="Arial" panose="020B0604020202020204"/>
            </a:endParaRPr>
          </a:p>
        </p:txBody>
      </p:sp>
      <p:sp>
        <p:nvSpPr>
          <p:cNvPr id="104" name="KSO_Shape"/>
          <p:cNvSpPr>
            <a:spLocks noChangeAspect="1"/>
          </p:cNvSpPr>
          <p:nvPr/>
        </p:nvSpPr>
        <p:spPr>
          <a:xfrm>
            <a:off x="8158376" y="5111694"/>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latin typeface="Arial" panose="020B0604020202020204"/>
              <a:ea typeface="微软雅黑" panose="020B0503020204020204" charset="-122"/>
              <a:sym typeface="Arial" panose="020B0604020202020204"/>
            </a:endParaRPr>
          </a:p>
        </p:txBody>
      </p:sp>
      <p:sp>
        <p:nvSpPr>
          <p:cNvPr id="105" name="KSO_Shape"/>
          <p:cNvSpPr>
            <a:spLocks noChangeAspect="1"/>
          </p:cNvSpPr>
          <p:nvPr/>
        </p:nvSpPr>
        <p:spPr>
          <a:xfrm>
            <a:off x="8171628" y="5906823"/>
            <a:ext cx="201869" cy="180000"/>
          </a:xfrm>
          <a:custGeom>
            <a:avLst/>
            <a:gdLst/>
            <a:ahLst/>
            <a:cxnLst/>
            <a:rect l="l" t="t" r="r" b="b"/>
            <a:pathLst>
              <a:path w="1800200" h="1603947">
                <a:moveTo>
                  <a:pt x="900100" y="235795"/>
                </a:moveTo>
                <a:lnTo>
                  <a:pt x="1656184" y="919871"/>
                </a:lnTo>
                <a:lnTo>
                  <a:pt x="1656184" y="1603947"/>
                </a:lnTo>
                <a:lnTo>
                  <a:pt x="1242138" y="1603947"/>
                </a:lnTo>
                <a:lnTo>
                  <a:pt x="1242138" y="919870"/>
                </a:lnTo>
                <a:lnTo>
                  <a:pt x="558062" y="919870"/>
                </a:lnTo>
                <a:lnTo>
                  <a:pt x="558062" y="1603947"/>
                </a:lnTo>
                <a:lnTo>
                  <a:pt x="144016" y="1603947"/>
                </a:lnTo>
                <a:lnTo>
                  <a:pt x="144016" y="919871"/>
                </a:lnTo>
                <a:close/>
                <a:moveTo>
                  <a:pt x="900100" y="0"/>
                </a:moveTo>
                <a:lnTo>
                  <a:pt x="1310094" y="370947"/>
                </a:lnTo>
                <a:lnTo>
                  <a:pt x="1310094" y="14514"/>
                </a:lnTo>
                <a:lnTo>
                  <a:pt x="1428894" y="14514"/>
                </a:lnTo>
                <a:lnTo>
                  <a:pt x="1428894" y="478433"/>
                </a:lnTo>
                <a:lnTo>
                  <a:pt x="1800200" y="814377"/>
                </a:lnTo>
                <a:lnTo>
                  <a:pt x="1800200" y="988497"/>
                </a:lnTo>
                <a:lnTo>
                  <a:pt x="900100" y="174121"/>
                </a:lnTo>
                <a:lnTo>
                  <a:pt x="0" y="988498"/>
                </a:lnTo>
                <a:lnTo>
                  <a:pt x="0" y="814377"/>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FFFFFF"/>
              </a:solidFill>
              <a:latin typeface="Arial" panose="020B0604020202020204"/>
              <a:ea typeface="微软雅黑" panose="020B0503020204020204" charset="-122"/>
              <a:sym typeface="Arial" panose="020B0604020202020204"/>
            </a:endParaRPr>
          </a:p>
        </p:txBody>
      </p:sp>
      <p:cxnSp>
        <p:nvCxnSpPr>
          <p:cNvPr id="107" name="肘形连接符 106"/>
          <p:cNvCxnSpPr>
            <a:stCxn id="85" idx="3"/>
            <a:endCxn id="34" idx="2"/>
          </p:cNvCxnSpPr>
          <p:nvPr/>
        </p:nvCxnSpPr>
        <p:spPr>
          <a:xfrm flipV="1">
            <a:off x="5866571" y="2686650"/>
            <a:ext cx="2034616" cy="3113184"/>
          </a:xfrm>
          <a:prstGeom prst="bentConnector3">
            <a:avLst>
              <a:gd name="adj1" fmla="val 87777"/>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5866571" y="5799834"/>
            <a:ext cx="2050157" cy="0"/>
          </a:xfrm>
          <a:prstGeom prst="straightConnector1">
            <a:avLst/>
          </a:prstGeom>
          <a:ln w="190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par>
                                <p:cTn id="33" presetID="22" presetClass="entr" presetSubtype="8"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par>
                                <p:cTn id="36" presetID="22" presetClass="entr" presetSubtype="8"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par>
                                <p:cTn id="39" presetID="22" presetClass="entr" presetSubtype="8"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par>
                                <p:cTn id="42" presetID="22" presetClass="entr" presetSubtype="8"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left)">
                                      <p:cBhvr>
                                        <p:cTn id="44" dur="500"/>
                                        <p:tgtEl>
                                          <p:spTgt spid="23"/>
                                        </p:tgtEl>
                                      </p:cBhvr>
                                    </p:animEffect>
                                  </p:childTnLst>
                                </p:cTn>
                              </p:par>
                              <p:par>
                                <p:cTn id="45" presetID="22" presetClass="entr" presetSubtype="8"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left)">
                                      <p:cBhvr>
                                        <p:cTn id="47" dur="500"/>
                                        <p:tgtEl>
                                          <p:spTgt spid="26"/>
                                        </p:tgtEl>
                                      </p:cBhvr>
                                    </p:animEffect>
                                  </p:childTnLst>
                                </p:cTn>
                              </p:par>
                              <p:par>
                                <p:cTn id="48" presetID="22" presetClass="entr" presetSubtype="8"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ipe(left)">
                                      <p:cBhvr>
                                        <p:cTn id="50" dur="500"/>
                                        <p:tgtEl>
                                          <p:spTgt spid="2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left)">
                                      <p:cBhvr>
                                        <p:cTn id="53" dur="500"/>
                                        <p:tgtEl>
                                          <p:spTgt spid="32"/>
                                        </p:tgtEl>
                                      </p:cBhvr>
                                    </p:animEffect>
                                  </p:childTnLst>
                                </p:cTn>
                              </p:par>
                              <p:par>
                                <p:cTn id="54" presetID="22" presetClass="entr" presetSubtype="8" fill="hold" nodeType="with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wipe(left)">
                                      <p:cBhvr>
                                        <p:cTn id="56" dur="500"/>
                                        <p:tgtEl>
                                          <p:spTgt spid="33"/>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wipe(left)">
                                      <p:cBhvr>
                                        <p:cTn id="59" dur="500"/>
                                        <p:tgtEl>
                                          <p:spTgt spid="39"/>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left)">
                                      <p:cBhvr>
                                        <p:cTn id="62" dur="500"/>
                                        <p:tgtEl>
                                          <p:spTgt spid="40"/>
                                        </p:tgtEl>
                                      </p:cBhvr>
                                    </p:animEffect>
                                  </p:childTnLst>
                                </p:cTn>
                              </p:par>
                              <p:par>
                                <p:cTn id="63" presetID="22" presetClass="entr" presetSubtype="8" fill="hold" nodeType="with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left)">
                                      <p:cBhvr>
                                        <p:cTn id="65" dur="500"/>
                                        <p:tgtEl>
                                          <p:spTgt spid="41"/>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47"/>
                                        </p:tgtEl>
                                        <p:attrNameLst>
                                          <p:attrName>style.visibility</p:attrName>
                                        </p:attrNameLst>
                                      </p:cBhvr>
                                      <p:to>
                                        <p:strVal val="visible"/>
                                      </p:to>
                                    </p:set>
                                    <p:animEffect transition="in" filter="wipe(left)">
                                      <p:cBhvr>
                                        <p:cTn id="68" dur="500"/>
                                        <p:tgtEl>
                                          <p:spTgt spid="47"/>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wipe(left)">
                                      <p:cBhvr>
                                        <p:cTn id="71" dur="500"/>
                                        <p:tgtEl>
                                          <p:spTgt spid="48"/>
                                        </p:tgtEl>
                                      </p:cBhvr>
                                    </p:animEffect>
                                  </p:childTnLst>
                                </p:cTn>
                              </p:par>
                              <p:par>
                                <p:cTn id="72" presetID="22" presetClass="entr" presetSubtype="8" fill="hold"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wipe(left)">
                                      <p:cBhvr>
                                        <p:cTn id="74" dur="500"/>
                                        <p:tgtEl>
                                          <p:spTgt spid="49"/>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55"/>
                                        </p:tgtEl>
                                        <p:attrNameLst>
                                          <p:attrName>style.visibility</p:attrName>
                                        </p:attrNameLst>
                                      </p:cBhvr>
                                      <p:to>
                                        <p:strVal val="visible"/>
                                      </p:to>
                                    </p:set>
                                    <p:animEffect transition="in" filter="wipe(left)">
                                      <p:cBhvr>
                                        <p:cTn id="77" dur="500"/>
                                        <p:tgtEl>
                                          <p:spTgt spid="55"/>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56"/>
                                        </p:tgtEl>
                                        <p:attrNameLst>
                                          <p:attrName>style.visibility</p:attrName>
                                        </p:attrNameLst>
                                      </p:cBhvr>
                                      <p:to>
                                        <p:strVal val="visible"/>
                                      </p:to>
                                    </p:set>
                                    <p:animEffect transition="in" filter="wipe(left)">
                                      <p:cBhvr>
                                        <p:cTn id="80" dur="500"/>
                                        <p:tgtEl>
                                          <p:spTgt spid="56"/>
                                        </p:tgtEl>
                                      </p:cBhvr>
                                    </p:animEffect>
                                  </p:childTnLst>
                                </p:cTn>
                              </p:par>
                              <p:par>
                                <p:cTn id="81" presetID="22" presetClass="entr" presetSubtype="8" fill="hold" nodeType="withEffect">
                                  <p:stCondLst>
                                    <p:cond delay="0"/>
                                  </p:stCondLst>
                                  <p:childTnLst>
                                    <p:set>
                                      <p:cBhvr>
                                        <p:cTn id="82" dur="1" fill="hold">
                                          <p:stCondLst>
                                            <p:cond delay="0"/>
                                          </p:stCondLst>
                                        </p:cTn>
                                        <p:tgtEl>
                                          <p:spTgt spid="57"/>
                                        </p:tgtEl>
                                        <p:attrNameLst>
                                          <p:attrName>style.visibility</p:attrName>
                                        </p:attrNameLst>
                                      </p:cBhvr>
                                      <p:to>
                                        <p:strVal val="visible"/>
                                      </p:to>
                                    </p:set>
                                    <p:animEffect transition="in" filter="wipe(left)">
                                      <p:cBhvr>
                                        <p:cTn id="83" dur="500"/>
                                        <p:tgtEl>
                                          <p:spTgt spid="57"/>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63"/>
                                        </p:tgtEl>
                                        <p:attrNameLst>
                                          <p:attrName>style.visibility</p:attrName>
                                        </p:attrNameLst>
                                      </p:cBhvr>
                                      <p:to>
                                        <p:strVal val="visible"/>
                                      </p:to>
                                    </p:set>
                                    <p:animEffect transition="in" filter="wipe(left)">
                                      <p:cBhvr>
                                        <p:cTn id="86" dur="500"/>
                                        <p:tgtEl>
                                          <p:spTgt spid="63"/>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64"/>
                                        </p:tgtEl>
                                        <p:attrNameLst>
                                          <p:attrName>style.visibility</p:attrName>
                                        </p:attrNameLst>
                                      </p:cBhvr>
                                      <p:to>
                                        <p:strVal val="visible"/>
                                      </p:to>
                                    </p:set>
                                    <p:animEffect transition="in" filter="wipe(left)">
                                      <p:cBhvr>
                                        <p:cTn id="89" dur="500"/>
                                        <p:tgtEl>
                                          <p:spTgt spid="64"/>
                                        </p:tgtEl>
                                      </p:cBhvr>
                                    </p:animEffect>
                                  </p:childTnLst>
                                </p:cTn>
                              </p:par>
                              <p:par>
                                <p:cTn id="90" presetID="22" presetClass="entr" presetSubtype="8" fill="hold" nodeType="withEffect">
                                  <p:stCondLst>
                                    <p:cond delay="0"/>
                                  </p:stCondLst>
                                  <p:childTnLst>
                                    <p:set>
                                      <p:cBhvr>
                                        <p:cTn id="91" dur="1" fill="hold">
                                          <p:stCondLst>
                                            <p:cond delay="0"/>
                                          </p:stCondLst>
                                        </p:cTn>
                                        <p:tgtEl>
                                          <p:spTgt spid="65"/>
                                        </p:tgtEl>
                                        <p:attrNameLst>
                                          <p:attrName>style.visibility</p:attrName>
                                        </p:attrNameLst>
                                      </p:cBhvr>
                                      <p:to>
                                        <p:strVal val="visible"/>
                                      </p:to>
                                    </p:set>
                                    <p:animEffect transition="in" filter="wipe(left)">
                                      <p:cBhvr>
                                        <p:cTn id="92" dur="500"/>
                                        <p:tgtEl>
                                          <p:spTgt spid="65"/>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71"/>
                                        </p:tgtEl>
                                        <p:attrNameLst>
                                          <p:attrName>style.visibility</p:attrName>
                                        </p:attrNameLst>
                                      </p:cBhvr>
                                      <p:to>
                                        <p:strVal val="visible"/>
                                      </p:to>
                                    </p:set>
                                    <p:animEffect transition="in" filter="wipe(left)">
                                      <p:cBhvr>
                                        <p:cTn id="95" dur="500"/>
                                        <p:tgtEl>
                                          <p:spTgt spid="71"/>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72"/>
                                        </p:tgtEl>
                                        <p:attrNameLst>
                                          <p:attrName>style.visibility</p:attrName>
                                        </p:attrNameLst>
                                      </p:cBhvr>
                                      <p:to>
                                        <p:strVal val="visible"/>
                                      </p:to>
                                    </p:set>
                                    <p:animEffect transition="in" filter="wipe(left)">
                                      <p:cBhvr>
                                        <p:cTn id="98" dur="500"/>
                                        <p:tgtEl>
                                          <p:spTgt spid="72"/>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73"/>
                                        </p:tgtEl>
                                        <p:attrNameLst>
                                          <p:attrName>style.visibility</p:attrName>
                                        </p:attrNameLst>
                                      </p:cBhvr>
                                      <p:to>
                                        <p:strVal val="visible"/>
                                      </p:to>
                                    </p:set>
                                    <p:animEffect transition="in" filter="wipe(left)">
                                      <p:cBhvr>
                                        <p:cTn id="101" dur="500"/>
                                        <p:tgtEl>
                                          <p:spTgt spid="73"/>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74"/>
                                        </p:tgtEl>
                                        <p:attrNameLst>
                                          <p:attrName>style.visibility</p:attrName>
                                        </p:attrNameLst>
                                      </p:cBhvr>
                                      <p:to>
                                        <p:strVal val="visible"/>
                                      </p:to>
                                    </p:set>
                                    <p:animEffect transition="in" filter="wipe(left)">
                                      <p:cBhvr>
                                        <p:cTn id="104" dur="500"/>
                                        <p:tgtEl>
                                          <p:spTgt spid="74"/>
                                        </p:tgtEl>
                                      </p:cBhvr>
                                    </p:animEffect>
                                  </p:childTnLst>
                                </p:cTn>
                              </p:par>
                              <p:par>
                                <p:cTn id="105" presetID="22" presetClass="entr" presetSubtype="8" fill="hold" grpId="0" nodeType="withEffect">
                                  <p:stCondLst>
                                    <p:cond delay="0"/>
                                  </p:stCondLst>
                                  <p:childTnLst>
                                    <p:set>
                                      <p:cBhvr>
                                        <p:cTn id="106" dur="1" fill="hold">
                                          <p:stCondLst>
                                            <p:cond delay="0"/>
                                          </p:stCondLst>
                                        </p:cTn>
                                        <p:tgtEl>
                                          <p:spTgt spid="75"/>
                                        </p:tgtEl>
                                        <p:attrNameLst>
                                          <p:attrName>style.visibility</p:attrName>
                                        </p:attrNameLst>
                                      </p:cBhvr>
                                      <p:to>
                                        <p:strVal val="visible"/>
                                      </p:to>
                                    </p:set>
                                    <p:animEffect transition="in" filter="wipe(left)">
                                      <p:cBhvr>
                                        <p:cTn id="107" dur="500"/>
                                        <p:tgtEl>
                                          <p:spTgt spid="75"/>
                                        </p:tgtEl>
                                      </p:cBhvr>
                                    </p:animEffect>
                                  </p:childTnLst>
                                </p:cTn>
                              </p:par>
                              <p:par>
                                <p:cTn id="108" presetID="22" presetClass="entr" presetSubtype="8" fill="hold" grpId="0" nodeType="withEffect">
                                  <p:stCondLst>
                                    <p:cond delay="0"/>
                                  </p:stCondLst>
                                  <p:childTnLst>
                                    <p:set>
                                      <p:cBhvr>
                                        <p:cTn id="109" dur="1" fill="hold">
                                          <p:stCondLst>
                                            <p:cond delay="0"/>
                                          </p:stCondLst>
                                        </p:cTn>
                                        <p:tgtEl>
                                          <p:spTgt spid="76"/>
                                        </p:tgtEl>
                                        <p:attrNameLst>
                                          <p:attrName>style.visibility</p:attrName>
                                        </p:attrNameLst>
                                      </p:cBhvr>
                                      <p:to>
                                        <p:strVal val="visible"/>
                                      </p:to>
                                    </p:set>
                                    <p:animEffect transition="in" filter="wipe(left)">
                                      <p:cBhvr>
                                        <p:cTn id="110" dur="500"/>
                                        <p:tgtEl>
                                          <p:spTgt spid="76"/>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77"/>
                                        </p:tgtEl>
                                        <p:attrNameLst>
                                          <p:attrName>style.visibility</p:attrName>
                                        </p:attrNameLst>
                                      </p:cBhvr>
                                      <p:to>
                                        <p:strVal val="visible"/>
                                      </p:to>
                                    </p:set>
                                    <p:animEffect transition="in" filter="wipe(left)">
                                      <p:cBhvr>
                                        <p:cTn id="113" dur="500"/>
                                        <p:tgtEl>
                                          <p:spTgt spid="77"/>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78"/>
                                        </p:tgtEl>
                                        <p:attrNameLst>
                                          <p:attrName>style.visibility</p:attrName>
                                        </p:attrNameLst>
                                      </p:cBhvr>
                                      <p:to>
                                        <p:strVal val="visible"/>
                                      </p:to>
                                    </p:set>
                                    <p:animEffect transition="in" filter="wipe(left)">
                                      <p:cBhvr>
                                        <p:cTn id="116" dur="500"/>
                                        <p:tgtEl>
                                          <p:spTgt spid="78"/>
                                        </p:tgtEl>
                                      </p:cBhvr>
                                    </p:animEffect>
                                  </p:childTnLst>
                                </p:cTn>
                              </p:par>
                              <p:par>
                                <p:cTn id="117" presetID="22" presetClass="entr" presetSubtype="8" fill="hold" grpId="0" nodeType="withEffect">
                                  <p:stCondLst>
                                    <p:cond delay="0"/>
                                  </p:stCondLst>
                                  <p:childTnLst>
                                    <p:set>
                                      <p:cBhvr>
                                        <p:cTn id="118" dur="1" fill="hold">
                                          <p:stCondLst>
                                            <p:cond delay="0"/>
                                          </p:stCondLst>
                                        </p:cTn>
                                        <p:tgtEl>
                                          <p:spTgt spid="79"/>
                                        </p:tgtEl>
                                        <p:attrNameLst>
                                          <p:attrName>style.visibility</p:attrName>
                                        </p:attrNameLst>
                                      </p:cBhvr>
                                      <p:to>
                                        <p:strVal val="visible"/>
                                      </p:to>
                                    </p:set>
                                    <p:animEffect transition="in" filter="wipe(left)">
                                      <p:cBhvr>
                                        <p:cTn id="119" dur="500"/>
                                        <p:tgtEl>
                                          <p:spTgt spid="79"/>
                                        </p:tgtEl>
                                      </p:cBhvr>
                                    </p:animEffect>
                                  </p:childTnLst>
                                </p:cTn>
                              </p:par>
                              <p:par>
                                <p:cTn id="120" presetID="22" presetClass="entr" presetSubtype="8" fill="hold" nodeType="withEffect">
                                  <p:stCondLst>
                                    <p:cond delay="0"/>
                                  </p:stCondLst>
                                  <p:childTnLst>
                                    <p:set>
                                      <p:cBhvr>
                                        <p:cTn id="121" dur="1" fill="hold">
                                          <p:stCondLst>
                                            <p:cond delay="0"/>
                                          </p:stCondLst>
                                        </p:cTn>
                                        <p:tgtEl>
                                          <p:spTgt spid="80"/>
                                        </p:tgtEl>
                                        <p:attrNameLst>
                                          <p:attrName>style.visibility</p:attrName>
                                        </p:attrNameLst>
                                      </p:cBhvr>
                                      <p:to>
                                        <p:strVal val="visible"/>
                                      </p:to>
                                    </p:set>
                                    <p:animEffect transition="in" filter="wipe(left)">
                                      <p:cBhvr>
                                        <p:cTn id="122" dur="500"/>
                                        <p:tgtEl>
                                          <p:spTgt spid="80"/>
                                        </p:tgtEl>
                                      </p:cBhvr>
                                    </p:animEffect>
                                  </p:childTnLst>
                                </p:cTn>
                              </p:par>
                              <p:par>
                                <p:cTn id="123" presetID="22" presetClass="entr" presetSubtype="8" fill="hold" nodeType="withEffect">
                                  <p:stCondLst>
                                    <p:cond delay="0"/>
                                  </p:stCondLst>
                                  <p:childTnLst>
                                    <p:set>
                                      <p:cBhvr>
                                        <p:cTn id="124" dur="1" fill="hold">
                                          <p:stCondLst>
                                            <p:cond delay="0"/>
                                          </p:stCondLst>
                                        </p:cTn>
                                        <p:tgtEl>
                                          <p:spTgt spid="81"/>
                                        </p:tgtEl>
                                        <p:attrNameLst>
                                          <p:attrName>style.visibility</p:attrName>
                                        </p:attrNameLst>
                                      </p:cBhvr>
                                      <p:to>
                                        <p:strVal val="visible"/>
                                      </p:to>
                                    </p:set>
                                    <p:animEffect transition="in" filter="wipe(left)">
                                      <p:cBhvr>
                                        <p:cTn id="125" dur="500"/>
                                        <p:tgtEl>
                                          <p:spTgt spid="81"/>
                                        </p:tgtEl>
                                      </p:cBhvr>
                                    </p:animEffect>
                                  </p:childTnLst>
                                </p:cTn>
                              </p:par>
                              <p:par>
                                <p:cTn id="126" presetID="22" presetClass="entr" presetSubtype="8" fill="hold" grpId="0" nodeType="withEffect">
                                  <p:stCondLst>
                                    <p:cond delay="0"/>
                                  </p:stCondLst>
                                  <p:childTnLst>
                                    <p:set>
                                      <p:cBhvr>
                                        <p:cTn id="127" dur="1" fill="hold">
                                          <p:stCondLst>
                                            <p:cond delay="0"/>
                                          </p:stCondLst>
                                        </p:cTn>
                                        <p:tgtEl>
                                          <p:spTgt spid="82"/>
                                        </p:tgtEl>
                                        <p:attrNameLst>
                                          <p:attrName>style.visibility</p:attrName>
                                        </p:attrNameLst>
                                      </p:cBhvr>
                                      <p:to>
                                        <p:strVal val="visible"/>
                                      </p:to>
                                    </p:set>
                                    <p:animEffect transition="in" filter="wipe(left)">
                                      <p:cBhvr>
                                        <p:cTn id="128" dur="500"/>
                                        <p:tgtEl>
                                          <p:spTgt spid="82"/>
                                        </p:tgtEl>
                                      </p:cBhvr>
                                    </p:animEffect>
                                  </p:childTnLst>
                                </p:cTn>
                              </p:par>
                              <p:par>
                                <p:cTn id="129" presetID="22" presetClass="entr" presetSubtype="8" fill="hold" grpId="0" nodeType="withEffect">
                                  <p:stCondLst>
                                    <p:cond delay="0"/>
                                  </p:stCondLst>
                                  <p:childTnLst>
                                    <p:set>
                                      <p:cBhvr>
                                        <p:cTn id="130" dur="1" fill="hold">
                                          <p:stCondLst>
                                            <p:cond delay="0"/>
                                          </p:stCondLst>
                                        </p:cTn>
                                        <p:tgtEl>
                                          <p:spTgt spid="83"/>
                                        </p:tgtEl>
                                        <p:attrNameLst>
                                          <p:attrName>style.visibility</p:attrName>
                                        </p:attrNameLst>
                                      </p:cBhvr>
                                      <p:to>
                                        <p:strVal val="visible"/>
                                      </p:to>
                                    </p:set>
                                    <p:animEffect transition="in" filter="wipe(left)">
                                      <p:cBhvr>
                                        <p:cTn id="131" dur="500"/>
                                        <p:tgtEl>
                                          <p:spTgt spid="83"/>
                                        </p:tgtEl>
                                      </p:cBhvr>
                                    </p:animEffect>
                                  </p:childTnLst>
                                </p:cTn>
                              </p:par>
                              <p:par>
                                <p:cTn id="132" presetID="22" presetClass="entr" presetSubtype="8" fill="hold" grpId="0" nodeType="withEffect">
                                  <p:stCondLst>
                                    <p:cond delay="0"/>
                                  </p:stCondLst>
                                  <p:childTnLst>
                                    <p:set>
                                      <p:cBhvr>
                                        <p:cTn id="133" dur="1" fill="hold">
                                          <p:stCondLst>
                                            <p:cond delay="0"/>
                                          </p:stCondLst>
                                        </p:cTn>
                                        <p:tgtEl>
                                          <p:spTgt spid="84"/>
                                        </p:tgtEl>
                                        <p:attrNameLst>
                                          <p:attrName>style.visibility</p:attrName>
                                        </p:attrNameLst>
                                      </p:cBhvr>
                                      <p:to>
                                        <p:strVal val="visible"/>
                                      </p:to>
                                    </p:set>
                                    <p:animEffect transition="in" filter="wipe(left)">
                                      <p:cBhvr>
                                        <p:cTn id="134" dur="500"/>
                                        <p:tgtEl>
                                          <p:spTgt spid="84"/>
                                        </p:tgtEl>
                                      </p:cBhvr>
                                    </p:animEffect>
                                  </p:childTnLst>
                                </p:cTn>
                              </p:par>
                              <p:par>
                                <p:cTn id="135" presetID="22" presetClass="entr" presetSubtype="8" fill="hold" grpId="0" nodeType="withEffect">
                                  <p:stCondLst>
                                    <p:cond delay="0"/>
                                  </p:stCondLst>
                                  <p:childTnLst>
                                    <p:set>
                                      <p:cBhvr>
                                        <p:cTn id="136" dur="1" fill="hold">
                                          <p:stCondLst>
                                            <p:cond delay="0"/>
                                          </p:stCondLst>
                                        </p:cTn>
                                        <p:tgtEl>
                                          <p:spTgt spid="85"/>
                                        </p:tgtEl>
                                        <p:attrNameLst>
                                          <p:attrName>style.visibility</p:attrName>
                                        </p:attrNameLst>
                                      </p:cBhvr>
                                      <p:to>
                                        <p:strVal val="visible"/>
                                      </p:to>
                                    </p:set>
                                    <p:animEffect transition="in" filter="wipe(left)">
                                      <p:cBhvr>
                                        <p:cTn id="137" dur="500"/>
                                        <p:tgtEl>
                                          <p:spTgt spid="85"/>
                                        </p:tgtEl>
                                      </p:cBhvr>
                                    </p:animEffect>
                                  </p:childTnLst>
                                </p:cTn>
                              </p:par>
                              <p:par>
                                <p:cTn id="138" presetID="22" presetClass="entr" presetSubtype="8" fill="hold" nodeType="withEffect">
                                  <p:stCondLst>
                                    <p:cond delay="0"/>
                                  </p:stCondLst>
                                  <p:childTnLst>
                                    <p:set>
                                      <p:cBhvr>
                                        <p:cTn id="139" dur="1" fill="hold">
                                          <p:stCondLst>
                                            <p:cond delay="0"/>
                                          </p:stCondLst>
                                        </p:cTn>
                                        <p:tgtEl>
                                          <p:spTgt spid="86"/>
                                        </p:tgtEl>
                                        <p:attrNameLst>
                                          <p:attrName>style.visibility</p:attrName>
                                        </p:attrNameLst>
                                      </p:cBhvr>
                                      <p:to>
                                        <p:strVal val="visible"/>
                                      </p:to>
                                    </p:set>
                                    <p:animEffect transition="in" filter="wipe(left)">
                                      <p:cBhvr>
                                        <p:cTn id="140" dur="500"/>
                                        <p:tgtEl>
                                          <p:spTgt spid="86"/>
                                        </p:tgtEl>
                                      </p:cBhvr>
                                    </p:animEffect>
                                  </p:childTnLst>
                                </p:cTn>
                              </p:par>
                              <p:par>
                                <p:cTn id="141" presetID="22" presetClass="entr" presetSubtype="8" fill="hold" nodeType="withEffect">
                                  <p:stCondLst>
                                    <p:cond delay="0"/>
                                  </p:stCondLst>
                                  <p:childTnLst>
                                    <p:set>
                                      <p:cBhvr>
                                        <p:cTn id="142" dur="1" fill="hold">
                                          <p:stCondLst>
                                            <p:cond delay="0"/>
                                          </p:stCondLst>
                                        </p:cTn>
                                        <p:tgtEl>
                                          <p:spTgt spid="87"/>
                                        </p:tgtEl>
                                        <p:attrNameLst>
                                          <p:attrName>style.visibility</p:attrName>
                                        </p:attrNameLst>
                                      </p:cBhvr>
                                      <p:to>
                                        <p:strVal val="visible"/>
                                      </p:to>
                                    </p:set>
                                    <p:animEffect transition="in" filter="wipe(left)">
                                      <p:cBhvr>
                                        <p:cTn id="143" dur="500"/>
                                        <p:tgtEl>
                                          <p:spTgt spid="87"/>
                                        </p:tgtEl>
                                      </p:cBhvr>
                                    </p:animEffect>
                                  </p:childTnLst>
                                </p:cTn>
                              </p:par>
                              <p:par>
                                <p:cTn id="144" presetID="22" presetClass="entr" presetSubtype="8" fill="hold" nodeType="withEffect">
                                  <p:stCondLst>
                                    <p:cond delay="0"/>
                                  </p:stCondLst>
                                  <p:childTnLst>
                                    <p:set>
                                      <p:cBhvr>
                                        <p:cTn id="145" dur="1" fill="hold">
                                          <p:stCondLst>
                                            <p:cond delay="0"/>
                                          </p:stCondLst>
                                        </p:cTn>
                                        <p:tgtEl>
                                          <p:spTgt spid="88"/>
                                        </p:tgtEl>
                                        <p:attrNameLst>
                                          <p:attrName>style.visibility</p:attrName>
                                        </p:attrNameLst>
                                      </p:cBhvr>
                                      <p:to>
                                        <p:strVal val="visible"/>
                                      </p:to>
                                    </p:set>
                                    <p:animEffect transition="in" filter="wipe(left)">
                                      <p:cBhvr>
                                        <p:cTn id="146" dur="500"/>
                                        <p:tgtEl>
                                          <p:spTgt spid="88"/>
                                        </p:tgtEl>
                                      </p:cBhvr>
                                    </p:animEffect>
                                  </p:childTnLst>
                                </p:cTn>
                              </p:par>
                              <p:par>
                                <p:cTn id="147" presetID="22" presetClass="entr" presetSubtype="8" fill="hold" nodeType="withEffect">
                                  <p:stCondLst>
                                    <p:cond delay="0"/>
                                  </p:stCondLst>
                                  <p:childTnLst>
                                    <p:set>
                                      <p:cBhvr>
                                        <p:cTn id="148" dur="1" fill="hold">
                                          <p:stCondLst>
                                            <p:cond delay="0"/>
                                          </p:stCondLst>
                                        </p:cTn>
                                        <p:tgtEl>
                                          <p:spTgt spid="98"/>
                                        </p:tgtEl>
                                        <p:attrNameLst>
                                          <p:attrName>style.visibility</p:attrName>
                                        </p:attrNameLst>
                                      </p:cBhvr>
                                      <p:to>
                                        <p:strVal val="visible"/>
                                      </p:to>
                                    </p:set>
                                    <p:animEffect transition="in" filter="wipe(left)">
                                      <p:cBhvr>
                                        <p:cTn id="149" dur="500"/>
                                        <p:tgtEl>
                                          <p:spTgt spid="98"/>
                                        </p:tgtEl>
                                      </p:cBhvr>
                                    </p:animEffect>
                                  </p:childTnLst>
                                </p:cTn>
                              </p:par>
                              <p:par>
                                <p:cTn id="150" presetID="22" presetClass="entr" presetSubtype="8" fill="hold" grpId="0" nodeType="withEffect">
                                  <p:stCondLst>
                                    <p:cond delay="0"/>
                                  </p:stCondLst>
                                  <p:childTnLst>
                                    <p:set>
                                      <p:cBhvr>
                                        <p:cTn id="151" dur="1" fill="hold">
                                          <p:stCondLst>
                                            <p:cond delay="0"/>
                                          </p:stCondLst>
                                        </p:cTn>
                                        <p:tgtEl>
                                          <p:spTgt spid="101"/>
                                        </p:tgtEl>
                                        <p:attrNameLst>
                                          <p:attrName>style.visibility</p:attrName>
                                        </p:attrNameLst>
                                      </p:cBhvr>
                                      <p:to>
                                        <p:strVal val="visible"/>
                                      </p:to>
                                    </p:set>
                                    <p:animEffect transition="in" filter="wipe(left)">
                                      <p:cBhvr>
                                        <p:cTn id="152" dur="500"/>
                                        <p:tgtEl>
                                          <p:spTgt spid="101"/>
                                        </p:tgtEl>
                                      </p:cBhvr>
                                    </p:animEffect>
                                  </p:childTnLst>
                                </p:cTn>
                              </p:par>
                              <p:par>
                                <p:cTn id="153" presetID="22" presetClass="entr" presetSubtype="8" fill="hold" grpId="0" nodeType="withEffect">
                                  <p:stCondLst>
                                    <p:cond delay="0"/>
                                  </p:stCondLst>
                                  <p:childTnLst>
                                    <p:set>
                                      <p:cBhvr>
                                        <p:cTn id="154" dur="1" fill="hold">
                                          <p:stCondLst>
                                            <p:cond delay="0"/>
                                          </p:stCondLst>
                                        </p:cTn>
                                        <p:tgtEl>
                                          <p:spTgt spid="102"/>
                                        </p:tgtEl>
                                        <p:attrNameLst>
                                          <p:attrName>style.visibility</p:attrName>
                                        </p:attrNameLst>
                                      </p:cBhvr>
                                      <p:to>
                                        <p:strVal val="visible"/>
                                      </p:to>
                                    </p:set>
                                    <p:animEffect transition="in" filter="wipe(left)">
                                      <p:cBhvr>
                                        <p:cTn id="155" dur="500"/>
                                        <p:tgtEl>
                                          <p:spTgt spid="102"/>
                                        </p:tgtEl>
                                      </p:cBhvr>
                                    </p:animEffect>
                                  </p:childTnLst>
                                </p:cTn>
                              </p:par>
                              <p:par>
                                <p:cTn id="156" presetID="22" presetClass="entr" presetSubtype="8" fill="hold" grpId="0" nodeType="withEffect">
                                  <p:stCondLst>
                                    <p:cond delay="0"/>
                                  </p:stCondLst>
                                  <p:childTnLst>
                                    <p:set>
                                      <p:cBhvr>
                                        <p:cTn id="157" dur="1" fill="hold">
                                          <p:stCondLst>
                                            <p:cond delay="0"/>
                                          </p:stCondLst>
                                        </p:cTn>
                                        <p:tgtEl>
                                          <p:spTgt spid="103"/>
                                        </p:tgtEl>
                                        <p:attrNameLst>
                                          <p:attrName>style.visibility</p:attrName>
                                        </p:attrNameLst>
                                      </p:cBhvr>
                                      <p:to>
                                        <p:strVal val="visible"/>
                                      </p:to>
                                    </p:set>
                                    <p:animEffect transition="in" filter="wipe(left)">
                                      <p:cBhvr>
                                        <p:cTn id="158" dur="500"/>
                                        <p:tgtEl>
                                          <p:spTgt spid="103"/>
                                        </p:tgtEl>
                                      </p:cBhvr>
                                    </p:animEffect>
                                  </p:childTnLst>
                                </p:cTn>
                              </p:par>
                              <p:par>
                                <p:cTn id="159" presetID="22" presetClass="entr" presetSubtype="8" fill="hold" grpId="0" nodeType="withEffect">
                                  <p:stCondLst>
                                    <p:cond delay="0"/>
                                  </p:stCondLst>
                                  <p:childTnLst>
                                    <p:set>
                                      <p:cBhvr>
                                        <p:cTn id="160" dur="1" fill="hold">
                                          <p:stCondLst>
                                            <p:cond delay="0"/>
                                          </p:stCondLst>
                                        </p:cTn>
                                        <p:tgtEl>
                                          <p:spTgt spid="104"/>
                                        </p:tgtEl>
                                        <p:attrNameLst>
                                          <p:attrName>style.visibility</p:attrName>
                                        </p:attrNameLst>
                                      </p:cBhvr>
                                      <p:to>
                                        <p:strVal val="visible"/>
                                      </p:to>
                                    </p:set>
                                    <p:animEffect transition="in" filter="wipe(left)">
                                      <p:cBhvr>
                                        <p:cTn id="161" dur="500"/>
                                        <p:tgtEl>
                                          <p:spTgt spid="104"/>
                                        </p:tgtEl>
                                      </p:cBhvr>
                                    </p:animEffect>
                                  </p:childTnLst>
                                </p:cTn>
                              </p:par>
                              <p:par>
                                <p:cTn id="162" presetID="22" presetClass="entr" presetSubtype="8" fill="hold" grpId="0" nodeType="withEffect">
                                  <p:stCondLst>
                                    <p:cond delay="0"/>
                                  </p:stCondLst>
                                  <p:childTnLst>
                                    <p:set>
                                      <p:cBhvr>
                                        <p:cTn id="163" dur="1" fill="hold">
                                          <p:stCondLst>
                                            <p:cond delay="0"/>
                                          </p:stCondLst>
                                        </p:cTn>
                                        <p:tgtEl>
                                          <p:spTgt spid="105"/>
                                        </p:tgtEl>
                                        <p:attrNameLst>
                                          <p:attrName>style.visibility</p:attrName>
                                        </p:attrNameLst>
                                      </p:cBhvr>
                                      <p:to>
                                        <p:strVal val="visible"/>
                                      </p:to>
                                    </p:set>
                                    <p:animEffect transition="in" filter="wipe(left)">
                                      <p:cBhvr>
                                        <p:cTn id="164" dur="500"/>
                                        <p:tgtEl>
                                          <p:spTgt spid="105"/>
                                        </p:tgtEl>
                                      </p:cBhvr>
                                    </p:animEffect>
                                  </p:childTnLst>
                                </p:cTn>
                              </p:par>
                              <p:par>
                                <p:cTn id="165" presetID="22" presetClass="entr" presetSubtype="8" fill="hold" nodeType="withEffect">
                                  <p:stCondLst>
                                    <p:cond delay="0"/>
                                  </p:stCondLst>
                                  <p:childTnLst>
                                    <p:set>
                                      <p:cBhvr>
                                        <p:cTn id="166" dur="1" fill="hold">
                                          <p:stCondLst>
                                            <p:cond delay="0"/>
                                          </p:stCondLst>
                                        </p:cTn>
                                        <p:tgtEl>
                                          <p:spTgt spid="107"/>
                                        </p:tgtEl>
                                        <p:attrNameLst>
                                          <p:attrName>style.visibility</p:attrName>
                                        </p:attrNameLst>
                                      </p:cBhvr>
                                      <p:to>
                                        <p:strVal val="visible"/>
                                      </p:to>
                                    </p:set>
                                    <p:animEffect transition="in" filter="wipe(left)">
                                      <p:cBhvr>
                                        <p:cTn id="167" dur="500"/>
                                        <p:tgtEl>
                                          <p:spTgt spid="107"/>
                                        </p:tgtEl>
                                      </p:cBhvr>
                                    </p:animEffect>
                                  </p:childTnLst>
                                </p:cTn>
                              </p:par>
                              <p:par>
                                <p:cTn id="168" presetID="22" presetClass="entr" presetSubtype="8" fill="hold" nodeType="withEffect">
                                  <p:stCondLst>
                                    <p:cond delay="0"/>
                                  </p:stCondLst>
                                  <p:childTnLst>
                                    <p:set>
                                      <p:cBhvr>
                                        <p:cTn id="169" dur="1" fill="hold">
                                          <p:stCondLst>
                                            <p:cond delay="0"/>
                                          </p:stCondLst>
                                        </p:cTn>
                                        <p:tgtEl>
                                          <p:spTgt spid="110"/>
                                        </p:tgtEl>
                                        <p:attrNameLst>
                                          <p:attrName>style.visibility</p:attrName>
                                        </p:attrNameLst>
                                      </p:cBhvr>
                                      <p:to>
                                        <p:strVal val="visible"/>
                                      </p:to>
                                    </p:set>
                                    <p:animEffect transition="in" filter="wipe(left)">
                                      <p:cBhvr>
                                        <p:cTn id="170" dur="500"/>
                                        <p:tgtEl>
                                          <p:spTgt spid="110"/>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xit" presetSubtype="0" fill="hold" grpId="0" nodeType="clickEffect">
                                  <p:stCondLst>
                                    <p:cond delay="1500"/>
                                  </p:stCondLst>
                                  <p:childTnLst>
                                    <p:animEffect transition="out" filter="fade">
                                      <p:cBhvr>
                                        <p:cTn id="174" dur="500"/>
                                        <p:tgtEl>
                                          <p:spTgt spid="111"/>
                                        </p:tgtEl>
                                      </p:cBhvr>
                                    </p:animEffect>
                                    <p:set>
                                      <p:cBhvr>
                                        <p:cTn id="175" dur="1" fill="hold">
                                          <p:stCondLst>
                                            <p:cond delay="499"/>
                                          </p:stCondLst>
                                        </p:cTn>
                                        <p:tgtEl>
                                          <p:spTgt spid="1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animBg="1"/>
      <p:bldP spid="8" grpId="0" animBg="1"/>
      <p:bldP spid="9" grpId="0" animBg="1"/>
      <p:bldP spid="10" grpId="0" animBg="1"/>
      <p:bldP spid="32" grpId="0" animBg="1"/>
      <p:bldP spid="39" grpId="0"/>
      <p:bldP spid="40" grpId="0"/>
      <p:bldP spid="47" grpId="0"/>
      <p:bldP spid="48" grpId="0"/>
      <p:bldP spid="55" grpId="0"/>
      <p:bldP spid="56" grpId="0"/>
      <p:bldP spid="63" grpId="0"/>
      <p:bldP spid="64" grpId="0"/>
      <p:bldP spid="71" grpId="0"/>
      <p:bldP spid="72" grpId="0"/>
      <p:bldP spid="73" grpId="0" animBg="1"/>
      <p:bldP spid="74" grpId="0" animBg="1"/>
      <p:bldP spid="75" grpId="0"/>
      <p:bldP spid="76" grpId="0"/>
      <p:bldP spid="77" grpId="0" animBg="1"/>
      <p:bldP spid="78" grpId="0"/>
      <p:bldP spid="79" grpId="0"/>
      <p:bldP spid="82" grpId="0"/>
      <p:bldP spid="83" grpId="0"/>
      <p:bldP spid="84" grpId="0" animBg="1"/>
      <p:bldP spid="85" grpId="0" animBg="1"/>
      <p:bldP spid="101" grpId="0" animBg="1"/>
      <p:bldP spid="102" grpId="0" animBg="1"/>
      <p:bldP spid="103" grpId="0" animBg="1"/>
      <p:bldP spid="104" grpId="0" animBg="1"/>
      <p:bldP spid="105" grpId="0" animBg="1"/>
      <p:bldP spid="1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526158" y="1364974"/>
            <a:ext cx="6904382" cy="5287617"/>
          </a:xfrm>
          <a:prstGeom prst="rect">
            <a:avLst/>
          </a:prstGeom>
          <a:blipFill dpi="0" rotWithShape="1">
            <a:blip r:embed="rId4">
              <a:grayscl/>
              <a:extLst>
                <a:ext uri="{28A0092B-C50C-407E-A947-70E740481C1C}">
                  <a14:useLocalDpi xmlns:a14="http://schemas.microsoft.com/office/drawing/2010/main"/>
                </a:ext>
              </a:extLst>
            </a:blip>
            <a:srcRect/>
            <a:stretch>
              <a:fillRect/>
            </a:stretch>
          </a:blipFill>
          <a:ln>
            <a:noFill/>
          </a:ln>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2" name="矩形 1"/>
          <p:cNvSpPr/>
          <p:nvPr/>
        </p:nvSpPr>
        <p:spPr>
          <a:xfrm>
            <a:off x="1153487" y="2597426"/>
            <a:ext cx="4942512" cy="503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zh-CN" altLang="en-US" sz="2000" b="1" dirty="0">
                <a:solidFill>
                  <a:schemeClr val="bg1"/>
                </a:solidFill>
                <a:latin typeface="Arial" panose="020B0604020202020204"/>
                <a:ea typeface="微软雅黑" panose="020B0503020204020204" charset="-122"/>
                <a:sym typeface="Arial" panose="020B0604020202020204"/>
              </a:rPr>
              <a:t>代理商保证金信息比对进度汇报</a:t>
            </a:r>
          </a:p>
        </p:txBody>
      </p:sp>
      <p:sp>
        <p:nvSpPr>
          <p:cNvPr id="4" name="矩形 3"/>
          <p:cNvSpPr/>
          <p:nvPr/>
        </p:nvSpPr>
        <p:spPr>
          <a:xfrm>
            <a:off x="1153485" y="3098765"/>
            <a:ext cx="4942514" cy="2586415"/>
          </a:xfrm>
          <a:prstGeom prst="rect">
            <a:avLst/>
          </a:prstGeom>
          <a:solidFill>
            <a:schemeClr val="bg1"/>
          </a:solidFill>
          <a:ln>
            <a:solidFill>
              <a:srgbClr val="C00000"/>
            </a:solidFill>
          </a:ln>
        </p:spPr>
        <p:txBody>
          <a:bodyPr wrap="square" anchor="ctr">
            <a:noAutofit/>
          </a:bodyPr>
          <a:lstStyle/>
          <a:p>
            <a:pPr marL="107950">
              <a:lnSpc>
                <a:spcPct val="150000"/>
              </a:lnSpc>
              <a:spcBef>
                <a:spcPct val="50000"/>
              </a:spcBef>
              <a:buClr>
                <a:srgbClr val="FF3300"/>
              </a:buClr>
            </a:pPr>
            <a:r>
              <a:rPr lang="zh-CN" altLang="en-US" sz="1600" dirty="0">
                <a:latin typeface="Arial" panose="020B0604020202020204"/>
                <a:ea typeface="微软雅黑" panose="020B0503020204020204" charset="-122"/>
                <a:sym typeface="Arial" panose="020B0604020202020204"/>
              </a:rPr>
              <a:t>在前期由各县区渠道协助收集了各代理商保证金的缴纳信息和押金单拍照取证后，转由业务支撑中心承接后续的信息比对工作，根据收集的押金单已初步比对了代理商保证金的缴纳信息，并对前期通报的</a:t>
            </a:r>
            <a:r>
              <a:rPr lang="en-US" altLang="zh-CN" sz="1600" dirty="0">
                <a:latin typeface="Arial" panose="020B0604020202020204"/>
                <a:ea typeface="微软雅黑" panose="020B0503020204020204" charset="-122"/>
                <a:sym typeface="Arial" panose="020B0604020202020204"/>
              </a:rPr>
              <a:t>60</a:t>
            </a:r>
            <a:r>
              <a:rPr lang="zh-CN" altLang="en-US" sz="1600" dirty="0">
                <a:latin typeface="Arial" panose="020B0604020202020204"/>
                <a:ea typeface="微软雅黑" panose="020B0503020204020204" charset="-122"/>
                <a:sym typeface="Arial" panose="020B0604020202020204"/>
              </a:rPr>
              <a:t>家未缴纳保证金网点的反馈情况加以进一步的稽核。</a:t>
            </a:r>
            <a:endParaRPr lang="en-US" altLang="zh-CN" sz="1600" dirty="0">
              <a:latin typeface="Arial" panose="020B0604020202020204"/>
              <a:ea typeface="微软雅黑" panose="020B0503020204020204" charset="-122"/>
              <a:sym typeface="Arial" panose="020B0604020202020204"/>
            </a:endParaRPr>
          </a:p>
        </p:txBody>
      </p:sp>
      <p:sp>
        <p:nvSpPr>
          <p:cNvPr id="7" name="矩形 6"/>
          <p:cNvSpPr/>
          <p:nvPr/>
        </p:nvSpPr>
        <p:spPr>
          <a:xfrm>
            <a:off x="340381" y="395116"/>
            <a:ext cx="5086649" cy="646331"/>
          </a:xfrm>
          <a:prstGeom prst="rect">
            <a:avLst/>
          </a:prstGeom>
        </p:spPr>
        <p:txBody>
          <a:bodyPr wrap="none">
            <a:spAutoFit/>
          </a:bodyPr>
          <a:lstStyle/>
          <a:p>
            <a:pPr>
              <a:defRPr/>
            </a:pPr>
            <a:r>
              <a:rPr lang="zh-CN" altLang="en-US" sz="3600" b="1" kern="0" dirty="0">
                <a:latin typeface="Arial" panose="020B0604020202020204"/>
                <a:ea typeface="微软雅黑" panose="020B0503020204020204" charset="-122"/>
                <a:sym typeface="Arial" panose="020B0604020202020204"/>
              </a:rPr>
              <a:t>专题</a:t>
            </a:r>
            <a:r>
              <a:rPr lang="en-US" altLang="zh-CN" sz="3600" b="1" kern="0" dirty="0">
                <a:latin typeface="Arial" panose="020B0604020202020204"/>
                <a:ea typeface="微软雅黑" panose="020B0503020204020204" charset="-122"/>
                <a:sym typeface="Arial" panose="020B0604020202020204"/>
              </a:rPr>
              <a:t>1</a:t>
            </a:r>
            <a:r>
              <a:rPr lang="zh-CN" altLang="en-US" sz="3600" b="1" kern="0" dirty="0">
                <a:latin typeface="Arial" panose="020B0604020202020204"/>
                <a:ea typeface="微软雅黑" panose="020B0503020204020204" charset="-122"/>
                <a:sym typeface="Arial" panose="020B0604020202020204"/>
              </a:rPr>
              <a:t>：代理商保证金续</a:t>
            </a:r>
            <a:endParaRPr lang="zh-CN" altLang="en-US" sz="3600" b="1" dirty="0">
              <a:latin typeface="Arial" panose="020B0604020202020204"/>
              <a:ea typeface="微软雅黑" panose="020B0503020204020204" charset="-122"/>
              <a:sym typeface="Arial" panose="020B0604020202020204"/>
            </a:endParaRPr>
          </a:p>
        </p:txBody>
      </p:sp>
      <p:sp>
        <p:nvSpPr>
          <p:cNvPr id="8" name="六边形 7"/>
          <p:cNvSpPr/>
          <p:nvPr/>
        </p:nvSpPr>
        <p:spPr>
          <a:xfrm>
            <a:off x="3424643" y="1455289"/>
            <a:ext cx="5342713" cy="466275"/>
          </a:xfrm>
          <a:prstGeom prst="hexagon">
            <a:avLst>
              <a:gd name="adj" fmla="val 13631"/>
              <a:gd name="vf" fmla="val 115470"/>
            </a:avLst>
          </a:prstGeom>
          <a:ln w="19050">
            <a:solidFill>
              <a:srgbClr val="C00000"/>
            </a:solidFill>
          </a:ln>
        </p:spPr>
        <p:txBody>
          <a:bodyPr wrap="square" anchor="ctr">
            <a:noAutofit/>
          </a:bodyPr>
          <a:lstStyle/>
          <a:p>
            <a:pPr algn="ctr" defTabSz="629285"/>
            <a:r>
              <a:rPr lang="zh-CN" altLang="en-US" sz="2000" dirty="0">
                <a:latin typeface="Arial" panose="020B0604020202020204"/>
                <a:ea typeface="微软雅黑" panose="020B0503020204020204" charset="-122"/>
                <a:sym typeface="Arial" panose="020B0604020202020204"/>
              </a:rPr>
              <a:t>（一）、代理商保证金信息比对情况</a:t>
            </a:r>
          </a:p>
        </p:txBody>
      </p:sp>
      <p:sp>
        <p:nvSpPr>
          <p:cNvPr id="9" name="TextBox 108"/>
          <p:cNvSpPr txBox="1">
            <a:spLocks noChangeArrowheads="1"/>
          </p:cNvSpPr>
          <p:nvPr>
            <p:custDataLst>
              <p:tags r:id="rId1"/>
            </p:custDataLst>
          </p:nvPr>
        </p:nvSpPr>
        <p:spPr bwMode="auto">
          <a:xfrm>
            <a:off x="6414053" y="2610678"/>
            <a:ext cx="4518992" cy="3803374"/>
          </a:xfrm>
          <a:prstGeom prst="rect">
            <a:avLst/>
          </a:prstGeom>
          <a:solidFill>
            <a:schemeClr val="bg1"/>
          </a:solidFill>
          <a:ln w="9525">
            <a:solidFill>
              <a:srgbClr val="C00000"/>
            </a:solidFill>
            <a:miter lim="800000"/>
          </a:ln>
        </p:spPr>
        <p:txBody>
          <a:bodyPr wrap="square" anchor="ctr">
            <a:noAutofit/>
          </a:bodyPr>
          <a:lstStyle/>
          <a:p>
            <a:pPr marL="107950">
              <a:lnSpc>
                <a:spcPct val="150000"/>
              </a:lnSpc>
            </a:pPr>
            <a:r>
              <a:rPr lang="en-US" altLang="zh-CN" sz="1600" dirty="0">
                <a:latin typeface="Arial" panose="020B0604020202020204"/>
                <a:ea typeface="微软雅黑" panose="020B0503020204020204" charset="-122"/>
                <a:sym typeface="Arial" panose="020B0604020202020204"/>
              </a:rPr>
              <a:t>      </a:t>
            </a:r>
          </a:p>
          <a:p>
            <a:pPr marL="107950">
              <a:lnSpc>
                <a:spcPct val="150000"/>
              </a:lnSpc>
            </a:pPr>
            <a:endParaRPr lang="en-US" altLang="zh-CN" sz="1600" dirty="0">
              <a:latin typeface="Arial" panose="020B0604020202020204"/>
              <a:ea typeface="微软雅黑" panose="020B0503020204020204" charset="-122"/>
              <a:sym typeface="Arial" panose="020B0604020202020204"/>
            </a:endParaRPr>
          </a:p>
          <a:p>
            <a:pPr marL="107950">
              <a:lnSpc>
                <a:spcPct val="150000"/>
              </a:lnSpc>
            </a:pPr>
            <a:r>
              <a:rPr lang="en-US" altLang="zh-CN" sz="1600" dirty="0">
                <a:latin typeface="Arial" panose="020B0604020202020204"/>
                <a:ea typeface="微软雅黑" panose="020B0503020204020204" charset="-122"/>
                <a:sym typeface="Arial" panose="020B0604020202020204"/>
              </a:rPr>
              <a:t> 181</a:t>
            </a:r>
            <a:r>
              <a:rPr lang="zh-CN" altLang="en-US" sz="1600" dirty="0">
                <a:latin typeface="Arial" panose="020B0604020202020204"/>
                <a:ea typeface="微软雅黑" panose="020B0503020204020204" charset="-122"/>
                <a:sym typeface="Arial" panose="020B0604020202020204"/>
              </a:rPr>
              <a:t>家有受理信息的专营店中</a:t>
            </a:r>
            <a:r>
              <a:rPr lang="en-US" altLang="zh-CN" sz="1600" dirty="0">
                <a:latin typeface="Arial" panose="020B0604020202020204"/>
                <a:ea typeface="微软雅黑" panose="020B0503020204020204" charset="-122"/>
                <a:sym typeface="Arial" panose="020B0604020202020204"/>
              </a:rPr>
              <a:t>20</a:t>
            </a:r>
            <a:r>
              <a:rPr lang="zh-CN" altLang="en-US" sz="1600" dirty="0">
                <a:latin typeface="Arial" panose="020B0604020202020204"/>
                <a:ea typeface="微软雅黑" panose="020B0503020204020204" charset="-122"/>
                <a:sym typeface="Arial" panose="020B0604020202020204"/>
              </a:rPr>
              <a:t>家未缴足，部分是由于内部员工创业，押金减半，部分是余款用于缴纳房屋租赁押金，其他未说明原因；</a:t>
            </a:r>
            <a:r>
              <a:rPr lang="en-US" altLang="zh-CN" sz="1600" dirty="0">
                <a:latin typeface="Arial" panose="020B0604020202020204"/>
                <a:ea typeface="微软雅黑" panose="020B0503020204020204" charset="-122"/>
                <a:sym typeface="Arial" panose="020B0604020202020204"/>
              </a:rPr>
              <a:t>8</a:t>
            </a:r>
            <a:r>
              <a:rPr lang="zh-CN" altLang="en-US" sz="1600" dirty="0">
                <a:latin typeface="Arial" panose="020B0604020202020204"/>
                <a:ea typeface="微软雅黑" panose="020B0503020204020204" charset="-122"/>
                <a:sym typeface="Arial" panose="020B0604020202020204"/>
              </a:rPr>
              <a:t>家代理商上报已缴纳押金，且部分网点上报信息中有押金单拍照取，但系统中显示已退款证，有待进一步确认原因；其余</a:t>
            </a:r>
            <a:r>
              <a:rPr lang="en-US" altLang="zh-CN" sz="1600" dirty="0">
                <a:latin typeface="Arial" panose="020B0604020202020204"/>
                <a:ea typeface="微软雅黑" panose="020B0503020204020204" charset="-122"/>
                <a:sym typeface="Arial" panose="020B0604020202020204"/>
              </a:rPr>
              <a:t>77</a:t>
            </a:r>
            <a:r>
              <a:rPr lang="zh-CN" altLang="en-US" sz="1600" dirty="0">
                <a:latin typeface="Arial" panose="020B0604020202020204"/>
                <a:ea typeface="微软雅黑" panose="020B0503020204020204" charset="-122"/>
                <a:sym typeface="Arial" panose="020B0604020202020204"/>
              </a:rPr>
              <a:t>家未稽核，其中</a:t>
            </a:r>
            <a:r>
              <a:rPr lang="en-US" altLang="zh-CN" sz="1600" dirty="0">
                <a:latin typeface="Arial" panose="020B0604020202020204"/>
                <a:ea typeface="微软雅黑" panose="020B0503020204020204" charset="-122"/>
                <a:sym typeface="Arial" panose="020B0604020202020204"/>
              </a:rPr>
              <a:t>30</a:t>
            </a:r>
            <a:r>
              <a:rPr lang="zh-CN" altLang="en-US" sz="1600" dirty="0">
                <a:latin typeface="Arial" panose="020B0604020202020204"/>
                <a:ea typeface="微软雅黑" panose="020B0503020204020204" charset="-122"/>
                <a:sym typeface="Arial" panose="020B0604020202020204"/>
              </a:rPr>
              <a:t>家已反馈收集，</a:t>
            </a:r>
            <a:r>
              <a:rPr lang="en-US" altLang="zh-CN" sz="1600" dirty="0">
                <a:latin typeface="Arial" panose="020B0604020202020204"/>
                <a:ea typeface="微软雅黑" panose="020B0503020204020204" charset="-122"/>
                <a:sym typeface="Arial" panose="020B0604020202020204"/>
              </a:rPr>
              <a:t>47</a:t>
            </a:r>
            <a:r>
              <a:rPr lang="zh-CN" altLang="en-US" sz="1600" dirty="0">
                <a:latin typeface="Arial" panose="020B0604020202020204"/>
                <a:ea typeface="微软雅黑" panose="020B0503020204020204" charset="-122"/>
                <a:sym typeface="Arial" panose="020B0604020202020204"/>
              </a:rPr>
              <a:t>家信息不全，暂未稽核。</a:t>
            </a:r>
          </a:p>
        </p:txBody>
      </p:sp>
      <p:grpSp>
        <p:nvGrpSpPr>
          <p:cNvPr id="13" name="组合 12"/>
          <p:cNvGrpSpPr/>
          <p:nvPr/>
        </p:nvGrpSpPr>
        <p:grpSpPr>
          <a:xfrm>
            <a:off x="8030818" y="2165686"/>
            <a:ext cx="1258957" cy="1260000"/>
            <a:chOff x="6281530" y="3428999"/>
            <a:chExt cx="1258957" cy="1260000"/>
          </a:xfrm>
        </p:grpSpPr>
        <p:sp>
          <p:nvSpPr>
            <p:cNvPr id="12" name="椭圆 11"/>
            <p:cNvSpPr/>
            <p:nvPr/>
          </p:nvSpPr>
          <p:spPr>
            <a:xfrm>
              <a:off x="6281530" y="3428999"/>
              <a:ext cx="1258957" cy="126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0" name="矩形 9"/>
            <p:cNvSpPr/>
            <p:nvPr/>
          </p:nvSpPr>
          <p:spPr>
            <a:xfrm>
              <a:off x="6510899" y="3828167"/>
              <a:ext cx="800219" cy="461665"/>
            </a:xfrm>
            <a:prstGeom prst="rect">
              <a:avLst/>
            </a:prstGeom>
          </p:spPr>
          <p:txBody>
            <a:bodyPr wrap="none">
              <a:spAutoFit/>
            </a:bodyPr>
            <a:lstStyle/>
            <a:p>
              <a:pPr algn="ctr"/>
              <a:r>
                <a:rPr lang="zh-CN" altLang="en-US" sz="2400" dirty="0">
                  <a:solidFill>
                    <a:schemeClr val="bg1"/>
                  </a:solidFill>
                  <a:latin typeface="Arial" panose="020B0604020202020204"/>
                  <a:ea typeface="微软雅黑" panose="020B0503020204020204" charset="-122"/>
                  <a:sym typeface="Arial" panose="020B0604020202020204"/>
                </a:rPr>
                <a:t>注释</a:t>
              </a:r>
            </a:p>
          </p:txBody>
        </p:sp>
      </p:grpSp>
      <p:sp>
        <p:nvSpPr>
          <p:cNvPr id="14" name="文本框 13"/>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ppt_x"/>
                                          </p:val>
                                        </p:tav>
                                        <p:tav tm="100000">
                                          <p:val>
                                            <p:strVal val="#ppt_x"/>
                                          </p:val>
                                        </p:tav>
                                      </p:tavLst>
                                    </p:anim>
                                    <p:anim calcmode="lin" valueType="num">
                                      <p:cBhvr additive="base">
                                        <p:cTn id="22" dur="500" fill="hold"/>
                                        <p:tgtEl>
                                          <p:spTgt spid="13"/>
                                        </p:tgtEl>
                                        <p:attrNameLst>
                                          <p:attrName>ppt_y</p:attrName>
                                        </p:attrNameLst>
                                      </p:cBhvr>
                                      <p:tavLst>
                                        <p:tav tm="0">
                                          <p:val>
                                            <p:strVal val="1+#ppt_h/2"/>
                                          </p:val>
                                        </p:tav>
                                        <p:tav tm="100000">
                                          <p:val>
                                            <p:strVal val="#ppt_y"/>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1500"/>
                                  </p:stCondLst>
                                  <p:childTnLst>
                                    <p:animEffect transition="out" filter="fade">
                                      <p:cBhvr>
                                        <p:cTn id="29" dur="500"/>
                                        <p:tgtEl>
                                          <p:spTgt spid="14"/>
                                        </p:tgtEl>
                                      </p:cBhvr>
                                    </p:animEffect>
                                    <p:set>
                                      <p:cBhvr>
                                        <p:cTn id="30"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P spid="4" grpId="0" animBg="1"/>
      <p:bldP spid="9" grpId="0" animBg="1"/>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5086649" cy="646331"/>
          </a:xfrm>
          <a:prstGeom prst="rect">
            <a:avLst/>
          </a:prstGeom>
        </p:spPr>
        <p:txBody>
          <a:bodyPr wrap="none">
            <a:spAutoFit/>
          </a:bodyPr>
          <a:lstStyle/>
          <a:p>
            <a:pPr>
              <a:defRPr/>
            </a:pPr>
            <a:r>
              <a:rPr lang="zh-CN" altLang="en-US" sz="3600" b="1" kern="0" dirty="0">
                <a:latin typeface="Arial" panose="020B0604020202020204"/>
                <a:ea typeface="微软雅黑" panose="020B0503020204020204" charset="-122"/>
                <a:sym typeface="Arial" panose="020B0604020202020204"/>
              </a:rPr>
              <a:t>专题</a:t>
            </a:r>
            <a:r>
              <a:rPr lang="en-US" altLang="zh-CN" sz="3600" b="1" kern="0" dirty="0">
                <a:latin typeface="Arial" panose="020B0604020202020204"/>
                <a:ea typeface="微软雅黑" panose="020B0503020204020204" charset="-122"/>
                <a:sym typeface="Arial" panose="020B0604020202020204"/>
              </a:rPr>
              <a:t>1</a:t>
            </a:r>
            <a:r>
              <a:rPr lang="zh-CN" altLang="en-US" sz="3600" b="1" kern="0" dirty="0">
                <a:latin typeface="Arial" panose="020B0604020202020204"/>
                <a:ea typeface="微软雅黑" panose="020B0503020204020204" charset="-122"/>
                <a:sym typeface="Arial" panose="020B0604020202020204"/>
              </a:rPr>
              <a:t>：代理商保证金续</a:t>
            </a:r>
            <a:endParaRPr lang="zh-CN" altLang="en-US" sz="3600" b="1" dirty="0">
              <a:latin typeface="Arial" panose="020B0604020202020204"/>
              <a:ea typeface="微软雅黑" panose="020B0503020204020204" charset="-122"/>
              <a:sym typeface="Arial" panose="020B0604020202020204"/>
            </a:endParaRPr>
          </a:p>
        </p:txBody>
      </p:sp>
      <p:sp>
        <p:nvSpPr>
          <p:cNvPr id="3" name="六边形 2"/>
          <p:cNvSpPr/>
          <p:nvPr/>
        </p:nvSpPr>
        <p:spPr>
          <a:xfrm>
            <a:off x="3424643" y="1455289"/>
            <a:ext cx="5342713" cy="466275"/>
          </a:xfrm>
          <a:prstGeom prst="hexagon">
            <a:avLst>
              <a:gd name="adj" fmla="val 13631"/>
              <a:gd name="vf" fmla="val 115470"/>
            </a:avLst>
          </a:prstGeom>
          <a:ln w="19050">
            <a:solidFill>
              <a:srgbClr val="C00000"/>
            </a:solidFill>
          </a:ln>
        </p:spPr>
        <p:txBody>
          <a:bodyPr wrap="square" anchor="ctr">
            <a:noAutofit/>
          </a:bodyPr>
          <a:lstStyle/>
          <a:p>
            <a:pPr algn="ctr" defTabSz="839470"/>
            <a:r>
              <a:rPr lang="zh-CN" altLang="en-US" sz="2000" dirty="0">
                <a:latin typeface="Arial" panose="020B0604020202020204"/>
                <a:ea typeface="微软雅黑" panose="020B0503020204020204" charset="-122"/>
                <a:sym typeface="Arial" panose="020B0604020202020204"/>
              </a:rPr>
              <a:t>（二）、系统数据的稽核过滤</a:t>
            </a:r>
          </a:p>
        </p:txBody>
      </p:sp>
      <p:sp>
        <p:nvSpPr>
          <p:cNvPr id="5" name="Text Box 20"/>
          <p:cNvSpPr txBox="1">
            <a:spLocks noChangeArrowheads="1"/>
          </p:cNvSpPr>
          <p:nvPr/>
        </p:nvSpPr>
        <p:spPr bwMode="auto">
          <a:xfrm>
            <a:off x="858459" y="2404721"/>
            <a:ext cx="4959246" cy="3757439"/>
          </a:xfrm>
          <a:prstGeom prst="rect">
            <a:avLst/>
          </a:prstGeom>
          <a:noFill/>
          <a:ln w="9525">
            <a:noFill/>
            <a:miter lim="800000"/>
          </a:ln>
        </p:spPr>
        <p:txBody>
          <a:bodyPr wrap="square" lIns="0" tIns="0" rIns="0" bIns="0">
            <a:spAutoFit/>
          </a:bodyPr>
          <a:lstStyle/>
          <a:p>
            <a:pPr marL="342900" indent="-342900" defTabSz="839470">
              <a:lnSpc>
                <a:spcPct val="150000"/>
              </a:lnSpc>
              <a:spcAft>
                <a:spcPts val="500"/>
              </a:spcAft>
              <a:buClr>
                <a:srgbClr val="C00000"/>
              </a:buClr>
              <a:buFont typeface="Wingdings" panose="05000000000000000000" pitchFamily="2" charset="2"/>
              <a:buChar char="l"/>
            </a:pPr>
            <a:r>
              <a:rPr lang="zh-CN" altLang="en-US" sz="1600" dirty="0">
                <a:effectLst/>
                <a:latin typeface="Arial" panose="020B0604020202020204"/>
                <a:ea typeface="微软雅黑" panose="020B0503020204020204" charset="-122"/>
                <a:sym typeface="Arial" panose="020B0604020202020204"/>
              </a:rPr>
              <a:t>以此次代理商保证金信息比对为主，对手工帐系统和押金管理系统中受理的记录进行初步筛查。除去系统中已退款的、系统中仍有</a:t>
            </a:r>
            <a:r>
              <a:rPr lang="en-US" altLang="zh-CN" sz="1600" b="1" dirty="0">
                <a:solidFill>
                  <a:srgbClr val="FF0000"/>
                </a:solidFill>
                <a:effectLst/>
                <a:latin typeface="Arial" panose="020B0604020202020204"/>
                <a:ea typeface="微软雅黑" panose="020B0503020204020204" charset="-122"/>
                <a:sym typeface="Arial" panose="020B0604020202020204"/>
              </a:rPr>
              <a:t>84.73</a:t>
            </a:r>
            <a:r>
              <a:rPr lang="zh-CN" altLang="en-US" sz="1600" b="1" dirty="0">
                <a:solidFill>
                  <a:srgbClr val="FF0000"/>
                </a:solidFill>
                <a:effectLst/>
                <a:latin typeface="Arial" panose="020B0604020202020204"/>
                <a:ea typeface="微软雅黑" panose="020B0503020204020204" charset="-122"/>
                <a:sym typeface="Arial" panose="020B0604020202020204"/>
              </a:rPr>
              <a:t>万元</a:t>
            </a:r>
            <a:r>
              <a:rPr lang="zh-CN" altLang="en-US" sz="1600" dirty="0">
                <a:effectLst/>
                <a:latin typeface="Arial" panose="020B0604020202020204"/>
                <a:ea typeface="微软雅黑" panose="020B0503020204020204" charset="-122"/>
                <a:sym typeface="Arial" panose="020B0604020202020204"/>
              </a:rPr>
              <a:t>的押金未核实清楚，其中手工帐系统</a:t>
            </a:r>
            <a:r>
              <a:rPr lang="en-US" altLang="zh-CN" sz="1600" dirty="0">
                <a:effectLst/>
                <a:latin typeface="Arial" panose="020B0604020202020204"/>
                <a:ea typeface="微软雅黑" panose="020B0503020204020204" charset="-122"/>
                <a:sym typeface="Arial" panose="020B0604020202020204"/>
              </a:rPr>
              <a:t>69</a:t>
            </a:r>
            <a:r>
              <a:rPr lang="zh-CN" altLang="en-US" sz="1600" dirty="0">
                <a:effectLst/>
                <a:latin typeface="Arial" panose="020B0604020202020204"/>
                <a:ea typeface="微软雅黑" panose="020B0503020204020204" charset="-122"/>
                <a:sym typeface="Arial" panose="020B0604020202020204"/>
              </a:rPr>
              <a:t>条记录，涉及金额</a:t>
            </a:r>
            <a:r>
              <a:rPr lang="en-US" altLang="zh-CN" sz="1600" b="1" dirty="0">
                <a:solidFill>
                  <a:srgbClr val="FF0000"/>
                </a:solidFill>
                <a:effectLst/>
                <a:latin typeface="Arial" panose="020B0604020202020204"/>
                <a:ea typeface="微软雅黑" panose="020B0503020204020204" charset="-122"/>
                <a:sym typeface="Arial" panose="020B0604020202020204"/>
              </a:rPr>
              <a:t>34.32</a:t>
            </a:r>
            <a:r>
              <a:rPr lang="zh-CN" altLang="en-US" sz="1600" b="1" dirty="0">
                <a:solidFill>
                  <a:srgbClr val="FF0000"/>
                </a:solidFill>
                <a:effectLst/>
                <a:latin typeface="Arial" panose="020B0604020202020204"/>
                <a:ea typeface="微软雅黑" panose="020B0503020204020204" charset="-122"/>
                <a:sym typeface="Arial" panose="020B0604020202020204"/>
              </a:rPr>
              <a:t>万元</a:t>
            </a:r>
            <a:r>
              <a:rPr lang="zh-CN" altLang="en-US" sz="1600" dirty="0">
                <a:effectLst/>
                <a:latin typeface="Arial" panose="020B0604020202020204"/>
                <a:ea typeface="微软雅黑" panose="020B0503020204020204" charset="-122"/>
                <a:sym typeface="Arial" panose="020B0604020202020204"/>
              </a:rPr>
              <a:t>；押金管理系统中</a:t>
            </a:r>
            <a:r>
              <a:rPr lang="en-US" altLang="zh-CN" sz="1600" dirty="0">
                <a:effectLst/>
                <a:latin typeface="Arial" panose="020B0604020202020204"/>
                <a:ea typeface="微软雅黑" panose="020B0503020204020204" charset="-122"/>
                <a:sym typeface="Arial" panose="020B0604020202020204"/>
              </a:rPr>
              <a:t>80</a:t>
            </a:r>
            <a:r>
              <a:rPr lang="zh-CN" altLang="en-US" sz="1600" dirty="0">
                <a:effectLst/>
                <a:latin typeface="Arial" panose="020B0604020202020204"/>
                <a:ea typeface="微软雅黑" panose="020B0503020204020204" charset="-122"/>
                <a:sym typeface="Arial" panose="020B0604020202020204"/>
              </a:rPr>
              <a:t>条记录，涉及金额</a:t>
            </a:r>
            <a:r>
              <a:rPr lang="en-US" altLang="zh-CN" sz="1600" b="1" dirty="0">
                <a:solidFill>
                  <a:srgbClr val="FF0000"/>
                </a:solidFill>
                <a:effectLst/>
                <a:latin typeface="Arial" panose="020B0604020202020204"/>
                <a:ea typeface="微软雅黑" panose="020B0503020204020204" charset="-122"/>
                <a:sym typeface="Arial" panose="020B0604020202020204"/>
              </a:rPr>
              <a:t>50.41</a:t>
            </a:r>
            <a:r>
              <a:rPr lang="zh-CN" altLang="en-US" sz="1600" b="1" dirty="0">
                <a:solidFill>
                  <a:srgbClr val="FF0000"/>
                </a:solidFill>
                <a:effectLst/>
                <a:latin typeface="Arial" panose="020B0604020202020204"/>
                <a:ea typeface="微软雅黑" panose="020B0503020204020204" charset="-122"/>
                <a:sym typeface="Arial" panose="020B0604020202020204"/>
              </a:rPr>
              <a:t>万元</a:t>
            </a:r>
            <a:r>
              <a:rPr lang="zh-CN" altLang="en-US" sz="1600" dirty="0">
                <a:effectLst/>
                <a:latin typeface="Arial" panose="020B0604020202020204"/>
                <a:ea typeface="微软雅黑" panose="020B0503020204020204" charset="-122"/>
                <a:sym typeface="Arial" panose="020B0604020202020204"/>
              </a:rPr>
              <a:t>。</a:t>
            </a:r>
          </a:p>
          <a:p>
            <a:pPr marL="342900" indent="-342900" defTabSz="839470">
              <a:lnSpc>
                <a:spcPct val="150000"/>
              </a:lnSpc>
              <a:spcAft>
                <a:spcPts val="500"/>
              </a:spcAft>
              <a:buClr>
                <a:srgbClr val="C00000"/>
              </a:buClr>
              <a:buFont typeface="Wingdings" panose="05000000000000000000" pitchFamily="2" charset="2"/>
              <a:buChar char="l"/>
            </a:pPr>
            <a:r>
              <a:rPr lang="zh-CN" altLang="en-US" sz="1600" dirty="0">
                <a:effectLst/>
                <a:latin typeface="Arial" panose="020B0604020202020204"/>
                <a:ea typeface="微软雅黑" panose="020B0503020204020204" charset="-122"/>
                <a:sym typeface="Arial" panose="020B0604020202020204"/>
              </a:rPr>
              <a:t>其中，部分单笔金额小于</a:t>
            </a:r>
            <a:r>
              <a:rPr lang="en-US" altLang="zh-CN" sz="1600" dirty="0">
                <a:effectLst/>
                <a:latin typeface="Arial" panose="020B0604020202020204"/>
                <a:ea typeface="微软雅黑" panose="020B0503020204020204" charset="-122"/>
                <a:sym typeface="Arial" panose="020B0604020202020204"/>
              </a:rPr>
              <a:t>1000</a:t>
            </a:r>
            <a:r>
              <a:rPr lang="zh-CN" altLang="en-US" sz="1600" dirty="0">
                <a:effectLst/>
                <a:latin typeface="Arial" panose="020B0604020202020204"/>
                <a:ea typeface="微软雅黑" panose="020B0503020204020204" charset="-122"/>
                <a:sym typeface="Arial" panose="020B0604020202020204"/>
              </a:rPr>
              <a:t>元，一般是其他话机押金、电子售卡押金等；部分金额较大的可能是代理点或专营店的押金，但仍需要核实是否存在实际已退款、系统未受理退款的情形</a:t>
            </a:r>
          </a:p>
        </p:txBody>
      </p:sp>
      <p:graphicFrame>
        <p:nvGraphicFramePr>
          <p:cNvPr id="6" name="表格 5"/>
          <p:cNvGraphicFramePr>
            <a:graphicFrameLocks noGrp="1"/>
          </p:cNvGraphicFramePr>
          <p:nvPr/>
        </p:nvGraphicFramePr>
        <p:xfrm>
          <a:off x="6096000" y="2572021"/>
          <a:ext cx="5300870" cy="3298692"/>
        </p:xfrm>
        <a:graphic>
          <a:graphicData uri="http://schemas.openxmlformats.org/drawingml/2006/table">
            <a:tbl>
              <a:tblPr firstRow="1" firstCol="1" bandRow="1">
                <a:tableStyleId>{C083E6E3-FA7D-4D7B-A595-EF9225AFEA82}</a:tableStyleId>
              </a:tblPr>
              <a:tblGrid>
                <a:gridCol w="867302"/>
                <a:gridCol w="551351"/>
                <a:gridCol w="629345"/>
                <a:gridCol w="724905"/>
                <a:gridCol w="866359"/>
                <a:gridCol w="739439"/>
                <a:gridCol w="922169"/>
              </a:tblGrid>
              <a:tr h="694391">
                <a:tc rowSpan="2">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类别</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00000"/>
                    </a:solidFill>
                  </a:tcPr>
                </a:tc>
                <a:tc rowSpan="2">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记录数</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00000"/>
                    </a:solidFill>
                  </a:tcPr>
                </a:tc>
                <a:tc rowSpan="2">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涉及金额</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00000"/>
                    </a:solidFill>
                  </a:tcPr>
                </a:tc>
                <a:tc gridSpan="2">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其中，单笔金额</a:t>
                      </a:r>
                      <a:endParaRPr lang="zh-CN" sz="1400" kern="100" dirty="0">
                        <a:solidFill>
                          <a:schemeClr val="bg1"/>
                        </a:solidFill>
                        <a:effectLst/>
                        <a:latin typeface="Arial" panose="020B0604020202020204"/>
                        <a:ea typeface="微软雅黑" panose="020B0503020204020204" charset="-122"/>
                        <a:sym typeface="Arial" panose="020B0604020202020204"/>
                      </a:endParaRPr>
                    </a:p>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大于</a:t>
                      </a:r>
                      <a:r>
                        <a:rPr lang="en-US" sz="1400" kern="0" dirty="0">
                          <a:solidFill>
                            <a:schemeClr val="bg1"/>
                          </a:solidFill>
                          <a:effectLst/>
                          <a:latin typeface="Arial" panose="020B0604020202020204"/>
                          <a:ea typeface="微软雅黑" panose="020B0503020204020204" charset="-122"/>
                          <a:sym typeface="Arial" panose="020B0604020202020204"/>
                        </a:rPr>
                        <a:t>1000</a:t>
                      </a:r>
                      <a:r>
                        <a:rPr lang="zh-CN" sz="1400" kern="0" dirty="0">
                          <a:solidFill>
                            <a:schemeClr val="bg1"/>
                          </a:solidFill>
                          <a:effectLst/>
                          <a:latin typeface="Arial" panose="020B0604020202020204"/>
                          <a:ea typeface="微软雅黑" panose="020B0503020204020204" charset="-122"/>
                          <a:sym typeface="Arial" panose="020B0604020202020204"/>
                        </a:rPr>
                        <a:t>元</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hMerge="1">
                  <a:txBody>
                    <a:bodyPr/>
                    <a:lstStyle/>
                    <a:p>
                      <a:endParaRPr lang="zh-CN"/>
                    </a:p>
                  </a:txBody>
                  <a:tcPr/>
                </a:tc>
                <a:tc gridSpan="2">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其中，单笔金额</a:t>
                      </a:r>
                      <a:endParaRPr lang="zh-CN" sz="1400" kern="100" dirty="0">
                        <a:solidFill>
                          <a:schemeClr val="bg1"/>
                        </a:solidFill>
                        <a:effectLst/>
                        <a:latin typeface="Arial" panose="020B0604020202020204"/>
                        <a:ea typeface="微软雅黑" panose="020B0503020204020204" charset="-122"/>
                        <a:sym typeface="Arial" panose="020B0604020202020204"/>
                      </a:endParaRPr>
                    </a:p>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大于</a:t>
                      </a:r>
                      <a:r>
                        <a:rPr lang="en-US" sz="1400" kern="0" dirty="0">
                          <a:solidFill>
                            <a:schemeClr val="bg1"/>
                          </a:solidFill>
                          <a:effectLst/>
                          <a:latin typeface="Arial" panose="020B0604020202020204"/>
                          <a:ea typeface="微软雅黑" panose="020B0503020204020204" charset="-122"/>
                          <a:sym typeface="Arial" panose="020B0604020202020204"/>
                        </a:rPr>
                        <a:t>10000</a:t>
                      </a:r>
                      <a:r>
                        <a:rPr lang="zh-CN" sz="1400" kern="0" dirty="0">
                          <a:solidFill>
                            <a:schemeClr val="bg1"/>
                          </a:solidFill>
                          <a:effectLst/>
                          <a:latin typeface="Arial" panose="020B0604020202020204"/>
                          <a:ea typeface="微软雅黑" panose="020B0503020204020204" charset="-122"/>
                          <a:sym typeface="Arial" panose="020B0604020202020204"/>
                        </a:rPr>
                        <a:t>元</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hMerge="1">
                  <a:txBody>
                    <a:bodyPr/>
                    <a:lstStyle/>
                    <a:p>
                      <a:endParaRPr lang="zh-CN"/>
                    </a:p>
                  </a:txBody>
                  <a:tcPr/>
                </a:tc>
              </a:tr>
              <a:tr h="723959">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记录数</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00000"/>
                    </a:solidFill>
                  </a:tcPr>
                </a:tc>
                <a:tc>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涉及金额</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00000"/>
                    </a:solidFill>
                  </a:tcPr>
                </a:tc>
                <a:tc>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记录数</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00000"/>
                    </a:solidFill>
                  </a:tcPr>
                </a:tc>
                <a:tc>
                  <a:txBody>
                    <a:bodyPr/>
                    <a:lstStyle/>
                    <a:p>
                      <a:pPr algn="ctr">
                        <a:spcAft>
                          <a:spcPts val="0"/>
                        </a:spcAft>
                      </a:pPr>
                      <a:r>
                        <a:rPr lang="zh-CN" sz="1400" kern="0" dirty="0">
                          <a:solidFill>
                            <a:schemeClr val="bg1"/>
                          </a:solidFill>
                          <a:effectLst/>
                          <a:latin typeface="Arial" panose="020B0604020202020204"/>
                          <a:ea typeface="微软雅黑" panose="020B0503020204020204" charset="-122"/>
                          <a:sym typeface="Arial" panose="020B0604020202020204"/>
                        </a:rPr>
                        <a:t>涉及金额</a:t>
                      </a:r>
                      <a:endParaRPr lang="zh-CN" sz="1400" kern="100" dirty="0">
                        <a:solidFill>
                          <a:schemeClr val="bg1"/>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00000"/>
                    </a:solidFill>
                  </a:tcPr>
                </a:tc>
              </a:tr>
              <a:tr h="627666">
                <a:tc>
                  <a:txBody>
                    <a:bodyPr/>
                    <a:lstStyle/>
                    <a:p>
                      <a:pPr algn="ctr">
                        <a:spcAft>
                          <a:spcPts val="0"/>
                        </a:spcAft>
                      </a:pPr>
                      <a:r>
                        <a:rPr lang="zh-CN" sz="1400" kern="0" dirty="0">
                          <a:effectLst/>
                          <a:latin typeface="Arial" panose="020B0604020202020204"/>
                          <a:ea typeface="微软雅黑" panose="020B0503020204020204" charset="-122"/>
                          <a:sym typeface="Arial" panose="020B0604020202020204"/>
                        </a:rPr>
                        <a:t>手工帐</a:t>
                      </a:r>
                      <a:endParaRPr lang="en-US" altLang="zh-CN" sz="1400" kern="0" dirty="0">
                        <a:effectLst/>
                        <a:latin typeface="Arial" panose="020B0604020202020204"/>
                        <a:ea typeface="微软雅黑" panose="020B0503020204020204" charset="-122"/>
                        <a:sym typeface="Arial" panose="020B0604020202020204"/>
                      </a:endParaRPr>
                    </a:p>
                    <a:p>
                      <a:pPr algn="ctr">
                        <a:spcAft>
                          <a:spcPts val="0"/>
                        </a:spcAft>
                      </a:pPr>
                      <a:r>
                        <a:rPr lang="zh-CN" sz="1400" kern="0" dirty="0">
                          <a:effectLst/>
                          <a:latin typeface="Arial" panose="020B0604020202020204"/>
                          <a:ea typeface="微软雅黑" panose="020B0503020204020204" charset="-122"/>
                          <a:sym typeface="Arial" panose="020B0604020202020204"/>
                        </a:rPr>
                        <a:t>系统</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69</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a:effectLst/>
                          <a:latin typeface="Arial" panose="020B0604020202020204"/>
                          <a:ea typeface="微软雅黑" panose="020B0503020204020204" charset="-122"/>
                          <a:sym typeface="Arial" panose="020B0604020202020204"/>
                        </a:rPr>
                        <a:t>34.32</a:t>
                      </a:r>
                      <a:endParaRPr lang="zh-CN" sz="1400" kern="10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a:effectLst/>
                          <a:latin typeface="Arial" panose="020B0604020202020204"/>
                          <a:ea typeface="微软雅黑" panose="020B0503020204020204" charset="-122"/>
                          <a:sym typeface="Arial" panose="020B0604020202020204"/>
                        </a:rPr>
                        <a:t>62</a:t>
                      </a:r>
                      <a:endParaRPr lang="zh-CN" sz="1400" kern="10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34.05</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Arial" panose="020B0604020202020204"/>
                          <a:ea typeface="微软雅黑" panose="020B0503020204020204" charset="-122"/>
                          <a:sym typeface="Arial" panose="020B0604020202020204"/>
                        </a:rPr>
                        <a:t>14</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Arial" panose="020B0604020202020204"/>
                          <a:ea typeface="微软雅黑" panose="020B0503020204020204" charset="-122"/>
                          <a:sym typeface="Arial" panose="020B0604020202020204"/>
                        </a:rPr>
                        <a:t>17.00</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r>
              <a:tr h="772094">
                <a:tc>
                  <a:txBody>
                    <a:bodyPr/>
                    <a:lstStyle/>
                    <a:p>
                      <a:pPr algn="ctr">
                        <a:spcAft>
                          <a:spcPts val="0"/>
                        </a:spcAft>
                      </a:pPr>
                      <a:r>
                        <a:rPr lang="zh-CN" sz="1400" kern="0" dirty="0">
                          <a:effectLst/>
                          <a:latin typeface="Arial" panose="020B0604020202020204"/>
                          <a:ea typeface="微软雅黑" panose="020B0503020204020204" charset="-122"/>
                          <a:sym typeface="Arial" panose="020B0604020202020204"/>
                        </a:rPr>
                        <a:t>押金管理系统</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80</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50.41</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58</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49.60</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100" dirty="0">
                          <a:effectLst/>
                          <a:latin typeface="Arial" panose="020B0604020202020204"/>
                          <a:ea typeface="微软雅黑" panose="020B0503020204020204" charset="-122"/>
                          <a:sym typeface="Arial" panose="020B0604020202020204"/>
                        </a:rPr>
                        <a:t>4</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spcAft>
                          <a:spcPts val="0"/>
                        </a:spcAft>
                      </a:pPr>
                      <a:r>
                        <a:rPr lang="en-US" sz="1400" kern="100" dirty="0">
                          <a:effectLst/>
                          <a:latin typeface="Arial" panose="020B0604020202020204"/>
                          <a:ea typeface="微软雅黑" panose="020B0503020204020204" charset="-122"/>
                          <a:sym typeface="Arial" panose="020B0604020202020204"/>
                        </a:rPr>
                        <a:t>9.00</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r>
              <a:tr h="480582">
                <a:tc>
                  <a:txBody>
                    <a:bodyPr/>
                    <a:lstStyle/>
                    <a:p>
                      <a:pPr algn="ctr">
                        <a:spcAft>
                          <a:spcPts val="0"/>
                        </a:spcAft>
                      </a:pPr>
                      <a:r>
                        <a:rPr lang="zh-CN" sz="1400" kern="0" dirty="0">
                          <a:effectLst/>
                          <a:latin typeface="Arial" panose="020B0604020202020204"/>
                          <a:ea typeface="微软雅黑" panose="020B0503020204020204" charset="-122"/>
                          <a:sym typeface="Arial" panose="020B0604020202020204"/>
                        </a:rPr>
                        <a:t>合计</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149</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84.73</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120 </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0" dirty="0">
                          <a:effectLst/>
                          <a:latin typeface="Arial" panose="020B0604020202020204"/>
                          <a:ea typeface="微软雅黑" panose="020B0503020204020204" charset="-122"/>
                          <a:sym typeface="Arial" panose="020B0604020202020204"/>
                        </a:rPr>
                        <a:t>83.65 </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Arial" panose="020B0604020202020204"/>
                          <a:ea typeface="微软雅黑" panose="020B0503020204020204" charset="-122"/>
                          <a:sym typeface="Arial" panose="020B0604020202020204"/>
                        </a:rPr>
                        <a:t>18 </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spcAft>
                          <a:spcPts val="0"/>
                        </a:spcAft>
                      </a:pPr>
                      <a:r>
                        <a:rPr lang="en-US" sz="1400" kern="100" dirty="0">
                          <a:effectLst/>
                          <a:latin typeface="Arial" panose="020B0604020202020204"/>
                          <a:ea typeface="微软雅黑" panose="020B0503020204020204" charset="-122"/>
                          <a:sym typeface="Arial" panose="020B0604020202020204"/>
                        </a:rPr>
                        <a:t>26.00 </a:t>
                      </a:r>
                      <a:endParaRPr lang="zh-CN" sz="1400" kern="100" dirty="0">
                        <a:solidFill>
                          <a:srgbClr val="31849B"/>
                        </a:solidFill>
                        <a:effectLst/>
                        <a:latin typeface="Arial" panose="020B0604020202020204"/>
                        <a:ea typeface="微软雅黑" panose="020B0503020204020204" charset="-122"/>
                        <a:cs typeface="Times New Roman" panose="02020603050405020304"/>
                        <a:sym typeface="Arial" panose="020B0604020202020204"/>
                      </a:endParaRPr>
                    </a:p>
                  </a:txBody>
                  <a:tcPr marL="63318" marR="633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bl>
          </a:graphicData>
        </a:graphic>
      </p:graphicFrame>
      <p:sp>
        <p:nvSpPr>
          <p:cNvPr id="7" name="TextBox 15"/>
          <p:cNvSpPr txBox="1">
            <a:spLocks noChangeArrowheads="1"/>
          </p:cNvSpPr>
          <p:nvPr/>
        </p:nvSpPr>
        <p:spPr bwMode="auto">
          <a:xfrm>
            <a:off x="10098159" y="2190678"/>
            <a:ext cx="1124204" cy="246221"/>
          </a:xfrm>
          <a:prstGeom prst="rect">
            <a:avLst/>
          </a:prstGeom>
          <a:noFill/>
          <a:ln w="9525">
            <a:noFill/>
            <a:miter lim="800000"/>
          </a:ln>
        </p:spPr>
        <p:txBody>
          <a:bodyPr wrap="square">
            <a:spAutoFit/>
          </a:bodyPr>
          <a:lstStyle/>
          <a:p>
            <a:pPr algn="r"/>
            <a:r>
              <a:rPr lang="zh-CN" altLang="en-US" sz="1000" dirty="0">
                <a:effectLst/>
                <a:latin typeface="Arial" panose="020B0604020202020204"/>
                <a:ea typeface="微软雅黑" panose="020B0503020204020204" charset="-122"/>
                <a:sym typeface="Arial" panose="020B0604020202020204"/>
              </a:rPr>
              <a:t>单位：万元</a:t>
            </a:r>
          </a:p>
        </p:txBody>
      </p:sp>
      <p:sp>
        <p:nvSpPr>
          <p:cNvPr id="8" name="文本框 7"/>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1500"/>
                                  </p:stCondLst>
                                  <p:childTnLst>
                                    <p:animEffect transition="out" filter="fade">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381" y="395116"/>
            <a:ext cx="5086649" cy="646331"/>
          </a:xfrm>
          <a:prstGeom prst="rect">
            <a:avLst/>
          </a:prstGeom>
        </p:spPr>
        <p:txBody>
          <a:bodyPr wrap="none">
            <a:spAutoFit/>
          </a:bodyPr>
          <a:lstStyle/>
          <a:p>
            <a:pPr>
              <a:defRPr/>
            </a:pPr>
            <a:r>
              <a:rPr lang="zh-CN" altLang="en-US" sz="3600" b="1" kern="0" dirty="0">
                <a:latin typeface="Arial" panose="020B0604020202020204"/>
                <a:ea typeface="微软雅黑" panose="020B0503020204020204" charset="-122"/>
                <a:sym typeface="Arial" panose="020B0604020202020204"/>
              </a:rPr>
              <a:t>专题</a:t>
            </a:r>
            <a:r>
              <a:rPr lang="en-US" altLang="zh-CN" sz="3600" b="1" kern="0" dirty="0">
                <a:latin typeface="Arial" panose="020B0604020202020204"/>
                <a:ea typeface="微软雅黑" panose="020B0503020204020204" charset="-122"/>
                <a:sym typeface="Arial" panose="020B0604020202020204"/>
              </a:rPr>
              <a:t>1</a:t>
            </a:r>
            <a:r>
              <a:rPr lang="zh-CN" altLang="en-US" sz="3600" b="1" kern="0" dirty="0">
                <a:latin typeface="Arial" panose="020B0604020202020204"/>
                <a:ea typeface="微软雅黑" panose="020B0503020204020204" charset="-122"/>
                <a:sym typeface="Arial" panose="020B0604020202020204"/>
              </a:rPr>
              <a:t>：代理商保证金续</a:t>
            </a:r>
            <a:endParaRPr lang="zh-CN" altLang="en-US" sz="3600" b="1" dirty="0">
              <a:latin typeface="Arial" panose="020B0604020202020204"/>
              <a:ea typeface="微软雅黑" panose="020B0503020204020204" charset="-122"/>
              <a:sym typeface="Arial" panose="020B0604020202020204"/>
            </a:endParaRPr>
          </a:p>
        </p:txBody>
      </p:sp>
      <p:sp>
        <p:nvSpPr>
          <p:cNvPr id="3" name="六边形 2"/>
          <p:cNvSpPr/>
          <p:nvPr/>
        </p:nvSpPr>
        <p:spPr>
          <a:xfrm>
            <a:off x="3424643" y="1455289"/>
            <a:ext cx="5342713" cy="466275"/>
          </a:xfrm>
          <a:prstGeom prst="hexagon">
            <a:avLst>
              <a:gd name="adj" fmla="val 13631"/>
              <a:gd name="vf" fmla="val 115470"/>
            </a:avLst>
          </a:prstGeom>
          <a:ln w="19050">
            <a:solidFill>
              <a:srgbClr val="C00000"/>
            </a:solidFill>
          </a:ln>
        </p:spPr>
        <p:txBody>
          <a:bodyPr wrap="square" anchor="ctr">
            <a:noAutofit/>
          </a:bodyPr>
          <a:lstStyle/>
          <a:p>
            <a:pPr algn="ctr" defTabSz="839470"/>
            <a:r>
              <a:rPr lang="zh-CN" altLang="en-US" sz="2000" dirty="0">
                <a:latin typeface="Arial" panose="020B0604020202020204"/>
                <a:ea typeface="微软雅黑" panose="020B0503020204020204" charset="-122"/>
                <a:sym typeface="Arial" panose="020B0604020202020204"/>
              </a:rPr>
              <a:t>三、下一步的工作安排</a:t>
            </a:r>
          </a:p>
        </p:txBody>
      </p:sp>
      <p:sp>
        <p:nvSpPr>
          <p:cNvPr id="6" name="矩形 5"/>
          <p:cNvSpPr/>
          <p:nvPr/>
        </p:nvSpPr>
        <p:spPr>
          <a:xfrm>
            <a:off x="1020419" y="2133001"/>
            <a:ext cx="6241772" cy="2159566"/>
          </a:xfrm>
          <a:prstGeom prst="rect">
            <a:avLst/>
          </a:prstGeom>
        </p:spPr>
        <p:txBody>
          <a:bodyPr wrap="square">
            <a:spAutoFit/>
          </a:bodyPr>
          <a:lstStyle/>
          <a:p>
            <a:pPr>
              <a:lnSpc>
                <a:spcPct val="150000"/>
              </a:lnSpc>
              <a:spcAft>
                <a:spcPts val="500"/>
              </a:spcAft>
              <a:buClr>
                <a:srgbClr val="C00000"/>
              </a:buClr>
              <a:defRPr/>
            </a:pPr>
            <a:r>
              <a:rPr lang="en-US" altLang="zh-CN" sz="2000" b="1" dirty="0">
                <a:latin typeface="Arial" panose="020B0604020202020204"/>
                <a:ea typeface="微软雅黑" panose="020B0503020204020204" charset="-122"/>
                <a:sym typeface="Arial" panose="020B0604020202020204"/>
              </a:rPr>
              <a:t>1</a:t>
            </a:r>
            <a:r>
              <a:rPr lang="zh-CN" altLang="en-US" sz="2000" b="1" dirty="0">
                <a:latin typeface="Arial" panose="020B0604020202020204"/>
                <a:ea typeface="微软雅黑" panose="020B0503020204020204" charset="-122"/>
                <a:sym typeface="Arial" panose="020B0604020202020204"/>
              </a:rPr>
              <a:t>、信息比对工作的强化</a:t>
            </a:r>
          </a:p>
          <a:p>
            <a:pPr>
              <a:lnSpc>
                <a:spcPct val="150000"/>
              </a:lnSpc>
              <a:spcAft>
                <a:spcPts val="500"/>
              </a:spcAft>
              <a:buClr>
                <a:srgbClr val="C00000"/>
              </a:buClr>
              <a:defRPr/>
            </a:pPr>
            <a:r>
              <a:rPr lang="zh-CN" altLang="en-US" sz="1600" b="1" dirty="0">
                <a:solidFill>
                  <a:srgbClr val="000000"/>
                </a:solidFill>
                <a:latin typeface="Arial" panose="020B0604020202020204"/>
                <a:ea typeface="微软雅黑" panose="020B0503020204020204" charset="-122"/>
                <a:sym typeface="Arial" panose="020B0604020202020204"/>
              </a:rPr>
              <a:t>（</a:t>
            </a:r>
            <a:r>
              <a:rPr lang="en-US" altLang="zh-CN" sz="1600" b="1" dirty="0">
                <a:solidFill>
                  <a:srgbClr val="000000"/>
                </a:solidFill>
                <a:latin typeface="Arial" panose="020B0604020202020204"/>
                <a:ea typeface="微软雅黑" panose="020B0503020204020204" charset="-122"/>
                <a:sym typeface="Arial" panose="020B0604020202020204"/>
              </a:rPr>
              <a:t>1</a:t>
            </a:r>
            <a:r>
              <a:rPr lang="zh-CN" altLang="en-US" sz="1600" b="1" dirty="0">
                <a:solidFill>
                  <a:srgbClr val="000000"/>
                </a:solidFill>
                <a:latin typeface="Arial" panose="020B0604020202020204"/>
                <a:ea typeface="微软雅黑" panose="020B0503020204020204" charset="-122"/>
                <a:sym typeface="Arial" panose="020B0604020202020204"/>
              </a:rPr>
              <a:t>）其余信息比对的协同配合</a:t>
            </a:r>
          </a:p>
          <a:p>
            <a:pPr>
              <a:lnSpc>
                <a:spcPct val="150000"/>
              </a:lnSpc>
              <a:spcAft>
                <a:spcPts val="500"/>
              </a:spcAft>
              <a:buClr>
                <a:srgbClr val="C00000"/>
              </a:buClr>
              <a:defRPr/>
            </a:pPr>
            <a:r>
              <a:rPr lang="zh-CN" altLang="en-US" sz="1600" dirty="0">
                <a:solidFill>
                  <a:srgbClr val="000000"/>
                </a:solidFill>
                <a:latin typeface="Arial" panose="020B0604020202020204"/>
                <a:ea typeface="微软雅黑" panose="020B0503020204020204" charset="-122"/>
                <a:sym typeface="Arial" panose="020B0604020202020204"/>
              </a:rPr>
              <a:t>对于目前未稽核的</a:t>
            </a:r>
            <a:r>
              <a:rPr lang="en-US" altLang="zh-CN" sz="1600" dirty="0">
                <a:solidFill>
                  <a:srgbClr val="FF0000"/>
                </a:solidFill>
                <a:latin typeface="Arial" panose="020B0604020202020204"/>
                <a:ea typeface="微软雅黑" panose="020B0503020204020204" charset="-122"/>
                <a:sym typeface="Arial" panose="020B0604020202020204"/>
              </a:rPr>
              <a:t>47</a:t>
            </a:r>
            <a:r>
              <a:rPr lang="zh-CN" altLang="en-US" sz="1600" dirty="0">
                <a:solidFill>
                  <a:srgbClr val="FF0000"/>
                </a:solidFill>
                <a:latin typeface="Arial" panose="020B0604020202020204"/>
                <a:ea typeface="微软雅黑" panose="020B0503020204020204" charset="-122"/>
                <a:sym typeface="Arial" panose="020B0604020202020204"/>
              </a:rPr>
              <a:t>家</a:t>
            </a:r>
            <a:r>
              <a:rPr lang="zh-CN" altLang="en-US" sz="1600" dirty="0">
                <a:solidFill>
                  <a:srgbClr val="000000"/>
                </a:solidFill>
                <a:latin typeface="Arial" panose="020B0604020202020204"/>
                <a:ea typeface="微软雅黑" panose="020B0503020204020204" charset="-122"/>
                <a:sym typeface="Arial" panose="020B0604020202020204"/>
              </a:rPr>
              <a:t>，建议渠道运营中心配合业务支撑中心，收集尽可能多的信息字段，供业务支撑中心加以比对，并协调后续的核实工作，确保将先将这批专营店的保证金梳理工作完成到位。</a:t>
            </a:r>
          </a:p>
        </p:txBody>
      </p:sp>
      <p:sp>
        <p:nvSpPr>
          <p:cNvPr id="7" name="矩形 6"/>
          <p:cNvSpPr/>
          <p:nvPr/>
        </p:nvSpPr>
        <p:spPr>
          <a:xfrm>
            <a:off x="1046657" y="4359367"/>
            <a:ext cx="6136021" cy="2003112"/>
          </a:xfrm>
          <a:prstGeom prst="rect">
            <a:avLst/>
          </a:prstGeom>
        </p:spPr>
        <p:txBody>
          <a:bodyPr wrap="square">
            <a:spAutoFit/>
          </a:bodyPr>
          <a:lstStyle/>
          <a:p>
            <a:pPr>
              <a:lnSpc>
                <a:spcPct val="150000"/>
              </a:lnSpc>
              <a:spcAft>
                <a:spcPts val="500"/>
              </a:spcAft>
              <a:buClr>
                <a:srgbClr val="C00000"/>
              </a:buClr>
              <a:defRPr/>
            </a:pPr>
            <a:r>
              <a:rPr lang="zh-CN" altLang="en-US" sz="1600" b="1" dirty="0">
                <a:solidFill>
                  <a:srgbClr val="000000"/>
                </a:solidFill>
                <a:latin typeface="Arial" panose="020B0604020202020204"/>
                <a:ea typeface="微软雅黑" panose="020B0503020204020204" charset="-122"/>
                <a:sym typeface="Arial" panose="020B0604020202020204"/>
              </a:rPr>
              <a:t>（</a:t>
            </a:r>
            <a:r>
              <a:rPr lang="en-US" altLang="zh-CN" sz="1600" b="1" dirty="0">
                <a:solidFill>
                  <a:srgbClr val="000000"/>
                </a:solidFill>
                <a:latin typeface="Arial" panose="020B0604020202020204"/>
                <a:ea typeface="微软雅黑" panose="020B0503020204020204" charset="-122"/>
                <a:sym typeface="Arial" panose="020B0604020202020204"/>
              </a:rPr>
              <a:t>2</a:t>
            </a:r>
            <a:r>
              <a:rPr lang="zh-CN" altLang="en-US" sz="1600" b="1" dirty="0">
                <a:solidFill>
                  <a:srgbClr val="000000"/>
                </a:solidFill>
                <a:latin typeface="Arial" panose="020B0604020202020204"/>
                <a:ea typeface="微软雅黑" panose="020B0503020204020204" charset="-122"/>
                <a:sym typeface="Arial" panose="020B0604020202020204"/>
              </a:rPr>
              <a:t>）系统数据筛查</a:t>
            </a:r>
          </a:p>
          <a:p>
            <a:pPr>
              <a:lnSpc>
                <a:spcPct val="150000"/>
              </a:lnSpc>
              <a:spcAft>
                <a:spcPts val="500"/>
              </a:spcAft>
              <a:buClr>
                <a:srgbClr val="C00000"/>
              </a:buClr>
              <a:defRPr/>
            </a:pPr>
            <a:r>
              <a:rPr lang="zh-CN" altLang="en-US" sz="1600" dirty="0">
                <a:solidFill>
                  <a:srgbClr val="000000"/>
                </a:solidFill>
                <a:latin typeface="Arial" panose="020B0604020202020204"/>
                <a:ea typeface="微软雅黑" panose="020B0503020204020204" charset="-122"/>
                <a:sym typeface="Arial" panose="020B0604020202020204"/>
              </a:rPr>
              <a:t>目前，未比对的代理商保证金有</a:t>
            </a:r>
            <a:r>
              <a:rPr lang="en-US" altLang="zh-CN" sz="1600" b="1" dirty="0">
                <a:solidFill>
                  <a:srgbClr val="FF0000"/>
                </a:solidFill>
                <a:latin typeface="Arial" panose="020B0604020202020204"/>
                <a:ea typeface="微软雅黑" panose="020B0503020204020204" charset="-122"/>
                <a:sym typeface="Arial" panose="020B0604020202020204"/>
              </a:rPr>
              <a:t>43.05</a:t>
            </a:r>
            <a:r>
              <a:rPr lang="zh-CN" altLang="en-US" sz="1600" b="1" dirty="0">
                <a:solidFill>
                  <a:srgbClr val="FF0000"/>
                </a:solidFill>
                <a:latin typeface="Arial" panose="020B0604020202020204"/>
                <a:ea typeface="微软雅黑" panose="020B0503020204020204" charset="-122"/>
                <a:sym typeface="Arial" panose="020B0604020202020204"/>
              </a:rPr>
              <a:t>万元</a:t>
            </a:r>
            <a:r>
              <a:rPr lang="zh-CN" altLang="en-US" sz="1600" dirty="0">
                <a:solidFill>
                  <a:srgbClr val="000000"/>
                </a:solidFill>
                <a:latin typeface="Arial" panose="020B0604020202020204"/>
                <a:ea typeface="微软雅黑" panose="020B0503020204020204" charset="-122"/>
                <a:sym typeface="Arial" panose="020B0604020202020204"/>
              </a:rPr>
              <a:t>，而系统中未稽核的受理记录有</a:t>
            </a:r>
            <a:r>
              <a:rPr lang="en-US" altLang="zh-CN" sz="1600" b="1" dirty="0">
                <a:solidFill>
                  <a:srgbClr val="FF0000"/>
                </a:solidFill>
                <a:latin typeface="Arial" panose="020B0604020202020204"/>
                <a:ea typeface="微软雅黑" panose="020B0503020204020204" charset="-122"/>
                <a:sym typeface="Arial" panose="020B0604020202020204"/>
              </a:rPr>
              <a:t>83.65</a:t>
            </a:r>
            <a:r>
              <a:rPr lang="zh-CN" altLang="en-US" sz="1600" b="1" dirty="0">
                <a:solidFill>
                  <a:srgbClr val="FF0000"/>
                </a:solidFill>
                <a:latin typeface="Arial" panose="020B0604020202020204"/>
                <a:ea typeface="微软雅黑" panose="020B0503020204020204" charset="-122"/>
                <a:sym typeface="Arial" panose="020B0604020202020204"/>
              </a:rPr>
              <a:t>万元</a:t>
            </a:r>
            <a:r>
              <a:rPr lang="zh-CN" altLang="en-US" sz="1600" dirty="0">
                <a:solidFill>
                  <a:srgbClr val="000000"/>
                </a:solidFill>
                <a:latin typeface="Arial" panose="020B0604020202020204"/>
                <a:ea typeface="微软雅黑" panose="020B0503020204020204" charset="-122"/>
                <a:sym typeface="Arial" panose="020B0604020202020204"/>
              </a:rPr>
              <a:t>，那么，待其余</a:t>
            </a:r>
            <a:r>
              <a:rPr lang="en-US" altLang="zh-CN" sz="1600" dirty="0">
                <a:solidFill>
                  <a:srgbClr val="000000"/>
                </a:solidFill>
                <a:latin typeface="Arial" panose="020B0604020202020204"/>
                <a:ea typeface="微软雅黑" panose="020B0503020204020204" charset="-122"/>
                <a:sym typeface="Arial" panose="020B0604020202020204"/>
              </a:rPr>
              <a:t>47</a:t>
            </a:r>
            <a:r>
              <a:rPr lang="zh-CN" altLang="en-US" sz="1600" dirty="0">
                <a:solidFill>
                  <a:srgbClr val="000000"/>
                </a:solidFill>
                <a:latin typeface="Arial" panose="020B0604020202020204"/>
                <a:ea typeface="微软雅黑" panose="020B0503020204020204" charset="-122"/>
                <a:sym typeface="Arial" panose="020B0604020202020204"/>
              </a:rPr>
              <a:t>家都比对完毕，系统中仍有不少于</a:t>
            </a:r>
            <a:r>
              <a:rPr lang="en-US" altLang="zh-CN" sz="1600" b="1" dirty="0">
                <a:solidFill>
                  <a:srgbClr val="FF0000"/>
                </a:solidFill>
                <a:latin typeface="Arial" panose="020B0604020202020204"/>
                <a:ea typeface="微软雅黑" panose="020B0503020204020204" charset="-122"/>
                <a:sym typeface="Arial" panose="020B0604020202020204"/>
              </a:rPr>
              <a:t>40.6</a:t>
            </a:r>
            <a:r>
              <a:rPr lang="zh-CN" altLang="en-US" sz="1600" b="1" dirty="0">
                <a:solidFill>
                  <a:srgbClr val="FF0000"/>
                </a:solidFill>
                <a:latin typeface="Arial" panose="020B0604020202020204"/>
                <a:ea typeface="微软雅黑" panose="020B0503020204020204" charset="-122"/>
                <a:sym typeface="Arial" panose="020B0604020202020204"/>
              </a:rPr>
              <a:t>万元</a:t>
            </a:r>
            <a:r>
              <a:rPr lang="zh-CN" altLang="en-US" sz="1600" dirty="0">
                <a:solidFill>
                  <a:srgbClr val="000000"/>
                </a:solidFill>
                <a:latin typeface="Arial" panose="020B0604020202020204"/>
                <a:ea typeface="微软雅黑" panose="020B0503020204020204" charset="-122"/>
                <a:sym typeface="Arial" panose="020B0604020202020204"/>
              </a:rPr>
              <a:t>的记录，还有待进一步筛查，是否存在错退的情况，或是退款与受理途径不一致造成的。</a:t>
            </a:r>
          </a:p>
        </p:txBody>
      </p:sp>
      <p:sp>
        <p:nvSpPr>
          <p:cNvPr id="8" name="矩形 7"/>
          <p:cNvSpPr/>
          <p:nvPr/>
        </p:nvSpPr>
        <p:spPr>
          <a:xfrm>
            <a:off x="7487478" y="2464904"/>
            <a:ext cx="3882887" cy="3684104"/>
          </a:xfrm>
          <a:prstGeom prst="rect">
            <a:avLst/>
          </a:prstGeom>
          <a:blipFill dpi="0" rotWithShape="1">
            <a:blip r:embed="rId3">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9" name="文本框 8"/>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150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25800" y="2252870"/>
            <a:ext cx="3421129" cy="422027"/>
          </a:xfrm>
          <a:prstGeom prst="rect">
            <a:avLst/>
          </a:prstGeom>
        </p:spPr>
        <p:txBody>
          <a:bodyPr wrap="none" anchor="ctr">
            <a:noAutofit/>
          </a:bodyPr>
          <a:lstStyle/>
          <a:p>
            <a:pPr>
              <a:spcAft>
                <a:spcPts val="500"/>
              </a:spcAft>
              <a:buClr>
                <a:srgbClr val="FF6600"/>
              </a:buClr>
              <a:defRPr/>
            </a:pPr>
            <a:r>
              <a:rPr lang="en-US" altLang="zh-CN" sz="2000" b="1" dirty="0">
                <a:latin typeface="Arial" panose="020B0604020202020204"/>
                <a:ea typeface="微软雅黑" panose="020B0503020204020204" charset="-122"/>
                <a:sym typeface="Arial" panose="020B0604020202020204"/>
              </a:rPr>
              <a:t>2</a:t>
            </a:r>
            <a:r>
              <a:rPr lang="zh-CN" altLang="en-US" sz="2000" b="1" dirty="0">
                <a:latin typeface="Arial" panose="020B0604020202020204"/>
                <a:ea typeface="微软雅黑" panose="020B0503020204020204" charset="-122"/>
                <a:sym typeface="Arial" panose="020B0604020202020204"/>
              </a:rPr>
              <a:t>、稽核比对工作的后续处理</a:t>
            </a:r>
          </a:p>
        </p:txBody>
      </p:sp>
      <p:sp>
        <p:nvSpPr>
          <p:cNvPr id="3" name="矩形 2"/>
          <p:cNvSpPr/>
          <p:nvPr/>
        </p:nvSpPr>
        <p:spPr>
          <a:xfrm>
            <a:off x="340381" y="395116"/>
            <a:ext cx="5086649" cy="646331"/>
          </a:xfrm>
          <a:prstGeom prst="rect">
            <a:avLst/>
          </a:prstGeom>
        </p:spPr>
        <p:txBody>
          <a:bodyPr wrap="none">
            <a:spAutoFit/>
          </a:bodyPr>
          <a:lstStyle/>
          <a:p>
            <a:pPr>
              <a:defRPr/>
            </a:pPr>
            <a:r>
              <a:rPr lang="zh-CN" altLang="en-US" sz="3600" b="1" kern="0" dirty="0">
                <a:latin typeface="Arial" panose="020B0604020202020204"/>
                <a:ea typeface="微软雅黑" panose="020B0503020204020204" charset="-122"/>
                <a:sym typeface="Arial" panose="020B0604020202020204"/>
              </a:rPr>
              <a:t>专题</a:t>
            </a:r>
            <a:r>
              <a:rPr lang="en-US" altLang="zh-CN" sz="3600" b="1" kern="0" dirty="0">
                <a:latin typeface="Arial" panose="020B0604020202020204"/>
                <a:ea typeface="微软雅黑" panose="020B0503020204020204" charset="-122"/>
                <a:sym typeface="Arial" panose="020B0604020202020204"/>
              </a:rPr>
              <a:t>1</a:t>
            </a:r>
            <a:r>
              <a:rPr lang="zh-CN" altLang="en-US" sz="3600" b="1" kern="0" dirty="0">
                <a:latin typeface="Arial" panose="020B0604020202020204"/>
                <a:ea typeface="微软雅黑" panose="020B0503020204020204" charset="-122"/>
                <a:sym typeface="Arial" panose="020B0604020202020204"/>
              </a:rPr>
              <a:t>：代理商保证金续</a:t>
            </a:r>
            <a:endParaRPr lang="zh-CN" altLang="en-US" sz="3600" b="1" dirty="0">
              <a:latin typeface="Arial" panose="020B0604020202020204"/>
              <a:ea typeface="微软雅黑" panose="020B0503020204020204" charset="-122"/>
              <a:sym typeface="Arial" panose="020B0604020202020204"/>
            </a:endParaRPr>
          </a:p>
        </p:txBody>
      </p:sp>
      <p:sp>
        <p:nvSpPr>
          <p:cNvPr id="4" name="六边形 3"/>
          <p:cNvSpPr/>
          <p:nvPr/>
        </p:nvSpPr>
        <p:spPr>
          <a:xfrm>
            <a:off x="3424643" y="1455289"/>
            <a:ext cx="5342713" cy="466275"/>
          </a:xfrm>
          <a:prstGeom prst="hexagon">
            <a:avLst>
              <a:gd name="adj" fmla="val 13631"/>
              <a:gd name="vf" fmla="val 115470"/>
            </a:avLst>
          </a:prstGeom>
          <a:ln w="19050">
            <a:solidFill>
              <a:srgbClr val="C00000"/>
            </a:solidFill>
          </a:ln>
        </p:spPr>
        <p:txBody>
          <a:bodyPr wrap="square" anchor="ctr">
            <a:noAutofit/>
          </a:bodyPr>
          <a:lstStyle/>
          <a:p>
            <a:pPr algn="ctr" defTabSz="839470"/>
            <a:r>
              <a:rPr lang="zh-CN" altLang="en-US" sz="2000" dirty="0">
                <a:latin typeface="Arial" panose="020B0604020202020204"/>
                <a:ea typeface="微软雅黑" panose="020B0503020204020204" charset="-122"/>
                <a:sym typeface="Arial" panose="020B0604020202020204"/>
              </a:rPr>
              <a:t>三、下一步的工作安排</a:t>
            </a:r>
          </a:p>
        </p:txBody>
      </p:sp>
      <p:grpSp>
        <p:nvGrpSpPr>
          <p:cNvPr id="5" name="组合 4"/>
          <p:cNvGrpSpPr/>
          <p:nvPr/>
        </p:nvGrpSpPr>
        <p:grpSpPr>
          <a:xfrm>
            <a:off x="1562161" y="2876326"/>
            <a:ext cx="656589" cy="647059"/>
            <a:chOff x="1435649" y="2418516"/>
            <a:chExt cx="656589" cy="647059"/>
          </a:xfrm>
        </p:grpSpPr>
        <p:sp>
          <p:nvSpPr>
            <p:cNvPr id="6" name="椭圆 5"/>
            <p:cNvSpPr/>
            <p:nvPr/>
          </p:nvSpPr>
          <p:spPr bwMode="auto">
            <a:xfrm>
              <a:off x="1435649" y="2418516"/>
              <a:ext cx="656589" cy="647059"/>
            </a:xfrm>
            <a:prstGeom prst="ellipse">
              <a:avLst/>
            </a:prstGeom>
            <a:solidFill>
              <a:srgbClr val="C00000"/>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grpSp>
          <p:nvGrpSpPr>
            <p:cNvPr id="7" name="组合 35"/>
            <p:cNvGrpSpPr/>
            <p:nvPr>
              <p:custDataLst>
                <p:tags r:id="rId2"/>
              </p:custDataLst>
            </p:nvPr>
          </p:nvGrpSpPr>
          <p:grpSpPr>
            <a:xfrm>
              <a:off x="1604955" y="2570586"/>
              <a:ext cx="304948" cy="329187"/>
              <a:chOff x="899592" y="4221088"/>
              <a:chExt cx="1256649" cy="1377799"/>
            </a:xfrm>
            <a:solidFill>
              <a:srgbClr val="FDFAEB"/>
            </a:solidFill>
          </p:grpSpPr>
          <p:sp>
            <p:nvSpPr>
              <p:cNvPr id="8" name="椭圆 7"/>
              <p:cNvSpPr/>
              <p:nvPr/>
            </p:nvSpPr>
            <p:spPr>
              <a:xfrm>
                <a:off x="1187624" y="4221088"/>
                <a:ext cx="297324" cy="297324"/>
              </a:xfrm>
              <a:prstGeom prst="ellipse">
                <a:avLst/>
              </a:prstGeom>
              <a:grp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cxnSp>
            <p:nvCxnSpPr>
              <p:cNvPr id="9" name="直接连接符 8"/>
              <p:cNvCxnSpPr/>
              <p:nvPr/>
            </p:nvCxnSpPr>
            <p:spPr>
              <a:xfrm flipV="1">
                <a:off x="1547663" y="4859139"/>
                <a:ext cx="410897" cy="1"/>
              </a:xfrm>
              <a:prstGeom prst="line">
                <a:avLst/>
              </a:prstGeom>
              <a:grpFill/>
              <a:ln w="12700" cap="flat" cmpd="sng" algn="ctr">
                <a:solidFill>
                  <a:srgbClr val="FDFAEB"/>
                </a:solidFill>
                <a:prstDash val="solid"/>
              </a:ln>
              <a:effectLst/>
            </p:spPr>
          </p:cxnSp>
          <p:cxnSp>
            <p:nvCxnSpPr>
              <p:cNvPr id="10" name="直接连接符 9"/>
              <p:cNvCxnSpPr/>
              <p:nvPr/>
            </p:nvCxnSpPr>
            <p:spPr>
              <a:xfrm flipV="1">
                <a:off x="1885601" y="4437112"/>
                <a:ext cx="166119" cy="414416"/>
              </a:xfrm>
              <a:prstGeom prst="line">
                <a:avLst/>
              </a:prstGeom>
              <a:grpFill/>
              <a:ln w="12700" cap="flat" cmpd="sng" algn="ctr">
                <a:solidFill>
                  <a:srgbClr val="FDFAEB"/>
                </a:solidFill>
                <a:prstDash val="solid"/>
              </a:ln>
              <a:effectLst/>
            </p:spPr>
          </p:cxnSp>
          <p:sp>
            <p:nvSpPr>
              <p:cNvPr id="11" name="矩形 10"/>
              <p:cNvSpPr/>
              <p:nvPr/>
            </p:nvSpPr>
            <p:spPr>
              <a:xfrm>
                <a:off x="1445453" y="4901147"/>
                <a:ext cx="710788" cy="94129"/>
              </a:xfrm>
              <a:prstGeom prst="rect">
                <a:avLst/>
              </a:prstGeom>
              <a:grp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12" name="矩形 11"/>
              <p:cNvSpPr/>
              <p:nvPr/>
            </p:nvSpPr>
            <p:spPr>
              <a:xfrm rot="5092636">
                <a:off x="1798206" y="5246940"/>
                <a:ext cx="638376" cy="53556"/>
              </a:xfrm>
              <a:prstGeom prst="rect">
                <a:avLst/>
              </a:prstGeom>
              <a:grp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13" name="矩形 12"/>
              <p:cNvSpPr/>
              <p:nvPr/>
            </p:nvSpPr>
            <p:spPr>
              <a:xfrm rot="16507364" flipH="1">
                <a:off x="1184616" y="5246941"/>
                <a:ext cx="638376" cy="53556"/>
              </a:xfrm>
              <a:prstGeom prst="rect">
                <a:avLst/>
              </a:prstGeom>
              <a:grp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14" name="梯形 13"/>
              <p:cNvSpPr/>
              <p:nvPr/>
            </p:nvSpPr>
            <p:spPr>
              <a:xfrm>
                <a:off x="899592" y="5229200"/>
                <a:ext cx="504056" cy="360040"/>
              </a:xfrm>
              <a:prstGeom prst="trapezoid">
                <a:avLst/>
              </a:prstGeom>
              <a:grp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15" name="圆角矩形 14"/>
              <p:cNvSpPr/>
              <p:nvPr/>
            </p:nvSpPr>
            <p:spPr>
              <a:xfrm rot="4822011">
                <a:off x="1359692" y="5251640"/>
                <a:ext cx="562925" cy="131569"/>
              </a:xfrm>
              <a:prstGeom prst="roundRect">
                <a:avLst>
                  <a:gd name="adj" fmla="val 50000"/>
                </a:avLst>
              </a:prstGeom>
              <a:grp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16" name="圆角矩形 15"/>
              <p:cNvSpPr/>
              <p:nvPr/>
            </p:nvSpPr>
            <p:spPr>
              <a:xfrm>
                <a:off x="1151620" y="5034958"/>
                <a:ext cx="509321" cy="131569"/>
              </a:xfrm>
              <a:prstGeom prst="roundRect">
                <a:avLst>
                  <a:gd name="adj" fmla="val 50000"/>
                </a:avLst>
              </a:prstGeom>
              <a:grp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17" name="任意多边形 16"/>
              <p:cNvSpPr/>
              <p:nvPr/>
            </p:nvSpPr>
            <p:spPr>
              <a:xfrm>
                <a:off x="1058842" y="4519259"/>
                <a:ext cx="273269" cy="648516"/>
              </a:xfrm>
              <a:custGeom>
                <a:avLst/>
                <a:gdLst>
                  <a:gd name="connsiteX0" fmla="*/ 2658 w 244549"/>
                  <a:gd name="connsiteY0" fmla="*/ 0 h 446568"/>
                  <a:gd name="connsiteX1" fmla="*/ 239233 w 244549"/>
                  <a:gd name="connsiteY1" fmla="*/ 15949 h 446568"/>
                  <a:gd name="connsiteX2" fmla="*/ 244549 w 244549"/>
                  <a:gd name="connsiteY2" fmla="*/ 409354 h 446568"/>
                  <a:gd name="connsiteX3" fmla="*/ 0 w 244549"/>
                  <a:gd name="connsiteY3" fmla="*/ 446568 h 446568"/>
                  <a:gd name="connsiteX4" fmla="*/ 2658 w 244549"/>
                  <a:gd name="connsiteY4" fmla="*/ 0 h 446568"/>
                  <a:gd name="connsiteX0-1" fmla="*/ 15949 w 244549"/>
                  <a:gd name="connsiteY0-2" fmla="*/ 0 h 441251"/>
                  <a:gd name="connsiteX1-3" fmla="*/ 239233 w 244549"/>
                  <a:gd name="connsiteY1-4" fmla="*/ 10632 h 441251"/>
                  <a:gd name="connsiteX2-5" fmla="*/ 244549 w 244549"/>
                  <a:gd name="connsiteY2-6" fmla="*/ 404037 h 441251"/>
                  <a:gd name="connsiteX3-7" fmla="*/ 0 w 244549"/>
                  <a:gd name="connsiteY3-8" fmla="*/ 441251 h 441251"/>
                  <a:gd name="connsiteX4-9" fmla="*/ 15949 w 244549"/>
                  <a:gd name="connsiteY4-10" fmla="*/ 0 h 441251"/>
                  <a:gd name="connsiteX0-11" fmla="*/ 15949 w 244549"/>
                  <a:gd name="connsiteY0-12" fmla="*/ 61496 h 502747"/>
                  <a:gd name="connsiteX1-13" fmla="*/ 239233 w 244549"/>
                  <a:gd name="connsiteY1-14" fmla="*/ 72128 h 502747"/>
                  <a:gd name="connsiteX2-15" fmla="*/ 244549 w 244549"/>
                  <a:gd name="connsiteY2-16" fmla="*/ 465533 h 502747"/>
                  <a:gd name="connsiteX3-17" fmla="*/ 0 w 244549"/>
                  <a:gd name="connsiteY3-18" fmla="*/ 502747 h 502747"/>
                  <a:gd name="connsiteX4-19" fmla="*/ 15949 w 244549"/>
                  <a:gd name="connsiteY4-20" fmla="*/ 61496 h 502747"/>
                  <a:gd name="connsiteX0-21" fmla="*/ 15949 w 244549"/>
                  <a:gd name="connsiteY0-22" fmla="*/ 81982 h 523233"/>
                  <a:gd name="connsiteX1-23" fmla="*/ 239233 w 244549"/>
                  <a:gd name="connsiteY1-24" fmla="*/ 92614 h 523233"/>
                  <a:gd name="connsiteX2-25" fmla="*/ 244549 w 244549"/>
                  <a:gd name="connsiteY2-26" fmla="*/ 486019 h 523233"/>
                  <a:gd name="connsiteX3-27" fmla="*/ 0 w 244549"/>
                  <a:gd name="connsiteY3-28" fmla="*/ 523233 h 523233"/>
                  <a:gd name="connsiteX4-29" fmla="*/ 15949 w 244549"/>
                  <a:gd name="connsiteY4-30" fmla="*/ 81982 h 523233"/>
                  <a:gd name="connsiteX0-31" fmla="*/ 15949 w 244549"/>
                  <a:gd name="connsiteY0-32" fmla="*/ 81982 h 523233"/>
                  <a:gd name="connsiteX1-33" fmla="*/ 239233 w 244549"/>
                  <a:gd name="connsiteY1-34" fmla="*/ 92614 h 523233"/>
                  <a:gd name="connsiteX2-35" fmla="*/ 244549 w 244549"/>
                  <a:gd name="connsiteY2-36" fmla="*/ 486019 h 523233"/>
                  <a:gd name="connsiteX3-37" fmla="*/ 0 w 244549"/>
                  <a:gd name="connsiteY3-38" fmla="*/ 523233 h 523233"/>
                  <a:gd name="connsiteX4-39" fmla="*/ 15949 w 244549"/>
                  <a:gd name="connsiteY4-40" fmla="*/ 81982 h 523233"/>
                  <a:gd name="connsiteX0-41" fmla="*/ 15949 w 245092"/>
                  <a:gd name="connsiteY0-42" fmla="*/ 81982 h 584108"/>
                  <a:gd name="connsiteX1-43" fmla="*/ 239233 w 245092"/>
                  <a:gd name="connsiteY1-44" fmla="*/ 92614 h 584108"/>
                  <a:gd name="connsiteX2-45" fmla="*/ 244549 w 245092"/>
                  <a:gd name="connsiteY2-46" fmla="*/ 486019 h 584108"/>
                  <a:gd name="connsiteX3-47" fmla="*/ 0 w 245092"/>
                  <a:gd name="connsiteY3-48" fmla="*/ 523233 h 584108"/>
                  <a:gd name="connsiteX4-49" fmla="*/ 15949 w 245092"/>
                  <a:gd name="connsiteY4-50" fmla="*/ 81982 h 584108"/>
                  <a:gd name="connsiteX0-51" fmla="*/ 15949 w 245092"/>
                  <a:gd name="connsiteY0-52" fmla="*/ 81982 h 584108"/>
                  <a:gd name="connsiteX1-53" fmla="*/ 239233 w 245092"/>
                  <a:gd name="connsiteY1-54" fmla="*/ 92614 h 584108"/>
                  <a:gd name="connsiteX2-55" fmla="*/ 244549 w 245092"/>
                  <a:gd name="connsiteY2-56" fmla="*/ 486019 h 584108"/>
                  <a:gd name="connsiteX3-57" fmla="*/ 0 w 245092"/>
                  <a:gd name="connsiteY3-58" fmla="*/ 523233 h 584108"/>
                  <a:gd name="connsiteX4-59" fmla="*/ 15949 w 245092"/>
                  <a:gd name="connsiteY4-60" fmla="*/ 81982 h 584108"/>
                  <a:gd name="connsiteX0-61" fmla="*/ 17501 w 246446"/>
                  <a:gd name="connsiteY0-62" fmla="*/ 81982 h 649826"/>
                  <a:gd name="connsiteX1-63" fmla="*/ 240785 w 246446"/>
                  <a:gd name="connsiteY1-64" fmla="*/ 92614 h 649826"/>
                  <a:gd name="connsiteX2-65" fmla="*/ 246101 w 246446"/>
                  <a:gd name="connsiteY2-66" fmla="*/ 486019 h 649826"/>
                  <a:gd name="connsiteX3-67" fmla="*/ 1552 w 246446"/>
                  <a:gd name="connsiteY3-68" fmla="*/ 523233 h 649826"/>
                  <a:gd name="connsiteX4-69" fmla="*/ 17501 w 246446"/>
                  <a:gd name="connsiteY4-70" fmla="*/ 81982 h 649826"/>
                  <a:gd name="connsiteX0-71" fmla="*/ 35805 w 264750"/>
                  <a:gd name="connsiteY0-72" fmla="*/ 81982 h 649826"/>
                  <a:gd name="connsiteX1-73" fmla="*/ 259089 w 264750"/>
                  <a:gd name="connsiteY1-74" fmla="*/ 92614 h 649826"/>
                  <a:gd name="connsiteX2-75" fmla="*/ 264405 w 264750"/>
                  <a:gd name="connsiteY2-76" fmla="*/ 486019 h 649826"/>
                  <a:gd name="connsiteX3-77" fmla="*/ 19856 w 264750"/>
                  <a:gd name="connsiteY3-78" fmla="*/ 523233 h 649826"/>
                  <a:gd name="connsiteX4-79" fmla="*/ 35805 w 264750"/>
                  <a:gd name="connsiteY4-80" fmla="*/ 81982 h 649826"/>
                  <a:gd name="connsiteX0-81" fmla="*/ 45968 w 274913"/>
                  <a:gd name="connsiteY0-82" fmla="*/ 81982 h 649826"/>
                  <a:gd name="connsiteX1-83" fmla="*/ 269252 w 274913"/>
                  <a:gd name="connsiteY1-84" fmla="*/ 92614 h 649826"/>
                  <a:gd name="connsiteX2-85" fmla="*/ 274568 w 274913"/>
                  <a:gd name="connsiteY2-86" fmla="*/ 486019 h 649826"/>
                  <a:gd name="connsiteX3-87" fmla="*/ 30019 w 274913"/>
                  <a:gd name="connsiteY3-88" fmla="*/ 523233 h 649826"/>
                  <a:gd name="connsiteX4-89" fmla="*/ 45968 w 274913"/>
                  <a:gd name="connsiteY4-90" fmla="*/ 81982 h 649826"/>
                  <a:gd name="connsiteX0-91" fmla="*/ 45968 w 274936"/>
                  <a:gd name="connsiteY0-92" fmla="*/ 81982 h 641435"/>
                  <a:gd name="connsiteX1-93" fmla="*/ 269252 w 274936"/>
                  <a:gd name="connsiteY1-94" fmla="*/ 92614 h 641435"/>
                  <a:gd name="connsiteX2-95" fmla="*/ 274568 w 274936"/>
                  <a:gd name="connsiteY2-96" fmla="*/ 486019 h 641435"/>
                  <a:gd name="connsiteX3-97" fmla="*/ 30019 w 274936"/>
                  <a:gd name="connsiteY3-98" fmla="*/ 523233 h 641435"/>
                  <a:gd name="connsiteX4-99" fmla="*/ 45968 w 274936"/>
                  <a:gd name="connsiteY4-100" fmla="*/ 81982 h 641435"/>
                  <a:gd name="connsiteX0-101" fmla="*/ 54847 w 283798"/>
                  <a:gd name="connsiteY0-102" fmla="*/ 81982 h 644292"/>
                  <a:gd name="connsiteX1-103" fmla="*/ 278131 w 283798"/>
                  <a:gd name="connsiteY1-104" fmla="*/ 92614 h 644292"/>
                  <a:gd name="connsiteX2-105" fmla="*/ 283447 w 283798"/>
                  <a:gd name="connsiteY2-106" fmla="*/ 486019 h 644292"/>
                  <a:gd name="connsiteX3-107" fmla="*/ 25607 w 283798"/>
                  <a:gd name="connsiteY3-108" fmla="*/ 528549 h 644292"/>
                  <a:gd name="connsiteX4-109" fmla="*/ 54847 w 283798"/>
                  <a:gd name="connsiteY4-110" fmla="*/ 81982 h 644292"/>
                  <a:gd name="connsiteX0-111" fmla="*/ 54847 w 283830"/>
                  <a:gd name="connsiteY0-112" fmla="*/ 81982 h 648516"/>
                  <a:gd name="connsiteX1-113" fmla="*/ 278131 w 283830"/>
                  <a:gd name="connsiteY1-114" fmla="*/ 92614 h 648516"/>
                  <a:gd name="connsiteX2-115" fmla="*/ 283447 w 283830"/>
                  <a:gd name="connsiteY2-116" fmla="*/ 486019 h 648516"/>
                  <a:gd name="connsiteX3-117" fmla="*/ 25607 w 283830"/>
                  <a:gd name="connsiteY3-118" fmla="*/ 528549 h 648516"/>
                  <a:gd name="connsiteX4-119" fmla="*/ 54847 w 283830"/>
                  <a:gd name="connsiteY4-120" fmla="*/ 81982 h 648516"/>
                  <a:gd name="connsiteX0-121" fmla="*/ 44286 w 273269"/>
                  <a:gd name="connsiteY0-122" fmla="*/ 81982 h 648516"/>
                  <a:gd name="connsiteX1-123" fmla="*/ 267570 w 273269"/>
                  <a:gd name="connsiteY1-124" fmla="*/ 92614 h 648516"/>
                  <a:gd name="connsiteX2-125" fmla="*/ 272886 w 273269"/>
                  <a:gd name="connsiteY2-126" fmla="*/ 486019 h 648516"/>
                  <a:gd name="connsiteX3-127" fmla="*/ 15046 w 273269"/>
                  <a:gd name="connsiteY3-128" fmla="*/ 528549 h 648516"/>
                  <a:gd name="connsiteX4-129" fmla="*/ 44286 w 273269"/>
                  <a:gd name="connsiteY4-130" fmla="*/ 81982 h 6485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73269" h="648516">
                    <a:moveTo>
                      <a:pt x="44286" y="81982"/>
                    </a:moveTo>
                    <a:cubicBezTo>
                      <a:pt x="116055" y="-60672"/>
                      <a:pt x="256937" y="9326"/>
                      <a:pt x="267570" y="92614"/>
                    </a:cubicBezTo>
                    <a:cubicBezTo>
                      <a:pt x="245418" y="229065"/>
                      <a:pt x="257823" y="352226"/>
                      <a:pt x="272886" y="486019"/>
                    </a:cubicBezTo>
                    <a:cubicBezTo>
                      <a:pt x="284405" y="689810"/>
                      <a:pt x="32767" y="699554"/>
                      <a:pt x="15046" y="528549"/>
                    </a:cubicBezTo>
                    <a:cubicBezTo>
                      <a:pt x="-11535" y="328303"/>
                      <a:pt x="-3560" y="197169"/>
                      <a:pt x="44286" y="81982"/>
                    </a:cubicBezTo>
                    <a:close/>
                  </a:path>
                </a:pathLst>
              </a:custGeom>
              <a:grpFill/>
              <a:ln w="3175"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18" name="任意多边形 17"/>
              <p:cNvSpPr/>
              <p:nvPr/>
            </p:nvSpPr>
            <p:spPr>
              <a:xfrm rot="16949635">
                <a:off x="1349868" y="4445405"/>
                <a:ext cx="157342" cy="525140"/>
              </a:xfrm>
              <a:custGeom>
                <a:avLst/>
                <a:gdLst>
                  <a:gd name="connsiteX0" fmla="*/ 2658 w 244549"/>
                  <a:gd name="connsiteY0" fmla="*/ 0 h 446568"/>
                  <a:gd name="connsiteX1" fmla="*/ 239233 w 244549"/>
                  <a:gd name="connsiteY1" fmla="*/ 15949 h 446568"/>
                  <a:gd name="connsiteX2" fmla="*/ 244549 w 244549"/>
                  <a:gd name="connsiteY2" fmla="*/ 409354 h 446568"/>
                  <a:gd name="connsiteX3" fmla="*/ 0 w 244549"/>
                  <a:gd name="connsiteY3" fmla="*/ 446568 h 446568"/>
                  <a:gd name="connsiteX4" fmla="*/ 2658 w 244549"/>
                  <a:gd name="connsiteY4" fmla="*/ 0 h 446568"/>
                  <a:gd name="connsiteX0-1" fmla="*/ 15949 w 244549"/>
                  <a:gd name="connsiteY0-2" fmla="*/ 0 h 441251"/>
                  <a:gd name="connsiteX1-3" fmla="*/ 239233 w 244549"/>
                  <a:gd name="connsiteY1-4" fmla="*/ 10632 h 441251"/>
                  <a:gd name="connsiteX2-5" fmla="*/ 244549 w 244549"/>
                  <a:gd name="connsiteY2-6" fmla="*/ 404037 h 441251"/>
                  <a:gd name="connsiteX3-7" fmla="*/ 0 w 244549"/>
                  <a:gd name="connsiteY3-8" fmla="*/ 441251 h 441251"/>
                  <a:gd name="connsiteX4-9" fmla="*/ 15949 w 244549"/>
                  <a:gd name="connsiteY4-10" fmla="*/ 0 h 441251"/>
                  <a:gd name="connsiteX0-11" fmla="*/ 15949 w 244549"/>
                  <a:gd name="connsiteY0-12" fmla="*/ 61496 h 502747"/>
                  <a:gd name="connsiteX1-13" fmla="*/ 239233 w 244549"/>
                  <a:gd name="connsiteY1-14" fmla="*/ 72128 h 502747"/>
                  <a:gd name="connsiteX2-15" fmla="*/ 244549 w 244549"/>
                  <a:gd name="connsiteY2-16" fmla="*/ 465533 h 502747"/>
                  <a:gd name="connsiteX3-17" fmla="*/ 0 w 244549"/>
                  <a:gd name="connsiteY3-18" fmla="*/ 502747 h 502747"/>
                  <a:gd name="connsiteX4-19" fmla="*/ 15949 w 244549"/>
                  <a:gd name="connsiteY4-20" fmla="*/ 61496 h 502747"/>
                  <a:gd name="connsiteX0-21" fmla="*/ 15949 w 244549"/>
                  <a:gd name="connsiteY0-22" fmla="*/ 81982 h 523233"/>
                  <a:gd name="connsiteX1-23" fmla="*/ 239233 w 244549"/>
                  <a:gd name="connsiteY1-24" fmla="*/ 92614 h 523233"/>
                  <a:gd name="connsiteX2-25" fmla="*/ 244549 w 244549"/>
                  <a:gd name="connsiteY2-26" fmla="*/ 486019 h 523233"/>
                  <a:gd name="connsiteX3-27" fmla="*/ 0 w 244549"/>
                  <a:gd name="connsiteY3-28" fmla="*/ 523233 h 523233"/>
                  <a:gd name="connsiteX4-29" fmla="*/ 15949 w 244549"/>
                  <a:gd name="connsiteY4-30" fmla="*/ 81982 h 523233"/>
                  <a:gd name="connsiteX0-31" fmla="*/ 15949 w 244549"/>
                  <a:gd name="connsiteY0-32" fmla="*/ 81982 h 523233"/>
                  <a:gd name="connsiteX1-33" fmla="*/ 239233 w 244549"/>
                  <a:gd name="connsiteY1-34" fmla="*/ 92614 h 523233"/>
                  <a:gd name="connsiteX2-35" fmla="*/ 244549 w 244549"/>
                  <a:gd name="connsiteY2-36" fmla="*/ 486019 h 523233"/>
                  <a:gd name="connsiteX3-37" fmla="*/ 0 w 244549"/>
                  <a:gd name="connsiteY3-38" fmla="*/ 523233 h 523233"/>
                  <a:gd name="connsiteX4-39" fmla="*/ 15949 w 244549"/>
                  <a:gd name="connsiteY4-40" fmla="*/ 81982 h 523233"/>
                  <a:gd name="connsiteX0-41" fmla="*/ 15949 w 245092"/>
                  <a:gd name="connsiteY0-42" fmla="*/ 81982 h 584108"/>
                  <a:gd name="connsiteX1-43" fmla="*/ 239233 w 245092"/>
                  <a:gd name="connsiteY1-44" fmla="*/ 92614 h 584108"/>
                  <a:gd name="connsiteX2-45" fmla="*/ 244549 w 245092"/>
                  <a:gd name="connsiteY2-46" fmla="*/ 486019 h 584108"/>
                  <a:gd name="connsiteX3-47" fmla="*/ 0 w 245092"/>
                  <a:gd name="connsiteY3-48" fmla="*/ 523233 h 584108"/>
                  <a:gd name="connsiteX4-49" fmla="*/ 15949 w 245092"/>
                  <a:gd name="connsiteY4-50" fmla="*/ 81982 h 584108"/>
                  <a:gd name="connsiteX0-51" fmla="*/ 15949 w 245092"/>
                  <a:gd name="connsiteY0-52" fmla="*/ 81982 h 584108"/>
                  <a:gd name="connsiteX1-53" fmla="*/ 239233 w 245092"/>
                  <a:gd name="connsiteY1-54" fmla="*/ 92614 h 584108"/>
                  <a:gd name="connsiteX2-55" fmla="*/ 244549 w 245092"/>
                  <a:gd name="connsiteY2-56" fmla="*/ 486019 h 584108"/>
                  <a:gd name="connsiteX3-57" fmla="*/ 0 w 245092"/>
                  <a:gd name="connsiteY3-58" fmla="*/ 523233 h 584108"/>
                  <a:gd name="connsiteX4-59" fmla="*/ 15949 w 245092"/>
                  <a:gd name="connsiteY4-60" fmla="*/ 81982 h 584108"/>
                  <a:gd name="connsiteX0-61" fmla="*/ 17501 w 246446"/>
                  <a:gd name="connsiteY0-62" fmla="*/ 81982 h 649826"/>
                  <a:gd name="connsiteX1-63" fmla="*/ 240785 w 246446"/>
                  <a:gd name="connsiteY1-64" fmla="*/ 92614 h 649826"/>
                  <a:gd name="connsiteX2-65" fmla="*/ 246101 w 246446"/>
                  <a:gd name="connsiteY2-66" fmla="*/ 486019 h 649826"/>
                  <a:gd name="connsiteX3-67" fmla="*/ 1552 w 246446"/>
                  <a:gd name="connsiteY3-68" fmla="*/ 523233 h 649826"/>
                  <a:gd name="connsiteX4-69" fmla="*/ 17501 w 246446"/>
                  <a:gd name="connsiteY4-70" fmla="*/ 81982 h 649826"/>
                  <a:gd name="connsiteX0-71" fmla="*/ 35805 w 264750"/>
                  <a:gd name="connsiteY0-72" fmla="*/ 81982 h 649826"/>
                  <a:gd name="connsiteX1-73" fmla="*/ 259089 w 264750"/>
                  <a:gd name="connsiteY1-74" fmla="*/ 92614 h 649826"/>
                  <a:gd name="connsiteX2-75" fmla="*/ 264405 w 264750"/>
                  <a:gd name="connsiteY2-76" fmla="*/ 486019 h 649826"/>
                  <a:gd name="connsiteX3-77" fmla="*/ 19856 w 264750"/>
                  <a:gd name="connsiteY3-78" fmla="*/ 523233 h 649826"/>
                  <a:gd name="connsiteX4-79" fmla="*/ 35805 w 264750"/>
                  <a:gd name="connsiteY4-80" fmla="*/ 81982 h 649826"/>
                  <a:gd name="connsiteX0-81" fmla="*/ 45968 w 274913"/>
                  <a:gd name="connsiteY0-82" fmla="*/ 81982 h 649826"/>
                  <a:gd name="connsiteX1-83" fmla="*/ 269252 w 274913"/>
                  <a:gd name="connsiteY1-84" fmla="*/ 92614 h 649826"/>
                  <a:gd name="connsiteX2-85" fmla="*/ 274568 w 274913"/>
                  <a:gd name="connsiteY2-86" fmla="*/ 486019 h 649826"/>
                  <a:gd name="connsiteX3-87" fmla="*/ 30019 w 274913"/>
                  <a:gd name="connsiteY3-88" fmla="*/ 523233 h 649826"/>
                  <a:gd name="connsiteX4-89" fmla="*/ 45968 w 274913"/>
                  <a:gd name="connsiteY4-90" fmla="*/ 81982 h 649826"/>
                  <a:gd name="connsiteX0-91" fmla="*/ 45968 w 274936"/>
                  <a:gd name="connsiteY0-92" fmla="*/ 81982 h 641435"/>
                  <a:gd name="connsiteX1-93" fmla="*/ 269252 w 274936"/>
                  <a:gd name="connsiteY1-94" fmla="*/ 92614 h 641435"/>
                  <a:gd name="connsiteX2-95" fmla="*/ 274568 w 274936"/>
                  <a:gd name="connsiteY2-96" fmla="*/ 486019 h 641435"/>
                  <a:gd name="connsiteX3-97" fmla="*/ 30019 w 274936"/>
                  <a:gd name="connsiteY3-98" fmla="*/ 523233 h 641435"/>
                  <a:gd name="connsiteX4-99" fmla="*/ 45968 w 274936"/>
                  <a:gd name="connsiteY4-100" fmla="*/ 81982 h 641435"/>
                  <a:gd name="connsiteX0-101" fmla="*/ 54847 w 283798"/>
                  <a:gd name="connsiteY0-102" fmla="*/ 81982 h 644292"/>
                  <a:gd name="connsiteX1-103" fmla="*/ 278131 w 283798"/>
                  <a:gd name="connsiteY1-104" fmla="*/ 92614 h 644292"/>
                  <a:gd name="connsiteX2-105" fmla="*/ 283447 w 283798"/>
                  <a:gd name="connsiteY2-106" fmla="*/ 486019 h 644292"/>
                  <a:gd name="connsiteX3-107" fmla="*/ 25607 w 283798"/>
                  <a:gd name="connsiteY3-108" fmla="*/ 528549 h 644292"/>
                  <a:gd name="connsiteX4-109" fmla="*/ 54847 w 283798"/>
                  <a:gd name="connsiteY4-110" fmla="*/ 81982 h 644292"/>
                  <a:gd name="connsiteX0-111" fmla="*/ 54847 w 283830"/>
                  <a:gd name="connsiteY0-112" fmla="*/ 81982 h 648516"/>
                  <a:gd name="connsiteX1-113" fmla="*/ 278131 w 283830"/>
                  <a:gd name="connsiteY1-114" fmla="*/ 92614 h 648516"/>
                  <a:gd name="connsiteX2-115" fmla="*/ 283447 w 283830"/>
                  <a:gd name="connsiteY2-116" fmla="*/ 486019 h 648516"/>
                  <a:gd name="connsiteX3-117" fmla="*/ 25607 w 283830"/>
                  <a:gd name="connsiteY3-118" fmla="*/ 528549 h 648516"/>
                  <a:gd name="connsiteX4-119" fmla="*/ 54847 w 283830"/>
                  <a:gd name="connsiteY4-120" fmla="*/ 81982 h 648516"/>
                  <a:gd name="connsiteX0-121" fmla="*/ 44286 w 273269"/>
                  <a:gd name="connsiteY0-122" fmla="*/ 81982 h 648516"/>
                  <a:gd name="connsiteX1-123" fmla="*/ 267570 w 273269"/>
                  <a:gd name="connsiteY1-124" fmla="*/ 92614 h 648516"/>
                  <a:gd name="connsiteX2-125" fmla="*/ 272886 w 273269"/>
                  <a:gd name="connsiteY2-126" fmla="*/ 486019 h 648516"/>
                  <a:gd name="connsiteX3-127" fmla="*/ 15046 w 273269"/>
                  <a:gd name="connsiteY3-128" fmla="*/ 528549 h 648516"/>
                  <a:gd name="connsiteX4-129" fmla="*/ 44286 w 273269"/>
                  <a:gd name="connsiteY4-130" fmla="*/ 81982 h 648516"/>
                  <a:gd name="connsiteX0-131" fmla="*/ 44286 w 273011"/>
                  <a:gd name="connsiteY0-132" fmla="*/ 81982 h 606845"/>
                  <a:gd name="connsiteX1-133" fmla="*/ 267570 w 273011"/>
                  <a:gd name="connsiteY1-134" fmla="*/ 92614 h 606845"/>
                  <a:gd name="connsiteX2-135" fmla="*/ 272886 w 273011"/>
                  <a:gd name="connsiteY2-136" fmla="*/ 486019 h 606845"/>
                  <a:gd name="connsiteX3-137" fmla="*/ 15046 w 273011"/>
                  <a:gd name="connsiteY3-138" fmla="*/ 528549 h 606845"/>
                  <a:gd name="connsiteX4-139" fmla="*/ 44286 w 273011"/>
                  <a:gd name="connsiteY4-140" fmla="*/ 81982 h 606845"/>
                  <a:gd name="connsiteX0-141" fmla="*/ 25941 w 254687"/>
                  <a:gd name="connsiteY0-142" fmla="*/ 81982 h 598672"/>
                  <a:gd name="connsiteX1-143" fmla="*/ 249225 w 254687"/>
                  <a:gd name="connsiteY1-144" fmla="*/ 92614 h 598672"/>
                  <a:gd name="connsiteX2-145" fmla="*/ 254541 w 254687"/>
                  <a:gd name="connsiteY2-146" fmla="*/ 486019 h 598672"/>
                  <a:gd name="connsiteX3-147" fmla="*/ 32722 w 254687"/>
                  <a:gd name="connsiteY3-148" fmla="*/ 517314 h 598672"/>
                  <a:gd name="connsiteX4-149" fmla="*/ 25941 w 254687"/>
                  <a:gd name="connsiteY4-150" fmla="*/ 81982 h 598672"/>
                  <a:gd name="connsiteX0-151" fmla="*/ 62141 w 290887"/>
                  <a:gd name="connsiteY0-152" fmla="*/ 81982 h 598672"/>
                  <a:gd name="connsiteX1-153" fmla="*/ 285425 w 290887"/>
                  <a:gd name="connsiteY1-154" fmla="*/ 92614 h 598672"/>
                  <a:gd name="connsiteX2-155" fmla="*/ 290741 w 290887"/>
                  <a:gd name="connsiteY2-156" fmla="*/ 486019 h 598672"/>
                  <a:gd name="connsiteX3-157" fmla="*/ 68922 w 290887"/>
                  <a:gd name="connsiteY3-158" fmla="*/ 517314 h 598672"/>
                  <a:gd name="connsiteX4-159" fmla="*/ 62141 w 290887"/>
                  <a:gd name="connsiteY4-160" fmla="*/ 81982 h 598672"/>
                  <a:gd name="connsiteX0-161" fmla="*/ 62141 w 291100"/>
                  <a:gd name="connsiteY0-162" fmla="*/ 81982 h 567262"/>
                  <a:gd name="connsiteX1-163" fmla="*/ 285425 w 291100"/>
                  <a:gd name="connsiteY1-164" fmla="*/ 92614 h 567262"/>
                  <a:gd name="connsiteX2-165" fmla="*/ 290741 w 291100"/>
                  <a:gd name="connsiteY2-166" fmla="*/ 486019 h 567262"/>
                  <a:gd name="connsiteX3-167" fmla="*/ 68922 w 291100"/>
                  <a:gd name="connsiteY3-168" fmla="*/ 517314 h 567262"/>
                  <a:gd name="connsiteX4-169" fmla="*/ 62141 w 291100"/>
                  <a:gd name="connsiteY4-170" fmla="*/ 81982 h 567262"/>
                  <a:gd name="connsiteX0-171" fmla="*/ 62141 w 291100"/>
                  <a:gd name="connsiteY0-172" fmla="*/ 81982 h 567262"/>
                  <a:gd name="connsiteX1-173" fmla="*/ 285425 w 291100"/>
                  <a:gd name="connsiteY1-174" fmla="*/ 92614 h 567262"/>
                  <a:gd name="connsiteX2-175" fmla="*/ 290741 w 291100"/>
                  <a:gd name="connsiteY2-176" fmla="*/ 486019 h 567262"/>
                  <a:gd name="connsiteX3-177" fmla="*/ 68922 w 291100"/>
                  <a:gd name="connsiteY3-178" fmla="*/ 517314 h 567262"/>
                  <a:gd name="connsiteX4-179" fmla="*/ 62141 w 291100"/>
                  <a:gd name="connsiteY4-180" fmla="*/ 81982 h 567262"/>
                  <a:gd name="connsiteX0-181" fmla="*/ 62141 w 291100"/>
                  <a:gd name="connsiteY0-182" fmla="*/ 71149 h 556429"/>
                  <a:gd name="connsiteX1-183" fmla="*/ 289869 w 291100"/>
                  <a:gd name="connsiteY1-184" fmla="*/ 114073 h 556429"/>
                  <a:gd name="connsiteX2-185" fmla="*/ 290741 w 291100"/>
                  <a:gd name="connsiteY2-186" fmla="*/ 475186 h 556429"/>
                  <a:gd name="connsiteX3-187" fmla="*/ 68922 w 291100"/>
                  <a:gd name="connsiteY3-188" fmla="*/ 506481 h 556429"/>
                  <a:gd name="connsiteX4-189" fmla="*/ 62141 w 291100"/>
                  <a:gd name="connsiteY4-190" fmla="*/ 71149 h 556429"/>
                  <a:gd name="connsiteX0-191" fmla="*/ 62141 w 330097"/>
                  <a:gd name="connsiteY0-192" fmla="*/ 64119 h 549399"/>
                  <a:gd name="connsiteX1-193" fmla="*/ 289869 w 330097"/>
                  <a:gd name="connsiteY1-194" fmla="*/ 107043 h 549399"/>
                  <a:gd name="connsiteX2-195" fmla="*/ 290741 w 330097"/>
                  <a:gd name="connsiteY2-196" fmla="*/ 468156 h 549399"/>
                  <a:gd name="connsiteX3-197" fmla="*/ 68922 w 330097"/>
                  <a:gd name="connsiteY3-198" fmla="*/ 499451 h 549399"/>
                  <a:gd name="connsiteX4-199" fmla="*/ 62141 w 330097"/>
                  <a:gd name="connsiteY4-200" fmla="*/ 64119 h 549399"/>
                  <a:gd name="connsiteX0-201" fmla="*/ 62141 w 330097"/>
                  <a:gd name="connsiteY0-202" fmla="*/ 64119 h 549399"/>
                  <a:gd name="connsiteX1-203" fmla="*/ 289869 w 330097"/>
                  <a:gd name="connsiteY1-204" fmla="*/ 107043 h 549399"/>
                  <a:gd name="connsiteX2-205" fmla="*/ 290741 w 330097"/>
                  <a:gd name="connsiteY2-206" fmla="*/ 468156 h 549399"/>
                  <a:gd name="connsiteX3-207" fmla="*/ 68922 w 330097"/>
                  <a:gd name="connsiteY3-208" fmla="*/ 499451 h 549399"/>
                  <a:gd name="connsiteX4-209" fmla="*/ 62141 w 330097"/>
                  <a:gd name="connsiteY4-210" fmla="*/ 64119 h 549399"/>
                  <a:gd name="connsiteX0-211" fmla="*/ 62141 w 330097"/>
                  <a:gd name="connsiteY0-212" fmla="*/ 64119 h 549399"/>
                  <a:gd name="connsiteX1-213" fmla="*/ 289869 w 330097"/>
                  <a:gd name="connsiteY1-214" fmla="*/ 107043 h 549399"/>
                  <a:gd name="connsiteX2-215" fmla="*/ 290741 w 330097"/>
                  <a:gd name="connsiteY2-216" fmla="*/ 468156 h 549399"/>
                  <a:gd name="connsiteX3-217" fmla="*/ 68922 w 330097"/>
                  <a:gd name="connsiteY3-218" fmla="*/ 499451 h 549399"/>
                  <a:gd name="connsiteX4-219" fmla="*/ 62141 w 330097"/>
                  <a:gd name="connsiteY4-220" fmla="*/ 64119 h 549399"/>
                  <a:gd name="connsiteX0-221" fmla="*/ 62141 w 378823"/>
                  <a:gd name="connsiteY0-222" fmla="*/ 69046 h 554326"/>
                  <a:gd name="connsiteX1-223" fmla="*/ 343148 w 378823"/>
                  <a:gd name="connsiteY1-224" fmla="*/ 93817 h 554326"/>
                  <a:gd name="connsiteX2-225" fmla="*/ 290741 w 378823"/>
                  <a:gd name="connsiteY2-226" fmla="*/ 473083 h 554326"/>
                  <a:gd name="connsiteX3-227" fmla="*/ 68922 w 378823"/>
                  <a:gd name="connsiteY3-228" fmla="*/ 504378 h 554326"/>
                  <a:gd name="connsiteX4-229" fmla="*/ 62141 w 378823"/>
                  <a:gd name="connsiteY4-230" fmla="*/ 69046 h 554326"/>
                  <a:gd name="connsiteX0-231" fmla="*/ 62141 w 378823"/>
                  <a:gd name="connsiteY0-232" fmla="*/ 69046 h 554326"/>
                  <a:gd name="connsiteX1-233" fmla="*/ 343148 w 378823"/>
                  <a:gd name="connsiteY1-234" fmla="*/ 93817 h 554326"/>
                  <a:gd name="connsiteX2-235" fmla="*/ 290741 w 378823"/>
                  <a:gd name="connsiteY2-236" fmla="*/ 473083 h 554326"/>
                  <a:gd name="connsiteX3-237" fmla="*/ 68922 w 378823"/>
                  <a:gd name="connsiteY3-238" fmla="*/ 504378 h 554326"/>
                  <a:gd name="connsiteX4-239" fmla="*/ 62141 w 378823"/>
                  <a:gd name="connsiteY4-240" fmla="*/ 69046 h 554326"/>
                  <a:gd name="connsiteX0-241" fmla="*/ 79520 w 372075"/>
                  <a:gd name="connsiteY0-242" fmla="*/ 71644 h 548268"/>
                  <a:gd name="connsiteX1-243" fmla="*/ 334293 w 372075"/>
                  <a:gd name="connsiteY1-244" fmla="*/ 87759 h 548268"/>
                  <a:gd name="connsiteX2-245" fmla="*/ 281886 w 372075"/>
                  <a:gd name="connsiteY2-246" fmla="*/ 467025 h 548268"/>
                  <a:gd name="connsiteX3-247" fmla="*/ 60067 w 372075"/>
                  <a:gd name="connsiteY3-248" fmla="*/ 498320 h 548268"/>
                  <a:gd name="connsiteX4-249" fmla="*/ 79520 w 372075"/>
                  <a:gd name="connsiteY4-250" fmla="*/ 71644 h 548268"/>
                  <a:gd name="connsiteX0-251" fmla="*/ 112219 w 404774"/>
                  <a:gd name="connsiteY0-252" fmla="*/ 71644 h 548268"/>
                  <a:gd name="connsiteX1-253" fmla="*/ 366992 w 404774"/>
                  <a:gd name="connsiteY1-254" fmla="*/ 87759 h 548268"/>
                  <a:gd name="connsiteX2-255" fmla="*/ 314585 w 404774"/>
                  <a:gd name="connsiteY2-256" fmla="*/ 467025 h 548268"/>
                  <a:gd name="connsiteX3-257" fmla="*/ 92766 w 404774"/>
                  <a:gd name="connsiteY3-258" fmla="*/ 498320 h 548268"/>
                  <a:gd name="connsiteX4-259" fmla="*/ 112219 w 404774"/>
                  <a:gd name="connsiteY4-260" fmla="*/ 71644 h 548268"/>
                  <a:gd name="connsiteX0-261" fmla="*/ 112219 w 409300"/>
                  <a:gd name="connsiteY0-262" fmla="*/ 48516 h 525140"/>
                  <a:gd name="connsiteX1-263" fmla="*/ 366992 w 409300"/>
                  <a:gd name="connsiteY1-264" fmla="*/ 64631 h 525140"/>
                  <a:gd name="connsiteX2-265" fmla="*/ 314585 w 409300"/>
                  <a:gd name="connsiteY2-266" fmla="*/ 443897 h 525140"/>
                  <a:gd name="connsiteX3-267" fmla="*/ 92766 w 409300"/>
                  <a:gd name="connsiteY3-268" fmla="*/ 475192 h 525140"/>
                  <a:gd name="connsiteX4-269" fmla="*/ 112219 w 409300"/>
                  <a:gd name="connsiteY4-270" fmla="*/ 48516 h 5251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09300" h="525140">
                    <a:moveTo>
                      <a:pt x="112219" y="48516"/>
                    </a:moveTo>
                    <a:cubicBezTo>
                      <a:pt x="235655" y="-41364"/>
                      <a:pt x="515314" y="11365"/>
                      <a:pt x="366992" y="64631"/>
                    </a:cubicBezTo>
                    <a:cubicBezTo>
                      <a:pt x="227846" y="194712"/>
                      <a:pt x="121164" y="221838"/>
                      <a:pt x="314585" y="443897"/>
                    </a:cubicBezTo>
                    <a:cubicBezTo>
                      <a:pt x="321080" y="503817"/>
                      <a:pt x="239599" y="575302"/>
                      <a:pt x="92766" y="475192"/>
                    </a:cubicBezTo>
                    <a:cubicBezTo>
                      <a:pt x="-29093" y="293952"/>
                      <a:pt x="-39152" y="180690"/>
                      <a:pt x="112219" y="48516"/>
                    </a:cubicBezTo>
                    <a:close/>
                  </a:path>
                </a:pathLst>
              </a:custGeom>
              <a:solidFill>
                <a:schemeClr val="bg1"/>
              </a:solidFill>
              <a:ln w="6350" cap="flat" cmpd="sng" algn="ctr">
                <a:solidFill>
                  <a:schemeClr val="bg1"/>
                </a:solid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grpSp>
      </p:grpSp>
      <p:grpSp>
        <p:nvGrpSpPr>
          <p:cNvPr id="19" name="组合 18"/>
          <p:cNvGrpSpPr/>
          <p:nvPr/>
        </p:nvGrpSpPr>
        <p:grpSpPr>
          <a:xfrm>
            <a:off x="3987456" y="2876326"/>
            <a:ext cx="656589" cy="647059"/>
            <a:chOff x="3503136" y="2418516"/>
            <a:chExt cx="656589" cy="647059"/>
          </a:xfrm>
        </p:grpSpPr>
        <p:sp>
          <p:nvSpPr>
            <p:cNvPr id="20" name="椭圆 19"/>
            <p:cNvSpPr/>
            <p:nvPr/>
          </p:nvSpPr>
          <p:spPr bwMode="auto">
            <a:xfrm>
              <a:off x="3503136" y="2418516"/>
              <a:ext cx="656589" cy="647059"/>
            </a:xfrm>
            <a:prstGeom prst="ellipse">
              <a:avLst/>
            </a:prstGeom>
            <a:solidFill>
              <a:srgbClr val="C00000"/>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21" name="椭圆 20"/>
            <p:cNvSpPr/>
            <p:nvPr/>
          </p:nvSpPr>
          <p:spPr bwMode="auto">
            <a:xfrm>
              <a:off x="3690652" y="2615046"/>
              <a:ext cx="279920" cy="274638"/>
            </a:xfrm>
            <a:prstGeom prst="ellipse">
              <a:avLst/>
            </a:prstGeom>
            <a:noFill/>
            <a:ln w="28575" cap="flat" cmpd="sng" algn="ctr">
              <a:solidFill>
                <a:sysClr val="window" lastClr="FFFFFF"/>
              </a:solid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22" name="圆角矩形 21"/>
            <p:cNvSpPr/>
            <p:nvPr/>
          </p:nvSpPr>
          <p:spPr bwMode="auto">
            <a:xfrm>
              <a:off x="3797054" y="2556309"/>
              <a:ext cx="67116" cy="20637"/>
            </a:xfrm>
            <a:prstGeom prst="roundRect">
              <a:avLst>
                <a:gd name="adj" fmla="val 50000"/>
              </a:avLst>
            </a:prstGeom>
            <a:solidFill>
              <a:srgbClr val="FDFAEB"/>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cxnSp>
          <p:nvCxnSpPr>
            <p:cNvPr id="23" name="直接连接符 37"/>
            <p:cNvCxnSpPr>
              <a:cxnSpLocks noChangeShapeType="1"/>
              <a:stCxn id="22" idx="2"/>
              <a:endCxn id="21" idx="0"/>
            </p:cNvCxnSpPr>
            <p:nvPr/>
          </p:nvCxnSpPr>
          <p:spPr bwMode="auto">
            <a:xfrm>
              <a:off x="3830612" y="2576946"/>
              <a:ext cx="1" cy="37694"/>
            </a:xfrm>
            <a:prstGeom prst="line">
              <a:avLst/>
            </a:prstGeom>
            <a:noFill/>
            <a:ln w="28575" algn="ctr">
              <a:solidFill>
                <a:srgbClr val="FDFAEB"/>
              </a:solidFill>
              <a:round/>
            </a:ln>
          </p:spPr>
        </p:cxnSp>
        <p:cxnSp>
          <p:nvCxnSpPr>
            <p:cNvPr id="24" name="直接连接符 38"/>
            <p:cNvCxnSpPr>
              <a:cxnSpLocks noChangeShapeType="1"/>
            </p:cNvCxnSpPr>
            <p:nvPr/>
          </p:nvCxnSpPr>
          <p:spPr bwMode="auto">
            <a:xfrm>
              <a:off x="3830612" y="2752162"/>
              <a:ext cx="91593" cy="0"/>
            </a:xfrm>
            <a:prstGeom prst="line">
              <a:avLst/>
            </a:prstGeom>
            <a:noFill/>
            <a:ln w="19050" algn="ctr">
              <a:solidFill>
                <a:srgbClr val="FDFAEB"/>
              </a:solidFill>
              <a:round/>
              <a:headEnd type="oval" w="med" len="med"/>
            </a:ln>
          </p:spPr>
        </p:cxnSp>
      </p:grpSp>
      <p:grpSp>
        <p:nvGrpSpPr>
          <p:cNvPr id="25" name="组合 24"/>
          <p:cNvGrpSpPr/>
          <p:nvPr/>
        </p:nvGrpSpPr>
        <p:grpSpPr>
          <a:xfrm>
            <a:off x="6757309" y="2876326"/>
            <a:ext cx="656589" cy="647059"/>
            <a:chOff x="5559993" y="2429149"/>
            <a:chExt cx="656589" cy="647059"/>
          </a:xfrm>
        </p:grpSpPr>
        <p:sp>
          <p:nvSpPr>
            <p:cNvPr id="26" name="椭圆 25"/>
            <p:cNvSpPr/>
            <p:nvPr/>
          </p:nvSpPr>
          <p:spPr bwMode="auto">
            <a:xfrm>
              <a:off x="5559993" y="2429149"/>
              <a:ext cx="656589" cy="647059"/>
            </a:xfrm>
            <a:prstGeom prst="ellipse">
              <a:avLst/>
            </a:prstGeom>
            <a:solidFill>
              <a:srgbClr val="C00000"/>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27" name="Freeform 8"/>
            <p:cNvSpPr>
              <a:spLocks noEditPoints="1"/>
            </p:cNvSpPr>
            <p:nvPr>
              <p:custDataLst>
                <p:tags r:id="rId1"/>
              </p:custDataLst>
            </p:nvPr>
          </p:nvSpPr>
          <p:spPr bwMode="auto">
            <a:xfrm>
              <a:off x="5712306" y="2570596"/>
              <a:ext cx="373228" cy="365125"/>
            </a:xfrm>
            <a:custGeom>
              <a:avLst/>
              <a:gdLst>
                <a:gd name="T0" fmla="*/ 1020 w 1753"/>
                <a:gd name="T1" fmla="*/ 1144 h 1742"/>
                <a:gd name="T2" fmla="*/ 995 w 1753"/>
                <a:gd name="T3" fmla="*/ 1224 h 1742"/>
                <a:gd name="T4" fmla="*/ 705 w 1753"/>
                <a:gd name="T5" fmla="*/ 1168 h 1742"/>
                <a:gd name="T6" fmla="*/ 1270 w 1753"/>
                <a:gd name="T7" fmla="*/ 1070 h 1742"/>
                <a:gd name="T8" fmla="*/ 1302 w 1753"/>
                <a:gd name="T9" fmla="*/ 1202 h 1742"/>
                <a:gd name="T10" fmla="*/ 1183 w 1753"/>
                <a:gd name="T11" fmla="*/ 1261 h 1742"/>
                <a:gd name="T12" fmla="*/ 1099 w 1753"/>
                <a:gd name="T13" fmla="*/ 1179 h 1742"/>
                <a:gd name="T14" fmla="*/ 1157 w 1753"/>
                <a:gd name="T15" fmla="*/ 1061 h 1742"/>
                <a:gd name="T16" fmla="*/ 586 w 1753"/>
                <a:gd name="T17" fmla="*/ 1059 h 1742"/>
                <a:gd name="T18" fmla="*/ 619 w 1753"/>
                <a:gd name="T19" fmla="*/ 1191 h 1742"/>
                <a:gd name="T20" fmla="*/ 504 w 1753"/>
                <a:gd name="T21" fmla="*/ 1251 h 1742"/>
                <a:gd name="T22" fmla="*/ 417 w 1753"/>
                <a:gd name="T23" fmla="*/ 1172 h 1742"/>
                <a:gd name="T24" fmla="*/ 472 w 1753"/>
                <a:gd name="T25" fmla="*/ 1049 h 1742"/>
                <a:gd name="T26" fmla="*/ 1176 w 1753"/>
                <a:gd name="T27" fmla="*/ 847 h 1742"/>
                <a:gd name="T28" fmla="*/ 1157 w 1753"/>
                <a:gd name="T29" fmla="*/ 978 h 1742"/>
                <a:gd name="T30" fmla="*/ 1012 w 1753"/>
                <a:gd name="T31" fmla="*/ 655 h 1742"/>
                <a:gd name="T32" fmla="*/ 826 w 1753"/>
                <a:gd name="T33" fmla="*/ 611 h 1742"/>
                <a:gd name="T34" fmla="*/ 784 w 1753"/>
                <a:gd name="T35" fmla="*/ 715 h 1742"/>
                <a:gd name="T36" fmla="*/ 575 w 1753"/>
                <a:gd name="T37" fmla="*/ 969 h 1742"/>
                <a:gd name="T38" fmla="*/ 759 w 1753"/>
                <a:gd name="T39" fmla="*/ 622 h 1742"/>
                <a:gd name="T40" fmla="*/ 1038 w 1753"/>
                <a:gd name="T41" fmla="*/ 410 h 1742"/>
                <a:gd name="T42" fmla="*/ 1040 w 1753"/>
                <a:gd name="T43" fmla="*/ 544 h 1742"/>
                <a:gd name="T44" fmla="*/ 910 w 1753"/>
                <a:gd name="T45" fmla="*/ 576 h 1742"/>
                <a:gd name="T46" fmla="*/ 848 w 1753"/>
                <a:gd name="T47" fmla="*/ 480 h 1742"/>
                <a:gd name="T48" fmla="*/ 929 w 1753"/>
                <a:gd name="T49" fmla="*/ 375 h 1742"/>
                <a:gd name="T50" fmla="*/ 658 w 1753"/>
                <a:gd name="T51" fmla="*/ 158 h 1742"/>
                <a:gd name="T52" fmla="*/ 872 w 1753"/>
                <a:gd name="T53" fmla="*/ 313 h 1742"/>
                <a:gd name="T54" fmla="*/ 683 w 1753"/>
                <a:gd name="T55" fmla="*/ 258 h 1742"/>
                <a:gd name="T56" fmla="*/ 398 w 1753"/>
                <a:gd name="T57" fmla="*/ 298 h 1742"/>
                <a:gd name="T58" fmla="*/ 185 w 1753"/>
                <a:gd name="T59" fmla="*/ 580 h 1742"/>
                <a:gd name="T60" fmla="*/ 127 w 1753"/>
                <a:gd name="T61" fmla="*/ 892 h 1742"/>
                <a:gd name="T62" fmla="*/ 314 w 1753"/>
                <a:gd name="T63" fmla="*/ 1033 h 1742"/>
                <a:gd name="T64" fmla="*/ 236 w 1753"/>
                <a:gd name="T65" fmla="*/ 1080 h 1742"/>
                <a:gd name="T66" fmla="*/ 156 w 1753"/>
                <a:gd name="T67" fmla="*/ 1079 h 1742"/>
                <a:gd name="T68" fmla="*/ 333 w 1753"/>
                <a:gd name="T69" fmla="*/ 1385 h 1742"/>
                <a:gd name="T70" fmla="*/ 491 w 1753"/>
                <a:gd name="T71" fmla="*/ 1327 h 1742"/>
                <a:gd name="T72" fmla="*/ 619 w 1753"/>
                <a:gd name="T73" fmla="*/ 1572 h 1742"/>
                <a:gd name="T74" fmla="*/ 996 w 1753"/>
                <a:gd name="T75" fmla="*/ 1607 h 1742"/>
                <a:gd name="T76" fmla="*/ 1159 w 1753"/>
                <a:gd name="T77" fmla="*/ 1433 h 1742"/>
                <a:gd name="T78" fmla="*/ 1251 w 1753"/>
                <a:gd name="T79" fmla="*/ 1337 h 1742"/>
                <a:gd name="T80" fmla="*/ 1310 w 1753"/>
                <a:gd name="T81" fmla="*/ 1478 h 1742"/>
                <a:gd name="T82" fmla="*/ 1535 w 1753"/>
                <a:gd name="T83" fmla="*/ 1226 h 1742"/>
                <a:gd name="T84" fmla="*/ 1530 w 1753"/>
                <a:gd name="T85" fmla="*/ 1076 h 1742"/>
                <a:gd name="T86" fmla="*/ 1369 w 1753"/>
                <a:gd name="T87" fmla="*/ 1068 h 1742"/>
                <a:gd name="T88" fmla="*/ 1626 w 1753"/>
                <a:gd name="T89" fmla="*/ 899 h 1742"/>
                <a:gd name="T90" fmla="*/ 1577 w 1753"/>
                <a:gd name="T91" fmla="*/ 605 h 1742"/>
                <a:gd name="T92" fmla="*/ 1359 w 1753"/>
                <a:gd name="T93" fmla="*/ 300 h 1742"/>
                <a:gd name="T94" fmla="*/ 1097 w 1753"/>
                <a:gd name="T95" fmla="*/ 359 h 1742"/>
                <a:gd name="T96" fmla="*/ 1172 w 1753"/>
                <a:gd name="T97" fmla="*/ 187 h 1742"/>
                <a:gd name="T98" fmla="*/ 863 w 1753"/>
                <a:gd name="T99" fmla="*/ 0 h 1742"/>
                <a:gd name="T100" fmla="*/ 1283 w 1753"/>
                <a:gd name="T101" fmla="*/ 99 h 1742"/>
                <a:gd name="T102" fmla="*/ 1600 w 1753"/>
                <a:gd name="T103" fmla="*/ 377 h 1742"/>
                <a:gd name="T104" fmla="*/ 1749 w 1753"/>
                <a:gd name="T105" fmla="*/ 783 h 1742"/>
                <a:gd name="T106" fmla="*/ 1685 w 1753"/>
                <a:gd name="T107" fmla="*/ 1212 h 1742"/>
                <a:gd name="T108" fmla="*/ 1431 w 1753"/>
                <a:gd name="T109" fmla="*/ 1548 h 1742"/>
                <a:gd name="T110" fmla="*/ 1040 w 1753"/>
                <a:gd name="T111" fmla="*/ 1727 h 1742"/>
                <a:gd name="T112" fmla="*/ 600 w 1753"/>
                <a:gd name="T113" fmla="*/ 1699 h 1742"/>
                <a:gd name="T114" fmla="*/ 243 w 1753"/>
                <a:gd name="T115" fmla="*/ 1475 h 1742"/>
                <a:gd name="T116" fmla="*/ 31 w 1753"/>
                <a:gd name="T117" fmla="*/ 1106 h 1742"/>
                <a:gd name="T118" fmla="*/ 24 w 1753"/>
                <a:gd name="T119" fmla="*/ 665 h 1742"/>
                <a:gd name="T120" fmla="*/ 219 w 1753"/>
                <a:gd name="T121" fmla="*/ 294 h 1742"/>
                <a:gd name="T122" fmla="*/ 571 w 1753"/>
                <a:gd name="T123" fmla="*/ 54 h 1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53" h="1742">
                  <a:moveTo>
                    <a:pt x="707" y="1138"/>
                  </a:moveTo>
                  <a:lnTo>
                    <a:pt x="789" y="1145"/>
                  </a:lnTo>
                  <a:lnTo>
                    <a:pt x="874" y="1148"/>
                  </a:lnTo>
                  <a:lnTo>
                    <a:pt x="957" y="1147"/>
                  </a:lnTo>
                  <a:lnTo>
                    <a:pt x="989" y="1146"/>
                  </a:lnTo>
                  <a:lnTo>
                    <a:pt x="1020" y="1144"/>
                  </a:lnTo>
                  <a:lnTo>
                    <a:pt x="1019" y="1149"/>
                  </a:lnTo>
                  <a:lnTo>
                    <a:pt x="1018" y="1154"/>
                  </a:lnTo>
                  <a:lnTo>
                    <a:pt x="1018" y="1161"/>
                  </a:lnTo>
                  <a:lnTo>
                    <a:pt x="1022" y="1191"/>
                  </a:lnTo>
                  <a:lnTo>
                    <a:pt x="1030" y="1221"/>
                  </a:lnTo>
                  <a:lnTo>
                    <a:pt x="995" y="1224"/>
                  </a:lnTo>
                  <a:lnTo>
                    <a:pt x="959" y="1226"/>
                  </a:lnTo>
                  <a:lnTo>
                    <a:pt x="869" y="1226"/>
                  </a:lnTo>
                  <a:lnTo>
                    <a:pt x="782" y="1223"/>
                  </a:lnTo>
                  <a:lnTo>
                    <a:pt x="694" y="1215"/>
                  </a:lnTo>
                  <a:lnTo>
                    <a:pt x="701" y="1192"/>
                  </a:lnTo>
                  <a:lnTo>
                    <a:pt x="705" y="1168"/>
                  </a:lnTo>
                  <a:lnTo>
                    <a:pt x="707" y="1143"/>
                  </a:lnTo>
                  <a:lnTo>
                    <a:pt x="707" y="1138"/>
                  </a:lnTo>
                  <a:close/>
                  <a:moveTo>
                    <a:pt x="1204" y="1049"/>
                  </a:moveTo>
                  <a:lnTo>
                    <a:pt x="1227" y="1052"/>
                  </a:lnTo>
                  <a:lnTo>
                    <a:pt x="1250" y="1059"/>
                  </a:lnTo>
                  <a:lnTo>
                    <a:pt x="1270" y="1070"/>
                  </a:lnTo>
                  <a:lnTo>
                    <a:pt x="1288" y="1087"/>
                  </a:lnTo>
                  <a:lnTo>
                    <a:pt x="1301" y="1107"/>
                  </a:lnTo>
                  <a:lnTo>
                    <a:pt x="1309" y="1129"/>
                  </a:lnTo>
                  <a:lnTo>
                    <a:pt x="1313" y="1155"/>
                  </a:lnTo>
                  <a:lnTo>
                    <a:pt x="1310" y="1180"/>
                  </a:lnTo>
                  <a:lnTo>
                    <a:pt x="1302" y="1202"/>
                  </a:lnTo>
                  <a:lnTo>
                    <a:pt x="1290" y="1223"/>
                  </a:lnTo>
                  <a:lnTo>
                    <a:pt x="1273" y="1239"/>
                  </a:lnTo>
                  <a:lnTo>
                    <a:pt x="1254" y="1252"/>
                  </a:lnTo>
                  <a:lnTo>
                    <a:pt x="1231" y="1261"/>
                  </a:lnTo>
                  <a:lnTo>
                    <a:pt x="1207" y="1264"/>
                  </a:lnTo>
                  <a:lnTo>
                    <a:pt x="1183" y="1261"/>
                  </a:lnTo>
                  <a:lnTo>
                    <a:pt x="1160" y="1254"/>
                  </a:lnTo>
                  <a:lnTo>
                    <a:pt x="1140" y="1242"/>
                  </a:lnTo>
                  <a:lnTo>
                    <a:pt x="1125" y="1229"/>
                  </a:lnTo>
                  <a:lnTo>
                    <a:pt x="1114" y="1215"/>
                  </a:lnTo>
                  <a:lnTo>
                    <a:pt x="1105" y="1198"/>
                  </a:lnTo>
                  <a:lnTo>
                    <a:pt x="1099" y="1179"/>
                  </a:lnTo>
                  <a:lnTo>
                    <a:pt x="1097" y="1158"/>
                  </a:lnTo>
                  <a:lnTo>
                    <a:pt x="1099" y="1134"/>
                  </a:lnTo>
                  <a:lnTo>
                    <a:pt x="1108" y="1111"/>
                  </a:lnTo>
                  <a:lnTo>
                    <a:pt x="1120" y="1091"/>
                  </a:lnTo>
                  <a:lnTo>
                    <a:pt x="1137" y="1074"/>
                  </a:lnTo>
                  <a:lnTo>
                    <a:pt x="1157" y="1061"/>
                  </a:lnTo>
                  <a:lnTo>
                    <a:pt x="1179" y="1053"/>
                  </a:lnTo>
                  <a:lnTo>
                    <a:pt x="1204" y="1049"/>
                  </a:lnTo>
                  <a:close/>
                  <a:moveTo>
                    <a:pt x="520" y="1038"/>
                  </a:moveTo>
                  <a:lnTo>
                    <a:pt x="544" y="1041"/>
                  </a:lnTo>
                  <a:lnTo>
                    <a:pt x="566" y="1047"/>
                  </a:lnTo>
                  <a:lnTo>
                    <a:pt x="586" y="1059"/>
                  </a:lnTo>
                  <a:lnTo>
                    <a:pt x="603" y="1075"/>
                  </a:lnTo>
                  <a:lnTo>
                    <a:pt x="617" y="1095"/>
                  </a:lnTo>
                  <a:lnTo>
                    <a:pt x="625" y="1119"/>
                  </a:lnTo>
                  <a:lnTo>
                    <a:pt x="629" y="1144"/>
                  </a:lnTo>
                  <a:lnTo>
                    <a:pt x="626" y="1168"/>
                  </a:lnTo>
                  <a:lnTo>
                    <a:pt x="619" y="1191"/>
                  </a:lnTo>
                  <a:lnTo>
                    <a:pt x="606" y="1210"/>
                  </a:lnTo>
                  <a:lnTo>
                    <a:pt x="590" y="1227"/>
                  </a:lnTo>
                  <a:lnTo>
                    <a:pt x="570" y="1241"/>
                  </a:lnTo>
                  <a:lnTo>
                    <a:pt x="547" y="1249"/>
                  </a:lnTo>
                  <a:lnTo>
                    <a:pt x="523" y="1252"/>
                  </a:lnTo>
                  <a:lnTo>
                    <a:pt x="504" y="1251"/>
                  </a:lnTo>
                  <a:lnTo>
                    <a:pt x="488" y="1247"/>
                  </a:lnTo>
                  <a:lnTo>
                    <a:pt x="471" y="1241"/>
                  </a:lnTo>
                  <a:lnTo>
                    <a:pt x="457" y="1231"/>
                  </a:lnTo>
                  <a:lnTo>
                    <a:pt x="439" y="1215"/>
                  </a:lnTo>
                  <a:lnTo>
                    <a:pt x="425" y="1195"/>
                  </a:lnTo>
                  <a:lnTo>
                    <a:pt x="417" y="1172"/>
                  </a:lnTo>
                  <a:lnTo>
                    <a:pt x="413" y="1147"/>
                  </a:lnTo>
                  <a:lnTo>
                    <a:pt x="416" y="1122"/>
                  </a:lnTo>
                  <a:lnTo>
                    <a:pt x="423" y="1099"/>
                  </a:lnTo>
                  <a:lnTo>
                    <a:pt x="436" y="1080"/>
                  </a:lnTo>
                  <a:lnTo>
                    <a:pt x="452" y="1062"/>
                  </a:lnTo>
                  <a:lnTo>
                    <a:pt x="472" y="1049"/>
                  </a:lnTo>
                  <a:lnTo>
                    <a:pt x="495" y="1041"/>
                  </a:lnTo>
                  <a:lnTo>
                    <a:pt x="520" y="1038"/>
                  </a:lnTo>
                  <a:close/>
                  <a:moveTo>
                    <a:pt x="1080" y="614"/>
                  </a:moveTo>
                  <a:lnTo>
                    <a:pt x="1116" y="690"/>
                  </a:lnTo>
                  <a:lnTo>
                    <a:pt x="1148" y="768"/>
                  </a:lnTo>
                  <a:lnTo>
                    <a:pt x="1176" y="847"/>
                  </a:lnTo>
                  <a:lnTo>
                    <a:pt x="1201" y="926"/>
                  </a:lnTo>
                  <a:lnTo>
                    <a:pt x="1206" y="949"/>
                  </a:lnTo>
                  <a:lnTo>
                    <a:pt x="1212" y="973"/>
                  </a:lnTo>
                  <a:lnTo>
                    <a:pt x="1202" y="973"/>
                  </a:lnTo>
                  <a:lnTo>
                    <a:pt x="1178" y="974"/>
                  </a:lnTo>
                  <a:lnTo>
                    <a:pt x="1157" y="978"/>
                  </a:lnTo>
                  <a:lnTo>
                    <a:pt x="1135" y="985"/>
                  </a:lnTo>
                  <a:lnTo>
                    <a:pt x="1125" y="947"/>
                  </a:lnTo>
                  <a:lnTo>
                    <a:pt x="1102" y="872"/>
                  </a:lnTo>
                  <a:lnTo>
                    <a:pt x="1075" y="798"/>
                  </a:lnTo>
                  <a:lnTo>
                    <a:pt x="1045" y="725"/>
                  </a:lnTo>
                  <a:lnTo>
                    <a:pt x="1012" y="655"/>
                  </a:lnTo>
                  <a:lnTo>
                    <a:pt x="1037" y="644"/>
                  </a:lnTo>
                  <a:lnTo>
                    <a:pt x="1060" y="631"/>
                  </a:lnTo>
                  <a:lnTo>
                    <a:pt x="1080" y="614"/>
                  </a:lnTo>
                  <a:close/>
                  <a:moveTo>
                    <a:pt x="799" y="578"/>
                  </a:moveTo>
                  <a:lnTo>
                    <a:pt x="811" y="595"/>
                  </a:lnTo>
                  <a:lnTo>
                    <a:pt x="826" y="611"/>
                  </a:lnTo>
                  <a:lnTo>
                    <a:pt x="845" y="626"/>
                  </a:lnTo>
                  <a:lnTo>
                    <a:pt x="848" y="629"/>
                  </a:lnTo>
                  <a:lnTo>
                    <a:pt x="851" y="631"/>
                  </a:lnTo>
                  <a:lnTo>
                    <a:pt x="854" y="632"/>
                  </a:lnTo>
                  <a:lnTo>
                    <a:pt x="819" y="674"/>
                  </a:lnTo>
                  <a:lnTo>
                    <a:pt x="784" y="715"/>
                  </a:lnTo>
                  <a:lnTo>
                    <a:pt x="738" y="781"/>
                  </a:lnTo>
                  <a:lnTo>
                    <a:pt x="697" y="849"/>
                  </a:lnTo>
                  <a:lnTo>
                    <a:pt x="657" y="919"/>
                  </a:lnTo>
                  <a:lnTo>
                    <a:pt x="623" y="990"/>
                  </a:lnTo>
                  <a:lnTo>
                    <a:pt x="600" y="977"/>
                  </a:lnTo>
                  <a:lnTo>
                    <a:pt x="575" y="969"/>
                  </a:lnTo>
                  <a:lnTo>
                    <a:pt x="549" y="962"/>
                  </a:lnTo>
                  <a:lnTo>
                    <a:pt x="586" y="885"/>
                  </a:lnTo>
                  <a:lnTo>
                    <a:pt x="627" y="811"/>
                  </a:lnTo>
                  <a:lnTo>
                    <a:pt x="673" y="738"/>
                  </a:lnTo>
                  <a:lnTo>
                    <a:pt x="723" y="670"/>
                  </a:lnTo>
                  <a:lnTo>
                    <a:pt x="759" y="622"/>
                  </a:lnTo>
                  <a:lnTo>
                    <a:pt x="799" y="578"/>
                  </a:lnTo>
                  <a:close/>
                  <a:moveTo>
                    <a:pt x="954" y="371"/>
                  </a:moveTo>
                  <a:lnTo>
                    <a:pt x="978" y="374"/>
                  </a:lnTo>
                  <a:lnTo>
                    <a:pt x="999" y="381"/>
                  </a:lnTo>
                  <a:lnTo>
                    <a:pt x="1020" y="393"/>
                  </a:lnTo>
                  <a:lnTo>
                    <a:pt x="1038" y="410"/>
                  </a:lnTo>
                  <a:lnTo>
                    <a:pt x="1050" y="430"/>
                  </a:lnTo>
                  <a:lnTo>
                    <a:pt x="1060" y="453"/>
                  </a:lnTo>
                  <a:lnTo>
                    <a:pt x="1064" y="476"/>
                  </a:lnTo>
                  <a:lnTo>
                    <a:pt x="1061" y="501"/>
                  </a:lnTo>
                  <a:lnTo>
                    <a:pt x="1053" y="524"/>
                  </a:lnTo>
                  <a:lnTo>
                    <a:pt x="1040" y="544"/>
                  </a:lnTo>
                  <a:lnTo>
                    <a:pt x="1024" y="560"/>
                  </a:lnTo>
                  <a:lnTo>
                    <a:pt x="1005" y="574"/>
                  </a:lnTo>
                  <a:lnTo>
                    <a:pt x="982" y="582"/>
                  </a:lnTo>
                  <a:lnTo>
                    <a:pt x="957" y="585"/>
                  </a:lnTo>
                  <a:lnTo>
                    <a:pt x="933" y="583"/>
                  </a:lnTo>
                  <a:lnTo>
                    <a:pt x="910" y="576"/>
                  </a:lnTo>
                  <a:lnTo>
                    <a:pt x="891" y="565"/>
                  </a:lnTo>
                  <a:lnTo>
                    <a:pt x="877" y="552"/>
                  </a:lnTo>
                  <a:lnTo>
                    <a:pt x="864" y="537"/>
                  </a:lnTo>
                  <a:lnTo>
                    <a:pt x="855" y="520"/>
                  </a:lnTo>
                  <a:lnTo>
                    <a:pt x="850" y="500"/>
                  </a:lnTo>
                  <a:lnTo>
                    <a:pt x="848" y="480"/>
                  </a:lnTo>
                  <a:lnTo>
                    <a:pt x="850" y="456"/>
                  </a:lnTo>
                  <a:lnTo>
                    <a:pt x="857" y="433"/>
                  </a:lnTo>
                  <a:lnTo>
                    <a:pt x="869" y="412"/>
                  </a:lnTo>
                  <a:lnTo>
                    <a:pt x="886" y="395"/>
                  </a:lnTo>
                  <a:lnTo>
                    <a:pt x="906" y="383"/>
                  </a:lnTo>
                  <a:lnTo>
                    <a:pt x="929" y="375"/>
                  </a:lnTo>
                  <a:lnTo>
                    <a:pt x="954" y="371"/>
                  </a:lnTo>
                  <a:close/>
                  <a:moveTo>
                    <a:pt x="865" y="127"/>
                  </a:moveTo>
                  <a:lnTo>
                    <a:pt x="812" y="129"/>
                  </a:lnTo>
                  <a:lnTo>
                    <a:pt x="760" y="135"/>
                  </a:lnTo>
                  <a:lnTo>
                    <a:pt x="708" y="144"/>
                  </a:lnTo>
                  <a:lnTo>
                    <a:pt x="658" y="158"/>
                  </a:lnTo>
                  <a:lnTo>
                    <a:pt x="698" y="177"/>
                  </a:lnTo>
                  <a:lnTo>
                    <a:pt x="735" y="200"/>
                  </a:lnTo>
                  <a:lnTo>
                    <a:pt x="773" y="226"/>
                  </a:lnTo>
                  <a:lnTo>
                    <a:pt x="807" y="253"/>
                  </a:lnTo>
                  <a:lnTo>
                    <a:pt x="840" y="282"/>
                  </a:lnTo>
                  <a:lnTo>
                    <a:pt x="872" y="313"/>
                  </a:lnTo>
                  <a:lnTo>
                    <a:pt x="849" y="327"/>
                  </a:lnTo>
                  <a:lnTo>
                    <a:pt x="828" y="344"/>
                  </a:lnTo>
                  <a:lnTo>
                    <a:pt x="810" y="363"/>
                  </a:lnTo>
                  <a:lnTo>
                    <a:pt x="769" y="323"/>
                  </a:lnTo>
                  <a:lnTo>
                    <a:pt x="726" y="287"/>
                  </a:lnTo>
                  <a:lnTo>
                    <a:pt x="683" y="258"/>
                  </a:lnTo>
                  <a:lnTo>
                    <a:pt x="640" y="235"/>
                  </a:lnTo>
                  <a:lnTo>
                    <a:pt x="594" y="215"/>
                  </a:lnTo>
                  <a:lnTo>
                    <a:pt x="549" y="201"/>
                  </a:lnTo>
                  <a:lnTo>
                    <a:pt x="496" y="229"/>
                  </a:lnTo>
                  <a:lnTo>
                    <a:pt x="445" y="261"/>
                  </a:lnTo>
                  <a:lnTo>
                    <a:pt x="398" y="298"/>
                  </a:lnTo>
                  <a:lnTo>
                    <a:pt x="354" y="337"/>
                  </a:lnTo>
                  <a:lnTo>
                    <a:pt x="313" y="380"/>
                  </a:lnTo>
                  <a:lnTo>
                    <a:pt x="276" y="426"/>
                  </a:lnTo>
                  <a:lnTo>
                    <a:pt x="241" y="474"/>
                  </a:lnTo>
                  <a:lnTo>
                    <a:pt x="211" y="526"/>
                  </a:lnTo>
                  <a:lnTo>
                    <a:pt x="185" y="580"/>
                  </a:lnTo>
                  <a:lnTo>
                    <a:pt x="163" y="637"/>
                  </a:lnTo>
                  <a:lnTo>
                    <a:pt x="147" y="695"/>
                  </a:lnTo>
                  <a:lnTo>
                    <a:pt x="135" y="757"/>
                  </a:lnTo>
                  <a:lnTo>
                    <a:pt x="128" y="819"/>
                  </a:lnTo>
                  <a:lnTo>
                    <a:pt x="126" y="882"/>
                  </a:lnTo>
                  <a:lnTo>
                    <a:pt x="127" y="892"/>
                  </a:lnTo>
                  <a:lnTo>
                    <a:pt x="127" y="902"/>
                  </a:lnTo>
                  <a:lnTo>
                    <a:pt x="158" y="932"/>
                  </a:lnTo>
                  <a:lnTo>
                    <a:pt x="193" y="961"/>
                  </a:lnTo>
                  <a:lnTo>
                    <a:pt x="230" y="987"/>
                  </a:lnTo>
                  <a:lnTo>
                    <a:pt x="270" y="1010"/>
                  </a:lnTo>
                  <a:lnTo>
                    <a:pt x="314" y="1033"/>
                  </a:lnTo>
                  <a:lnTo>
                    <a:pt x="361" y="1053"/>
                  </a:lnTo>
                  <a:lnTo>
                    <a:pt x="349" y="1076"/>
                  </a:lnTo>
                  <a:lnTo>
                    <a:pt x="341" y="1100"/>
                  </a:lnTo>
                  <a:lnTo>
                    <a:pt x="337" y="1126"/>
                  </a:lnTo>
                  <a:lnTo>
                    <a:pt x="285" y="1105"/>
                  </a:lnTo>
                  <a:lnTo>
                    <a:pt x="236" y="1080"/>
                  </a:lnTo>
                  <a:lnTo>
                    <a:pt x="189" y="1053"/>
                  </a:lnTo>
                  <a:lnTo>
                    <a:pt x="147" y="1022"/>
                  </a:lnTo>
                  <a:lnTo>
                    <a:pt x="145" y="1021"/>
                  </a:lnTo>
                  <a:lnTo>
                    <a:pt x="144" y="1020"/>
                  </a:lnTo>
                  <a:lnTo>
                    <a:pt x="141" y="1018"/>
                  </a:lnTo>
                  <a:lnTo>
                    <a:pt x="156" y="1079"/>
                  </a:lnTo>
                  <a:lnTo>
                    <a:pt x="175" y="1136"/>
                  </a:lnTo>
                  <a:lnTo>
                    <a:pt x="199" y="1191"/>
                  </a:lnTo>
                  <a:lnTo>
                    <a:pt x="227" y="1244"/>
                  </a:lnTo>
                  <a:lnTo>
                    <a:pt x="259" y="1293"/>
                  </a:lnTo>
                  <a:lnTo>
                    <a:pt x="294" y="1340"/>
                  </a:lnTo>
                  <a:lnTo>
                    <a:pt x="333" y="1385"/>
                  </a:lnTo>
                  <a:lnTo>
                    <a:pt x="375" y="1425"/>
                  </a:lnTo>
                  <a:lnTo>
                    <a:pt x="421" y="1464"/>
                  </a:lnTo>
                  <a:lnTo>
                    <a:pt x="428" y="1388"/>
                  </a:lnTo>
                  <a:lnTo>
                    <a:pt x="441" y="1311"/>
                  </a:lnTo>
                  <a:lnTo>
                    <a:pt x="465" y="1320"/>
                  </a:lnTo>
                  <a:lnTo>
                    <a:pt x="491" y="1327"/>
                  </a:lnTo>
                  <a:lnTo>
                    <a:pt x="516" y="1330"/>
                  </a:lnTo>
                  <a:lnTo>
                    <a:pt x="508" y="1391"/>
                  </a:lnTo>
                  <a:lnTo>
                    <a:pt x="501" y="1453"/>
                  </a:lnTo>
                  <a:lnTo>
                    <a:pt x="498" y="1515"/>
                  </a:lnTo>
                  <a:lnTo>
                    <a:pt x="557" y="1546"/>
                  </a:lnTo>
                  <a:lnTo>
                    <a:pt x="619" y="1572"/>
                  </a:lnTo>
                  <a:lnTo>
                    <a:pt x="683" y="1591"/>
                  </a:lnTo>
                  <a:lnTo>
                    <a:pt x="749" y="1606"/>
                  </a:lnTo>
                  <a:lnTo>
                    <a:pt x="817" y="1615"/>
                  </a:lnTo>
                  <a:lnTo>
                    <a:pt x="887" y="1617"/>
                  </a:lnTo>
                  <a:lnTo>
                    <a:pt x="942" y="1614"/>
                  </a:lnTo>
                  <a:lnTo>
                    <a:pt x="996" y="1607"/>
                  </a:lnTo>
                  <a:lnTo>
                    <a:pt x="1049" y="1596"/>
                  </a:lnTo>
                  <a:lnTo>
                    <a:pt x="1100" y="1582"/>
                  </a:lnTo>
                  <a:lnTo>
                    <a:pt x="1120" y="1551"/>
                  </a:lnTo>
                  <a:lnTo>
                    <a:pt x="1136" y="1516"/>
                  </a:lnTo>
                  <a:lnTo>
                    <a:pt x="1149" y="1476"/>
                  </a:lnTo>
                  <a:lnTo>
                    <a:pt x="1159" y="1433"/>
                  </a:lnTo>
                  <a:lnTo>
                    <a:pt x="1166" y="1387"/>
                  </a:lnTo>
                  <a:lnTo>
                    <a:pt x="1170" y="1338"/>
                  </a:lnTo>
                  <a:lnTo>
                    <a:pt x="1190" y="1341"/>
                  </a:lnTo>
                  <a:lnTo>
                    <a:pt x="1207" y="1341"/>
                  </a:lnTo>
                  <a:lnTo>
                    <a:pt x="1229" y="1340"/>
                  </a:lnTo>
                  <a:lnTo>
                    <a:pt x="1251" y="1337"/>
                  </a:lnTo>
                  <a:lnTo>
                    <a:pt x="1246" y="1390"/>
                  </a:lnTo>
                  <a:lnTo>
                    <a:pt x="1238" y="1442"/>
                  </a:lnTo>
                  <a:lnTo>
                    <a:pt x="1226" y="1492"/>
                  </a:lnTo>
                  <a:lnTo>
                    <a:pt x="1211" y="1538"/>
                  </a:lnTo>
                  <a:lnTo>
                    <a:pt x="1262" y="1510"/>
                  </a:lnTo>
                  <a:lnTo>
                    <a:pt x="1310" y="1478"/>
                  </a:lnTo>
                  <a:lnTo>
                    <a:pt x="1357" y="1443"/>
                  </a:lnTo>
                  <a:lnTo>
                    <a:pt x="1400" y="1405"/>
                  </a:lnTo>
                  <a:lnTo>
                    <a:pt x="1440" y="1362"/>
                  </a:lnTo>
                  <a:lnTo>
                    <a:pt x="1477" y="1317"/>
                  </a:lnTo>
                  <a:lnTo>
                    <a:pt x="1508" y="1273"/>
                  </a:lnTo>
                  <a:lnTo>
                    <a:pt x="1535" y="1226"/>
                  </a:lnTo>
                  <a:lnTo>
                    <a:pt x="1560" y="1178"/>
                  </a:lnTo>
                  <a:lnTo>
                    <a:pt x="1581" y="1127"/>
                  </a:lnTo>
                  <a:lnTo>
                    <a:pt x="1597" y="1074"/>
                  </a:lnTo>
                  <a:lnTo>
                    <a:pt x="1611" y="1020"/>
                  </a:lnTo>
                  <a:lnTo>
                    <a:pt x="1571" y="1051"/>
                  </a:lnTo>
                  <a:lnTo>
                    <a:pt x="1530" y="1076"/>
                  </a:lnTo>
                  <a:lnTo>
                    <a:pt x="1486" y="1101"/>
                  </a:lnTo>
                  <a:lnTo>
                    <a:pt x="1439" y="1124"/>
                  </a:lnTo>
                  <a:lnTo>
                    <a:pt x="1389" y="1144"/>
                  </a:lnTo>
                  <a:lnTo>
                    <a:pt x="1386" y="1117"/>
                  </a:lnTo>
                  <a:lnTo>
                    <a:pt x="1379" y="1092"/>
                  </a:lnTo>
                  <a:lnTo>
                    <a:pt x="1369" y="1068"/>
                  </a:lnTo>
                  <a:lnTo>
                    <a:pt x="1421" y="1046"/>
                  </a:lnTo>
                  <a:lnTo>
                    <a:pt x="1470" y="1022"/>
                  </a:lnTo>
                  <a:lnTo>
                    <a:pt x="1514" y="996"/>
                  </a:lnTo>
                  <a:lnTo>
                    <a:pt x="1556" y="965"/>
                  </a:lnTo>
                  <a:lnTo>
                    <a:pt x="1593" y="933"/>
                  </a:lnTo>
                  <a:lnTo>
                    <a:pt x="1626" y="899"/>
                  </a:lnTo>
                  <a:lnTo>
                    <a:pt x="1627" y="879"/>
                  </a:lnTo>
                  <a:lnTo>
                    <a:pt x="1627" y="861"/>
                  </a:lnTo>
                  <a:lnTo>
                    <a:pt x="1622" y="793"/>
                  </a:lnTo>
                  <a:lnTo>
                    <a:pt x="1613" y="729"/>
                  </a:lnTo>
                  <a:lnTo>
                    <a:pt x="1597" y="665"/>
                  </a:lnTo>
                  <a:lnTo>
                    <a:pt x="1577" y="605"/>
                  </a:lnTo>
                  <a:lnTo>
                    <a:pt x="1552" y="546"/>
                  </a:lnTo>
                  <a:lnTo>
                    <a:pt x="1522" y="491"/>
                  </a:lnTo>
                  <a:lnTo>
                    <a:pt x="1486" y="438"/>
                  </a:lnTo>
                  <a:lnTo>
                    <a:pt x="1448" y="388"/>
                  </a:lnTo>
                  <a:lnTo>
                    <a:pt x="1405" y="342"/>
                  </a:lnTo>
                  <a:lnTo>
                    <a:pt x="1359" y="300"/>
                  </a:lnTo>
                  <a:lnTo>
                    <a:pt x="1298" y="320"/>
                  </a:lnTo>
                  <a:lnTo>
                    <a:pt x="1239" y="344"/>
                  </a:lnTo>
                  <a:lnTo>
                    <a:pt x="1181" y="372"/>
                  </a:lnTo>
                  <a:lnTo>
                    <a:pt x="1125" y="403"/>
                  </a:lnTo>
                  <a:lnTo>
                    <a:pt x="1113" y="381"/>
                  </a:lnTo>
                  <a:lnTo>
                    <a:pt x="1097" y="359"/>
                  </a:lnTo>
                  <a:lnTo>
                    <a:pt x="1079" y="340"/>
                  </a:lnTo>
                  <a:lnTo>
                    <a:pt x="1144" y="303"/>
                  </a:lnTo>
                  <a:lnTo>
                    <a:pt x="1212" y="271"/>
                  </a:lnTo>
                  <a:lnTo>
                    <a:pt x="1280" y="244"/>
                  </a:lnTo>
                  <a:lnTo>
                    <a:pt x="1227" y="213"/>
                  </a:lnTo>
                  <a:lnTo>
                    <a:pt x="1172" y="187"/>
                  </a:lnTo>
                  <a:lnTo>
                    <a:pt x="1115" y="165"/>
                  </a:lnTo>
                  <a:lnTo>
                    <a:pt x="1056" y="147"/>
                  </a:lnTo>
                  <a:lnTo>
                    <a:pt x="993" y="135"/>
                  </a:lnTo>
                  <a:lnTo>
                    <a:pt x="930" y="129"/>
                  </a:lnTo>
                  <a:lnTo>
                    <a:pt x="865" y="127"/>
                  </a:lnTo>
                  <a:close/>
                  <a:moveTo>
                    <a:pt x="863" y="0"/>
                  </a:moveTo>
                  <a:lnTo>
                    <a:pt x="938" y="2"/>
                  </a:lnTo>
                  <a:lnTo>
                    <a:pt x="1012" y="10"/>
                  </a:lnTo>
                  <a:lnTo>
                    <a:pt x="1083" y="24"/>
                  </a:lnTo>
                  <a:lnTo>
                    <a:pt x="1152" y="43"/>
                  </a:lnTo>
                  <a:lnTo>
                    <a:pt x="1219" y="68"/>
                  </a:lnTo>
                  <a:lnTo>
                    <a:pt x="1283" y="99"/>
                  </a:lnTo>
                  <a:lnTo>
                    <a:pt x="1345" y="134"/>
                  </a:lnTo>
                  <a:lnTo>
                    <a:pt x="1403" y="173"/>
                  </a:lnTo>
                  <a:lnTo>
                    <a:pt x="1458" y="218"/>
                  </a:lnTo>
                  <a:lnTo>
                    <a:pt x="1509" y="268"/>
                  </a:lnTo>
                  <a:lnTo>
                    <a:pt x="1557" y="321"/>
                  </a:lnTo>
                  <a:lnTo>
                    <a:pt x="1600" y="377"/>
                  </a:lnTo>
                  <a:lnTo>
                    <a:pt x="1638" y="438"/>
                  </a:lnTo>
                  <a:lnTo>
                    <a:pt x="1671" y="501"/>
                  </a:lnTo>
                  <a:lnTo>
                    <a:pt x="1699" y="568"/>
                  </a:lnTo>
                  <a:lnTo>
                    <a:pt x="1721" y="637"/>
                  </a:lnTo>
                  <a:lnTo>
                    <a:pt x="1738" y="709"/>
                  </a:lnTo>
                  <a:lnTo>
                    <a:pt x="1749" y="783"/>
                  </a:lnTo>
                  <a:lnTo>
                    <a:pt x="1753" y="858"/>
                  </a:lnTo>
                  <a:lnTo>
                    <a:pt x="1751" y="933"/>
                  </a:lnTo>
                  <a:lnTo>
                    <a:pt x="1743" y="1006"/>
                  </a:lnTo>
                  <a:lnTo>
                    <a:pt x="1730" y="1076"/>
                  </a:lnTo>
                  <a:lnTo>
                    <a:pt x="1710" y="1146"/>
                  </a:lnTo>
                  <a:lnTo>
                    <a:pt x="1685" y="1212"/>
                  </a:lnTo>
                  <a:lnTo>
                    <a:pt x="1654" y="1276"/>
                  </a:lnTo>
                  <a:lnTo>
                    <a:pt x="1618" y="1337"/>
                  </a:lnTo>
                  <a:lnTo>
                    <a:pt x="1579" y="1394"/>
                  </a:lnTo>
                  <a:lnTo>
                    <a:pt x="1534" y="1449"/>
                  </a:lnTo>
                  <a:lnTo>
                    <a:pt x="1484" y="1500"/>
                  </a:lnTo>
                  <a:lnTo>
                    <a:pt x="1431" y="1548"/>
                  </a:lnTo>
                  <a:lnTo>
                    <a:pt x="1374" y="1590"/>
                  </a:lnTo>
                  <a:lnTo>
                    <a:pt x="1313" y="1628"/>
                  </a:lnTo>
                  <a:lnTo>
                    <a:pt x="1249" y="1661"/>
                  </a:lnTo>
                  <a:lnTo>
                    <a:pt x="1181" y="1689"/>
                  </a:lnTo>
                  <a:lnTo>
                    <a:pt x="1112" y="1711"/>
                  </a:lnTo>
                  <a:lnTo>
                    <a:pt x="1040" y="1727"/>
                  </a:lnTo>
                  <a:lnTo>
                    <a:pt x="965" y="1738"/>
                  </a:lnTo>
                  <a:lnTo>
                    <a:pt x="889" y="1742"/>
                  </a:lnTo>
                  <a:lnTo>
                    <a:pt x="814" y="1741"/>
                  </a:lnTo>
                  <a:lnTo>
                    <a:pt x="742" y="1733"/>
                  </a:lnTo>
                  <a:lnTo>
                    <a:pt x="670" y="1718"/>
                  </a:lnTo>
                  <a:lnTo>
                    <a:pt x="600" y="1699"/>
                  </a:lnTo>
                  <a:lnTo>
                    <a:pt x="534" y="1674"/>
                  </a:lnTo>
                  <a:lnTo>
                    <a:pt x="469" y="1644"/>
                  </a:lnTo>
                  <a:lnTo>
                    <a:pt x="408" y="1609"/>
                  </a:lnTo>
                  <a:lnTo>
                    <a:pt x="350" y="1569"/>
                  </a:lnTo>
                  <a:lnTo>
                    <a:pt x="294" y="1524"/>
                  </a:lnTo>
                  <a:lnTo>
                    <a:pt x="243" y="1475"/>
                  </a:lnTo>
                  <a:lnTo>
                    <a:pt x="196" y="1422"/>
                  </a:lnTo>
                  <a:lnTo>
                    <a:pt x="153" y="1365"/>
                  </a:lnTo>
                  <a:lnTo>
                    <a:pt x="114" y="1305"/>
                  </a:lnTo>
                  <a:lnTo>
                    <a:pt x="81" y="1242"/>
                  </a:lnTo>
                  <a:lnTo>
                    <a:pt x="53" y="1175"/>
                  </a:lnTo>
                  <a:lnTo>
                    <a:pt x="31" y="1106"/>
                  </a:lnTo>
                  <a:lnTo>
                    <a:pt x="15" y="1034"/>
                  </a:lnTo>
                  <a:lnTo>
                    <a:pt x="4" y="960"/>
                  </a:lnTo>
                  <a:lnTo>
                    <a:pt x="0" y="884"/>
                  </a:lnTo>
                  <a:lnTo>
                    <a:pt x="2" y="810"/>
                  </a:lnTo>
                  <a:lnTo>
                    <a:pt x="9" y="737"/>
                  </a:lnTo>
                  <a:lnTo>
                    <a:pt x="24" y="665"/>
                  </a:lnTo>
                  <a:lnTo>
                    <a:pt x="44" y="597"/>
                  </a:lnTo>
                  <a:lnTo>
                    <a:pt x="69" y="530"/>
                  </a:lnTo>
                  <a:lnTo>
                    <a:pt x="99" y="467"/>
                  </a:lnTo>
                  <a:lnTo>
                    <a:pt x="134" y="406"/>
                  </a:lnTo>
                  <a:lnTo>
                    <a:pt x="174" y="349"/>
                  </a:lnTo>
                  <a:lnTo>
                    <a:pt x="219" y="294"/>
                  </a:lnTo>
                  <a:lnTo>
                    <a:pt x="268" y="242"/>
                  </a:lnTo>
                  <a:lnTo>
                    <a:pt x="321" y="195"/>
                  </a:lnTo>
                  <a:lnTo>
                    <a:pt x="380" y="152"/>
                  </a:lnTo>
                  <a:lnTo>
                    <a:pt x="440" y="114"/>
                  </a:lnTo>
                  <a:lnTo>
                    <a:pt x="504" y="82"/>
                  </a:lnTo>
                  <a:lnTo>
                    <a:pt x="571" y="54"/>
                  </a:lnTo>
                  <a:lnTo>
                    <a:pt x="641" y="31"/>
                  </a:lnTo>
                  <a:lnTo>
                    <a:pt x="712" y="14"/>
                  </a:lnTo>
                  <a:lnTo>
                    <a:pt x="787" y="4"/>
                  </a:lnTo>
                  <a:lnTo>
                    <a:pt x="863" y="0"/>
                  </a:lnTo>
                  <a:close/>
                </a:path>
              </a:pathLst>
            </a:custGeom>
            <a:solidFill>
              <a:srgbClr val="FDFAEB"/>
            </a:solidFill>
            <a:ln w="0">
              <a:noFill/>
              <a:prstDash val="solid"/>
              <a:round/>
            </a:ln>
          </p:spPr>
          <p:txBody>
            <a:bodyPr lIns="91427" tIns="45713" rIns="91427" bIns="45713"/>
            <a:lstStyle/>
            <a:p>
              <a:pPr defTabSz="932180" fontAlgn="auto">
                <a:spcBef>
                  <a:spcPts val="0"/>
                </a:spcBef>
                <a:spcAft>
                  <a:spcPts val="0"/>
                </a:spcAft>
                <a:defRPr/>
              </a:pPr>
              <a:endParaRPr lang="en-GB" kern="0">
                <a:solidFill>
                  <a:srgbClr val="FFFFFF"/>
                </a:solidFill>
                <a:effectLst/>
                <a:latin typeface="Arial" panose="020B0604020202020204"/>
                <a:ea typeface="微软雅黑" panose="020B0503020204020204" charset="-122"/>
                <a:sym typeface="Arial" panose="020B0604020202020204"/>
              </a:endParaRPr>
            </a:p>
          </p:txBody>
        </p:sp>
      </p:grpSp>
      <p:grpSp>
        <p:nvGrpSpPr>
          <p:cNvPr id="28" name="组合 27"/>
          <p:cNvGrpSpPr/>
          <p:nvPr/>
        </p:nvGrpSpPr>
        <p:grpSpPr>
          <a:xfrm>
            <a:off x="9951233" y="2876326"/>
            <a:ext cx="656589" cy="647059"/>
            <a:chOff x="7638114" y="2418516"/>
            <a:chExt cx="656589" cy="647059"/>
          </a:xfrm>
        </p:grpSpPr>
        <p:sp>
          <p:nvSpPr>
            <p:cNvPr id="29" name="椭圆 28"/>
            <p:cNvSpPr/>
            <p:nvPr/>
          </p:nvSpPr>
          <p:spPr bwMode="auto">
            <a:xfrm>
              <a:off x="7638114" y="2418516"/>
              <a:ext cx="656589" cy="647059"/>
            </a:xfrm>
            <a:prstGeom prst="ellipse">
              <a:avLst/>
            </a:prstGeom>
            <a:solidFill>
              <a:srgbClr val="C00000"/>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30" name="圆角矩形 3"/>
            <p:cNvSpPr/>
            <p:nvPr/>
          </p:nvSpPr>
          <p:spPr bwMode="auto">
            <a:xfrm>
              <a:off x="7822356" y="2611870"/>
              <a:ext cx="283195" cy="279400"/>
            </a:xfrm>
            <a:custGeom>
              <a:avLst/>
              <a:gdLst>
                <a:gd name="connsiteX0" fmla="*/ 0 w 1440160"/>
                <a:gd name="connsiteY0" fmla="*/ 159815 h 1440160"/>
                <a:gd name="connsiteX1" fmla="*/ 159815 w 1440160"/>
                <a:gd name="connsiteY1" fmla="*/ 0 h 1440160"/>
                <a:gd name="connsiteX2" fmla="*/ 1280345 w 1440160"/>
                <a:gd name="connsiteY2" fmla="*/ 0 h 1440160"/>
                <a:gd name="connsiteX3" fmla="*/ 1440160 w 1440160"/>
                <a:gd name="connsiteY3" fmla="*/ 159815 h 1440160"/>
                <a:gd name="connsiteX4" fmla="*/ 1440160 w 1440160"/>
                <a:gd name="connsiteY4" fmla="*/ 1280345 h 1440160"/>
                <a:gd name="connsiteX5" fmla="*/ 1280345 w 1440160"/>
                <a:gd name="connsiteY5" fmla="*/ 1440160 h 1440160"/>
                <a:gd name="connsiteX6" fmla="*/ 159815 w 1440160"/>
                <a:gd name="connsiteY6" fmla="*/ 1440160 h 1440160"/>
                <a:gd name="connsiteX7" fmla="*/ 0 w 1440160"/>
                <a:gd name="connsiteY7" fmla="*/ 1280345 h 1440160"/>
                <a:gd name="connsiteX8" fmla="*/ 0 w 1440160"/>
                <a:gd name="connsiteY8" fmla="*/ 159815 h 1440160"/>
                <a:gd name="connsiteX0-1" fmla="*/ 1280345 w 1440160"/>
                <a:gd name="connsiteY0-2" fmla="*/ 0 h 1440160"/>
                <a:gd name="connsiteX1-3" fmla="*/ 1440160 w 1440160"/>
                <a:gd name="connsiteY1-4" fmla="*/ 159815 h 1440160"/>
                <a:gd name="connsiteX2-5" fmla="*/ 1440160 w 1440160"/>
                <a:gd name="connsiteY2-6" fmla="*/ 1280345 h 1440160"/>
                <a:gd name="connsiteX3-7" fmla="*/ 1280345 w 1440160"/>
                <a:gd name="connsiteY3-8" fmla="*/ 1440160 h 1440160"/>
                <a:gd name="connsiteX4-9" fmla="*/ 159815 w 1440160"/>
                <a:gd name="connsiteY4-10" fmla="*/ 1440160 h 1440160"/>
                <a:gd name="connsiteX5-11" fmla="*/ 0 w 1440160"/>
                <a:gd name="connsiteY5-12" fmla="*/ 1280345 h 1440160"/>
                <a:gd name="connsiteX6-13" fmla="*/ 0 w 1440160"/>
                <a:gd name="connsiteY6-14" fmla="*/ 159815 h 1440160"/>
                <a:gd name="connsiteX7-15" fmla="*/ 159815 w 1440160"/>
                <a:gd name="connsiteY7-16" fmla="*/ 0 h 1440160"/>
                <a:gd name="connsiteX8-17" fmla="*/ 1371785 w 1440160"/>
                <a:gd name="connsiteY8-18" fmla="*/ 91440 h 1440160"/>
                <a:gd name="connsiteX0-19" fmla="*/ 1280345 w 1440160"/>
                <a:gd name="connsiteY0-20" fmla="*/ 4813 h 1444973"/>
                <a:gd name="connsiteX1-21" fmla="*/ 1440160 w 1440160"/>
                <a:gd name="connsiteY1-22" fmla="*/ 164628 h 1444973"/>
                <a:gd name="connsiteX2-23" fmla="*/ 1440160 w 1440160"/>
                <a:gd name="connsiteY2-24" fmla="*/ 1285158 h 1444973"/>
                <a:gd name="connsiteX3-25" fmla="*/ 1280345 w 1440160"/>
                <a:gd name="connsiteY3-26" fmla="*/ 1444973 h 1444973"/>
                <a:gd name="connsiteX4-27" fmla="*/ 159815 w 1440160"/>
                <a:gd name="connsiteY4-28" fmla="*/ 1444973 h 1444973"/>
                <a:gd name="connsiteX5-29" fmla="*/ 0 w 1440160"/>
                <a:gd name="connsiteY5-30" fmla="*/ 1285158 h 1444973"/>
                <a:gd name="connsiteX6-31" fmla="*/ 0 w 1440160"/>
                <a:gd name="connsiteY6-32" fmla="*/ 164628 h 1444973"/>
                <a:gd name="connsiteX7-33" fmla="*/ 159815 w 1440160"/>
                <a:gd name="connsiteY7-34" fmla="*/ 4813 h 1444973"/>
                <a:gd name="connsiteX8-35" fmla="*/ 1093722 w 1440160"/>
                <a:gd name="connsiteY8-36" fmla="*/ 0 h 1444973"/>
                <a:gd name="connsiteX0-37" fmla="*/ 1440160 w 1440160"/>
                <a:gd name="connsiteY0-38" fmla="*/ 164628 h 1444973"/>
                <a:gd name="connsiteX1-39" fmla="*/ 1440160 w 1440160"/>
                <a:gd name="connsiteY1-40" fmla="*/ 1285158 h 1444973"/>
                <a:gd name="connsiteX2-41" fmla="*/ 1280345 w 1440160"/>
                <a:gd name="connsiteY2-42" fmla="*/ 1444973 h 1444973"/>
                <a:gd name="connsiteX3-43" fmla="*/ 159815 w 1440160"/>
                <a:gd name="connsiteY3-44" fmla="*/ 1444973 h 1444973"/>
                <a:gd name="connsiteX4-45" fmla="*/ 0 w 1440160"/>
                <a:gd name="connsiteY4-46" fmla="*/ 1285158 h 1444973"/>
                <a:gd name="connsiteX5-47" fmla="*/ 0 w 1440160"/>
                <a:gd name="connsiteY5-48" fmla="*/ 164628 h 1444973"/>
                <a:gd name="connsiteX6-49" fmla="*/ 159815 w 1440160"/>
                <a:gd name="connsiteY6-50" fmla="*/ 4813 h 1444973"/>
                <a:gd name="connsiteX7-51" fmla="*/ 1093722 w 1440160"/>
                <a:gd name="connsiteY7-52" fmla="*/ 0 h 1444973"/>
                <a:gd name="connsiteX0-53" fmla="*/ 1440160 w 1440160"/>
                <a:gd name="connsiteY0-54" fmla="*/ 335744 h 1444973"/>
                <a:gd name="connsiteX1-55" fmla="*/ 1440160 w 1440160"/>
                <a:gd name="connsiteY1-56" fmla="*/ 1285158 h 1444973"/>
                <a:gd name="connsiteX2-57" fmla="*/ 1280345 w 1440160"/>
                <a:gd name="connsiteY2-58" fmla="*/ 1444973 h 1444973"/>
                <a:gd name="connsiteX3-59" fmla="*/ 159815 w 1440160"/>
                <a:gd name="connsiteY3-60" fmla="*/ 1444973 h 1444973"/>
                <a:gd name="connsiteX4-61" fmla="*/ 0 w 1440160"/>
                <a:gd name="connsiteY4-62" fmla="*/ 1285158 h 1444973"/>
                <a:gd name="connsiteX5-63" fmla="*/ 0 w 1440160"/>
                <a:gd name="connsiteY5-64" fmla="*/ 164628 h 1444973"/>
                <a:gd name="connsiteX6-65" fmla="*/ 159815 w 1440160"/>
                <a:gd name="connsiteY6-66" fmla="*/ 4813 h 1444973"/>
                <a:gd name="connsiteX7-67" fmla="*/ 1093722 w 1440160"/>
                <a:gd name="connsiteY7-68" fmla="*/ 0 h 1444973"/>
                <a:gd name="connsiteX0-69" fmla="*/ 1440160 w 1440160"/>
                <a:gd name="connsiteY0-70" fmla="*/ 451319 h 1444973"/>
                <a:gd name="connsiteX1-71" fmla="*/ 1440160 w 1440160"/>
                <a:gd name="connsiteY1-72" fmla="*/ 1285158 h 1444973"/>
                <a:gd name="connsiteX2-73" fmla="*/ 1280345 w 1440160"/>
                <a:gd name="connsiteY2-74" fmla="*/ 1444973 h 1444973"/>
                <a:gd name="connsiteX3-75" fmla="*/ 159815 w 1440160"/>
                <a:gd name="connsiteY3-76" fmla="*/ 1444973 h 1444973"/>
                <a:gd name="connsiteX4-77" fmla="*/ 0 w 1440160"/>
                <a:gd name="connsiteY4-78" fmla="*/ 1285158 h 1444973"/>
                <a:gd name="connsiteX5-79" fmla="*/ 0 w 1440160"/>
                <a:gd name="connsiteY5-80" fmla="*/ 164628 h 1444973"/>
                <a:gd name="connsiteX6-81" fmla="*/ 159815 w 1440160"/>
                <a:gd name="connsiteY6-82" fmla="*/ 4813 h 1444973"/>
                <a:gd name="connsiteX7-83" fmla="*/ 1093722 w 1440160"/>
                <a:gd name="connsiteY7-84" fmla="*/ 0 h 1444973"/>
                <a:gd name="connsiteX0-85" fmla="*/ 1440160 w 1440160"/>
                <a:gd name="connsiteY0-86" fmla="*/ 447920 h 1441574"/>
                <a:gd name="connsiteX1-87" fmla="*/ 1440160 w 1440160"/>
                <a:gd name="connsiteY1-88" fmla="*/ 1281759 h 1441574"/>
                <a:gd name="connsiteX2-89" fmla="*/ 1280345 w 1440160"/>
                <a:gd name="connsiteY2-90" fmla="*/ 1441574 h 1441574"/>
                <a:gd name="connsiteX3-91" fmla="*/ 159815 w 1440160"/>
                <a:gd name="connsiteY3-92" fmla="*/ 1441574 h 1441574"/>
                <a:gd name="connsiteX4-93" fmla="*/ 0 w 1440160"/>
                <a:gd name="connsiteY4-94" fmla="*/ 1281759 h 1441574"/>
                <a:gd name="connsiteX5-95" fmla="*/ 0 w 1440160"/>
                <a:gd name="connsiteY5-96" fmla="*/ 161229 h 1441574"/>
                <a:gd name="connsiteX6-97" fmla="*/ 159815 w 1440160"/>
                <a:gd name="connsiteY6-98" fmla="*/ 1414 h 1441574"/>
                <a:gd name="connsiteX7-99" fmla="*/ 899965 w 1440160"/>
                <a:gd name="connsiteY7-100" fmla="*/ 0 h 144157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440160" h="1441574">
                  <a:moveTo>
                    <a:pt x="1440160" y="447920"/>
                  </a:moveTo>
                  <a:lnTo>
                    <a:pt x="1440160" y="1281759"/>
                  </a:lnTo>
                  <a:cubicBezTo>
                    <a:pt x="1440160" y="1370022"/>
                    <a:pt x="1368608" y="1441574"/>
                    <a:pt x="1280345" y="1441574"/>
                  </a:cubicBezTo>
                  <a:lnTo>
                    <a:pt x="159815" y="1441574"/>
                  </a:lnTo>
                  <a:cubicBezTo>
                    <a:pt x="71552" y="1441574"/>
                    <a:pt x="0" y="1370022"/>
                    <a:pt x="0" y="1281759"/>
                  </a:cubicBezTo>
                  <a:lnTo>
                    <a:pt x="0" y="161229"/>
                  </a:lnTo>
                  <a:cubicBezTo>
                    <a:pt x="0" y="72966"/>
                    <a:pt x="71552" y="1414"/>
                    <a:pt x="159815" y="1414"/>
                  </a:cubicBezTo>
                  <a:lnTo>
                    <a:pt x="899965" y="0"/>
                  </a:lnTo>
                </a:path>
              </a:pathLst>
            </a:custGeom>
            <a:noFill/>
            <a:ln w="28575" cap="flat" cmpd="sng" algn="ctr">
              <a:solidFill>
                <a:srgbClr val="FDFAEB"/>
              </a:solid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grpSp>
          <p:nvGrpSpPr>
            <p:cNvPr id="31" name="组合 57"/>
            <p:cNvGrpSpPr/>
            <p:nvPr/>
          </p:nvGrpSpPr>
          <p:grpSpPr bwMode="auto">
            <a:xfrm>
              <a:off x="7797801" y="2605520"/>
              <a:ext cx="337216" cy="180615"/>
              <a:chOff x="-107275" y="2268435"/>
              <a:chExt cx="3626170" cy="1967066"/>
            </a:xfrm>
            <a:solidFill>
              <a:srgbClr val="FFBD0F"/>
            </a:solidFill>
          </p:grpSpPr>
          <p:sp>
            <p:nvSpPr>
              <p:cNvPr id="32" name="圆角矩形 31"/>
              <p:cNvSpPr/>
              <p:nvPr/>
            </p:nvSpPr>
            <p:spPr>
              <a:xfrm>
                <a:off x="2545543" y="2268435"/>
                <a:ext cx="720080" cy="180001"/>
              </a:xfrm>
              <a:prstGeom prst="roundRect">
                <a:avLst>
                  <a:gd name="adj" fmla="val 50000"/>
                </a:avLst>
              </a:prstGeom>
              <a:solidFill>
                <a:srgbClr val="FDFAEB"/>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33" name="圆角矩形 32"/>
              <p:cNvSpPr/>
              <p:nvPr/>
            </p:nvSpPr>
            <p:spPr>
              <a:xfrm rot="16200000">
                <a:off x="2851566" y="2538475"/>
                <a:ext cx="720081" cy="180001"/>
              </a:xfrm>
              <a:prstGeom prst="roundRect">
                <a:avLst>
                  <a:gd name="adj" fmla="val 50000"/>
                </a:avLst>
              </a:prstGeom>
              <a:solidFill>
                <a:srgbClr val="FDFAEB"/>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34" name="圆角矩形 33"/>
              <p:cNvSpPr/>
              <p:nvPr/>
            </p:nvSpPr>
            <p:spPr>
              <a:xfrm rot="19014498">
                <a:off x="1203055" y="3054527"/>
                <a:ext cx="2315840" cy="180001"/>
              </a:xfrm>
              <a:prstGeom prst="roundRect">
                <a:avLst>
                  <a:gd name="adj" fmla="val 50000"/>
                </a:avLst>
              </a:prstGeom>
              <a:solidFill>
                <a:srgbClr val="FDFAEB"/>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35" name="圆角矩形 34"/>
              <p:cNvSpPr/>
              <p:nvPr/>
            </p:nvSpPr>
            <p:spPr>
              <a:xfrm rot="13607437">
                <a:off x="1184230" y="3641027"/>
                <a:ext cx="539349" cy="180001"/>
              </a:xfrm>
              <a:prstGeom prst="roundRect">
                <a:avLst>
                  <a:gd name="adj" fmla="val 50000"/>
                </a:avLst>
              </a:prstGeom>
              <a:solidFill>
                <a:srgbClr val="FDFAEB"/>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sp>
            <p:nvSpPr>
              <p:cNvPr id="36" name="圆角矩形 35"/>
              <p:cNvSpPr/>
              <p:nvPr/>
            </p:nvSpPr>
            <p:spPr>
              <a:xfrm rot="19014498">
                <a:off x="-107275" y="4055500"/>
                <a:ext cx="1714506" cy="180001"/>
              </a:xfrm>
              <a:prstGeom prst="roundRect">
                <a:avLst>
                  <a:gd name="adj" fmla="val 50000"/>
                </a:avLst>
              </a:prstGeom>
              <a:solidFill>
                <a:srgbClr val="FDFAEB"/>
              </a:solidFill>
              <a:ln w="25400" cap="flat" cmpd="sng" algn="ctr">
                <a:noFill/>
                <a:prstDash val="solid"/>
              </a:ln>
              <a:effectLst/>
            </p:spPr>
            <p:txBody>
              <a:bodyPr anchor="ctr"/>
              <a:lstStyle/>
              <a:p>
                <a:pPr algn="ctr" fontAlgn="auto">
                  <a:spcBef>
                    <a:spcPts val="0"/>
                  </a:spcBef>
                  <a:spcAft>
                    <a:spcPts val="0"/>
                  </a:spcAft>
                  <a:defRPr/>
                </a:pPr>
                <a:endParaRPr lang="zh-CN" altLang="en-US" kern="0">
                  <a:solidFill>
                    <a:sysClr val="window" lastClr="FFFFFF"/>
                  </a:solidFill>
                  <a:effectLst/>
                  <a:latin typeface="Arial" panose="020B0604020202020204"/>
                  <a:ea typeface="微软雅黑" panose="020B0503020204020204" charset="-122"/>
                  <a:sym typeface="Arial" panose="020B0604020202020204"/>
                </a:endParaRPr>
              </a:p>
            </p:txBody>
          </p:sp>
        </p:grpSp>
      </p:grpSp>
      <p:sp>
        <p:nvSpPr>
          <p:cNvPr id="37" name="矩形 36"/>
          <p:cNvSpPr/>
          <p:nvPr/>
        </p:nvSpPr>
        <p:spPr>
          <a:xfrm>
            <a:off x="609602" y="3569132"/>
            <a:ext cx="2451654" cy="2677656"/>
          </a:xfrm>
          <a:prstGeom prst="rect">
            <a:avLst/>
          </a:prstGeom>
        </p:spPr>
        <p:txBody>
          <a:bodyPr wrap="square">
            <a:spAutoFit/>
          </a:bodyPr>
          <a:lstStyle/>
          <a:p>
            <a:pPr>
              <a:lnSpc>
                <a:spcPct val="150000"/>
              </a:lnSpc>
              <a:defRPr/>
            </a:pPr>
            <a:r>
              <a:rPr lang="zh-CN" altLang="en-US" sz="1400" b="1" dirty="0">
                <a:latin typeface="Arial" panose="020B0604020202020204"/>
                <a:ea typeface="微软雅黑" panose="020B0503020204020204" charset="-122"/>
                <a:sym typeface="Arial" panose="020B0604020202020204"/>
              </a:rPr>
              <a:t>（</a:t>
            </a:r>
            <a:r>
              <a:rPr lang="en-US" altLang="zh-CN" sz="1400" b="1" dirty="0">
                <a:latin typeface="Arial" panose="020B0604020202020204"/>
                <a:ea typeface="微软雅黑" panose="020B0503020204020204" charset="-122"/>
                <a:sym typeface="Arial" panose="020B0604020202020204"/>
              </a:rPr>
              <a:t>1</a:t>
            </a:r>
            <a:r>
              <a:rPr lang="zh-CN" altLang="en-US" sz="1400" b="1" dirty="0">
                <a:latin typeface="Arial" panose="020B0604020202020204"/>
                <a:ea typeface="微软雅黑" panose="020B0503020204020204" charset="-122"/>
                <a:sym typeface="Arial" panose="020B0604020202020204"/>
              </a:rPr>
              <a:t>）专营店降为代理点</a:t>
            </a:r>
          </a:p>
          <a:p>
            <a:pPr marL="171450" indent="-171450">
              <a:lnSpc>
                <a:spcPct val="150000"/>
              </a:lnSpc>
              <a:buClr>
                <a:srgbClr val="FF7619"/>
              </a:buClr>
              <a:buFont typeface="Wingdings" panose="05000000000000000000" pitchFamily="2" charset="2"/>
              <a:buChar char="l"/>
              <a:defRPr/>
            </a:pPr>
            <a:r>
              <a:rPr lang="zh-CN" altLang="en-US" sz="1200" dirty="0">
                <a:latin typeface="Arial" panose="020B0604020202020204"/>
                <a:ea typeface="微软雅黑" panose="020B0503020204020204" charset="-122"/>
                <a:sym typeface="Arial" panose="020B0604020202020204"/>
              </a:rPr>
              <a:t>专营店降为代理点后，应收回代理合同中协定的装修补贴等补贴，请渠道运营中心牵头，核实这</a:t>
            </a:r>
            <a:r>
              <a:rPr lang="en-US" altLang="zh-CN" sz="1200" dirty="0">
                <a:latin typeface="Arial" panose="020B0604020202020204"/>
                <a:ea typeface="微软雅黑" panose="020B0503020204020204" charset="-122"/>
                <a:sym typeface="Arial" panose="020B0604020202020204"/>
              </a:rPr>
              <a:t>5</a:t>
            </a:r>
            <a:r>
              <a:rPr lang="zh-CN" altLang="en-US" sz="1200" dirty="0">
                <a:latin typeface="Arial" panose="020B0604020202020204"/>
                <a:ea typeface="微软雅黑" panose="020B0503020204020204" charset="-122"/>
                <a:sym typeface="Arial" panose="020B0604020202020204"/>
              </a:rPr>
              <a:t>家降为代理点的专营店的合同信息，及发放的装修补贴等信息，统计建立专营店所享受的所有补贴，并通知代理商缴回处理。</a:t>
            </a:r>
          </a:p>
        </p:txBody>
      </p:sp>
      <p:sp>
        <p:nvSpPr>
          <p:cNvPr id="38" name="矩形 37"/>
          <p:cNvSpPr/>
          <p:nvPr/>
        </p:nvSpPr>
        <p:spPr>
          <a:xfrm>
            <a:off x="3115962" y="3569132"/>
            <a:ext cx="2675239" cy="2954655"/>
          </a:xfrm>
          <a:prstGeom prst="rect">
            <a:avLst/>
          </a:prstGeom>
        </p:spPr>
        <p:txBody>
          <a:bodyPr wrap="square">
            <a:spAutoFit/>
          </a:bodyPr>
          <a:lstStyle/>
          <a:p>
            <a:pPr>
              <a:lnSpc>
                <a:spcPct val="150000"/>
              </a:lnSpc>
              <a:defRPr/>
            </a:pPr>
            <a:r>
              <a:rPr lang="zh-CN" altLang="en-US" sz="1400" b="1" dirty="0">
                <a:latin typeface="Arial" panose="020B0604020202020204"/>
                <a:ea typeface="微软雅黑" panose="020B0503020204020204" charset="-122"/>
                <a:sym typeface="Arial" panose="020B0604020202020204"/>
              </a:rPr>
              <a:t>（</a:t>
            </a:r>
            <a:r>
              <a:rPr lang="en-US" altLang="zh-CN" sz="1400" b="1" dirty="0">
                <a:latin typeface="Arial" panose="020B0604020202020204"/>
                <a:ea typeface="微软雅黑" panose="020B0503020204020204" charset="-122"/>
                <a:sym typeface="Arial" panose="020B0604020202020204"/>
              </a:rPr>
              <a:t>2</a:t>
            </a:r>
            <a:r>
              <a:rPr lang="zh-CN" altLang="en-US" sz="1400" b="1" dirty="0">
                <a:latin typeface="Arial" panose="020B0604020202020204"/>
                <a:ea typeface="微软雅黑" panose="020B0503020204020204" charset="-122"/>
                <a:sym typeface="Arial" panose="020B0604020202020204"/>
              </a:rPr>
              <a:t>）系统中显示已退款</a:t>
            </a:r>
          </a:p>
          <a:p>
            <a:pPr marL="171450" indent="-171450">
              <a:lnSpc>
                <a:spcPct val="150000"/>
              </a:lnSpc>
              <a:buClr>
                <a:srgbClr val="FF7619"/>
              </a:buClr>
              <a:buFont typeface="Wingdings" panose="05000000000000000000" pitchFamily="2" charset="2"/>
              <a:buChar char="l"/>
              <a:defRPr/>
            </a:pPr>
            <a:r>
              <a:rPr lang="zh-CN" altLang="en-US" sz="1200" dirty="0">
                <a:latin typeface="Arial" panose="020B0604020202020204"/>
                <a:ea typeface="微软雅黑" panose="020B0503020204020204" charset="-122"/>
                <a:sym typeface="Arial" panose="020B0604020202020204"/>
              </a:rPr>
              <a:t>经查，根据代理商上报的信息筛查系统受理情况，有</a:t>
            </a:r>
            <a:r>
              <a:rPr lang="en-US" altLang="zh-CN" sz="1200" dirty="0">
                <a:latin typeface="Arial" panose="020B0604020202020204"/>
                <a:ea typeface="微软雅黑" panose="020B0503020204020204" charset="-122"/>
                <a:sym typeface="Arial" panose="020B0604020202020204"/>
              </a:rPr>
              <a:t>8</a:t>
            </a:r>
            <a:r>
              <a:rPr lang="zh-CN" altLang="en-US" sz="1200" dirty="0">
                <a:latin typeface="Arial" panose="020B0604020202020204"/>
                <a:ea typeface="微软雅黑" panose="020B0503020204020204" charset="-122"/>
                <a:sym typeface="Arial" panose="020B0604020202020204"/>
              </a:rPr>
              <a:t>家系统中显示已退款，且有</a:t>
            </a:r>
            <a:r>
              <a:rPr lang="en-US" altLang="zh-CN" sz="1200" dirty="0">
                <a:latin typeface="Arial" panose="020B0604020202020204"/>
                <a:ea typeface="微软雅黑" panose="020B0503020204020204" charset="-122"/>
                <a:sym typeface="Arial" panose="020B0604020202020204"/>
              </a:rPr>
              <a:t>2</a:t>
            </a:r>
            <a:r>
              <a:rPr lang="zh-CN" altLang="en-US" sz="1200" dirty="0">
                <a:latin typeface="Arial" panose="020B0604020202020204"/>
                <a:ea typeface="微软雅黑" panose="020B0503020204020204" charset="-122"/>
                <a:sym typeface="Arial" panose="020B0604020202020204"/>
              </a:rPr>
              <a:t>家代理商仍持有押金单。</a:t>
            </a:r>
          </a:p>
          <a:p>
            <a:pPr marL="171450" indent="-171450">
              <a:lnSpc>
                <a:spcPct val="150000"/>
              </a:lnSpc>
              <a:buClr>
                <a:srgbClr val="FF7619"/>
              </a:buClr>
              <a:buFont typeface="Wingdings" panose="05000000000000000000" pitchFamily="2" charset="2"/>
              <a:buChar char="l"/>
              <a:defRPr/>
            </a:pPr>
            <a:r>
              <a:rPr lang="zh-CN" altLang="en-US" sz="1200" dirty="0">
                <a:latin typeface="Arial" panose="020B0604020202020204"/>
                <a:ea typeface="微软雅黑" panose="020B0503020204020204" charset="-122"/>
                <a:sym typeface="Arial" panose="020B0604020202020204"/>
              </a:rPr>
              <a:t>请业务支撑中心进一步稽核这部分押金退款的受理流程，审批手续是否齐全，是否存在押金错退的情形；并请渠道运营中心核实后，通知代理商补缴保证金。</a:t>
            </a:r>
          </a:p>
        </p:txBody>
      </p:sp>
      <p:sp>
        <p:nvSpPr>
          <p:cNvPr id="39" name="矩形 38"/>
          <p:cNvSpPr/>
          <p:nvPr/>
        </p:nvSpPr>
        <p:spPr>
          <a:xfrm>
            <a:off x="5841436" y="3569132"/>
            <a:ext cx="3368828" cy="2400657"/>
          </a:xfrm>
          <a:prstGeom prst="rect">
            <a:avLst/>
          </a:prstGeom>
        </p:spPr>
        <p:txBody>
          <a:bodyPr wrap="square">
            <a:spAutoFit/>
          </a:bodyPr>
          <a:lstStyle/>
          <a:p>
            <a:pPr>
              <a:lnSpc>
                <a:spcPct val="150000"/>
              </a:lnSpc>
              <a:defRPr/>
            </a:pPr>
            <a:r>
              <a:rPr lang="zh-CN" altLang="en-US" sz="1400" b="1" dirty="0">
                <a:latin typeface="Arial" panose="020B0604020202020204"/>
                <a:ea typeface="微软雅黑" panose="020B0503020204020204" charset="-122"/>
                <a:sym typeface="Arial" panose="020B0604020202020204"/>
              </a:rPr>
              <a:t>（</a:t>
            </a:r>
            <a:r>
              <a:rPr lang="en-US" altLang="zh-CN" sz="1400" b="1" dirty="0">
                <a:latin typeface="Arial" panose="020B0604020202020204"/>
                <a:ea typeface="微软雅黑" panose="020B0503020204020204" charset="-122"/>
                <a:sym typeface="Arial" panose="020B0604020202020204"/>
              </a:rPr>
              <a:t>3</a:t>
            </a:r>
            <a:r>
              <a:rPr lang="zh-CN" altLang="en-US" sz="1400" b="1" dirty="0">
                <a:latin typeface="Arial" panose="020B0604020202020204"/>
                <a:ea typeface="微软雅黑" panose="020B0503020204020204" charset="-122"/>
                <a:sym typeface="Arial" panose="020B0604020202020204"/>
              </a:rPr>
              <a:t>）房租、补贴等置换为代办押金</a:t>
            </a:r>
          </a:p>
          <a:p>
            <a:pPr marL="171450" indent="-171450">
              <a:lnSpc>
                <a:spcPct val="150000"/>
              </a:lnSpc>
              <a:buClr>
                <a:srgbClr val="FF7619"/>
              </a:buClr>
              <a:buFont typeface="Wingdings" panose="05000000000000000000" pitchFamily="2" charset="2"/>
              <a:buChar char="l"/>
              <a:defRPr/>
            </a:pPr>
            <a:r>
              <a:rPr lang="zh-CN" altLang="en-US" sz="1200" dirty="0">
                <a:latin typeface="Arial" panose="020B0604020202020204"/>
                <a:ea typeface="微软雅黑" panose="020B0503020204020204" charset="-122"/>
                <a:sym typeface="Arial" panose="020B0604020202020204"/>
              </a:rPr>
              <a:t>对于房租、补贴等置换为代办押金的情形，建议新签合同取消此项条款，避免后续查账的麻烦。而这</a:t>
            </a:r>
            <a:r>
              <a:rPr lang="en-US" altLang="zh-CN" sz="1200" dirty="0">
                <a:latin typeface="Arial" panose="020B0604020202020204"/>
                <a:ea typeface="微软雅黑" panose="020B0503020204020204" charset="-122"/>
                <a:sym typeface="Arial" panose="020B0604020202020204"/>
              </a:rPr>
              <a:t>7</a:t>
            </a:r>
            <a:r>
              <a:rPr lang="zh-CN" altLang="en-US" sz="1200" dirty="0">
                <a:latin typeface="Arial" panose="020B0604020202020204"/>
                <a:ea typeface="微软雅黑" panose="020B0503020204020204" charset="-122"/>
                <a:sym typeface="Arial" panose="020B0604020202020204"/>
              </a:rPr>
              <a:t>家历史的置换押金的代理商，请渠道运营中心核实后，做好台帐备查，包括应付房租、应发补贴等金额，并受理到押金管理系统中，以系统管理为主，台帐管理为辅，以免后续产生争议。</a:t>
            </a:r>
          </a:p>
        </p:txBody>
      </p:sp>
      <p:sp>
        <p:nvSpPr>
          <p:cNvPr id="40" name="矩形 39"/>
          <p:cNvSpPr/>
          <p:nvPr/>
        </p:nvSpPr>
        <p:spPr>
          <a:xfrm>
            <a:off x="9187455" y="3569132"/>
            <a:ext cx="2686492" cy="2677656"/>
          </a:xfrm>
          <a:prstGeom prst="rect">
            <a:avLst/>
          </a:prstGeom>
        </p:spPr>
        <p:txBody>
          <a:bodyPr wrap="square">
            <a:spAutoFit/>
          </a:bodyPr>
          <a:lstStyle/>
          <a:p>
            <a:pPr>
              <a:lnSpc>
                <a:spcPct val="150000"/>
              </a:lnSpc>
              <a:defRPr/>
            </a:pPr>
            <a:r>
              <a:rPr lang="zh-CN" altLang="en-US" sz="1400" b="1" dirty="0">
                <a:latin typeface="Arial" panose="020B0604020202020204"/>
                <a:ea typeface="微软雅黑" panose="020B0503020204020204" charset="-122"/>
                <a:sym typeface="Arial" panose="020B0604020202020204"/>
              </a:rPr>
              <a:t>（</a:t>
            </a:r>
            <a:r>
              <a:rPr lang="en-US" altLang="zh-CN" sz="1400" b="1" dirty="0">
                <a:latin typeface="Arial" panose="020B0604020202020204"/>
                <a:ea typeface="微软雅黑" panose="020B0503020204020204" charset="-122"/>
                <a:sym typeface="Arial" panose="020B0604020202020204"/>
              </a:rPr>
              <a:t>4</a:t>
            </a:r>
            <a:r>
              <a:rPr lang="zh-CN" altLang="en-US" sz="1400" b="1" dirty="0">
                <a:latin typeface="Arial" panose="020B0604020202020204"/>
                <a:ea typeface="微软雅黑" panose="020B0503020204020204" charset="-122"/>
                <a:sym typeface="Arial" panose="020B0604020202020204"/>
              </a:rPr>
              <a:t>）代理商信息维护系统</a:t>
            </a:r>
          </a:p>
          <a:p>
            <a:pPr marL="171450" indent="-171450">
              <a:lnSpc>
                <a:spcPct val="150000"/>
              </a:lnSpc>
              <a:buClr>
                <a:srgbClr val="FF7619"/>
              </a:buClr>
              <a:buFont typeface="Wingdings" panose="05000000000000000000" pitchFamily="2" charset="2"/>
              <a:buChar char="l"/>
              <a:defRPr/>
            </a:pPr>
            <a:r>
              <a:rPr lang="zh-CN" altLang="en-US" sz="1200" dirty="0">
                <a:latin typeface="Arial" panose="020B0604020202020204"/>
                <a:ea typeface="微软雅黑" panose="020B0503020204020204" charset="-122"/>
                <a:sym typeface="Arial" panose="020B0604020202020204"/>
              </a:rPr>
              <a:t>建议渠道运营中心牵头，各县区渠道配合，梳理所有专营店的合同约定保证金等信息，并根据稽核的结果，核实是否已缴足保证金，并做好台帐备查，将信息更新到单点的代理商信息维护系统中，并确保系统数据的更新维护，以备保证金对账之用。</a:t>
            </a:r>
          </a:p>
        </p:txBody>
      </p:sp>
      <p:sp>
        <p:nvSpPr>
          <p:cNvPr id="41" name="任意多边形 40"/>
          <p:cNvSpPr/>
          <p:nvPr/>
        </p:nvSpPr>
        <p:spPr bwMode="auto">
          <a:xfrm>
            <a:off x="2280148" y="3088976"/>
            <a:ext cx="299472" cy="372139"/>
          </a:xfrm>
          <a:custGeom>
            <a:avLst/>
            <a:gdLst>
              <a:gd name="connsiteX0" fmla="*/ 0 w 299472"/>
              <a:gd name="connsiteY0" fmla="*/ 0 h 372139"/>
              <a:gd name="connsiteX1" fmla="*/ 265814 w 299472"/>
              <a:gd name="connsiteY1" fmla="*/ 106325 h 372139"/>
              <a:gd name="connsiteX2" fmla="*/ 287079 w 299472"/>
              <a:gd name="connsiteY2" fmla="*/ 372139 h 372139"/>
            </a:gdLst>
            <a:ahLst/>
            <a:cxnLst>
              <a:cxn ang="0">
                <a:pos x="connsiteX0" y="connsiteY0"/>
              </a:cxn>
              <a:cxn ang="0">
                <a:pos x="connsiteX1" y="connsiteY1"/>
              </a:cxn>
              <a:cxn ang="0">
                <a:pos x="connsiteX2" y="connsiteY2"/>
              </a:cxn>
            </a:cxnLst>
            <a:rect l="l" t="t" r="r" b="b"/>
            <a:pathLst>
              <a:path w="299472" h="372139">
                <a:moveTo>
                  <a:pt x="0" y="0"/>
                </a:moveTo>
                <a:cubicBezTo>
                  <a:pt x="108984" y="22151"/>
                  <a:pt x="217968" y="44302"/>
                  <a:pt x="265814" y="106325"/>
                </a:cubicBezTo>
                <a:cubicBezTo>
                  <a:pt x="313661" y="168348"/>
                  <a:pt x="300370" y="270243"/>
                  <a:pt x="287079" y="372139"/>
                </a:cubicBezTo>
              </a:path>
            </a:pathLst>
          </a:cu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2" name="任意多边形 41"/>
          <p:cNvSpPr/>
          <p:nvPr/>
        </p:nvSpPr>
        <p:spPr bwMode="auto">
          <a:xfrm>
            <a:off x="4693050" y="3088976"/>
            <a:ext cx="299472" cy="372139"/>
          </a:xfrm>
          <a:custGeom>
            <a:avLst/>
            <a:gdLst>
              <a:gd name="connsiteX0" fmla="*/ 0 w 299472"/>
              <a:gd name="connsiteY0" fmla="*/ 0 h 372139"/>
              <a:gd name="connsiteX1" fmla="*/ 265814 w 299472"/>
              <a:gd name="connsiteY1" fmla="*/ 106325 h 372139"/>
              <a:gd name="connsiteX2" fmla="*/ 287079 w 299472"/>
              <a:gd name="connsiteY2" fmla="*/ 372139 h 372139"/>
            </a:gdLst>
            <a:ahLst/>
            <a:cxnLst>
              <a:cxn ang="0">
                <a:pos x="connsiteX0" y="connsiteY0"/>
              </a:cxn>
              <a:cxn ang="0">
                <a:pos x="connsiteX1" y="connsiteY1"/>
              </a:cxn>
              <a:cxn ang="0">
                <a:pos x="connsiteX2" y="connsiteY2"/>
              </a:cxn>
            </a:cxnLst>
            <a:rect l="l" t="t" r="r" b="b"/>
            <a:pathLst>
              <a:path w="299472" h="372139">
                <a:moveTo>
                  <a:pt x="0" y="0"/>
                </a:moveTo>
                <a:cubicBezTo>
                  <a:pt x="108984" y="22151"/>
                  <a:pt x="217968" y="44302"/>
                  <a:pt x="265814" y="106325"/>
                </a:cubicBezTo>
                <a:cubicBezTo>
                  <a:pt x="313661" y="168348"/>
                  <a:pt x="300370" y="270243"/>
                  <a:pt x="287079" y="372139"/>
                </a:cubicBezTo>
              </a:path>
            </a:pathLst>
          </a:cu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3" name="任意多边形 42"/>
          <p:cNvSpPr/>
          <p:nvPr/>
        </p:nvSpPr>
        <p:spPr bwMode="auto">
          <a:xfrm>
            <a:off x="7523037" y="3088976"/>
            <a:ext cx="299472" cy="372139"/>
          </a:xfrm>
          <a:custGeom>
            <a:avLst/>
            <a:gdLst>
              <a:gd name="connsiteX0" fmla="*/ 0 w 299472"/>
              <a:gd name="connsiteY0" fmla="*/ 0 h 372139"/>
              <a:gd name="connsiteX1" fmla="*/ 265814 w 299472"/>
              <a:gd name="connsiteY1" fmla="*/ 106325 h 372139"/>
              <a:gd name="connsiteX2" fmla="*/ 287079 w 299472"/>
              <a:gd name="connsiteY2" fmla="*/ 372139 h 372139"/>
            </a:gdLst>
            <a:ahLst/>
            <a:cxnLst>
              <a:cxn ang="0">
                <a:pos x="connsiteX0" y="connsiteY0"/>
              </a:cxn>
              <a:cxn ang="0">
                <a:pos x="connsiteX1" y="connsiteY1"/>
              </a:cxn>
              <a:cxn ang="0">
                <a:pos x="connsiteX2" y="connsiteY2"/>
              </a:cxn>
            </a:cxnLst>
            <a:rect l="l" t="t" r="r" b="b"/>
            <a:pathLst>
              <a:path w="299472" h="372139">
                <a:moveTo>
                  <a:pt x="0" y="0"/>
                </a:moveTo>
                <a:cubicBezTo>
                  <a:pt x="108984" y="22151"/>
                  <a:pt x="217968" y="44302"/>
                  <a:pt x="265814" y="106325"/>
                </a:cubicBezTo>
                <a:cubicBezTo>
                  <a:pt x="313661" y="168348"/>
                  <a:pt x="300370" y="270243"/>
                  <a:pt x="287079" y="372139"/>
                </a:cubicBezTo>
              </a:path>
            </a:pathLst>
          </a:cu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4" name="任意多边形 43"/>
          <p:cNvSpPr/>
          <p:nvPr/>
        </p:nvSpPr>
        <p:spPr bwMode="auto">
          <a:xfrm>
            <a:off x="10726716" y="3088976"/>
            <a:ext cx="299472" cy="372139"/>
          </a:xfrm>
          <a:custGeom>
            <a:avLst/>
            <a:gdLst>
              <a:gd name="connsiteX0" fmla="*/ 0 w 299472"/>
              <a:gd name="connsiteY0" fmla="*/ 0 h 372139"/>
              <a:gd name="connsiteX1" fmla="*/ 265814 w 299472"/>
              <a:gd name="connsiteY1" fmla="*/ 106325 h 372139"/>
              <a:gd name="connsiteX2" fmla="*/ 287079 w 299472"/>
              <a:gd name="connsiteY2" fmla="*/ 372139 h 372139"/>
            </a:gdLst>
            <a:ahLst/>
            <a:cxnLst>
              <a:cxn ang="0">
                <a:pos x="connsiteX0" y="connsiteY0"/>
              </a:cxn>
              <a:cxn ang="0">
                <a:pos x="connsiteX1" y="connsiteY1"/>
              </a:cxn>
              <a:cxn ang="0">
                <a:pos x="connsiteX2" y="connsiteY2"/>
              </a:cxn>
            </a:cxnLst>
            <a:rect l="l" t="t" r="r" b="b"/>
            <a:pathLst>
              <a:path w="299472" h="372139">
                <a:moveTo>
                  <a:pt x="0" y="0"/>
                </a:moveTo>
                <a:cubicBezTo>
                  <a:pt x="108984" y="22151"/>
                  <a:pt x="217968" y="44302"/>
                  <a:pt x="265814" y="106325"/>
                </a:cubicBezTo>
                <a:cubicBezTo>
                  <a:pt x="313661" y="168348"/>
                  <a:pt x="300370" y="270243"/>
                  <a:pt x="287079" y="372139"/>
                </a:cubicBezTo>
              </a:path>
            </a:pathLst>
          </a:custGeom>
          <a:noFill/>
          <a:ln w="28575" cap="flat" cmpd="sng" algn="ctr">
            <a:solidFill>
              <a:srgbClr val="C00000"/>
            </a:solidFill>
            <a:prstDash val="solid"/>
            <a:round/>
            <a:headEnd type="none" w="med" len="med"/>
            <a:tailEnd type="none" w="med" len="med"/>
          </a:ln>
          <a:effectLst/>
        </p:spPr>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45" name="椭圆 44"/>
          <p:cNvSpPr/>
          <p:nvPr/>
        </p:nvSpPr>
        <p:spPr bwMode="auto">
          <a:xfrm>
            <a:off x="2515822" y="3439849"/>
            <a:ext cx="108000" cy="108000"/>
          </a:xfrm>
          <a:prstGeom prst="ellipse">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46" name="椭圆 45"/>
          <p:cNvSpPr/>
          <p:nvPr/>
        </p:nvSpPr>
        <p:spPr bwMode="auto">
          <a:xfrm>
            <a:off x="10968180" y="3407115"/>
            <a:ext cx="108000" cy="108000"/>
          </a:xfrm>
          <a:prstGeom prst="ellipse">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47" name="椭圆 46"/>
          <p:cNvSpPr/>
          <p:nvPr/>
        </p:nvSpPr>
        <p:spPr bwMode="auto">
          <a:xfrm>
            <a:off x="7760709" y="3419026"/>
            <a:ext cx="108000" cy="108000"/>
          </a:xfrm>
          <a:prstGeom prst="ellipse">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48" name="椭圆 47"/>
          <p:cNvSpPr/>
          <p:nvPr/>
        </p:nvSpPr>
        <p:spPr bwMode="auto">
          <a:xfrm>
            <a:off x="5033905" y="3439849"/>
            <a:ext cx="108000" cy="108000"/>
          </a:xfrm>
          <a:prstGeom prst="ellipse">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outerShdw blurRad="38100" dist="38100" dir="2700000" algn="tl">
                  <a:srgbClr val="000000">
                    <a:alpha val="43137"/>
                  </a:srgbClr>
                </a:outerShdw>
              </a:effectLst>
              <a:latin typeface="Arial" panose="020B0604020202020204"/>
              <a:ea typeface="微软雅黑" panose="020B0503020204020204" charset="-122"/>
              <a:sym typeface="Arial" panose="020B0604020202020204"/>
            </a:endParaRPr>
          </a:p>
        </p:txBody>
      </p:sp>
      <p:sp>
        <p:nvSpPr>
          <p:cNvPr id="49" name="文本框 48"/>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1500"/>
                                  </p:stCondLst>
                                  <p:childTnLst>
                                    <p:animEffect transition="out" filter="fade">
                                      <p:cBhvr>
                                        <p:cTn id="6" dur="500"/>
                                        <p:tgtEl>
                                          <p:spTgt spid="49"/>
                                        </p:tgtEl>
                                      </p:cBhvr>
                                    </p:animEffect>
                                    <p:set>
                                      <p:cBhvr>
                                        <p:cTn id="7" dur="1" fill="hold">
                                          <p:stCondLst>
                                            <p:cond delay="499"/>
                                          </p:stCondLst>
                                        </p:cTn>
                                        <p:tgtEl>
                                          <p:spTgt spid="4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anim calcmode="lin" valueType="num">
                                      <p:cBhvr>
                                        <p:cTn id="25" dur="500" fill="hold"/>
                                        <p:tgtEl>
                                          <p:spTgt spid="5"/>
                                        </p:tgtEl>
                                        <p:attrNameLst>
                                          <p:attrName>ppt_x</p:attrName>
                                        </p:attrNameLst>
                                      </p:cBhvr>
                                      <p:tavLst>
                                        <p:tav tm="0">
                                          <p:val>
                                            <p:strVal val="#ppt_x"/>
                                          </p:val>
                                        </p:tav>
                                        <p:tav tm="100000">
                                          <p:val>
                                            <p:strVal val="#ppt_x"/>
                                          </p:val>
                                        </p:tav>
                                      </p:tavLst>
                                    </p:anim>
                                    <p:anim calcmode="lin" valueType="num">
                                      <p:cBhvr>
                                        <p:cTn id="26" dur="500" fill="hold"/>
                                        <p:tgtEl>
                                          <p:spTgt spid="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anim calcmode="lin" valueType="num">
                                      <p:cBhvr>
                                        <p:cTn id="30" dur="500" fill="hold"/>
                                        <p:tgtEl>
                                          <p:spTgt spid="37"/>
                                        </p:tgtEl>
                                        <p:attrNameLst>
                                          <p:attrName>ppt_x</p:attrName>
                                        </p:attrNameLst>
                                      </p:cBhvr>
                                      <p:tavLst>
                                        <p:tav tm="0">
                                          <p:val>
                                            <p:strVal val="#ppt_x"/>
                                          </p:val>
                                        </p:tav>
                                        <p:tav tm="100000">
                                          <p:val>
                                            <p:strVal val="#ppt_x"/>
                                          </p:val>
                                        </p:tav>
                                      </p:tavLst>
                                    </p:anim>
                                    <p:anim calcmode="lin" valueType="num">
                                      <p:cBhvr>
                                        <p:cTn id="31" dur="500" fill="hold"/>
                                        <p:tgtEl>
                                          <p:spTgt spid="3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fade">
                                      <p:cBhvr>
                                        <p:cTn id="34" dur="500"/>
                                        <p:tgtEl>
                                          <p:spTgt spid="41"/>
                                        </p:tgtEl>
                                      </p:cBhvr>
                                    </p:animEffect>
                                    <p:anim calcmode="lin" valueType="num">
                                      <p:cBhvr>
                                        <p:cTn id="35" dur="500" fill="hold"/>
                                        <p:tgtEl>
                                          <p:spTgt spid="41"/>
                                        </p:tgtEl>
                                        <p:attrNameLst>
                                          <p:attrName>ppt_x</p:attrName>
                                        </p:attrNameLst>
                                      </p:cBhvr>
                                      <p:tavLst>
                                        <p:tav tm="0">
                                          <p:val>
                                            <p:strVal val="#ppt_x"/>
                                          </p:val>
                                        </p:tav>
                                        <p:tav tm="100000">
                                          <p:val>
                                            <p:strVal val="#ppt_x"/>
                                          </p:val>
                                        </p:tav>
                                      </p:tavLst>
                                    </p:anim>
                                    <p:anim calcmode="lin" valueType="num">
                                      <p:cBhvr>
                                        <p:cTn id="36" dur="500" fill="hold"/>
                                        <p:tgtEl>
                                          <p:spTgt spid="4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500"/>
                                        <p:tgtEl>
                                          <p:spTgt spid="45"/>
                                        </p:tgtEl>
                                      </p:cBhvr>
                                    </p:animEffect>
                                    <p:anim calcmode="lin" valueType="num">
                                      <p:cBhvr>
                                        <p:cTn id="40" dur="500" fill="hold"/>
                                        <p:tgtEl>
                                          <p:spTgt spid="45"/>
                                        </p:tgtEl>
                                        <p:attrNameLst>
                                          <p:attrName>ppt_x</p:attrName>
                                        </p:attrNameLst>
                                      </p:cBhvr>
                                      <p:tavLst>
                                        <p:tav tm="0">
                                          <p:val>
                                            <p:strVal val="#ppt_x"/>
                                          </p:val>
                                        </p:tav>
                                        <p:tav tm="100000">
                                          <p:val>
                                            <p:strVal val="#ppt_x"/>
                                          </p:val>
                                        </p:tav>
                                      </p:tavLst>
                                    </p:anim>
                                    <p:anim calcmode="lin" valueType="num">
                                      <p:cBhvr>
                                        <p:cTn id="41"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anim calcmode="lin" valueType="num">
                                      <p:cBhvr>
                                        <p:cTn id="47" dur="500" fill="hold"/>
                                        <p:tgtEl>
                                          <p:spTgt spid="19"/>
                                        </p:tgtEl>
                                        <p:attrNameLst>
                                          <p:attrName>ppt_x</p:attrName>
                                        </p:attrNameLst>
                                      </p:cBhvr>
                                      <p:tavLst>
                                        <p:tav tm="0">
                                          <p:val>
                                            <p:strVal val="#ppt_x"/>
                                          </p:val>
                                        </p:tav>
                                        <p:tav tm="100000">
                                          <p:val>
                                            <p:strVal val="#ppt_x"/>
                                          </p:val>
                                        </p:tav>
                                      </p:tavLst>
                                    </p:anim>
                                    <p:anim calcmode="lin" valueType="num">
                                      <p:cBhvr>
                                        <p:cTn id="48" dur="500" fill="hold"/>
                                        <p:tgtEl>
                                          <p:spTgt spid="1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500"/>
                                        <p:tgtEl>
                                          <p:spTgt spid="38"/>
                                        </p:tgtEl>
                                      </p:cBhvr>
                                    </p:animEffect>
                                    <p:anim calcmode="lin" valueType="num">
                                      <p:cBhvr>
                                        <p:cTn id="52" dur="500" fill="hold"/>
                                        <p:tgtEl>
                                          <p:spTgt spid="38"/>
                                        </p:tgtEl>
                                        <p:attrNameLst>
                                          <p:attrName>ppt_x</p:attrName>
                                        </p:attrNameLst>
                                      </p:cBhvr>
                                      <p:tavLst>
                                        <p:tav tm="0">
                                          <p:val>
                                            <p:strVal val="#ppt_x"/>
                                          </p:val>
                                        </p:tav>
                                        <p:tav tm="100000">
                                          <p:val>
                                            <p:strVal val="#ppt_x"/>
                                          </p:val>
                                        </p:tav>
                                      </p:tavLst>
                                    </p:anim>
                                    <p:anim calcmode="lin" valueType="num">
                                      <p:cBhvr>
                                        <p:cTn id="53" dur="500" fill="hold"/>
                                        <p:tgtEl>
                                          <p:spTgt spid="38"/>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anim calcmode="lin" valueType="num">
                                      <p:cBhvr>
                                        <p:cTn id="57" dur="500" fill="hold"/>
                                        <p:tgtEl>
                                          <p:spTgt spid="42"/>
                                        </p:tgtEl>
                                        <p:attrNameLst>
                                          <p:attrName>ppt_x</p:attrName>
                                        </p:attrNameLst>
                                      </p:cBhvr>
                                      <p:tavLst>
                                        <p:tav tm="0">
                                          <p:val>
                                            <p:strVal val="#ppt_x"/>
                                          </p:val>
                                        </p:tav>
                                        <p:tav tm="100000">
                                          <p:val>
                                            <p:strVal val="#ppt_x"/>
                                          </p:val>
                                        </p:tav>
                                      </p:tavLst>
                                    </p:anim>
                                    <p:anim calcmode="lin" valueType="num">
                                      <p:cBhvr>
                                        <p:cTn id="58" dur="500" fill="hold"/>
                                        <p:tgtEl>
                                          <p:spTgt spid="4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anim calcmode="lin" valueType="num">
                                      <p:cBhvr>
                                        <p:cTn id="62" dur="500" fill="hold"/>
                                        <p:tgtEl>
                                          <p:spTgt spid="48"/>
                                        </p:tgtEl>
                                        <p:attrNameLst>
                                          <p:attrName>ppt_x</p:attrName>
                                        </p:attrNameLst>
                                      </p:cBhvr>
                                      <p:tavLst>
                                        <p:tav tm="0">
                                          <p:val>
                                            <p:strVal val="#ppt_x"/>
                                          </p:val>
                                        </p:tav>
                                        <p:tav tm="100000">
                                          <p:val>
                                            <p:strVal val="#ppt_x"/>
                                          </p:val>
                                        </p:tav>
                                      </p:tavLst>
                                    </p:anim>
                                    <p:anim calcmode="lin" valueType="num">
                                      <p:cBhvr>
                                        <p:cTn id="63" dur="5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anim calcmode="lin" valueType="num">
                                      <p:cBhvr>
                                        <p:cTn id="69" dur="500" fill="hold"/>
                                        <p:tgtEl>
                                          <p:spTgt spid="25"/>
                                        </p:tgtEl>
                                        <p:attrNameLst>
                                          <p:attrName>ppt_x</p:attrName>
                                        </p:attrNameLst>
                                      </p:cBhvr>
                                      <p:tavLst>
                                        <p:tav tm="0">
                                          <p:val>
                                            <p:strVal val="#ppt_x"/>
                                          </p:val>
                                        </p:tav>
                                        <p:tav tm="100000">
                                          <p:val>
                                            <p:strVal val="#ppt_x"/>
                                          </p:val>
                                        </p:tav>
                                      </p:tavLst>
                                    </p:anim>
                                    <p:anim calcmode="lin" valueType="num">
                                      <p:cBhvr>
                                        <p:cTn id="70" dur="500" fill="hold"/>
                                        <p:tgtEl>
                                          <p:spTgt spid="2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500"/>
                                        <p:tgtEl>
                                          <p:spTgt spid="39"/>
                                        </p:tgtEl>
                                      </p:cBhvr>
                                    </p:animEffect>
                                    <p:anim calcmode="lin" valueType="num">
                                      <p:cBhvr>
                                        <p:cTn id="74" dur="500" fill="hold"/>
                                        <p:tgtEl>
                                          <p:spTgt spid="39"/>
                                        </p:tgtEl>
                                        <p:attrNameLst>
                                          <p:attrName>ppt_x</p:attrName>
                                        </p:attrNameLst>
                                      </p:cBhvr>
                                      <p:tavLst>
                                        <p:tav tm="0">
                                          <p:val>
                                            <p:strVal val="#ppt_x"/>
                                          </p:val>
                                        </p:tav>
                                        <p:tav tm="100000">
                                          <p:val>
                                            <p:strVal val="#ppt_x"/>
                                          </p:val>
                                        </p:tav>
                                      </p:tavLst>
                                    </p:anim>
                                    <p:anim calcmode="lin" valueType="num">
                                      <p:cBhvr>
                                        <p:cTn id="75" dur="500" fill="hold"/>
                                        <p:tgtEl>
                                          <p:spTgt spid="39"/>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anim calcmode="lin" valueType="num">
                                      <p:cBhvr>
                                        <p:cTn id="79" dur="500" fill="hold"/>
                                        <p:tgtEl>
                                          <p:spTgt spid="43"/>
                                        </p:tgtEl>
                                        <p:attrNameLst>
                                          <p:attrName>ppt_x</p:attrName>
                                        </p:attrNameLst>
                                      </p:cBhvr>
                                      <p:tavLst>
                                        <p:tav tm="0">
                                          <p:val>
                                            <p:strVal val="#ppt_x"/>
                                          </p:val>
                                        </p:tav>
                                        <p:tav tm="100000">
                                          <p:val>
                                            <p:strVal val="#ppt_x"/>
                                          </p:val>
                                        </p:tav>
                                      </p:tavLst>
                                    </p:anim>
                                    <p:anim calcmode="lin" valueType="num">
                                      <p:cBhvr>
                                        <p:cTn id="80" dur="500" fill="hold"/>
                                        <p:tgtEl>
                                          <p:spTgt spid="43"/>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500"/>
                                        <p:tgtEl>
                                          <p:spTgt spid="47"/>
                                        </p:tgtEl>
                                      </p:cBhvr>
                                    </p:animEffect>
                                    <p:anim calcmode="lin" valueType="num">
                                      <p:cBhvr>
                                        <p:cTn id="84" dur="500" fill="hold"/>
                                        <p:tgtEl>
                                          <p:spTgt spid="47"/>
                                        </p:tgtEl>
                                        <p:attrNameLst>
                                          <p:attrName>ppt_x</p:attrName>
                                        </p:attrNameLst>
                                      </p:cBhvr>
                                      <p:tavLst>
                                        <p:tav tm="0">
                                          <p:val>
                                            <p:strVal val="#ppt_x"/>
                                          </p:val>
                                        </p:tav>
                                        <p:tav tm="100000">
                                          <p:val>
                                            <p:strVal val="#ppt_x"/>
                                          </p:val>
                                        </p:tav>
                                      </p:tavLst>
                                    </p:anim>
                                    <p:anim calcmode="lin" valueType="num">
                                      <p:cBhvr>
                                        <p:cTn id="85" dur="5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500"/>
                                        <p:tgtEl>
                                          <p:spTgt spid="28"/>
                                        </p:tgtEl>
                                      </p:cBhvr>
                                    </p:animEffect>
                                    <p:anim calcmode="lin" valueType="num">
                                      <p:cBhvr>
                                        <p:cTn id="91" dur="500" fill="hold"/>
                                        <p:tgtEl>
                                          <p:spTgt spid="28"/>
                                        </p:tgtEl>
                                        <p:attrNameLst>
                                          <p:attrName>ppt_x</p:attrName>
                                        </p:attrNameLst>
                                      </p:cBhvr>
                                      <p:tavLst>
                                        <p:tav tm="0">
                                          <p:val>
                                            <p:strVal val="#ppt_x"/>
                                          </p:val>
                                        </p:tav>
                                        <p:tav tm="100000">
                                          <p:val>
                                            <p:strVal val="#ppt_x"/>
                                          </p:val>
                                        </p:tav>
                                      </p:tavLst>
                                    </p:anim>
                                    <p:anim calcmode="lin" valueType="num">
                                      <p:cBhvr>
                                        <p:cTn id="92" dur="500" fill="hold"/>
                                        <p:tgtEl>
                                          <p:spTgt spid="28"/>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500"/>
                                        <p:tgtEl>
                                          <p:spTgt spid="40"/>
                                        </p:tgtEl>
                                      </p:cBhvr>
                                    </p:animEffect>
                                    <p:anim calcmode="lin" valueType="num">
                                      <p:cBhvr>
                                        <p:cTn id="96" dur="500" fill="hold"/>
                                        <p:tgtEl>
                                          <p:spTgt spid="40"/>
                                        </p:tgtEl>
                                        <p:attrNameLst>
                                          <p:attrName>ppt_x</p:attrName>
                                        </p:attrNameLst>
                                      </p:cBhvr>
                                      <p:tavLst>
                                        <p:tav tm="0">
                                          <p:val>
                                            <p:strVal val="#ppt_x"/>
                                          </p:val>
                                        </p:tav>
                                        <p:tav tm="100000">
                                          <p:val>
                                            <p:strVal val="#ppt_x"/>
                                          </p:val>
                                        </p:tav>
                                      </p:tavLst>
                                    </p:anim>
                                    <p:anim calcmode="lin" valueType="num">
                                      <p:cBhvr>
                                        <p:cTn id="97" dur="500" fill="hold"/>
                                        <p:tgtEl>
                                          <p:spTgt spid="40"/>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500"/>
                                        <p:tgtEl>
                                          <p:spTgt spid="44"/>
                                        </p:tgtEl>
                                      </p:cBhvr>
                                    </p:animEffect>
                                    <p:anim calcmode="lin" valueType="num">
                                      <p:cBhvr>
                                        <p:cTn id="101" dur="500" fill="hold"/>
                                        <p:tgtEl>
                                          <p:spTgt spid="44"/>
                                        </p:tgtEl>
                                        <p:attrNameLst>
                                          <p:attrName>ppt_x</p:attrName>
                                        </p:attrNameLst>
                                      </p:cBhvr>
                                      <p:tavLst>
                                        <p:tav tm="0">
                                          <p:val>
                                            <p:strVal val="#ppt_x"/>
                                          </p:val>
                                        </p:tav>
                                        <p:tav tm="100000">
                                          <p:val>
                                            <p:strVal val="#ppt_x"/>
                                          </p:val>
                                        </p:tav>
                                      </p:tavLst>
                                    </p:anim>
                                    <p:anim calcmode="lin" valueType="num">
                                      <p:cBhvr>
                                        <p:cTn id="102" dur="500" fill="hold"/>
                                        <p:tgtEl>
                                          <p:spTgt spid="44"/>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anim calcmode="lin" valueType="num">
                                      <p:cBhvr>
                                        <p:cTn id="106" dur="500" fill="hold"/>
                                        <p:tgtEl>
                                          <p:spTgt spid="46"/>
                                        </p:tgtEl>
                                        <p:attrNameLst>
                                          <p:attrName>ppt_x</p:attrName>
                                        </p:attrNameLst>
                                      </p:cBhvr>
                                      <p:tavLst>
                                        <p:tav tm="0">
                                          <p:val>
                                            <p:strVal val="#ppt_x"/>
                                          </p:val>
                                        </p:tav>
                                        <p:tav tm="100000">
                                          <p:val>
                                            <p:strVal val="#ppt_x"/>
                                          </p:val>
                                        </p:tav>
                                      </p:tavLst>
                                    </p:anim>
                                    <p:anim calcmode="lin" valueType="num">
                                      <p:cBhvr>
                                        <p:cTn id="107" dur="5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37" grpId="0"/>
      <p:bldP spid="38" grpId="0"/>
      <p:bldP spid="39" grpId="0"/>
      <p:bldP spid="40" grpId="0"/>
      <p:bldP spid="41" grpId="0" animBg="1"/>
      <p:bldP spid="42" grpId="0" animBg="1"/>
      <p:bldP spid="43" grpId="0" animBg="1"/>
      <p:bldP spid="44" grpId="0" animBg="1"/>
      <p:bldP spid="45" grpId="0" animBg="1"/>
      <p:bldP spid="46" grpId="0" animBg="1"/>
      <p:bldP spid="47" grpId="0" animBg="1"/>
      <p:bldP spid="48" grpId="0" animBg="1"/>
      <p:bldP spid="4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40381" y="395116"/>
            <a:ext cx="5086649" cy="646331"/>
          </a:xfrm>
          <a:prstGeom prst="rect">
            <a:avLst/>
          </a:prstGeom>
        </p:spPr>
        <p:txBody>
          <a:bodyPr wrap="none">
            <a:spAutoFit/>
          </a:bodyPr>
          <a:lstStyle/>
          <a:p>
            <a:pPr>
              <a:defRPr/>
            </a:pPr>
            <a:r>
              <a:rPr lang="zh-CN" altLang="en-US" sz="3600" b="1" kern="0" dirty="0">
                <a:latin typeface="Arial" panose="020B0604020202020204"/>
                <a:ea typeface="微软雅黑" panose="020B0503020204020204" charset="-122"/>
                <a:sym typeface="Arial" panose="020B0604020202020204"/>
              </a:rPr>
              <a:t>专题</a:t>
            </a:r>
            <a:r>
              <a:rPr lang="en-US" altLang="zh-CN" sz="3600" b="1" kern="0" dirty="0">
                <a:latin typeface="Arial" panose="020B0604020202020204"/>
                <a:ea typeface="微软雅黑" panose="020B0503020204020204" charset="-122"/>
                <a:sym typeface="Arial" panose="020B0604020202020204"/>
              </a:rPr>
              <a:t>1</a:t>
            </a:r>
            <a:r>
              <a:rPr lang="zh-CN" altLang="en-US" sz="3600" b="1" kern="0" dirty="0">
                <a:latin typeface="Arial" panose="020B0604020202020204"/>
                <a:ea typeface="微软雅黑" panose="020B0503020204020204" charset="-122"/>
                <a:sym typeface="Arial" panose="020B0604020202020204"/>
              </a:rPr>
              <a:t>：代理商保证金续</a:t>
            </a:r>
            <a:endParaRPr lang="zh-CN" altLang="en-US" sz="3600" b="1" dirty="0">
              <a:latin typeface="Arial" panose="020B0604020202020204"/>
              <a:ea typeface="微软雅黑" panose="020B0503020204020204" charset="-122"/>
              <a:sym typeface="Arial" panose="020B0604020202020204"/>
            </a:endParaRPr>
          </a:p>
        </p:txBody>
      </p:sp>
      <p:sp>
        <p:nvSpPr>
          <p:cNvPr id="4" name="六边形 3"/>
          <p:cNvSpPr/>
          <p:nvPr/>
        </p:nvSpPr>
        <p:spPr>
          <a:xfrm>
            <a:off x="3424643" y="1455289"/>
            <a:ext cx="5342713" cy="466275"/>
          </a:xfrm>
          <a:prstGeom prst="hexagon">
            <a:avLst>
              <a:gd name="adj" fmla="val 13631"/>
              <a:gd name="vf" fmla="val 115470"/>
            </a:avLst>
          </a:prstGeom>
          <a:ln w="19050">
            <a:solidFill>
              <a:srgbClr val="C00000"/>
            </a:solidFill>
          </a:ln>
        </p:spPr>
        <p:txBody>
          <a:bodyPr wrap="square" anchor="ctr">
            <a:noAutofit/>
          </a:bodyPr>
          <a:lstStyle/>
          <a:p>
            <a:pPr algn="ctr" defTabSz="839470"/>
            <a:r>
              <a:rPr lang="zh-CN" altLang="en-US" sz="2000" dirty="0">
                <a:latin typeface="Arial" panose="020B0604020202020204"/>
                <a:ea typeface="微软雅黑" panose="020B0503020204020204" charset="-122"/>
                <a:sym typeface="Arial" panose="020B0604020202020204"/>
              </a:rPr>
              <a:t>三、下一步的工作安排</a:t>
            </a:r>
          </a:p>
        </p:txBody>
      </p:sp>
      <p:sp>
        <p:nvSpPr>
          <p:cNvPr id="49" name="矩形 48"/>
          <p:cNvSpPr/>
          <p:nvPr/>
        </p:nvSpPr>
        <p:spPr>
          <a:xfrm>
            <a:off x="5353877" y="2723290"/>
            <a:ext cx="5380383" cy="3000821"/>
          </a:xfrm>
          <a:prstGeom prst="rect">
            <a:avLst/>
          </a:prstGeom>
        </p:spPr>
        <p:txBody>
          <a:bodyPr wrap="square">
            <a:spAutoFit/>
          </a:bodyPr>
          <a:lstStyle/>
          <a:p>
            <a:pPr>
              <a:lnSpc>
                <a:spcPct val="150000"/>
              </a:lnSpc>
            </a:pPr>
            <a:r>
              <a:rPr lang="zh-CN" altLang="en-US" dirty="0">
                <a:latin typeface="Arial" panose="020B0604020202020204"/>
                <a:ea typeface="微软雅黑" panose="020B0503020204020204" charset="-122"/>
                <a:sym typeface="Arial" panose="020B0604020202020204"/>
              </a:rPr>
              <a:t>      根据省公司渠道运营中心发布的</a:t>
            </a:r>
            <a:r>
              <a:rPr lang="en-US" altLang="zh-CN" dirty="0">
                <a:latin typeface="Arial" panose="020B0604020202020204"/>
                <a:ea typeface="微软雅黑" panose="020B0503020204020204" charset="-122"/>
                <a:sym typeface="Arial" panose="020B0604020202020204"/>
              </a:rPr>
              <a:t>《</a:t>
            </a:r>
            <a:r>
              <a:rPr lang="zh-CN" altLang="en-US" dirty="0">
                <a:latin typeface="Arial" panose="020B0604020202020204"/>
                <a:ea typeface="微软雅黑" panose="020B0503020204020204" charset="-122"/>
                <a:sym typeface="Arial" panose="020B0604020202020204"/>
              </a:rPr>
              <a:t>关于优化社会实体渠道保证金管理的通知</a:t>
            </a:r>
            <a:r>
              <a:rPr lang="en-US" altLang="zh-CN" dirty="0">
                <a:latin typeface="Arial" panose="020B0604020202020204"/>
                <a:ea typeface="微软雅黑" panose="020B0503020204020204" charset="-122"/>
                <a:sym typeface="Arial" panose="020B0604020202020204"/>
              </a:rPr>
              <a:t>》</a:t>
            </a:r>
            <a:r>
              <a:rPr lang="zh-CN" altLang="en-US" dirty="0">
                <a:latin typeface="Arial" panose="020B0604020202020204"/>
                <a:ea typeface="微软雅黑" panose="020B0503020204020204" charset="-122"/>
                <a:sym typeface="Arial" panose="020B0604020202020204"/>
              </a:rPr>
              <a:t>，销售型便利点按</a:t>
            </a:r>
            <a:r>
              <a:rPr lang="en-US" altLang="zh-CN" dirty="0">
                <a:latin typeface="Arial" panose="020B0604020202020204"/>
                <a:ea typeface="微软雅黑" panose="020B0503020204020204" charset="-122"/>
                <a:sym typeface="Arial" panose="020B0604020202020204"/>
              </a:rPr>
              <a:t>500</a:t>
            </a:r>
            <a:r>
              <a:rPr lang="zh-CN" altLang="en-US" dirty="0">
                <a:latin typeface="Arial" panose="020B0604020202020204"/>
                <a:ea typeface="微软雅黑" panose="020B0503020204020204" charset="-122"/>
                <a:sym typeface="Arial" panose="020B0604020202020204"/>
              </a:rPr>
              <a:t>元</a:t>
            </a:r>
            <a:r>
              <a:rPr lang="en-US" altLang="zh-CN" dirty="0">
                <a:latin typeface="Arial" panose="020B0604020202020204"/>
                <a:ea typeface="微软雅黑" panose="020B0503020204020204" charset="-122"/>
                <a:sym typeface="Arial" panose="020B0604020202020204"/>
              </a:rPr>
              <a:t>/</a:t>
            </a:r>
            <a:r>
              <a:rPr lang="zh-CN" altLang="en-US" dirty="0">
                <a:latin typeface="Arial" panose="020B0604020202020204"/>
                <a:ea typeface="微软雅黑" panose="020B0503020204020204" charset="-122"/>
                <a:sym typeface="Arial" panose="020B0604020202020204"/>
              </a:rPr>
              <a:t>点，连锁店、独立店按</a:t>
            </a:r>
            <a:r>
              <a:rPr lang="en-US" altLang="zh-CN" dirty="0">
                <a:latin typeface="Arial" panose="020B0604020202020204"/>
                <a:ea typeface="微软雅黑" panose="020B0503020204020204" charset="-122"/>
                <a:sym typeface="Arial" panose="020B0604020202020204"/>
              </a:rPr>
              <a:t>1000</a:t>
            </a:r>
            <a:r>
              <a:rPr lang="zh-CN" altLang="en-US" dirty="0">
                <a:latin typeface="Arial" panose="020B0604020202020204"/>
                <a:ea typeface="微软雅黑" panose="020B0503020204020204" charset="-122"/>
                <a:sym typeface="Arial" panose="020B0604020202020204"/>
              </a:rPr>
              <a:t>元</a:t>
            </a:r>
            <a:r>
              <a:rPr lang="en-US" altLang="zh-CN" dirty="0">
                <a:latin typeface="Arial" panose="020B0604020202020204"/>
                <a:ea typeface="微软雅黑" panose="020B0503020204020204" charset="-122"/>
                <a:sym typeface="Arial" panose="020B0604020202020204"/>
              </a:rPr>
              <a:t>/</a:t>
            </a:r>
            <a:r>
              <a:rPr lang="zh-CN" altLang="en-US" dirty="0">
                <a:latin typeface="Arial" panose="020B0604020202020204"/>
                <a:ea typeface="微软雅黑" panose="020B0503020204020204" charset="-122"/>
                <a:sym typeface="Arial" panose="020B0604020202020204"/>
              </a:rPr>
              <a:t>点，请渠道运营中心梳理普通代理点、市级连锁店和独立店的清单，一并转业务支撑中心稽核，对于未缴纳保证金的网点，通知补缴，确保代理商保证金管理工作的全面、有效开展。</a:t>
            </a:r>
          </a:p>
        </p:txBody>
      </p:sp>
      <p:sp>
        <p:nvSpPr>
          <p:cNvPr id="51" name="矩形 50"/>
          <p:cNvSpPr/>
          <p:nvPr/>
        </p:nvSpPr>
        <p:spPr>
          <a:xfrm>
            <a:off x="1025800" y="2252870"/>
            <a:ext cx="3421129" cy="422027"/>
          </a:xfrm>
          <a:prstGeom prst="rect">
            <a:avLst/>
          </a:prstGeom>
        </p:spPr>
        <p:txBody>
          <a:bodyPr wrap="none" anchor="ctr">
            <a:noAutofit/>
          </a:bodyPr>
          <a:lstStyle/>
          <a:p>
            <a:r>
              <a:rPr lang="en-US" altLang="zh-CN" sz="2000" b="1" dirty="0">
                <a:latin typeface="Arial" panose="020B0604020202020204"/>
                <a:ea typeface="微软雅黑" panose="020B0503020204020204" charset="-122"/>
                <a:sym typeface="Arial" panose="020B0604020202020204"/>
              </a:rPr>
              <a:t>3</a:t>
            </a:r>
            <a:r>
              <a:rPr lang="zh-CN" altLang="en-US" sz="2000" b="1" dirty="0">
                <a:latin typeface="Arial" panose="020B0604020202020204"/>
                <a:ea typeface="微软雅黑" panose="020B0503020204020204" charset="-122"/>
                <a:sym typeface="Arial" panose="020B0604020202020204"/>
              </a:rPr>
              <a:t>、其他代理点保证金的梳理</a:t>
            </a:r>
          </a:p>
        </p:txBody>
      </p:sp>
      <p:sp>
        <p:nvSpPr>
          <p:cNvPr id="52" name="矩形 51"/>
          <p:cNvSpPr/>
          <p:nvPr/>
        </p:nvSpPr>
        <p:spPr>
          <a:xfrm>
            <a:off x="1086678" y="2875721"/>
            <a:ext cx="4068417" cy="2981739"/>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53" name="文本框 52"/>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wipe(left)">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1500"/>
                                  </p:stCondLst>
                                  <p:childTnLst>
                                    <p:animEffect transition="out" filter="fade">
                                      <p:cBhvr>
                                        <p:cTn id="21" dur="500"/>
                                        <p:tgtEl>
                                          <p:spTgt spid="53"/>
                                        </p:tgtEl>
                                      </p:cBhvr>
                                    </p:animEffect>
                                    <p:set>
                                      <p:cBhvr>
                                        <p:cTn id="22"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1" grpId="0"/>
      <p:bldP spid="52" grpId="0" animBg="1"/>
      <p:bldP spid="5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8150087" cy="6858000"/>
          </a:xfrm>
          <a:prstGeom prst="rect">
            <a:avLst/>
          </a:prstGeom>
          <a:blipFill dpi="0" rotWithShape="1">
            <a:blip r:embed="rId3">
              <a:graysc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7" name="矩形 4"/>
          <p:cNvSpPr/>
          <p:nvPr/>
        </p:nvSpPr>
        <p:spPr>
          <a:xfrm rot="10800000">
            <a:off x="6891130" y="0"/>
            <a:ext cx="5300868" cy="6863006"/>
          </a:xfrm>
          <a:custGeom>
            <a:avLst/>
            <a:gdLst>
              <a:gd name="connsiteX0" fmla="*/ 0 w 8123583"/>
              <a:gd name="connsiteY0" fmla="*/ 0 h 4227444"/>
              <a:gd name="connsiteX1" fmla="*/ 8123583 w 8123583"/>
              <a:gd name="connsiteY1" fmla="*/ 0 h 4227444"/>
              <a:gd name="connsiteX2" fmla="*/ 8123583 w 8123583"/>
              <a:gd name="connsiteY2" fmla="*/ 4227444 h 4227444"/>
              <a:gd name="connsiteX3" fmla="*/ 0 w 8123583"/>
              <a:gd name="connsiteY3" fmla="*/ 4227444 h 4227444"/>
              <a:gd name="connsiteX4" fmla="*/ 0 w 8123583"/>
              <a:gd name="connsiteY4" fmla="*/ 0 h 4227444"/>
              <a:gd name="connsiteX0-1" fmla="*/ 0 w 8123583"/>
              <a:gd name="connsiteY0-2" fmla="*/ 0 h 4227444"/>
              <a:gd name="connsiteX1-3" fmla="*/ 5936974 w 8123583"/>
              <a:gd name="connsiteY1-4" fmla="*/ 119269 h 4227444"/>
              <a:gd name="connsiteX2-5" fmla="*/ 8123583 w 8123583"/>
              <a:gd name="connsiteY2-6" fmla="*/ 4227444 h 4227444"/>
              <a:gd name="connsiteX3-7" fmla="*/ 0 w 8123583"/>
              <a:gd name="connsiteY3-8" fmla="*/ 4227444 h 4227444"/>
              <a:gd name="connsiteX4-9" fmla="*/ 0 w 8123583"/>
              <a:gd name="connsiteY4-10" fmla="*/ 0 h 4227444"/>
              <a:gd name="connsiteX0-11" fmla="*/ 0 w 8123583"/>
              <a:gd name="connsiteY0-12" fmla="*/ 0 h 4227444"/>
              <a:gd name="connsiteX1-13" fmla="*/ 6162261 w 8123583"/>
              <a:gd name="connsiteY1-14" fmla="*/ 145773 h 4227444"/>
              <a:gd name="connsiteX2-15" fmla="*/ 8123583 w 8123583"/>
              <a:gd name="connsiteY2-16" fmla="*/ 4227444 h 4227444"/>
              <a:gd name="connsiteX3-17" fmla="*/ 0 w 8123583"/>
              <a:gd name="connsiteY3-18" fmla="*/ 4227444 h 4227444"/>
              <a:gd name="connsiteX4-19" fmla="*/ 0 w 8123583"/>
              <a:gd name="connsiteY4-20" fmla="*/ 0 h 4227444"/>
              <a:gd name="connsiteX0-21" fmla="*/ 0 w 8123583"/>
              <a:gd name="connsiteY0-22" fmla="*/ 39757 h 4267201"/>
              <a:gd name="connsiteX1-23" fmla="*/ 6281531 w 8123583"/>
              <a:gd name="connsiteY1-24" fmla="*/ 0 h 4267201"/>
              <a:gd name="connsiteX2-25" fmla="*/ 8123583 w 8123583"/>
              <a:gd name="connsiteY2-26" fmla="*/ 4267201 h 4267201"/>
              <a:gd name="connsiteX3-27" fmla="*/ 0 w 8123583"/>
              <a:gd name="connsiteY3-28" fmla="*/ 4267201 h 4267201"/>
              <a:gd name="connsiteX4-29" fmla="*/ 0 w 8123583"/>
              <a:gd name="connsiteY4-30" fmla="*/ 39757 h 4267201"/>
              <a:gd name="connsiteX0-31" fmla="*/ 0 w 8123583"/>
              <a:gd name="connsiteY0-32" fmla="*/ 0 h 4227444"/>
              <a:gd name="connsiteX1-33" fmla="*/ 6281531 w 8123583"/>
              <a:gd name="connsiteY1-34" fmla="*/ 39756 h 4227444"/>
              <a:gd name="connsiteX2-35" fmla="*/ 8123583 w 8123583"/>
              <a:gd name="connsiteY2-36" fmla="*/ 4227444 h 4227444"/>
              <a:gd name="connsiteX3-37" fmla="*/ 0 w 8123583"/>
              <a:gd name="connsiteY3-38" fmla="*/ 4227444 h 4227444"/>
              <a:gd name="connsiteX4-39" fmla="*/ 0 w 8123583"/>
              <a:gd name="connsiteY4-40" fmla="*/ 0 h 4227444"/>
              <a:gd name="connsiteX0-41" fmla="*/ 0 w 8123583"/>
              <a:gd name="connsiteY0-42" fmla="*/ 0 h 4227444"/>
              <a:gd name="connsiteX1-43" fmla="*/ 6321287 w 8123583"/>
              <a:gd name="connsiteY1-44" fmla="*/ 13252 h 4227444"/>
              <a:gd name="connsiteX2-45" fmla="*/ 8123583 w 8123583"/>
              <a:gd name="connsiteY2-46" fmla="*/ 4227444 h 4227444"/>
              <a:gd name="connsiteX3-47" fmla="*/ 0 w 8123583"/>
              <a:gd name="connsiteY3-48" fmla="*/ 4227444 h 4227444"/>
              <a:gd name="connsiteX4-49" fmla="*/ 0 w 8123583"/>
              <a:gd name="connsiteY4-50" fmla="*/ 0 h 4227444"/>
              <a:gd name="connsiteX0-51" fmla="*/ 0 w 8123583"/>
              <a:gd name="connsiteY0-52" fmla="*/ 3086 h 4230530"/>
              <a:gd name="connsiteX1-53" fmla="*/ 6321288 w 8123583"/>
              <a:gd name="connsiteY1-54" fmla="*/ 0 h 4230530"/>
              <a:gd name="connsiteX2-55" fmla="*/ 8123583 w 8123583"/>
              <a:gd name="connsiteY2-56" fmla="*/ 4230530 h 4230530"/>
              <a:gd name="connsiteX3-57" fmla="*/ 0 w 8123583"/>
              <a:gd name="connsiteY3-58" fmla="*/ 4230530 h 4230530"/>
              <a:gd name="connsiteX4-59" fmla="*/ 0 w 8123583"/>
              <a:gd name="connsiteY4-60" fmla="*/ 3086 h 42305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123583" h="4230530">
                <a:moveTo>
                  <a:pt x="0" y="3086"/>
                </a:moveTo>
                <a:lnTo>
                  <a:pt x="6321288" y="0"/>
                </a:lnTo>
                <a:lnTo>
                  <a:pt x="8123583" y="4230530"/>
                </a:lnTo>
                <a:lnTo>
                  <a:pt x="0" y="4230530"/>
                </a:lnTo>
                <a:lnTo>
                  <a:pt x="0" y="3086"/>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10" name="文本框 9"/>
          <p:cNvSpPr txBox="1"/>
          <p:nvPr/>
        </p:nvSpPr>
        <p:spPr>
          <a:xfrm>
            <a:off x="8556792" y="2967335"/>
            <a:ext cx="2926080" cy="1753235"/>
          </a:xfrm>
          <a:prstGeom prst="rect">
            <a:avLst/>
          </a:prstGeom>
          <a:noFill/>
        </p:spPr>
        <p:txBody>
          <a:bodyPr wrap="none" rtlCol="0">
            <a:spAutoFit/>
          </a:bodyPr>
          <a:lstStyle/>
          <a:p>
            <a:pPr algn="ctr"/>
            <a:r>
              <a:rPr lang="zh-CN" altLang="en-US" sz="54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rPr>
              <a:t>感谢</a:t>
            </a:r>
            <a:endParaRPr lang="en-US" altLang="zh-CN" sz="54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endParaRPr>
          </a:p>
          <a:p>
            <a:pPr algn="ctr"/>
            <a:r>
              <a:rPr lang="zh-CN" altLang="en-US" sz="5400" dirty="0">
                <a:solidFill>
                  <a:schemeClr val="bg1"/>
                </a:solidFill>
                <a:latin typeface="Arial" panose="020B0604020202020204"/>
                <a:ea typeface="微软雅黑" panose="020B0503020204020204" charset="-122"/>
                <a:cs typeface="Segoe UI Light" panose="020B0502040204020203" pitchFamily="34" charset="0"/>
                <a:sym typeface="Arial" panose="020B0604020202020204"/>
              </a:rPr>
              <a:t>一路有你</a:t>
            </a:r>
          </a:p>
        </p:txBody>
      </p:sp>
      <p:sp>
        <p:nvSpPr>
          <p:cNvPr id="11" name="文本框 10"/>
          <p:cNvSpPr txBox="1"/>
          <p:nvPr/>
        </p:nvSpPr>
        <p:spPr>
          <a:xfrm>
            <a:off x="8441635" y="6340660"/>
            <a:ext cx="3260035" cy="307777"/>
          </a:xfrm>
          <a:prstGeom prst="rect">
            <a:avLst/>
          </a:prstGeom>
          <a:noFill/>
          <a:effectLst/>
        </p:spPr>
        <p:txBody>
          <a:bodyPr wrap="square" rtlCol="0">
            <a:spAutoFit/>
          </a:bodyPr>
          <a:lstStyle/>
          <a:p>
            <a:pPr algn="ctr"/>
            <a:r>
              <a:rPr lang="zh-CN" altLang="en-US" sz="1400" dirty="0">
                <a:solidFill>
                  <a:schemeClr val="bg1"/>
                </a:solidFill>
                <a:latin typeface="Arial" panose="020B0604020202020204"/>
                <a:ea typeface="微软雅黑" panose="020B0503020204020204" charset="-122"/>
                <a:sym typeface="Arial" panose="020B0604020202020204"/>
              </a:rPr>
              <a:t>企业年度财务经营分析报告</a:t>
            </a:r>
          </a:p>
        </p:txBody>
      </p:sp>
      <p:sp>
        <p:nvSpPr>
          <p:cNvPr id="12" name="文本框 11"/>
          <p:cNvSpPr txBox="1"/>
          <p:nvPr/>
        </p:nvSpPr>
        <p:spPr>
          <a:xfrm>
            <a:off x="10250905" y="7347284"/>
            <a:ext cx="248786" cy="369332"/>
          </a:xfrm>
          <a:prstGeom prst="rect">
            <a:avLst/>
          </a:prstGeom>
          <a:noFill/>
        </p:spPr>
        <p:txBody>
          <a:bodyPr wrap="none" rtlCol="0">
            <a:spAutoFit/>
          </a:bodyPr>
          <a:lstStyle/>
          <a:p>
            <a:r>
              <a:rPr lang="en-US" altLang="zh-CN" dirty="0">
                <a:latin typeface="Arial" panose="020B0604020202020204"/>
                <a:ea typeface="微软雅黑" panose="020B0503020204020204" charset="-122"/>
                <a:sym typeface="Arial" panose="020B0604020202020204"/>
              </a:rPr>
              <a:t>.</a:t>
            </a:r>
            <a:endParaRPr lang="zh-CN" altLang="en-US" dirty="0">
              <a:latin typeface="Arial" panose="020B0604020202020204"/>
              <a:ea typeface="微软雅黑" panose="020B0503020204020204" charset="-122"/>
              <a:sym typeface="Arial" panose="020B0604020202020204"/>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8000"/>
                                  </p:stCondLst>
                                  <p:childTnLst>
                                    <p:animEffect transition="out" filter="fade">
                                      <p:cBhvr>
                                        <p:cTn id="14" dur="500"/>
                                        <p:tgtEl>
                                          <p:spTgt spid="12"/>
                                        </p:tgtEl>
                                      </p:cBhvr>
                                    </p:animEffect>
                                    <p:set>
                                      <p:cBhvr>
                                        <p:cTn id="15"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3"/>
</p:tagLst>
</file>

<file path=ppt/tags/tag4.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4"/>
</p:tagLst>
</file>

<file path=ppt/tags/tag5.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5"/>
</p:tagLst>
</file>

<file path=ppt/tags/tag6.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6"/>
</p:tagLst>
</file>

<file path=ppt/tags/tag7.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7"/>
</p:tagLst>
</file>

<file path=ppt/tags/tag8.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8"/>
</p:tagLst>
</file>

<file path=ppt/tags/tag9.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9"/>
</p:tagLst>
</file>

<file path=ppt/tags/tag10.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0"/>
</p:tagLst>
</file>

<file path=ppt/tags/tag11.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1"/>
</p:tagLst>
</file>

<file path=ppt/tags/tag12.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2"/>
</p:tagLst>
</file>

<file path=ppt/tags/tag13.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3"/>
</p:tagLst>
</file>

<file path=ppt/tags/tag14.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4"/>
</p:tagLst>
</file>

<file path=ppt/tags/tag15.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5"/>
</p:tagLst>
</file>

<file path=ppt/tags/tag16.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6"/>
</p:tagLst>
</file>

<file path=ppt/tags/tag17.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7"/>
</p:tagLst>
</file>

<file path=ppt/tags/tag18.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8"/>
</p:tagLst>
</file>

<file path=ppt/tags/tag19.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19"/>
</p:tagLst>
</file>

<file path=ppt/tags/tag20.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20"/>
</p:tagLst>
</file>

<file path=ppt/tags/tag21.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21"/>
</p:tagLst>
</file>

<file path=ppt/tags/tag22.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22"/>
</p:tagLst>
</file>

<file path=ppt/tags/tag23.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23"/>
</p:tagLst>
</file>

<file path=ppt/tags/tag24.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Other"/>
  <p:tag name="MH_ORDER" val="24"/>
</p:tagLst>
</file>

<file path=ppt/tags/tag25.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3"/>
</p:tagLst>
</file>

<file path=ppt/tags/tag28.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4"/>
</p:tagLst>
</file>

<file path=ppt/tags/tag29.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5"/>
</p:tagLst>
</file>

<file path=ppt/tags/tag30.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6"/>
</p:tagLst>
</file>

<file path=ppt/tags/tag31.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7"/>
</p:tagLst>
</file>

<file path=ppt/tags/tag32.xml><?xml version="1.0" encoding="utf-8"?>
<p:tagLst xmlns:a="http://schemas.openxmlformats.org/drawingml/2006/main" xmlns:r="http://schemas.openxmlformats.org/officeDocument/2006/relationships" xmlns:p="http://schemas.openxmlformats.org/presentationml/2006/main">
  <p:tag name="MH" val="20170201102211"/>
  <p:tag name="MH_LIBRARY" val="GRAPHIC"/>
  <p:tag name="MH_TYPE" val="SubTitle"/>
  <p:tag name="MH_ORDER" val="8"/>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HCjPHDM03ES.yJ0dh2foX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V_cloc_Bhkmvd5AhUY4V8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i0u3OqKCc0G0JUg1fEQPd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7Y4RSlT52EmOWa3eV1Q2q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7eMY1bFFukyg5GDwBvEAT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2pQTkIBIIUOSk0ELrt_02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I9q.w4tnaUak82fJfQVpa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38FRnyj1_UePJGVJNQYZf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KjnkTDnp.kqr9rY.Lsg23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TrR98G3Z0GzEx3HZZwO.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qd4mQGVsRkK6dTXejeQWtQ"/>
</p:tagLst>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4643</Words>
  <Application>Microsoft Macintosh PowerPoint</Application>
  <PresentationFormat>宽屏</PresentationFormat>
  <Paragraphs>1248</Paragraphs>
  <Slides>36</Slides>
  <Notes>36</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36</vt:i4>
      </vt:variant>
    </vt:vector>
  </HeadingPairs>
  <TitlesOfParts>
    <vt:vector size="46" baseType="lpstr">
      <vt:lpstr>Arial Unicode MS</vt:lpstr>
      <vt:lpstr>Calibri</vt:lpstr>
      <vt:lpstr>Calibri Light</vt:lpstr>
      <vt:lpstr>Segoe UI Light</vt:lpstr>
      <vt:lpstr>Times New Roman</vt:lpstr>
      <vt:lpstr>Wingdings</vt:lpstr>
      <vt:lpstr>宋体</vt:lpstr>
      <vt:lpstr>微软雅黑</vt:lpstr>
      <vt:lpstr>Arial</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15.0036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Microsoft Office 用户</cp:lastModifiedBy>
  <cp:revision>4</cp:revision>
  <dcterms:created xsi:type="dcterms:W3CDTF">2019-05-14T02:28:00Z</dcterms:created>
  <dcterms:modified xsi:type="dcterms:W3CDTF">2020-03-13T12:09:34Z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