
<file path=[Content_Types].xml><?xml version="1.0" encoding="utf-8"?>
<Types xmlns="http://schemas.openxmlformats.org/package/2006/content-types">
  <Default Extension="xml" ContentType="application/xml"/>
  <Default Extension="mp3" ContentType="audio/mpeg"/>
  <Default Extension="bin" ContentType="application/vnd.openxmlformats-officedocument.oleObject"/>
  <Default Extension="png" ContentType="image/png"/>
  <Default Extension="jpe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drawings/drawing1.xml" ContentType="application/vnd.openxmlformats-officedocument.drawingml.chartshapes+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drawings/drawing2.xml" ContentType="application/vnd.openxmlformats-officedocument.drawingml.chartshapes+xml"/>
  <Override PartName="/ppt/charts/chart12.xml" ContentType="application/vnd.openxmlformats-officedocument.drawingml.chart+xml"/>
  <Override PartName="/ppt/drawings/drawing3.xml" ContentType="application/vnd.openxmlformats-officedocument.drawingml.chartshapes+xml"/>
  <Override PartName="/ppt/charts/chart13.xml" ContentType="application/vnd.openxmlformats-officedocument.drawingml.chart+xml"/>
  <Override PartName="/ppt/drawings/drawing4.xml" ContentType="application/vnd.openxmlformats-officedocument.drawingml.chartshapes+xml"/>
  <Override PartName="/ppt/notesSlides/notesSlide10.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6.xml" ContentType="application/vnd.openxmlformats-officedocument.drawingml.chart+xml"/>
  <Override PartName="/ppt/notesSlides/notesSlide13.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9.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0.xml" ContentType="application/vnd.openxmlformats-officedocument.drawingml.chart+xml"/>
  <Override PartName="/ppt/notesSlides/notesSlide20.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drawings/drawing5.xml" ContentType="application/vnd.openxmlformats-officedocument.drawingml.chartshapes+xml"/>
  <Override PartName="/ppt/charts/chart24.xml" ContentType="application/vnd.openxmlformats-officedocument.drawingml.chart+xml"/>
  <Override PartName="/ppt/drawings/drawing6.xml" ContentType="application/vnd.openxmlformats-officedocument.drawingml.chartshape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315" r:id="rId3"/>
    <p:sldId id="316"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6" r:id="rId20"/>
    <p:sldId id="337" r:id="rId21"/>
    <p:sldId id="338" r:id="rId22"/>
    <p:sldId id="339" r:id="rId23"/>
    <p:sldId id="340" r:id="rId24"/>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2">
          <p15:clr>
            <a:srgbClr val="A4A3A4"/>
          </p15:clr>
        </p15:guide>
        <p15:guide id="2" orient="horz" pos="4190">
          <p15:clr>
            <a:srgbClr val="A4A3A4"/>
          </p15:clr>
        </p15:guide>
        <p15:guide id="3" pos="234">
          <p15:clr>
            <a:srgbClr val="A4A3A4"/>
          </p15:clr>
        </p15:guide>
        <p15:guide id="4" pos="7449">
          <p15:clr>
            <a:srgbClr val="A4A3A4"/>
          </p15:clr>
        </p15:guide>
        <p15:guide id="5" orient="horz" pos="527">
          <p15:clr>
            <a:srgbClr val="A4A3A4"/>
          </p15:clr>
        </p15:guide>
        <p15:guide id="6" orient="horz" pos="686">
          <p15:clr>
            <a:srgbClr val="A4A3A4"/>
          </p15:clr>
        </p15:guide>
        <p15:guide id="7" orient="horz" pos="4017">
          <p15:clr>
            <a:srgbClr val="A4A3A4"/>
          </p15:clr>
        </p15:guide>
        <p15:guide id="8" orient="horz" pos="388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BB7"/>
    <a:srgbClr val="F3F3F3"/>
    <a:srgbClr val="F7FCFE"/>
    <a:srgbClr val="FFFFFC"/>
    <a:srgbClr val="FFFFFF"/>
    <a:srgbClr val="E6E6E6"/>
    <a:srgbClr val="44BE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18" autoAdjust="0"/>
  </p:normalViewPr>
  <p:slideViewPr>
    <p:cSldViewPr snapToGrid="0" showGuides="1">
      <p:cViewPr varScale="1">
        <p:scale>
          <a:sx n="113" d="100"/>
          <a:sy n="113" d="100"/>
        </p:scale>
        <p:origin x="560" y="168"/>
      </p:cViewPr>
      <p:guideLst>
        <p:guide orient="horz" pos="142"/>
        <p:guide orient="horz" pos="4190"/>
        <p:guide pos="234"/>
        <p:guide pos="7449"/>
        <p:guide orient="horz" pos="527"/>
        <p:guide orient="horz" pos="686"/>
        <p:guide orient="horz" pos="4017"/>
        <p:guide orient="horz" pos="3884"/>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5" d="100"/>
          <a:sy n="85" d="100"/>
        </p:scale>
        <p:origin x="3888"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embeddings/oleObject1.bin"/><Relationship Id="rId2" Type="http://schemas.openxmlformats.org/officeDocument/2006/relationships/chartUserShapes" Target="../drawings/drawing1.xml"/></Relationships>
</file>

<file path=ppt/charts/_rels/chart8.xml.rels><?xml version="1.0" encoding="UTF-8" standalone="yes"?>
<Relationships xmlns="http://schemas.openxmlformats.org/package/2006/relationships"><Relationship Id="rId1" Type="http://schemas.openxmlformats.org/officeDocument/2006/relationships/oleObject" Target="../embeddings/oleObject2.bin"/></Relationships>
</file>

<file path=ppt/charts/_rels/chart9.xml.rels><?xml version="1.0" encoding="UTF-8" standalone="yes"?>
<Relationships xmlns="http://schemas.openxmlformats.org/package/2006/relationships"><Relationship Id="rId1" Type="http://schemas.openxmlformats.org/officeDocument/2006/relationships/oleObject" Target="../embeddings/oleObject3.bin"/></Relationships>
</file>

<file path=ppt/charts/_rels/chart10.xml.rels><?xml version="1.0" encoding="UTF-8" standalone="yes"?>
<Relationships xmlns="http://schemas.openxmlformats.org/package/2006/relationships"><Relationship Id="rId1" Type="http://schemas.openxmlformats.org/officeDocument/2006/relationships/oleObject" Target="../embeddings/oleObject4.bin"/></Relationships>
</file>

<file path=ppt/charts/_rels/chart11.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2.xml"/></Relationships>
</file>

<file path=ppt/charts/_rels/chart12.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3.xml"/></Relationships>
</file>

<file path=ppt/charts/_rels/chart13.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4.xml"/></Relationships>
</file>

<file path=ppt/charts/_rels/chart14.xml.rels><?xml version="1.0" encoding="UTF-8" standalone="yes"?>
<Relationships xmlns="http://schemas.openxmlformats.org/package/2006/relationships"><Relationship Id="rId1" Type="http://schemas.openxmlformats.org/officeDocument/2006/relationships/oleObject" Target="../embeddings/oleObject5.bin"/></Relationships>
</file>

<file path=ppt/charts/_rels/chart15.xml.rels><?xml version="1.0" encoding="UTF-8" standalone="yes"?>
<Relationships xmlns="http://schemas.openxmlformats.org/package/2006/relationships"><Relationship Id="rId1" Type="http://schemas.openxmlformats.org/officeDocument/2006/relationships/oleObject" Target="../embeddings/oleObject6.bin"/></Relationships>
</file>

<file path=ppt/charts/_rels/chart16.xml.rels><?xml version="1.0" encoding="UTF-8" standalone="yes"?>
<Relationships xmlns="http://schemas.openxmlformats.org/package/2006/relationships"><Relationship Id="rId1" Type="http://schemas.openxmlformats.org/officeDocument/2006/relationships/oleObject" Target="../embeddings/oleObject7.bin"/></Relationships>
</file>

<file path=ppt/charts/_rels/chart17.xml.rels><?xml version="1.0" encoding="UTF-8" standalone="yes"?>
<Relationships xmlns="http://schemas.openxmlformats.org/package/2006/relationships"><Relationship Id="rId1" Type="http://schemas.openxmlformats.org/officeDocument/2006/relationships/oleObject" Target="../embeddings/oleObject8.bin"/></Relationships>
</file>

<file path=ppt/charts/_rels/chart18.xml.rels><?xml version="1.0" encoding="UTF-8" standalone="yes"?>
<Relationships xmlns="http://schemas.openxmlformats.org/package/2006/relationships"><Relationship Id="rId1" Type="http://schemas.openxmlformats.org/officeDocument/2006/relationships/oleObject" Target="../embeddings/oleObject9.bin"/></Relationships>
</file>

<file path=ppt/charts/_rels/chart19.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oleObject" Target="NULL" TargetMode="External"/></Relationships>
</file>

<file path=ppt/charts/_rels/chart20.xml.rels><?xml version="1.0" encoding="UTF-8" standalone="yes"?>
<Relationships xmlns="http://schemas.openxmlformats.org/package/2006/relationships"><Relationship Id="rId1" Type="http://schemas.openxmlformats.org/officeDocument/2006/relationships/oleObject" Target="../embeddings/oleObject10.bin"/></Relationships>
</file>

<file path=ppt/charts/_rels/chart2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2.xml.rels><?xml version="1.0" encoding="UTF-8" standalone="yes"?>
<Relationships xmlns="http://schemas.openxmlformats.org/package/2006/relationships"><Relationship Id="rId1" Type="http://schemas.openxmlformats.org/officeDocument/2006/relationships/oleObject" Target="../embeddings/oleObject11.bin"/></Relationships>
</file>

<file path=ppt/charts/_rels/chart23.xml.rels><?xml version="1.0" encoding="UTF-8" standalone="yes"?>
<Relationships xmlns="http://schemas.openxmlformats.org/package/2006/relationships"><Relationship Id="rId1" Type="http://schemas.openxmlformats.org/officeDocument/2006/relationships/oleObject" Target="NULL" TargetMode="External"/><Relationship Id="rId2" Type="http://schemas.openxmlformats.org/officeDocument/2006/relationships/chartUserShapes" Target="../drawings/drawing5.xml"/></Relationships>
</file>

<file path=ppt/charts/_rels/chart24.xml.rels><?xml version="1.0" encoding="UTF-8" standalone="yes"?>
<Relationships xmlns="http://schemas.openxmlformats.org/package/2006/relationships"><Relationship Id="rId1" Type="http://schemas.openxmlformats.org/officeDocument/2006/relationships/oleObject" Target="../embeddings/oleObject12.bin"/><Relationship Id="rId2"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dirty="0"/>
              <a:t>2014-2017</a:t>
            </a:r>
            <a:r>
              <a:rPr lang="zh-CN" altLang="en-US" dirty="0"/>
              <a:t>年上资产规模</a:t>
            </a:r>
          </a:p>
        </c:rich>
      </c:tx>
      <c:layout>
        <c:manualLayout>
          <c:xMode val="edge"/>
          <c:yMode val="edge"/>
          <c:x val="0.1517954023627"/>
          <c:y val="0.0293948820501426"/>
        </c:manualLayout>
      </c:layout>
      <c:overlay val="0"/>
    </c:title>
    <c:autoTitleDeleted val="0"/>
    <c:plotArea>
      <c:layout/>
      <c:barChart>
        <c:barDir val="col"/>
        <c:grouping val="clustered"/>
        <c:varyColors val="0"/>
        <c:ser>
          <c:idx val="0"/>
          <c:order val="0"/>
          <c:tx>
            <c:strRef>
              <c:f>Sheet1!$B$1</c:f>
              <c:strCache>
                <c:ptCount val="1"/>
                <c:pt idx="0">
                  <c:v>流动资产 </c:v>
                </c:pt>
              </c:strCache>
            </c:strRef>
          </c:tx>
          <c:invertIfNegative val="0"/>
          <c:cat>
            <c:strRef>
              <c:f>Sheet1!$A$2:$A$5</c:f>
              <c:strCache>
                <c:ptCount val="4"/>
                <c:pt idx="0">
                  <c:v>2014</c:v>
                </c:pt>
                <c:pt idx="1">
                  <c:v>2015</c:v>
                </c:pt>
                <c:pt idx="2">
                  <c:v>16年 </c:v>
                </c:pt>
                <c:pt idx="3">
                  <c:v>2017</c:v>
                </c:pt>
              </c:strCache>
            </c:strRef>
          </c:cat>
          <c:val>
            <c:numRef>
              <c:f>Sheet1!$B$2:$B$5</c:f>
              <c:numCache>
                <c:formatCode>_(* #,##0.00_);_(* \(#,##0.00\);_(* "-"??_);_(@_)</c:formatCode>
                <c:ptCount val="4"/>
                <c:pt idx="0">
                  <c:v>20000.0</c:v>
                </c:pt>
                <c:pt idx="1">
                  <c:v>30000.0</c:v>
                </c:pt>
                <c:pt idx="2">
                  <c:v>40000.0</c:v>
                </c:pt>
                <c:pt idx="3">
                  <c:v>50000.0</c:v>
                </c:pt>
              </c:numCache>
            </c:numRef>
          </c:val>
        </c:ser>
        <c:ser>
          <c:idx val="1"/>
          <c:order val="1"/>
          <c:tx>
            <c:strRef>
              <c:f>Sheet1!$C$1</c:f>
              <c:strCache>
                <c:ptCount val="1"/>
                <c:pt idx="0">
                  <c:v>非流动资产 </c:v>
                </c:pt>
              </c:strCache>
            </c:strRef>
          </c:tx>
          <c:invertIfNegative val="0"/>
          <c:cat>
            <c:strRef>
              <c:f>Sheet1!$A$2:$A$5</c:f>
              <c:strCache>
                <c:ptCount val="4"/>
                <c:pt idx="0">
                  <c:v>2014</c:v>
                </c:pt>
                <c:pt idx="1">
                  <c:v>2015</c:v>
                </c:pt>
                <c:pt idx="2">
                  <c:v>16年 </c:v>
                </c:pt>
                <c:pt idx="3">
                  <c:v>2017</c:v>
                </c:pt>
              </c:strCache>
            </c:strRef>
          </c:cat>
          <c:val>
            <c:numRef>
              <c:f>Sheet1!$C$2:$C$5</c:f>
              <c:numCache>
                <c:formatCode>_(* #,##0.00_);_(* \(#,##0.00\);_(* "-"??_);_(@_)</c:formatCode>
                <c:ptCount val="4"/>
                <c:pt idx="0">
                  <c:v>30000.0</c:v>
                </c:pt>
                <c:pt idx="1">
                  <c:v>58000.0</c:v>
                </c:pt>
                <c:pt idx="2">
                  <c:v>45000.0</c:v>
                </c:pt>
                <c:pt idx="3">
                  <c:v>68000.0</c:v>
                </c:pt>
              </c:numCache>
            </c:numRef>
          </c:val>
        </c:ser>
        <c:ser>
          <c:idx val="2"/>
          <c:order val="2"/>
          <c:tx>
            <c:strRef>
              <c:f>Sheet1!$D$1</c:f>
              <c:strCache>
                <c:ptCount val="1"/>
                <c:pt idx="0">
                  <c:v>总资产 </c:v>
                </c:pt>
              </c:strCache>
            </c:strRef>
          </c:tx>
          <c:invertIfNegative val="0"/>
          <c:cat>
            <c:strRef>
              <c:f>Sheet1!$A$2:$A$5</c:f>
              <c:strCache>
                <c:ptCount val="4"/>
                <c:pt idx="0">
                  <c:v>2014</c:v>
                </c:pt>
                <c:pt idx="1">
                  <c:v>2015</c:v>
                </c:pt>
                <c:pt idx="2">
                  <c:v>16年 </c:v>
                </c:pt>
                <c:pt idx="3">
                  <c:v>2017</c:v>
                </c:pt>
              </c:strCache>
            </c:strRef>
          </c:cat>
          <c:val>
            <c:numRef>
              <c:f>Sheet1!$D$2:$D$5</c:f>
              <c:numCache>
                <c:formatCode>_(* #,##0.00_);_(* \(#,##0.00\);_(* "-"??_);_(@_)</c:formatCode>
                <c:ptCount val="4"/>
                <c:pt idx="0">
                  <c:v>100000.0</c:v>
                </c:pt>
                <c:pt idx="1">
                  <c:v>250000.0</c:v>
                </c:pt>
                <c:pt idx="2">
                  <c:v>350000.0</c:v>
                </c:pt>
                <c:pt idx="3">
                  <c:v>450000.0</c:v>
                </c:pt>
              </c:numCache>
            </c:numRef>
          </c:val>
        </c:ser>
        <c:dLbls>
          <c:showLegendKey val="0"/>
          <c:showVal val="0"/>
          <c:showCatName val="0"/>
          <c:showSerName val="0"/>
          <c:showPercent val="0"/>
          <c:showBubbleSize val="0"/>
        </c:dLbls>
        <c:gapWidth val="75"/>
        <c:overlap val="-25"/>
        <c:axId val="2023644352"/>
        <c:axId val="-2093940864"/>
      </c:barChart>
      <c:catAx>
        <c:axId val="202364435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940864"/>
        <c:crosses val="autoZero"/>
        <c:auto val="1"/>
        <c:lblAlgn val="ctr"/>
        <c:lblOffset val="100"/>
        <c:noMultiLvlLbl val="0"/>
      </c:catAx>
      <c:valAx>
        <c:axId val="-2093940864"/>
        <c:scaling>
          <c:orientation val="minMax"/>
        </c:scaling>
        <c:delete val="0"/>
        <c:axPos val="l"/>
        <c:majorGridlines/>
        <c:numFmt formatCode="_(* #,##0.00_);_(* \(#,##0.00\);_(* &quot;-&quot;??_);_(@_)"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23644352"/>
        <c:crosses val="autoZero"/>
        <c:crossBetween val="between"/>
      </c:valAx>
    </c:plotArea>
    <c:legend>
      <c:legendPos val="b"/>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  货币资金</c:v>
                </c:pt>
              </c:strCache>
            </c:strRef>
          </c:tx>
          <c:spPr>
            <a:solidFill>
              <a:srgbClr val="00B0F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0%</c:formatCode>
                <c:ptCount val="4"/>
                <c:pt idx="0">
                  <c:v>0.146126878581443</c:v>
                </c:pt>
                <c:pt idx="1">
                  <c:v>0.328184545593292</c:v>
                </c:pt>
                <c:pt idx="2">
                  <c:v>0.279555875055344</c:v>
                </c:pt>
                <c:pt idx="3">
                  <c:v>0.178076810362961</c:v>
                </c:pt>
              </c:numCache>
            </c:numRef>
          </c:val>
        </c:ser>
        <c:ser>
          <c:idx val="1"/>
          <c:order val="1"/>
          <c:tx>
            <c:strRef>
              <c:f>Sheet1!$C$1</c:f>
              <c:strCache>
                <c:ptCount val="1"/>
                <c:pt idx="0">
                  <c:v>  应收账款</c:v>
                </c:pt>
              </c:strCache>
            </c:strRef>
          </c:tx>
          <c:spPr>
            <a:solidFill>
              <a:srgbClr val="FFC00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0%</c:formatCode>
                <c:ptCount val="4"/>
                <c:pt idx="0">
                  <c:v>0.617014409924095</c:v>
                </c:pt>
                <c:pt idx="1">
                  <c:v>0.442270703232295</c:v>
                </c:pt>
                <c:pt idx="2">
                  <c:v>0.330259612883312</c:v>
                </c:pt>
                <c:pt idx="3">
                  <c:v>0.378173046390184</c:v>
                </c:pt>
              </c:numCache>
            </c:numRef>
          </c:val>
        </c:ser>
        <c:ser>
          <c:idx val="2"/>
          <c:order val="2"/>
          <c:tx>
            <c:strRef>
              <c:f>Sheet1!$D$1</c:f>
              <c:strCache>
                <c:ptCount val="1"/>
                <c:pt idx="0">
                  <c:v>  预付账款</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0%</c:formatCode>
                <c:ptCount val="4"/>
                <c:pt idx="0">
                  <c:v>0.0632099937099832</c:v>
                </c:pt>
                <c:pt idx="1">
                  <c:v>0.121420531171815</c:v>
                </c:pt>
                <c:pt idx="2">
                  <c:v>0.149296128883399</c:v>
                </c:pt>
                <c:pt idx="3">
                  <c:v>0.118279747732293</c:v>
                </c:pt>
              </c:numCache>
            </c:numRef>
          </c:val>
        </c:ser>
        <c:ser>
          <c:idx val="3"/>
          <c:order val="3"/>
          <c:tx>
            <c:strRef>
              <c:f>Sheet1!$E$1</c:f>
              <c:strCache>
                <c:ptCount val="1"/>
                <c:pt idx="0">
                  <c:v>  存货</c:v>
                </c:pt>
              </c:strCache>
            </c:strRef>
          </c:tx>
          <c:spPr>
            <a:solidFill>
              <a:schemeClr val="accent4">
                <a:lumMod val="40000"/>
                <a:lumOff val="60000"/>
              </a:schemeClr>
            </a:solidFill>
          </c:spPr>
          <c:invertIfNegative val="0"/>
          <c:dLbls>
            <c:dLbl>
              <c:idx val="0"/>
              <c:layout>
                <c:manualLayout>
                  <c:x val="0.00542674745541093"/>
                  <c:y val="-0.0426261089395925"/>
                </c:manualLayout>
              </c:layout>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542674745541096"/>
                  <c:y val="-0.0300988133052699"/>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Sheet1!$E$2:$E$5</c:f>
              <c:numCache>
                <c:formatCode>0%</c:formatCode>
                <c:ptCount val="4"/>
                <c:pt idx="0">
                  <c:v>0.0248020676061533</c:v>
                </c:pt>
                <c:pt idx="1">
                  <c:v>0.0107795468663861</c:v>
                </c:pt>
                <c:pt idx="2">
                  <c:v>0.158944664626955</c:v>
                </c:pt>
                <c:pt idx="3">
                  <c:v>0.193989196791046</c:v>
                </c:pt>
              </c:numCache>
            </c:numRef>
          </c:val>
        </c:ser>
        <c:dLbls>
          <c:showLegendKey val="0"/>
          <c:showVal val="1"/>
          <c:showCatName val="0"/>
          <c:showSerName val="0"/>
          <c:showPercent val="0"/>
          <c:showBubbleSize val="0"/>
        </c:dLbls>
        <c:gapWidth val="95"/>
        <c:overlap val="100"/>
        <c:axId val="-2093848928"/>
        <c:axId val="-2093128352"/>
      </c:barChart>
      <c:catAx>
        <c:axId val="-209384892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128352"/>
        <c:crosses val="autoZero"/>
        <c:auto val="1"/>
        <c:lblAlgn val="ctr"/>
        <c:lblOffset val="100"/>
        <c:noMultiLvlLbl val="0"/>
      </c:catAx>
      <c:valAx>
        <c:axId val="-2093128352"/>
        <c:scaling>
          <c:orientation val="minMax"/>
        </c:scaling>
        <c:delete val="1"/>
        <c:axPos val="l"/>
        <c:numFmt formatCode="0%" sourceLinked="1"/>
        <c:majorTickMark val="out"/>
        <c:minorTickMark val="none"/>
        <c:tickLblPos val="none"/>
        <c:crossAx val="-2093848928"/>
        <c:crosses val="autoZero"/>
        <c:crossBetween val="between"/>
      </c:valAx>
    </c:plotArea>
    <c:legend>
      <c:legendPos val="t"/>
      <c:layout>
        <c:manualLayout>
          <c:xMode val="edge"/>
          <c:yMode val="edge"/>
          <c:x val="0.057943989129413"/>
          <c:y val="0.0189212362296512"/>
          <c:w val="0.889538769196585"/>
          <c:h val="0.142313739084871"/>
        </c:manualLayout>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en-US" altLang="zh-CN" dirty="0"/>
              <a:t>2014-2017</a:t>
            </a:r>
            <a:r>
              <a:rPr lang="zh-CN" altLang="en-US" dirty="0"/>
              <a:t>年上负债规模</a:t>
            </a:r>
          </a:p>
        </c:rich>
      </c:tx>
      <c:overlay val="0"/>
    </c:title>
    <c:autoTitleDeleted val="0"/>
    <c:plotArea>
      <c:layout>
        <c:manualLayout>
          <c:layoutTarget val="inner"/>
          <c:xMode val="edge"/>
          <c:yMode val="edge"/>
          <c:x val="0.300564983520351"/>
          <c:y val="0.219766013652805"/>
          <c:w val="0.661221669814466"/>
          <c:h val="0.497722475280526"/>
        </c:manualLayout>
      </c:layout>
      <c:barChart>
        <c:barDir val="col"/>
        <c:grouping val="clustered"/>
        <c:varyColors val="0"/>
        <c:ser>
          <c:idx val="0"/>
          <c:order val="0"/>
          <c:tx>
            <c:strRef>
              <c:f>Sheet1!$B$1</c:f>
              <c:strCache>
                <c:ptCount val="1"/>
                <c:pt idx="0">
                  <c:v>流动负债 </c:v>
                </c:pt>
              </c:strCache>
            </c:strRef>
          </c:tx>
          <c:invertIfNegative val="0"/>
          <c:cat>
            <c:strRef>
              <c:f>Sheet1!$A$2:$A$5</c:f>
              <c:strCache>
                <c:ptCount val="4"/>
                <c:pt idx="0">
                  <c:v>2014</c:v>
                </c:pt>
                <c:pt idx="1">
                  <c:v>2015</c:v>
                </c:pt>
                <c:pt idx="2">
                  <c:v>2016</c:v>
                </c:pt>
                <c:pt idx="3">
                  <c:v>2017上</c:v>
                </c:pt>
              </c:strCache>
            </c:strRef>
          </c:cat>
          <c:val>
            <c:numRef>
              <c:f>Sheet1!$B$2:$B$5</c:f>
              <c:numCache>
                <c:formatCode>#,##0.00</c:formatCode>
                <c:ptCount val="4"/>
                <c:pt idx="0">
                  <c:v>5042.4</c:v>
                </c:pt>
                <c:pt idx="1">
                  <c:v>8924.859999999926</c:v>
                </c:pt>
                <c:pt idx="2">
                  <c:v>12511.64</c:v>
                </c:pt>
                <c:pt idx="3">
                  <c:v>16907.47</c:v>
                </c:pt>
              </c:numCache>
            </c:numRef>
          </c:val>
        </c:ser>
        <c:ser>
          <c:idx val="1"/>
          <c:order val="1"/>
          <c:tx>
            <c:strRef>
              <c:f>Sheet1!$C$1</c:f>
              <c:strCache>
                <c:ptCount val="1"/>
                <c:pt idx="0">
                  <c:v>非流动负债 </c:v>
                </c:pt>
              </c:strCache>
            </c:strRef>
          </c:tx>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0.0</c:v>
                </c:pt>
                <c:pt idx="1">
                  <c:v>0.0</c:v>
                </c:pt>
                <c:pt idx="2">
                  <c:v>0.0</c:v>
                </c:pt>
                <c:pt idx="3">
                  <c:v>0.0</c:v>
                </c:pt>
              </c:numCache>
            </c:numRef>
          </c:val>
        </c:ser>
        <c:ser>
          <c:idx val="2"/>
          <c:order val="2"/>
          <c:tx>
            <c:strRef>
              <c:f>Sheet1!$D$1</c:f>
              <c:strCache>
                <c:ptCount val="1"/>
                <c:pt idx="0">
                  <c:v>总负债 </c:v>
                </c:pt>
              </c:strCache>
            </c:strRef>
          </c:tx>
          <c:invertIfNegative val="0"/>
          <c:cat>
            <c:strRef>
              <c:f>Sheet1!$A$2:$A$5</c:f>
              <c:strCache>
                <c:ptCount val="4"/>
                <c:pt idx="0">
                  <c:v>2014</c:v>
                </c:pt>
                <c:pt idx="1">
                  <c:v>2015</c:v>
                </c:pt>
                <c:pt idx="2">
                  <c:v>2016</c:v>
                </c:pt>
                <c:pt idx="3">
                  <c:v>2017上</c:v>
                </c:pt>
              </c:strCache>
            </c:strRef>
          </c:cat>
          <c:val>
            <c:numRef>
              <c:f>Sheet1!$D$2:$D$5</c:f>
              <c:numCache>
                <c:formatCode>#,##0.00</c:formatCode>
                <c:ptCount val="4"/>
                <c:pt idx="0">
                  <c:v>5042.4</c:v>
                </c:pt>
                <c:pt idx="1">
                  <c:v>8924.859999999926</c:v>
                </c:pt>
                <c:pt idx="2">
                  <c:v>12511.64</c:v>
                </c:pt>
                <c:pt idx="3">
                  <c:v>16907.47</c:v>
                </c:pt>
              </c:numCache>
            </c:numRef>
          </c:val>
        </c:ser>
        <c:dLbls>
          <c:showLegendKey val="0"/>
          <c:showVal val="0"/>
          <c:showCatName val="0"/>
          <c:showSerName val="0"/>
          <c:showPercent val="0"/>
          <c:showBubbleSize val="0"/>
        </c:dLbls>
        <c:gapWidth val="75"/>
        <c:overlap val="-25"/>
        <c:axId val="-2093264592"/>
        <c:axId val="-2093262544"/>
      </c:barChart>
      <c:catAx>
        <c:axId val="-2093264592"/>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262544"/>
        <c:crosses val="autoZero"/>
        <c:auto val="1"/>
        <c:lblAlgn val="ctr"/>
        <c:lblOffset val="100"/>
        <c:noMultiLvlLbl val="0"/>
      </c:catAx>
      <c:valAx>
        <c:axId val="-2093262544"/>
        <c:scaling>
          <c:orientation val="minMax"/>
        </c:scaling>
        <c:delete val="0"/>
        <c:axPos val="l"/>
        <c:majorGridlines/>
        <c:numFmt formatCode="#,##0.00"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264592"/>
        <c:crosses val="autoZero"/>
        <c:crossBetween val="between"/>
      </c:valAx>
    </c:plotArea>
    <c:legend>
      <c:legendPos val="b"/>
      <c:layout>
        <c:manualLayout>
          <c:xMode val="edge"/>
          <c:yMode val="edge"/>
          <c:x val="0.0470605117949857"/>
          <c:y val="0.898454756673663"/>
          <c:w val="0.908818464615043"/>
          <c:h val="0.101545243326337"/>
        </c:manualLayout>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  短期借款</c:v>
                </c:pt>
              </c:strCache>
            </c:strRef>
          </c:tx>
          <c:spPr>
            <a:solidFill>
              <a:srgbClr val="00B0F0"/>
            </a:solidFill>
          </c:spPr>
          <c:invertIfNegative val="0"/>
          <c:dLbls>
            <c:dLbl>
              <c:idx val="0"/>
              <c:layout>
                <c:manualLayout>
                  <c:x val="-0.00513537889897071"/>
                  <c:y val="-0.0388007054673723"/>
                </c:manualLayout>
              </c:layout>
              <c:spPr>
                <a:noFill/>
                <a:ln>
                  <a:noFill/>
                </a:ln>
                <a:effectLst/>
              </c:spPr>
              <c:txPr>
                <a:bodyPr rot="0" spcFirstLastPara="0" vertOverflow="ellipsis" vert="horz" wrap="square" lIns="38100" tIns="19050" rIns="38100" bIns="19050" anchor="ctr" anchorCtr="1">
                  <a:noAutofit/>
                </a:bodyPr>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layout>
                    <c:manualLayout>
                      <c:w val="0.082204476635138"/>
                      <c:h val="0.0977072310405644"/>
                    </c:manualLayout>
                  </c15:layout>
                </c:ext>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0%</c:formatCode>
                <c:ptCount val="4"/>
                <c:pt idx="0">
                  <c:v>0.0</c:v>
                </c:pt>
                <c:pt idx="1">
                  <c:v>0.168069869344561</c:v>
                </c:pt>
                <c:pt idx="2">
                  <c:v>0.319702401822242</c:v>
                </c:pt>
                <c:pt idx="3">
                  <c:v>0.319702401822242</c:v>
                </c:pt>
              </c:numCache>
            </c:numRef>
          </c:val>
        </c:ser>
        <c:ser>
          <c:idx val="1"/>
          <c:order val="1"/>
          <c:tx>
            <c:strRef>
              <c:f>Sheet1!$C$1</c:f>
              <c:strCache>
                <c:ptCount val="1"/>
                <c:pt idx="0">
                  <c:v>  应付账款</c:v>
                </c:pt>
              </c:strCache>
            </c:strRef>
          </c:tx>
          <c:spPr>
            <a:solidFill>
              <a:srgbClr val="92D05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0%</c:formatCode>
                <c:ptCount val="4"/>
                <c:pt idx="0">
                  <c:v>0.903687880229199</c:v>
                </c:pt>
                <c:pt idx="1">
                  <c:v>0.696710646479704</c:v>
                </c:pt>
                <c:pt idx="2">
                  <c:v>0.583866442723126</c:v>
                </c:pt>
                <c:pt idx="3">
                  <c:v>0.583866442723126</c:v>
                </c:pt>
              </c:numCache>
            </c:numRef>
          </c:val>
        </c:ser>
        <c:ser>
          <c:idx val="2"/>
          <c:order val="2"/>
          <c:tx>
            <c:strRef>
              <c:f>Sheet1!$D$1</c:f>
              <c:strCache>
                <c:ptCount val="1"/>
                <c:pt idx="0">
                  <c:v>  其他应付款</c:v>
                </c:pt>
              </c:strCache>
            </c:strRef>
          </c:tx>
          <c:spPr>
            <a:solidFill>
              <a:schemeClr val="accent6">
                <a:lumMod val="60000"/>
                <a:lumOff val="40000"/>
              </a:schemeClr>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0%</c:formatCode>
                <c:ptCount val="4"/>
                <c:pt idx="0">
                  <c:v>0.0446364453873031</c:v>
                </c:pt>
                <c:pt idx="1">
                  <c:v>0.0552659621322508</c:v>
                </c:pt>
                <c:pt idx="2">
                  <c:v>0.0188644993920959</c:v>
                </c:pt>
                <c:pt idx="3">
                  <c:v>0.0188644993920959</c:v>
                </c:pt>
              </c:numCache>
            </c:numRef>
          </c:val>
        </c:ser>
        <c:ser>
          <c:idx val="3"/>
          <c:order val="3"/>
          <c:tx>
            <c:strRef>
              <c:f>Sheet1!$E$1</c:f>
              <c:strCache>
                <c:ptCount val="1"/>
                <c:pt idx="0">
                  <c:v>  应交税费</c:v>
                </c:pt>
              </c:strCache>
            </c:strRef>
          </c:tx>
          <c:invertIfNegative val="0"/>
          <c:dLbls>
            <c:delete val="1"/>
          </c:dLbls>
          <c:cat>
            <c:strRef>
              <c:f>Sheet1!$A$2:$A$5</c:f>
              <c:strCache>
                <c:ptCount val="4"/>
                <c:pt idx="0">
                  <c:v>2014</c:v>
                </c:pt>
                <c:pt idx="1">
                  <c:v>2015</c:v>
                </c:pt>
                <c:pt idx="2">
                  <c:v>2016</c:v>
                </c:pt>
                <c:pt idx="3">
                  <c:v>2017上</c:v>
                </c:pt>
              </c:strCache>
            </c:strRef>
          </c:cat>
          <c:val>
            <c:numRef>
              <c:f>Sheet1!$E$2:$E$5</c:f>
              <c:numCache>
                <c:formatCode>0%</c:formatCode>
                <c:ptCount val="4"/>
                <c:pt idx="0">
                  <c:v>0.0491999510991305</c:v>
                </c:pt>
                <c:pt idx="1">
                  <c:v>0.0250334227159601</c:v>
                </c:pt>
                <c:pt idx="2">
                  <c:v>0.0396465825821376</c:v>
                </c:pt>
                <c:pt idx="3">
                  <c:v>0.0396465825821376</c:v>
                </c:pt>
              </c:numCache>
            </c:numRef>
          </c:val>
        </c:ser>
        <c:dLbls>
          <c:showLegendKey val="0"/>
          <c:showVal val="1"/>
          <c:showCatName val="0"/>
          <c:showSerName val="0"/>
          <c:showPercent val="0"/>
          <c:showBubbleSize val="0"/>
        </c:dLbls>
        <c:gapWidth val="95"/>
        <c:overlap val="100"/>
        <c:axId val="1994582384"/>
        <c:axId val="2067478576"/>
      </c:barChart>
      <c:catAx>
        <c:axId val="199458238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7478576"/>
        <c:crosses val="autoZero"/>
        <c:auto val="1"/>
        <c:lblAlgn val="ctr"/>
        <c:lblOffset val="100"/>
        <c:noMultiLvlLbl val="0"/>
      </c:catAx>
      <c:valAx>
        <c:axId val="2067478576"/>
        <c:scaling>
          <c:orientation val="minMax"/>
        </c:scaling>
        <c:delete val="1"/>
        <c:axPos val="l"/>
        <c:numFmt formatCode="0%" sourceLinked="1"/>
        <c:majorTickMark val="out"/>
        <c:minorTickMark val="none"/>
        <c:tickLblPos val="none"/>
        <c:crossAx val="1994582384"/>
        <c:crosses val="autoZero"/>
        <c:crossBetween val="between"/>
      </c:valAx>
    </c:plotArea>
    <c:legend>
      <c:legendPos val="t"/>
      <c:layout>
        <c:manualLayout>
          <c:xMode val="edge"/>
          <c:yMode val="edge"/>
          <c:x val="0.057943989129413"/>
          <c:y val="0.0189212362296512"/>
          <c:w val="0.889538769196585"/>
          <c:h val="0.142313739084871"/>
        </c:manualLayout>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权益总额 </c:v>
                </c:pt>
              </c:strCache>
            </c:strRef>
          </c:tx>
          <c:spPr>
            <a:solidFill>
              <a:schemeClr val="accent2">
                <a:lumMod val="60000"/>
                <a:lumOff val="40000"/>
              </a:schemeClr>
            </a:solidFill>
          </c:spPr>
          <c:invertIfNegative val="0"/>
          <c:cat>
            <c:strRef>
              <c:f>Sheet1!$A$2:$A$5</c:f>
              <c:strCache>
                <c:ptCount val="4"/>
                <c:pt idx="0">
                  <c:v>2014</c:v>
                </c:pt>
                <c:pt idx="1">
                  <c:v>2015</c:v>
                </c:pt>
                <c:pt idx="2">
                  <c:v>2016</c:v>
                </c:pt>
                <c:pt idx="3">
                  <c:v>2017上 </c:v>
                </c:pt>
              </c:strCache>
            </c:strRef>
          </c:cat>
          <c:val>
            <c:numRef>
              <c:f>Sheet1!$B$2:$B$5</c:f>
              <c:numCache>
                <c:formatCode>General</c:formatCode>
                <c:ptCount val="4"/>
                <c:pt idx="0">
                  <c:v>5900.506695</c:v>
                </c:pt>
                <c:pt idx="1">
                  <c:v>7200.358307</c:v>
                </c:pt>
                <c:pt idx="2">
                  <c:v>11196.31249</c:v>
                </c:pt>
                <c:pt idx="3">
                  <c:v>13216.536726</c:v>
                </c:pt>
              </c:numCache>
            </c:numRef>
          </c:val>
        </c:ser>
        <c:dLbls>
          <c:showLegendKey val="0"/>
          <c:showVal val="0"/>
          <c:showCatName val="0"/>
          <c:showSerName val="0"/>
          <c:showPercent val="0"/>
          <c:showBubbleSize val="0"/>
        </c:dLbls>
        <c:gapWidth val="100"/>
        <c:axId val="-2093862800"/>
        <c:axId val="-2093860752"/>
      </c:barChart>
      <c:catAx>
        <c:axId val="-2093862800"/>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860752"/>
        <c:crosses val="autoZero"/>
        <c:auto val="1"/>
        <c:lblAlgn val="ctr"/>
        <c:lblOffset val="100"/>
        <c:noMultiLvlLbl val="0"/>
      </c:catAx>
      <c:valAx>
        <c:axId val="-2093860752"/>
        <c:scaling>
          <c:orientation val="minMax"/>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3862800"/>
        <c:crosses val="autoZero"/>
        <c:crossBetween val="between"/>
      </c:valAx>
    </c:plotArea>
    <c:legend>
      <c:legendPos val="b"/>
      <c:layout>
        <c:manualLayout>
          <c:xMode val="edge"/>
          <c:yMode val="edge"/>
          <c:x val="0.0237125969741535"/>
          <c:y val="0.84617208342869"/>
          <c:w val="0.327324127639124"/>
          <c:h val="0.128943833293101"/>
        </c:manualLayout>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400" dirty="0"/>
              <a:t>公司历年资产、负债、权益变动情况表</a:t>
            </a:r>
            <a:endParaRPr lang="en-US" altLang="zh-CN" sz="1400" dirty="0"/>
          </a:p>
        </c:rich>
      </c:tx>
      <c:layout>
        <c:manualLayout>
          <c:xMode val="edge"/>
          <c:yMode val="edge"/>
          <c:x val="0.131708036024671"/>
          <c:y val="0.00688685813939871"/>
        </c:manualLayout>
      </c:layout>
      <c:overlay val="0"/>
    </c:title>
    <c:autoTitleDeleted val="0"/>
    <c:plotArea>
      <c:layout/>
      <c:barChart>
        <c:barDir val="col"/>
        <c:grouping val="percentStacked"/>
        <c:varyColors val="0"/>
        <c:ser>
          <c:idx val="0"/>
          <c:order val="0"/>
          <c:tx>
            <c:strRef>
              <c:f>Sheet1!$B$1</c:f>
              <c:strCache>
                <c:ptCount val="1"/>
                <c:pt idx="0">
                  <c:v>  流动资产</c:v>
                </c:pt>
              </c:strCache>
            </c:strRef>
          </c:tx>
          <c:spPr>
            <a:solidFill>
              <a:srgbClr val="00B0F0"/>
            </a:solidFill>
          </c:spPr>
          <c:invertIfNegative val="0"/>
          <c:dLbls>
            <c:dLbl>
              <c:idx val="0"/>
              <c:layout>
                <c:manualLayout>
                  <c:x val="-1.39370675560636E-17"/>
                  <c:y val="0.0215084502805921"/>
                </c:manualLayout>
              </c:layout>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304084986725607"/>
                  <c:y val="0.0258101403367105"/>
                </c:manualLayout>
              </c:layout>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121633994690245"/>
                  <c:y val="0.0258101403367106"/>
                </c:manualLayout>
              </c:layout>
              <c:spPr>
                <a:noFill/>
                <a:ln>
                  <a:noFill/>
                </a:ln>
                <a:effectLst/>
              </c:spPr>
              <c:txPr>
                <a:bodyPr rot="0" spcFirstLastPara="0" vertOverflow="ellipsis" vert="horz" wrap="square" lIns="38100" tIns="19050" rIns="38100" bIns="19050" anchor="ctr" anchorCtr="0">
                  <a:spAutoFit/>
                </a:bodyPr>
                <a:lstStyle/>
                <a:p>
                  <a:pPr algn="l">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1.11496540448508E-16"/>
                  <c:y val="0.0258101403367106"/>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Sheet1!$B$2:$B$5</c:f>
              <c:numCache>
                <c:formatCode>_(* #,##0_);_(* \(#,##0\);_(* "-"_);_(@_)</c:formatCode>
                <c:ptCount val="4"/>
                <c:pt idx="0">
                  <c:v>4.0</c:v>
                </c:pt>
                <c:pt idx="1">
                  <c:v>5.0</c:v>
                </c:pt>
                <c:pt idx="2">
                  <c:v>5.0</c:v>
                </c:pt>
                <c:pt idx="3">
                  <c:v>5.0</c:v>
                </c:pt>
              </c:numCache>
            </c:numRef>
          </c:val>
        </c:ser>
        <c:ser>
          <c:idx val="1"/>
          <c:order val="1"/>
          <c:tx>
            <c:strRef>
              <c:f>Sheet1!$C$1</c:f>
              <c:strCache>
                <c:ptCount val="1"/>
                <c:pt idx="0">
                  <c:v>  非流动资产</c:v>
                </c:pt>
              </c:strCache>
            </c:strRef>
          </c:tx>
          <c:spPr>
            <a:solidFill>
              <a:srgbClr val="92D050"/>
            </a:solidFill>
          </c:spPr>
          <c:invertIfNegative val="0"/>
          <c:dLbls>
            <c:dLbl>
              <c:idx val="0"/>
              <c:layout>
                <c:manualLayout>
                  <c:x val="-1.39370675560636E-17"/>
                  <c:y val="0.0215084502805921"/>
                </c:manualLayout>
              </c:layout>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
                  <c:y val="0.030111830392829"/>
                </c:manualLayout>
              </c:layout>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121633994690245"/>
                  <c:y val="0.0215084502805921"/>
                </c:manualLayout>
              </c:layout>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0.00304084986725613"/>
                  <c:y val="0.0387152105050658"/>
                </c:manualLayout>
              </c:layout>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Sheet1!$C$2:$C$5</c:f>
              <c:numCache>
                <c:formatCode>_ * #,##0.0_ ;_ * \-#,##0.0_ ;_ * "-"_ ;_ @_ </c:formatCode>
                <c:ptCount val="4"/>
                <c:pt idx="0" formatCode="_(* #,##0_);_(* \(#,##0\);_(* &quot;-&quot;_);_(@_)">
                  <c:v>0.6</c:v>
                </c:pt>
                <c:pt idx="1">
                  <c:v>0.4</c:v>
                </c:pt>
                <c:pt idx="2">
                  <c:v>0.3</c:v>
                </c:pt>
                <c:pt idx="3">
                  <c:v>0.3</c:v>
                </c:pt>
              </c:numCache>
            </c:numRef>
          </c:val>
        </c:ser>
        <c:ser>
          <c:idx val="2"/>
          <c:order val="2"/>
          <c:tx>
            <c:strRef>
              <c:f>Sheet1!$D$1</c:f>
              <c:strCache>
                <c:ptCount val="1"/>
                <c:pt idx="0">
                  <c:v>  流动负债</c:v>
                </c:pt>
              </c:strCache>
            </c:strRef>
          </c:tx>
          <c:spPr>
            <a:solidFill>
              <a:srgbClr val="FFC000"/>
            </a:solidFill>
          </c:spPr>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Sheet1!$D$2:$D$5</c:f>
              <c:numCache>
                <c:formatCode>_(* #,##0_);_(* \(#,##0\);_(* "-"_);_(@_)</c:formatCode>
                <c:ptCount val="4"/>
                <c:pt idx="0">
                  <c:v>2.0</c:v>
                </c:pt>
                <c:pt idx="1">
                  <c:v>3.0</c:v>
                </c:pt>
                <c:pt idx="2">
                  <c:v>3.0</c:v>
                </c:pt>
                <c:pt idx="3">
                  <c:v>2.0</c:v>
                </c:pt>
              </c:numCache>
            </c:numRef>
          </c:val>
        </c:ser>
        <c:ser>
          <c:idx val="3"/>
          <c:order val="3"/>
          <c:tx>
            <c:strRef>
              <c:f>Sheet1!$E$1</c:f>
              <c:strCache>
                <c:ptCount val="1"/>
                <c:pt idx="0">
                  <c:v>  所有者权益</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2014</c:v>
                </c:pt>
                <c:pt idx="1">
                  <c:v>2015</c:v>
                </c:pt>
                <c:pt idx="2">
                  <c:v>2016</c:v>
                </c:pt>
                <c:pt idx="3">
                  <c:v>2017上</c:v>
                </c:pt>
              </c:strCache>
            </c:strRef>
          </c:cat>
          <c:val>
            <c:numRef>
              <c:f>Sheet1!$E$2:$E$5</c:f>
              <c:numCache>
                <c:formatCode>_(* #,##0_);_(* \(#,##0\);_(* "-"_);_(@_)</c:formatCode>
                <c:ptCount val="4"/>
                <c:pt idx="0">
                  <c:v>3.0</c:v>
                </c:pt>
                <c:pt idx="1">
                  <c:v>2.0</c:v>
                </c:pt>
                <c:pt idx="2">
                  <c:v>2.0</c:v>
                </c:pt>
                <c:pt idx="3">
                  <c:v>3.0</c:v>
                </c:pt>
              </c:numCache>
            </c:numRef>
          </c:val>
        </c:ser>
        <c:dLbls>
          <c:showLegendKey val="0"/>
          <c:showVal val="1"/>
          <c:showCatName val="0"/>
          <c:showSerName val="0"/>
          <c:showPercent val="0"/>
          <c:showBubbleSize val="0"/>
        </c:dLbls>
        <c:gapWidth val="95"/>
        <c:overlap val="100"/>
        <c:axId val="-2095881488"/>
        <c:axId val="-2095575792"/>
      </c:barChart>
      <c:catAx>
        <c:axId val="-209588148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95575792"/>
        <c:crosses val="autoZero"/>
        <c:auto val="1"/>
        <c:lblAlgn val="ctr"/>
        <c:lblOffset val="100"/>
        <c:noMultiLvlLbl val="0"/>
      </c:catAx>
      <c:valAx>
        <c:axId val="-2095575792"/>
        <c:scaling>
          <c:orientation val="minMax"/>
        </c:scaling>
        <c:delete val="1"/>
        <c:axPos val="l"/>
        <c:numFmt formatCode="0%" sourceLinked="1"/>
        <c:majorTickMark val="none"/>
        <c:minorTickMark val="none"/>
        <c:tickLblPos val="none"/>
        <c:crossAx val="-2095881488"/>
        <c:crosses val="autoZero"/>
        <c:crossBetween val="between"/>
      </c:valAx>
    </c:plotArea>
    <c:legend>
      <c:legendPos val="t"/>
      <c:layout>
        <c:manualLayout>
          <c:xMode val="edge"/>
          <c:yMode val="edge"/>
          <c:x val="0.0"/>
          <c:y val="0.133761899084384"/>
          <c:w val="0.978822834645672"/>
          <c:h val="0.168782480314961"/>
        </c:manualLayout>
      </c:layout>
      <c:overlay val="0"/>
      <c:txPr>
        <a:bodyPr rot="0" spcFirstLastPara="0" vertOverflow="ellipsis" vert="horz" wrap="square" anchor="ctr" anchorCtr="1"/>
        <a:lstStyle/>
        <a:p>
          <a:pPr>
            <a:defRPr lang="zh-CN" sz="14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40" b="1" i="0" u="none" strike="noStrike" kern="1200" baseline="0">
                <a:solidFill>
                  <a:schemeClr val="tx1"/>
                </a:solidFill>
                <a:latin typeface="+mn-lt"/>
                <a:ea typeface="+mn-ea"/>
                <a:cs typeface="+mn-cs"/>
              </a:defRPr>
            </a:pPr>
            <a:r>
              <a:rPr lang="zh-CN"/>
              <a:t>流动资产构成</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Pt>
            <c:idx val="4"/>
            <c:bubble3D val="0"/>
          </c:dPt>
          <c:dLbls>
            <c:delete val="1"/>
          </c:dLbls>
          <c:cat>
            <c:strRef>
              <c:f>Sheet1!$A$2:$A$6</c:f>
              <c:strCache>
                <c:ptCount val="5"/>
                <c:pt idx="0">
                  <c:v>  货币资金</c:v>
                </c:pt>
                <c:pt idx="1">
                  <c:v>  应收账款</c:v>
                </c:pt>
                <c:pt idx="2">
                  <c:v>  预付账款</c:v>
                </c:pt>
                <c:pt idx="3">
                  <c:v>  存货</c:v>
                </c:pt>
                <c:pt idx="4">
                  <c:v>其它</c:v>
                </c:pt>
              </c:strCache>
            </c:strRef>
          </c:cat>
          <c:val>
            <c:numRef>
              <c:f>Sheet1!$B$2:$B$6</c:f>
              <c:numCache>
                <c:formatCode>0%</c:formatCode>
                <c:ptCount val="5"/>
                <c:pt idx="0">
                  <c:v>0.178076810362961</c:v>
                </c:pt>
                <c:pt idx="1">
                  <c:v>0.378173046390184</c:v>
                </c:pt>
                <c:pt idx="2">
                  <c:v>0.118279747732293</c:v>
                </c:pt>
                <c:pt idx="3">
                  <c:v>0.193989196791046</c:v>
                </c:pt>
                <c:pt idx="4">
                  <c:v>0.131481198723517</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200"/>
      </a:pPr>
      <a:endParaRPr lang="zh-CN"/>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rot="0" spcFirstLastPara="0" vertOverflow="ellipsis" vert="horz" wrap="square" anchor="ctr" anchorCtr="1"/>
        <a:lstStyle/>
        <a:p>
          <a:pPr>
            <a:defRPr lang="zh-CN" sz="1800" b="1" i="0" u="none" strike="noStrike" kern="1200" baseline="0">
              <a:solidFill>
                <a:schemeClr val="tx1"/>
              </a:solidFill>
              <a:latin typeface="+mn-lt"/>
              <a:ea typeface="+mn-ea"/>
              <a:cs typeface="+mn-cs"/>
            </a:defRPr>
          </a:pPr>
          <a:endParaRPr lang="zh-CN"/>
        </a:p>
      </c:txPr>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实收资本</c:v>
                </c:pt>
                <c:pt idx="1">
                  <c:v>  资本公积</c:v>
                </c:pt>
                <c:pt idx="2">
                  <c:v>  盈余公积</c:v>
                </c:pt>
                <c:pt idx="3">
                  <c:v>  未分配利润</c:v>
                </c:pt>
              </c:strCache>
            </c:strRef>
          </c:cat>
          <c:val>
            <c:numRef>
              <c:f>Sheet1!$B$2:$B$5</c:f>
              <c:numCache>
                <c:formatCode>0%</c:formatCode>
                <c:ptCount val="4"/>
                <c:pt idx="0">
                  <c:v>0.297716770854438</c:v>
                </c:pt>
                <c:pt idx="1">
                  <c:v>0.00747363206187187</c:v>
                </c:pt>
                <c:pt idx="2">
                  <c:v>0.0759605817325665</c:v>
                </c:pt>
                <c:pt idx="3">
                  <c:v>0.618849015351129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600" b="1" i="0" u="none" strike="noStrike" kern="1200" baseline="0">
                <a:solidFill>
                  <a:schemeClr val="tx1"/>
                </a:solidFill>
                <a:latin typeface="+mn-lt"/>
                <a:ea typeface="+mn-ea"/>
                <a:cs typeface="+mn-cs"/>
              </a:defRPr>
            </a:pPr>
            <a:r>
              <a:rPr lang="zh-CN" altLang="en-US" sz="1600" dirty="0"/>
              <a:t>流动负债</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短期借款</c:v>
                </c:pt>
                <c:pt idx="1">
                  <c:v>  应付账款</c:v>
                </c:pt>
                <c:pt idx="2">
                  <c:v>  应交税费</c:v>
                </c:pt>
                <c:pt idx="3">
                  <c:v>其它</c:v>
                </c:pt>
              </c:strCache>
            </c:strRef>
          </c:cat>
          <c:val>
            <c:numRef>
              <c:f>Sheet1!$B$2:$B$5</c:f>
              <c:numCache>
                <c:formatCode>0%</c:formatCode>
                <c:ptCount val="4"/>
                <c:pt idx="0">
                  <c:v>0.319702401822242</c:v>
                </c:pt>
                <c:pt idx="1">
                  <c:v>0.583866442723126</c:v>
                </c:pt>
                <c:pt idx="2">
                  <c:v>0.0396465825821376</c:v>
                </c:pt>
                <c:pt idx="3">
                  <c:v>0.0567845728724959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600" dirty="0"/>
              <a:t>非流动资产构成</a:t>
            </a:r>
          </a:p>
        </c:rich>
      </c:tx>
      <c:overlay val="0"/>
    </c:title>
    <c:autoTitleDeleted val="0"/>
    <c:plotArea>
      <c:layout/>
      <c:pieChart>
        <c:varyColors val="1"/>
        <c:ser>
          <c:idx val="0"/>
          <c:order val="0"/>
          <c:tx>
            <c:strRef>
              <c:f>Sheet1!$B$1</c:f>
              <c:strCache>
                <c:ptCount val="1"/>
                <c:pt idx="0">
                  <c:v>销售额</c:v>
                </c:pt>
              </c:strCache>
            </c:strRef>
          </c:tx>
          <c:dPt>
            <c:idx val="0"/>
            <c:bubble3D val="0"/>
            <c:spPr>
              <a:solidFill>
                <a:srgbClr val="00B0F0"/>
              </a:solidFill>
            </c:spPr>
          </c:dPt>
          <c:dPt>
            <c:idx val="1"/>
            <c:bubble3D val="0"/>
            <c:spPr>
              <a:solidFill>
                <a:srgbClr val="92D050"/>
              </a:solidFill>
            </c:spPr>
          </c:dPt>
          <c:dPt>
            <c:idx val="2"/>
            <c:bubble3D val="0"/>
            <c:spPr>
              <a:solidFill>
                <a:srgbClr val="FFFF00"/>
              </a:solidFill>
            </c:spPr>
          </c:dPt>
          <c:dPt>
            <c:idx val="3"/>
            <c:bubble3D val="0"/>
          </c:dPt>
          <c:dLbls>
            <c:delete val="1"/>
          </c:dLbls>
          <c:cat>
            <c:strRef>
              <c:f>Sheet1!$A$2:$A$5</c:f>
              <c:strCache>
                <c:ptCount val="4"/>
                <c:pt idx="0">
                  <c:v>  长期股权投资</c:v>
                </c:pt>
                <c:pt idx="1">
                  <c:v>  固定资产净额</c:v>
                </c:pt>
                <c:pt idx="2">
                  <c:v>  在建工程</c:v>
                </c:pt>
                <c:pt idx="3">
                  <c:v>  无形资产</c:v>
                </c:pt>
              </c:strCache>
            </c:strRef>
          </c:cat>
          <c:val>
            <c:numRef>
              <c:f>Sheet1!$B$2:$B$5</c:f>
              <c:numCache>
                <c:formatCode>0%</c:formatCode>
                <c:ptCount val="4"/>
                <c:pt idx="0">
                  <c:v>0.0701194197682947</c:v>
                </c:pt>
                <c:pt idx="1">
                  <c:v>0.773982124551671</c:v>
                </c:pt>
                <c:pt idx="2">
                  <c:v>0.103403959166383</c:v>
                </c:pt>
                <c:pt idx="3">
                  <c:v>0.0524944965136509</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1"/>
          <c:showSerName val="0"/>
          <c:showPercent val="1"/>
          <c:showBubbleSize val="0"/>
          <c:showLeaderLines val="0"/>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00" b="1" i="0" u="none" strike="noStrike" kern="1200" baseline="0">
                <a:solidFill>
                  <a:schemeClr val="tx1"/>
                </a:solidFill>
                <a:latin typeface="+mn-lt"/>
                <a:ea typeface="+mn-ea"/>
                <a:cs typeface="+mn-cs"/>
              </a:defRPr>
            </a:pPr>
            <a:r>
              <a:rPr lang="en-US" altLang="zh-CN" sz="1400" dirty="0"/>
              <a:t>2014-2017</a:t>
            </a:r>
            <a:r>
              <a:rPr lang="zh-CN" altLang="en-US" sz="1400" dirty="0"/>
              <a:t>上营收对比图</a:t>
            </a:r>
          </a:p>
        </c:rich>
      </c:tx>
      <c:overlay val="0"/>
    </c:title>
    <c:autoTitleDeleted val="0"/>
    <c:plotArea>
      <c:layout/>
      <c:barChart>
        <c:barDir val="col"/>
        <c:grouping val="clustered"/>
        <c:varyColors val="0"/>
        <c:ser>
          <c:idx val="0"/>
          <c:order val="0"/>
          <c:tx>
            <c:strRef>
              <c:f>Sheet1!$B$1</c:f>
              <c:strCache>
                <c:ptCount val="1"/>
                <c:pt idx="0">
                  <c:v>营业收入</c:v>
                </c:pt>
              </c:strCache>
            </c:strRef>
          </c:tx>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12254.0</c:v>
                </c:pt>
                <c:pt idx="1">
                  <c:v>16728.0</c:v>
                </c:pt>
                <c:pt idx="2">
                  <c:v>17462.0</c:v>
                </c:pt>
                <c:pt idx="3">
                  <c:v>10714.0</c:v>
                </c:pt>
              </c:numCache>
            </c:numRef>
          </c:val>
        </c:ser>
        <c:ser>
          <c:idx val="1"/>
          <c:order val="1"/>
          <c:tx>
            <c:strRef>
              <c:f>Sheet1!$C$1</c:f>
              <c:strCache>
                <c:ptCount val="1"/>
                <c:pt idx="0">
                  <c:v>营业成本</c:v>
                </c:pt>
              </c:strCache>
            </c:strRef>
          </c:tx>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8878.0</c:v>
                </c:pt>
                <c:pt idx="1">
                  <c:v>12060.0</c:v>
                </c:pt>
                <c:pt idx="2">
                  <c:v>11159.0</c:v>
                </c:pt>
                <c:pt idx="3">
                  <c:v>7526.0</c:v>
                </c:pt>
              </c:numCache>
            </c:numRef>
          </c:val>
        </c:ser>
        <c:ser>
          <c:idx val="2"/>
          <c:order val="2"/>
          <c:tx>
            <c:strRef>
              <c:f>Sheet1!$D$1</c:f>
              <c:strCache>
                <c:ptCount val="1"/>
                <c:pt idx="0">
                  <c:v>毛利</c:v>
                </c:pt>
              </c:strCache>
            </c:strRef>
          </c:tx>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3376.0</c:v>
                </c:pt>
                <c:pt idx="1">
                  <c:v>4668.0</c:v>
                </c:pt>
                <c:pt idx="2">
                  <c:v>6303.0</c:v>
                </c:pt>
                <c:pt idx="3">
                  <c:v>3188.0</c:v>
                </c:pt>
              </c:numCache>
            </c:numRef>
          </c:val>
        </c:ser>
        <c:ser>
          <c:idx val="3"/>
          <c:order val="3"/>
          <c:tx>
            <c:strRef>
              <c:f>Sheet1!$E$1</c:f>
              <c:strCache>
                <c:ptCount val="1"/>
                <c:pt idx="0">
                  <c:v>净利润</c:v>
                </c:pt>
              </c:strCache>
            </c:strRef>
          </c:tx>
          <c:invertIfNegative val="0"/>
          <c:cat>
            <c:strRef>
              <c:f>Sheet1!$A$2:$A$5</c:f>
              <c:strCache>
                <c:ptCount val="4"/>
                <c:pt idx="0">
                  <c:v>2014</c:v>
                </c:pt>
                <c:pt idx="1">
                  <c:v>2015</c:v>
                </c:pt>
                <c:pt idx="2">
                  <c:v>2016</c:v>
                </c:pt>
                <c:pt idx="3">
                  <c:v>2017上</c:v>
                </c:pt>
              </c:strCache>
            </c:strRef>
          </c:cat>
          <c:val>
            <c:numRef>
              <c:f>Sheet1!$E$2:$E$5</c:f>
              <c:numCache>
                <c:formatCode>_(* #,##0.00_);_(* \(#,##0.00\);_(* "-"??_);_(@_)</c:formatCode>
                <c:ptCount val="4"/>
                <c:pt idx="0">
                  <c:v>1925.0</c:v>
                </c:pt>
                <c:pt idx="1">
                  <c:v>1313.0</c:v>
                </c:pt>
                <c:pt idx="2">
                  <c:v>4002.0</c:v>
                </c:pt>
                <c:pt idx="3">
                  <c:v>2020.0</c:v>
                </c:pt>
              </c:numCache>
            </c:numRef>
          </c:val>
        </c:ser>
        <c:dLbls>
          <c:showLegendKey val="0"/>
          <c:showVal val="0"/>
          <c:showCatName val="0"/>
          <c:showSerName val="0"/>
          <c:showPercent val="0"/>
          <c:showBubbleSize val="0"/>
        </c:dLbls>
        <c:gapWidth val="150"/>
        <c:axId val="2067761296"/>
        <c:axId val="2067318496"/>
      </c:barChart>
      <c:catAx>
        <c:axId val="2067761296"/>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67318496"/>
        <c:crosses val="autoZero"/>
        <c:auto val="1"/>
        <c:lblAlgn val="ctr"/>
        <c:lblOffset val="100"/>
        <c:noMultiLvlLbl val="0"/>
      </c:catAx>
      <c:valAx>
        <c:axId val="2067318496"/>
        <c:scaling>
          <c:orientation val="minMax"/>
        </c:scaling>
        <c:delete val="0"/>
        <c:axPos val="l"/>
        <c:majorGridlines/>
        <c:numFmt formatCode="General" sourceLinked="1"/>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67761296"/>
        <c:crosses val="autoZero"/>
        <c:crossBetween val="between"/>
      </c:valAx>
    </c:plotArea>
    <c:legend>
      <c:legendPos val="r"/>
      <c:overlay val="0"/>
      <c:txPr>
        <a:bodyPr rot="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dirty="0"/>
              <a:t>当年值</a:t>
            </a:r>
          </a:p>
        </c:rich>
      </c:tx>
      <c:overlay val="0"/>
    </c:title>
    <c:autoTitleDeleted val="0"/>
    <c:plotArea>
      <c:layout>
        <c:manualLayout>
          <c:layoutTarget val="inner"/>
          <c:xMode val="edge"/>
          <c:yMode val="edge"/>
          <c:x val="0.214505249343832"/>
          <c:y val="0.217154691145429"/>
          <c:w val="0.529322834645669"/>
          <c:h val="0.700172203088547"/>
        </c:manualLayout>
      </c:layout>
      <c:pieChart>
        <c:varyColors val="1"/>
        <c:ser>
          <c:idx val="0"/>
          <c:order val="0"/>
          <c:tx>
            <c:strRef>
              <c:f>Sheet1!$B$1</c:f>
              <c:strCache>
                <c:ptCount val="1"/>
                <c:pt idx="0">
                  <c:v>当年值</c:v>
                </c:pt>
              </c:strCache>
            </c:strRef>
          </c:tx>
          <c:dPt>
            <c:idx val="0"/>
            <c:bubble3D val="0"/>
            <c:spPr>
              <a:solidFill>
                <a:srgbClr val="92D050"/>
              </a:solidFill>
            </c:spPr>
          </c:dPt>
          <c:dPt>
            <c:idx val="1"/>
            <c:bubble3D val="0"/>
            <c:spPr>
              <a:solidFill>
                <a:schemeClr val="tx2">
                  <a:lumMod val="60000"/>
                  <a:lumOff val="40000"/>
                </a:schemeClr>
              </a:solidFill>
            </c:spPr>
          </c:dPt>
          <c:dPt>
            <c:idx val="2"/>
            <c:bubble3D val="0"/>
            <c:spPr>
              <a:solidFill>
                <a:srgbClr val="FFFF00"/>
              </a:solidFill>
            </c:spPr>
          </c:dPt>
          <c:dPt>
            <c:idx val="3"/>
            <c:bubble3D val="0"/>
          </c:dPt>
          <c:dPt>
            <c:idx val="4"/>
            <c:bubble3D val="0"/>
            <c:spPr>
              <a:solidFill>
                <a:schemeClr val="accent6">
                  <a:lumMod val="75000"/>
                </a:schemeClr>
              </a:solidFill>
            </c:spPr>
          </c:dPt>
          <c:dPt>
            <c:idx val="5"/>
            <c:bubble3D val="0"/>
            <c:spPr>
              <a:solidFill>
                <a:schemeClr val="accent4">
                  <a:lumMod val="20000"/>
                  <a:lumOff val="80000"/>
                </a:schemeClr>
              </a:solidFill>
            </c:spPr>
          </c:dPt>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0.346929251446705</c:v>
                </c:pt>
                <c:pt idx="1">
                  <c:v>0.553668097815942</c:v>
                </c:pt>
                <c:pt idx="2">
                  <c:v>0.0401344035840956</c:v>
                </c:pt>
                <c:pt idx="3">
                  <c:v>0.0153070748553295</c:v>
                </c:pt>
                <c:pt idx="4">
                  <c:v>0.0350942691805115</c:v>
                </c:pt>
                <c:pt idx="5">
                  <c:v>0.00886690311741647</c:v>
                </c:pt>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0"/>
    </mc:Choice>
    <mc:Fallback>
      <c:style val="10"/>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sz="1800" dirty="0"/>
              <a:t>上年值</a:t>
            </a:r>
          </a:p>
        </c:rich>
      </c:tx>
      <c:overlay val="0"/>
    </c:title>
    <c:autoTitleDeleted val="0"/>
    <c:plotArea>
      <c:layout/>
      <c:pieChart>
        <c:varyColors val="1"/>
        <c:ser>
          <c:idx val="0"/>
          <c:order val="0"/>
          <c:tx>
            <c:strRef>
              <c:f>Sheet1!$B$1</c:f>
              <c:strCache>
                <c:ptCount val="1"/>
                <c:pt idx="0">
                  <c:v>上年值</c:v>
                </c:pt>
              </c:strCache>
            </c:strRef>
          </c:tx>
          <c:spPr>
            <a:solidFill>
              <a:schemeClr val="tx2">
                <a:lumMod val="60000"/>
                <a:lumOff val="40000"/>
              </a:schemeClr>
            </a:solidFill>
          </c:spPr>
          <c:dPt>
            <c:idx val="0"/>
            <c:bubble3D val="0"/>
          </c:dPt>
          <c:dPt>
            <c:idx val="1"/>
            <c:bubble3D val="0"/>
          </c:dPt>
          <c:dPt>
            <c:idx val="2"/>
            <c:bubble3D val="0"/>
          </c:dPt>
          <c:dPt>
            <c:idx val="3"/>
            <c:bubble3D val="0"/>
            <c:spPr>
              <a:solidFill>
                <a:srgbClr val="92D050"/>
              </a:solidFill>
            </c:spPr>
          </c:dPt>
          <c:dPt>
            <c:idx val="4"/>
            <c:bubble3D val="0"/>
            <c:spPr>
              <a:solidFill>
                <a:srgbClr val="FFFF00"/>
              </a:solidFill>
            </c:spPr>
          </c:dPt>
          <c:dPt>
            <c:idx val="5"/>
            <c:bubble3D val="0"/>
            <c:spPr>
              <a:solidFill>
                <a:schemeClr val="accent6">
                  <a:lumMod val="75000"/>
                </a:schemeClr>
              </a:solidFill>
              <a:ln w="6350" cap="flat" cmpd="sng" algn="ctr">
                <a:solidFill>
                  <a:srgbClr val="FFFF00"/>
                </a:solidFill>
                <a:prstDash val="solid"/>
                <a:round/>
              </a:ln>
            </c:spPr>
          </c:dPt>
          <c:dLbls>
            <c:delete val="1"/>
          </c:dLbls>
          <c:cat>
            <c:strRef>
              <c:f>Sheet1!$A$2:$A$7</c:f>
              <c:strCache>
                <c:ptCount val="6"/>
                <c:pt idx="0">
                  <c:v>工程 </c:v>
                </c:pt>
                <c:pt idx="1">
                  <c:v>内销    </c:v>
                </c:pt>
                <c:pt idx="2">
                  <c:v>外销    </c:v>
                </c:pt>
                <c:pt idx="3">
                  <c:v>运营 </c:v>
                </c:pt>
                <c:pt idx="4">
                  <c:v> 设计咨询 </c:v>
                </c:pt>
                <c:pt idx="5">
                  <c:v>房屋租赁 </c:v>
                </c:pt>
              </c:strCache>
            </c:strRef>
          </c:cat>
          <c:val>
            <c:numRef>
              <c:f>Sheet1!$B$2:$B$7</c:f>
              <c:numCache>
                <c:formatCode>0%</c:formatCode>
                <c:ptCount val="6"/>
                <c:pt idx="0">
                  <c:v>0.00813871196036801</c:v>
                </c:pt>
                <c:pt idx="1">
                  <c:v>0.937190375088465</c:v>
                </c:pt>
                <c:pt idx="2">
                  <c:v>0.0</c:v>
                </c:pt>
                <c:pt idx="3">
                  <c:v>0.0261854210898798</c:v>
                </c:pt>
                <c:pt idx="4">
                  <c:v>0.00778485491861289</c:v>
                </c:pt>
                <c:pt idx="5">
                  <c:v>0.0207006369426752</c:v>
                </c:pt>
              </c:numCache>
            </c:numRef>
          </c:val>
        </c:ser>
        <c:dLbls>
          <c:showLegendKey val="0"/>
          <c:showVal val="0"/>
          <c:showCatName val="1"/>
          <c:showSerName val="0"/>
          <c:showPercent val="0"/>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dirty="0"/>
              <a:t>历年货币资金储备趋势对比</a:t>
            </a:r>
          </a:p>
        </c:rich>
      </c:tx>
      <c:overlay val="0"/>
    </c:title>
    <c:autoTitleDeleted val="0"/>
    <c:plotArea>
      <c:layout>
        <c:manualLayout>
          <c:layoutTarget val="inner"/>
          <c:xMode val="edge"/>
          <c:yMode val="edge"/>
          <c:x val="0.110982346717447"/>
          <c:y val="0.151499370440321"/>
          <c:w val="0.809239653537977"/>
          <c:h val="0.630738266458858"/>
        </c:manualLayout>
      </c:layout>
      <c:barChart>
        <c:barDir val="col"/>
        <c:grouping val="clustered"/>
        <c:varyColors val="0"/>
        <c:ser>
          <c:idx val="0"/>
          <c:order val="0"/>
          <c:tx>
            <c:strRef>
              <c:f>Sheet1!$B$1</c:f>
              <c:strCache>
                <c:ptCount val="1"/>
                <c:pt idx="0">
                  <c:v>金额</c:v>
                </c:pt>
              </c:strCache>
            </c:strRef>
          </c:tx>
          <c:spPr>
            <a:gradFill>
              <a:gsLst>
                <a:gs pos="0">
                  <a:srgbClr val="03D4A8"/>
                </a:gs>
                <a:gs pos="25000">
                  <a:srgbClr val="21D6E0"/>
                </a:gs>
                <a:gs pos="75000">
                  <a:srgbClr val="0087E6"/>
                </a:gs>
                <a:gs pos="100000">
                  <a:srgbClr val="005CBF"/>
                </a:gs>
              </a:gsLst>
              <a:lin ang="5400000" scaled="0"/>
            </a:gradFill>
          </c:spPr>
          <c:invertIfNegative val="0"/>
          <c:cat>
            <c:strRef>
              <c:f>Sheet1!$A$2:$A$7</c:f>
              <c:strCache>
                <c:ptCount val="6"/>
                <c:pt idx="0">
                  <c:v>2012年</c:v>
                </c:pt>
                <c:pt idx="1">
                  <c:v>2013年</c:v>
                </c:pt>
                <c:pt idx="2">
                  <c:v>2014年</c:v>
                </c:pt>
                <c:pt idx="3">
                  <c:v>2015年</c:v>
                </c:pt>
                <c:pt idx="4">
                  <c:v>2016年</c:v>
                </c:pt>
                <c:pt idx="5">
                  <c:v>2017年</c:v>
                </c:pt>
              </c:strCache>
            </c:strRef>
          </c:cat>
          <c:val>
            <c:numRef>
              <c:f>Sheet1!$B$2:$B$7</c:f>
              <c:numCache>
                <c:formatCode>_ * #,##0_ ;_ * \-#,##0_ ;_ * "-"??_ ;_ @_ </c:formatCode>
                <c:ptCount val="6"/>
                <c:pt idx="0">
                  <c:v>1777.547028</c:v>
                </c:pt>
                <c:pt idx="1">
                  <c:v>344.265043</c:v>
                </c:pt>
                <c:pt idx="2">
                  <c:v>1599.05356</c:v>
                </c:pt>
                <c:pt idx="3">
                  <c:v>5292.047337</c:v>
                </c:pt>
                <c:pt idx="4">
                  <c:v>6627.696216</c:v>
                </c:pt>
                <c:pt idx="5">
                  <c:v>5364.38642</c:v>
                </c:pt>
              </c:numCache>
            </c:numRef>
          </c:val>
        </c:ser>
        <c:dLbls>
          <c:showLegendKey val="0"/>
          <c:showVal val="0"/>
          <c:showCatName val="0"/>
          <c:showSerName val="0"/>
          <c:showPercent val="0"/>
          <c:showBubbleSize val="0"/>
        </c:dLbls>
        <c:gapWidth val="150"/>
        <c:axId val="2066552624"/>
        <c:axId val="2066554400"/>
      </c:barChart>
      <c:lineChart>
        <c:grouping val="stacked"/>
        <c:varyColors val="0"/>
        <c:ser>
          <c:idx val="1"/>
          <c:order val="1"/>
          <c:tx>
            <c:strRef>
              <c:f>Sheet1!$C$1</c:f>
              <c:strCache>
                <c:ptCount val="1"/>
                <c:pt idx="0">
                  <c:v>列1</c:v>
                </c:pt>
              </c:strCache>
            </c:strRef>
          </c:tx>
          <c:spPr>
            <a:ln w="19050" cap="rnd" cmpd="sng" algn="ctr">
              <a:gradFill>
                <a:gsLst>
                  <a:gs pos="0">
                    <a:srgbClr val="FFF200"/>
                  </a:gs>
                  <a:gs pos="45000">
                    <a:srgbClr val="FF7A00"/>
                  </a:gs>
                  <a:gs pos="70000">
                    <a:srgbClr val="FF0300"/>
                  </a:gs>
                  <a:gs pos="100000">
                    <a:srgbClr val="4D0808"/>
                  </a:gs>
                </a:gsLst>
                <a:lin ang="5400000" scaled="0"/>
              </a:gradFill>
              <a:prstDash val="solid"/>
              <a:round/>
            </a:ln>
          </c:spPr>
          <c:marker>
            <c:symbol val="none"/>
          </c:marker>
          <c:cat>
            <c:strRef>
              <c:f>Sheet1!$A$2:$A$7</c:f>
              <c:strCache>
                <c:ptCount val="6"/>
                <c:pt idx="0">
                  <c:v>2012年</c:v>
                </c:pt>
                <c:pt idx="1">
                  <c:v>2013年</c:v>
                </c:pt>
                <c:pt idx="2">
                  <c:v>2014年</c:v>
                </c:pt>
                <c:pt idx="3">
                  <c:v>2015年</c:v>
                </c:pt>
                <c:pt idx="4">
                  <c:v>2016年</c:v>
                </c:pt>
                <c:pt idx="5">
                  <c:v>2017年</c:v>
                </c:pt>
              </c:strCache>
            </c:strRef>
          </c:cat>
          <c:val>
            <c:numRef>
              <c:f>Sheet1!$C$2:$C$7</c:f>
              <c:numCache>
                <c:formatCode>0%</c:formatCode>
                <c:ptCount val="6"/>
                <c:pt idx="0">
                  <c:v>0.08</c:v>
                </c:pt>
                <c:pt idx="1">
                  <c:v>0.0163896746036186</c:v>
                </c:pt>
                <c:pt idx="2">
                  <c:v>0.0761272980078839</c:v>
                </c:pt>
                <c:pt idx="3">
                  <c:v>0.25194232061597</c:v>
                </c:pt>
                <c:pt idx="4">
                  <c:v>0.31552952168854</c:v>
                </c:pt>
                <c:pt idx="5">
                  <c:v>0.255386219599039</c:v>
                </c:pt>
              </c:numCache>
            </c:numRef>
          </c:val>
          <c:smooth val="0"/>
        </c:ser>
        <c:dLbls>
          <c:showLegendKey val="0"/>
          <c:showVal val="0"/>
          <c:showCatName val="0"/>
          <c:showSerName val="0"/>
          <c:showPercent val="0"/>
          <c:showBubbleSize val="0"/>
        </c:dLbls>
        <c:marker val="1"/>
        <c:smooth val="0"/>
        <c:axId val="2066438800"/>
        <c:axId val="2066347728"/>
      </c:lineChart>
      <c:catAx>
        <c:axId val="2066552624"/>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6554400"/>
        <c:crosses val="autoZero"/>
        <c:auto val="1"/>
        <c:lblAlgn val="ctr"/>
        <c:lblOffset val="100"/>
        <c:noMultiLvlLbl val="0"/>
      </c:catAx>
      <c:valAx>
        <c:axId val="2066554400"/>
        <c:scaling>
          <c:orientation val="minMax"/>
        </c:scaling>
        <c:delete val="0"/>
        <c:axPos val="l"/>
        <c:majorGridlines/>
        <c:numFmt formatCode="_ * #,##0_ ;_ * \-#,##0_ ;_ * &quot;-&quot;??_ ;_ @_ " sourceLinked="1"/>
        <c:majorTickMark val="none"/>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6552624"/>
        <c:crosses val="autoZero"/>
        <c:crossBetween val="between"/>
      </c:valAx>
      <c:catAx>
        <c:axId val="2066438800"/>
        <c:scaling>
          <c:orientation val="minMax"/>
        </c:scaling>
        <c:delete val="1"/>
        <c:axPos val="b"/>
        <c:numFmt formatCode="General" sourceLinked="1"/>
        <c:majorTickMark val="out"/>
        <c:minorTickMark val="none"/>
        <c:tickLblPos val="none"/>
        <c:crossAx val="2066347728"/>
        <c:crosses val="autoZero"/>
        <c:auto val="1"/>
        <c:lblAlgn val="ctr"/>
        <c:lblOffset val="100"/>
        <c:noMultiLvlLbl val="0"/>
      </c:catAx>
      <c:valAx>
        <c:axId val="2066347728"/>
        <c:scaling>
          <c:orientation val="minMax"/>
        </c:scaling>
        <c:delete val="0"/>
        <c:axPos val="r"/>
        <c:numFmt formatCode="0%"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6438800"/>
        <c:crosses val="max"/>
        <c:crossBetween val="between"/>
      </c:valAx>
      <c:spPr>
        <a:blipFill>
          <a:blip xmlns:r="http://schemas.openxmlformats.org/officeDocument/2006/relationships" r:embed="rId1"/>
          <a:tile tx="0" ty="0" sx="100000" sy="100000" flip="none" algn="tl"/>
        </a:blipFill>
      </c:spPr>
    </c:plotArea>
    <c:plotVisOnly val="1"/>
    <c:dispBlanksAs val="gap"/>
    <c:showDLblsOverMax val="0"/>
  </c:chart>
  <c:txPr>
    <a:bodyPr/>
    <a:lstStyle/>
    <a:p>
      <a:pPr>
        <a:defRPr lang="zh-CN" sz="1800"/>
      </a:pPr>
      <a:endParaRPr lang="zh-CN"/>
    </a:p>
  </c:tx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mn-lt"/>
                <a:ea typeface="+mn-ea"/>
                <a:cs typeface="+mn-cs"/>
              </a:defRPr>
            </a:pPr>
            <a:r>
              <a:rPr lang="en-US" altLang="zh-CN" dirty="0"/>
              <a:t>2014-2017</a:t>
            </a:r>
            <a:r>
              <a:rPr lang="zh-CN" altLang="en-US" dirty="0"/>
              <a:t>年上期间费用对比图</a:t>
            </a:r>
          </a:p>
        </c:rich>
      </c:tx>
      <c:overlay val="0"/>
    </c:title>
    <c:autoTitleDeleted val="0"/>
    <c:plotArea>
      <c:layout/>
      <c:barChart>
        <c:barDir val="col"/>
        <c:grouping val="clustered"/>
        <c:varyColors val="0"/>
        <c:ser>
          <c:idx val="0"/>
          <c:order val="0"/>
          <c:tx>
            <c:strRef>
              <c:f>Sheet1!$B$1</c:f>
              <c:strCache>
                <c:ptCount val="1"/>
                <c:pt idx="0">
                  <c:v>销售费用</c:v>
                </c:pt>
              </c:strCache>
            </c:strRef>
          </c:tx>
          <c:invertIfNegative val="0"/>
          <c:cat>
            <c:strRef>
              <c:f>Sheet1!$A$2:$A$5</c:f>
              <c:strCache>
                <c:ptCount val="4"/>
                <c:pt idx="0">
                  <c:v>2014</c:v>
                </c:pt>
                <c:pt idx="1">
                  <c:v>2015</c:v>
                </c:pt>
                <c:pt idx="2">
                  <c:v>2016</c:v>
                </c:pt>
                <c:pt idx="3">
                  <c:v>2017上</c:v>
                </c:pt>
              </c:strCache>
            </c:strRef>
          </c:cat>
          <c:val>
            <c:numRef>
              <c:f>Sheet1!$B$2:$B$5</c:f>
              <c:numCache>
                <c:formatCode>General</c:formatCode>
                <c:ptCount val="4"/>
                <c:pt idx="0">
                  <c:v>112.0</c:v>
                </c:pt>
                <c:pt idx="1">
                  <c:v>134.0</c:v>
                </c:pt>
                <c:pt idx="2">
                  <c:v>200.0</c:v>
                </c:pt>
                <c:pt idx="3">
                  <c:v>117.0</c:v>
                </c:pt>
              </c:numCache>
            </c:numRef>
          </c:val>
        </c:ser>
        <c:ser>
          <c:idx val="1"/>
          <c:order val="1"/>
          <c:tx>
            <c:strRef>
              <c:f>Sheet1!$C$1</c:f>
              <c:strCache>
                <c:ptCount val="1"/>
                <c:pt idx="0">
                  <c:v>管理费有</c:v>
                </c:pt>
              </c:strCache>
            </c:strRef>
          </c:tx>
          <c:spPr>
            <a:solidFill>
              <a:srgbClr val="FFC000"/>
            </a:solidFill>
          </c:spPr>
          <c:invertIfNegative val="0"/>
          <c:cat>
            <c:strRef>
              <c:f>Sheet1!$A$2:$A$5</c:f>
              <c:strCache>
                <c:ptCount val="4"/>
                <c:pt idx="0">
                  <c:v>2014</c:v>
                </c:pt>
                <c:pt idx="1">
                  <c:v>2015</c:v>
                </c:pt>
                <c:pt idx="2">
                  <c:v>2016</c:v>
                </c:pt>
                <c:pt idx="3">
                  <c:v>2017上</c:v>
                </c:pt>
              </c:strCache>
            </c:strRef>
          </c:cat>
          <c:val>
            <c:numRef>
              <c:f>Sheet1!$C$2:$C$5</c:f>
              <c:numCache>
                <c:formatCode>General</c:formatCode>
                <c:ptCount val="4"/>
                <c:pt idx="0">
                  <c:v>920.0</c:v>
                </c:pt>
                <c:pt idx="1">
                  <c:v>1150.0</c:v>
                </c:pt>
                <c:pt idx="2">
                  <c:v>1622.0</c:v>
                </c:pt>
                <c:pt idx="3">
                  <c:v>834.0</c:v>
                </c:pt>
              </c:numCache>
            </c:numRef>
          </c:val>
        </c:ser>
        <c:ser>
          <c:idx val="2"/>
          <c:order val="2"/>
          <c:tx>
            <c:strRef>
              <c:f>Sheet1!$D$1</c:f>
              <c:strCache>
                <c:ptCount val="1"/>
                <c:pt idx="0">
                  <c:v>财务费用</c:v>
                </c:pt>
              </c:strCache>
            </c:strRef>
          </c:tx>
          <c:invertIfNegative val="0"/>
          <c:cat>
            <c:strRef>
              <c:f>Sheet1!$A$2:$A$5</c:f>
              <c:strCache>
                <c:ptCount val="4"/>
                <c:pt idx="0">
                  <c:v>2014</c:v>
                </c:pt>
                <c:pt idx="1">
                  <c:v>2015</c:v>
                </c:pt>
                <c:pt idx="2">
                  <c:v>2016</c:v>
                </c:pt>
                <c:pt idx="3">
                  <c:v>2017上</c:v>
                </c:pt>
              </c:strCache>
            </c:strRef>
          </c:cat>
          <c:val>
            <c:numRef>
              <c:f>Sheet1!$D$2:$D$5</c:f>
              <c:numCache>
                <c:formatCode>General</c:formatCode>
                <c:ptCount val="4"/>
                <c:pt idx="0">
                  <c:v>14.0</c:v>
                </c:pt>
                <c:pt idx="1">
                  <c:v>19.0</c:v>
                </c:pt>
                <c:pt idx="2">
                  <c:v>-74.0</c:v>
                </c:pt>
                <c:pt idx="3">
                  <c:v>147.0</c:v>
                </c:pt>
              </c:numCache>
            </c:numRef>
          </c:val>
        </c:ser>
        <c:dLbls>
          <c:showLegendKey val="0"/>
          <c:showVal val="0"/>
          <c:showCatName val="0"/>
          <c:showSerName val="0"/>
          <c:showPercent val="0"/>
          <c:showBubbleSize val="0"/>
        </c:dLbls>
        <c:gapWidth val="75"/>
        <c:overlap val="-25"/>
        <c:axId val="-2096817648"/>
        <c:axId val="1953701696"/>
      </c:barChart>
      <c:catAx>
        <c:axId val="-209681764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953701696"/>
        <c:crosses val="autoZero"/>
        <c:auto val="1"/>
        <c:lblAlgn val="ctr"/>
        <c:lblOffset val="100"/>
        <c:noMultiLvlLbl val="0"/>
      </c:catAx>
      <c:valAx>
        <c:axId val="1953701696"/>
        <c:scaling>
          <c:orientation val="minMax"/>
        </c:scaling>
        <c:delete val="0"/>
        <c:axPos val="l"/>
        <c:majorGridlines/>
        <c:numFmt formatCode="General" sourceLinked="1"/>
        <c:majorTickMark val="none"/>
        <c:minorTickMark val="none"/>
        <c:tickLblPos val="nextTo"/>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2096817648"/>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000" baseline="0"/>
      </a:pPr>
      <a:endParaRPr lang="zh-CN"/>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aseline="0" dirty="0"/>
              <a:t>2016-2017</a:t>
            </a:r>
            <a:r>
              <a:rPr lang="zh-CN" altLang="en-US" sz="1100" baseline="0" dirty="0"/>
              <a:t>销售费用结构比</a:t>
            </a:r>
          </a:p>
        </c:rich>
      </c:tx>
      <c:layout>
        <c:manualLayout>
          <c:xMode val="edge"/>
          <c:yMode val="edge"/>
          <c:x val="0.165191089329673"/>
          <c:y val="0.0155619963794873"/>
        </c:manualLayout>
      </c:layout>
      <c:overlay val="0"/>
    </c:title>
    <c:autoTitleDeleted val="0"/>
    <c:plotArea>
      <c:layout/>
      <c:barChart>
        <c:barDir val="col"/>
        <c:grouping val="percentStacked"/>
        <c:varyColors val="0"/>
        <c:ser>
          <c:idx val="0"/>
          <c:order val="0"/>
          <c:tx>
            <c:strRef>
              <c:f>Sheet1!$B$1</c:f>
              <c:strCache>
                <c:ptCount val="1"/>
                <c:pt idx="0">
                  <c:v>  职工薪酬</c:v>
                </c:pt>
              </c:strCache>
            </c:strRef>
          </c:tx>
          <c:invertIfNegative val="0"/>
          <c:cat>
            <c:strRef>
              <c:f>Sheet1!$A$2:$A$3</c:f>
              <c:strCache>
                <c:ptCount val="2"/>
                <c:pt idx="0">
                  <c:v>2017年</c:v>
                </c:pt>
                <c:pt idx="1">
                  <c:v>2016年</c:v>
                </c:pt>
              </c:strCache>
            </c:strRef>
          </c:cat>
          <c:val>
            <c:numRef>
              <c:f>Sheet1!$B$2:$B$3</c:f>
              <c:numCache>
                <c:formatCode>_(* #,##0.00_);_(* \(#,##0.00\);_(* "-"??_);_(@_)</c:formatCode>
                <c:ptCount val="2"/>
                <c:pt idx="0">
                  <c:v>8000.0</c:v>
                </c:pt>
                <c:pt idx="1">
                  <c:v>7500.0</c:v>
                </c:pt>
              </c:numCache>
            </c:numRef>
          </c:val>
        </c:ser>
        <c:ser>
          <c:idx val="2"/>
          <c:order val="1"/>
          <c:tx>
            <c:strRef>
              <c:f>Sheet1!$D$1</c:f>
              <c:strCache>
                <c:ptCount val="1"/>
                <c:pt idx="0">
                  <c:v>差旅及交通费</c:v>
                </c:pt>
              </c:strCache>
            </c:strRef>
          </c:tx>
          <c:invertIfNegative val="0"/>
          <c:cat>
            <c:strRef>
              <c:f>Sheet1!$A$2:$A$3</c:f>
              <c:strCache>
                <c:ptCount val="2"/>
                <c:pt idx="0">
                  <c:v>2017年</c:v>
                </c:pt>
                <c:pt idx="1">
                  <c:v>2016年</c:v>
                </c:pt>
              </c:strCache>
            </c:strRef>
          </c:cat>
          <c:val>
            <c:numRef>
              <c:f>Sheet1!$D$2:$D$3</c:f>
              <c:numCache>
                <c:formatCode>_(* #,##0.00_);_(* \(#,##0.00\);_(* "-"??_);_(@_)</c:formatCode>
                <c:ptCount val="2"/>
                <c:pt idx="0">
                  <c:v>20000.0</c:v>
                </c:pt>
                <c:pt idx="1">
                  <c:v>23000.0</c:v>
                </c:pt>
              </c:numCache>
            </c:numRef>
          </c:val>
        </c:ser>
        <c:ser>
          <c:idx val="3"/>
          <c:order val="2"/>
          <c:tx>
            <c:strRef>
              <c:f>Sheet1!$E$1</c:f>
              <c:strCache>
                <c:ptCount val="1"/>
                <c:pt idx="0">
                  <c:v>业务招待费</c:v>
                </c:pt>
              </c:strCache>
            </c:strRef>
          </c:tx>
          <c:invertIfNegative val="0"/>
          <c:cat>
            <c:strRef>
              <c:f>Sheet1!$A$2:$A$3</c:f>
              <c:strCache>
                <c:ptCount val="2"/>
                <c:pt idx="0">
                  <c:v>2017年</c:v>
                </c:pt>
                <c:pt idx="1">
                  <c:v>2016年</c:v>
                </c:pt>
              </c:strCache>
            </c:strRef>
          </c:cat>
          <c:val>
            <c:numRef>
              <c:f>Sheet1!$E$2:$E$3</c:f>
              <c:numCache>
                <c:formatCode>_(* #,##0.00_);_(* \(#,##0.00\);_(* "-"??_);_(@_)</c:formatCode>
                <c:ptCount val="2"/>
                <c:pt idx="0">
                  <c:v>5000.0</c:v>
                </c:pt>
                <c:pt idx="1">
                  <c:v>6000.0</c:v>
                </c:pt>
              </c:numCache>
            </c:numRef>
          </c:val>
        </c:ser>
        <c:ser>
          <c:idx val="4"/>
          <c:order val="3"/>
          <c:tx>
            <c:strRef>
              <c:f>Sheet1!$F$1</c:f>
              <c:strCache>
                <c:ptCount val="1"/>
                <c:pt idx="0">
                  <c:v>运杂费</c:v>
                </c:pt>
              </c:strCache>
            </c:strRef>
          </c:tx>
          <c:invertIfNegative val="0"/>
          <c:cat>
            <c:strRef>
              <c:f>Sheet1!$A$2:$A$3</c:f>
              <c:strCache>
                <c:ptCount val="2"/>
                <c:pt idx="0">
                  <c:v>2017年</c:v>
                </c:pt>
                <c:pt idx="1">
                  <c:v>2016年</c:v>
                </c:pt>
              </c:strCache>
            </c:strRef>
          </c:cat>
          <c:val>
            <c:numRef>
              <c:f>Sheet1!$F$2:$F$3</c:f>
              <c:numCache>
                <c:formatCode>_(* #,##0.00_);_(* \(#,##0.00\);_(* "-"??_);_(@_)</c:formatCode>
                <c:ptCount val="2"/>
                <c:pt idx="0">
                  <c:v>60000.0</c:v>
                </c:pt>
                <c:pt idx="1">
                  <c:v>70000.0</c:v>
                </c:pt>
              </c:numCache>
            </c:numRef>
          </c:val>
        </c:ser>
        <c:ser>
          <c:idx val="5"/>
          <c:order val="4"/>
          <c:tx>
            <c:strRef>
              <c:f>Sheet1!$C$1</c:f>
              <c:strCache>
                <c:ptCount val="1"/>
                <c:pt idx="0">
                  <c:v>质保维修费</c:v>
                </c:pt>
              </c:strCache>
            </c:strRef>
          </c:tx>
          <c:invertIfNegative val="0"/>
          <c:cat>
            <c:strRef>
              <c:f>Sheet1!$A$2:$A$3</c:f>
              <c:strCache>
                <c:ptCount val="2"/>
                <c:pt idx="0">
                  <c:v>2017年</c:v>
                </c:pt>
                <c:pt idx="1">
                  <c:v>2016年</c:v>
                </c:pt>
              </c:strCache>
            </c:strRef>
          </c:cat>
          <c:val>
            <c:numRef>
              <c:f>Sheet1!$C$2:$C$3</c:f>
              <c:numCache>
                <c:formatCode>_(* #,##0.00_);_(* \(#,##0.00\);_(* "-"??_);_(@_)</c:formatCode>
                <c:ptCount val="2"/>
                <c:pt idx="0">
                  <c:v>5000.0</c:v>
                </c:pt>
                <c:pt idx="1">
                  <c:v>4300.0</c:v>
                </c:pt>
              </c:numCache>
            </c:numRef>
          </c:val>
        </c:ser>
        <c:dLbls>
          <c:showLegendKey val="0"/>
          <c:showVal val="0"/>
          <c:showCatName val="0"/>
          <c:showSerName val="0"/>
          <c:showPercent val="0"/>
          <c:showBubbleSize val="0"/>
        </c:dLbls>
        <c:gapWidth val="55"/>
        <c:overlap val="100"/>
        <c:axId val="2099804448"/>
        <c:axId val="1954461792"/>
      </c:barChart>
      <c:catAx>
        <c:axId val="2099804448"/>
        <c:scaling>
          <c:orientation val="minMax"/>
        </c:scaling>
        <c:delete val="0"/>
        <c:axPos val="b"/>
        <c:numFmt formatCode="General" sourceLinked="1"/>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1954461792"/>
        <c:crosses val="autoZero"/>
        <c:auto val="1"/>
        <c:lblAlgn val="ctr"/>
        <c:lblOffset val="100"/>
        <c:noMultiLvlLbl val="0"/>
      </c:catAx>
      <c:valAx>
        <c:axId val="1954461792"/>
        <c:scaling>
          <c:orientation val="minMax"/>
        </c:scaling>
        <c:delete val="0"/>
        <c:axPos val="l"/>
        <c:majorGridlines/>
        <c:numFmt formatCode="0%" sourceLinked="1"/>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9804448"/>
        <c:crosses val="autoZero"/>
        <c:crossBetween val="between"/>
      </c:valAx>
    </c:plotArea>
    <c:legend>
      <c:legendPos val="r"/>
      <c:layout/>
      <c:overlay val="0"/>
      <c:txPr>
        <a:bodyPr rot="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1" i="0" baseline="0" dirty="0"/>
              <a:t>2016-2017</a:t>
            </a:r>
            <a:r>
              <a:rPr lang="zh-CN" altLang="en-US" sz="1100" b="1" i="0" baseline="0" dirty="0"/>
              <a:t>管理</a:t>
            </a:r>
            <a:r>
              <a:rPr lang="zh-CN" altLang="zh-CN" sz="1100" b="1" i="0" baseline="0" dirty="0"/>
              <a:t>费用结构比</a:t>
            </a:r>
          </a:p>
        </c:rich>
      </c:tx>
      <c:layout>
        <c:manualLayout>
          <c:xMode val="edge"/>
          <c:yMode val="edge"/>
          <c:x val="0.145425557874522"/>
          <c:y val="0.0157427868286177"/>
        </c:manualLayout>
      </c:layout>
      <c:overlay val="0"/>
    </c:title>
    <c:autoTitleDeleted val="0"/>
    <c:plotArea>
      <c:layout/>
      <c:barChart>
        <c:barDir val="col"/>
        <c:grouping val="percentStacked"/>
        <c:varyColors val="0"/>
        <c:ser>
          <c:idx val="0"/>
          <c:order val="0"/>
          <c:tx>
            <c:strRef>
              <c:f>Sheet1!$B$1</c:f>
              <c:strCache>
                <c:ptCount val="1"/>
                <c:pt idx="0">
                  <c:v>职工薪酬</c:v>
                </c:pt>
              </c:strCache>
            </c:strRef>
          </c:tx>
          <c:invertIfNegative val="0"/>
          <c:cat>
            <c:strRef>
              <c:f>Sheet1!$A$2:$A$3</c:f>
              <c:strCache>
                <c:ptCount val="2"/>
                <c:pt idx="0">
                  <c:v>2017年</c:v>
                </c:pt>
                <c:pt idx="1">
                  <c:v>2016年</c:v>
                </c:pt>
              </c:strCache>
            </c:strRef>
          </c:cat>
          <c:val>
            <c:numRef>
              <c:f>Sheet1!$B$2:$B$3</c:f>
              <c:numCache>
                <c:formatCode>0%</c:formatCode>
                <c:ptCount val="2"/>
                <c:pt idx="0">
                  <c:v>0.310926050576374</c:v>
                </c:pt>
                <c:pt idx="1">
                  <c:v>0.390907125455026</c:v>
                </c:pt>
              </c:numCache>
            </c:numRef>
          </c:val>
        </c:ser>
        <c:ser>
          <c:idx val="1"/>
          <c:order val="1"/>
          <c:tx>
            <c:strRef>
              <c:f>Sheet1!$C$1</c:f>
              <c:strCache>
                <c:ptCount val="1"/>
                <c:pt idx="0">
                  <c:v>办公费</c:v>
                </c:pt>
              </c:strCache>
            </c:strRef>
          </c:tx>
          <c:invertIfNegative val="0"/>
          <c:cat>
            <c:strRef>
              <c:f>Sheet1!$A$2:$A$3</c:f>
              <c:strCache>
                <c:ptCount val="2"/>
                <c:pt idx="0">
                  <c:v>2017年</c:v>
                </c:pt>
                <c:pt idx="1">
                  <c:v>2016年</c:v>
                </c:pt>
              </c:strCache>
            </c:strRef>
          </c:cat>
          <c:val>
            <c:numRef>
              <c:f>Sheet1!$C$2:$C$3</c:f>
              <c:numCache>
                <c:formatCode>0%</c:formatCode>
                <c:ptCount val="2"/>
                <c:pt idx="0">
                  <c:v>0.0824822552222196</c:v>
                </c:pt>
                <c:pt idx="1">
                  <c:v>0.0820209713238027</c:v>
                </c:pt>
              </c:numCache>
            </c:numRef>
          </c:val>
        </c:ser>
        <c:ser>
          <c:idx val="2"/>
          <c:order val="2"/>
          <c:tx>
            <c:strRef>
              <c:f>Sheet1!$D$1</c:f>
              <c:strCache>
                <c:ptCount val="1"/>
                <c:pt idx="0">
                  <c:v>车辆费用</c:v>
                </c:pt>
              </c:strCache>
            </c:strRef>
          </c:tx>
          <c:invertIfNegative val="0"/>
          <c:cat>
            <c:strRef>
              <c:f>Sheet1!$A$2:$A$3</c:f>
              <c:strCache>
                <c:ptCount val="2"/>
                <c:pt idx="0">
                  <c:v>2017年</c:v>
                </c:pt>
                <c:pt idx="1">
                  <c:v>2016年</c:v>
                </c:pt>
              </c:strCache>
            </c:strRef>
          </c:cat>
          <c:val>
            <c:numRef>
              <c:f>Sheet1!$D$2:$D$3</c:f>
              <c:numCache>
                <c:formatCode>0%</c:formatCode>
                <c:ptCount val="2"/>
                <c:pt idx="0">
                  <c:v>0.0228910474649484</c:v>
                </c:pt>
                <c:pt idx="1">
                  <c:v>0.0276602843747024</c:v>
                </c:pt>
              </c:numCache>
            </c:numRef>
          </c:val>
        </c:ser>
        <c:ser>
          <c:idx val="3"/>
          <c:order val="3"/>
          <c:tx>
            <c:strRef>
              <c:f>Sheet1!$E$1</c:f>
              <c:strCache>
                <c:ptCount val="1"/>
                <c:pt idx="0">
                  <c:v>项目费用</c:v>
                </c:pt>
              </c:strCache>
            </c:strRef>
          </c:tx>
          <c:invertIfNegative val="0"/>
          <c:cat>
            <c:strRef>
              <c:f>Sheet1!$A$2:$A$3</c:f>
              <c:strCache>
                <c:ptCount val="2"/>
                <c:pt idx="0">
                  <c:v>2017年</c:v>
                </c:pt>
                <c:pt idx="1">
                  <c:v>2016年</c:v>
                </c:pt>
              </c:strCache>
            </c:strRef>
          </c:cat>
          <c:val>
            <c:numRef>
              <c:f>Sheet1!$E$2:$E$3</c:f>
              <c:numCache>
                <c:formatCode>0%</c:formatCode>
                <c:ptCount val="2"/>
                <c:pt idx="0">
                  <c:v>0.0334239930902576</c:v>
                </c:pt>
                <c:pt idx="1">
                  <c:v>0.0270589840309546</c:v>
                </c:pt>
              </c:numCache>
            </c:numRef>
          </c:val>
        </c:ser>
        <c:ser>
          <c:idx val="4"/>
          <c:order val="4"/>
          <c:tx>
            <c:strRef>
              <c:f>Sheet1!$F$1</c:f>
              <c:strCache>
                <c:ptCount val="1"/>
                <c:pt idx="0">
                  <c:v>差旅及交通费</c:v>
                </c:pt>
              </c:strCache>
            </c:strRef>
          </c:tx>
          <c:invertIfNegative val="0"/>
          <c:cat>
            <c:strRef>
              <c:f>Sheet1!$A$2:$A$3</c:f>
              <c:strCache>
                <c:ptCount val="2"/>
                <c:pt idx="0">
                  <c:v>2017年</c:v>
                </c:pt>
                <c:pt idx="1">
                  <c:v>2016年</c:v>
                </c:pt>
              </c:strCache>
            </c:strRef>
          </c:cat>
          <c:val>
            <c:numRef>
              <c:f>Sheet1!$F$2:$F$3</c:f>
              <c:numCache>
                <c:formatCode>0%</c:formatCode>
                <c:ptCount val="2"/>
                <c:pt idx="0">
                  <c:v>0.0406561654734114</c:v>
                </c:pt>
                <c:pt idx="1">
                  <c:v>0.0816197374477257</c:v>
                </c:pt>
              </c:numCache>
            </c:numRef>
          </c:val>
        </c:ser>
        <c:ser>
          <c:idx val="5"/>
          <c:order val="5"/>
          <c:tx>
            <c:strRef>
              <c:f>Sheet1!$G$1</c:f>
              <c:strCache>
                <c:ptCount val="1"/>
                <c:pt idx="0">
                  <c:v>业务招待费</c:v>
                </c:pt>
              </c:strCache>
            </c:strRef>
          </c:tx>
          <c:invertIfNegative val="0"/>
          <c:cat>
            <c:strRef>
              <c:f>Sheet1!$A$2:$A$3</c:f>
              <c:strCache>
                <c:ptCount val="2"/>
                <c:pt idx="0">
                  <c:v>2017年</c:v>
                </c:pt>
                <c:pt idx="1">
                  <c:v>2016年</c:v>
                </c:pt>
              </c:strCache>
            </c:strRef>
          </c:cat>
          <c:val>
            <c:numRef>
              <c:f>Sheet1!$G$2:$G$3</c:f>
              <c:numCache>
                <c:formatCode>0%</c:formatCode>
                <c:ptCount val="2"/>
                <c:pt idx="0">
                  <c:v>0.0474137007171237</c:v>
                </c:pt>
                <c:pt idx="1">
                  <c:v>0.0300694956312124</c:v>
                </c:pt>
              </c:numCache>
            </c:numRef>
          </c:val>
        </c:ser>
        <c:ser>
          <c:idx val="6"/>
          <c:order val="6"/>
          <c:tx>
            <c:strRef>
              <c:f>Sheet1!$H$1</c:f>
              <c:strCache>
                <c:ptCount val="1"/>
                <c:pt idx="0">
                  <c:v>咨询审计服务费</c:v>
                </c:pt>
              </c:strCache>
            </c:strRef>
          </c:tx>
          <c:invertIfNegative val="0"/>
          <c:cat>
            <c:strRef>
              <c:f>Sheet1!$A$2:$A$3</c:f>
              <c:strCache>
                <c:ptCount val="2"/>
                <c:pt idx="0">
                  <c:v>2017年</c:v>
                </c:pt>
                <c:pt idx="1">
                  <c:v>2016年</c:v>
                </c:pt>
              </c:strCache>
            </c:strRef>
          </c:cat>
          <c:val>
            <c:numRef>
              <c:f>Sheet1!$H$2:$H$3</c:f>
              <c:numCache>
                <c:formatCode>0%</c:formatCode>
                <c:ptCount val="2"/>
                <c:pt idx="0">
                  <c:v>0.123034686658424</c:v>
                </c:pt>
                <c:pt idx="1">
                  <c:v>0.0821391863409323</c:v>
                </c:pt>
              </c:numCache>
            </c:numRef>
          </c:val>
        </c:ser>
        <c:ser>
          <c:idx val="7"/>
          <c:order val="7"/>
          <c:tx>
            <c:strRef>
              <c:f>Sheet1!$I$1</c:f>
              <c:strCache>
                <c:ptCount val="1"/>
                <c:pt idx="0">
                  <c:v>研发费用</c:v>
                </c:pt>
              </c:strCache>
            </c:strRef>
          </c:tx>
          <c:invertIfNegative val="0"/>
          <c:cat>
            <c:strRef>
              <c:f>Sheet1!$A$2:$A$3</c:f>
              <c:strCache>
                <c:ptCount val="2"/>
                <c:pt idx="0">
                  <c:v>2017年</c:v>
                </c:pt>
                <c:pt idx="1">
                  <c:v>2016年</c:v>
                </c:pt>
              </c:strCache>
            </c:strRef>
          </c:cat>
          <c:val>
            <c:numRef>
              <c:f>Sheet1!$I$2:$I$3</c:f>
              <c:numCache>
                <c:formatCode>0%</c:formatCode>
                <c:ptCount val="2"/>
                <c:pt idx="0">
                  <c:v>0.216028564344681</c:v>
                </c:pt>
                <c:pt idx="1">
                  <c:v>0.153695630452827</c:v>
                </c:pt>
              </c:numCache>
            </c:numRef>
          </c:val>
        </c:ser>
        <c:ser>
          <c:idx val="8"/>
          <c:order val="8"/>
          <c:tx>
            <c:strRef>
              <c:f>Sheet1!$J$1</c:f>
              <c:strCache>
                <c:ptCount val="1"/>
                <c:pt idx="0">
                  <c:v>资产摊销及折旧</c:v>
                </c:pt>
              </c:strCache>
            </c:strRef>
          </c:tx>
          <c:invertIfNegative val="0"/>
          <c:cat>
            <c:strRef>
              <c:f>Sheet1!$A$2:$A$3</c:f>
              <c:strCache>
                <c:ptCount val="2"/>
                <c:pt idx="0">
                  <c:v>2017年</c:v>
                </c:pt>
                <c:pt idx="1">
                  <c:v>2016年</c:v>
                </c:pt>
              </c:strCache>
            </c:strRef>
          </c:cat>
          <c:val>
            <c:numRef>
              <c:f>Sheet1!$J$2:$J$3</c:f>
              <c:numCache>
                <c:formatCode>0%</c:formatCode>
                <c:ptCount val="2"/>
                <c:pt idx="0">
                  <c:v>0.0526733605641821</c:v>
                </c:pt>
                <c:pt idx="1">
                  <c:v>0.0456805172635861</c:v>
                </c:pt>
              </c:numCache>
            </c:numRef>
          </c:val>
        </c:ser>
        <c:ser>
          <c:idx val="9"/>
          <c:order val="9"/>
          <c:tx>
            <c:strRef>
              <c:f>Sheet1!$K$1</c:f>
              <c:strCache>
                <c:ptCount val="1"/>
                <c:pt idx="0">
                  <c:v>物业费用</c:v>
                </c:pt>
              </c:strCache>
            </c:strRef>
          </c:tx>
          <c:invertIfNegative val="0"/>
          <c:cat>
            <c:strRef>
              <c:f>Sheet1!$A$2:$A$3</c:f>
              <c:strCache>
                <c:ptCount val="2"/>
                <c:pt idx="0">
                  <c:v>2017年</c:v>
                </c:pt>
                <c:pt idx="1">
                  <c:v>2016年</c:v>
                </c:pt>
              </c:strCache>
            </c:strRef>
          </c:cat>
          <c:val>
            <c:numRef>
              <c:f>Sheet1!$K$2:$K$3</c:f>
              <c:numCache>
                <c:formatCode>0%</c:formatCode>
                <c:ptCount val="2"/>
                <c:pt idx="0">
                  <c:v>0.050792903768186</c:v>
                </c:pt>
                <c:pt idx="1">
                  <c:v>0.0561004358986935</c:v>
                </c:pt>
              </c:numCache>
            </c:numRef>
          </c:val>
        </c:ser>
        <c:ser>
          <c:idx val="10"/>
          <c:order val="10"/>
          <c:tx>
            <c:strRef>
              <c:f>Sheet1!$L$1</c:f>
              <c:strCache>
                <c:ptCount val="1"/>
                <c:pt idx="0">
                  <c:v>其它</c:v>
                </c:pt>
              </c:strCache>
            </c:strRef>
          </c:tx>
          <c:invertIfNegative val="0"/>
          <c:cat>
            <c:strRef>
              <c:f>Sheet1!$A$2:$A$3</c:f>
              <c:strCache>
                <c:ptCount val="2"/>
                <c:pt idx="0">
                  <c:v>2017年</c:v>
                </c:pt>
                <c:pt idx="1">
                  <c:v>2016年</c:v>
                </c:pt>
              </c:strCache>
            </c:strRef>
          </c:cat>
          <c:val>
            <c:numRef>
              <c:f>Sheet1!$L$2:$L$3</c:f>
              <c:numCache>
                <c:formatCode>0%</c:formatCode>
                <c:ptCount val="2"/>
                <c:pt idx="0">
                  <c:v>0.0196772721201922</c:v>
                </c:pt>
                <c:pt idx="1">
                  <c:v>0.0230476317805372</c:v>
                </c:pt>
              </c:numCache>
            </c:numRef>
          </c:val>
        </c:ser>
        <c:dLbls>
          <c:showLegendKey val="0"/>
          <c:showVal val="0"/>
          <c:showCatName val="0"/>
          <c:showSerName val="0"/>
          <c:showPercent val="0"/>
          <c:showBubbleSize val="0"/>
        </c:dLbls>
        <c:gapWidth val="55"/>
        <c:overlap val="100"/>
        <c:axId val="2069186128"/>
        <c:axId val="-2093614256"/>
      </c:barChart>
      <c:catAx>
        <c:axId val="2069186128"/>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93614256"/>
        <c:crosses val="autoZero"/>
        <c:auto val="1"/>
        <c:lblAlgn val="ctr"/>
        <c:lblOffset val="100"/>
        <c:noMultiLvlLbl val="0"/>
      </c:catAx>
      <c:valAx>
        <c:axId val="-2093614256"/>
        <c:scaling>
          <c:orientation val="minMax"/>
        </c:scaling>
        <c:delete val="0"/>
        <c:axPos val="l"/>
        <c:majorGridlines/>
        <c:numFmt formatCode="0%" sourceLinked="1"/>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69186128"/>
        <c:crosses val="autoZero"/>
        <c:crossBetween val="between"/>
      </c:valAx>
    </c:plotArea>
    <c:legend>
      <c:legendPos val="r"/>
      <c:layout>
        <c:manualLayout>
          <c:xMode val="edge"/>
          <c:yMode val="edge"/>
          <c:x val="0.677164690034442"/>
          <c:y val="0.118685954828548"/>
          <c:w val="0.32225759637818"/>
          <c:h val="0.845310488377109"/>
        </c:manualLayout>
      </c:layout>
      <c:overlay val="0"/>
      <c:txPr>
        <a:bodyPr rot="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legend>
    <c:plotVisOnly val="1"/>
    <c:dispBlanksAs val="gap"/>
    <c:showDLblsOverMax val="0"/>
  </c:chart>
  <c:txPr>
    <a:bodyPr/>
    <a:lstStyle/>
    <a:p>
      <a:pPr>
        <a:defRPr lang="zh-CN" sz="1800"/>
      </a:pPr>
      <a:endParaRPr lang="zh-CN"/>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aseline="0" dirty="0"/>
              <a:t>2017</a:t>
            </a:r>
            <a:r>
              <a:rPr lang="zh-CN" altLang="en-US" sz="1100" baseline="0" dirty="0"/>
              <a:t>年财务费用</a:t>
            </a:r>
          </a:p>
        </c:rich>
      </c:tx>
      <c:layout/>
      <c:overlay val="0"/>
    </c:title>
    <c:autoTitleDeleted val="0"/>
    <c:plotArea>
      <c:layout/>
      <c:pieChart>
        <c:varyColors val="1"/>
        <c:ser>
          <c:idx val="0"/>
          <c:order val="0"/>
          <c:tx>
            <c:strRef>
              <c:f>Sheet1!$B$1</c:f>
              <c:strCache>
                <c:ptCount val="1"/>
                <c:pt idx="0">
                  <c:v>系列 1</c:v>
                </c:pt>
              </c:strCache>
            </c:strRef>
          </c:tx>
          <c:explosion val="2"/>
          <c:dPt>
            <c:idx val="0"/>
            <c:bubble3D val="0"/>
            <c:spPr>
              <a:solidFill>
                <a:srgbClr val="FFC000"/>
              </a:solidFill>
            </c:spPr>
          </c:dPt>
          <c:dPt>
            <c:idx val="1"/>
            <c:bubble3D val="0"/>
            <c:spPr>
              <a:solidFill>
                <a:schemeClr val="tx2">
                  <a:lumMod val="40000"/>
                  <a:lumOff val="60000"/>
                </a:schemeClr>
              </a:solidFill>
            </c:spPr>
          </c:dPt>
          <c:dPt>
            <c:idx val="2"/>
            <c:bubble3D val="0"/>
            <c:spPr>
              <a:solidFill>
                <a:srgbClr val="92D050"/>
              </a:solidFill>
            </c:spPr>
          </c:dPt>
          <c:dLbls>
            <c:delete val="1"/>
          </c:dLbls>
          <c:cat>
            <c:strRef>
              <c:f>Sheet1!$A$2:$A$4</c:f>
              <c:strCache>
                <c:ptCount val="3"/>
                <c:pt idx="0">
                  <c:v>手续费</c:v>
                </c:pt>
                <c:pt idx="1">
                  <c:v>利息支出</c:v>
                </c:pt>
                <c:pt idx="2">
                  <c:v>汇兑损益</c:v>
                </c:pt>
              </c:strCache>
            </c:strRef>
          </c:cat>
          <c:val>
            <c:numRef>
              <c:f>Sheet1!$B$2:$B$4</c:f>
              <c:numCache>
                <c:formatCode>_(* #,##0.00_);_(* \(#,##0.00\);_(* "-"??_);_(@_)</c:formatCode>
                <c:ptCount val="3"/>
                <c:pt idx="0">
                  <c:v>50000.0</c:v>
                </c:pt>
                <c:pt idx="1">
                  <c:v>1.0E6</c:v>
                </c:pt>
                <c:pt idx="2">
                  <c:v>400000.0</c:v>
                </c:pt>
              </c:numCache>
            </c:numRef>
          </c:val>
        </c:ser>
        <c:dLbls>
          <c:showLegendKey val="0"/>
          <c:showVal val="0"/>
          <c:showCatName val="1"/>
          <c:showSerName val="0"/>
          <c:showPercent val="1"/>
          <c:showBubbleSize val="0"/>
          <c:showLeaderLines val="1"/>
        </c:dLbls>
        <c:firstSliceAng val="0"/>
      </c:pieChart>
    </c:plotArea>
    <c:plotVisOnly val="1"/>
    <c:dispBlanksAs val="gap"/>
    <c:showDLblsOverMax val="0"/>
  </c:chart>
  <c:txPr>
    <a:bodyPr/>
    <a:lstStyle/>
    <a:p>
      <a:pPr>
        <a:defRPr lang="zh-CN" sz="1800"/>
      </a:pPr>
      <a:endParaRPr lang="zh-CN"/>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1" i="0" u="none" strike="noStrike" kern="1200" baseline="0">
                <a:solidFill>
                  <a:schemeClr val="tx1"/>
                </a:solidFill>
                <a:latin typeface="+mn-lt"/>
                <a:ea typeface="+mn-ea"/>
                <a:cs typeface="+mn-cs"/>
              </a:defRPr>
            </a:pPr>
            <a:r>
              <a:rPr lang="en-US" altLang="zh-CN" sz="1100" b="1" i="0" baseline="0" dirty="0"/>
              <a:t>2016</a:t>
            </a:r>
            <a:r>
              <a:rPr lang="zh-CN" altLang="zh-CN" sz="1100" b="1" i="0" baseline="0" dirty="0"/>
              <a:t>年财务费用</a:t>
            </a:r>
          </a:p>
        </c:rich>
      </c:tx>
      <c:layout/>
      <c:overlay val="0"/>
    </c:title>
    <c:autoTitleDeleted val="0"/>
    <c:plotArea>
      <c:layout/>
      <c:barChart>
        <c:barDir val="col"/>
        <c:grouping val="clustered"/>
        <c:varyColors val="0"/>
        <c:ser>
          <c:idx val="0"/>
          <c:order val="0"/>
          <c:tx>
            <c:strRef>
              <c:f>Sheet1!$B$1</c:f>
              <c:strCache>
                <c:ptCount val="1"/>
                <c:pt idx="0">
                  <c:v>系列 1</c:v>
                </c:pt>
              </c:strCache>
            </c:strRef>
          </c:tx>
          <c:spPr>
            <a:solidFill>
              <a:schemeClr val="tx2">
                <a:lumMod val="60000"/>
                <a:lumOff val="40000"/>
              </a:schemeClr>
            </a:solidFill>
          </c:spPr>
          <c:invertIfNegative val="0"/>
          <c:dPt>
            <c:idx val="0"/>
            <c:invertIfNegative val="0"/>
            <c:bubble3D val="0"/>
            <c:spPr>
              <a:solidFill>
                <a:srgbClr val="FFC000"/>
              </a:solidFill>
            </c:spPr>
          </c:dPt>
          <c:dPt>
            <c:idx val="1"/>
            <c:invertIfNegative val="0"/>
            <c:bubble3D val="0"/>
            <c:spPr>
              <a:solidFill>
                <a:srgbClr val="92D050"/>
              </a:solidFill>
            </c:spPr>
          </c:dPt>
          <c:cat>
            <c:strRef>
              <c:f>Sheet1!$A$2:$A$4</c:f>
              <c:strCache>
                <c:ptCount val="3"/>
                <c:pt idx="0">
                  <c:v>手续费</c:v>
                </c:pt>
                <c:pt idx="1">
                  <c:v>利息支出</c:v>
                </c:pt>
                <c:pt idx="2">
                  <c:v>汇兑损益</c:v>
                </c:pt>
              </c:strCache>
            </c:strRef>
          </c:cat>
          <c:val>
            <c:numRef>
              <c:f>Sheet1!$B$2:$B$4</c:f>
              <c:numCache>
                <c:formatCode>0%</c:formatCode>
                <c:ptCount val="3"/>
                <c:pt idx="0">
                  <c:v>0.0892557899044374</c:v>
                </c:pt>
                <c:pt idx="1">
                  <c:v>0.649172765030989</c:v>
                </c:pt>
                <c:pt idx="2">
                  <c:v>-1.73842855493543</c:v>
                </c:pt>
              </c:numCache>
            </c:numRef>
          </c:val>
        </c:ser>
        <c:dLbls>
          <c:showLegendKey val="0"/>
          <c:showVal val="0"/>
          <c:showCatName val="0"/>
          <c:showSerName val="0"/>
          <c:showPercent val="0"/>
          <c:showBubbleSize val="0"/>
        </c:dLbls>
        <c:gapWidth val="150"/>
        <c:axId val="2068874256"/>
        <c:axId val="2068941760"/>
      </c:barChart>
      <c:catAx>
        <c:axId val="2068874256"/>
        <c:scaling>
          <c:orientation val="minMax"/>
        </c:scaling>
        <c:delete val="0"/>
        <c:axPos val="b"/>
        <c:numFmt formatCode="General" sourceLinked="0"/>
        <c:majorTickMark val="none"/>
        <c:minorTickMark val="none"/>
        <c:tickLblPos val="nextTo"/>
        <c:txPr>
          <a:bodyPr rot="-60000000" spcFirstLastPara="0" vertOverflow="ellipsis" vert="horz" wrap="square" anchor="ctr" anchorCtr="1"/>
          <a:lstStyle/>
          <a:p>
            <a:pPr>
              <a:defRPr lang="zh-CN" sz="1100" b="0" i="0" u="none" strike="noStrike" kern="1200" baseline="0">
                <a:solidFill>
                  <a:schemeClr val="tx1"/>
                </a:solidFill>
                <a:latin typeface="+mn-lt"/>
                <a:ea typeface="+mn-ea"/>
                <a:cs typeface="+mn-cs"/>
              </a:defRPr>
            </a:pPr>
            <a:endParaRPr lang="zh-CN"/>
          </a:p>
        </c:txPr>
        <c:crossAx val="2068941760"/>
        <c:crosses val="autoZero"/>
        <c:auto val="1"/>
        <c:lblAlgn val="ctr"/>
        <c:lblOffset val="100"/>
        <c:noMultiLvlLbl val="0"/>
      </c:catAx>
      <c:valAx>
        <c:axId val="2068941760"/>
        <c:scaling>
          <c:orientation val="minMax"/>
        </c:scaling>
        <c:delete val="1"/>
        <c:axPos val="l"/>
        <c:majorGridlines/>
        <c:numFmt formatCode="0%" sourceLinked="1"/>
        <c:majorTickMark val="none"/>
        <c:minorTickMark val="none"/>
        <c:tickLblPos val="none"/>
        <c:crossAx val="2068874256"/>
        <c:crosses val="autoZero"/>
        <c:crossBetween val="between"/>
      </c:valAx>
    </c:plotArea>
    <c:plotVisOnly val="1"/>
    <c:dispBlanksAs val="gap"/>
    <c:showDLblsOverMax val="0"/>
  </c:chart>
  <c:txPr>
    <a:bodyPr/>
    <a:lstStyle/>
    <a:p>
      <a:pPr>
        <a:defRPr lang="zh-CN" sz="1800"/>
      </a:pPr>
      <a:endParaRPr lang="zh-CN"/>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0.47222</cdr:x>
      <cdr:y>0.35602</cdr:y>
    </cdr:from>
    <cdr:to>
      <cdr:x>0.77778</cdr:x>
      <cdr:y>0.58183</cdr:y>
    </cdr:to>
    <cdr:sp macro="" textlink="">
      <cdr:nvSpPr>
        <cdr:cNvPr id="2" name="矩形 1"/>
        <cdr:cNvSpPr/>
      </cdr:nvSpPr>
      <cdr:spPr>
        <a:xfrm xmlns:a="http://schemas.openxmlformats.org/drawingml/2006/main">
          <a:off x="1224136" y="794715"/>
          <a:ext cx="792100" cy="504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货币资金</a:t>
          </a:r>
          <a:endParaRPr lang="en-US" altLang="zh-CN" sz="1100" dirty="0"/>
        </a:p>
      </cdr:txBody>
    </cdr:sp>
  </cdr:relSizeAnchor>
  <cdr:relSizeAnchor xmlns:cdr="http://schemas.openxmlformats.org/drawingml/2006/chartDrawing">
    <cdr:from>
      <cdr:x>0.5</cdr:x>
      <cdr:y>0.6129</cdr:y>
    </cdr:from>
    <cdr:to>
      <cdr:x>0.80556</cdr:x>
      <cdr:y>0.83871</cdr:y>
    </cdr:to>
    <cdr:sp macro="" textlink="">
      <cdr:nvSpPr>
        <cdr:cNvPr id="3" name="矩形 2"/>
        <cdr:cNvSpPr/>
      </cdr:nvSpPr>
      <cdr:spPr>
        <a:xfrm xmlns:a="http://schemas.openxmlformats.org/drawingml/2006/main">
          <a:off x="1296144" y="1368152"/>
          <a:ext cx="792088" cy="50405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应收账款</a:t>
          </a:r>
          <a:endParaRPr lang="en-US" altLang="zh-CN" sz="1100" dirty="0"/>
        </a:p>
      </cdr:txBody>
    </cdr:sp>
  </cdr:relSizeAnchor>
  <cdr:relSizeAnchor xmlns:cdr="http://schemas.openxmlformats.org/drawingml/2006/chartDrawing">
    <cdr:from>
      <cdr:x>0.22544</cdr:x>
      <cdr:y>0.51153</cdr:y>
    </cdr:from>
    <cdr:to>
      <cdr:x>0.41989</cdr:x>
      <cdr:y>0.70508</cdr:y>
    </cdr:to>
    <cdr:sp macro="" textlink="">
      <cdr:nvSpPr>
        <cdr:cNvPr id="4" name="矩形 3"/>
        <cdr:cNvSpPr/>
      </cdr:nvSpPr>
      <cdr:spPr>
        <a:xfrm xmlns:a="http://schemas.openxmlformats.org/drawingml/2006/main">
          <a:off x="584415" y="1141869"/>
          <a:ext cx="504071" cy="432051"/>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存货</a:t>
          </a:r>
          <a:endParaRPr lang="en-US" altLang="zh-CN" sz="1100" dirty="0"/>
        </a:p>
      </cdr:txBody>
    </cdr:sp>
  </cdr:relSizeAnchor>
  <cdr:relSizeAnchor xmlns:cdr="http://schemas.openxmlformats.org/drawingml/2006/chartDrawing">
    <cdr:from>
      <cdr:x>0.27778</cdr:x>
      <cdr:y>0.69644</cdr:y>
    </cdr:from>
    <cdr:to>
      <cdr:x>0.47222</cdr:x>
      <cdr:y>0.92225</cdr:y>
    </cdr:to>
    <cdr:sp macro="" textlink="">
      <cdr:nvSpPr>
        <cdr:cNvPr id="5" name="矩形 4"/>
        <cdr:cNvSpPr/>
      </cdr:nvSpPr>
      <cdr:spPr>
        <a:xfrm xmlns:a="http://schemas.openxmlformats.org/drawingml/2006/main">
          <a:off x="720092" y="1554619"/>
          <a:ext cx="504044" cy="504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预付</a:t>
          </a:r>
          <a:endParaRPr lang="en-US" altLang="zh-CN" sz="1100" dirty="0"/>
        </a:p>
      </cdr:txBody>
    </cdr:sp>
  </cdr:relSizeAnchor>
  <cdr:relSizeAnchor xmlns:cdr="http://schemas.openxmlformats.org/drawingml/2006/chartDrawing">
    <cdr:from>
      <cdr:x>0.30556</cdr:x>
      <cdr:y>0.35215</cdr:y>
    </cdr:from>
    <cdr:to>
      <cdr:x>0.5</cdr:x>
      <cdr:y>0.57796</cdr:y>
    </cdr:to>
    <cdr:sp macro="" textlink="">
      <cdr:nvSpPr>
        <cdr:cNvPr id="6" name="矩形 5"/>
        <cdr:cNvSpPr/>
      </cdr:nvSpPr>
      <cdr:spPr>
        <a:xfrm xmlns:a="http://schemas.openxmlformats.org/drawingml/2006/main">
          <a:off x="792100" y="786089"/>
          <a:ext cx="504044" cy="504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其它</a:t>
          </a:r>
          <a:endParaRPr lang="en-US" altLang="zh-CN"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0.23631</cdr:x>
      <cdr:y>0.54839</cdr:y>
    </cdr:from>
    <cdr:to>
      <cdr:x>0.51408</cdr:x>
      <cdr:y>0.74194</cdr:y>
    </cdr:to>
    <cdr:sp macro="" textlink="">
      <cdr:nvSpPr>
        <cdr:cNvPr id="2" name="矩形 1"/>
        <cdr:cNvSpPr/>
      </cdr:nvSpPr>
      <cdr:spPr>
        <a:xfrm xmlns:a="http://schemas.openxmlformats.org/drawingml/2006/main">
          <a:off x="612576" y="1224136"/>
          <a:ext cx="720080"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未分配利润</a:t>
          </a:r>
          <a:r>
            <a:rPr lang="en-US" altLang="zh-CN" sz="1100" dirty="0"/>
            <a:t>%</a:t>
          </a:r>
          <a:endParaRPr lang="zh-CN" altLang="en-US" sz="1100" dirty="0"/>
        </a:p>
      </cdr:txBody>
    </cdr:sp>
  </cdr:relSizeAnchor>
  <cdr:relSizeAnchor xmlns:cdr="http://schemas.openxmlformats.org/drawingml/2006/chartDrawing">
    <cdr:from>
      <cdr:x>0.48631</cdr:x>
      <cdr:y>0.35484</cdr:y>
    </cdr:from>
    <cdr:to>
      <cdr:x>0.91667</cdr:x>
      <cdr:y>0.58065</cdr:y>
    </cdr:to>
    <cdr:sp macro="" textlink="">
      <cdr:nvSpPr>
        <cdr:cNvPr id="3" name="矩形 2"/>
        <cdr:cNvSpPr/>
      </cdr:nvSpPr>
      <cdr:spPr>
        <a:xfrm xmlns:a="http://schemas.openxmlformats.org/drawingml/2006/main">
          <a:off x="1260656" y="792091"/>
          <a:ext cx="1115608" cy="504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实收资本</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0.36229</cdr:x>
      <cdr:y>0.74194</cdr:y>
    </cdr:from>
    <cdr:to>
      <cdr:x>0.66785</cdr:x>
      <cdr:y>1</cdr:y>
    </cdr:to>
    <cdr:sp macro="" textlink="">
      <cdr:nvSpPr>
        <cdr:cNvPr id="4" name="矩形 3"/>
        <cdr:cNvSpPr/>
      </cdr:nvSpPr>
      <cdr:spPr>
        <a:xfrm xmlns:a="http://schemas.openxmlformats.org/drawingml/2006/main">
          <a:off x="939172" y="1656194"/>
          <a:ext cx="792100" cy="57605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endParaRPr lang="zh-CN" altLang="en-US" sz="1100" dirty="0"/>
        </a:p>
      </cdr:txBody>
    </cdr:sp>
  </cdr:relSizeAnchor>
  <cdr:relSizeAnchor xmlns:cdr="http://schemas.openxmlformats.org/drawingml/2006/chartDrawing">
    <cdr:from>
      <cdr:x>0.6252</cdr:x>
      <cdr:y>0.6129</cdr:y>
    </cdr:from>
    <cdr:to>
      <cdr:x>1</cdr:x>
      <cdr:y>0.77419</cdr:y>
    </cdr:to>
    <cdr:sp macro="" textlink="">
      <cdr:nvSpPr>
        <cdr:cNvPr id="5" name="矩形 4"/>
        <cdr:cNvSpPr/>
      </cdr:nvSpPr>
      <cdr:spPr>
        <a:xfrm xmlns:a="http://schemas.openxmlformats.org/drawingml/2006/main">
          <a:off x="1620688" y="1368152"/>
          <a:ext cx="971600" cy="360040"/>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资本公积</a:t>
          </a:r>
          <a:r>
            <a:rPr lang="en-US" altLang="zh-CN" sz="1100" dirty="0"/>
            <a:t>%</a:t>
          </a:r>
          <a:endParaRPr lang="zh-CN" alt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0.27778</cdr:x>
      <cdr:y>0.70968</cdr:y>
    </cdr:from>
    <cdr:to>
      <cdr:x>0.63889</cdr:x>
      <cdr:y>0.96774</cdr:y>
    </cdr:to>
    <cdr:sp macro="" textlink="">
      <cdr:nvSpPr>
        <cdr:cNvPr id="2" name="矩形 1"/>
        <cdr:cNvSpPr/>
      </cdr:nvSpPr>
      <cdr:spPr>
        <a:xfrm xmlns:a="http://schemas.openxmlformats.org/drawingml/2006/main">
          <a:off x="720080" y="1584176"/>
          <a:ext cx="93610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应付账款</a:t>
          </a:r>
          <a:endParaRPr lang="en-US" altLang="zh-CN" sz="1100" dirty="0"/>
        </a:p>
        <a:p xmlns:a="http://schemas.openxmlformats.org/drawingml/2006/main">
          <a:r>
            <a:rPr lang="en-US" altLang="zh-CN"/>
            <a:t>     58%</a:t>
          </a:r>
          <a:endParaRPr lang="zh-CN" altLang="en-US" sz="1100" dirty="0"/>
        </a:p>
      </cdr:txBody>
    </cdr:sp>
  </cdr:relSizeAnchor>
  <cdr:relSizeAnchor xmlns:cdr="http://schemas.openxmlformats.org/drawingml/2006/chartDrawing">
    <cdr:from>
      <cdr:x>0.5</cdr:x>
      <cdr:y>0.3871</cdr:y>
    </cdr:from>
    <cdr:to>
      <cdr:x>0.83333</cdr:x>
      <cdr:y>0.67742</cdr:y>
    </cdr:to>
    <cdr:sp macro="" textlink="">
      <cdr:nvSpPr>
        <cdr:cNvPr id="3" name="矩形 2"/>
        <cdr:cNvSpPr/>
      </cdr:nvSpPr>
      <cdr:spPr>
        <a:xfrm xmlns:a="http://schemas.openxmlformats.org/drawingml/2006/main">
          <a:off x="1296144" y="864096"/>
          <a:ext cx="86409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短期借款</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0.41667</cdr:x>
      <cdr:y>0.25806</cdr:y>
    </cdr:from>
    <cdr:to>
      <cdr:x>0.63889</cdr:x>
      <cdr:y>0.45161</cdr:y>
    </cdr:to>
    <cdr:sp macro="" textlink="">
      <cdr:nvSpPr>
        <cdr:cNvPr id="4" name="矩形 3"/>
        <cdr:cNvSpPr/>
      </cdr:nvSpPr>
      <cdr:spPr>
        <a:xfrm xmlns:a="http://schemas.openxmlformats.org/drawingml/2006/main">
          <a:off x="1080120" y="576064"/>
          <a:ext cx="576064" cy="432048"/>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其它</a:t>
          </a:r>
          <a:endParaRPr lang="en-US" altLang="zh-CN" sz="1100" dirty="0"/>
        </a:p>
        <a:p xmlns:a="http://schemas.openxmlformats.org/drawingml/2006/main">
          <a:r>
            <a:rPr lang="en-US" altLang="zh-CN" dirty="0"/>
            <a:t>%</a:t>
          </a:r>
          <a:endParaRPr lang="zh-CN" altLang="en-US" sz="1100" dirty="0"/>
        </a:p>
      </cdr:txBody>
    </cdr:sp>
  </cdr:relSizeAnchor>
  <cdr:relSizeAnchor xmlns:cdr="http://schemas.openxmlformats.org/drawingml/2006/chartDrawing">
    <cdr:from>
      <cdr:x>0.27778</cdr:x>
      <cdr:y>0.25806</cdr:y>
    </cdr:from>
    <cdr:to>
      <cdr:x>0.47222</cdr:x>
      <cdr:y>0.54839</cdr:y>
    </cdr:to>
    <cdr:sp macro="" textlink="">
      <cdr:nvSpPr>
        <cdr:cNvPr id="5" name="矩形 4"/>
        <cdr:cNvSpPr/>
      </cdr:nvSpPr>
      <cdr:spPr>
        <a:xfrm xmlns:a="http://schemas.openxmlformats.org/drawingml/2006/main">
          <a:off x="720080" y="576064"/>
          <a:ext cx="50405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应交税费</a:t>
          </a:r>
          <a:endParaRPr lang="en-US" altLang="zh-CN" sz="1100" dirty="0"/>
        </a:p>
        <a:p xmlns:a="http://schemas.openxmlformats.org/drawingml/2006/main">
          <a:r>
            <a:rPr lang="en-US" altLang="zh-CN" dirty="0"/>
            <a:t>%</a:t>
          </a:r>
          <a:endParaRPr lang="zh-CN" altLang="en-US"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0.34742</cdr:x>
      <cdr:y>0.67742</cdr:y>
    </cdr:from>
    <cdr:to>
      <cdr:x>0.81143</cdr:x>
      <cdr:y>0.83871</cdr:y>
    </cdr:to>
    <cdr:sp macro="" textlink="">
      <cdr:nvSpPr>
        <cdr:cNvPr id="2" name="矩形 1"/>
        <cdr:cNvSpPr/>
      </cdr:nvSpPr>
      <cdr:spPr>
        <a:xfrm xmlns:a="http://schemas.openxmlformats.org/drawingml/2006/main">
          <a:off x="900613" y="1512169"/>
          <a:ext cx="1202845" cy="360040"/>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固定资产</a:t>
          </a:r>
          <a:r>
            <a:rPr lang="en-US" altLang="zh-CN" dirty="0"/>
            <a:t>77%</a:t>
          </a:r>
          <a:endParaRPr lang="zh-CN" altLang="en-US" sz="1100" dirty="0"/>
        </a:p>
      </cdr:txBody>
    </cdr:sp>
  </cdr:relSizeAnchor>
  <cdr:relSizeAnchor xmlns:cdr="http://schemas.openxmlformats.org/drawingml/2006/chartDrawing">
    <cdr:from>
      <cdr:x>0.21544</cdr:x>
      <cdr:y>0.46774</cdr:y>
    </cdr:from>
    <cdr:to>
      <cdr:x>0.73631</cdr:x>
      <cdr:y>0.75806</cdr:y>
    </cdr:to>
    <cdr:sp macro="" textlink="">
      <cdr:nvSpPr>
        <cdr:cNvPr id="3" name="矩形 2"/>
        <cdr:cNvSpPr/>
      </cdr:nvSpPr>
      <cdr:spPr>
        <a:xfrm xmlns:a="http://schemas.openxmlformats.org/drawingml/2006/main">
          <a:off x="558495" y="1044122"/>
          <a:ext cx="1350225" cy="648066"/>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在建工程</a:t>
          </a:r>
          <a:r>
            <a:rPr lang="en-US" altLang="zh-CN" dirty="0"/>
            <a:t>%</a:t>
          </a:r>
          <a:endParaRPr lang="zh-CN" altLang="en-US" sz="1100" dirty="0"/>
        </a:p>
      </cdr:txBody>
    </cdr:sp>
  </cdr:relSizeAnchor>
  <cdr:relSizeAnchor xmlns:cdr="http://schemas.openxmlformats.org/drawingml/2006/chartDrawing">
    <cdr:from>
      <cdr:x>0.46967</cdr:x>
      <cdr:y>0.333</cdr:y>
    </cdr:from>
    <cdr:to>
      <cdr:x>0.85802</cdr:x>
      <cdr:y>0.59106</cdr:y>
    </cdr:to>
    <cdr:sp macro="" textlink="">
      <cdr:nvSpPr>
        <cdr:cNvPr id="4" name="矩形 3"/>
        <cdr:cNvSpPr/>
      </cdr:nvSpPr>
      <cdr:spPr>
        <a:xfrm xmlns:a="http://schemas.openxmlformats.org/drawingml/2006/main">
          <a:off x="1217523" y="743333"/>
          <a:ext cx="1006703" cy="57605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金融资产</a:t>
          </a:r>
          <a:r>
            <a:rPr lang="en-US" altLang="zh-CN" dirty="0"/>
            <a:t>%</a:t>
          </a:r>
          <a:endParaRPr lang="zh-CN" altLang="en-US" sz="1100" dirty="0"/>
        </a:p>
      </cdr:txBody>
    </cdr:sp>
  </cdr:relSizeAnchor>
  <cdr:relSizeAnchor xmlns:cdr="http://schemas.openxmlformats.org/drawingml/2006/chartDrawing">
    <cdr:from>
      <cdr:x>0.20149</cdr:x>
      <cdr:y>0.26563</cdr:y>
    </cdr:from>
    <cdr:to>
      <cdr:x>0.5626</cdr:x>
      <cdr:y>0.55595</cdr:y>
    </cdr:to>
    <cdr:sp macro="" textlink="">
      <cdr:nvSpPr>
        <cdr:cNvPr id="5" name="矩形 4"/>
        <cdr:cNvSpPr/>
      </cdr:nvSpPr>
      <cdr:spPr>
        <a:xfrm xmlns:a="http://schemas.openxmlformats.org/drawingml/2006/main">
          <a:off x="522322" y="592952"/>
          <a:ext cx="936094" cy="648067"/>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无形资产</a:t>
          </a:r>
          <a:r>
            <a:rPr lang="en-US" altLang="zh-CN" sz="1100" dirty="0"/>
            <a:t>%</a:t>
          </a:r>
          <a:endParaRPr lang="zh-CN" altLang="en-US" sz="1100" dirty="0"/>
        </a:p>
      </cdr:txBody>
    </cdr:sp>
  </cdr:relSizeAnchor>
</c:userShapes>
</file>

<file path=ppt/drawings/drawing5.xml><?xml version="1.0" encoding="utf-8"?>
<c:userShapes xmlns:c="http://schemas.openxmlformats.org/drawingml/2006/chart">
  <cdr:relSizeAnchor xmlns:cdr="http://schemas.openxmlformats.org/drawingml/2006/chartDrawing">
    <cdr:from>
      <cdr:x>0.353</cdr:x>
      <cdr:y>0.70136</cdr:y>
    </cdr:from>
    <cdr:to>
      <cdr:x>0.7766</cdr:x>
      <cdr:y>0.96437</cdr:y>
    </cdr:to>
    <cdr:sp macro="" textlink="">
      <cdr:nvSpPr>
        <cdr:cNvPr id="2" name="矩形 1"/>
        <cdr:cNvSpPr/>
      </cdr:nvSpPr>
      <cdr:spPr>
        <a:xfrm xmlns:a="http://schemas.openxmlformats.org/drawingml/2006/main">
          <a:off x="720080" y="1728192"/>
          <a:ext cx="864096" cy="64807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利息支出</a:t>
          </a:r>
          <a:endParaRPr lang="en-US" altLang="zh-CN" sz="1100" dirty="0"/>
        </a:p>
        <a:p xmlns:a="http://schemas.openxmlformats.org/drawingml/2006/main">
          <a:r>
            <a:rPr lang="en-US" altLang="zh-CN" dirty="0"/>
            <a:t>      63%</a:t>
          </a:r>
          <a:endParaRPr lang="zh-CN" altLang="en-US" sz="1100" dirty="0"/>
        </a:p>
      </cdr:txBody>
    </cdr:sp>
  </cdr:relSizeAnchor>
  <cdr:relSizeAnchor xmlns:cdr="http://schemas.openxmlformats.org/drawingml/2006/chartDrawing">
    <cdr:from>
      <cdr:x>0.1412</cdr:x>
      <cdr:y>0.3799</cdr:y>
    </cdr:from>
    <cdr:to>
      <cdr:x>0.6001</cdr:x>
      <cdr:y>0.61369</cdr:y>
    </cdr:to>
    <cdr:sp macro="" textlink="">
      <cdr:nvSpPr>
        <cdr:cNvPr id="3" name="矩形 2"/>
        <cdr:cNvSpPr/>
      </cdr:nvSpPr>
      <cdr:spPr>
        <a:xfrm xmlns:a="http://schemas.openxmlformats.org/drawingml/2006/main">
          <a:off x="288032" y="936104"/>
          <a:ext cx="936104" cy="576064"/>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dirty="0"/>
            <a:t>汇兑损益</a:t>
          </a:r>
          <a:endParaRPr lang="en-US" altLang="zh-CN" dirty="0"/>
        </a:p>
        <a:p xmlns:a="http://schemas.openxmlformats.org/drawingml/2006/main">
          <a:r>
            <a:rPr lang="en-US" altLang="zh-CN" sz="1100" dirty="0"/>
            <a:t>   30%</a:t>
          </a:r>
          <a:endParaRPr lang="zh-CN" altLang="en-US" sz="1100" dirty="0"/>
        </a:p>
      </cdr:txBody>
    </cdr:sp>
  </cdr:relSizeAnchor>
  <cdr:relSizeAnchor xmlns:cdr="http://schemas.openxmlformats.org/drawingml/2006/chartDrawing">
    <cdr:from>
      <cdr:x>0.38192</cdr:x>
      <cdr:y>0.25707</cdr:y>
    </cdr:from>
    <cdr:to>
      <cdr:x>0.8471</cdr:x>
      <cdr:y>0.46164</cdr:y>
    </cdr:to>
    <cdr:sp macro="" textlink="">
      <cdr:nvSpPr>
        <cdr:cNvPr id="4" name="矩形 3"/>
        <cdr:cNvSpPr/>
      </cdr:nvSpPr>
      <cdr:spPr>
        <a:xfrm xmlns:a="http://schemas.openxmlformats.org/drawingml/2006/main">
          <a:off x="779077" y="633442"/>
          <a:ext cx="948906" cy="504070"/>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zh-CN" altLang="en-US" sz="1100" dirty="0"/>
            <a:t>手续费</a:t>
          </a:r>
          <a:r>
            <a:rPr lang="en-US" altLang="zh-CN" dirty="0"/>
            <a:t>7%</a:t>
          </a:r>
          <a:endParaRPr lang="zh-CN" altLang="en-US" sz="1100" dirty="0"/>
        </a:p>
      </cdr:txBody>
    </cdr:sp>
  </cdr:relSizeAnchor>
</c:userShapes>
</file>

<file path=ppt/drawings/drawing6.xml><?xml version="1.0" encoding="utf-8"?>
<c:userShapes xmlns:c="http://schemas.openxmlformats.org/drawingml/2006/chart">
  <cdr:relSizeAnchor xmlns:cdr="http://schemas.openxmlformats.org/drawingml/2006/chartDrawing">
    <cdr:from>
      <cdr:x>0.41496</cdr:x>
      <cdr:y>0.18182</cdr:y>
    </cdr:from>
    <cdr:to>
      <cdr:x>0.60764</cdr:x>
      <cdr:y>0.30303</cdr:y>
    </cdr:to>
    <cdr:sp macro="" textlink="">
      <cdr:nvSpPr>
        <cdr:cNvPr id="2" name="矩形 1"/>
        <cdr:cNvSpPr/>
      </cdr:nvSpPr>
      <cdr:spPr>
        <a:xfrm xmlns:a="http://schemas.openxmlformats.org/drawingml/2006/main">
          <a:off x="936104" y="432048"/>
          <a:ext cx="434682" cy="28803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en-US" altLang="zh-CN" sz="1100" dirty="0"/>
            <a:t>65%</a:t>
          </a:r>
          <a:endParaRPr lang="zh-CN" altLang="en-US" sz="1100" dirty="0"/>
        </a:p>
      </cdr:txBody>
    </cdr:sp>
  </cdr:relSizeAnchor>
  <cdr:relSizeAnchor xmlns:cdr="http://schemas.openxmlformats.org/drawingml/2006/chartDrawing">
    <cdr:from>
      <cdr:x>0.12768</cdr:x>
      <cdr:y>0.30303</cdr:y>
    </cdr:from>
    <cdr:to>
      <cdr:x>0.29284</cdr:x>
      <cdr:y>0.42424</cdr:y>
    </cdr:to>
    <cdr:sp macro="" textlink="">
      <cdr:nvSpPr>
        <cdr:cNvPr id="3" name="矩形 2"/>
        <cdr:cNvSpPr/>
      </cdr:nvSpPr>
      <cdr:spPr>
        <a:xfrm xmlns:a="http://schemas.openxmlformats.org/drawingml/2006/main">
          <a:off x="288032" y="720080"/>
          <a:ext cx="372584" cy="288032"/>
        </a:xfrm>
        <a:prstGeom xmlns:a="http://schemas.openxmlformats.org/drawingml/2006/main" prst="rect">
          <a:avLst/>
        </a:prstGeom>
      </cdr:spPr>
      <cdr:txBody>
        <a:bodyPr xmlns:a="http://schemas.openxmlformats.org/drawingml/2006/main" vertOverflow="clip" vert="horz" wrap="square" lIns="45720" tIns="45720" rIns="45720" bIns="45720" rtlCol="0" anchor="t" anchorCtr="0">
          <a:normAutofit/>
        </a:bodyPr>
        <a:lstStyle xmlns:a="http://schemas.openxmlformats.org/drawingml/2006/main"/>
        <a:p xmlns:a="http://schemas.openxmlformats.org/drawingml/2006/main">
          <a:r>
            <a:rPr lang="en-US" altLang="zh-CN" sz="1100" dirty="0"/>
            <a:t>9%</a:t>
          </a:r>
          <a:endParaRPr lang="zh-CN" alt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15CC20-5169-4555-ADF5-A4E3D382079A}" type="datetimeFigureOut">
              <a:rPr lang="zh-CN" altLang="en-US" smtClean="0"/>
              <a:t>2020/3/13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965A70-17C2-4687-AD84-5FF2E4186552}"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743F9-9B08-422F-9ECE-BE7148BC7DDC}"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4C0232-94FA-4EBE-BB9B-79FBE486032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本</a:t>
            </a:r>
            <a:r>
              <a:rPr lang="en-US" altLang="zh-CN" sz="1200" b="0" i="0" kern="1200" dirty="0">
                <a:solidFill>
                  <a:schemeClr val="tx1"/>
                </a:solidFill>
                <a:effectLst/>
                <a:latin typeface="+mn-lt"/>
                <a:ea typeface="+mn-ea"/>
                <a:cs typeface="+mn-cs"/>
              </a:rPr>
              <a:t>PPT</a:t>
            </a:r>
            <a:r>
              <a:rPr lang="zh-CN" altLang="en-US" sz="1200" b="0" i="0" kern="1200" dirty="0">
                <a:solidFill>
                  <a:schemeClr val="tx1"/>
                </a:solidFill>
                <a:effectLst/>
                <a:latin typeface="+mn-lt"/>
                <a:ea typeface="+mn-ea"/>
                <a:cs typeface="+mn-cs"/>
              </a:rPr>
              <a:t>模板部分元素使用了幻灯片母版制作。如果需要修改，点击</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视图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幻灯片母版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修改；完成后关闭编辑母版即可。</a:t>
            </a:r>
            <a:endParaRPr lang="zh-CN" altLang="en-US" dirty="0"/>
          </a:p>
        </p:txBody>
      </p:sp>
      <p:sp>
        <p:nvSpPr>
          <p:cNvPr id="4" name="灯片编号占位符 3"/>
          <p:cNvSpPr>
            <a:spLocks noGrp="1"/>
          </p:cNvSpPr>
          <p:nvPr>
            <p:ph type="sldNum" sz="quarter" idx="10"/>
          </p:nvPr>
        </p:nvSpPr>
        <p:spPr/>
        <p:txBody>
          <a:bodyPr/>
          <a:lstStyle/>
          <a:p>
            <a:fld id="{D34C0232-94FA-4EBE-BB9B-79FBE486032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34C0232-94FA-4EBE-BB9B-79FBE486032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本</a:t>
            </a:r>
            <a:r>
              <a:rPr lang="en-US" altLang="zh-CN" sz="1200" b="0" i="0" kern="1200" dirty="0">
                <a:solidFill>
                  <a:schemeClr val="tx1"/>
                </a:solidFill>
                <a:effectLst/>
                <a:latin typeface="+mn-lt"/>
                <a:ea typeface="+mn-ea"/>
                <a:cs typeface="+mn-cs"/>
              </a:rPr>
              <a:t>PPT</a:t>
            </a:r>
            <a:r>
              <a:rPr lang="zh-CN" altLang="en-US" sz="1200" b="0" i="0" kern="1200" dirty="0">
                <a:solidFill>
                  <a:schemeClr val="tx1"/>
                </a:solidFill>
                <a:effectLst/>
                <a:latin typeface="+mn-lt"/>
                <a:ea typeface="+mn-ea"/>
                <a:cs typeface="+mn-cs"/>
              </a:rPr>
              <a:t>模板部分元素使用了幻灯片母版制作。如果需要修改，点击</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视图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幻灯片母版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修改；完成后关闭编辑母版即可。</a:t>
            </a:r>
            <a:endParaRPr lang="zh-CN" altLang="en-US" dirty="0"/>
          </a:p>
        </p:txBody>
      </p:sp>
      <p:sp>
        <p:nvSpPr>
          <p:cNvPr id="4" name="灯片编号占位符 3"/>
          <p:cNvSpPr>
            <a:spLocks noGrp="1"/>
          </p:cNvSpPr>
          <p:nvPr>
            <p:ph type="sldNum" sz="quarter" idx="10"/>
          </p:nvPr>
        </p:nvSpPr>
        <p:spPr/>
        <p:txBody>
          <a:bodyPr/>
          <a:lstStyle/>
          <a:p>
            <a:fld id="{D34C0232-94FA-4EBE-BB9B-79FBE486032D}"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文本框 1"/>
          <p:cNvSpPr txBox="1"/>
          <p:nvPr userDrawn="1"/>
        </p:nvSpPr>
        <p:spPr>
          <a:xfrm>
            <a:off x="74468" y="0"/>
            <a:ext cx="772969" cy="1200329"/>
          </a:xfrm>
          <a:prstGeom prst="rect">
            <a:avLst/>
          </a:prstGeom>
          <a:noFill/>
        </p:spPr>
        <p:txBody>
          <a:bodyPr wrap="non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Agency FB" panose="020B0503020202020204" pitchFamily="34" charset="0"/>
                <a:ea typeface="微软雅黑" panose="020B0503020204020204" charset="-122"/>
                <a:cs typeface="+mn-cs"/>
              </a:rPr>
              <a:t>0</a:t>
            </a:r>
            <a:r>
              <a:rPr kumimoji="0" lang="en-US" altLang="zh-CN"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rPr>
              <a:t>1</a:t>
            </a:r>
            <a:endParaRPr kumimoji="0" lang="zh-CN" altLang="en-US"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endParaRPr>
          </a:p>
        </p:txBody>
      </p:sp>
      <p:sp>
        <p:nvSpPr>
          <p:cNvPr id="3" name="TextBox 90"/>
          <p:cNvSpPr txBox="1"/>
          <p:nvPr userDrawn="1"/>
        </p:nvSpPr>
        <p:spPr>
          <a:xfrm>
            <a:off x="954882" y="192950"/>
            <a:ext cx="5283991" cy="537428"/>
          </a:xfrm>
          <a:prstGeom prst="rect">
            <a:avLst/>
          </a:prstGeom>
          <a:noFill/>
        </p:spPr>
        <p:txBody>
          <a:bodyPr wrap="square" lIns="105509" tIns="52755" rIns="105509" bIns="52755" rtlCol="0">
            <a:spAutoFit/>
          </a:bodyPr>
          <a:lstStyle/>
          <a:p>
            <a:pPr lvl="0">
              <a:defRPr/>
            </a:pPr>
            <a:r>
              <a:rPr kumimoji="0" lang="zh-CN" altLang="en-US" sz="2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rPr>
              <a:t>资产负债表</a:t>
            </a:r>
          </a:p>
        </p:txBody>
      </p:sp>
    </p:spTree>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par>
                                <p:cTn id="8" presetID="19" presetClass="entr" presetSubtype="5" fill="hold" grpId="0" nodeType="withEffect">
                                  <p:stCondLst>
                                    <p:cond delay="100"/>
                                  </p:stCondLst>
                                  <p:iterate type="lt">
                                    <p:tmPct val="10000"/>
                                  </p:iterate>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strVal val="#ppt_w"/>
                                          </p:val>
                                        </p:tav>
                                        <p:tav tm="100000">
                                          <p:val>
                                            <p:strVal val="#ppt_w"/>
                                          </p:val>
                                        </p:tav>
                                      </p:tavLst>
                                    </p:anim>
                                    <p:anim calcmode="lin" valueType="num">
                                      <p:cBhvr>
                                        <p:cTn id="11"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文本框 1"/>
          <p:cNvSpPr txBox="1"/>
          <p:nvPr userDrawn="1"/>
        </p:nvSpPr>
        <p:spPr>
          <a:xfrm>
            <a:off x="74468" y="0"/>
            <a:ext cx="1023037" cy="1200329"/>
          </a:xfrm>
          <a:prstGeom prst="rect">
            <a:avLst/>
          </a:prstGeom>
          <a:noFill/>
        </p:spPr>
        <p:txBody>
          <a:bodyPr wrap="non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Agency FB" panose="020B0503020202020204" pitchFamily="34" charset="0"/>
                <a:ea typeface="微软雅黑" panose="020B0503020204020204" charset="-122"/>
                <a:cs typeface="+mn-cs"/>
              </a:rPr>
              <a:t>0</a:t>
            </a:r>
            <a:r>
              <a:rPr kumimoji="0" lang="en-US" altLang="zh-CN"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rPr>
              <a:t>2</a:t>
            </a:r>
            <a:endParaRPr kumimoji="0" lang="zh-CN" altLang="en-US"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endParaRPr>
          </a:p>
        </p:txBody>
      </p:sp>
      <p:sp>
        <p:nvSpPr>
          <p:cNvPr id="3" name="TextBox 90"/>
          <p:cNvSpPr txBox="1"/>
          <p:nvPr userDrawn="1"/>
        </p:nvSpPr>
        <p:spPr>
          <a:xfrm>
            <a:off x="954882" y="192950"/>
            <a:ext cx="5283991" cy="537428"/>
          </a:xfrm>
          <a:prstGeom prst="rect">
            <a:avLst/>
          </a:prstGeom>
          <a:noFill/>
        </p:spPr>
        <p:txBody>
          <a:bodyPr wrap="square" lIns="105509" tIns="52755" rIns="105509" bIns="52755" rtlCol="0">
            <a:spAutoFit/>
          </a:bodyPr>
          <a:lstStyle/>
          <a:p>
            <a:pPr lvl="0">
              <a:defRPr/>
            </a:pPr>
            <a:r>
              <a:rPr kumimoji="0" lang="zh-CN" altLang="en-US" sz="2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rPr>
              <a:t>资产利润表</a:t>
            </a:r>
          </a:p>
        </p:txBody>
      </p:sp>
    </p:spTree>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par>
                                <p:cTn id="8" presetID="19" presetClass="entr" presetSubtype="5" fill="hold" grpId="0" nodeType="withEffect">
                                  <p:stCondLst>
                                    <p:cond delay="100"/>
                                  </p:stCondLst>
                                  <p:iterate type="lt">
                                    <p:tmPct val="10000"/>
                                  </p:iterate>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strVal val="#ppt_w"/>
                                          </p:val>
                                        </p:tav>
                                        <p:tav tm="100000">
                                          <p:val>
                                            <p:strVal val="#ppt_w"/>
                                          </p:val>
                                        </p:tav>
                                      </p:tavLst>
                                    </p:anim>
                                    <p:anim calcmode="lin" valueType="num">
                                      <p:cBhvr>
                                        <p:cTn id="11"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文本框 1"/>
          <p:cNvSpPr txBox="1"/>
          <p:nvPr userDrawn="1"/>
        </p:nvSpPr>
        <p:spPr>
          <a:xfrm>
            <a:off x="74468" y="0"/>
            <a:ext cx="1040670" cy="1200329"/>
          </a:xfrm>
          <a:prstGeom prst="rect">
            <a:avLst/>
          </a:prstGeom>
          <a:noFill/>
        </p:spPr>
        <p:txBody>
          <a:bodyPr wrap="non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Agency FB" panose="020B0503020202020204" pitchFamily="34" charset="0"/>
                <a:ea typeface="微软雅黑" panose="020B0503020204020204" charset="-122"/>
                <a:cs typeface="+mn-cs"/>
              </a:rPr>
              <a:t>0</a:t>
            </a:r>
            <a:r>
              <a:rPr kumimoji="0" lang="en-US" altLang="zh-CN"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rPr>
              <a:t>3</a:t>
            </a:r>
            <a:endParaRPr kumimoji="0" lang="zh-CN" altLang="en-US"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endParaRPr>
          </a:p>
        </p:txBody>
      </p:sp>
      <p:sp>
        <p:nvSpPr>
          <p:cNvPr id="3" name="TextBox 90"/>
          <p:cNvSpPr txBox="1"/>
          <p:nvPr userDrawn="1"/>
        </p:nvSpPr>
        <p:spPr>
          <a:xfrm>
            <a:off x="973127" y="192950"/>
            <a:ext cx="5283991" cy="537428"/>
          </a:xfrm>
          <a:prstGeom prst="rect">
            <a:avLst/>
          </a:prstGeom>
          <a:noFill/>
        </p:spPr>
        <p:txBody>
          <a:bodyPr wrap="square" lIns="105509" tIns="52755" rIns="105509" bIns="52755" rtlCol="0">
            <a:spAutoFit/>
          </a:bodyPr>
          <a:lstStyle/>
          <a:p>
            <a:pPr lvl="0">
              <a:defRPr/>
            </a:pPr>
            <a:r>
              <a:rPr kumimoji="0" lang="zh-CN" altLang="en-US" sz="2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rPr>
              <a:t>现金流量表</a:t>
            </a:r>
          </a:p>
        </p:txBody>
      </p:sp>
    </p:spTree>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par>
                                <p:cTn id="8" presetID="19" presetClass="entr" presetSubtype="5" fill="hold" grpId="0" nodeType="withEffect">
                                  <p:stCondLst>
                                    <p:cond delay="100"/>
                                  </p:stCondLst>
                                  <p:iterate type="lt">
                                    <p:tmPct val="10000"/>
                                  </p:iterate>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strVal val="#ppt_w"/>
                                          </p:val>
                                        </p:tav>
                                        <p:tav tm="100000">
                                          <p:val>
                                            <p:strVal val="#ppt_w"/>
                                          </p:val>
                                        </p:tav>
                                      </p:tavLst>
                                    </p:anim>
                                    <p:anim calcmode="lin" valueType="num">
                                      <p:cBhvr>
                                        <p:cTn id="11"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文本框 1"/>
          <p:cNvSpPr txBox="1"/>
          <p:nvPr userDrawn="1"/>
        </p:nvSpPr>
        <p:spPr>
          <a:xfrm>
            <a:off x="74468" y="0"/>
            <a:ext cx="1035861" cy="1200329"/>
          </a:xfrm>
          <a:prstGeom prst="rect">
            <a:avLst/>
          </a:prstGeom>
          <a:noFill/>
        </p:spPr>
        <p:txBody>
          <a:bodyPr wrap="non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Agency FB" panose="020B0503020202020204" pitchFamily="34" charset="0"/>
                <a:ea typeface="微软雅黑" panose="020B0503020204020204" charset="-122"/>
                <a:cs typeface="+mn-cs"/>
              </a:rPr>
              <a:t>0</a:t>
            </a:r>
            <a:r>
              <a:rPr kumimoji="0" lang="en-US" altLang="zh-CN"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rPr>
              <a:t>4</a:t>
            </a:r>
            <a:endParaRPr kumimoji="0" lang="zh-CN" altLang="en-US" sz="72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Agency FB" panose="020B0503020202020204" pitchFamily="34" charset="0"/>
              <a:ea typeface="微软雅黑" panose="020B0503020204020204" charset="-122"/>
              <a:cs typeface="+mn-cs"/>
            </a:endParaRPr>
          </a:p>
        </p:txBody>
      </p:sp>
      <p:sp>
        <p:nvSpPr>
          <p:cNvPr id="3" name="TextBox 90"/>
          <p:cNvSpPr txBox="1"/>
          <p:nvPr userDrawn="1"/>
        </p:nvSpPr>
        <p:spPr>
          <a:xfrm>
            <a:off x="954882" y="192950"/>
            <a:ext cx="5283991" cy="537428"/>
          </a:xfrm>
          <a:prstGeom prst="rect">
            <a:avLst/>
          </a:prstGeom>
          <a:noFill/>
        </p:spPr>
        <p:txBody>
          <a:bodyPr wrap="square" lIns="105509" tIns="52755" rIns="105509" bIns="52755" rtlCol="0">
            <a:spAutoFit/>
          </a:bodyPr>
          <a:lstStyle/>
          <a:p>
            <a:pPr lvl="0">
              <a:defRPr/>
            </a:pPr>
            <a:r>
              <a:rPr kumimoji="0" lang="zh-CN" altLang="en-US" sz="2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rPr>
              <a:t>费用分析</a:t>
            </a:r>
          </a:p>
        </p:txBody>
      </p:sp>
    </p:spTree>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par>
                                <p:cTn id="8" presetID="19" presetClass="entr" presetSubtype="5" fill="hold" grpId="0" nodeType="withEffect">
                                  <p:stCondLst>
                                    <p:cond delay="100"/>
                                  </p:stCondLst>
                                  <p:iterate type="lt">
                                    <p:tmPct val="10000"/>
                                  </p:iterate>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strVal val="#ppt_w"/>
                                          </p:val>
                                        </p:tav>
                                        <p:tav tm="100000">
                                          <p:val>
                                            <p:strVal val="#ppt_w"/>
                                          </p:val>
                                        </p:tav>
                                      </p:tavLst>
                                    </p:anim>
                                    <p:anim calcmode="lin" valueType="num">
                                      <p:cBhvr>
                                        <p:cTn id="11"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png"/><Relationship Id="rId1" Type="http://schemas.microsoft.com/office/2007/relationships/media" Target="../media/media1.mp3"/><Relationship Id="rId2"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4" Type="http://schemas.openxmlformats.org/officeDocument/2006/relationships/chart" Target="../charts/chart1.xml"/><Relationship Id="rId1" Type="http://schemas.openxmlformats.org/officeDocument/2006/relationships/tags" Target="../tags/tag2.xml"/><Relationship Id="rId2"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 Id="rId8" Type="http://schemas.openxmlformats.org/officeDocument/2006/relationships/chart" Target="../charts/chart11.xml"/><Relationship Id="rId9" Type="http://schemas.openxmlformats.org/officeDocument/2006/relationships/chart" Target="../charts/chart12.xml"/><Relationship Id="rId10" Type="http://schemas.openxmlformats.org/officeDocument/2006/relationships/chart" Target="../charts/chart13.xml"/><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charts/chart14.xml"/><Relationship Id="rId4" Type="http://schemas.openxmlformats.org/officeDocument/2006/relationships/chart" Target="../charts/chart15.xml"/><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hart" Target="../charts/chart16.xml"/></Relationships>
</file>

<file path=ppt/slides/_rels/slide13.xml.rels><?xml version="1.0" encoding="UTF-8" standalone="yes"?>
<Relationships xmlns="http://schemas.openxmlformats.org/package/2006/relationships"><Relationship Id="rId3" Type="http://schemas.openxmlformats.org/officeDocument/2006/relationships/chart" Target="../charts/chart17.xml"/><Relationship Id="rId4" Type="http://schemas.openxmlformats.org/officeDocument/2006/relationships/chart" Target="../charts/chart18.xml"/><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chart" Target="../charts/chart19.xml"/><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20.xml"/></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84505" y="851647"/>
            <a:ext cx="6228035" cy="6006353"/>
          </a:xfrm>
          <a:prstGeom prst="rect">
            <a:avLst/>
          </a:prstGeom>
        </p:spPr>
      </p:pic>
      <p:sp>
        <p:nvSpPr>
          <p:cNvPr id="6" name="TextBox 59"/>
          <p:cNvSpPr txBox="1">
            <a:spLocks noChangeArrowheads="1"/>
          </p:cNvSpPr>
          <p:nvPr/>
        </p:nvSpPr>
        <p:spPr bwMode="auto">
          <a:xfrm>
            <a:off x="122551" y="2493641"/>
            <a:ext cx="5744515" cy="954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r>
              <a:rPr lang="zh-CN" altLang="en-US" sz="5400" b="1" dirty="0">
                <a:solidFill>
                  <a:schemeClr val="accent2">
                    <a:lumMod val="75000"/>
                  </a:schemeClr>
                </a:solidFill>
                <a:latin typeface="+mj-ea"/>
                <a:ea typeface="+mj-ea"/>
              </a:rPr>
              <a:t>财务分析报告</a:t>
            </a:r>
            <a:r>
              <a:rPr lang="en-US" altLang="zh-CN" sz="5400" b="1" dirty="0">
                <a:latin typeface="微软雅黑" panose="020B0503020204020204" charset="-122"/>
                <a:ea typeface="微软雅黑" panose="020B0503020204020204" charset="-122"/>
              </a:rPr>
              <a:t>PPT</a:t>
            </a:r>
          </a:p>
        </p:txBody>
      </p:sp>
      <p:sp>
        <p:nvSpPr>
          <p:cNvPr id="7" name="TextBox 7"/>
          <p:cNvSpPr>
            <a:spLocks noChangeArrowheads="1"/>
          </p:cNvSpPr>
          <p:nvPr/>
        </p:nvSpPr>
        <p:spPr bwMode="auto">
          <a:xfrm>
            <a:off x="266270" y="1964342"/>
            <a:ext cx="774641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defRPr/>
            </a:pPr>
            <a:r>
              <a:rPr lang="en-US" altLang="zh-CN" sz="3200" dirty="0">
                <a:solidFill>
                  <a:schemeClr val="tx1">
                    <a:lumMod val="75000"/>
                    <a:lumOff val="25000"/>
                  </a:schemeClr>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rPr>
              <a:t>FINANCIAL DATA ANALYSIS REPORT PPT</a:t>
            </a:r>
          </a:p>
        </p:txBody>
      </p:sp>
      <p:grpSp>
        <p:nvGrpSpPr>
          <p:cNvPr id="8" name="组合 7"/>
          <p:cNvGrpSpPr/>
          <p:nvPr/>
        </p:nvGrpSpPr>
        <p:grpSpPr>
          <a:xfrm flipH="1">
            <a:off x="209551" y="3484603"/>
            <a:ext cx="6415483" cy="0"/>
            <a:chOff x="3339156" y="2641879"/>
            <a:chExt cx="5804844" cy="0"/>
          </a:xfrm>
        </p:grpSpPr>
        <p:cxnSp>
          <p:nvCxnSpPr>
            <p:cNvPr id="9" name="直接连接符 8"/>
            <p:cNvCxnSpPr/>
            <p:nvPr/>
          </p:nvCxnSpPr>
          <p:spPr>
            <a:xfrm>
              <a:off x="3339156" y="2641879"/>
              <a:ext cx="4695709" cy="0"/>
            </a:xfrm>
            <a:prstGeom prst="line">
              <a:avLst/>
            </a:prstGeom>
            <a:ln w="7620">
              <a:solidFill>
                <a:srgbClr val="00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03924" y="2641879"/>
              <a:ext cx="754055" cy="0"/>
            </a:xfrm>
            <a:prstGeom prst="line">
              <a:avLst/>
            </a:prstGeom>
            <a:ln w="7620">
              <a:solidFill>
                <a:srgbClr val="000000"/>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948986" y="2641879"/>
              <a:ext cx="195014" cy="0"/>
            </a:xfrm>
            <a:prstGeom prst="line">
              <a:avLst/>
            </a:prstGeom>
            <a:ln w="762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 name="圆角矩形 330"/>
          <p:cNvSpPr/>
          <p:nvPr/>
        </p:nvSpPr>
        <p:spPr>
          <a:xfrm>
            <a:off x="209551" y="3686328"/>
            <a:ext cx="5440077" cy="492985"/>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135" b="1" dirty="0">
                <a:solidFill>
                  <a:schemeClr val="bg1"/>
                </a:solidFill>
                <a:latin typeface="微软雅黑" panose="020B0503020204020204" charset="-122"/>
                <a:ea typeface="微软雅黑" panose="020B0503020204020204" charset="-122"/>
              </a:rPr>
              <a:t>工作汇报  工作总结  数据分析  财务金融</a:t>
            </a:r>
          </a:p>
        </p:txBody>
      </p:sp>
      <p:sp>
        <p:nvSpPr>
          <p:cNvPr id="13" name="圆角矩形 331"/>
          <p:cNvSpPr/>
          <p:nvPr/>
        </p:nvSpPr>
        <p:spPr>
          <a:xfrm>
            <a:off x="209551" y="4406969"/>
            <a:ext cx="2688300" cy="480076"/>
          </a:xfrm>
          <a:prstGeom prst="roundRect">
            <a:avLst>
              <a:gd name="adj" fmla="val 50000"/>
            </a:avLst>
          </a:prstGeom>
          <a:gradFill flip="none" rotWithShape="1">
            <a:gsLst>
              <a:gs pos="0">
                <a:schemeClr val="bg1">
                  <a:lumMod val="85000"/>
                </a:schemeClr>
              </a:gs>
              <a:gs pos="100000">
                <a:schemeClr val="bg1">
                  <a:lumMod val="95000"/>
                </a:schemeClr>
              </a:gs>
            </a:gsLst>
            <a:lin ang="2700000" scaled="1"/>
            <a:tileRect/>
          </a:gradFill>
          <a:ln w="25400">
            <a:gradFill flip="none" rotWithShape="1">
              <a:gsLst>
                <a:gs pos="0">
                  <a:schemeClr val="bg1">
                    <a:lumMod val="75000"/>
                  </a:schemeClr>
                </a:gs>
                <a:gs pos="100000">
                  <a:schemeClr val="bg1"/>
                </a:gs>
              </a:gsLst>
              <a:lin ang="2700000" scaled="1"/>
              <a:tileRect/>
            </a:gradFill>
          </a:ln>
          <a:effectLst>
            <a:innerShdw blurRad="1651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4" name="TextBox 332"/>
          <p:cNvSpPr txBox="1"/>
          <p:nvPr/>
        </p:nvSpPr>
        <p:spPr>
          <a:xfrm>
            <a:off x="666603" y="4453114"/>
            <a:ext cx="1467637" cy="410395"/>
          </a:xfrm>
          <a:prstGeom prst="rect">
            <a:avLst/>
          </a:prstGeom>
          <a:noFill/>
        </p:spPr>
        <p:txBody>
          <a:bodyPr wrap="none" lIns="121884" tIns="60941" rIns="121884" bIns="60941" rtlCol="0">
            <a:spAutoFit/>
          </a:bodyPr>
          <a:lstStyle/>
          <a:p>
            <a:pPr lvl="0"/>
            <a:r>
              <a:rPr lang="zh-CN" altLang="en-US" sz="1865" b="1" dirty="0">
                <a:solidFill>
                  <a:schemeClr val="tx1">
                    <a:lumMod val="75000"/>
                    <a:lumOff val="25000"/>
                  </a:schemeClr>
                </a:solidFill>
                <a:latin typeface="微软雅黑" panose="020B0503020204020204" charset="-122"/>
                <a:ea typeface="微软雅黑" panose="020B0503020204020204" charset="-122"/>
              </a:rPr>
              <a:t>部门：</a:t>
            </a:r>
            <a:r>
              <a:rPr lang="en-US" altLang="zh-CN" sz="1865" b="1" dirty="0">
                <a:solidFill>
                  <a:schemeClr val="tx1">
                    <a:lumMod val="75000"/>
                    <a:lumOff val="25000"/>
                  </a:schemeClr>
                </a:solidFill>
                <a:latin typeface="微软雅黑" panose="020B0503020204020204" charset="-122"/>
                <a:ea typeface="微软雅黑" panose="020B0503020204020204" charset="-122"/>
              </a:rPr>
              <a:t>XXX</a:t>
            </a:r>
            <a:endParaRPr lang="zh-CN" altLang="en-US" sz="1865" b="1" dirty="0">
              <a:solidFill>
                <a:schemeClr val="tx1">
                  <a:lumMod val="75000"/>
                  <a:lumOff val="25000"/>
                </a:schemeClr>
              </a:solidFill>
              <a:latin typeface="微软雅黑" panose="020B0503020204020204" charset="-122"/>
              <a:ea typeface="微软雅黑" panose="020B0503020204020204" charset="-122"/>
            </a:endParaRPr>
          </a:p>
        </p:txBody>
      </p:sp>
      <p:grpSp>
        <p:nvGrpSpPr>
          <p:cNvPr id="15" name="Group 91"/>
          <p:cNvGrpSpPr/>
          <p:nvPr/>
        </p:nvGrpSpPr>
        <p:grpSpPr bwMode="auto">
          <a:xfrm>
            <a:off x="223912" y="4419924"/>
            <a:ext cx="434101" cy="767467"/>
            <a:chOff x="936" y="1480"/>
            <a:chExt cx="1589" cy="2810"/>
          </a:xfrm>
        </p:grpSpPr>
        <p:grpSp>
          <p:nvGrpSpPr>
            <p:cNvPr id="16" name="组合 33"/>
            <p:cNvGrpSpPr/>
            <p:nvPr/>
          </p:nvGrpSpPr>
          <p:grpSpPr bwMode="auto">
            <a:xfrm>
              <a:off x="985" y="1583"/>
              <a:ext cx="1441" cy="2707"/>
              <a:chOff x="1754168" y="3653262"/>
              <a:chExt cx="1857599" cy="3495430"/>
            </a:xfrm>
          </p:grpSpPr>
          <p:sp>
            <p:nvSpPr>
              <p:cNvPr id="21" name="椭圆 2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4000" dirty="0">
                  <a:latin typeface="+mj-lt"/>
                  <a:ea typeface="方正超粗黑简体" panose="02010601030101010101" pitchFamily="65" charset="-122"/>
                </a:endParaRPr>
              </a:p>
            </p:txBody>
          </p:sp>
          <p:sp>
            <p:nvSpPr>
              <p:cNvPr id="22" name="椭圆 2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p>
            </p:txBody>
          </p:sp>
          <p:sp>
            <p:nvSpPr>
              <p:cNvPr id="23" name="椭圆 22"/>
              <p:cNvSpPr/>
              <p:nvPr/>
            </p:nvSpPr>
            <p:spPr>
              <a:xfrm>
                <a:off x="1890879" y="3789973"/>
                <a:ext cx="1584176" cy="1584174"/>
              </a:xfrm>
              <a:prstGeom prst="ellipse">
                <a:avLst/>
              </a:prstGeom>
              <a:solidFill>
                <a:schemeClr val="accent1"/>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4000" dirty="0">
                  <a:solidFill>
                    <a:srgbClr val="0087CF"/>
                  </a:solidFill>
                  <a:latin typeface="+mj-lt"/>
                  <a:ea typeface="方正超粗黑简体" panose="02010601030101010101" pitchFamily="65" charset="-122"/>
                </a:endParaRPr>
              </a:p>
            </p:txBody>
          </p:sp>
          <p:sp>
            <p:nvSpPr>
              <p:cNvPr id="24" name="矩形 23"/>
              <p:cNvSpPr/>
              <p:nvPr/>
            </p:nvSpPr>
            <p:spPr>
              <a:xfrm>
                <a:off x="2245590" y="4093186"/>
                <a:ext cx="871682" cy="3055506"/>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3600" b="1">
                  <a:solidFill>
                    <a:srgbClr val="CA0098"/>
                  </a:solidFill>
                  <a:latin typeface="微软雅黑" panose="020B0503020204020204" charset="-122"/>
                  <a:ea typeface="微软雅黑" panose="020B0503020204020204" charset="-122"/>
                </a:endParaRPr>
              </a:p>
            </p:txBody>
          </p:sp>
        </p:grpSp>
        <p:grpSp>
          <p:nvGrpSpPr>
            <p:cNvPr id="17" name="组合 4"/>
            <p:cNvGrpSpPr/>
            <p:nvPr/>
          </p:nvGrpSpPr>
          <p:grpSpPr bwMode="auto">
            <a:xfrm>
              <a:off x="936" y="1480"/>
              <a:ext cx="1589" cy="1588"/>
              <a:chOff x="3733576" y="3930057"/>
              <a:chExt cx="1801556" cy="1800152"/>
            </a:xfrm>
          </p:grpSpPr>
          <p:sp>
            <p:nvSpPr>
              <p:cNvPr id="18" name="椭圆 1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sp>
            <p:nvSpPr>
              <p:cNvPr id="1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sp>
            <p:nvSpPr>
              <p:cNvPr id="2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grpSp>
      </p:grpSp>
      <p:pic>
        <p:nvPicPr>
          <p:cNvPr id="25" name="63017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045980" y="-1528663"/>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Click="0" advTm="3000">
        <p14:rippl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par>
                                <p:cTn id="7" presetID="12" presetClass="entr" presetSubtype="4" fill="hold" grpId="0" nodeType="withEffect">
                                  <p:stCondLst>
                                    <p:cond delay="0"/>
                                  </p:stCondLst>
                                  <p:iterate type="lt">
                                    <p:tmPct val="10000"/>
                                  </p:iterate>
                                  <p:childTnLst>
                                    <p:set>
                                      <p:cBhvr>
                                        <p:cTn id="8" dur="1" fill="hold">
                                          <p:stCondLst>
                                            <p:cond delay="0"/>
                                          </p:stCondLst>
                                        </p:cTn>
                                        <p:tgtEl>
                                          <p:spTgt spid="6"/>
                                        </p:tgtEl>
                                        <p:attrNameLst>
                                          <p:attrName>style.visibility</p:attrName>
                                        </p:attrNameLst>
                                      </p:cBhvr>
                                      <p:to>
                                        <p:strVal val="visible"/>
                                      </p:to>
                                    </p:set>
                                    <p:anim calcmode="lin" valueType="num">
                                      <p:cBhvr additive="base">
                                        <p:cTn id="9" dur="750"/>
                                        <p:tgtEl>
                                          <p:spTgt spid="6"/>
                                        </p:tgtEl>
                                        <p:attrNameLst>
                                          <p:attrName>ppt_y</p:attrName>
                                        </p:attrNameLst>
                                      </p:cBhvr>
                                      <p:tavLst>
                                        <p:tav tm="0">
                                          <p:val>
                                            <p:strVal val="#ppt_y+#ppt_h*1.125000"/>
                                          </p:val>
                                        </p:tav>
                                        <p:tav tm="100000">
                                          <p:val>
                                            <p:strVal val="#ppt_y"/>
                                          </p:val>
                                        </p:tav>
                                      </p:tavLst>
                                    </p:anim>
                                    <p:animEffect transition="in" filter="wipe(up)">
                                      <p:cBhvr>
                                        <p:cTn id="10" dur="750"/>
                                        <p:tgtEl>
                                          <p:spTgt spid="6"/>
                                        </p:tgtEl>
                                      </p:cBhvr>
                                    </p:animEffect>
                                  </p:childTnLst>
                                </p:cTn>
                              </p:par>
                            </p:childTnLst>
                          </p:cTn>
                        </p:par>
                        <p:par>
                          <p:cTn id="11" fill="hold">
                            <p:stCondLst>
                              <p:cond delay="1350"/>
                            </p:stCondLst>
                            <p:childTnLst>
                              <p:par>
                                <p:cTn id="12" presetID="38" presetClass="entr" presetSubtype="0" accel="50000" fill="hold" grpId="0" nodeType="afterEffect">
                                  <p:stCondLst>
                                    <p:cond delay="0"/>
                                  </p:stCondLst>
                                  <p:iterate type="lt">
                                    <p:tmPct val="50000"/>
                                  </p:iterate>
                                  <p:childTnLst>
                                    <p:set>
                                      <p:cBhvr>
                                        <p:cTn id="13" dur="1" fill="hold">
                                          <p:stCondLst>
                                            <p:cond delay="0"/>
                                          </p:stCondLst>
                                        </p:cTn>
                                        <p:tgtEl>
                                          <p:spTgt spid="7"/>
                                        </p:tgtEl>
                                        <p:attrNameLst>
                                          <p:attrName>style.visibility</p:attrName>
                                        </p:attrNameLst>
                                      </p:cBhvr>
                                      <p:to>
                                        <p:strVal val="visible"/>
                                      </p:to>
                                    </p:set>
                                    <p:set>
                                      <p:cBhvr>
                                        <p:cTn id="14" dur="46" fill="hold">
                                          <p:stCondLst>
                                            <p:cond delay="0"/>
                                          </p:stCondLst>
                                        </p:cTn>
                                        <p:tgtEl>
                                          <p:spTgt spid="7"/>
                                        </p:tgtEl>
                                        <p:attrNameLst>
                                          <p:attrName>style.rotation</p:attrName>
                                        </p:attrNameLst>
                                      </p:cBhvr>
                                      <p:to>
                                        <p:strVal val="-45.0"/>
                                      </p:to>
                                    </p:set>
                                    <p:anim calcmode="lin" valueType="num">
                                      <p:cBhvr>
                                        <p:cTn id="15" dur="46" fill="hold">
                                          <p:stCondLst>
                                            <p:cond delay="46"/>
                                          </p:stCondLst>
                                        </p:cTn>
                                        <p:tgtEl>
                                          <p:spTgt spid="7"/>
                                        </p:tgtEl>
                                        <p:attrNameLst>
                                          <p:attrName>style.rotation</p:attrName>
                                        </p:attrNameLst>
                                      </p:cBhvr>
                                      <p:tavLst>
                                        <p:tav tm="0">
                                          <p:val>
                                            <p:fltVal val="-45"/>
                                          </p:val>
                                        </p:tav>
                                        <p:tav tm="69900">
                                          <p:val>
                                            <p:fltVal val="45"/>
                                          </p:val>
                                        </p:tav>
                                        <p:tav tm="100000">
                                          <p:val>
                                            <p:fltVal val="0"/>
                                          </p:val>
                                        </p:tav>
                                      </p:tavLst>
                                    </p:anim>
                                    <p:anim calcmode="lin" valueType="num">
                                      <p:cBhvr>
                                        <p:cTn id="16" dur="46" fill="hold">
                                          <p:stCondLst>
                                            <p:cond delay="0"/>
                                          </p:stCondLst>
                                        </p:cTn>
                                        <p:tgtEl>
                                          <p:spTgt spid="7"/>
                                        </p:tgtEl>
                                        <p:attrNameLst>
                                          <p:attrName>ppt_y</p:attrName>
                                        </p:attrNameLst>
                                      </p:cBhvr>
                                      <p:tavLst>
                                        <p:tav tm="0">
                                          <p:val>
                                            <p:strVal val="#ppt_y-1"/>
                                          </p:val>
                                        </p:tav>
                                        <p:tav tm="100000">
                                          <p:val>
                                            <p:strVal val="#ppt_y-(0.354*#ppt_w-0.172*#ppt_h)"/>
                                          </p:val>
                                        </p:tav>
                                      </p:tavLst>
                                    </p:anim>
                                    <p:anim calcmode="lin" valueType="num">
                                      <p:cBhvr>
                                        <p:cTn id="17" dur="16" decel="50000" autoRev="1" fill="hold">
                                          <p:stCondLst>
                                            <p:cond delay="46"/>
                                          </p:stCondLst>
                                        </p:cTn>
                                        <p:tgtEl>
                                          <p:spTgt spid="7"/>
                                        </p:tgtEl>
                                        <p:attrNameLst>
                                          <p:attrName>ppt_y</p:attrName>
                                        </p:attrNameLst>
                                      </p:cBhvr>
                                      <p:tavLst>
                                        <p:tav tm="0">
                                          <p:val>
                                            <p:strVal val="#ppt_y-(0.354*#ppt_w-0.172*#ppt_h)"/>
                                          </p:val>
                                        </p:tav>
                                        <p:tav tm="100000">
                                          <p:val>
                                            <p:strVal val="#ppt_y-(0.354*#ppt_w-0.172*#ppt_h)-#ppt_h/2"/>
                                          </p:val>
                                        </p:tav>
                                      </p:tavLst>
                                    </p:anim>
                                    <p:anim calcmode="lin" valueType="num">
                                      <p:cBhvr>
                                        <p:cTn id="18" dur="14" fill="hold">
                                          <p:stCondLst>
                                            <p:cond delay="86"/>
                                          </p:stCondLst>
                                        </p:cTn>
                                        <p:tgtEl>
                                          <p:spTgt spid="7"/>
                                        </p:tgtEl>
                                        <p:attrNameLst>
                                          <p:attrName>ppt_y</p:attrName>
                                        </p:attrNameLst>
                                      </p:cBhvr>
                                      <p:tavLst>
                                        <p:tav tm="0">
                                          <p:val>
                                            <p:strVal val="#ppt_y-(0.354*#ppt_w-0.172*#ppt_h)"/>
                                          </p:val>
                                        </p:tav>
                                        <p:tav tm="100000">
                                          <p:val>
                                            <p:strVal val="#ppt_y"/>
                                          </p:val>
                                        </p:tav>
                                      </p:tavLst>
                                    </p:anim>
                                  </p:childTnLst>
                                </p:cTn>
                              </p:par>
                            </p:childTnLst>
                          </p:cTn>
                        </p:par>
                        <p:par>
                          <p:cTn id="19" fill="hold">
                            <p:stCondLst>
                              <p:cond delay="3099"/>
                            </p:stCondLst>
                            <p:childTnLst>
                              <p:par>
                                <p:cTn id="20" presetID="2" presetClass="entr" presetSubtype="2"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par>
                          <p:cTn id="24" fill="hold">
                            <p:stCondLst>
                              <p:cond delay="3599"/>
                            </p:stCondLst>
                            <p:childTnLst>
                              <p:par>
                                <p:cTn id="25" presetID="16" presetClass="entr" presetSubtype="37"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outVertical)">
                                      <p:cBhvr>
                                        <p:cTn id="27" dur="500"/>
                                        <p:tgtEl>
                                          <p:spTgt spid="12"/>
                                        </p:tgtEl>
                                      </p:cBhvr>
                                    </p:animEffect>
                                  </p:childTnLst>
                                </p:cTn>
                              </p:par>
                            </p:childTnLst>
                          </p:cTn>
                        </p:par>
                        <p:par>
                          <p:cTn id="28" fill="hold">
                            <p:stCondLst>
                              <p:cond delay="4099"/>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4599"/>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par>
                          <p:cTn id="36" fill="hold">
                            <p:stCondLst>
                              <p:cond delay="5099"/>
                            </p:stCondLst>
                            <p:childTnLst>
                              <p:par>
                                <p:cTn id="37" presetID="42" presetClass="path" presetSubtype="0" accel="50000" decel="50000" fill="hold" nodeType="afterEffect">
                                  <p:stCondLst>
                                    <p:cond delay="0"/>
                                  </p:stCondLst>
                                  <p:childTnLst>
                                    <p:animMotion origin="layout" path="M 2.29167E-6 -2.96296E-6 L 0.14896 -0.00023 " pathEditMode="relative" rAng="0" ptsTypes="AA">
                                      <p:cBhvr>
                                        <p:cTn id="38" dur="2000" fill="hold"/>
                                        <p:tgtEl>
                                          <p:spTgt spid="15"/>
                                        </p:tgtEl>
                                        <p:attrNameLst>
                                          <p:attrName>ppt_x</p:attrName>
                                          <p:attrName>ppt_y</p:attrName>
                                        </p:attrNameLst>
                                      </p:cBhvr>
                                      <p:rCtr x="7448" y="-23"/>
                                    </p:animMotion>
                                  </p:childTnLst>
                                </p:cTn>
                              </p:par>
                              <p:par>
                                <p:cTn id="39" presetID="22" presetClass="entr" presetSubtype="8" fill="hold" grpId="0" nodeType="withEffect">
                                  <p:stCondLst>
                                    <p:cond delay="40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1600"/>
                                        <p:tgtEl>
                                          <p:spTgt spid="14"/>
                                        </p:tgtEl>
                                      </p:cBhvr>
                                    </p:animEffect>
                                  </p:childTnLst>
                                </p:cTn>
                              </p:par>
                            </p:childTnLst>
                          </p:cTn>
                        </p:par>
                        <p:par>
                          <p:cTn id="42" fill="hold">
                            <p:stCondLst>
                              <p:cond delay="7099"/>
                            </p:stCondLst>
                            <p:childTnLst>
                              <p:par>
                                <p:cTn id="43" presetID="10" presetClass="exit" presetSubtype="0" fill="hold" nodeType="afterEffect">
                                  <p:stCondLst>
                                    <p:cond delay="0"/>
                                  </p:stCondLst>
                                  <p:childTnLst>
                                    <p:animEffect transition="out" filter="fade">
                                      <p:cBhvr>
                                        <p:cTn id="44" dur="500"/>
                                        <p:tgtEl>
                                          <p:spTgt spid="15"/>
                                        </p:tgtEl>
                                      </p:cBhvr>
                                    </p:animEffect>
                                    <p:set>
                                      <p:cBhvr>
                                        <p:cTn id="4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6" repeatCount="indefinite" fill="remove" display="0">
                  <p:stCondLst>
                    <p:cond delay="indefinite"/>
                  </p:stCondLst>
                  <p:endCondLst>
                    <p:cond evt="onStopAudio" delay="0">
                      <p:tgtEl>
                        <p:sldTgt/>
                      </p:tgtEl>
                    </p:cond>
                  </p:endCondLst>
                </p:cTn>
                <p:tgtEl>
                  <p:spTgt spid="25"/>
                </p:tgtEl>
              </p:cMediaNode>
            </p:audio>
          </p:childTnLst>
        </p:cTn>
      </p:par>
    </p:tnLst>
    <p:bldLst>
      <p:bldP spid="6" grpId="0"/>
      <p:bldP spid="7" grpId="0"/>
      <p:bldP spid="12" grpId="0" animBg="1"/>
      <p:bldP spid="13" grpId="0" animBg="1"/>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0"/>
          <p:cNvSpPr txBox="1"/>
          <p:nvPr/>
        </p:nvSpPr>
        <p:spPr>
          <a:xfrm>
            <a:off x="827313" y="4471234"/>
            <a:ext cx="2354455" cy="471484"/>
          </a:xfrm>
          <a:prstGeom prst="rect">
            <a:avLst/>
          </a:prstGeom>
        </p:spPr>
        <p:txBody>
          <a:bodyPr lIns="86697" tIns="43348" rIns="86697" bIns="43348"/>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sz="3735" dirty="0">
                <a:solidFill>
                  <a:schemeClr val="bg1">
                    <a:lumMod val="50000"/>
                  </a:schemeClr>
                </a:solidFill>
                <a:latin typeface="Agency FB" panose="020B0503020202020204" pitchFamily="34" charset="0"/>
              </a:rPr>
              <a:t>PART 01</a:t>
            </a:r>
            <a:endParaRPr lang="zh-CN" altLang="en-US" sz="3735" dirty="0">
              <a:solidFill>
                <a:schemeClr val="bg1">
                  <a:lumMod val="50000"/>
                </a:schemeClr>
              </a:solidFill>
              <a:latin typeface="Agency FB" panose="020B0503020202020204" pitchFamily="34" charset="0"/>
            </a:endParaRPr>
          </a:p>
        </p:txBody>
      </p:sp>
      <p:sp>
        <p:nvSpPr>
          <p:cNvPr id="3" name="Text Placeholder 11"/>
          <p:cNvSpPr txBox="1"/>
          <p:nvPr/>
        </p:nvSpPr>
        <p:spPr>
          <a:xfrm>
            <a:off x="827313" y="5064918"/>
            <a:ext cx="2354453" cy="314100"/>
          </a:xfrm>
          <a:prstGeom prst="rect">
            <a:avLst/>
          </a:prstGeom>
        </p:spPr>
        <p:txBody>
          <a:bodyPr lIns="86697" tIns="43348" rIns="86697" bIns="43348"/>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None/>
            </a:pPr>
            <a:r>
              <a:rPr lang="zh-CN" altLang="en-US" dirty="0">
                <a:solidFill>
                  <a:schemeClr val="bg1">
                    <a:lumMod val="50000"/>
                  </a:schemeClr>
                </a:solidFill>
                <a:latin typeface="微软雅黑" panose="020B0503020204020204" charset="-122"/>
                <a:ea typeface="微软雅黑" panose="020B0503020204020204" charset="-122"/>
              </a:rPr>
              <a:t>资产负债表</a:t>
            </a:r>
          </a:p>
        </p:txBody>
      </p:sp>
      <p:sp>
        <p:nvSpPr>
          <p:cNvPr id="4" name="Title 9"/>
          <p:cNvSpPr txBox="1"/>
          <p:nvPr/>
        </p:nvSpPr>
        <p:spPr>
          <a:xfrm>
            <a:off x="642016" y="498484"/>
            <a:ext cx="2093611" cy="697317"/>
          </a:xfrm>
          <a:prstGeom prst="rect">
            <a:avLst/>
          </a:prstGeom>
        </p:spPr>
        <p:txBody>
          <a:bodyPr lIns="86697" tIns="43348" rIns="86697" bIns="43348"/>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5865" dirty="0">
                <a:solidFill>
                  <a:schemeClr val="accent1"/>
                </a:solidFill>
                <a:latin typeface="微软雅黑" panose="020B0503020204020204" charset="-122"/>
                <a:ea typeface="微软雅黑" panose="020B0503020204020204" charset="-122"/>
                <a:cs typeface="+mn-ea"/>
                <a:sym typeface="+mn-lt"/>
              </a:rPr>
              <a:t>目录</a:t>
            </a:r>
            <a:endParaRPr lang="en-AU" sz="5865" dirty="0">
              <a:solidFill>
                <a:schemeClr val="accent1"/>
              </a:solidFill>
              <a:latin typeface="微软雅黑" panose="020B0503020204020204" charset="-122"/>
              <a:ea typeface="微软雅黑" panose="020B0503020204020204" charset="-122"/>
              <a:cs typeface="+mn-ea"/>
              <a:sym typeface="+mn-lt"/>
            </a:endParaRPr>
          </a:p>
        </p:txBody>
      </p:sp>
      <p:sp>
        <p:nvSpPr>
          <p:cNvPr id="5" name="Subtitle 10"/>
          <p:cNvSpPr txBox="1"/>
          <p:nvPr/>
        </p:nvSpPr>
        <p:spPr>
          <a:xfrm>
            <a:off x="719403" y="1326685"/>
            <a:ext cx="1984459" cy="374124"/>
          </a:xfrm>
          <a:prstGeom prst="rect">
            <a:avLst/>
          </a:prstGeom>
        </p:spPr>
        <p:txBody>
          <a:bodyPr lIns="86697" tIns="43348" rIns="86697" bIns="43348"/>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735" dirty="0">
                <a:solidFill>
                  <a:schemeClr val="accent1"/>
                </a:solidFill>
                <a:latin typeface="Agency FB" panose="020B0503020202020204" pitchFamily="34" charset="0"/>
                <a:ea typeface="微软雅黑" panose="020B0503020204020204" charset="-122"/>
              </a:rPr>
              <a:t>CONTENTS</a:t>
            </a:r>
          </a:p>
        </p:txBody>
      </p:sp>
      <p:sp>
        <p:nvSpPr>
          <p:cNvPr id="6" name="Text Placeholder 10"/>
          <p:cNvSpPr txBox="1"/>
          <p:nvPr/>
        </p:nvSpPr>
        <p:spPr>
          <a:xfrm>
            <a:off x="3555622" y="4471234"/>
            <a:ext cx="2354455" cy="471484"/>
          </a:xfrm>
          <a:prstGeom prst="rect">
            <a:avLst/>
          </a:prstGeom>
        </p:spPr>
        <p:txBody>
          <a:bodyPr vert="horz" lIns="91411" tIns="45705" rIns="91411" bIns="45705"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altLang="zh-CN" sz="2665" dirty="0">
                <a:latin typeface="Agency FB" panose="020B0503020202020204" pitchFamily="34" charset="0"/>
              </a:rPr>
              <a:t>PART 02</a:t>
            </a:r>
            <a:endParaRPr lang="zh-CN" altLang="en-US" sz="2665" dirty="0">
              <a:latin typeface="Agency FB" panose="020B0503020202020204" pitchFamily="34" charset="0"/>
            </a:endParaRPr>
          </a:p>
        </p:txBody>
      </p:sp>
      <p:sp>
        <p:nvSpPr>
          <p:cNvPr id="7" name="Text Placeholder 11"/>
          <p:cNvSpPr txBox="1"/>
          <p:nvPr/>
        </p:nvSpPr>
        <p:spPr>
          <a:xfrm>
            <a:off x="3555619" y="5046425"/>
            <a:ext cx="2354453" cy="314100"/>
          </a:xfrm>
          <a:prstGeom prst="rect">
            <a:avLst/>
          </a:prstGeom>
        </p:spPr>
        <p:txBody>
          <a:bodyPr lIns="86697" tIns="43348" rIns="86697" bIns="43348"/>
          <a:lstStyle>
            <a:defPPr>
              <a:defRPr lang="zh-CN"/>
            </a:defPPr>
            <a:lvl1pPr marL="228600" indent="-228600" algn="ctr">
              <a:lnSpc>
                <a:spcPct val="90000"/>
              </a:lnSpc>
              <a:spcBef>
                <a:spcPts val="1000"/>
              </a:spcBef>
              <a:buFont typeface="Arial" panose="020B0604020202020204" pitchFamily="34" charset="0"/>
              <a:buNone/>
              <a:defRPr sz="2800">
                <a:solidFill>
                  <a:schemeClr val="bg1">
                    <a:lumMod val="50000"/>
                  </a:schemeClr>
                </a:solidFill>
                <a:latin typeface="微软雅黑" panose="020B0503020204020204" charset="-122"/>
                <a:ea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资产利润表</a:t>
            </a:r>
          </a:p>
        </p:txBody>
      </p:sp>
      <p:sp>
        <p:nvSpPr>
          <p:cNvPr id="8" name="Text Placeholder 10"/>
          <p:cNvSpPr txBox="1"/>
          <p:nvPr/>
        </p:nvSpPr>
        <p:spPr>
          <a:xfrm>
            <a:off x="6283930" y="4471234"/>
            <a:ext cx="2354455" cy="471484"/>
          </a:xfrm>
          <a:prstGeom prst="rect">
            <a:avLst/>
          </a:prstGeom>
        </p:spPr>
        <p:txBody>
          <a:bodyPr vert="horz" lIns="91411" tIns="45705" rIns="91411" bIns="45705"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altLang="zh-CN" sz="2665" dirty="0">
                <a:latin typeface="Agency FB" panose="020B0503020202020204" pitchFamily="34" charset="0"/>
              </a:rPr>
              <a:t>PART 03</a:t>
            </a:r>
            <a:endParaRPr lang="zh-CN" altLang="en-US" sz="2665" dirty="0">
              <a:latin typeface="Agency FB" panose="020B0503020202020204" pitchFamily="34" charset="0"/>
            </a:endParaRPr>
          </a:p>
        </p:txBody>
      </p:sp>
      <p:sp>
        <p:nvSpPr>
          <p:cNvPr id="9" name="Text Placeholder 11"/>
          <p:cNvSpPr txBox="1"/>
          <p:nvPr/>
        </p:nvSpPr>
        <p:spPr>
          <a:xfrm>
            <a:off x="6283932" y="5064918"/>
            <a:ext cx="2354453" cy="314100"/>
          </a:xfrm>
          <a:prstGeom prst="rect">
            <a:avLst/>
          </a:prstGeom>
        </p:spPr>
        <p:txBody>
          <a:bodyPr lIns="86697" tIns="43348" rIns="86697" bIns="43348"/>
          <a:lstStyle>
            <a:defPPr>
              <a:defRPr lang="zh-CN"/>
            </a:defPPr>
            <a:lvl1pPr marL="228600" indent="-228600" algn="ctr">
              <a:lnSpc>
                <a:spcPct val="90000"/>
              </a:lnSpc>
              <a:spcBef>
                <a:spcPts val="1000"/>
              </a:spcBef>
              <a:buFont typeface="Arial" panose="020B0604020202020204" pitchFamily="34" charset="0"/>
              <a:buNone/>
              <a:defRPr sz="2800">
                <a:solidFill>
                  <a:schemeClr val="bg1">
                    <a:lumMod val="50000"/>
                  </a:schemeClr>
                </a:solidFill>
                <a:latin typeface="微软雅黑" panose="020B0503020204020204" charset="-122"/>
                <a:ea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现金流量表</a:t>
            </a:r>
          </a:p>
        </p:txBody>
      </p:sp>
      <p:sp>
        <p:nvSpPr>
          <p:cNvPr id="10" name="Text Placeholder 10"/>
          <p:cNvSpPr txBox="1"/>
          <p:nvPr/>
        </p:nvSpPr>
        <p:spPr>
          <a:xfrm>
            <a:off x="9012238" y="4471234"/>
            <a:ext cx="2354455" cy="471484"/>
          </a:xfrm>
          <a:prstGeom prst="rect">
            <a:avLst/>
          </a:prstGeom>
        </p:spPr>
        <p:txBody>
          <a:bodyPr vert="horz" lIns="91411" tIns="45705" rIns="91411" bIns="45705"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lumMod val="50000"/>
                  </a:schemeClr>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50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50000"/>
                  </a:schemeClr>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altLang="zh-CN" sz="2665" dirty="0">
                <a:latin typeface="Agency FB" panose="020B0503020202020204" pitchFamily="34" charset="0"/>
              </a:rPr>
              <a:t>PART 04</a:t>
            </a:r>
            <a:endParaRPr lang="zh-CN" altLang="en-US" sz="2665" dirty="0">
              <a:latin typeface="Agency FB" panose="020B0503020202020204" pitchFamily="34" charset="0"/>
            </a:endParaRPr>
          </a:p>
        </p:txBody>
      </p:sp>
      <p:sp>
        <p:nvSpPr>
          <p:cNvPr id="11" name="Text Placeholder 11"/>
          <p:cNvSpPr txBox="1"/>
          <p:nvPr/>
        </p:nvSpPr>
        <p:spPr>
          <a:xfrm>
            <a:off x="9012238" y="5064918"/>
            <a:ext cx="2354453" cy="314100"/>
          </a:xfrm>
          <a:prstGeom prst="rect">
            <a:avLst/>
          </a:prstGeom>
        </p:spPr>
        <p:txBody>
          <a:bodyPr lIns="86697" tIns="43348" rIns="86697" bIns="43348"/>
          <a:lstStyle>
            <a:defPPr>
              <a:defRPr lang="zh-CN"/>
            </a:defPPr>
            <a:lvl1pPr marL="228600" indent="-228600" algn="ctr">
              <a:lnSpc>
                <a:spcPct val="90000"/>
              </a:lnSpc>
              <a:spcBef>
                <a:spcPts val="1000"/>
              </a:spcBef>
              <a:buFont typeface="Arial" panose="020B0604020202020204" pitchFamily="34" charset="0"/>
              <a:buNone/>
              <a:defRPr sz="2800">
                <a:solidFill>
                  <a:schemeClr val="bg1">
                    <a:lumMod val="50000"/>
                  </a:schemeClr>
                </a:solidFill>
                <a:latin typeface="微软雅黑" panose="020B0503020204020204" charset="-122"/>
                <a:ea typeface="微软雅黑" panose="020B050302020402020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费用分析</a:t>
            </a:r>
          </a:p>
        </p:txBody>
      </p:sp>
      <p:sp>
        <p:nvSpPr>
          <p:cNvPr id="12" name="Oval 25"/>
          <p:cNvSpPr/>
          <p:nvPr/>
        </p:nvSpPr>
        <p:spPr>
          <a:xfrm>
            <a:off x="1228635" y="2640093"/>
            <a:ext cx="1551805" cy="155189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6697" tIns="43348" rIns="86697" bIns="43348" rtlCol="0" anchor="ctr"/>
          <a:lstStyle/>
          <a:p>
            <a:pPr algn="ctr"/>
            <a:r>
              <a:rPr lang="en-AU" sz="4135" dirty="0">
                <a:latin typeface="Arial" panose="020B0604020202020204" pitchFamily="34" charset="0"/>
                <a:cs typeface="Arial" panose="020B0604020202020204" pitchFamily="34" charset="0"/>
                <a:sym typeface="+mn-lt"/>
              </a:rPr>
              <a:t>01</a:t>
            </a:r>
          </a:p>
        </p:txBody>
      </p:sp>
      <p:grpSp>
        <p:nvGrpSpPr>
          <p:cNvPr id="13" name="Group 42"/>
          <p:cNvGrpSpPr/>
          <p:nvPr/>
        </p:nvGrpSpPr>
        <p:grpSpPr>
          <a:xfrm>
            <a:off x="3956944" y="2640093"/>
            <a:ext cx="1551805" cy="1551891"/>
            <a:chOff x="3956297" y="2639898"/>
            <a:chExt cx="1552274" cy="1552274"/>
          </a:xfrm>
          <a:solidFill>
            <a:schemeClr val="accent2"/>
          </a:solidFill>
        </p:grpSpPr>
        <p:sp>
          <p:nvSpPr>
            <p:cNvPr id="14" name="Oval 26"/>
            <p:cNvSpPr/>
            <p:nvPr/>
          </p:nvSpPr>
          <p:spPr>
            <a:xfrm>
              <a:off x="3956297" y="2639898"/>
              <a:ext cx="1552274" cy="155227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135" dirty="0">
                  <a:latin typeface="Arial" panose="020B0604020202020204" pitchFamily="34" charset="0"/>
                  <a:cs typeface="Arial" panose="020B0604020202020204" pitchFamily="34" charset="0"/>
                  <a:sym typeface="+mn-lt"/>
                </a:rPr>
                <a:t>02</a:t>
              </a:r>
            </a:p>
          </p:txBody>
        </p:sp>
        <p:sp>
          <p:nvSpPr>
            <p:cNvPr id="15" name="Freeform 6"/>
            <p:cNvSpPr/>
            <p:nvPr/>
          </p:nvSpPr>
          <p:spPr bwMode="auto">
            <a:xfrm>
              <a:off x="4874627" y="3277303"/>
              <a:ext cx="48760" cy="100230"/>
            </a:xfrm>
            <a:custGeom>
              <a:avLst/>
              <a:gdLst>
                <a:gd name="T0" fmla="*/ 18 w 18"/>
                <a:gd name="T1" fmla="*/ 37 h 37"/>
                <a:gd name="T2" fmla="*/ 18 w 18"/>
                <a:gd name="T3" fmla="*/ 0 h 37"/>
                <a:gd name="T4" fmla="*/ 0 w 18"/>
                <a:gd name="T5" fmla="*/ 0 h 37"/>
                <a:gd name="T6" fmla="*/ 0 w 18"/>
                <a:gd name="T7" fmla="*/ 21 h 37"/>
                <a:gd name="T8" fmla="*/ 18 w 18"/>
                <a:gd name="T9" fmla="*/ 37 h 37"/>
              </a:gdLst>
              <a:ahLst/>
              <a:cxnLst>
                <a:cxn ang="0">
                  <a:pos x="T0" y="T1"/>
                </a:cxn>
                <a:cxn ang="0">
                  <a:pos x="T2" y="T3"/>
                </a:cxn>
                <a:cxn ang="0">
                  <a:pos x="T4" y="T5"/>
                </a:cxn>
                <a:cxn ang="0">
                  <a:pos x="T6" y="T7"/>
                </a:cxn>
                <a:cxn ang="0">
                  <a:pos x="T8" y="T9"/>
                </a:cxn>
              </a:cxnLst>
              <a:rect l="0" t="0" r="r" b="b"/>
              <a:pathLst>
                <a:path w="18" h="37">
                  <a:moveTo>
                    <a:pt x="18" y="37"/>
                  </a:moveTo>
                  <a:lnTo>
                    <a:pt x="18" y="0"/>
                  </a:lnTo>
                  <a:lnTo>
                    <a:pt x="0" y="0"/>
                  </a:lnTo>
                  <a:lnTo>
                    <a:pt x="0" y="21"/>
                  </a:lnTo>
                  <a:lnTo>
                    <a:pt x="18"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71397" tIns="85699" rIns="171397" bIns="85699" numCol="1" anchor="t" anchorCtr="0" compatLnSpc="1"/>
            <a:lstStyle/>
            <a:p>
              <a:endParaRPr lang="en-US" sz="4135" dirty="0">
                <a:latin typeface="Arial" panose="020B0604020202020204" pitchFamily="34" charset="0"/>
                <a:cs typeface="Arial" panose="020B0604020202020204" pitchFamily="34" charset="0"/>
                <a:sym typeface="+mn-lt"/>
              </a:endParaRPr>
            </a:p>
          </p:txBody>
        </p:sp>
      </p:grpSp>
      <p:sp>
        <p:nvSpPr>
          <p:cNvPr id="16" name="Oval 27"/>
          <p:cNvSpPr/>
          <p:nvPr/>
        </p:nvSpPr>
        <p:spPr>
          <a:xfrm>
            <a:off x="6685251" y="2653055"/>
            <a:ext cx="1551805" cy="155189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86697" tIns="43348" rIns="86697" bIns="43348" rtlCol="0" anchor="ctr"/>
          <a:lstStyle/>
          <a:p>
            <a:pPr algn="ctr"/>
            <a:r>
              <a:rPr lang="en-AU" sz="4135" dirty="0">
                <a:latin typeface="Arial" panose="020B0604020202020204" pitchFamily="34" charset="0"/>
                <a:cs typeface="Arial" panose="020B0604020202020204" pitchFamily="34" charset="0"/>
                <a:sym typeface="+mn-lt"/>
              </a:rPr>
              <a:t>03</a:t>
            </a:r>
          </a:p>
        </p:txBody>
      </p:sp>
      <p:sp>
        <p:nvSpPr>
          <p:cNvPr id="17" name="Oval 28"/>
          <p:cNvSpPr/>
          <p:nvPr/>
        </p:nvSpPr>
        <p:spPr>
          <a:xfrm>
            <a:off x="9413560" y="2653055"/>
            <a:ext cx="1551805" cy="155189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86697" tIns="43348" rIns="86697" bIns="43348" rtlCol="0" anchor="ctr"/>
          <a:lstStyle/>
          <a:p>
            <a:pPr algn="ctr"/>
            <a:r>
              <a:rPr lang="en-AU" sz="4135" dirty="0">
                <a:latin typeface="Arial" panose="020B0604020202020204" pitchFamily="34" charset="0"/>
                <a:cs typeface="Arial" panose="020B0604020202020204" pitchFamily="34" charset="0"/>
                <a:sym typeface="+mn-lt"/>
              </a:rPr>
              <a:t>04</a:t>
            </a:r>
          </a:p>
        </p:txBody>
      </p:sp>
    </p:spTree>
  </p:cSld>
  <p:clrMapOvr>
    <a:masterClrMapping/>
  </p:clrMapOvr>
  <mc:AlternateContent xmlns:mc="http://schemas.openxmlformats.org/markup-compatibility/2006" xmlns:p14="http://schemas.microsoft.com/office/powerpoint/2010/main">
    <mc:Choice Requires="p14">
      <p:transition spd="slow" p14:dur="1400" advClick="0" advTm="3000">
        <p14:doors dir="vert"/>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1000" fill="hold"/>
                                        <p:tgtEl>
                                          <p:spTgt spid="13"/>
                                        </p:tgtEl>
                                        <p:attrNameLst>
                                          <p:attrName>ppt_w</p:attrName>
                                        </p:attrNameLst>
                                      </p:cBhvr>
                                      <p:tavLst>
                                        <p:tav tm="0">
                                          <p:val>
                                            <p:fltVal val="0"/>
                                          </p:val>
                                        </p:tav>
                                        <p:tav tm="100000">
                                          <p:val>
                                            <p:strVal val="#ppt_w"/>
                                          </p:val>
                                        </p:tav>
                                      </p:tavLst>
                                    </p:anim>
                                    <p:anim calcmode="lin" valueType="num">
                                      <p:cBhvr>
                                        <p:cTn id="17" dur="1000" fill="hold"/>
                                        <p:tgtEl>
                                          <p:spTgt spid="13"/>
                                        </p:tgtEl>
                                        <p:attrNameLst>
                                          <p:attrName>ppt_h</p:attrName>
                                        </p:attrNameLst>
                                      </p:cBhvr>
                                      <p:tavLst>
                                        <p:tav tm="0">
                                          <p:val>
                                            <p:fltVal val="0"/>
                                          </p:val>
                                        </p:tav>
                                        <p:tav tm="100000">
                                          <p:val>
                                            <p:strVal val="#ppt_h"/>
                                          </p:val>
                                        </p:tav>
                                      </p:tavLst>
                                    </p:anim>
                                    <p:anim calcmode="lin" valueType="num">
                                      <p:cBhvr>
                                        <p:cTn id="18" dur="1000" fill="hold"/>
                                        <p:tgtEl>
                                          <p:spTgt spid="13"/>
                                        </p:tgtEl>
                                        <p:attrNameLst>
                                          <p:attrName>style.rotation</p:attrName>
                                        </p:attrNameLst>
                                      </p:cBhvr>
                                      <p:tavLst>
                                        <p:tav tm="0">
                                          <p:val>
                                            <p:fltVal val="90"/>
                                          </p:val>
                                        </p:tav>
                                        <p:tav tm="100000">
                                          <p:val>
                                            <p:fltVal val="0"/>
                                          </p:val>
                                        </p:tav>
                                      </p:tavLst>
                                    </p:anim>
                                    <p:animEffect transition="in" filter="fade">
                                      <p:cBhvr>
                                        <p:cTn id="19" dur="1000"/>
                                        <p:tgtEl>
                                          <p:spTgt spid="13"/>
                                        </p:tgtEl>
                                      </p:cBhvr>
                                    </p:animEffect>
                                  </p:childTnLst>
                                </p:cTn>
                              </p:par>
                              <p:par>
                                <p:cTn id="20" presetID="3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1000" fill="hold"/>
                                        <p:tgtEl>
                                          <p:spTgt spid="12"/>
                                        </p:tgtEl>
                                        <p:attrNameLst>
                                          <p:attrName>ppt_w</p:attrName>
                                        </p:attrNameLst>
                                      </p:cBhvr>
                                      <p:tavLst>
                                        <p:tav tm="0">
                                          <p:val>
                                            <p:fltVal val="0"/>
                                          </p:val>
                                        </p:tav>
                                        <p:tav tm="100000">
                                          <p:val>
                                            <p:strVal val="#ppt_w"/>
                                          </p:val>
                                        </p:tav>
                                      </p:tavLst>
                                    </p:anim>
                                    <p:anim calcmode="lin" valueType="num">
                                      <p:cBhvr>
                                        <p:cTn id="23" dur="1000" fill="hold"/>
                                        <p:tgtEl>
                                          <p:spTgt spid="12"/>
                                        </p:tgtEl>
                                        <p:attrNameLst>
                                          <p:attrName>ppt_h</p:attrName>
                                        </p:attrNameLst>
                                      </p:cBhvr>
                                      <p:tavLst>
                                        <p:tav tm="0">
                                          <p:val>
                                            <p:fltVal val="0"/>
                                          </p:val>
                                        </p:tav>
                                        <p:tav tm="100000">
                                          <p:val>
                                            <p:strVal val="#ppt_h"/>
                                          </p:val>
                                        </p:tav>
                                      </p:tavLst>
                                    </p:anim>
                                    <p:anim calcmode="lin" valueType="num">
                                      <p:cBhvr>
                                        <p:cTn id="24" dur="1000" fill="hold"/>
                                        <p:tgtEl>
                                          <p:spTgt spid="12"/>
                                        </p:tgtEl>
                                        <p:attrNameLst>
                                          <p:attrName>style.rotation</p:attrName>
                                        </p:attrNameLst>
                                      </p:cBhvr>
                                      <p:tavLst>
                                        <p:tav tm="0">
                                          <p:val>
                                            <p:fltVal val="90"/>
                                          </p:val>
                                        </p:tav>
                                        <p:tav tm="100000">
                                          <p:val>
                                            <p:fltVal val="0"/>
                                          </p:val>
                                        </p:tav>
                                      </p:tavLst>
                                    </p:anim>
                                    <p:animEffect transition="in" filter="fade">
                                      <p:cBhvr>
                                        <p:cTn id="25" dur="1000"/>
                                        <p:tgtEl>
                                          <p:spTgt spid="12"/>
                                        </p:tgtEl>
                                      </p:cBhvr>
                                    </p:animEffect>
                                  </p:childTnLst>
                                </p:cTn>
                              </p:par>
                              <p:par>
                                <p:cTn id="26" presetID="3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1000" fill="hold"/>
                                        <p:tgtEl>
                                          <p:spTgt spid="16"/>
                                        </p:tgtEl>
                                        <p:attrNameLst>
                                          <p:attrName>ppt_w</p:attrName>
                                        </p:attrNameLst>
                                      </p:cBhvr>
                                      <p:tavLst>
                                        <p:tav tm="0">
                                          <p:val>
                                            <p:fltVal val="0"/>
                                          </p:val>
                                        </p:tav>
                                        <p:tav tm="100000">
                                          <p:val>
                                            <p:strVal val="#ppt_w"/>
                                          </p:val>
                                        </p:tav>
                                      </p:tavLst>
                                    </p:anim>
                                    <p:anim calcmode="lin" valueType="num">
                                      <p:cBhvr>
                                        <p:cTn id="29" dur="1000" fill="hold"/>
                                        <p:tgtEl>
                                          <p:spTgt spid="16"/>
                                        </p:tgtEl>
                                        <p:attrNameLst>
                                          <p:attrName>ppt_h</p:attrName>
                                        </p:attrNameLst>
                                      </p:cBhvr>
                                      <p:tavLst>
                                        <p:tav tm="0">
                                          <p:val>
                                            <p:fltVal val="0"/>
                                          </p:val>
                                        </p:tav>
                                        <p:tav tm="100000">
                                          <p:val>
                                            <p:strVal val="#ppt_h"/>
                                          </p:val>
                                        </p:tav>
                                      </p:tavLst>
                                    </p:anim>
                                    <p:anim calcmode="lin" valueType="num">
                                      <p:cBhvr>
                                        <p:cTn id="30" dur="1000" fill="hold"/>
                                        <p:tgtEl>
                                          <p:spTgt spid="16"/>
                                        </p:tgtEl>
                                        <p:attrNameLst>
                                          <p:attrName>style.rotation</p:attrName>
                                        </p:attrNameLst>
                                      </p:cBhvr>
                                      <p:tavLst>
                                        <p:tav tm="0">
                                          <p:val>
                                            <p:fltVal val="90"/>
                                          </p:val>
                                        </p:tav>
                                        <p:tav tm="100000">
                                          <p:val>
                                            <p:fltVal val="0"/>
                                          </p:val>
                                        </p:tav>
                                      </p:tavLst>
                                    </p:anim>
                                    <p:animEffect transition="in" filter="fade">
                                      <p:cBhvr>
                                        <p:cTn id="31" dur="1000"/>
                                        <p:tgtEl>
                                          <p:spTgt spid="16"/>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1000" fill="hold"/>
                                        <p:tgtEl>
                                          <p:spTgt spid="17"/>
                                        </p:tgtEl>
                                        <p:attrNameLst>
                                          <p:attrName>ppt_w</p:attrName>
                                        </p:attrNameLst>
                                      </p:cBhvr>
                                      <p:tavLst>
                                        <p:tav tm="0">
                                          <p:val>
                                            <p:fltVal val="0"/>
                                          </p:val>
                                        </p:tav>
                                        <p:tav tm="100000">
                                          <p:val>
                                            <p:strVal val="#ppt_w"/>
                                          </p:val>
                                        </p:tav>
                                      </p:tavLst>
                                    </p:anim>
                                    <p:anim calcmode="lin" valueType="num">
                                      <p:cBhvr>
                                        <p:cTn id="35" dur="1000" fill="hold"/>
                                        <p:tgtEl>
                                          <p:spTgt spid="17"/>
                                        </p:tgtEl>
                                        <p:attrNameLst>
                                          <p:attrName>ppt_h</p:attrName>
                                        </p:attrNameLst>
                                      </p:cBhvr>
                                      <p:tavLst>
                                        <p:tav tm="0">
                                          <p:val>
                                            <p:fltVal val="0"/>
                                          </p:val>
                                        </p:tav>
                                        <p:tav tm="100000">
                                          <p:val>
                                            <p:strVal val="#ppt_h"/>
                                          </p:val>
                                        </p:tav>
                                      </p:tavLst>
                                    </p:anim>
                                    <p:anim calcmode="lin" valueType="num">
                                      <p:cBhvr>
                                        <p:cTn id="36" dur="1000" fill="hold"/>
                                        <p:tgtEl>
                                          <p:spTgt spid="17"/>
                                        </p:tgtEl>
                                        <p:attrNameLst>
                                          <p:attrName>style.rotation</p:attrName>
                                        </p:attrNameLst>
                                      </p:cBhvr>
                                      <p:tavLst>
                                        <p:tav tm="0">
                                          <p:val>
                                            <p:fltVal val="90"/>
                                          </p:val>
                                        </p:tav>
                                        <p:tav tm="100000">
                                          <p:val>
                                            <p:fltVal val="0"/>
                                          </p:val>
                                        </p:tav>
                                      </p:tavLst>
                                    </p:anim>
                                    <p:animEffect transition="in" filter="fade">
                                      <p:cBhvr>
                                        <p:cTn id="37" dur="1000"/>
                                        <p:tgtEl>
                                          <p:spTgt spid="17"/>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2">
                                            <p:txEl>
                                              <p:pRg st="0" end="0"/>
                                            </p:txEl>
                                          </p:spTgt>
                                        </p:tgtEl>
                                        <p:attrNameLst>
                                          <p:attrName>style.visibility</p:attrName>
                                        </p:attrNameLst>
                                      </p:cBhvr>
                                      <p:to>
                                        <p:strVal val="visible"/>
                                      </p:to>
                                    </p:set>
                                    <p:animEffect transition="in" filter="fade">
                                      <p:cBhvr>
                                        <p:cTn id="41" dur="500"/>
                                        <p:tgtEl>
                                          <p:spTgt spid="2">
                                            <p:txEl>
                                              <p:pRg st="0" end="0"/>
                                            </p:txEl>
                                          </p:spTgt>
                                        </p:tgtEl>
                                      </p:cBhvr>
                                    </p:animEffect>
                                  </p:childTnLst>
                                </p:cTn>
                              </p:par>
                            </p:childTnLst>
                          </p:cTn>
                        </p:par>
                        <p:par>
                          <p:cTn id="42" fill="hold">
                            <p:stCondLst>
                              <p:cond delay="1500"/>
                            </p:stCondLst>
                            <p:childTnLst>
                              <p:par>
                                <p:cTn id="43" presetID="22" presetClass="entr" presetSubtype="4" fill="hold" grpId="0" nodeType="after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animEffect transition="in" filter="wipe(down)">
                                      <p:cBhvr>
                                        <p:cTn id="45" dur="500"/>
                                        <p:tgtEl>
                                          <p:spTgt spid="3">
                                            <p:txEl>
                                              <p:pRg st="0" end="0"/>
                                            </p:txEl>
                                          </p:spTgt>
                                        </p:tgtEl>
                                      </p:cBhvr>
                                    </p:animEffect>
                                  </p:childTnLst>
                                </p:cTn>
                              </p:par>
                            </p:childTnLst>
                          </p:cTn>
                        </p:par>
                        <p:par>
                          <p:cTn id="46"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par>
                          <p:cTn id="50" fill="hold">
                            <p:stCondLst>
                              <p:cond delay="2500"/>
                            </p:stCondLst>
                            <p:childTnLst>
                              <p:par>
                                <p:cTn id="51" presetID="22" presetClass="entr" presetSubtype="4" fill="hold" grpId="0" nodeType="after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down)">
                                      <p:cBhvr>
                                        <p:cTn id="53" dur="500"/>
                                        <p:tgtEl>
                                          <p:spTgt spid="7"/>
                                        </p:tgtEl>
                                      </p:cBhvr>
                                    </p:animEffect>
                                  </p:childTnLst>
                                </p:cTn>
                              </p:par>
                            </p:childTnLst>
                          </p:cTn>
                        </p:par>
                        <p:par>
                          <p:cTn id="54" fill="hold">
                            <p:stCondLst>
                              <p:cond delay="3000"/>
                            </p:stCondLst>
                            <p:childTnLst>
                              <p:par>
                                <p:cTn id="55" presetID="10" presetClass="entr" presetSubtype="0" fill="hold" nodeType="afterEffect">
                                  <p:stCondLst>
                                    <p:cond delay="0"/>
                                  </p:stCondLst>
                                  <p:childTnLst>
                                    <p:set>
                                      <p:cBhvr>
                                        <p:cTn id="56" dur="1" fill="hold">
                                          <p:stCondLst>
                                            <p:cond delay="0"/>
                                          </p:stCondLst>
                                        </p:cTn>
                                        <p:tgtEl>
                                          <p:spTgt spid="8">
                                            <p:txEl>
                                              <p:pRg st="0" end="0"/>
                                            </p:txEl>
                                          </p:spTgt>
                                        </p:tgtEl>
                                        <p:attrNameLst>
                                          <p:attrName>style.visibility</p:attrName>
                                        </p:attrNameLst>
                                      </p:cBhvr>
                                      <p:to>
                                        <p:strVal val="visible"/>
                                      </p:to>
                                    </p:set>
                                    <p:animEffect transition="in" filter="fade">
                                      <p:cBhvr>
                                        <p:cTn id="57" dur="500"/>
                                        <p:tgtEl>
                                          <p:spTgt spid="8">
                                            <p:txEl>
                                              <p:pRg st="0" end="0"/>
                                            </p:txEl>
                                          </p:spTgt>
                                        </p:tgtEl>
                                      </p:cBhvr>
                                    </p:animEffect>
                                  </p:childTnLst>
                                </p:cTn>
                              </p:par>
                            </p:childTnLst>
                          </p:cTn>
                        </p:par>
                        <p:par>
                          <p:cTn id="58" fill="hold">
                            <p:stCondLst>
                              <p:cond delay="3500"/>
                            </p:stCondLst>
                            <p:childTnLst>
                              <p:par>
                                <p:cTn id="59" presetID="22" presetClass="entr" presetSubtype="4" fill="hold" grpId="0" nodeType="after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00"/>
                                        <p:tgtEl>
                                          <p:spTgt spid="9"/>
                                        </p:tgtEl>
                                      </p:cBhvr>
                                    </p:animEffect>
                                  </p:childTnLst>
                                </p:cTn>
                              </p:par>
                            </p:childTnLst>
                          </p:cTn>
                        </p:par>
                        <p:par>
                          <p:cTn id="62" fill="hold">
                            <p:stCondLst>
                              <p:cond delay="40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childTnLst>
                          </p:cTn>
                        </p:par>
                        <p:par>
                          <p:cTn id="66" fill="hold">
                            <p:stCondLst>
                              <p:cond delay="4500"/>
                            </p:stCondLst>
                            <p:childTnLst>
                              <p:par>
                                <p:cTn id="67" presetID="22" presetClass="entr" presetSubtype="4" fill="hold" grpId="0" nodeType="after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down)">
                                      <p:cBhvr>
                                        <p:cTn id="6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P spid="4" grpId="0"/>
      <p:bldP spid="5" grpId="0" build="p"/>
      <p:bldP spid="6" grpId="0"/>
      <p:bldP spid="7" grpId="0"/>
      <p:bldP spid="9" grpId="0"/>
      <p:bldP spid="10" grpId="0"/>
      <p:bldP spid="11" grpId="0"/>
      <p:bldP spid="12"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rot="2700000">
            <a:off x="2561399" y="2408490"/>
            <a:ext cx="2101576" cy="2208116"/>
            <a:chOff x="0" y="986971"/>
            <a:chExt cx="4615543" cy="4847774"/>
          </a:xfrm>
        </p:grpSpPr>
        <p:sp>
          <p:nvSpPr>
            <p:cNvPr id="3" name="矩形 2"/>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矩形 3"/>
            <p:cNvSpPr/>
            <p:nvPr/>
          </p:nvSpPr>
          <p:spPr>
            <a:xfrm>
              <a:off x="0" y="1320801"/>
              <a:ext cx="4180114" cy="4180114"/>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5" name="矩形 4"/>
          <p:cNvSpPr/>
          <p:nvPr/>
        </p:nvSpPr>
        <p:spPr>
          <a:xfrm>
            <a:off x="5135893" y="2338696"/>
            <a:ext cx="4639934" cy="1015663"/>
          </a:xfrm>
          <a:prstGeom prst="rect">
            <a:avLst/>
          </a:prstGeom>
        </p:spPr>
        <p:txBody>
          <a:bodyPr wrap="square">
            <a:spAutoFit/>
          </a:bodyPr>
          <a:lstStyle/>
          <a:p>
            <a:pPr algn="ctr">
              <a:buNone/>
            </a:pPr>
            <a:r>
              <a:rPr lang="zh-CN" altLang="en-US" sz="6000" dirty="0">
                <a:solidFill>
                  <a:schemeClr val="bg1">
                    <a:lumMod val="50000"/>
                  </a:schemeClr>
                </a:solidFill>
                <a:latin typeface="微软雅黑" panose="020B0503020204020204" charset="-122"/>
                <a:ea typeface="微软雅黑" panose="020B0503020204020204" charset="-122"/>
              </a:rPr>
              <a:t>资产负债表</a:t>
            </a:r>
          </a:p>
        </p:txBody>
      </p:sp>
      <p:sp>
        <p:nvSpPr>
          <p:cNvPr id="6" name="文本框 26"/>
          <p:cNvSpPr txBox="1"/>
          <p:nvPr/>
        </p:nvSpPr>
        <p:spPr>
          <a:xfrm>
            <a:off x="5568720" y="3373032"/>
            <a:ext cx="5135792" cy="879856"/>
          </a:xfrm>
          <a:prstGeom prst="rect">
            <a:avLst/>
          </a:prstGeom>
          <a:noFill/>
        </p:spPr>
        <p:txBody>
          <a:bodyPr wrap="square" rtlCol="0">
            <a:spAutoFit/>
          </a:bodyPr>
          <a:lstStyle/>
          <a:p>
            <a:pPr>
              <a:lnSpc>
                <a:spcPct val="150000"/>
              </a:lnSpc>
            </a:pPr>
            <a:r>
              <a:rPr lang="en-US" altLang="zh-CN" sz="1135" dirty="0">
                <a:solidFill>
                  <a:schemeClr val="tx1">
                    <a:lumMod val="65000"/>
                    <a:lumOff val="35000"/>
                  </a:schemeClr>
                </a:solidFill>
                <a:latin typeface="Arial" panose="020B0604020202020204" pitchFamily="34" charset="0"/>
                <a:cs typeface="Arial" panose="020B0604020202020204" pitchFamily="34" charset="0"/>
                <a:sym typeface="+mn-lt"/>
              </a:rPr>
              <a:t>CLICK ADD RELATED TITLE TEXT, AND CLICK ADD RELATED TITLE TEXT, CLICK ADD RELATED TITLE TEXT, CLICK ON ADD RELATED TITLE WORDS.</a:t>
            </a:r>
            <a:endParaRPr lang="zh-CN" altLang="en-US" sz="1135" dirty="0">
              <a:solidFill>
                <a:schemeClr val="tx1">
                  <a:lumMod val="65000"/>
                  <a:lumOff val="35000"/>
                </a:schemeClr>
              </a:solidFill>
              <a:latin typeface="Arial" panose="020B0604020202020204" pitchFamily="34" charset="0"/>
              <a:cs typeface="Arial" panose="020B0604020202020204" pitchFamily="34" charset="0"/>
              <a:sym typeface="+mn-lt"/>
            </a:endParaRPr>
          </a:p>
        </p:txBody>
      </p:sp>
      <p:sp>
        <p:nvSpPr>
          <p:cNvPr id="7" name="TextBox 20"/>
          <p:cNvSpPr txBox="1"/>
          <p:nvPr/>
        </p:nvSpPr>
        <p:spPr>
          <a:xfrm>
            <a:off x="3023659" y="2852937"/>
            <a:ext cx="1156086" cy="1200329"/>
          </a:xfrm>
          <a:prstGeom prst="rect">
            <a:avLst/>
          </a:prstGeom>
          <a:noFill/>
        </p:spPr>
        <p:txBody>
          <a:bodyPr wrap="none" rtlCol="0">
            <a:spAutoFit/>
          </a:bodyPr>
          <a:lstStyle/>
          <a:p>
            <a:r>
              <a:rPr lang="en-US" altLang="zh-CN" sz="7200" dirty="0">
                <a:solidFill>
                  <a:schemeClr val="bg1"/>
                </a:solidFill>
              </a:rPr>
              <a:t>01</a:t>
            </a:r>
            <a:endParaRPr lang="zh-CN" altLang="en-US" sz="7200" dirty="0">
              <a:solidFill>
                <a:schemeClr val="bg1"/>
              </a:solidFill>
            </a:endParaRPr>
          </a:p>
        </p:txBody>
      </p:sp>
      <p:pic>
        <p:nvPicPr>
          <p:cNvPr id="8" name="图片 7" descr="QQ图片20170823140614.png"/>
          <p:cNvPicPr>
            <a:picLocks noChangeAspect="1"/>
          </p:cNvPicPr>
          <p:nvPr/>
        </p:nvPicPr>
        <p:blipFill>
          <a:blip r:embed="rId3" cstate="print"/>
          <a:stretch>
            <a:fillRect/>
          </a:stretch>
        </p:blipFill>
        <p:spPr>
          <a:xfrm>
            <a:off x="4728255" y="4172342"/>
            <a:ext cx="6973899" cy="9096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Click="0" advTm="3000">
        <p14:warp dir="in"/>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250" fill="hold"/>
                                        <p:tgtEl>
                                          <p:spTgt spid="2"/>
                                        </p:tgtEl>
                                        <p:attrNameLst>
                                          <p:attrName>ppt_w</p:attrName>
                                        </p:attrNameLst>
                                      </p:cBhvr>
                                      <p:tavLst>
                                        <p:tav tm="0">
                                          <p:val>
                                            <p:fltVal val="0"/>
                                          </p:val>
                                        </p:tav>
                                        <p:tav tm="100000">
                                          <p:val>
                                            <p:strVal val="#ppt_w"/>
                                          </p:val>
                                        </p:tav>
                                      </p:tavLst>
                                    </p:anim>
                                    <p:anim calcmode="lin" valueType="num">
                                      <p:cBhvr>
                                        <p:cTn id="8" dur="1250" fill="hold"/>
                                        <p:tgtEl>
                                          <p:spTgt spid="2"/>
                                        </p:tgtEl>
                                        <p:attrNameLst>
                                          <p:attrName>ppt_h</p:attrName>
                                        </p:attrNameLst>
                                      </p:cBhvr>
                                      <p:tavLst>
                                        <p:tav tm="0">
                                          <p:val>
                                            <p:fltVal val="0"/>
                                          </p:val>
                                        </p:tav>
                                        <p:tav tm="100000">
                                          <p:val>
                                            <p:strVal val="#ppt_h"/>
                                          </p:val>
                                        </p:tav>
                                      </p:tavLst>
                                    </p:anim>
                                    <p:animEffect transition="in" filter="fade">
                                      <p:cBhvr>
                                        <p:cTn id="9" dur="125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4*#ppt_w"/>
                                          </p:val>
                                        </p:tav>
                                        <p:tav tm="100000">
                                          <p:val>
                                            <p:strVal val="#ppt_w"/>
                                          </p:val>
                                        </p:tav>
                                      </p:tavLst>
                                    </p:anim>
                                    <p:anim calcmode="lin" valueType="num">
                                      <p:cBhvr>
                                        <p:cTn id="22" dur="500" fill="hold"/>
                                        <p:tgtEl>
                                          <p:spTgt spid="5"/>
                                        </p:tgtEl>
                                        <p:attrNameLst>
                                          <p:attrName>ppt_h</p:attrName>
                                        </p:attrNameLst>
                                      </p:cBhvr>
                                      <p:tavLst>
                                        <p:tav tm="0">
                                          <p:val>
                                            <p:strVal val="4*#ppt_h"/>
                                          </p:val>
                                        </p:tav>
                                        <p:tav tm="100000">
                                          <p:val>
                                            <p:strVal val="#ppt_h"/>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千图PPT彼岸天：ID 8661124Freeform: Shape 3"/>
          <p:cNvSpPr/>
          <p:nvPr>
            <p:custDataLst>
              <p:tags r:id="rId1"/>
            </p:custDataLst>
          </p:nvPr>
        </p:nvSpPr>
        <p:spPr>
          <a:xfrm>
            <a:off x="5270500" y="3727378"/>
            <a:ext cx="1652431" cy="3130950"/>
          </a:xfrm>
          <a:custGeom>
            <a:avLst/>
            <a:gdLst/>
            <a:ahLst/>
            <a:cxnLst>
              <a:cxn ang="0">
                <a:pos x="wd2" y="hd2"/>
              </a:cxn>
              <a:cxn ang="5400000">
                <a:pos x="wd2" y="hd2"/>
              </a:cxn>
              <a:cxn ang="10800000">
                <a:pos x="wd2" y="hd2"/>
              </a:cxn>
              <a:cxn ang="16200000">
                <a:pos x="wd2" y="hd2"/>
              </a:cxn>
            </a:cxnLst>
            <a:rect l="0" t="0" r="r" b="b"/>
            <a:pathLst>
              <a:path w="21600" h="21600" extrusionOk="0">
                <a:moveTo>
                  <a:pt x="15991" y="4841"/>
                </a:moveTo>
                <a:lnTo>
                  <a:pt x="21600" y="4841"/>
                </a:lnTo>
                <a:lnTo>
                  <a:pt x="10800" y="0"/>
                </a:lnTo>
                <a:lnTo>
                  <a:pt x="0" y="4841"/>
                </a:lnTo>
                <a:lnTo>
                  <a:pt x="5609" y="4841"/>
                </a:lnTo>
                <a:lnTo>
                  <a:pt x="5609" y="21600"/>
                </a:lnTo>
                <a:lnTo>
                  <a:pt x="15991" y="21600"/>
                </a:lnTo>
                <a:lnTo>
                  <a:pt x="15991" y="4841"/>
                </a:lnTo>
                <a:close/>
              </a:path>
            </a:pathLst>
          </a:custGeom>
          <a:solidFill>
            <a:schemeClr val="bg1"/>
          </a:solidFill>
          <a:ln w="12700" cap="flat">
            <a:noFill/>
            <a:miter lim="400000"/>
          </a:ln>
          <a:effectLst/>
        </p:spPr>
        <p:txBody>
          <a:bodyPr anchor="ctr"/>
          <a:lstStyle/>
          <a:p>
            <a:pPr algn="ctr"/>
            <a:endParaRPr/>
          </a:p>
        </p:txBody>
      </p:sp>
      <p:graphicFrame>
        <p:nvGraphicFramePr>
          <p:cNvPr id="40" name="内容占位符 3"/>
          <p:cNvGraphicFramePr/>
          <p:nvPr/>
        </p:nvGraphicFramePr>
        <p:xfrm>
          <a:off x="1627472" y="1563513"/>
          <a:ext cx="8938485" cy="1854200"/>
        </p:xfrm>
        <a:graphic>
          <a:graphicData uri="http://schemas.openxmlformats.org/drawingml/2006/table">
            <a:tbl>
              <a:tblPr firstRow="1" bandRow="1">
                <a:tableStyleId>{16D9F66E-5EB9-4882-86FB-DCBF35E3C3E4}</a:tableStyleId>
              </a:tblPr>
              <a:tblGrid>
                <a:gridCol w="1787697"/>
                <a:gridCol w="1787697"/>
                <a:gridCol w="1787697"/>
                <a:gridCol w="1787697"/>
                <a:gridCol w="1787697"/>
              </a:tblGrid>
              <a:tr h="370840">
                <a:tc>
                  <a:txBody>
                    <a:bodyPr/>
                    <a:lstStyle/>
                    <a:p>
                      <a:pPr algn="ctr"/>
                      <a:r>
                        <a:rPr lang="zh-CN" altLang="en-US" dirty="0"/>
                        <a:t>年份</a:t>
                      </a:r>
                    </a:p>
                  </a:txBody>
                  <a:tcPr/>
                </a:tc>
                <a:tc>
                  <a:txBody>
                    <a:bodyPr/>
                    <a:lstStyle/>
                    <a:p>
                      <a:pPr algn="ctr"/>
                      <a:r>
                        <a:rPr lang="en-US" altLang="zh-CN" dirty="0"/>
                        <a:t>2014</a:t>
                      </a:r>
                      <a:r>
                        <a:rPr lang="zh-CN" altLang="en-US" dirty="0"/>
                        <a:t>年</a:t>
                      </a:r>
                    </a:p>
                  </a:txBody>
                  <a:tcPr/>
                </a:tc>
                <a:tc>
                  <a:txBody>
                    <a:bodyPr/>
                    <a:lstStyle/>
                    <a:p>
                      <a:pPr algn="ctr"/>
                      <a:r>
                        <a:rPr lang="en-US" altLang="zh-CN" dirty="0"/>
                        <a:t>2015</a:t>
                      </a:r>
                      <a:r>
                        <a:rPr lang="zh-CN" altLang="en-US" dirty="0"/>
                        <a:t>年</a:t>
                      </a:r>
                    </a:p>
                  </a:txBody>
                  <a:tcPr/>
                </a:tc>
                <a:tc>
                  <a:txBody>
                    <a:bodyPr/>
                    <a:lstStyle/>
                    <a:p>
                      <a:pPr algn="ctr"/>
                      <a:r>
                        <a:rPr lang="en-US" altLang="zh-CN" dirty="0"/>
                        <a:t>2016</a:t>
                      </a:r>
                      <a:r>
                        <a:rPr lang="zh-CN" altLang="en-US" dirty="0"/>
                        <a:t>年</a:t>
                      </a:r>
                    </a:p>
                  </a:txBody>
                  <a:tcPr/>
                </a:tc>
                <a:tc>
                  <a:txBody>
                    <a:bodyPr/>
                    <a:lstStyle/>
                    <a:p>
                      <a:pPr algn="ctr"/>
                      <a:r>
                        <a:rPr lang="en-US" altLang="zh-CN" dirty="0"/>
                        <a:t>2017</a:t>
                      </a:r>
                      <a:r>
                        <a:rPr lang="zh-CN" altLang="en-US" dirty="0"/>
                        <a:t>年</a:t>
                      </a:r>
                    </a:p>
                  </a:txBody>
                  <a:tcPr/>
                </a:tc>
              </a:tr>
              <a:tr h="370840">
                <a:tc>
                  <a:txBody>
                    <a:bodyPr/>
                    <a:lstStyle/>
                    <a:p>
                      <a:pPr algn="ctr"/>
                      <a:r>
                        <a:rPr lang="zh-CN" altLang="en-US" dirty="0"/>
                        <a:t>流动资产</a:t>
                      </a:r>
                    </a:p>
                  </a:txBody>
                  <a:tcP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r h="370840">
                <a:tc>
                  <a:txBody>
                    <a:bodyPr/>
                    <a:lstStyle/>
                    <a:p>
                      <a:pPr algn="ctr"/>
                      <a:r>
                        <a:rPr lang="zh-CN" altLang="en-US" dirty="0"/>
                        <a:t>非流动资产</a:t>
                      </a:r>
                    </a:p>
                  </a:txBody>
                  <a:tcP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r h="370840">
                <a:tc>
                  <a:txBody>
                    <a:bodyPr/>
                    <a:lstStyle/>
                    <a:p>
                      <a:pPr algn="ctr"/>
                      <a:r>
                        <a:rPr lang="zh-CN" altLang="en-US" dirty="0"/>
                        <a:t>总资产</a:t>
                      </a:r>
                    </a:p>
                  </a:txBody>
                  <a:tcP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r h="370840">
                <a:tc>
                  <a:txBody>
                    <a:bodyPr/>
                    <a:lstStyle/>
                    <a:p>
                      <a:pPr algn="ctr"/>
                      <a:r>
                        <a:rPr lang="zh-CN" altLang="en-US" dirty="0"/>
                        <a:t>资产收益率</a:t>
                      </a:r>
                    </a:p>
                  </a:txBody>
                  <a:tcP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r>
            </a:tbl>
          </a:graphicData>
        </a:graphic>
      </p:graphicFrame>
      <p:graphicFrame>
        <p:nvGraphicFramePr>
          <p:cNvPr id="42" name="图表 41"/>
          <p:cNvGraphicFramePr/>
          <p:nvPr/>
        </p:nvGraphicFramePr>
        <p:xfrm>
          <a:off x="1660380" y="3417713"/>
          <a:ext cx="4320480" cy="3024336"/>
        </p:xfrm>
        <a:graphic>
          <a:graphicData uri="http://schemas.openxmlformats.org/drawingml/2006/chart">
            <c:chart xmlns:c="http://schemas.openxmlformats.org/drawingml/2006/chart" xmlns:r="http://schemas.openxmlformats.org/officeDocument/2006/relationships" r:id="rId4"/>
          </a:graphicData>
        </a:graphic>
      </p:graphicFrame>
      <p:sp>
        <p:nvSpPr>
          <p:cNvPr id="43" name="TextBox 8"/>
          <p:cNvSpPr txBox="1"/>
          <p:nvPr/>
        </p:nvSpPr>
        <p:spPr>
          <a:xfrm>
            <a:off x="6305666" y="3637219"/>
            <a:ext cx="4598121" cy="2585323"/>
          </a:xfrm>
          <a:prstGeom prst="rect">
            <a:avLst/>
          </a:prstGeom>
          <a:noFill/>
        </p:spPr>
        <p:txBody>
          <a:bodyPr wrap="square" rtlCol="0">
            <a:spAutoFit/>
          </a:bodyPr>
          <a:lstStyle/>
          <a:p>
            <a:pPr>
              <a:lnSpc>
                <a:spcPct val="150000"/>
              </a:lnSpc>
            </a:pPr>
            <a:r>
              <a:rPr lang="zh-CN" altLang="en-US" b="1" dirty="0">
                <a:latin typeface="黑体" panose="02010609060101010101" pitchFamily="49" charset="-122"/>
                <a:ea typeface="黑体" panose="02010609060101010101" pitchFamily="49" charset="-122"/>
              </a:rPr>
              <a:t>分析如下：</a:t>
            </a:r>
            <a:r>
              <a:rPr lang="zh-CN" altLang="en-US" dirty="0">
                <a:latin typeface="黑体" panose="02010609060101010101" pitchFamily="49" charset="-122"/>
                <a:ea typeface="黑体" panose="02010609060101010101" pitchFamily="49" charset="-122"/>
              </a:rPr>
              <a:t>由上表和图的数据所示，可以看出在201</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-201</a:t>
            </a:r>
            <a:r>
              <a:rPr lang="en-US" altLang="zh-CN" dirty="0">
                <a:latin typeface="黑体" panose="02010609060101010101" pitchFamily="49" charset="-122"/>
                <a:ea typeface="黑体" panose="02010609060101010101" pitchFamily="49" charset="-122"/>
              </a:rPr>
              <a:t>7</a:t>
            </a:r>
            <a:r>
              <a:rPr lang="zh-CN" altLang="en-US" dirty="0">
                <a:latin typeface="黑体" panose="02010609060101010101" pitchFamily="49" charset="-122"/>
                <a:ea typeface="黑体" panose="02010609060101010101" pitchFamily="49" charset="-122"/>
              </a:rPr>
              <a:t>年上无论是流动资产还是非流动资产都是在逐年增加的。尤其是在201</a:t>
            </a:r>
            <a:r>
              <a:rPr lang="en-US" altLang="zh-CN" dirty="0">
                <a:latin typeface="黑体" panose="02010609060101010101" pitchFamily="49" charset="-122"/>
                <a:ea typeface="黑体" panose="02010609060101010101" pitchFamily="49" charset="-122"/>
              </a:rPr>
              <a:t>6</a:t>
            </a:r>
            <a:r>
              <a:rPr lang="zh-CN" altLang="en-US" dirty="0">
                <a:latin typeface="黑体" panose="02010609060101010101" pitchFamily="49" charset="-122"/>
                <a:ea typeface="黑体" panose="02010609060101010101" pitchFamily="49" charset="-122"/>
              </a:rPr>
              <a:t>年流动资产和非流动资产都有了大幅度的增加企业资产规模体现企业拥有的实力，这说明该</a:t>
            </a:r>
            <a:r>
              <a:rPr lang="zh-CN" altLang="en-US" u="sng" dirty="0">
                <a:solidFill>
                  <a:srgbClr val="548BB7"/>
                </a:solidFill>
                <a:latin typeface="黑体" panose="02010609060101010101" pitchFamily="49" charset="-122"/>
                <a:ea typeface="黑体" panose="02010609060101010101" pitchFamily="49" charset="-122"/>
              </a:rPr>
              <a:t>企业在这年内的实力不断的增强</a:t>
            </a:r>
            <a:r>
              <a:rPr lang="zh-CN" altLang="en-US" dirty="0">
                <a:latin typeface="黑体" panose="02010609060101010101" pitchFamily="49" charset="-122"/>
                <a:ea typeface="黑体" panose="02010609060101010101" pitchFamily="49" charset="-122"/>
              </a:rPr>
              <a:t>！</a:t>
            </a:r>
          </a:p>
        </p:txBody>
      </p:sp>
      <p:sp>
        <p:nvSpPr>
          <p:cNvPr id="44" name="TextBox 6"/>
          <p:cNvSpPr txBox="1"/>
          <p:nvPr/>
        </p:nvSpPr>
        <p:spPr>
          <a:xfrm>
            <a:off x="9082107" y="1133145"/>
            <a:ext cx="1296144" cy="276999"/>
          </a:xfrm>
          <a:prstGeom prst="rect">
            <a:avLst/>
          </a:prstGeom>
          <a:noFill/>
        </p:spPr>
        <p:txBody>
          <a:bodyPr wrap="square" rtlCol="0">
            <a:spAutoFit/>
          </a:bodyPr>
          <a:lstStyle/>
          <a:p>
            <a:r>
              <a:rPr lang="zh-CN" altLang="en-US" sz="1200" b="1" dirty="0"/>
              <a:t>单位：万元</a:t>
            </a:r>
          </a:p>
        </p:txBody>
      </p:sp>
      <p:sp>
        <p:nvSpPr>
          <p:cNvPr id="45" name="文本框 44"/>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资产规模分析</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ppt_y</p:attrName>
                                        </p:attrNameLst>
                                      </p:cBhvr>
                                      <p:tavLst>
                                        <p:tav tm="0">
                                          <p:val>
                                            <p:strVal val="#ppt_y+#ppt_h*1.125000"/>
                                          </p:val>
                                        </p:tav>
                                        <p:tav tm="100000">
                                          <p:val>
                                            <p:strVal val="#ppt_y"/>
                                          </p:val>
                                        </p:tav>
                                      </p:tavLst>
                                    </p:anim>
                                    <p:animEffect transition="in" filter="wipe(up)">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资产结构</a:t>
            </a:r>
          </a:p>
        </p:txBody>
      </p:sp>
      <p:graphicFrame>
        <p:nvGraphicFramePr>
          <p:cNvPr id="45" name="内容占位符 3"/>
          <p:cNvGraphicFramePr/>
          <p:nvPr/>
        </p:nvGraphicFramePr>
        <p:xfrm>
          <a:off x="1142795" y="1232756"/>
          <a:ext cx="4680520" cy="36003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表格 45"/>
          <p:cNvGraphicFramePr>
            <a:graphicFrameLocks noGrp="1"/>
          </p:cNvGraphicFramePr>
          <p:nvPr/>
        </p:nvGraphicFramePr>
        <p:xfrm>
          <a:off x="6228272" y="1196752"/>
          <a:ext cx="4339087" cy="3672408"/>
        </p:xfrm>
        <a:graphic>
          <a:graphicData uri="http://schemas.openxmlformats.org/drawingml/2006/table">
            <a:tbl>
              <a:tblPr firstRow="1" bandRow="1">
                <a:tableStyleId>{C083E6E3-FA7D-4D7B-A595-EF9225AFEA82}</a:tableStyleId>
              </a:tblPr>
              <a:tblGrid>
                <a:gridCol w="1084772"/>
                <a:gridCol w="788925"/>
                <a:gridCol w="788925"/>
                <a:gridCol w="690309"/>
                <a:gridCol w="986156"/>
              </a:tblGrid>
              <a:tr h="732081">
                <a:tc>
                  <a:txBody>
                    <a:bodyPr/>
                    <a:lstStyle/>
                    <a:p>
                      <a:pPr algn="ctr" fontAlgn="ctr"/>
                      <a:r>
                        <a:rPr lang="zh-CN" altLang="en-US" sz="1100" b="1" i="0" u="none" strike="noStrike" dirty="0">
                          <a:solidFill>
                            <a:srgbClr val="000000"/>
                          </a:solidFill>
                          <a:latin typeface="宋体" panose="02010600030101010101" pitchFamily="2" charset="-122"/>
                        </a:rPr>
                        <a:t>资  产</a:t>
                      </a:r>
                    </a:p>
                  </a:txBody>
                  <a:tcPr marL="9525" marR="9525" marT="9525" marB="0" anchor="ctr"/>
                </a:tc>
                <a:tc>
                  <a:txBody>
                    <a:bodyPr/>
                    <a:lstStyle/>
                    <a:p>
                      <a:pPr algn="ctr" fontAlgn="ctr"/>
                      <a:r>
                        <a:rPr lang="en-US" altLang="zh-CN" sz="1100" b="1" i="0" u="none" strike="noStrike" dirty="0">
                          <a:solidFill>
                            <a:srgbClr val="000000"/>
                          </a:solidFill>
                          <a:latin typeface="宋体" panose="02010600030101010101" pitchFamily="2" charset="-122"/>
                        </a:rPr>
                        <a:t>2014</a:t>
                      </a:r>
                      <a:r>
                        <a:rPr lang="zh-CN" altLang="en-US" sz="1100" b="1" i="0" u="none" strike="noStrike" dirty="0">
                          <a:solidFill>
                            <a:srgbClr val="000000"/>
                          </a:solidFill>
                          <a:latin typeface="宋体" panose="02010600030101010101" pitchFamily="2" charset="-122"/>
                        </a:rPr>
                        <a:t>年</a:t>
                      </a:r>
                    </a:p>
                  </a:txBody>
                  <a:tcPr marL="9525" marR="9525" marT="9525" marB="0" anchor="ctr"/>
                </a:tc>
                <a:tc>
                  <a:txBody>
                    <a:bodyPr/>
                    <a:lstStyle/>
                    <a:p>
                      <a:pPr algn="ctr" fontAlgn="ctr"/>
                      <a:r>
                        <a:rPr lang="en-US" altLang="zh-CN" sz="1100" b="1" i="0" u="none" strike="noStrike" dirty="0">
                          <a:solidFill>
                            <a:srgbClr val="000000"/>
                          </a:solidFill>
                          <a:latin typeface="宋体" panose="02010600030101010101" pitchFamily="2" charset="-122"/>
                        </a:rPr>
                        <a:t>2015</a:t>
                      </a:r>
                      <a:r>
                        <a:rPr lang="zh-CN" altLang="en-US" sz="1100" b="1" i="0" u="none" strike="noStrike" dirty="0">
                          <a:solidFill>
                            <a:srgbClr val="000000"/>
                          </a:solidFill>
                          <a:latin typeface="宋体" panose="02010600030101010101" pitchFamily="2" charset="-122"/>
                        </a:rPr>
                        <a:t>年</a:t>
                      </a:r>
                    </a:p>
                  </a:txBody>
                  <a:tcPr marL="9525" marR="9525" marT="9525" marB="0" anchor="ctr"/>
                </a:tc>
                <a:tc>
                  <a:txBody>
                    <a:bodyPr/>
                    <a:lstStyle/>
                    <a:p>
                      <a:pPr algn="ctr" fontAlgn="ctr"/>
                      <a:r>
                        <a:rPr lang="en-US" altLang="zh-CN" sz="1100" b="1" i="0" u="none" strike="noStrike" dirty="0">
                          <a:solidFill>
                            <a:srgbClr val="000000"/>
                          </a:solidFill>
                          <a:latin typeface="宋体" panose="02010600030101010101" pitchFamily="2" charset="-122"/>
                        </a:rPr>
                        <a:t>2016</a:t>
                      </a:r>
                      <a:r>
                        <a:rPr lang="zh-CN" altLang="en-US" sz="1100" b="1" i="0" u="none" strike="noStrike" dirty="0">
                          <a:solidFill>
                            <a:srgbClr val="000000"/>
                          </a:solidFill>
                          <a:latin typeface="宋体" panose="02010600030101010101" pitchFamily="2" charset="-122"/>
                        </a:rPr>
                        <a:t>年</a:t>
                      </a:r>
                    </a:p>
                  </a:txBody>
                  <a:tcPr marL="9525" marR="9525" marT="9525" marB="0" anchor="ctr"/>
                </a:tc>
                <a:tc>
                  <a:txBody>
                    <a:bodyPr/>
                    <a:lstStyle/>
                    <a:p>
                      <a:pPr algn="ctr" fontAlgn="ctr"/>
                      <a:r>
                        <a:rPr lang="en-US" altLang="zh-CN" sz="1100" b="1" i="0" u="none" strike="noStrike" dirty="0">
                          <a:solidFill>
                            <a:srgbClr val="000000"/>
                          </a:solidFill>
                          <a:latin typeface="宋体" panose="02010600030101010101" pitchFamily="2" charset="-122"/>
                        </a:rPr>
                        <a:t>2017</a:t>
                      </a:r>
                      <a:r>
                        <a:rPr lang="zh-CN" altLang="en-US" sz="1100" b="1" i="0" u="none" strike="noStrike" dirty="0">
                          <a:solidFill>
                            <a:srgbClr val="000000"/>
                          </a:solidFill>
                          <a:latin typeface="宋体" panose="02010600030101010101" pitchFamily="2" charset="-122"/>
                        </a:rPr>
                        <a:t>年</a:t>
                      </a:r>
                    </a:p>
                  </a:txBody>
                  <a:tcPr marL="9525" marR="9525" marT="9525" marB="0" anchor="ctr"/>
                </a:tc>
              </a:tr>
              <a:tr h="420047">
                <a:tc>
                  <a:txBody>
                    <a:bodyPr/>
                    <a:lstStyle/>
                    <a:p>
                      <a:pPr algn="ctr" fontAlgn="ctr"/>
                      <a:r>
                        <a:rPr lang="zh-CN" altLang="en-US" sz="1100" b="0" i="0" u="none" strike="noStrike">
                          <a:solidFill>
                            <a:srgbClr val="000000"/>
                          </a:solidFill>
                          <a:latin typeface="宋体" panose="02010600030101010101" pitchFamily="2" charset="-122"/>
                        </a:rPr>
                        <a:t>货币资金</a:t>
                      </a: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32050">
                <a:tc>
                  <a:txBody>
                    <a:bodyPr/>
                    <a:lstStyle/>
                    <a:p>
                      <a:pPr algn="ctr" fontAlgn="ctr"/>
                      <a:r>
                        <a:rPr lang="zh-CN" altLang="en-US" sz="1100" b="0" i="0" u="none" strike="noStrike" dirty="0">
                          <a:solidFill>
                            <a:srgbClr val="000000"/>
                          </a:solidFill>
                          <a:latin typeface="宋体" panose="02010600030101010101" pitchFamily="2" charset="-122"/>
                        </a:rPr>
                        <a:t> 其他应收款</a:t>
                      </a: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1" i="0" u="none" strike="noStrike" dirty="0">
                        <a:solidFill>
                          <a:srgbClr val="FF0000"/>
                        </a:solidFill>
                        <a:latin typeface="宋体" panose="02010600030101010101" pitchFamily="2" charset="-122"/>
                      </a:endParaRPr>
                    </a:p>
                  </a:txBody>
                  <a:tcPr marL="9525" marR="9525" marT="9525" marB="0" anchor="ctr"/>
                </a:tc>
              </a:tr>
              <a:tr h="432050">
                <a:tc>
                  <a:txBody>
                    <a:bodyPr/>
                    <a:lstStyle/>
                    <a:p>
                      <a:pPr algn="ctr" fontAlgn="ctr"/>
                      <a:r>
                        <a:rPr lang="zh-CN" altLang="en-US" sz="1100" b="0" i="0" u="none" strike="noStrike" dirty="0">
                          <a:solidFill>
                            <a:srgbClr val="000000"/>
                          </a:solidFill>
                          <a:latin typeface="宋体" panose="02010600030101010101" pitchFamily="2" charset="-122"/>
                        </a:rPr>
                        <a:t>应收账款</a:t>
                      </a: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r h="432050">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100" b="0" i="0" u="none" strike="noStrike" dirty="0">
                          <a:solidFill>
                            <a:srgbClr val="000000"/>
                          </a:solidFill>
                          <a:latin typeface="宋体" panose="02010600030101010101" pitchFamily="2" charset="-122"/>
                        </a:rPr>
                        <a:t>应收账款</a:t>
                      </a: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r h="432042">
                <a:tc>
                  <a:txBody>
                    <a:bodyPr/>
                    <a:lstStyle/>
                    <a:p>
                      <a:pPr algn="ctr" fontAlgn="ctr"/>
                      <a:r>
                        <a:rPr lang="zh-CN" altLang="en-US" sz="1100" b="0" i="0" u="none" strike="noStrike" dirty="0">
                          <a:solidFill>
                            <a:srgbClr val="000000"/>
                          </a:solidFill>
                          <a:latin typeface="宋体" panose="02010600030101010101" pitchFamily="2" charset="-122"/>
                        </a:rPr>
                        <a:t>预付账款</a:t>
                      </a: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r h="360040">
                <a:tc>
                  <a:txBody>
                    <a:bodyPr/>
                    <a:lstStyle/>
                    <a:p>
                      <a:pPr algn="ctr" fontAlgn="ctr"/>
                      <a:r>
                        <a:rPr lang="zh-CN" altLang="en-US" sz="1100" b="0" i="0" u="none" strike="noStrike" dirty="0">
                          <a:solidFill>
                            <a:srgbClr val="000000"/>
                          </a:solidFill>
                          <a:latin typeface="宋体" panose="02010600030101010101" pitchFamily="2" charset="-122"/>
                        </a:rPr>
                        <a:t>存货</a:t>
                      </a: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32048">
                <a:tc>
                  <a:txBody>
                    <a:bodyPr/>
                    <a:lstStyle/>
                    <a:p>
                      <a:pPr algn="ctr" fontAlgn="ctr"/>
                      <a:r>
                        <a:rPr lang="zh-CN" altLang="en-US" sz="1100" b="0" i="0" u="none" strike="noStrike" dirty="0">
                          <a:solidFill>
                            <a:srgbClr val="000000"/>
                          </a:solidFill>
                          <a:latin typeface="宋体" panose="02010600030101010101" pitchFamily="2" charset="-122"/>
                        </a:rPr>
                        <a:t>固定资产</a:t>
                      </a: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bl>
          </a:graphicData>
        </a:graphic>
      </p:graphicFrame>
      <p:sp>
        <p:nvSpPr>
          <p:cNvPr id="47" name="TextBox 11"/>
          <p:cNvSpPr txBox="1"/>
          <p:nvPr/>
        </p:nvSpPr>
        <p:spPr>
          <a:xfrm>
            <a:off x="1430392" y="5027065"/>
            <a:ext cx="9214604" cy="1384995"/>
          </a:xfrm>
          <a:prstGeom prst="rect">
            <a:avLst/>
          </a:prstGeom>
          <a:noFill/>
        </p:spPr>
        <p:txBody>
          <a:bodyPr wrap="square" rtlCol="0">
            <a:spAutoFit/>
          </a:bodyPr>
          <a:lstStyle/>
          <a:p>
            <a:pPr>
              <a:lnSpc>
                <a:spcPct val="150000"/>
              </a:lnSpc>
            </a:pPr>
            <a:r>
              <a:rPr lang="zh-CN" altLang="en-US" sz="1400" b="1" dirty="0">
                <a:solidFill>
                  <a:srgbClr val="548BB7"/>
                </a:solidFill>
                <a:latin typeface="楷体" panose="02010609060101010101" pitchFamily="49" charset="-122"/>
                <a:ea typeface="楷体" panose="02010609060101010101" pitchFamily="49" charset="-122"/>
              </a:rPr>
              <a:t>分析：</a:t>
            </a:r>
            <a:r>
              <a:rPr lang="en-US" altLang="zh-CN" sz="1400" b="1" dirty="0">
                <a:solidFill>
                  <a:srgbClr val="548BB7"/>
                </a:solidFill>
                <a:latin typeface="楷体" panose="02010609060101010101" pitchFamily="49" charset="-122"/>
                <a:ea typeface="楷体" panose="02010609060101010101" pitchFamily="49" charset="-122"/>
              </a:rPr>
              <a:t>1</a:t>
            </a:r>
            <a:r>
              <a:rPr lang="zh-CN" altLang="en-US" sz="1400" b="1" dirty="0">
                <a:solidFill>
                  <a:srgbClr val="548BB7"/>
                </a:solidFill>
                <a:latin typeface="楷体" panose="02010609060101010101" pitchFamily="49" charset="-122"/>
                <a:ea typeface="楷体" panose="02010609060101010101" pitchFamily="49" charset="-122"/>
              </a:rPr>
              <a:t>、在</a:t>
            </a:r>
            <a:r>
              <a:rPr lang="en-US" altLang="zh-CN" sz="1400" b="1" dirty="0">
                <a:solidFill>
                  <a:srgbClr val="548BB7"/>
                </a:solidFill>
                <a:latin typeface="楷体" panose="02010609060101010101" pitchFamily="49" charset="-122"/>
                <a:ea typeface="楷体" panose="02010609060101010101" pitchFamily="49" charset="-122"/>
              </a:rPr>
              <a:t>2017</a:t>
            </a:r>
            <a:r>
              <a:rPr lang="zh-CN" altLang="en-US" sz="1400" b="1" dirty="0">
                <a:solidFill>
                  <a:srgbClr val="548BB7"/>
                </a:solidFill>
                <a:latin typeface="楷体" panose="02010609060101010101" pitchFamily="49" charset="-122"/>
                <a:ea typeface="楷体" panose="02010609060101010101" pitchFamily="49" charset="-122"/>
              </a:rPr>
              <a:t>年的存货存货存货存货存货存货存货存货存货存货存货存货存货存货存货存货存货存货存货存货中有元实为待确认的应收账款，资产总额的</a:t>
            </a:r>
            <a:r>
              <a:rPr lang="en-US" altLang="zh-CN" sz="1400" b="1" dirty="0">
                <a:solidFill>
                  <a:srgbClr val="548BB7"/>
                </a:solidFill>
                <a:latin typeface="楷体" panose="02010609060101010101" pitchFamily="49" charset="-122"/>
                <a:ea typeface="楷体" panose="02010609060101010101" pitchFamily="49" charset="-122"/>
              </a:rPr>
              <a:t>%</a:t>
            </a:r>
            <a:r>
              <a:rPr lang="zh-CN" altLang="en-US" sz="1400" b="1" dirty="0">
                <a:solidFill>
                  <a:srgbClr val="548BB7"/>
                </a:solidFill>
                <a:latin typeface="楷体" panose="02010609060101010101" pitchFamily="49" charset="-122"/>
                <a:ea typeface="楷体" panose="02010609060101010101" pitchFamily="49" charset="-122"/>
              </a:rPr>
              <a:t>，存货占资产总额的</a:t>
            </a:r>
            <a:r>
              <a:rPr lang="en-US" altLang="zh-CN" sz="1400" b="1" dirty="0">
                <a:solidFill>
                  <a:srgbClr val="548BB7"/>
                </a:solidFill>
                <a:latin typeface="楷体" panose="02010609060101010101" pitchFamily="49" charset="-122"/>
                <a:ea typeface="楷体" panose="02010609060101010101" pitchFamily="49" charset="-122"/>
              </a:rPr>
              <a:t>%</a:t>
            </a:r>
            <a:r>
              <a:rPr lang="zh-CN" altLang="en-US" sz="1400" b="1" dirty="0">
                <a:solidFill>
                  <a:srgbClr val="548BB7"/>
                </a:solidFill>
                <a:latin typeface="楷体" panose="02010609060101010101" pitchFamily="49" charset="-122"/>
                <a:ea typeface="楷体" panose="02010609060101010101" pitchFamily="49" charset="-122"/>
              </a:rPr>
              <a:t>，已成为资产总额的总大占比，应收压力巨大，已严重影响我司资金流。</a:t>
            </a:r>
            <a:r>
              <a:rPr lang="en-US" altLang="zh-CN" sz="1400" b="1" dirty="0">
                <a:solidFill>
                  <a:srgbClr val="548BB7"/>
                </a:solidFill>
                <a:latin typeface="楷体" panose="02010609060101010101" pitchFamily="49" charset="-122"/>
                <a:ea typeface="楷体" panose="02010609060101010101" pitchFamily="49" charset="-122"/>
              </a:rPr>
              <a:t>2</a:t>
            </a:r>
            <a:r>
              <a:rPr lang="zh-CN" altLang="en-US" sz="1400" b="1" dirty="0">
                <a:solidFill>
                  <a:srgbClr val="548BB7"/>
                </a:solidFill>
                <a:latin typeface="楷体" panose="02010609060101010101" pitchFamily="49" charset="-122"/>
                <a:ea typeface="楷体" panose="02010609060101010101" pitchFamily="49" charset="-122"/>
              </a:rPr>
              <a:t>、</a:t>
            </a:r>
            <a:r>
              <a:rPr lang="en-US" altLang="zh-CN" sz="1400" b="1" dirty="0">
                <a:solidFill>
                  <a:srgbClr val="548BB7"/>
                </a:solidFill>
                <a:latin typeface="楷体" panose="02010609060101010101" pitchFamily="49" charset="-122"/>
                <a:ea typeface="楷体" panose="02010609060101010101" pitchFamily="49" charset="-122"/>
              </a:rPr>
              <a:t>2014-2017</a:t>
            </a:r>
            <a:r>
              <a:rPr lang="zh-CN" altLang="en-US" sz="1400" b="1" dirty="0">
                <a:solidFill>
                  <a:srgbClr val="548BB7"/>
                </a:solidFill>
                <a:latin typeface="楷体" panose="02010609060101010101" pitchFamily="49" charset="-122"/>
                <a:ea typeface="楷体" panose="02010609060101010101" pitchFamily="49" charset="-122"/>
              </a:rPr>
              <a:t>年货币资金占资产总额的平均比重约为</a:t>
            </a:r>
            <a:r>
              <a:rPr lang="en-US" altLang="zh-CN" sz="1400" b="1" dirty="0">
                <a:solidFill>
                  <a:srgbClr val="548BB7"/>
                </a:solidFill>
                <a:latin typeface="楷体" panose="02010609060101010101" pitchFamily="49" charset="-122"/>
                <a:ea typeface="楷体" panose="02010609060101010101" pitchFamily="49" charset="-122"/>
              </a:rPr>
              <a:t>%</a:t>
            </a:r>
            <a:r>
              <a:rPr lang="zh-CN" altLang="en-US" sz="1400" b="1" dirty="0">
                <a:solidFill>
                  <a:srgbClr val="548BB7"/>
                </a:solidFill>
                <a:latin typeface="楷体" panose="02010609060101010101" pitchFamily="49" charset="-122"/>
                <a:ea typeface="楷体" panose="02010609060101010101" pitchFamily="49" charset="-122"/>
              </a:rPr>
              <a:t>，在做好资金计划的情况下，可考虑做部份理财，赚取额外收益。</a:t>
            </a:r>
            <a:r>
              <a:rPr lang="en-US" altLang="zh-CN" sz="1400" b="1" dirty="0">
                <a:solidFill>
                  <a:srgbClr val="548BB7"/>
                </a:solidFill>
                <a:latin typeface="楷体" panose="02010609060101010101" pitchFamily="49" charset="-122"/>
                <a:ea typeface="楷体" panose="02010609060101010101" pitchFamily="49" charset="-122"/>
              </a:rPr>
              <a:t>3</a:t>
            </a:r>
            <a:r>
              <a:rPr lang="zh-CN" altLang="en-US" sz="1400" b="1" dirty="0">
                <a:solidFill>
                  <a:srgbClr val="548BB7"/>
                </a:solidFill>
                <a:latin typeface="楷体" panose="02010609060101010101" pitchFamily="49" charset="-122"/>
                <a:ea typeface="楷体" panose="02010609060101010101" pitchFamily="49" charset="-122"/>
              </a:rPr>
              <a:t> 、其他应收款</a:t>
            </a:r>
          </a:p>
        </p:txBody>
      </p:sp>
      <p:sp>
        <p:nvSpPr>
          <p:cNvPr id="48" name="TextBox 6"/>
          <p:cNvSpPr txBox="1"/>
          <p:nvPr/>
        </p:nvSpPr>
        <p:spPr>
          <a:xfrm>
            <a:off x="9775216" y="890185"/>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ppt_x"/>
                                          </p:val>
                                        </p:tav>
                                        <p:tav tm="100000">
                                          <p:val>
                                            <p:strVal val="#ppt_x"/>
                                          </p:val>
                                        </p:tav>
                                      </p:tavLst>
                                    </p:anim>
                                    <p:anim calcmode="lin" valueType="num">
                                      <p:cBhvr additive="base">
                                        <p:cTn id="1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ppt_x"/>
                                          </p:val>
                                        </p:tav>
                                        <p:tav tm="100000">
                                          <p:val>
                                            <p:strVal val="#ppt_x"/>
                                          </p:val>
                                        </p:tav>
                                      </p:tavLst>
                                    </p:anim>
                                    <p:anim calcmode="lin" valueType="num">
                                      <p:cBhvr additive="base">
                                        <p:cTn id="2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Graphic spid="45" grpId="0">
        <p:bldAsOne/>
      </p:bldGraphic>
      <p:bldP spid="47" grpId="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负债分析</a:t>
            </a:r>
          </a:p>
        </p:txBody>
      </p:sp>
      <p:graphicFrame>
        <p:nvGraphicFramePr>
          <p:cNvPr id="7" name="内容占位符 3"/>
          <p:cNvGraphicFramePr/>
          <p:nvPr/>
        </p:nvGraphicFramePr>
        <p:xfrm>
          <a:off x="1147311" y="1330225"/>
          <a:ext cx="9661585" cy="1483360"/>
        </p:xfrm>
        <a:graphic>
          <a:graphicData uri="http://schemas.openxmlformats.org/drawingml/2006/table">
            <a:tbl>
              <a:tblPr firstRow="1" bandRow="1">
                <a:tableStyleId>{69CF1AB2-1976-4502-BF36-3FF5EA218861}</a:tableStyleId>
              </a:tblPr>
              <a:tblGrid>
                <a:gridCol w="1932317"/>
                <a:gridCol w="1932317"/>
                <a:gridCol w="1932317"/>
                <a:gridCol w="1932317"/>
                <a:gridCol w="1932317"/>
              </a:tblGrid>
              <a:tr h="370840">
                <a:tc>
                  <a:txBody>
                    <a:bodyPr/>
                    <a:lstStyle/>
                    <a:p>
                      <a:pPr algn="ctr"/>
                      <a:r>
                        <a:rPr lang="zh-CN" altLang="en-US" dirty="0"/>
                        <a:t>年份</a:t>
                      </a:r>
                    </a:p>
                  </a:txBody>
                  <a:tcPr/>
                </a:tc>
                <a:tc>
                  <a:txBody>
                    <a:bodyPr/>
                    <a:lstStyle/>
                    <a:p>
                      <a:pPr algn="ctr"/>
                      <a:r>
                        <a:rPr lang="en-US" altLang="zh-CN" dirty="0"/>
                        <a:t>2014</a:t>
                      </a:r>
                      <a:r>
                        <a:rPr lang="zh-CN" altLang="en-US" dirty="0"/>
                        <a:t>年</a:t>
                      </a:r>
                    </a:p>
                  </a:txBody>
                  <a:tcPr/>
                </a:tc>
                <a:tc>
                  <a:txBody>
                    <a:bodyPr/>
                    <a:lstStyle/>
                    <a:p>
                      <a:pPr algn="ctr"/>
                      <a:r>
                        <a:rPr lang="en-US" altLang="zh-CN" dirty="0"/>
                        <a:t>2015</a:t>
                      </a:r>
                      <a:r>
                        <a:rPr lang="zh-CN" altLang="en-US" dirty="0"/>
                        <a:t>年</a:t>
                      </a:r>
                    </a:p>
                  </a:txBody>
                  <a:tcPr/>
                </a:tc>
                <a:tc>
                  <a:txBody>
                    <a:bodyPr/>
                    <a:lstStyle/>
                    <a:p>
                      <a:pPr algn="ctr"/>
                      <a:r>
                        <a:rPr lang="en-US" altLang="zh-CN" dirty="0"/>
                        <a:t>2016</a:t>
                      </a:r>
                      <a:r>
                        <a:rPr lang="zh-CN" altLang="en-US" dirty="0"/>
                        <a:t>年</a:t>
                      </a:r>
                    </a:p>
                  </a:txBody>
                  <a:tcPr/>
                </a:tc>
                <a:tc>
                  <a:txBody>
                    <a:bodyPr/>
                    <a:lstStyle/>
                    <a:p>
                      <a:pPr algn="ctr"/>
                      <a:r>
                        <a:rPr lang="en-US" altLang="zh-CN" dirty="0"/>
                        <a:t>2017</a:t>
                      </a:r>
                      <a:r>
                        <a:rPr lang="zh-CN" altLang="en-US" dirty="0"/>
                        <a:t>年上半年</a:t>
                      </a:r>
                    </a:p>
                  </a:txBody>
                  <a:tcPr/>
                </a:tc>
              </a:tr>
              <a:tr h="370840">
                <a:tc>
                  <a:txBody>
                    <a:bodyPr/>
                    <a:lstStyle/>
                    <a:p>
                      <a:pPr algn="ctr"/>
                      <a:r>
                        <a:rPr lang="zh-CN" altLang="en-US" dirty="0"/>
                        <a:t>流动负债</a:t>
                      </a:r>
                    </a:p>
                  </a:txBody>
                  <a:tcP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r h="370840">
                <a:tc>
                  <a:txBody>
                    <a:bodyPr/>
                    <a:lstStyle/>
                    <a:p>
                      <a:pPr algn="ctr"/>
                      <a:r>
                        <a:rPr lang="zh-CN" altLang="en-US" dirty="0"/>
                        <a:t>总负债</a:t>
                      </a:r>
                    </a:p>
                  </a:txBody>
                  <a:tcP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r h="370840">
                <a:tc>
                  <a:txBody>
                    <a:bodyPr/>
                    <a:lstStyle/>
                    <a:p>
                      <a:pPr algn="ctr"/>
                      <a:r>
                        <a:rPr lang="zh-CN" altLang="en-US" dirty="0"/>
                        <a:t>资产负债率</a:t>
                      </a:r>
                    </a:p>
                  </a:txBody>
                  <a:tcP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marL="0" algn="ctr" defTabSz="914400" rtl="0" eaLnBrk="1" fontAlgn="t" latinLnBrk="0" hangingPunct="1"/>
                      <a:endParaRPr lang="en-US" altLang="zh-CN" sz="1800" b="0" i="0" u="none" strike="noStrike" kern="1200" dirty="0">
                        <a:solidFill>
                          <a:srgbClr val="000000"/>
                        </a:solidFill>
                        <a:latin typeface="Calibri" panose="020F0502020204030204"/>
                        <a:ea typeface="+mn-ea"/>
                        <a:cs typeface="+mn-cs"/>
                      </a:endParaRPr>
                    </a:p>
                  </a:txBody>
                  <a:tcPr marL="9525" marR="9525" marT="9525" marB="0" anchor="ctr"/>
                </a:tc>
                <a:tc>
                  <a:txBody>
                    <a:bodyPr/>
                    <a:lstStyle/>
                    <a:p>
                      <a:pPr algn="ctr" rtl="0" fontAlgn="t"/>
                      <a:endParaRPr lang="en-US" altLang="zh-CN" sz="1800" b="0" i="0" u="none" strike="noStrike" dirty="0">
                        <a:solidFill>
                          <a:srgbClr val="000000"/>
                        </a:solidFill>
                        <a:latin typeface="Calibri" panose="020F0502020204030204"/>
                      </a:endParaRPr>
                    </a:p>
                  </a:txBody>
                  <a:tcPr marL="9525" marR="9525" marT="9525" marB="0"/>
                </a:tc>
              </a:tr>
            </a:tbl>
          </a:graphicData>
        </a:graphic>
      </p:graphicFrame>
      <p:graphicFrame>
        <p:nvGraphicFramePr>
          <p:cNvPr id="9" name="图表 8"/>
          <p:cNvGraphicFramePr/>
          <p:nvPr/>
        </p:nvGraphicFramePr>
        <p:xfrm>
          <a:off x="1147310" y="2832111"/>
          <a:ext cx="4796289" cy="356157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8"/>
          <p:cNvSpPr txBox="1"/>
          <p:nvPr/>
        </p:nvSpPr>
        <p:spPr>
          <a:xfrm>
            <a:off x="6159470" y="2958306"/>
            <a:ext cx="4813540" cy="3693319"/>
          </a:xfrm>
          <a:prstGeom prst="rect">
            <a:avLst/>
          </a:prstGeom>
          <a:noFill/>
        </p:spPr>
        <p:txBody>
          <a:bodyPr wrap="square" rtlCol="0">
            <a:spAutoFit/>
          </a:bodyPr>
          <a:lstStyle/>
          <a:p>
            <a:pPr>
              <a:lnSpc>
                <a:spcPct val="150000"/>
              </a:lnSpc>
            </a:pPr>
            <a:r>
              <a:rPr lang="zh-CN" altLang="en-US" b="1" dirty="0">
                <a:latin typeface="黑体" panose="02010609060101010101" pitchFamily="49" charset="-122"/>
                <a:ea typeface="黑体" panose="02010609060101010101" pitchFamily="49" charset="-122"/>
              </a:rPr>
              <a:t>分析如下：</a:t>
            </a:r>
            <a:r>
              <a:rPr lang="zh-CN" altLang="en-US" dirty="0">
                <a:latin typeface="黑体" panose="02010609060101010101" pitchFamily="49" charset="-122"/>
                <a:ea typeface="黑体" panose="02010609060101010101" pitchFamily="49" charset="-122"/>
              </a:rPr>
              <a:t>由上表和图所示的数据可以看出，公司在201</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-201</a:t>
            </a:r>
            <a:r>
              <a:rPr lang="en-US" altLang="zh-CN" dirty="0">
                <a:latin typeface="黑体" panose="02010609060101010101" pitchFamily="49" charset="-122"/>
                <a:ea typeface="黑体" panose="02010609060101010101" pitchFamily="49" charset="-122"/>
              </a:rPr>
              <a:t>7</a:t>
            </a:r>
            <a:r>
              <a:rPr lang="zh-CN" altLang="en-US" dirty="0">
                <a:latin typeface="黑体" panose="02010609060101010101" pitchFamily="49" charset="-122"/>
                <a:ea typeface="黑体" panose="02010609060101010101" pitchFamily="49" charset="-122"/>
              </a:rPr>
              <a:t>年上的负债规模呈逐年上升的趋势，说明该企业在</a:t>
            </a:r>
            <a:r>
              <a:rPr lang="zh-CN" altLang="en-US" u="sng" dirty="0">
                <a:solidFill>
                  <a:srgbClr val="548BB7"/>
                </a:solidFill>
                <a:latin typeface="黑体" panose="02010609060101010101" pitchFamily="49" charset="-122"/>
                <a:ea typeface="黑体" panose="02010609060101010101" pitchFamily="49" charset="-122"/>
              </a:rPr>
              <a:t>这四年内总负债规模不断变大</a:t>
            </a:r>
            <a:r>
              <a:rPr lang="zh-CN" altLang="en-US" dirty="0">
                <a:latin typeface="黑体" panose="02010609060101010101" pitchFamily="49" charset="-122"/>
                <a:ea typeface="黑体" panose="02010609060101010101" pitchFamily="49" charset="-122"/>
              </a:rPr>
              <a:t>。主要是由于流动负债规模的逐年变大，非流动负债规模基本保持不变，这主要是该企业主要需要通过增加流动负债来扩大公司的规模。该企业主要通过扩大流动负债来扩大经营，</a:t>
            </a:r>
            <a:r>
              <a:rPr lang="zh-CN" altLang="en-US" u="sng" dirty="0">
                <a:solidFill>
                  <a:srgbClr val="548BB7"/>
                </a:solidFill>
                <a:latin typeface="黑体" panose="02010609060101010101" pitchFamily="49" charset="-122"/>
                <a:ea typeface="黑体" panose="02010609060101010101" pitchFamily="49" charset="-122"/>
              </a:rPr>
              <a:t>说明企业的债务流动性还是乐观的</a:t>
            </a:r>
            <a:r>
              <a:rPr lang="zh-CN" altLang="en-US" dirty="0">
                <a:solidFill>
                  <a:srgbClr val="548BB7"/>
                </a:solidFill>
                <a:latin typeface="黑体" panose="02010609060101010101" pitchFamily="49" charset="-122"/>
                <a:ea typeface="黑体" panose="02010609060101010101" pitchFamily="49" charset="-122"/>
              </a:rPr>
              <a:t>。</a:t>
            </a:r>
          </a:p>
          <a:p>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Graphic spid="9" grpId="0">
        <p:bldAsOne/>
      </p:bldGraphic>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负债结构</a:t>
            </a:r>
          </a:p>
        </p:txBody>
      </p:sp>
      <p:graphicFrame>
        <p:nvGraphicFramePr>
          <p:cNvPr id="6" name="内容占位符 3"/>
          <p:cNvGraphicFramePr/>
          <p:nvPr/>
        </p:nvGraphicFramePr>
        <p:xfrm>
          <a:off x="1213389" y="1268413"/>
          <a:ext cx="4946081" cy="36004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表格 7"/>
          <p:cNvGraphicFramePr>
            <a:graphicFrameLocks noGrp="1"/>
          </p:cNvGraphicFramePr>
          <p:nvPr/>
        </p:nvGraphicFramePr>
        <p:xfrm>
          <a:off x="6315747" y="1205379"/>
          <a:ext cx="4268863" cy="3478767"/>
        </p:xfrm>
        <a:graphic>
          <a:graphicData uri="http://schemas.openxmlformats.org/drawingml/2006/table">
            <a:tbl>
              <a:tblPr firstRow="1" bandRow="1">
                <a:tableStyleId>{8799B23B-EC83-4686-B30A-512413B5E67A}</a:tableStyleId>
              </a:tblPr>
              <a:tblGrid>
                <a:gridCol w="1067216"/>
                <a:gridCol w="776157"/>
                <a:gridCol w="776157"/>
                <a:gridCol w="679137"/>
                <a:gridCol w="970196"/>
              </a:tblGrid>
              <a:tr h="707349">
                <a:tc>
                  <a:txBody>
                    <a:bodyPr/>
                    <a:lstStyle/>
                    <a:p>
                      <a:pPr algn="ctr" fontAlgn="ctr"/>
                      <a:r>
                        <a:rPr lang="zh-CN" altLang="en-US" sz="1100" u="none" strike="noStrike" dirty="0"/>
                        <a:t>资  产</a:t>
                      </a:r>
                      <a:endParaRPr lang="zh-CN" altLang="en-US" sz="1100" b="1"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r>
                        <a:rPr lang="en-US" altLang="zh-CN" sz="1100" u="none" strike="noStrike" dirty="0"/>
                        <a:t>2014</a:t>
                      </a:r>
                      <a:r>
                        <a:rPr lang="zh-CN" altLang="en-US" sz="1100" u="none" strike="noStrike" dirty="0"/>
                        <a:t>年</a:t>
                      </a:r>
                      <a:endParaRPr lang="zh-CN" altLang="en-US" sz="1100" b="1"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r>
                        <a:rPr lang="en-US" altLang="zh-CN" sz="1100" u="none" strike="noStrike" dirty="0"/>
                        <a:t>2015</a:t>
                      </a:r>
                      <a:r>
                        <a:rPr lang="zh-CN" altLang="en-US" sz="1100" u="none" strike="noStrike" dirty="0"/>
                        <a:t>年</a:t>
                      </a:r>
                      <a:endParaRPr lang="zh-CN" altLang="en-US" sz="1100" b="1"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r>
                        <a:rPr lang="en-US" altLang="zh-CN" sz="1100" u="none" strike="noStrike" dirty="0"/>
                        <a:t>2016</a:t>
                      </a:r>
                      <a:r>
                        <a:rPr lang="zh-CN" altLang="en-US" sz="1100" u="none" strike="noStrike" dirty="0"/>
                        <a:t>年</a:t>
                      </a:r>
                      <a:endParaRPr lang="zh-CN" altLang="en-US" sz="1100" b="1"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r>
                        <a:rPr lang="en-US" altLang="zh-CN" sz="1100" u="none" strike="noStrike" dirty="0"/>
                        <a:t>2017</a:t>
                      </a:r>
                      <a:r>
                        <a:rPr lang="zh-CN" altLang="en-US" sz="1100" u="none" strike="noStrike" dirty="0"/>
                        <a:t>年上</a:t>
                      </a:r>
                      <a:endParaRPr lang="zh-CN" altLang="en-US" sz="1100" b="1" i="0" u="none" strike="noStrike" dirty="0">
                        <a:solidFill>
                          <a:srgbClr val="000000"/>
                        </a:solidFill>
                        <a:latin typeface="宋体" panose="02010600030101010101" pitchFamily="2" charset="-122"/>
                      </a:endParaRPr>
                    </a:p>
                  </a:txBody>
                  <a:tcPr marL="9525" marR="9525" marT="9525" marB="0" anchor="ctr"/>
                </a:tc>
              </a:tr>
              <a:tr h="405856">
                <a:tc>
                  <a:txBody>
                    <a:bodyPr/>
                    <a:lstStyle/>
                    <a:p>
                      <a:pPr algn="ctr" fontAlgn="ctr"/>
                      <a:r>
                        <a:rPr lang="zh-CN" altLang="en-US" sz="1100" u="none" strike="noStrike"/>
                        <a:t>  短期借款</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17454">
                <a:tc>
                  <a:txBody>
                    <a:bodyPr/>
                    <a:lstStyle/>
                    <a:p>
                      <a:pPr algn="ctr" fontAlgn="ctr"/>
                      <a:r>
                        <a:rPr lang="zh-CN" altLang="en-US" sz="1100" u="none" strike="noStrike"/>
                        <a:t>  应付账款</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17454">
                <a:tc>
                  <a:txBody>
                    <a:bodyPr/>
                    <a:lstStyle/>
                    <a:p>
                      <a:pPr algn="ctr" fontAlgn="ctr"/>
                      <a:r>
                        <a:rPr lang="zh-CN" altLang="en-US" sz="1100" u="none" strike="noStrike"/>
                        <a:t>  预收账款</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17454">
                <a:tc>
                  <a:txBody>
                    <a:bodyPr/>
                    <a:lstStyle/>
                    <a:p>
                      <a:pPr algn="ctr" fontAlgn="ctr"/>
                      <a:r>
                        <a:rPr lang="zh-CN" altLang="en-US" sz="1100" u="none" strike="noStrike"/>
                        <a:t>  应付职工薪酬</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417446">
                <a:tc>
                  <a:txBody>
                    <a:bodyPr/>
                    <a:lstStyle/>
                    <a:p>
                      <a:pPr algn="ctr" fontAlgn="ctr"/>
                      <a:r>
                        <a:rPr lang="zh-CN" altLang="en-US" sz="1100" u="none" strike="noStrike"/>
                        <a:t>  应交税费</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r>
              <a:tr h="347877">
                <a:tc>
                  <a:txBody>
                    <a:bodyPr/>
                    <a:lstStyle/>
                    <a:p>
                      <a:pPr algn="ctr" fontAlgn="ctr"/>
                      <a:r>
                        <a:rPr lang="zh-CN" altLang="en-US" sz="1100" u="none" strike="noStrike"/>
                        <a:t>  应付利息</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r h="347877">
                <a:tc>
                  <a:txBody>
                    <a:bodyPr/>
                    <a:lstStyle/>
                    <a:p>
                      <a:pPr algn="ctr" fontAlgn="ctr"/>
                      <a:r>
                        <a:rPr lang="zh-CN" altLang="en-US" sz="1100" u="none" strike="noStrike"/>
                        <a:t>  其他应付款</a:t>
                      </a:r>
                      <a:endParaRPr lang="zh-CN" altLang="en-US"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tc>
              </a:tr>
            </a:tbl>
          </a:graphicData>
        </a:graphic>
      </p:graphicFrame>
      <p:sp>
        <p:nvSpPr>
          <p:cNvPr id="11" name="TextBox 11"/>
          <p:cNvSpPr txBox="1"/>
          <p:nvPr/>
        </p:nvSpPr>
        <p:spPr>
          <a:xfrm>
            <a:off x="1311215" y="4964835"/>
            <a:ext cx="9471803" cy="1338828"/>
          </a:xfrm>
          <a:prstGeom prst="rect">
            <a:avLst/>
          </a:prstGeom>
          <a:noFill/>
        </p:spPr>
        <p:txBody>
          <a:bodyPr wrap="square" rtlCol="0">
            <a:spAutoFit/>
          </a:bodyPr>
          <a:lstStyle/>
          <a:p>
            <a:pPr>
              <a:lnSpc>
                <a:spcPct val="150000"/>
              </a:lnSpc>
            </a:pPr>
            <a:r>
              <a:rPr lang="zh-CN" altLang="en-US" dirty="0">
                <a:latin typeface="黑体" panose="02010609060101010101" pitchFamily="49" charset="-122"/>
                <a:ea typeface="黑体" panose="02010609060101010101" pitchFamily="49" charset="-122"/>
              </a:rPr>
              <a:t>分析：</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、在</a:t>
            </a:r>
            <a:r>
              <a:rPr lang="en-US" altLang="zh-CN" dirty="0">
                <a:latin typeface="黑体" panose="02010609060101010101" pitchFamily="49" charset="-122"/>
                <a:ea typeface="黑体" panose="02010609060101010101" pitchFamily="49" charset="-122"/>
              </a:rPr>
              <a:t>2017</a:t>
            </a:r>
            <a:r>
              <a:rPr lang="zh-CN" altLang="en-US" dirty="0">
                <a:latin typeface="黑体" panose="02010609060101010101" pitchFamily="49" charset="-122"/>
                <a:ea typeface="黑体" panose="02010609060101010101" pitchFamily="49" charset="-122"/>
              </a:rPr>
              <a:t>年上的中有万元实为待确认的应收账款占资产总额的</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，存货占资产总额</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，应收已成为资产总额的总大占比，应收压力大，影响我司资金流。</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2014-2017</a:t>
            </a:r>
            <a:r>
              <a:rPr lang="zh-CN" altLang="en-US" dirty="0">
                <a:latin typeface="黑体" panose="02010609060101010101" pitchFamily="49" charset="-122"/>
                <a:ea typeface="黑体" panose="02010609060101010101" pitchFamily="49" charset="-122"/>
              </a:rPr>
              <a:t>年占资产总额的平均比重约为</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，在做好资金计划的情况下，可考虑做部份理财，赚取额外收益。</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Graphic spid="6" grpId="0">
        <p:bldAsOne/>
      </p:bldGraphic>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股东权益变动规模</a:t>
            </a:r>
          </a:p>
        </p:txBody>
      </p:sp>
      <p:graphicFrame>
        <p:nvGraphicFramePr>
          <p:cNvPr id="7" name="内容占位符 3"/>
          <p:cNvGraphicFramePr/>
          <p:nvPr/>
        </p:nvGraphicFramePr>
        <p:xfrm>
          <a:off x="1523997" y="1180208"/>
          <a:ext cx="8888085" cy="2225040"/>
        </p:xfrm>
        <a:graphic>
          <a:graphicData uri="http://schemas.openxmlformats.org/drawingml/2006/table">
            <a:tbl>
              <a:tblPr firstRow="1" bandRow="1">
                <a:tableStyleId>{0505E3EF-67EA-436B-97B2-0124C06EBD24}</a:tableStyleId>
              </a:tblPr>
              <a:tblGrid>
                <a:gridCol w="1777617"/>
                <a:gridCol w="1777617"/>
                <a:gridCol w="1777617"/>
                <a:gridCol w="1777617"/>
                <a:gridCol w="1777617"/>
              </a:tblGrid>
              <a:tr h="370840">
                <a:tc>
                  <a:txBody>
                    <a:bodyPr/>
                    <a:lstStyle/>
                    <a:p>
                      <a:pPr algn="ctr"/>
                      <a:r>
                        <a:rPr lang="zh-CN" altLang="en-US" dirty="0"/>
                        <a:t>年份</a:t>
                      </a:r>
                    </a:p>
                  </a:txBody>
                  <a:tcPr/>
                </a:tc>
                <a:tc>
                  <a:txBody>
                    <a:bodyPr/>
                    <a:lstStyle/>
                    <a:p>
                      <a:pPr algn="ctr"/>
                      <a:r>
                        <a:rPr lang="en-US" altLang="zh-CN" dirty="0"/>
                        <a:t>2014</a:t>
                      </a:r>
                      <a:r>
                        <a:rPr lang="zh-CN" altLang="en-US" dirty="0"/>
                        <a:t>年</a:t>
                      </a:r>
                    </a:p>
                  </a:txBody>
                  <a:tcPr/>
                </a:tc>
                <a:tc>
                  <a:txBody>
                    <a:bodyPr/>
                    <a:lstStyle/>
                    <a:p>
                      <a:pPr algn="ctr"/>
                      <a:r>
                        <a:rPr lang="en-US" altLang="zh-CN" dirty="0"/>
                        <a:t>2015</a:t>
                      </a:r>
                      <a:r>
                        <a:rPr lang="zh-CN" altLang="en-US" dirty="0"/>
                        <a:t>年</a:t>
                      </a:r>
                    </a:p>
                  </a:txBody>
                  <a:tcPr/>
                </a:tc>
                <a:tc>
                  <a:txBody>
                    <a:bodyPr/>
                    <a:lstStyle/>
                    <a:p>
                      <a:pPr algn="ctr"/>
                      <a:r>
                        <a:rPr lang="en-US" altLang="zh-CN" dirty="0"/>
                        <a:t>2016</a:t>
                      </a:r>
                      <a:r>
                        <a:rPr lang="zh-CN" altLang="en-US" dirty="0"/>
                        <a:t>年</a:t>
                      </a:r>
                    </a:p>
                  </a:txBody>
                  <a:tcPr/>
                </a:tc>
                <a:tc>
                  <a:txBody>
                    <a:bodyPr/>
                    <a:lstStyle/>
                    <a:p>
                      <a:pPr algn="ctr"/>
                      <a:r>
                        <a:rPr lang="en-US" altLang="zh-CN" dirty="0"/>
                        <a:t>2017</a:t>
                      </a:r>
                      <a:r>
                        <a:rPr lang="zh-CN" altLang="en-US" dirty="0"/>
                        <a:t>年</a:t>
                      </a:r>
                    </a:p>
                  </a:txBody>
                  <a:tcPr/>
                </a:tc>
              </a:tr>
              <a:tr h="370840">
                <a:tc>
                  <a:txBody>
                    <a:bodyPr/>
                    <a:lstStyle/>
                    <a:p>
                      <a:pPr marL="0" algn="ctr" defTabSz="914400" rtl="0" eaLnBrk="1" latinLnBrk="0" hangingPunct="1"/>
                      <a:r>
                        <a:rPr lang="zh-CN" altLang="en-US" sz="1800" kern="1200" dirty="0">
                          <a:solidFill>
                            <a:schemeClr val="dk1"/>
                          </a:solidFill>
                          <a:latin typeface="+mn-lt"/>
                          <a:ea typeface="+mn-ea"/>
                          <a:cs typeface="+mn-cs"/>
                        </a:rPr>
                        <a:t> 实收资本</a:t>
                      </a:r>
                    </a:p>
                  </a:txBody>
                  <a:tcP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r>
              <a:tr h="370840">
                <a:tc>
                  <a:txBody>
                    <a:bodyPr/>
                    <a:lstStyle/>
                    <a:p>
                      <a:pPr marL="0" algn="ctr" defTabSz="914400" rtl="0" eaLnBrk="1" latinLnBrk="0" hangingPunct="1"/>
                      <a:r>
                        <a:rPr lang="zh-CN" altLang="en-US" sz="1800" kern="1200" dirty="0">
                          <a:solidFill>
                            <a:schemeClr val="dk1"/>
                          </a:solidFill>
                          <a:latin typeface="+mn-lt"/>
                          <a:ea typeface="+mn-ea"/>
                          <a:cs typeface="+mn-cs"/>
                        </a:rPr>
                        <a:t> 资本公积</a:t>
                      </a:r>
                    </a:p>
                  </a:txBody>
                  <a:tcP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r>
              <a:tr h="370840">
                <a:tc>
                  <a:txBody>
                    <a:bodyPr/>
                    <a:lstStyle/>
                    <a:p>
                      <a:pPr marL="0" algn="ctr" defTabSz="914400" rtl="0" eaLnBrk="1" latinLnBrk="0" hangingPunct="1"/>
                      <a:r>
                        <a:rPr lang="zh-CN" altLang="en-US" sz="1800" kern="1200" dirty="0">
                          <a:solidFill>
                            <a:schemeClr val="dk1"/>
                          </a:solidFill>
                          <a:latin typeface="+mn-lt"/>
                          <a:ea typeface="+mn-ea"/>
                          <a:cs typeface="+mn-cs"/>
                        </a:rPr>
                        <a:t> 盈余公积</a:t>
                      </a:r>
                    </a:p>
                  </a:txBody>
                  <a:tcP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l" fontAlgn="ctr"/>
                      <a:endParaRPr lang="en-US" altLang="zh-CN" sz="1400" b="0" i="0" u="none" strike="noStrike" dirty="0">
                        <a:solidFill>
                          <a:srgbClr val="000000"/>
                        </a:solidFill>
                        <a:latin typeface="宋体" panose="02010600030101010101" pitchFamily="2" charset="-122"/>
                      </a:endParaRPr>
                    </a:p>
                  </a:txBody>
                  <a:tcPr marL="9525" marR="9525" marT="9525" marB="0" anchor="ctr"/>
                </a:tc>
              </a:tr>
              <a:tr h="370840">
                <a:tc>
                  <a:txBody>
                    <a:bodyPr/>
                    <a:lstStyle/>
                    <a:p>
                      <a:pPr marL="0" algn="ctr" defTabSz="914400" rtl="0" eaLnBrk="1" latinLnBrk="0" hangingPunct="1"/>
                      <a:r>
                        <a:rPr lang="zh-CN" altLang="en-US" sz="1800" kern="1200" dirty="0">
                          <a:solidFill>
                            <a:schemeClr val="dk1"/>
                          </a:solidFill>
                          <a:latin typeface="+mn-lt"/>
                          <a:ea typeface="+mn-ea"/>
                          <a:cs typeface="+mn-cs"/>
                        </a:rPr>
                        <a:t> 未分配利润</a:t>
                      </a:r>
                    </a:p>
                  </a:txBody>
                  <a:tcP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ctr" fontAlgn="ctr"/>
                      <a:endParaRPr lang="en-US" altLang="zh-CN" sz="1400" b="0" i="0" u="none" strike="noStrike" dirty="0">
                        <a:solidFill>
                          <a:srgbClr val="000000"/>
                        </a:solidFill>
                        <a:latin typeface="宋体" panose="02010600030101010101" pitchFamily="2" charset="-122"/>
                      </a:endParaRPr>
                    </a:p>
                  </a:txBody>
                  <a:tcPr marL="9525" marR="9525" marT="9525" marB="0" anchor="ctr"/>
                </a:tc>
                <a:tc>
                  <a:txBody>
                    <a:bodyPr/>
                    <a:lstStyle/>
                    <a:p>
                      <a:pPr algn="l" fontAlgn="ctr"/>
                      <a:endParaRPr lang="en-US" altLang="zh-CN" sz="1400" b="0" i="0" u="none" strike="noStrike" dirty="0">
                        <a:solidFill>
                          <a:srgbClr val="000000"/>
                        </a:solidFill>
                        <a:latin typeface="宋体" panose="02010600030101010101" pitchFamily="2" charset="-122"/>
                      </a:endParaRPr>
                    </a:p>
                  </a:txBody>
                  <a:tcPr marL="9525" marR="9525" marT="9525" marB="0" anchor="ctr"/>
                </a:tc>
              </a:tr>
              <a:tr h="370840">
                <a:tc>
                  <a:txBody>
                    <a:bodyPr/>
                    <a:lstStyle/>
                    <a:p>
                      <a:pPr algn="ctr"/>
                      <a:r>
                        <a:rPr lang="zh-CN" altLang="en-US" dirty="0"/>
                        <a:t>权益总额</a:t>
                      </a:r>
                    </a:p>
                  </a:txBody>
                  <a:tcPr/>
                </a:tc>
                <a:tc>
                  <a:txBody>
                    <a:bodyPr/>
                    <a:lstStyle/>
                    <a:p>
                      <a:pPr marL="0" algn="ctr" defTabSz="914400" rtl="0" eaLnBrk="1" fontAlgn="ctr" latinLnBrk="0" hangingPunct="1"/>
                      <a:endParaRPr lang="en-US" altLang="zh-CN" sz="1400" b="0" i="0" u="none" strike="noStrike" kern="1200" dirty="0">
                        <a:solidFill>
                          <a:srgbClr val="000000"/>
                        </a:solidFill>
                        <a:latin typeface="宋体" panose="02010600030101010101" pitchFamily="2" charset="-122"/>
                        <a:ea typeface="+mn-ea"/>
                        <a:cs typeface="+mn-cs"/>
                      </a:endParaRPr>
                    </a:p>
                  </a:txBody>
                  <a:tcPr marL="9525" marR="9525" marT="9525" marB="0"/>
                </a:tc>
                <a:tc>
                  <a:txBody>
                    <a:bodyPr/>
                    <a:lstStyle/>
                    <a:p>
                      <a:pPr marL="0" algn="ctr" defTabSz="914400" rtl="0" eaLnBrk="1" fontAlgn="ctr" latinLnBrk="0" hangingPunct="1"/>
                      <a:endParaRPr lang="en-US" altLang="zh-CN" sz="1400" b="0" i="0" u="none" strike="noStrike" kern="1200" dirty="0">
                        <a:solidFill>
                          <a:srgbClr val="000000"/>
                        </a:solidFill>
                        <a:latin typeface="宋体" panose="02010600030101010101" pitchFamily="2" charset="-122"/>
                        <a:ea typeface="+mn-ea"/>
                        <a:cs typeface="+mn-cs"/>
                      </a:endParaRPr>
                    </a:p>
                  </a:txBody>
                  <a:tcPr marL="9525" marR="9525" marT="9525" marB="0"/>
                </a:tc>
                <a:tc>
                  <a:txBody>
                    <a:bodyPr/>
                    <a:lstStyle/>
                    <a:p>
                      <a:pPr marL="0" algn="ctr" defTabSz="914400" rtl="0" eaLnBrk="1" fontAlgn="ctr" latinLnBrk="0" hangingPunct="1"/>
                      <a:endParaRPr lang="en-US" altLang="zh-CN" sz="1400" b="0" i="0" u="none" strike="noStrike" kern="1200" dirty="0">
                        <a:solidFill>
                          <a:srgbClr val="000000"/>
                        </a:solidFill>
                        <a:latin typeface="宋体" panose="02010600030101010101" pitchFamily="2" charset="-122"/>
                        <a:ea typeface="+mn-ea"/>
                        <a:cs typeface="+mn-cs"/>
                      </a:endParaRPr>
                    </a:p>
                  </a:txBody>
                  <a:tcPr marL="9525" marR="9525" marT="9525" marB="0"/>
                </a:tc>
                <a:tc>
                  <a:txBody>
                    <a:bodyPr/>
                    <a:lstStyle/>
                    <a:p>
                      <a:pPr marL="0" algn="ctr" defTabSz="914400" rtl="0" eaLnBrk="1" fontAlgn="ctr" latinLnBrk="0" hangingPunct="1"/>
                      <a:endParaRPr lang="en-US" altLang="zh-CN" sz="1400" b="0" i="0" u="none" strike="noStrike" kern="1200" dirty="0">
                        <a:solidFill>
                          <a:srgbClr val="000000"/>
                        </a:solidFill>
                        <a:latin typeface="宋体" panose="02010600030101010101" pitchFamily="2" charset="-122"/>
                        <a:ea typeface="+mn-ea"/>
                        <a:cs typeface="+mn-cs"/>
                      </a:endParaRPr>
                    </a:p>
                  </a:txBody>
                  <a:tcPr marL="9525" marR="9525" marT="9525" marB="0"/>
                </a:tc>
              </a:tr>
            </a:tbl>
          </a:graphicData>
        </a:graphic>
      </p:graphicFrame>
      <p:sp>
        <p:nvSpPr>
          <p:cNvPr id="10" name="TextBox 8"/>
          <p:cNvSpPr txBox="1"/>
          <p:nvPr/>
        </p:nvSpPr>
        <p:spPr>
          <a:xfrm>
            <a:off x="6012822" y="3514666"/>
            <a:ext cx="4494152" cy="2862322"/>
          </a:xfrm>
          <a:prstGeom prst="rect">
            <a:avLst/>
          </a:prstGeom>
          <a:noFill/>
        </p:spPr>
        <p:txBody>
          <a:bodyPr wrap="square" rtlCol="0">
            <a:spAutoFit/>
          </a:bodyPr>
          <a:lstStyle/>
          <a:p>
            <a:pPr>
              <a:lnSpc>
                <a:spcPct val="150000"/>
              </a:lnSpc>
            </a:pPr>
            <a:r>
              <a:rPr lang="zh-CN" altLang="en-US" b="1" dirty="0">
                <a:latin typeface="黑体" panose="02010609060101010101" pitchFamily="49" charset="-122"/>
                <a:ea typeface="黑体" panose="02010609060101010101" pitchFamily="49" charset="-122"/>
              </a:rPr>
              <a:t>分析如下</a:t>
            </a:r>
            <a:r>
              <a:rPr lang="zh-CN" altLang="en-US" dirty="0">
                <a:latin typeface="黑体" panose="02010609060101010101" pitchFamily="49" charset="-122"/>
                <a:ea typeface="黑体" panose="02010609060101010101" pitchFamily="49" charset="-122"/>
              </a:rPr>
              <a:t>：由上表和图所示的数据可以看出，公司在年上的股东权益是逐年增长的，尤其是年增长的幅度最大，主要是由于企业的资本增加的幅度大，说明该企业的自有资本是雄厚的，利用自有资本来还债的能力也是很强的。</a:t>
            </a:r>
          </a:p>
          <a:p>
            <a:endParaRPr lang="zh-CN" altLang="en-US" dirty="0">
              <a:latin typeface="黑体" panose="02010609060101010101" pitchFamily="49" charset="-122"/>
              <a:ea typeface="黑体" panose="02010609060101010101" pitchFamily="49" charset="-122"/>
            </a:endParaRPr>
          </a:p>
        </p:txBody>
      </p:sp>
      <p:graphicFrame>
        <p:nvGraphicFramePr>
          <p:cNvPr id="12" name="图表 11"/>
          <p:cNvGraphicFramePr/>
          <p:nvPr/>
        </p:nvGraphicFramePr>
        <p:xfrm>
          <a:off x="1524000" y="3433661"/>
          <a:ext cx="4427984" cy="2551832"/>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7"/>
          <p:cNvSpPr txBox="1"/>
          <p:nvPr/>
        </p:nvSpPr>
        <p:spPr>
          <a:xfrm>
            <a:off x="8688288" y="890185"/>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0" grpId="0"/>
      <p:bldGraphic spid="12" grpId="0">
        <p:bldAsOne/>
      </p:bldGraphic>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资产负债表总体分析</a:t>
            </a:r>
          </a:p>
        </p:txBody>
      </p:sp>
      <p:graphicFrame>
        <p:nvGraphicFramePr>
          <p:cNvPr id="8" name="图表 7"/>
          <p:cNvGraphicFramePr/>
          <p:nvPr/>
        </p:nvGraphicFramePr>
        <p:xfrm>
          <a:off x="1542607" y="1290875"/>
          <a:ext cx="4176464" cy="29523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图表 8"/>
          <p:cNvGraphicFramePr/>
          <p:nvPr/>
        </p:nvGraphicFramePr>
        <p:xfrm>
          <a:off x="5575055" y="1074851"/>
          <a:ext cx="2592288" cy="22322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图表 10"/>
          <p:cNvGraphicFramePr/>
          <p:nvPr/>
        </p:nvGraphicFramePr>
        <p:xfrm>
          <a:off x="7842799" y="1434891"/>
          <a:ext cx="2592288" cy="223224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图表 13"/>
          <p:cNvGraphicFramePr/>
          <p:nvPr/>
        </p:nvGraphicFramePr>
        <p:xfrm>
          <a:off x="5503047" y="4171195"/>
          <a:ext cx="2592288" cy="223224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5" name="图表 14"/>
          <p:cNvGraphicFramePr/>
          <p:nvPr/>
        </p:nvGraphicFramePr>
        <p:xfrm>
          <a:off x="7842799" y="4315211"/>
          <a:ext cx="2592288" cy="2232248"/>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 name="图表 15"/>
          <p:cNvGraphicFramePr/>
          <p:nvPr/>
        </p:nvGraphicFramePr>
        <p:xfrm>
          <a:off x="7861055" y="3667139"/>
          <a:ext cx="2592288" cy="223224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7" name="图表 16"/>
          <p:cNvGraphicFramePr/>
          <p:nvPr/>
        </p:nvGraphicFramePr>
        <p:xfrm>
          <a:off x="5719071" y="3667139"/>
          <a:ext cx="2592288" cy="2232248"/>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8" name="图表 17"/>
          <p:cNvGraphicFramePr/>
          <p:nvPr/>
        </p:nvGraphicFramePr>
        <p:xfrm>
          <a:off x="7842799" y="1074851"/>
          <a:ext cx="2592288" cy="2232248"/>
        </p:xfrm>
        <a:graphic>
          <a:graphicData uri="http://schemas.openxmlformats.org/drawingml/2006/chart">
            <c:chart xmlns:c="http://schemas.openxmlformats.org/drawingml/2006/chart" xmlns:r="http://schemas.openxmlformats.org/officeDocument/2006/relationships" r:id="rId10"/>
          </a:graphicData>
        </a:graphic>
      </p:graphicFrame>
      <p:sp>
        <p:nvSpPr>
          <p:cNvPr id="19" name="TextBox 11"/>
          <p:cNvSpPr txBox="1"/>
          <p:nvPr/>
        </p:nvSpPr>
        <p:spPr>
          <a:xfrm>
            <a:off x="1591281" y="4145497"/>
            <a:ext cx="4360218" cy="1923604"/>
          </a:xfrm>
          <a:prstGeom prst="rect">
            <a:avLst/>
          </a:prstGeom>
          <a:noFill/>
        </p:spPr>
        <p:txBody>
          <a:bodyPr wrap="square" rtlCol="0">
            <a:spAutoFit/>
          </a:bodyPr>
          <a:lstStyle/>
          <a:p>
            <a:pPr>
              <a:lnSpc>
                <a:spcPct val="150000"/>
              </a:lnSpc>
            </a:pPr>
            <a:r>
              <a:rPr lang="zh-CN" altLang="en-US" sz="1400" b="1" dirty="0">
                <a:latin typeface="黑体" panose="02010609060101010101" pitchFamily="49" charset="-122"/>
                <a:ea typeface="黑体" panose="02010609060101010101" pitchFamily="49" charset="-122"/>
              </a:rPr>
              <a:t>综上所述，公司在</a:t>
            </a:r>
            <a:r>
              <a:rPr lang="en-US" altLang="zh-CN" sz="1400" b="1" dirty="0">
                <a:latin typeface="黑体" panose="02010609060101010101" pitchFamily="49" charset="-122"/>
                <a:ea typeface="黑体" panose="02010609060101010101" pitchFamily="49" charset="-122"/>
              </a:rPr>
              <a:t>2014-2017</a:t>
            </a:r>
            <a:r>
              <a:rPr lang="zh-CN" altLang="en-US" sz="1400" b="1" dirty="0">
                <a:latin typeface="黑体" panose="02010609060101010101" pitchFamily="49" charset="-122"/>
                <a:ea typeface="黑体" panose="02010609060101010101" pitchFamily="49" charset="-122"/>
              </a:rPr>
              <a:t>年上无论是资产规模、负债规模还是所有者权益规模都是逐年增加的，这说明该企业的资金实力是较强的。但应收账款、应付账款的大比例占据，说明我司存在不良资金流动性隐患，也存在偿账压力和偿账风险！</a:t>
            </a:r>
            <a:endParaRPr lang="zh-CN" altLang="en-US" sz="1400" b="1" dirty="0">
              <a:solidFill>
                <a:srgbClr val="FF0000"/>
              </a:solidFill>
              <a:latin typeface="黑体" panose="02010609060101010101" pitchFamily="49" charset="-122"/>
              <a:ea typeface="黑体" panose="02010609060101010101" pitchFamily="49" charset="-122"/>
            </a:endParaRPr>
          </a:p>
          <a:p>
            <a:endParaRPr lang="zh-CN" altLang="en-US" sz="1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heel(1)">
                                      <p:cBhvr>
                                        <p:cTn id="19" dur="20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heel(1)">
                                      <p:cBhvr>
                                        <p:cTn id="24" dur="20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heel(1)">
                                      <p:cBhvr>
                                        <p:cTn id="29" dur="20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heel(1)">
                                      <p:cBhvr>
                                        <p:cTn id="34"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Graphic spid="8" grpId="0">
        <p:bldAsOne/>
      </p:bldGraphic>
      <p:bldGraphic spid="9" grpId="0">
        <p:bldAsOne/>
      </p:bldGraphic>
      <p:bldGraphic spid="16" grpId="0">
        <p:bldAsOne/>
      </p:bldGraphic>
      <p:bldGraphic spid="17" grpId="0">
        <p:bldAsOne/>
      </p:bldGraphic>
      <p:bldGraphic spid="18"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资产负债表财务指标</a:t>
            </a:r>
          </a:p>
        </p:txBody>
      </p:sp>
      <p:graphicFrame>
        <p:nvGraphicFramePr>
          <p:cNvPr id="14" name="图表 13"/>
          <p:cNvGraphicFramePr/>
          <p:nvPr/>
        </p:nvGraphicFramePr>
        <p:xfrm>
          <a:off x="5503047" y="4171195"/>
          <a:ext cx="2592288" cy="223224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图表 14"/>
          <p:cNvGraphicFramePr/>
          <p:nvPr/>
        </p:nvGraphicFramePr>
        <p:xfrm>
          <a:off x="7842799" y="4315211"/>
          <a:ext cx="2592288" cy="22322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表格 11"/>
          <p:cNvGraphicFramePr>
            <a:graphicFrameLocks noGrp="1"/>
          </p:cNvGraphicFramePr>
          <p:nvPr/>
        </p:nvGraphicFramePr>
        <p:xfrm>
          <a:off x="1792773" y="1338653"/>
          <a:ext cx="8352928" cy="3662680"/>
        </p:xfrm>
        <a:graphic>
          <a:graphicData uri="http://schemas.openxmlformats.org/drawingml/2006/table">
            <a:tbl>
              <a:tblPr firstRow="1" bandRow="1">
                <a:tableStyleId>{EB344D84-9AFB-497E-A393-DC336BA19D2E}</a:tableStyleId>
              </a:tblPr>
              <a:tblGrid>
                <a:gridCol w="1512168"/>
                <a:gridCol w="1008112"/>
                <a:gridCol w="974939"/>
                <a:gridCol w="990613"/>
                <a:gridCol w="1082787"/>
                <a:gridCol w="1005445"/>
                <a:gridCol w="1778864"/>
              </a:tblGrid>
              <a:tr h="370840">
                <a:tc>
                  <a:txBody>
                    <a:bodyPr/>
                    <a:lstStyle/>
                    <a:p>
                      <a:pPr algn="ctr"/>
                      <a:r>
                        <a:rPr lang="zh-CN" altLang="en-US" sz="1800" b="1" kern="1200" baseline="0" dirty="0">
                          <a:solidFill>
                            <a:schemeClr val="lt1"/>
                          </a:solidFill>
                          <a:latin typeface="+mn-lt"/>
                          <a:ea typeface="+mn-ea"/>
                          <a:cs typeface="+mn-cs"/>
                        </a:rPr>
                        <a:t>项目 	</a:t>
                      </a:r>
                    </a:p>
                  </a:txBody>
                  <a:tcPr>
                    <a:solidFill>
                      <a:schemeClr val="bg2">
                        <a:lumMod val="75000"/>
                      </a:schemeClr>
                    </a:solidFill>
                  </a:tcPr>
                </a:tc>
                <a:tc>
                  <a:txBody>
                    <a:bodyPr/>
                    <a:lstStyle/>
                    <a:p>
                      <a:pPr algn="ctr"/>
                      <a:r>
                        <a:rPr lang="en-US" altLang="zh-CN" b="1" dirty="0"/>
                        <a:t>2014</a:t>
                      </a:r>
                      <a:r>
                        <a:rPr lang="zh-CN" altLang="en-US" b="1" dirty="0"/>
                        <a:t>年</a:t>
                      </a:r>
                    </a:p>
                  </a:txBody>
                  <a:tcPr>
                    <a:solidFill>
                      <a:schemeClr val="bg2">
                        <a:lumMod val="75000"/>
                      </a:schemeClr>
                    </a:solidFill>
                  </a:tcPr>
                </a:tc>
                <a:tc>
                  <a:txBody>
                    <a:bodyPr/>
                    <a:lstStyle/>
                    <a:p>
                      <a:pPr algn="ctr"/>
                      <a:r>
                        <a:rPr lang="en-US" altLang="zh-CN" b="1" dirty="0"/>
                        <a:t>2015</a:t>
                      </a:r>
                      <a:r>
                        <a:rPr lang="zh-CN" altLang="en-US" b="1" dirty="0"/>
                        <a:t>年</a:t>
                      </a:r>
                    </a:p>
                  </a:txBody>
                  <a:tcPr>
                    <a:solidFill>
                      <a:schemeClr val="bg2">
                        <a:lumMod val="75000"/>
                      </a:schemeClr>
                    </a:solidFill>
                  </a:tcPr>
                </a:tc>
                <a:tc>
                  <a:txBody>
                    <a:bodyPr/>
                    <a:lstStyle/>
                    <a:p>
                      <a:pPr algn="ctr"/>
                      <a:r>
                        <a:rPr lang="en-US" altLang="zh-CN" b="1" dirty="0"/>
                        <a:t>2016</a:t>
                      </a:r>
                      <a:r>
                        <a:rPr lang="zh-CN" altLang="en-US" b="1" dirty="0"/>
                        <a:t>年</a:t>
                      </a:r>
                    </a:p>
                  </a:txBody>
                  <a:tcPr>
                    <a:solidFill>
                      <a:schemeClr val="bg2">
                        <a:lumMod val="75000"/>
                      </a:schemeClr>
                    </a:solidFill>
                  </a:tcPr>
                </a:tc>
                <a:tc>
                  <a:txBody>
                    <a:bodyPr/>
                    <a:lstStyle/>
                    <a:p>
                      <a:pPr algn="ctr"/>
                      <a:r>
                        <a:rPr lang="en-US" altLang="zh-CN" b="1" dirty="0"/>
                        <a:t>2017</a:t>
                      </a:r>
                      <a:r>
                        <a:rPr lang="zh-CN" altLang="en-US" b="1" dirty="0"/>
                        <a:t>年</a:t>
                      </a:r>
                    </a:p>
                  </a:txBody>
                  <a:tcPr>
                    <a:solidFill>
                      <a:schemeClr val="bg2">
                        <a:lumMod val="75000"/>
                      </a:schemeClr>
                    </a:solidFill>
                  </a:tcPr>
                </a:tc>
                <a:tc>
                  <a:txBody>
                    <a:bodyPr/>
                    <a:lstStyle/>
                    <a:p>
                      <a:pPr algn="ctr"/>
                      <a:r>
                        <a:rPr lang="zh-CN" altLang="en-US" b="1" dirty="0"/>
                        <a:t>平均值</a:t>
                      </a:r>
                    </a:p>
                  </a:txBody>
                  <a:tcPr>
                    <a:solidFill>
                      <a:schemeClr val="bg2">
                        <a:lumMod val="75000"/>
                      </a:schemeClr>
                    </a:solidFill>
                  </a:tcPr>
                </a:tc>
                <a:tc>
                  <a:txBody>
                    <a:bodyPr/>
                    <a:lstStyle/>
                    <a:p>
                      <a:pPr algn="ctr"/>
                      <a:r>
                        <a:rPr lang="zh-CN" altLang="en-US" b="1" dirty="0"/>
                        <a:t>公式</a:t>
                      </a:r>
                    </a:p>
                  </a:txBody>
                  <a:tcPr>
                    <a:solidFill>
                      <a:schemeClr val="bg2">
                        <a:lumMod val="75000"/>
                      </a:schemeClr>
                    </a:solidFill>
                  </a:tcPr>
                </a:tc>
              </a:tr>
              <a:tr h="370840">
                <a:tc>
                  <a:txBody>
                    <a:bodyPr/>
                    <a:lstStyle/>
                    <a:p>
                      <a:r>
                        <a:rPr lang="zh-CN" altLang="en-US" sz="1400" b="1" dirty="0"/>
                        <a:t>资产收益率</a:t>
                      </a:r>
                    </a:p>
                  </a:txBody>
                  <a:tcP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r>
                        <a:rPr lang="zh-CN" altLang="en-US" sz="1200" kern="1200" dirty="0">
                          <a:solidFill>
                            <a:schemeClr val="dk1"/>
                          </a:solidFill>
                          <a:latin typeface="+mn-lt"/>
                          <a:ea typeface="+mn-ea"/>
                          <a:cs typeface="+mn-cs"/>
                        </a:rPr>
                        <a:t>资产收益率</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净利润</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平均资产总额*</a:t>
                      </a:r>
                      <a:r>
                        <a:rPr lang="en-US" altLang="zh-CN" sz="1200" kern="1200" dirty="0">
                          <a:solidFill>
                            <a:schemeClr val="dk1"/>
                          </a:solidFill>
                          <a:latin typeface="+mn-lt"/>
                          <a:ea typeface="+mn-ea"/>
                          <a:cs typeface="+mn-cs"/>
                        </a:rPr>
                        <a:t>100% </a:t>
                      </a:r>
                      <a:endParaRPr lang="zh-CN" altLang="en-US" sz="1200" dirty="0"/>
                    </a:p>
                  </a:txBody>
                  <a:tcPr>
                    <a:solidFill>
                      <a:schemeClr val="tx2">
                        <a:lumMod val="20000"/>
                        <a:lumOff val="80000"/>
                      </a:schemeClr>
                    </a:solidFill>
                  </a:tcPr>
                </a:tc>
              </a:tr>
              <a:tr h="370840">
                <a:tc>
                  <a:txBody>
                    <a:bodyPr/>
                    <a:lstStyle/>
                    <a:p>
                      <a:r>
                        <a:rPr lang="zh-CN" altLang="en-US" sz="1400" b="1" dirty="0"/>
                        <a:t>净资产收益率</a:t>
                      </a:r>
                    </a:p>
                  </a:txBody>
                  <a:tcP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tx2">
                        <a:lumMod val="20000"/>
                        <a:lumOff val="80000"/>
                      </a:schemeClr>
                    </a:solidFill>
                  </a:tcPr>
                </a:tc>
                <a:tc>
                  <a:txBody>
                    <a:bodyPr/>
                    <a:lstStyle/>
                    <a:p>
                      <a:r>
                        <a:rPr lang="zh-CN" altLang="en-US" sz="1200" dirty="0"/>
                        <a:t>净资产收益率</a:t>
                      </a:r>
                      <a:r>
                        <a:rPr lang="en-US" altLang="zh-CN" sz="1200" dirty="0"/>
                        <a:t>=</a:t>
                      </a:r>
                      <a:r>
                        <a:rPr lang="zh-CN" altLang="en-US" sz="1200" dirty="0"/>
                        <a:t>税后净利润</a:t>
                      </a:r>
                      <a:r>
                        <a:rPr lang="en-US" altLang="zh-CN" sz="1200" dirty="0"/>
                        <a:t>/</a:t>
                      </a:r>
                      <a:r>
                        <a:rPr lang="zh-CN" altLang="en-US" sz="1200" dirty="0"/>
                        <a:t>净资产 *</a:t>
                      </a:r>
                      <a:r>
                        <a:rPr lang="en-US" altLang="zh-CN" sz="1200" dirty="0"/>
                        <a:t>100%</a:t>
                      </a:r>
                      <a:endParaRPr lang="zh-CN" altLang="en-US" sz="1200" dirty="0"/>
                    </a:p>
                  </a:txBody>
                  <a:tcPr>
                    <a:solidFill>
                      <a:schemeClr val="tx2">
                        <a:lumMod val="20000"/>
                        <a:lumOff val="80000"/>
                      </a:schemeClr>
                    </a:solidFill>
                  </a:tcPr>
                </a:tc>
              </a:tr>
              <a:tr h="533752">
                <a:tc>
                  <a:txBody>
                    <a:bodyPr/>
                    <a:lstStyle/>
                    <a:p>
                      <a:r>
                        <a:rPr lang="zh-CN" altLang="en-US" sz="1400" b="1" dirty="0"/>
                        <a:t>总资产周转率</a:t>
                      </a:r>
                    </a:p>
                  </a:txBody>
                  <a:tcP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dk1"/>
                          </a:solidFill>
                          <a:latin typeface="+mn-lt"/>
                          <a:ea typeface="+mn-ea"/>
                          <a:cs typeface="+mn-cs"/>
                        </a:rPr>
                        <a:t>总资产周转率</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营业收入净额</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平均资产总额*</a:t>
                      </a:r>
                      <a:r>
                        <a:rPr lang="en-US" altLang="zh-CN" sz="1200" kern="1200" dirty="0">
                          <a:solidFill>
                            <a:schemeClr val="dk1"/>
                          </a:solidFill>
                          <a:latin typeface="+mn-lt"/>
                          <a:ea typeface="+mn-ea"/>
                          <a:cs typeface="+mn-cs"/>
                        </a:rPr>
                        <a:t>100% </a:t>
                      </a:r>
                      <a:endParaRPr lang="zh-CN" altLang="en-US" sz="1200" dirty="0"/>
                    </a:p>
                  </a:txBody>
                  <a:tcPr>
                    <a:solidFill>
                      <a:schemeClr val="accent2">
                        <a:lumMod val="20000"/>
                        <a:lumOff val="80000"/>
                      </a:schemeClr>
                    </a:solidFill>
                  </a:tcPr>
                </a:tc>
              </a:tr>
              <a:tr h="370840">
                <a:tc>
                  <a:txBody>
                    <a:bodyPr/>
                    <a:lstStyle/>
                    <a:p>
                      <a:r>
                        <a:rPr lang="zh-CN" altLang="en-US" sz="1400" b="1" dirty="0"/>
                        <a:t>应收账款周转率</a:t>
                      </a:r>
                    </a:p>
                  </a:txBody>
                  <a:tcP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r>
                        <a:rPr lang="zh-CN" altLang="en-US" sz="1200" dirty="0"/>
                        <a:t>应收账款周转率</a:t>
                      </a:r>
                      <a:r>
                        <a:rPr lang="en-US" altLang="zh-CN" sz="1200" dirty="0"/>
                        <a:t>=</a:t>
                      </a:r>
                      <a:r>
                        <a:rPr lang="zh-CN" altLang="en-US" sz="1200" dirty="0"/>
                        <a:t>销售收入</a:t>
                      </a:r>
                      <a:r>
                        <a:rPr lang="en-US" altLang="zh-CN" sz="1200" dirty="0"/>
                        <a:t>÷</a:t>
                      </a:r>
                      <a:r>
                        <a:rPr lang="zh-CN" altLang="en-US" sz="1200" dirty="0"/>
                        <a:t>平均应收账款</a:t>
                      </a:r>
                      <a:r>
                        <a:rPr lang="en-US" altLang="zh-CN" sz="1200" dirty="0"/>
                        <a:t>*100%</a:t>
                      </a:r>
                      <a:endParaRPr lang="zh-CN" altLang="en-US" sz="1200" dirty="0"/>
                    </a:p>
                  </a:txBody>
                  <a:tcPr>
                    <a:solidFill>
                      <a:schemeClr val="accent2">
                        <a:lumMod val="20000"/>
                        <a:lumOff val="80000"/>
                      </a:schemeClr>
                    </a:solidFill>
                  </a:tcPr>
                </a:tc>
              </a:tr>
              <a:tr h="370840">
                <a:tc>
                  <a:txBody>
                    <a:bodyPr/>
                    <a:lstStyle/>
                    <a:p>
                      <a:r>
                        <a:rPr lang="zh-CN" altLang="en-US" sz="1400" b="1" dirty="0"/>
                        <a:t>存货周转率</a:t>
                      </a:r>
                    </a:p>
                  </a:txBody>
                  <a:tcP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2">
                        <a:lumMod val="20000"/>
                        <a:lumOff val="80000"/>
                      </a:schemeClr>
                    </a:solidFill>
                  </a:tcPr>
                </a:tc>
                <a:tc>
                  <a:txBody>
                    <a:bodyPr/>
                    <a:lstStyle/>
                    <a:p>
                      <a:r>
                        <a:rPr lang="zh-CN" altLang="en-US" sz="1200" kern="1200" dirty="0">
                          <a:solidFill>
                            <a:schemeClr val="dk1"/>
                          </a:solidFill>
                          <a:latin typeface="+mn-lt"/>
                          <a:ea typeface="+mn-ea"/>
                          <a:cs typeface="+mn-cs"/>
                        </a:rPr>
                        <a:t>存货周转率（次）＝销售（营业）成本</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平均存货 </a:t>
                      </a:r>
                    </a:p>
                  </a:txBody>
                  <a:tcPr>
                    <a:solidFill>
                      <a:schemeClr val="accent2">
                        <a:lumMod val="20000"/>
                        <a:lumOff val="80000"/>
                      </a:schemeClr>
                    </a:solidFill>
                  </a:tcPr>
                </a:tc>
              </a:tr>
              <a:tr h="370840">
                <a:tc>
                  <a:txBody>
                    <a:bodyPr/>
                    <a:lstStyle/>
                    <a:p>
                      <a:r>
                        <a:rPr lang="zh-CN" altLang="en-US" sz="1400" b="1" dirty="0"/>
                        <a:t>资产负债率</a:t>
                      </a:r>
                    </a:p>
                  </a:txBody>
                  <a:tcPr>
                    <a:solidFill>
                      <a:schemeClr val="accent3">
                        <a:lumMod val="40000"/>
                        <a:lumOff val="6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a:solidFill>
                          <a:srgbClr val="000000"/>
                        </a:solidFill>
                        <a:latin typeface="宋体" panose="02010600030101010101" pitchFamily="2" charset="-122"/>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3">
                        <a:lumMod val="40000"/>
                        <a:lumOff val="60000"/>
                      </a:schemeClr>
                    </a:solidFill>
                  </a:tcP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9525" marR="9525" marT="9525" marB="0" anchor="ctr">
                    <a:solidFill>
                      <a:schemeClr val="accent3">
                        <a:lumMod val="40000"/>
                        <a:lumOff val="60000"/>
                      </a:schemeClr>
                    </a:solidFill>
                  </a:tcPr>
                </a:tc>
                <a:tc>
                  <a:txBody>
                    <a:bodyPr/>
                    <a:lstStyle/>
                    <a:p>
                      <a:r>
                        <a:rPr lang="zh-CN" altLang="en-US" sz="1200" kern="1200" dirty="0">
                          <a:solidFill>
                            <a:schemeClr val="dk1"/>
                          </a:solidFill>
                          <a:latin typeface="+mn-lt"/>
                          <a:ea typeface="+mn-ea"/>
                          <a:cs typeface="+mn-cs"/>
                        </a:rPr>
                        <a:t>资产负债率</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负债总额</a:t>
                      </a:r>
                      <a:r>
                        <a:rPr lang="en-US" altLang="zh-CN" sz="1200" kern="1200" dirty="0">
                          <a:solidFill>
                            <a:schemeClr val="dk1"/>
                          </a:solidFill>
                          <a:latin typeface="+mn-lt"/>
                          <a:ea typeface="+mn-ea"/>
                          <a:cs typeface="+mn-cs"/>
                        </a:rPr>
                        <a:t>/</a:t>
                      </a:r>
                      <a:r>
                        <a:rPr lang="zh-CN" altLang="en-US" sz="1200" kern="1200" dirty="0">
                          <a:solidFill>
                            <a:schemeClr val="dk1"/>
                          </a:solidFill>
                          <a:latin typeface="+mn-lt"/>
                          <a:ea typeface="+mn-ea"/>
                          <a:cs typeface="+mn-cs"/>
                        </a:rPr>
                        <a:t>资产总额</a:t>
                      </a:r>
                      <a:r>
                        <a:rPr lang="en-US" altLang="zh-CN" sz="1200" kern="1200" dirty="0">
                          <a:solidFill>
                            <a:schemeClr val="dk1"/>
                          </a:solidFill>
                          <a:latin typeface="+mn-lt"/>
                          <a:ea typeface="+mn-ea"/>
                          <a:cs typeface="+mn-cs"/>
                        </a:rPr>
                        <a:t>×100%</a:t>
                      </a:r>
                      <a:endParaRPr lang="zh-CN" altLang="en-US" sz="1200" kern="1200" dirty="0">
                        <a:solidFill>
                          <a:schemeClr val="dk1"/>
                        </a:solidFill>
                        <a:latin typeface="+mn-lt"/>
                        <a:ea typeface="+mn-ea"/>
                        <a:cs typeface="+mn-cs"/>
                      </a:endParaRPr>
                    </a:p>
                  </a:txBody>
                  <a:tcPr>
                    <a:solidFill>
                      <a:schemeClr val="accent3">
                        <a:lumMod val="40000"/>
                        <a:lumOff val="60000"/>
                      </a:schemeClr>
                    </a:solidFill>
                  </a:tcPr>
                </a:tc>
              </a:tr>
            </a:tbl>
          </a:graphicData>
        </a:graphic>
      </p:graphicFrame>
      <p:sp>
        <p:nvSpPr>
          <p:cNvPr id="13" name="TextBox 6"/>
          <p:cNvSpPr txBox="1"/>
          <p:nvPr/>
        </p:nvSpPr>
        <p:spPr>
          <a:xfrm>
            <a:off x="1696956" y="5181719"/>
            <a:ext cx="8738131" cy="858377"/>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分析：资产收益率和净资产收益率从</a:t>
            </a:r>
            <a:r>
              <a:rPr lang="en-US" altLang="zh-CN" dirty="0">
                <a:latin typeface="楷体" panose="02010609060101010101" pitchFamily="49" charset="-122"/>
                <a:ea typeface="楷体" panose="02010609060101010101" pitchFamily="49" charset="-122"/>
              </a:rPr>
              <a:t>2014</a:t>
            </a:r>
            <a:r>
              <a:rPr lang="zh-CN" altLang="en-US" dirty="0">
                <a:latin typeface="楷体" panose="02010609060101010101" pitchFamily="49" charset="-122"/>
                <a:ea typeface="楷体" panose="02010609060101010101" pitchFamily="49" charset="-122"/>
              </a:rPr>
              <a:t>年到</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年上半年处于的趋势；总资产周转率、应收账款周转率、存货周转率，资金和存货；资产负债率方面，稳定保持在左右。</a:t>
            </a:r>
          </a:p>
        </p:txBody>
      </p:sp>
      <p:sp>
        <p:nvSpPr>
          <p:cNvPr id="20" name="TextBox 7"/>
          <p:cNvSpPr txBox="1"/>
          <p:nvPr/>
        </p:nvSpPr>
        <p:spPr>
          <a:xfrm>
            <a:off x="9238561" y="1031070"/>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prism isInverted="1"/>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p:tgtEl>
                                          <p:spTgt spid="44"/>
                                        </p:tgtEl>
                                        <p:attrNameLst>
                                          <p:attrName>ppt_y</p:attrName>
                                        </p:attrNameLst>
                                      </p:cBhvr>
                                      <p:tavLst>
                                        <p:tav tm="0">
                                          <p:val>
                                            <p:strVal val="#ppt_y+#ppt_h*1.125000"/>
                                          </p:val>
                                        </p:tav>
                                        <p:tav tm="100000">
                                          <p:val>
                                            <p:strVal val="#ppt_y"/>
                                          </p:val>
                                        </p:tav>
                                      </p:tavLst>
                                    </p:anim>
                                    <p:animEffect transition="in" filter="wipe(up)">
                                      <p:cBhvr>
                                        <p:cTn id="8" dur="500"/>
                                        <p:tgtEl>
                                          <p:spTgt spid="4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13"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rot="2700000">
            <a:off x="2561399" y="2408490"/>
            <a:ext cx="2101576" cy="2208116"/>
            <a:chOff x="0" y="986971"/>
            <a:chExt cx="4615543" cy="4847774"/>
          </a:xfrm>
        </p:grpSpPr>
        <p:sp>
          <p:nvSpPr>
            <p:cNvPr id="3" name="矩形 2"/>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矩形 3"/>
            <p:cNvSpPr/>
            <p:nvPr/>
          </p:nvSpPr>
          <p:spPr>
            <a:xfrm>
              <a:off x="0" y="1320801"/>
              <a:ext cx="4180114" cy="4180114"/>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5" name="矩形 4"/>
          <p:cNvSpPr/>
          <p:nvPr/>
        </p:nvSpPr>
        <p:spPr>
          <a:xfrm>
            <a:off x="4993108" y="2437438"/>
            <a:ext cx="4912496" cy="1015663"/>
          </a:xfrm>
          <a:prstGeom prst="rect">
            <a:avLst/>
          </a:prstGeom>
        </p:spPr>
        <p:txBody>
          <a:bodyPr wrap="square">
            <a:spAutoFit/>
          </a:bodyPr>
          <a:lstStyle/>
          <a:p>
            <a:pPr algn="ctr">
              <a:buNone/>
            </a:pPr>
            <a:r>
              <a:rPr lang="zh-CN" altLang="en-US" sz="6000" dirty="0">
                <a:solidFill>
                  <a:schemeClr val="bg1">
                    <a:lumMod val="50000"/>
                  </a:schemeClr>
                </a:solidFill>
                <a:latin typeface="微软雅黑" panose="020B0503020204020204" charset="-122"/>
                <a:ea typeface="微软雅黑" panose="020B0503020204020204" charset="-122"/>
              </a:rPr>
              <a:t>资产利润表</a:t>
            </a:r>
          </a:p>
        </p:txBody>
      </p:sp>
      <p:sp>
        <p:nvSpPr>
          <p:cNvPr id="6" name="文本框 26"/>
          <p:cNvSpPr txBox="1"/>
          <p:nvPr/>
        </p:nvSpPr>
        <p:spPr>
          <a:xfrm>
            <a:off x="5568720" y="3373032"/>
            <a:ext cx="5135792" cy="879856"/>
          </a:xfrm>
          <a:prstGeom prst="rect">
            <a:avLst/>
          </a:prstGeom>
          <a:noFill/>
        </p:spPr>
        <p:txBody>
          <a:bodyPr wrap="square" rtlCol="0">
            <a:spAutoFit/>
          </a:bodyPr>
          <a:lstStyle/>
          <a:p>
            <a:pPr>
              <a:lnSpc>
                <a:spcPct val="150000"/>
              </a:lnSpc>
            </a:pPr>
            <a:r>
              <a:rPr lang="en-US" altLang="zh-CN" sz="1135" dirty="0">
                <a:solidFill>
                  <a:schemeClr val="tx1">
                    <a:lumMod val="65000"/>
                    <a:lumOff val="35000"/>
                  </a:schemeClr>
                </a:solidFill>
                <a:latin typeface="Arial" panose="020B0604020202020204" pitchFamily="34" charset="0"/>
                <a:cs typeface="Arial" panose="020B0604020202020204" pitchFamily="34" charset="0"/>
                <a:sym typeface="+mn-lt"/>
              </a:rPr>
              <a:t>CLICK ADD RELATED TITLE TEXT, AND CLICK ADD RELATED TITLE TEXT, CLICK ADD RELATED TITLE TEXT, CLICK ON ADD RELATED TITLE WORDS.</a:t>
            </a:r>
            <a:endParaRPr lang="zh-CN" altLang="en-US" sz="1135" dirty="0">
              <a:solidFill>
                <a:schemeClr val="tx1">
                  <a:lumMod val="65000"/>
                  <a:lumOff val="35000"/>
                </a:schemeClr>
              </a:solidFill>
              <a:latin typeface="Arial" panose="020B0604020202020204" pitchFamily="34" charset="0"/>
              <a:cs typeface="Arial" panose="020B0604020202020204" pitchFamily="34" charset="0"/>
              <a:sym typeface="+mn-lt"/>
            </a:endParaRPr>
          </a:p>
        </p:txBody>
      </p:sp>
      <p:sp>
        <p:nvSpPr>
          <p:cNvPr id="7" name="TextBox 20"/>
          <p:cNvSpPr txBox="1"/>
          <p:nvPr/>
        </p:nvSpPr>
        <p:spPr>
          <a:xfrm>
            <a:off x="3023659" y="2852937"/>
            <a:ext cx="1210588" cy="1200329"/>
          </a:xfrm>
          <a:prstGeom prst="rect">
            <a:avLst/>
          </a:prstGeom>
          <a:noFill/>
        </p:spPr>
        <p:txBody>
          <a:bodyPr wrap="none" rtlCol="0">
            <a:spAutoFit/>
          </a:bodyPr>
          <a:lstStyle/>
          <a:p>
            <a:r>
              <a:rPr lang="en-US" altLang="zh-CN" sz="7200" dirty="0">
                <a:solidFill>
                  <a:schemeClr val="bg1"/>
                </a:solidFill>
              </a:rPr>
              <a:t>02</a:t>
            </a:r>
            <a:endParaRPr lang="zh-CN" altLang="en-US" sz="7200" dirty="0">
              <a:solidFill>
                <a:schemeClr val="bg1"/>
              </a:solidFill>
            </a:endParaRPr>
          </a:p>
        </p:txBody>
      </p:sp>
      <p:pic>
        <p:nvPicPr>
          <p:cNvPr id="8" name="图片 7" descr="QQ图片20170823140614.png"/>
          <p:cNvPicPr>
            <a:picLocks noChangeAspect="1"/>
          </p:cNvPicPr>
          <p:nvPr/>
        </p:nvPicPr>
        <p:blipFill>
          <a:blip r:embed="rId3" cstate="print"/>
          <a:stretch>
            <a:fillRect/>
          </a:stretch>
        </p:blipFill>
        <p:spPr>
          <a:xfrm>
            <a:off x="4851389" y="4182634"/>
            <a:ext cx="6973899" cy="9096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Click="0" advTm="3000">
        <p14:warp dir="in"/>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250" fill="hold"/>
                                        <p:tgtEl>
                                          <p:spTgt spid="2"/>
                                        </p:tgtEl>
                                        <p:attrNameLst>
                                          <p:attrName>ppt_w</p:attrName>
                                        </p:attrNameLst>
                                      </p:cBhvr>
                                      <p:tavLst>
                                        <p:tav tm="0">
                                          <p:val>
                                            <p:fltVal val="0"/>
                                          </p:val>
                                        </p:tav>
                                        <p:tav tm="100000">
                                          <p:val>
                                            <p:strVal val="#ppt_w"/>
                                          </p:val>
                                        </p:tav>
                                      </p:tavLst>
                                    </p:anim>
                                    <p:anim calcmode="lin" valueType="num">
                                      <p:cBhvr>
                                        <p:cTn id="8" dur="1250" fill="hold"/>
                                        <p:tgtEl>
                                          <p:spTgt spid="2"/>
                                        </p:tgtEl>
                                        <p:attrNameLst>
                                          <p:attrName>ppt_h</p:attrName>
                                        </p:attrNameLst>
                                      </p:cBhvr>
                                      <p:tavLst>
                                        <p:tav tm="0">
                                          <p:val>
                                            <p:fltVal val="0"/>
                                          </p:val>
                                        </p:tav>
                                        <p:tav tm="100000">
                                          <p:val>
                                            <p:strVal val="#ppt_h"/>
                                          </p:val>
                                        </p:tav>
                                      </p:tavLst>
                                    </p:anim>
                                    <p:animEffect transition="in" filter="fade">
                                      <p:cBhvr>
                                        <p:cTn id="9" dur="125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4*#ppt_w"/>
                                          </p:val>
                                        </p:tav>
                                        <p:tav tm="100000">
                                          <p:val>
                                            <p:strVal val="#ppt_w"/>
                                          </p:val>
                                        </p:tav>
                                      </p:tavLst>
                                    </p:anim>
                                    <p:anim calcmode="lin" valueType="num">
                                      <p:cBhvr>
                                        <p:cTn id="22" dur="500" fill="hold"/>
                                        <p:tgtEl>
                                          <p:spTgt spid="5"/>
                                        </p:tgtEl>
                                        <p:attrNameLst>
                                          <p:attrName>ppt_h</p:attrName>
                                        </p:attrNameLst>
                                      </p:cBhvr>
                                      <p:tavLst>
                                        <p:tav tm="0">
                                          <p:val>
                                            <p:strVal val="4*#ppt_h"/>
                                          </p:val>
                                        </p:tav>
                                        <p:tav tm="100000">
                                          <p:val>
                                            <p:strVal val="#ppt_h"/>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利润表分析</a:t>
            </a:r>
          </a:p>
        </p:txBody>
      </p:sp>
      <p:graphicFrame>
        <p:nvGraphicFramePr>
          <p:cNvPr id="31" name="内容占位符 3"/>
          <p:cNvGraphicFramePr/>
          <p:nvPr/>
        </p:nvGraphicFramePr>
        <p:xfrm>
          <a:off x="1319842" y="1221794"/>
          <a:ext cx="9420045" cy="3068375"/>
        </p:xfrm>
        <a:graphic>
          <a:graphicData uri="http://schemas.openxmlformats.org/drawingml/2006/table">
            <a:tbl>
              <a:tblPr firstRow="1" bandRow="1">
                <a:tableStyleId>{6E25E649-3F16-4E02-A733-19D2CDBF48F0}</a:tableStyleId>
              </a:tblPr>
              <a:tblGrid>
                <a:gridCol w="1884009"/>
                <a:gridCol w="1884009"/>
                <a:gridCol w="1884009"/>
                <a:gridCol w="1884009"/>
                <a:gridCol w="1884009"/>
              </a:tblGrid>
              <a:tr h="278137">
                <a:tc>
                  <a:txBody>
                    <a:bodyPr/>
                    <a:lstStyle/>
                    <a:p>
                      <a:pPr algn="ctr"/>
                      <a:r>
                        <a:rPr lang="zh-CN" altLang="en-US" sz="1100" dirty="0">
                          <a:latin typeface="黑体" panose="02010609060101010101" pitchFamily="49" charset="-122"/>
                          <a:ea typeface="黑体" panose="02010609060101010101" pitchFamily="49" charset="-122"/>
                        </a:rPr>
                        <a:t>明细</a:t>
                      </a:r>
                    </a:p>
                  </a:txBody>
                  <a:tcPr/>
                </a:tc>
                <a:tc>
                  <a:txBody>
                    <a:bodyPr/>
                    <a:lstStyle/>
                    <a:p>
                      <a:pPr algn="ctr"/>
                      <a:r>
                        <a:rPr lang="en-US" altLang="zh-CN" sz="1100" dirty="0">
                          <a:latin typeface="黑体" panose="02010609060101010101" pitchFamily="49" charset="-122"/>
                          <a:ea typeface="黑体" panose="02010609060101010101" pitchFamily="49" charset="-122"/>
                        </a:rPr>
                        <a:t>2014</a:t>
                      </a:r>
                      <a:r>
                        <a:rPr lang="zh-CN" altLang="en-US" sz="1100" dirty="0">
                          <a:latin typeface="黑体" panose="02010609060101010101" pitchFamily="49" charset="-122"/>
                          <a:ea typeface="黑体" panose="02010609060101010101" pitchFamily="49" charset="-122"/>
                        </a:rPr>
                        <a:t>年</a:t>
                      </a:r>
                    </a:p>
                  </a:txBody>
                  <a:tcPr/>
                </a:tc>
                <a:tc>
                  <a:txBody>
                    <a:bodyPr/>
                    <a:lstStyle/>
                    <a:p>
                      <a:pPr algn="ctr"/>
                      <a:r>
                        <a:rPr lang="en-US" altLang="zh-CN" sz="1100" dirty="0">
                          <a:latin typeface="黑体" panose="02010609060101010101" pitchFamily="49" charset="-122"/>
                          <a:ea typeface="黑体" panose="02010609060101010101" pitchFamily="49" charset="-122"/>
                        </a:rPr>
                        <a:t>2015</a:t>
                      </a:r>
                      <a:r>
                        <a:rPr lang="zh-CN" altLang="en-US" sz="1100" dirty="0">
                          <a:latin typeface="黑体" panose="02010609060101010101" pitchFamily="49" charset="-122"/>
                          <a:ea typeface="黑体" panose="02010609060101010101" pitchFamily="49" charset="-122"/>
                        </a:rPr>
                        <a:t>年</a:t>
                      </a:r>
                    </a:p>
                  </a:txBody>
                  <a:tcPr/>
                </a:tc>
                <a:tc>
                  <a:txBody>
                    <a:bodyPr/>
                    <a:lstStyle/>
                    <a:p>
                      <a:pPr algn="ctr"/>
                      <a:r>
                        <a:rPr lang="en-US" altLang="zh-CN" sz="1100" dirty="0">
                          <a:latin typeface="黑体" panose="02010609060101010101" pitchFamily="49" charset="-122"/>
                          <a:ea typeface="黑体" panose="02010609060101010101" pitchFamily="49" charset="-122"/>
                        </a:rPr>
                        <a:t>2016</a:t>
                      </a:r>
                      <a:r>
                        <a:rPr lang="zh-CN" altLang="en-US" sz="1100" dirty="0">
                          <a:latin typeface="黑体" panose="02010609060101010101" pitchFamily="49" charset="-122"/>
                          <a:ea typeface="黑体" panose="02010609060101010101" pitchFamily="49" charset="-122"/>
                        </a:rPr>
                        <a:t>年</a:t>
                      </a:r>
                    </a:p>
                  </a:txBody>
                  <a:tcPr/>
                </a:tc>
                <a:tc>
                  <a:txBody>
                    <a:bodyPr/>
                    <a:lstStyle/>
                    <a:p>
                      <a:pPr algn="ctr"/>
                      <a:r>
                        <a:rPr lang="en-US" altLang="zh-CN" sz="1100" dirty="0">
                          <a:latin typeface="黑体" panose="02010609060101010101" pitchFamily="49" charset="-122"/>
                          <a:ea typeface="黑体" panose="02010609060101010101" pitchFamily="49" charset="-122"/>
                        </a:rPr>
                        <a:t>2017</a:t>
                      </a:r>
                      <a:r>
                        <a:rPr lang="zh-CN" altLang="en-US" sz="1100" dirty="0">
                          <a:latin typeface="黑体" panose="02010609060101010101" pitchFamily="49" charset="-122"/>
                          <a:ea typeface="黑体" panose="02010609060101010101" pitchFamily="49" charset="-122"/>
                        </a:rPr>
                        <a:t>年</a:t>
                      </a:r>
                    </a:p>
                  </a:txBody>
                  <a:tcPr/>
                </a:tc>
              </a:tr>
              <a:tr h="386552">
                <a:tc>
                  <a:txBody>
                    <a:bodyPr/>
                    <a:lstStyle/>
                    <a:p>
                      <a:pPr algn="ctr"/>
                      <a:r>
                        <a:rPr lang="zh-CN" altLang="en-US" sz="1200" b="1" dirty="0">
                          <a:latin typeface="黑体" panose="02010609060101010101" pitchFamily="49" charset="-122"/>
                          <a:ea typeface="黑体" panose="02010609060101010101" pitchFamily="49" charset="-122"/>
                        </a:rPr>
                        <a:t>营业收入</a:t>
                      </a:r>
                    </a:p>
                  </a:txBody>
                  <a:tcPr/>
                </a:tc>
                <a:tc>
                  <a:txBody>
                    <a:bodyPr/>
                    <a:lstStyle/>
                    <a:p>
                      <a:endParaRPr lang="zh-CN" altLang="en-US" sz="2400" dirty="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r>
              <a:tr h="386552">
                <a:tc>
                  <a:txBody>
                    <a:bodyPr/>
                    <a:lstStyle/>
                    <a:p>
                      <a:pPr algn="ctr"/>
                      <a:r>
                        <a:rPr lang="zh-CN" altLang="en-US" sz="1200" b="1" dirty="0">
                          <a:latin typeface="黑体" panose="02010609060101010101" pitchFamily="49" charset="-122"/>
                          <a:ea typeface="黑体" panose="02010609060101010101" pitchFamily="49" charset="-122"/>
                        </a:rPr>
                        <a:t>成本</a:t>
                      </a:r>
                    </a:p>
                  </a:txBody>
                  <a:tcP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r>
              <a:tr h="386552">
                <a:tc>
                  <a:txBody>
                    <a:bodyPr/>
                    <a:lstStyle/>
                    <a:p>
                      <a:pPr algn="ctr"/>
                      <a:r>
                        <a:rPr lang="zh-CN" altLang="en-US" sz="1200" b="1" dirty="0">
                          <a:latin typeface="黑体" panose="02010609060101010101" pitchFamily="49" charset="-122"/>
                          <a:ea typeface="黑体" panose="02010609060101010101" pitchFamily="49" charset="-122"/>
                        </a:rPr>
                        <a:t>毛利</a:t>
                      </a:r>
                    </a:p>
                  </a:txBody>
                  <a:tcP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r>
              <a:tr h="470926">
                <a:tc>
                  <a:txBody>
                    <a:bodyPr/>
                    <a:lstStyle/>
                    <a:p>
                      <a:pPr algn="ctr"/>
                      <a:r>
                        <a:rPr lang="zh-CN" altLang="en-US" sz="1200" b="1" dirty="0">
                          <a:latin typeface="黑体" panose="02010609060101010101" pitchFamily="49" charset="-122"/>
                          <a:ea typeface="黑体" panose="02010609060101010101" pitchFamily="49" charset="-122"/>
                        </a:rPr>
                        <a:t>毛利率（</a:t>
                      </a:r>
                      <a:r>
                        <a:rPr lang="en-US" altLang="zh-CN" sz="1200" b="1" dirty="0">
                          <a:latin typeface="黑体" panose="02010609060101010101" pitchFamily="49" charset="-122"/>
                          <a:ea typeface="黑体" panose="02010609060101010101" pitchFamily="49" charset="-122"/>
                        </a:rPr>
                        <a:t>%</a:t>
                      </a:r>
                      <a:r>
                        <a:rPr lang="zh-CN" altLang="en-US" sz="1200" b="1" dirty="0">
                          <a:latin typeface="黑体" panose="02010609060101010101" pitchFamily="49" charset="-122"/>
                          <a:ea typeface="黑体" panose="02010609060101010101" pitchFamily="49" charset="-122"/>
                        </a:rPr>
                        <a:t>）</a:t>
                      </a:r>
                    </a:p>
                  </a:txBody>
                  <a:tcPr/>
                </a:tc>
                <a:tc>
                  <a:txBody>
                    <a:bodyPr/>
                    <a:lstStyle/>
                    <a:p>
                      <a:endParaRPr lang="zh-CN" altLang="en-US" sz="2400">
                        <a:latin typeface="黑体" panose="02010609060101010101" pitchFamily="49" charset="-122"/>
                        <a:ea typeface="黑体" panose="02010609060101010101" pitchFamily="49" charset="-122"/>
                      </a:endParaRPr>
                    </a:p>
                  </a:txBody>
                  <a:tcPr/>
                </a:tc>
                <a:tc>
                  <a:txBody>
                    <a:bodyPr/>
                    <a:lstStyle/>
                    <a:p>
                      <a:endParaRPr lang="zh-CN" altLang="en-US" sz="2400">
                        <a:latin typeface="黑体" panose="02010609060101010101" pitchFamily="49" charset="-122"/>
                        <a:ea typeface="黑体" panose="02010609060101010101" pitchFamily="49" charset="-122"/>
                      </a:endParaRPr>
                    </a:p>
                  </a:txBody>
                  <a:tcPr/>
                </a:tc>
                <a:tc>
                  <a:txBody>
                    <a:bodyPr/>
                    <a:lstStyle/>
                    <a:p>
                      <a:endParaRPr lang="zh-CN" altLang="en-US" sz="2400">
                        <a:latin typeface="黑体" panose="02010609060101010101" pitchFamily="49" charset="-122"/>
                        <a:ea typeface="黑体" panose="02010609060101010101" pitchFamily="49" charset="-122"/>
                      </a:endParaRPr>
                    </a:p>
                  </a:txBody>
                  <a:tcPr/>
                </a:tc>
                <a:tc>
                  <a:txBody>
                    <a:bodyPr/>
                    <a:lstStyle/>
                    <a:p>
                      <a:endParaRPr lang="zh-CN" altLang="en-US" sz="2400" dirty="0">
                        <a:latin typeface="黑体" panose="02010609060101010101" pitchFamily="49" charset="-122"/>
                        <a:ea typeface="黑体" panose="02010609060101010101" pitchFamily="49" charset="-122"/>
                      </a:endParaRPr>
                    </a:p>
                  </a:txBody>
                  <a:tcPr/>
                </a:tc>
              </a:tr>
              <a:tr h="386552">
                <a:tc>
                  <a:txBody>
                    <a:bodyPr/>
                    <a:lstStyle/>
                    <a:p>
                      <a:pPr algn="ctr"/>
                      <a:r>
                        <a:rPr lang="zh-CN" altLang="en-US" sz="1200" b="1" dirty="0">
                          <a:latin typeface="黑体" panose="02010609060101010101" pitchFamily="49" charset="-122"/>
                          <a:ea typeface="黑体" panose="02010609060101010101" pitchFamily="49" charset="-122"/>
                        </a:rPr>
                        <a:t>利润总额</a:t>
                      </a:r>
                    </a:p>
                  </a:txBody>
                  <a:tcP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r>
              <a:tr h="386552">
                <a:tc>
                  <a:txBody>
                    <a:bodyPr/>
                    <a:lstStyle/>
                    <a:p>
                      <a:pPr algn="ctr"/>
                      <a:r>
                        <a:rPr lang="zh-CN" altLang="en-US" sz="1200" b="1" dirty="0">
                          <a:latin typeface="黑体" panose="02010609060101010101" pitchFamily="49" charset="-122"/>
                          <a:ea typeface="黑体" panose="02010609060101010101" pitchFamily="49" charset="-122"/>
                        </a:rPr>
                        <a:t>净利润</a:t>
                      </a:r>
                    </a:p>
                  </a:txBody>
                  <a:tcP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r>
              <a:tr h="386552">
                <a:tc>
                  <a:txBody>
                    <a:bodyPr/>
                    <a:lstStyle/>
                    <a:p>
                      <a:pPr algn="ctr"/>
                      <a:r>
                        <a:rPr lang="zh-CN" altLang="en-US" sz="1200" b="1" dirty="0">
                          <a:latin typeface="黑体" panose="02010609060101010101" pitchFamily="49" charset="-122"/>
                          <a:ea typeface="黑体" panose="02010609060101010101" pitchFamily="49" charset="-122"/>
                        </a:rPr>
                        <a:t>净利率（</a:t>
                      </a:r>
                      <a:r>
                        <a:rPr lang="en-US" altLang="zh-CN" sz="1200" b="1" dirty="0">
                          <a:latin typeface="黑体" panose="02010609060101010101" pitchFamily="49" charset="-122"/>
                          <a:ea typeface="黑体" panose="02010609060101010101" pitchFamily="49" charset="-122"/>
                        </a:rPr>
                        <a:t>%</a:t>
                      </a:r>
                      <a:r>
                        <a:rPr lang="zh-CN" altLang="en-US" sz="1200" b="1" dirty="0">
                          <a:latin typeface="黑体" panose="02010609060101010101" pitchFamily="49" charset="-122"/>
                          <a:ea typeface="黑体" panose="02010609060101010101" pitchFamily="49" charset="-122"/>
                        </a:rPr>
                        <a:t>）</a:t>
                      </a:r>
                    </a:p>
                  </a:txBody>
                  <a:tcP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a:latin typeface="黑体" panose="02010609060101010101" pitchFamily="49" charset="-122"/>
                        <a:ea typeface="黑体" panose="02010609060101010101" pitchFamily="49" charset="-122"/>
                      </a:endParaRPr>
                    </a:p>
                  </a:txBody>
                  <a:tcPr marL="9525" marR="9525" marT="9525" marB="0" anchor="ctr"/>
                </a:tc>
                <a:tc>
                  <a:txBody>
                    <a:bodyPr/>
                    <a:lstStyle/>
                    <a:p>
                      <a:endParaRPr lang="zh-CN" altLang="en-US" sz="2400" dirty="0">
                        <a:latin typeface="黑体" panose="02010609060101010101" pitchFamily="49" charset="-122"/>
                        <a:ea typeface="黑体" panose="02010609060101010101" pitchFamily="49" charset="-122"/>
                      </a:endParaRPr>
                    </a:p>
                  </a:txBody>
                  <a:tcPr marL="9525" marR="9525" marT="9525" marB="0" anchor="ctr"/>
                </a:tc>
              </a:tr>
            </a:tbl>
          </a:graphicData>
        </a:graphic>
      </p:graphicFrame>
      <p:graphicFrame>
        <p:nvGraphicFramePr>
          <p:cNvPr id="32" name="图表 31"/>
          <p:cNvGraphicFramePr/>
          <p:nvPr/>
        </p:nvGraphicFramePr>
        <p:xfrm>
          <a:off x="1319842" y="4266436"/>
          <a:ext cx="4896544" cy="2736304"/>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Box 9"/>
          <p:cNvSpPr txBox="1"/>
          <p:nvPr/>
        </p:nvSpPr>
        <p:spPr>
          <a:xfrm>
            <a:off x="9372364" y="846077"/>
            <a:ext cx="1224136" cy="307777"/>
          </a:xfrm>
          <a:prstGeom prst="rect">
            <a:avLst/>
          </a:prstGeom>
          <a:noFill/>
        </p:spPr>
        <p:txBody>
          <a:bodyPr wrap="square" rtlCol="0">
            <a:spAutoFit/>
          </a:bodyPr>
          <a:lstStyle/>
          <a:p>
            <a:r>
              <a:rPr lang="zh-CN" altLang="en-US" sz="1400" b="1" dirty="0">
                <a:latin typeface="楷体" panose="02010609060101010101" pitchFamily="49" charset="-122"/>
                <a:ea typeface="楷体" panose="02010609060101010101" pitchFamily="49" charset="-122"/>
              </a:rPr>
              <a:t>单位：万元</a:t>
            </a:r>
          </a:p>
        </p:txBody>
      </p:sp>
      <p:sp>
        <p:nvSpPr>
          <p:cNvPr id="34" name="TextBox 10"/>
          <p:cNvSpPr txBox="1"/>
          <p:nvPr/>
        </p:nvSpPr>
        <p:spPr>
          <a:xfrm>
            <a:off x="6728604" y="4423042"/>
            <a:ext cx="4270076" cy="2446824"/>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分析：</a:t>
            </a:r>
            <a:endParaRPr lang="en-US" altLang="zh-CN" b="1" dirty="0">
              <a:latin typeface="黑体" panose="02010609060101010101" pitchFamily="49" charset="-122"/>
              <a:ea typeface="黑体" panose="02010609060101010101" pitchFamily="49" charset="-122"/>
            </a:endParaRPr>
          </a:p>
          <a:p>
            <a:pPr>
              <a:lnSpc>
                <a:spcPct val="150000"/>
              </a:lnSpc>
            </a:pPr>
            <a:r>
              <a:rPr lang="en-US" altLang="zh-CN" b="1" dirty="0">
                <a:latin typeface="黑体" panose="02010609060101010101" pitchFamily="49" charset="-122"/>
                <a:ea typeface="黑体" panose="02010609060101010101" pitchFamily="49" charset="-122"/>
              </a:rPr>
              <a:t>1.</a:t>
            </a:r>
            <a:r>
              <a:rPr lang="en-US" altLang="zh-CN" dirty="0">
                <a:latin typeface="黑体" panose="02010609060101010101" pitchFamily="49" charset="-122"/>
                <a:ea typeface="黑体" panose="02010609060101010101" pitchFamily="49" charset="-122"/>
              </a:rPr>
              <a:t>2014-2017</a:t>
            </a:r>
            <a:r>
              <a:rPr lang="zh-CN" altLang="en-US" dirty="0">
                <a:latin typeface="黑体" panose="02010609060101010101" pitchFamily="49" charset="-122"/>
                <a:ea typeface="黑体" panose="02010609060101010101" pitchFamily="49" charset="-122"/>
              </a:rPr>
              <a:t>年上的营收处于上升趋势，毛利率平均处于左右，净利率平均为；</a:t>
            </a:r>
            <a:endParaRPr lang="en-US" altLang="zh-CN" dirty="0">
              <a:latin typeface="黑体" panose="02010609060101010101" pitchFamily="49" charset="-122"/>
              <a:ea typeface="黑体" panose="02010609060101010101" pitchFamily="49" charset="-122"/>
            </a:endParaRPr>
          </a:p>
          <a:p>
            <a:pPr>
              <a:lnSpc>
                <a:spcPct val="150000"/>
              </a:lnSpc>
            </a:pPr>
            <a:r>
              <a:rPr lang="en-US" altLang="zh-CN" dirty="0">
                <a:latin typeface="黑体" panose="02010609060101010101" pitchFamily="49" charset="-122"/>
                <a:ea typeface="黑体" panose="02010609060101010101" pitchFamily="49" charset="-122"/>
              </a:rPr>
              <a:t>2.2017</a:t>
            </a:r>
            <a:r>
              <a:rPr lang="zh-CN" altLang="en-US" dirty="0">
                <a:latin typeface="黑体" panose="02010609060101010101" pitchFamily="49" charset="-122"/>
                <a:ea typeface="黑体" panose="02010609060101010101" pitchFamily="49" charset="-122"/>
              </a:rPr>
              <a:t>年的营收任务至少达到，目前半年的收入完成约</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下半年需争取完成的营收任务，任重道远。</a:t>
            </a:r>
          </a:p>
        </p:txBody>
      </p:sp>
    </p:spTree>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p:tgtEl>
                                          <p:spTgt spid="30"/>
                                        </p:tgtEl>
                                        <p:attrNameLst>
                                          <p:attrName>ppt_y</p:attrName>
                                        </p:attrNameLst>
                                      </p:cBhvr>
                                      <p:tavLst>
                                        <p:tav tm="0">
                                          <p:val>
                                            <p:strVal val="#ppt_y+#ppt_h*1.125000"/>
                                          </p:val>
                                        </p:tav>
                                        <p:tav tm="100000">
                                          <p:val>
                                            <p:strVal val="#ppt_y"/>
                                          </p:val>
                                        </p:tav>
                                      </p:tavLst>
                                    </p:anim>
                                    <p:animEffect transition="in" filter="wipe(up)">
                                      <p:cBhvr>
                                        <p:cTn id="8" dur="500"/>
                                        <p:tgtEl>
                                          <p:spTgt spid="3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ppt_x"/>
                                          </p:val>
                                        </p:tav>
                                        <p:tav tm="100000">
                                          <p:val>
                                            <p:strVal val="#ppt_x"/>
                                          </p:val>
                                        </p:tav>
                                      </p:tavLst>
                                    </p:anim>
                                    <p:anim calcmode="lin" valueType="num">
                                      <p:cBhvr additive="base">
                                        <p:cTn id="1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Graphic spid="32" grpId="0">
        <p:bldAsOne/>
      </p:bldGraphic>
      <p:bldP spid="33"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999245" y="705519"/>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收入结构对比分析</a:t>
            </a:r>
          </a:p>
        </p:txBody>
      </p:sp>
      <p:graphicFrame>
        <p:nvGraphicFramePr>
          <p:cNvPr id="7" name="表格 6"/>
          <p:cNvGraphicFramePr>
            <a:graphicFrameLocks noGrp="1"/>
          </p:cNvGraphicFramePr>
          <p:nvPr/>
        </p:nvGraphicFramePr>
        <p:xfrm>
          <a:off x="1919536" y="1268219"/>
          <a:ext cx="5184576" cy="3441927"/>
        </p:xfrm>
        <a:graphic>
          <a:graphicData uri="http://schemas.openxmlformats.org/drawingml/2006/table">
            <a:tbl>
              <a:tblPr firstRow="1" bandRow="1">
                <a:tableStyleId>{74C1A8A3-306A-4EB7-A6B1-4F7E0EB9C5D6}</a:tableStyleId>
              </a:tblPr>
              <a:tblGrid>
                <a:gridCol w="1248139"/>
                <a:gridCol w="720080"/>
                <a:gridCol w="768085"/>
                <a:gridCol w="816091"/>
                <a:gridCol w="888099"/>
                <a:gridCol w="744082"/>
              </a:tblGrid>
              <a:tr h="299219">
                <a:tc>
                  <a:txBody>
                    <a:bodyPr/>
                    <a:lstStyle/>
                    <a:p>
                      <a:pPr algn="ctr"/>
                      <a:r>
                        <a:rPr lang="zh-CN" altLang="en-US" sz="1400" dirty="0"/>
                        <a:t>项目</a:t>
                      </a:r>
                    </a:p>
                  </a:txBody>
                  <a:tcPr/>
                </a:tc>
                <a:tc>
                  <a:txBody>
                    <a:bodyPr/>
                    <a:lstStyle/>
                    <a:p>
                      <a:pPr algn="ctr"/>
                      <a:r>
                        <a:rPr lang="zh-CN" altLang="en-US" sz="1400" dirty="0"/>
                        <a:t>当年值</a:t>
                      </a:r>
                    </a:p>
                  </a:txBody>
                  <a:tcPr/>
                </a:tc>
                <a:tc>
                  <a:txBody>
                    <a:bodyPr/>
                    <a:lstStyle/>
                    <a:p>
                      <a:pPr algn="ctr"/>
                      <a:r>
                        <a:rPr lang="zh-CN" altLang="en-US" sz="1400" dirty="0"/>
                        <a:t>上年值</a:t>
                      </a:r>
                    </a:p>
                  </a:txBody>
                  <a:tcPr/>
                </a:tc>
                <a:tc>
                  <a:txBody>
                    <a:bodyPr/>
                    <a:lstStyle/>
                    <a:p>
                      <a:pPr algn="ctr"/>
                      <a:r>
                        <a:rPr lang="zh-CN" altLang="en-US" sz="1400" dirty="0"/>
                        <a:t>增减额</a:t>
                      </a:r>
                    </a:p>
                  </a:txBody>
                  <a:tcPr/>
                </a:tc>
                <a:tc>
                  <a:txBody>
                    <a:bodyPr/>
                    <a:lstStyle/>
                    <a:p>
                      <a:pPr algn="ctr"/>
                      <a:r>
                        <a:rPr lang="zh-CN" altLang="en-US" sz="1400" dirty="0"/>
                        <a:t>增减率</a:t>
                      </a:r>
                    </a:p>
                  </a:txBody>
                  <a:tcPr/>
                </a:tc>
                <a:tc>
                  <a:txBody>
                    <a:bodyPr/>
                    <a:lstStyle/>
                    <a:p>
                      <a:pPr algn="ctr"/>
                      <a:r>
                        <a:rPr lang="zh-CN" altLang="en-US" sz="1400" dirty="0"/>
                        <a:t>预算</a:t>
                      </a:r>
                    </a:p>
                  </a:txBody>
                  <a:tcPr/>
                </a:tc>
              </a:tr>
              <a:tr h="416797">
                <a:tc>
                  <a:txBody>
                    <a:bodyPr/>
                    <a:lstStyle/>
                    <a:p>
                      <a:r>
                        <a:rPr lang="zh-CN" altLang="en-US" sz="1200" dirty="0">
                          <a:latin typeface="楷体" panose="02010609060101010101" pitchFamily="49" charset="-122"/>
                          <a:ea typeface="楷体" panose="02010609060101010101" pitchFamily="49" charset="-122"/>
                        </a:rPr>
                        <a:t>     经营收入</a:t>
                      </a:r>
                      <a:endParaRPr lang="en-US" altLang="zh-CN" sz="1200" dirty="0">
                        <a:latin typeface="楷体" panose="02010609060101010101" pitchFamily="49" charset="-122"/>
                        <a:ea typeface="楷体" panose="02010609060101010101" pitchFamily="49" charset="-122"/>
                      </a:endParaRPr>
                    </a:p>
                    <a:p>
                      <a:r>
                        <a:rPr lang="zh-CN" altLang="en-US" sz="1200" dirty="0">
                          <a:latin typeface="楷体" panose="02010609060101010101" pitchFamily="49" charset="-122"/>
                          <a:ea typeface="楷体" panose="02010609060101010101" pitchFamily="49" charset="-122"/>
                        </a:rPr>
                        <a:t>    （万元）</a:t>
                      </a:r>
                      <a:endParaRPr lang="zh-CN" altLang="en-US" sz="1200" b="1" dirty="0">
                        <a:latin typeface="楷体" panose="02010609060101010101" pitchFamily="49" charset="-122"/>
                        <a:ea typeface="楷体" panose="02010609060101010101" pitchFamily="49" charset="-122"/>
                      </a:endParaRPr>
                    </a:p>
                  </a:txBody>
                  <a:tcPr/>
                </a:tc>
                <a:tc>
                  <a:txBody>
                    <a:bodyPr/>
                    <a:lstStyle/>
                    <a:p>
                      <a:endParaRPr lang="zh-CN" altLang="en-US" dirty="0"/>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en-US" altLang="zh-CN" sz="1000" u="none" strike="noStrike" kern="1200" dirty="0">
                        <a:latin typeface="楷体" panose="02010609060101010101" pitchFamily="49" charset="-122"/>
                        <a:ea typeface="楷体" panose="02010609060101010101" pitchFamily="49" charset="-122"/>
                      </a:endParaRPr>
                    </a:p>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16797">
                <a:tc>
                  <a:txBody>
                    <a:bodyPr/>
                    <a:lstStyle/>
                    <a:p>
                      <a:pPr algn="l"/>
                      <a:r>
                        <a:rPr lang="zh-CN" altLang="en-US" sz="1200" dirty="0">
                          <a:latin typeface="楷体" panose="02010609060101010101" pitchFamily="49" charset="-122"/>
                          <a:ea typeface="楷体" panose="02010609060101010101" pitchFamily="49" charset="-122"/>
                        </a:rPr>
                        <a:t>其中：</a:t>
                      </a:r>
                      <a:endParaRPr lang="en-US" altLang="zh-CN" sz="1200" dirty="0">
                        <a:latin typeface="楷体" panose="02010609060101010101" pitchFamily="49" charset="-122"/>
                        <a:ea typeface="楷体" panose="02010609060101010101" pitchFamily="49" charset="-122"/>
                      </a:endParaRPr>
                    </a:p>
                    <a:p>
                      <a:pPr algn="l"/>
                      <a:r>
                        <a:rPr lang="en-US" altLang="zh-CN" sz="1200" dirty="0">
                          <a:latin typeface="楷体" panose="02010609060101010101" pitchFamily="49" charset="-122"/>
                          <a:ea typeface="楷体" panose="02010609060101010101" pitchFamily="49" charset="-122"/>
                        </a:rPr>
                        <a:t>   **</a:t>
                      </a:r>
                      <a:r>
                        <a:rPr lang="zh-CN" altLang="en-US" sz="1200" dirty="0">
                          <a:latin typeface="楷体" panose="02010609060101010101" pitchFamily="49" charset="-122"/>
                          <a:ea typeface="楷体" panose="02010609060101010101" pitchFamily="49" charset="-122"/>
                        </a:rPr>
                        <a:t>收入</a:t>
                      </a:r>
                      <a:endParaRPr lang="zh-CN" altLang="en-US" sz="1200" b="1"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ctr"/>
                </a:tc>
                <a:tc>
                  <a:txBody>
                    <a:bodyPr/>
                    <a:lstStyle/>
                    <a:p>
                      <a:endParaRPr lang="zh-CN" altLang="en-US" dirty="0"/>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06705">
                <a:tc>
                  <a:txBody>
                    <a:bodyPr/>
                    <a:lstStyle/>
                    <a:p>
                      <a:pPr algn="l"/>
                      <a:r>
                        <a:rPr lang="en-US" altLang="zh-CN" sz="1200" dirty="0">
                          <a:latin typeface="楷体" panose="02010609060101010101" pitchFamily="49" charset="-122"/>
                          <a:ea typeface="楷体" panose="02010609060101010101" pitchFamily="49" charset="-122"/>
                        </a:rPr>
                        <a:t>   </a:t>
                      </a:r>
                      <a:r>
                        <a:rPr lang="en-US" altLang="zh-CN" sz="1200" kern="1200" dirty="0">
                          <a:solidFill>
                            <a:schemeClr val="dk1"/>
                          </a:solidFill>
                          <a:latin typeface="楷体" panose="02010609060101010101" pitchFamily="49" charset="-122"/>
                          <a:ea typeface="楷体" panose="02010609060101010101" pitchFamily="49" charset="-122"/>
                          <a:cs typeface="+mn-cs"/>
                        </a:rPr>
                        <a:t>**</a:t>
                      </a:r>
                      <a:r>
                        <a:rPr lang="zh-CN" altLang="en-US" sz="1200" kern="1200" dirty="0">
                          <a:solidFill>
                            <a:schemeClr val="dk1"/>
                          </a:solidFill>
                          <a:latin typeface="楷体" panose="02010609060101010101" pitchFamily="49" charset="-122"/>
                          <a:ea typeface="楷体" panose="02010609060101010101" pitchFamily="49" charset="-122"/>
                          <a:cs typeface="+mn-cs"/>
                        </a:rPr>
                        <a:t>收入       </a:t>
                      </a:r>
                    </a:p>
                  </a:txBody>
                  <a:tcPr/>
                </a:tc>
                <a:tc>
                  <a:txBody>
                    <a:bodyPr/>
                    <a:lstStyle/>
                    <a:p>
                      <a:endParaRPr lang="zh-CN" altLang="en-US"/>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05219">
                <a:tc>
                  <a:txBody>
                    <a:bodyPr/>
                    <a:lstStyle/>
                    <a:p>
                      <a:pPr algn="l"/>
                      <a:r>
                        <a:rPr lang="en-US" altLang="zh-CN" sz="1200" dirty="0">
                          <a:latin typeface="楷体" panose="02010609060101010101" pitchFamily="49" charset="-122"/>
                          <a:ea typeface="楷体" panose="02010609060101010101" pitchFamily="49" charset="-122"/>
                        </a:rPr>
                        <a:t> </a:t>
                      </a:r>
                      <a:r>
                        <a:rPr lang="en-US" altLang="zh-CN" sz="1200" baseline="0" dirty="0">
                          <a:latin typeface="楷体" panose="02010609060101010101" pitchFamily="49" charset="-122"/>
                          <a:ea typeface="楷体" panose="02010609060101010101" pitchFamily="49" charset="-122"/>
                        </a:rPr>
                        <a:t> </a:t>
                      </a:r>
                      <a:r>
                        <a:rPr lang="en-US" altLang="zh-CN" sz="1200" dirty="0">
                          <a:latin typeface="楷体" panose="02010609060101010101" pitchFamily="49" charset="-122"/>
                          <a:ea typeface="楷体" panose="02010609060101010101" pitchFamily="49" charset="-122"/>
                        </a:rPr>
                        <a:t> **</a:t>
                      </a:r>
                      <a:r>
                        <a:rPr lang="zh-CN" altLang="en-US" sz="1200" dirty="0">
                          <a:latin typeface="楷体" panose="02010609060101010101" pitchFamily="49" charset="-122"/>
                          <a:ea typeface="楷体" panose="02010609060101010101" pitchFamily="49" charset="-122"/>
                        </a:rPr>
                        <a:t>收入</a:t>
                      </a:r>
                      <a:endParaRPr lang="zh-CN" altLang="en-US" sz="1200" b="1"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34638">
                <a:tc>
                  <a:txBody>
                    <a:bodyPr/>
                    <a:lstStyle/>
                    <a:p>
                      <a:pPr algn="l"/>
                      <a:r>
                        <a:rPr lang="en-US" altLang="zh-CN" sz="1200" dirty="0">
                          <a:latin typeface="楷体" panose="02010609060101010101" pitchFamily="49" charset="-122"/>
                          <a:ea typeface="楷体" panose="02010609060101010101" pitchFamily="49" charset="-122"/>
                        </a:rPr>
                        <a:t>   **</a:t>
                      </a:r>
                      <a:r>
                        <a:rPr lang="zh-CN" altLang="en-US" sz="1200" dirty="0">
                          <a:latin typeface="楷体" panose="02010609060101010101" pitchFamily="49" charset="-122"/>
                          <a:ea typeface="楷体" panose="02010609060101010101" pitchFamily="49" charset="-122"/>
                        </a:rPr>
                        <a:t>收入</a:t>
                      </a:r>
                      <a:endParaRPr lang="zh-CN" altLang="en-US" sz="1200" b="1"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464807">
                <a:tc>
                  <a:txBody>
                    <a:bodyPr/>
                    <a:lstStyle/>
                    <a:p>
                      <a:pPr algn="l"/>
                      <a:r>
                        <a:rPr lang="en-US" altLang="zh-CN" sz="1200" b="1" dirty="0">
                          <a:latin typeface="楷体" panose="02010609060101010101" pitchFamily="49" charset="-122"/>
                          <a:ea typeface="楷体" panose="02010609060101010101" pitchFamily="49" charset="-122"/>
                        </a:rPr>
                        <a:t>   **</a:t>
                      </a:r>
                      <a:r>
                        <a:rPr lang="zh-CN" altLang="en-US" sz="1200" b="1" dirty="0">
                          <a:latin typeface="楷体" panose="02010609060101010101" pitchFamily="49" charset="-122"/>
                          <a:ea typeface="楷体" panose="02010609060101010101" pitchFamily="49" charset="-122"/>
                        </a:rPr>
                        <a:t>收入</a:t>
                      </a:r>
                    </a:p>
                  </a:txBody>
                  <a:tcPr/>
                </a:tc>
                <a:tc>
                  <a:txBody>
                    <a:bodyPr/>
                    <a:lstStyle/>
                    <a:p>
                      <a:endParaRPr lang="zh-CN" altLang="en-US"/>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r h="511358">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baseline="0" dirty="0">
                          <a:latin typeface="楷体" panose="02010609060101010101" pitchFamily="49" charset="-122"/>
                          <a:ea typeface="楷体" panose="02010609060101010101" pitchFamily="49" charset="-122"/>
                        </a:rPr>
                        <a:t>  </a:t>
                      </a:r>
                      <a:r>
                        <a:rPr lang="en-US" altLang="zh-CN" sz="1200" dirty="0">
                          <a:latin typeface="楷体" panose="02010609060101010101" pitchFamily="49" charset="-122"/>
                          <a:ea typeface="楷体" panose="02010609060101010101" pitchFamily="49" charset="-122"/>
                        </a:rPr>
                        <a:t> </a:t>
                      </a:r>
                      <a:r>
                        <a:rPr lang="en-US" altLang="zh-CN" sz="1050" b="1" dirty="0">
                          <a:latin typeface="楷体" panose="02010609060101010101" pitchFamily="49" charset="-122"/>
                          <a:ea typeface="楷体" panose="02010609060101010101" pitchFamily="49" charset="-122"/>
                        </a:rPr>
                        <a:t>**</a:t>
                      </a:r>
                      <a:r>
                        <a:rPr lang="zh-CN" altLang="en-US" sz="1050" b="1" dirty="0">
                          <a:latin typeface="楷体" panose="02010609060101010101" pitchFamily="49" charset="-122"/>
                          <a:ea typeface="楷体" panose="02010609060101010101" pitchFamily="49" charset="-122"/>
                        </a:rPr>
                        <a:t>收入</a:t>
                      </a:r>
                    </a:p>
                    <a:p>
                      <a:pPr algn="l"/>
                      <a:endParaRPr lang="zh-CN" altLang="en-US" sz="1200" b="1" dirty="0">
                        <a:latin typeface="楷体" panose="02010609060101010101" pitchFamily="49" charset="-122"/>
                        <a:ea typeface="楷体" panose="02010609060101010101" pitchFamily="49" charset="-122"/>
                      </a:endParaRPr>
                    </a:p>
                  </a:txBody>
                  <a:tcPr/>
                </a:tc>
                <a:tc>
                  <a:txBody>
                    <a:bodyPr/>
                    <a:lstStyle/>
                    <a:p>
                      <a:endParaRPr lang="zh-CN" altLang="en-US"/>
                    </a:p>
                  </a:txBody>
                  <a:tcPr marL="0" marR="0" marT="0" marB="0" anchor="ctr"/>
                </a:tc>
                <a:tc>
                  <a:txBody>
                    <a:bodyPr/>
                    <a:lstStyle/>
                    <a:p>
                      <a:endParaRPr lang="zh-CN" altLang="en-US"/>
                    </a:p>
                  </a:txBody>
                  <a:tcPr/>
                </a:tc>
                <a:tc>
                  <a:txBody>
                    <a:bodyPr/>
                    <a:lstStyle/>
                    <a:p>
                      <a:endParaRPr lang="zh-CN" altLang="en-US"/>
                    </a:p>
                  </a:txBody>
                  <a:tcPr marL="0" marR="0" marT="0" marB="0" anchor="ctr"/>
                </a:tc>
                <a:tc>
                  <a:txBody>
                    <a:bodyPr/>
                    <a:lstStyle/>
                    <a:p>
                      <a:endParaRPr lang="zh-CN" altLang="en-US" dirty="0"/>
                    </a:p>
                  </a:txBody>
                  <a:tcPr marL="0" marR="0" marT="0" marB="0" anchor="ctr"/>
                </a:tc>
                <a:tc>
                  <a:txBody>
                    <a:bodyPr/>
                    <a:lstStyle/>
                    <a:p>
                      <a:pPr marL="0" algn="ctr" defTabSz="914400" rtl="0" eaLnBrk="1" fontAlgn="ctr" latinLnBrk="0" hangingPunct="1"/>
                      <a:endParaRPr lang="zh-CN" altLang="en-US" sz="1000" b="0" i="0" u="none" strike="noStrike" kern="1200" dirty="0">
                        <a:solidFill>
                          <a:schemeClr val="dk1"/>
                        </a:solidFill>
                        <a:latin typeface="楷体" panose="02010609060101010101" pitchFamily="49" charset="-122"/>
                        <a:ea typeface="楷体" panose="02010609060101010101" pitchFamily="49" charset="-122"/>
                        <a:cs typeface="+mn-cs"/>
                      </a:endParaRPr>
                    </a:p>
                  </a:txBody>
                  <a:tcPr/>
                </a:tc>
              </a:tr>
            </a:tbl>
          </a:graphicData>
        </a:graphic>
      </p:graphicFrame>
      <p:graphicFrame>
        <p:nvGraphicFramePr>
          <p:cNvPr id="9" name="图表 8"/>
          <p:cNvGraphicFramePr/>
          <p:nvPr/>
        </p:nvGraphicFramePr>
        <p:xfrm>
          <a:off x="7294256" y="1268219"/>
          <a:ext cx="3048000" cy="23042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图表 9"/>
          <p:cNvGraphicFramePr/>
          <p:nvPr/>
        </p:nvGraphicFramePr>
        <p:xfrm>
          <a:off x="7371895" y="3703070"/>
          <a:ext cx="3048000" cy="230425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1"/>
          <p:cNvSpPr txBox="1"/>
          <p:nvPr/>
        </p:nvSpPr>
        <p:spPr>
          <a:xfrm>
            <a:off x="5879976" y="764705"/>
            <a:ext cx="1224136" cy="307777"/>
          </a:xfrm>
          <a:prstGeom prst="rect">
            <a:avLst/>
          </a:prstGeom>
          <a:noFill/>
        </p:spPr>
        <p:txBody>
          <a:bodyPr wrap="square" rtlCol="0">
            <a:spAutoFit/>
          </a:bodyPr>
          <a:lstStyle/>
          <a:p>
            <a:r>
              <a:rPr lang="zh-CN" altLang="en-US" sz="1400" b="1" dirty="0">
                <a:latin typeface="楷体" panose="02010609060101010101" pitchFamily="49" charset="-122"/>
                <a:ea typeface="楷体" panose="02010609060101010101" pitchFamily="49" charset="-122"/>
              </a:rPr>
              <a:t>单位：万元</a:t>
            </a:r>
          </a:p>
        </p:txBody>
      </p:sp>
      <p:sp>
        <p:nvSpPr>
          <p:cNvPr id="12" name="TextBox 12"/>
          <p:cNvSpPr txBox="1"/>
          <p:nvPr/>
        </p:nvSpPr>
        <p:spPr>
          <a:xfrm>
            <a:off x="1842262" y="5131244"/>
            <a:ext cx="5261850" cy="1273875"/>
          </a:xfrm>
          <a:prstGeom prst="rect">
            <a:avLst/>
          </a:prstGeom>
          <a:noFill/>
        </p:spPr>
        <p:txBody>
          <a:bodyPr wrap="square" rtlCol="0">
            <a:spAutoFit/>
          </a:bodyPr>
          <a:lstStyle/>
          <a:p>
            <a:pPr>
              <a:lnSpc>
                <a:spcPct val="150000"/>
              </a:lnSpc>
            </a:pPr>
            <a:r>
              <a:rPr lang="zh-CN" altLang="en-US" dirty="0">
                <a:latin typeface="楷体" panose="02010609060101010101" pitchFamily="49" charset="-122"/>
                <a:ea typeface="楷体" panose="02010609060101010101" pitchFamily="49" charset="-122"/>
              </a:rPr>
              <a:t>分析：从收入结构对比分析看，我司业务主要集中在两大模块，约占了</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；收入在</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年增加了收入；其它收入在</a:t>
            </a:r>
            <a:r>
              <a:rPr lang="en-US" altLang="zh-CN" dirty="0">
                <a:latin typeface="楷体" panose="02010609060101010101" pitchFamily="49" charset="-122"/>
                <a:ea typeface="楷体" panose="02010609060101010101" pitchFamily="49" charset="-122"/>
              </a:rPr>
              <a:t>2017</a:t>
            </a:r>
            <a:r>
              <a:rPr lang="zh-CN" altLang="en-US" dirty="0">
                <a:latin typeface="楷体" panose="02010609060101010101" pitchFamily="49" charset="-122"/>
                <a:ea typeface="楷体" panose="02010609060101010101" pitchFamily="49" charset="-122"/>
              </a:rPr>
              <a:t>年减少了收入。</a:t>
            </a:r>
          </a:p>
        </p:txBody>
      </p:sp>
    </p:spTree>
  </p:cSld>
  <p:clrMapOvr>
    <a:masterClrMapping/>
  </p:clrMapOvr>
  <mc:AlternateContent xmlns:mc="http://schemas.openxmlformats.org/markup-compatibility/2006" xmlns:p14="http://schemas.microsoft.com/office/powerpoint/2010/main">
    <mc:Choice Requires="p14">
      <p:transition spd="slow" p14:dur="1250" advClick="0" advTm="3000">
        <p14:switch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p:tgtEl>
                                          <p:spTgt spid="30"/>
                                        </p:tgtEl>
                                        <p:attrNameLst>
                                          <p:attrName>ppt_y</p:attrName>
                                        </p:attrNameLst>
                                      </p:cBhvr>
                                      <p:tavLst>
                                        <p:tav tm="0">
                                          <p:val>
                                            <p:strVal val="#ppt_y+#ppt_h*1.125000"/>
                                          </p:val>
                                        </p:tav>
                                        <p:tav tm="100000">
                                          <p:val>
                                            <p:strVal val="#ppt_y"/>
                                          </p:val>
                                        </p:tav>
                                      </p:tavLst>
                                    </p:anim>
                                    <p:animEffect transition="in" filter="wipe(up)">
                                      <p:cBhvr>
                                        <p:cTn id="8" dur="500"/>
                                        <p:tgtEl>
                                          <p:spTgt spid="3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heel(1)">
                                      <p:cBhvr>
                                        <p:cTn id="25" dur="2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heel(1)">
                                      <p:cBhvr>
                                        <p:cTn id="30" dur="20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Graphic spid="9" grpId="0">
        <p:bldAsOne/>
      </p:bldGraphic>
      <p:bldGraphic spid="10" grpId="0">
        <p:bldAsOne/>
      </p:bldGraphic>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rot="2700000">
            <a:off x="2561399" y="2408490"/>
            <a:ext cx="2101576" cy="2208116"/>
            <a:chOff x="0" y="986971"/>
            <a:chExt cx="4615543" cy="4847774"/>
          </a:xfrm>
        </p:grpSpPr>
        <p:sp>
          <p:nvSpPr>
            <p:cNvPr id="3" name="矩形 2"/>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矩形 3"/>
            <p:cNvSpPr/>
            <p:nvPr/>
          </p:nvSpPr>
          <p:spPr>
            <a:xfrm>
              <a:off x="0" y="1320801"/>
              <a:ext cx="4180114" cy="4180114"/>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5" name="矩形 4"/>
          <p:cNvSpPr/>
          <p:nvPr/>
        </p:nvSpPr>
        <p:spPr>
          <a:xfrm>
            <a:off x="4888181" y="2271840"/>
            <a:ext cx="4842157" cy="1015663"/>
          </a:xfrm>
          <a:prstGeom prst="rect">
            <a:avLst/>
          </a:prstGeom>
        </p:spPr>
        <p:txBody>
          <a:bodyPr wrap="square">
            <a:spAutoFit/>
          </a:bodyPr>
          <a:lstStyle/>
          <a:p>
            <a:pPr algn="ctr">
              <a:buNone/>
            </a:pPr>
            <a:r>
              <a:rPr lang="zh-CN" altLang="en-US" sz="6000" dirty="0">
                <a:solidFill>
                  <a:schemeClr val="bg1">
                    <a:lumMod val="50000"/>
                  </a:schemeClr>
                </a:solidFill>
                <a:latin typeface="微软雅黑" panose="020B0503020204020204" charset="-122"/>
                <a:ea typeface="微软雅黑" panose="020B0503020204020204" charset="-122"/>
              </a:rPr>
              <a:t>现金流量表</a:t>
            </a:r>
          </a:p>
        </p:txBody>
      </p:sp>
      <p:sp>
        <p:nvSpPr>
          <p:cNvPr id="6" name="文本框 26"/>
          <p:cNvSpPr txBox="1"/>
          <p:nvPr/>
        </p:nvSpPr>
        <p:spPr>
          <a:xfrm>
            <a:off x="5498381" y="3336893"/>
            <a:ext cx="5135792" cy="879856"/>
          </a:xfrm>
          <a:prstGeom prst="rect">
            <a:avLst/>
          </a:prstGeom>
          <a:noFill/>
        </p:spPr>
        <p:txBody>
          <a:bodyPr wrap="square" rtlCol="0">
            <a:spAutoFit/>
          </a:bodyPr>
          <a:lstStyle/>
          <a:p>
            <a:pPr>
              <a:lnSpc>
                <a:spcPct val="150000"/>
              </a:lnSpc>
            </a:pPr>
            <a:r>
              <a:rPr lang="en-US" altLang="zh-CN" sz="1135" dirty="0">
                <a:solidFill>
                  <a:schemeClr val="tx1">
                    <a:lumMod val="65000"/>
                    <a:lumOff val="35000"/>
                  </a:schemeClr>
                </a:solidFill>
                <a:latin typeface="Arial" panose="020B0604020202020204" pitchFamily="34" charset="0"/>
                <a:cs typeface="Arial" panose="020B0604020202020204" pitchFamily="34" charset="0"/>
                <a:sym typeface="+mn-lt"/>
              </a:rPr>
              <a:t>CLICK ADD RELATED TITLE TEXT, AND CLICK ADD RELATED TITLE TEXT, CLICK ADD RELATED TITLE TEXT, CLICK ON ADD RELATED TITLE WORDS.</a:t>
            </a:r>
            <a:endParaRPr lang="zh-CN" altLang="en-US" sz="1135" dirty="0">
              <a:solidFill>
                <a:schemeClr val="tx1">
                  <a:lumMod val="65000"/>
                  <a:lumOff val="35000"/>
                </a:schemeClr>
              </a:solidFill>
              <a:latin typeface="Arial" panose="020B0604020202020204" pitchFamily="34" charset="0"/>
              <a:cs typeface="Arial" panose="020B0604020202020204" pitchFamily="34" charset="0"/>
              <a:sym typeface="+mn-lt"/>
            </a:endParaRPr>
          </a:p>
        </p:txBody>
      </p:sp>
      <p:sp>
        <p:nvSpPr>
          <p:cNvPr id="7" name="TextBox 20"/>
          <p:cNvSpPr txBox="1"/>
          <p:nvPr/>
        </p:nvSpPr>
        <p:spPr>
          <a:xfrm>
            <a:off x="3023659" y="2852937"/>
            <a:ext cx="1210588" cy="1200329"/>
          </a:xfrm>
          <a:prstGeom prst="rect">
            <a:avLst/>
          </a:prstGeom>
          <a:noFill/>
        </p:spPr>
        <p:txBody>
          <a:bodyPr wrap="none" rtlCol="0">
            <a:spAutoFit/>
          </a:bodyPr>
          <a:lstStyle/>
          <a:p>
            <a:r>
              <a:rPr lang="en-US" altLang="zh-CN" sz="7200" dirty="0">
                <a:solidFill>
                  <a:schemeClr val="bg1"/>
                </a:solidFill>
              </a:rPr>
              <a:t>03</a:t>
            </a:r>
            <a:endParaRPr lang="zh-CN" altLang="en-US" sz="7200" dirty="0">
              <a:solidFill>
                <a:schemeClr val="bg1"/>
              </a:solidFill>
            </a:endParaRPr>
          </a:p>
        </p:txBody>
      </p:sp>
      <p:pic>
        <p:nvPicPr>
          <p:cNvPr id="8" name="图片 7" descr="QQ图片20170823140614.png"/>
          <p:cNvPicPr>
            <a:picLocks noChangeAspect="1"/>
          </p:cNvPicPr>
          <p:nvPr/>
        </p:nvPicPr>
        <p:blipFill>
          <a:blip r:embed="rId3" cstate="print"/>
          <a:stretch>
            <a:fillRect/>
          </a:stretch>
        </p:blipFill>
        <p:spPr>
          <a:xfrm>
            <a:off x="4772218" y="4126616"/>
            <a:ext cx="6973899" cy="9096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Click="0" advTm="3000">
        <p14:warp dir="in"/>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250" fill="hold"/>
                                        <p:tgtEl>
                                          <p:spTgt spid="2"/>
                                        </p:tgtEl>
                                        <p:attrNameLst>
                                          <p:attrName>ppt_w</p:attrName>
                                        </p:attrNameLst>
                                      </p:cBhvr>
                                      <p:tavLst>
                                        <p:tav tm="0">
                                          <p:val>
                                            <p:fltVal val="0"/>
                                          </p:val>
                                        </p:tav>
                                        <p:tav tm="100000">
                                          <p:val>
                                            <p:strVal val="#ppt_w"/>
                                          </p:val>
                                        </p:tav>
                                      </p:tavLst>
                                    </p:anim>
                                    <p:anim calcmode="lin" valueType="num">
                                      <p:cBhvr>
                                        <p:cTn id="8" dur="1250" fill="hold"/>
                                        <p:tgtEl>
                                          <p:spTgt spid="2"/>
                                        </p:tgtEl>
                                        <p:attrNameLst>
                                          <p:attrName>ppt_h</p:attrName>
                                        </p:attrNameLst>
                                      </p:cBhvr>
                                      <p:tavLst>
                                        <p:tav tm="0">
                                          <p:val>
                                            <p:fltVal val="0"/>
                                          </p:val>
                                        </p:tav>
                                        <p:tav tm="100000">
                                          <p:val>
                                            <p:strVal val="#ppt_h"/>
                                          </p:val>
                                        </p:tav>
                                      </p:tavLst>
                                    </p:anim>
                                    <p:animEffect transition="in" filter="fade">
                                      <p:cBhvr>
                                        <p:cTn id="9" dur="125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4*#ppt_w"/>
                                          </p:val>
                                        </p:tav>
                                        <p:tav tm="100000">
                                          <p:val>
                                            <p:strVal val="#ppt_w"/>
                                          </p:val>
                                        </p:tav>
                                      </p:tavLst>
                                    </p:anim>
                                    <p:anim calcmode="lin" valueType="num">
                                      <p:cBhvr>
                                        <p:cTn id="22" dur="500" fill="hold"/>
                                        <p:tgtEl>
                                          <p:spTgt spid="5"/>
                                        </p:tgtEl>
                                        <p:attrNameLst>
                                          <p:attrName>ppt_h</p:attrName>
                                        </p:attrNameLst>
                                      </p:cBhvr>
                                      <p:tavLst>
                                        <p:tav tm="0">
                                          <p:val>
                                            <p:strVal val="4*#ppt_h"/>
                                          </p:val>
                                        </p:tav>
                                        <p:tav tm="100000">
                                          <p:val>
                                            <p:strVal val="#ppt_h"/>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收入结构对比分析</a:t>
            </a:r>
          </a:p>
        </p:txBody>
      </p:sp>
      <p:graphicFrame>
        <p:nvGraphicFramePr>
          <p:cNvPr id="48" name="内容占位符 3"/>
          <p:cNvGraphicFramePr/>
          <p:nvPr/>
        </p:nvGraphicFramePr>
        <p:xfrm>
          <a:off x="1524000" y="1268414"/>
          <a:ext cx="9190007" cy="3852816"/>
        </p:xfrm>
        <a:graphic>
          <a:graphicData uri="http://schemas.openxmlformats.org/drawingml/2006/table">
            <a:tbl>
              <a:tblPr firstRow="1" bandRow="1">
                <a:tableStyleId>{EB9631B5-78F2-41C9-869B-9F39066F8104}</a:tableStyleId>
              </a:tblPr>
              <a:tblGrid>
                <a:gridCol w="2741192"/>
                <a:gridCol w="458900"/>
                <a:gridCol w="1066697"/>
                <a:gridCol w="1281071"/>
                <a:gridCol w="1123617"/>
                <a:gridCol w="2518530"/>
              </a:tblGrid>
              <a:tr h="307427">
                <a:tc>
                  <a:txBody>
                    <a:bodyPr/>
                    <a:lstStyle/>
                    <a:p>
                      <a:pPr algn="ctr"/>
                      <a:r>
                        <a:rPr lang="zh-CN" altLang="en-US" sz="1400" dirty="0">
                          <a:latin typeface="黑体" panose="02010609060101010101" pitchFamily="49" charset="-122"/>
                          <a:ea typeface="黑体" panose="02010609060101010101" pitchFamily="49" charset="-122"/>
                        </a:rPr>
                        <a:t>明细</a:t>
                      </a:r>
                    </a:p>
                  </a:txBody>
                  <a:tcPr/>
                </a:tc>
                <a:tc>
                  <a:txBody>
                    <a:bodyPr/>
                    <a:lstStyle/>
                    <a:p>
                      <a:pPr algn="ctr"/>
                      <a:r>
                        <a:rPr lang="en-US" altLang="zh-CN" sz="1400" dirty="0">
                          <a:latin typeface="黑体" panose="02010609060101010101" pitchFamily="49" charset="-122"/>
                          <a:ea typeface="黑体" panose="02010609060101010101" pitchFamily="49" charset="-122"/>
                        </a:rPr>
                        <a:t>2017</a:t>
                      </a:r>
                      <a:r>
                        <a:rPr lang="zh-CN" altLang="en-US" sz="1400" dirty="0">
                          <a:latin typeface="黑体" panose="02010609060101010101" pitchFamily="49" charset="-122"/>
                          <a:ea typeface="黑体" panose="02010609060101010101" pitchFamily="49" charset="-122"/>
                        </a:rPr>
                        <a:t>年</a:t>
                      </a:r>
                    </a:p>
                  </a:txBody>
                  <a:tcPr/>
                </a:tc>
                <a:tc>
                  <a:txBody>
                    <a:bodyPr/>
                    <a:lstStyle/>
                    <a:p>
                      <a:pPr algn="ctr"/>
                      <a:r>
                        <a:rPr lang="en-US" altLang="zh-CN" sz="1400" dirty="0">
                          <a:latin typeface="黑体" panose="02010609060101010101" pitchFamily="49" charset="-122"/>
                          <a:ea typeface="黑体" panose="02010609060101010101" pitchFamily="49" charset="-122"/>
                        </a:rPr>
                        <a:t>2016</a:t>
                      </a:r>
                      <a:r>
                        <a:rPr lang="zh-CN" altLang="en-US" sz="1400" dirty="0">
                          <a:latin typeface="黑体" panose="02010609060101010101" pitchFamily="49" charset="-122"/>
                          <a:ea typeface="黑体" panose="02010609060101010101" pitchFamily="49" charset="-122"/>
                        </a:rPr>
                        <a:t>年</a:t>
                      </a:r>
                    </a:p>
                  </a:txBody>
                  <a:tcPr/>
                </a:tc>
                <a:tc>
                  <a:txBody>
                    <a:bodyPr/>
                    <a:lstStyle/>
                    <a:p>
                      <a:pPr algn="ctr"/>
                      <a:r>
                        <a:rPr lang="zh-CN" altLang="en-US" sz="1400" dirty="0">
                          <a:latin typeface="黑体" panose="02010609060101010101" pitchFamily="49" charset="-122"/>
                          <a:ea typeface="黑体" panose="02010609060101010101" pitchFamily="49" charset="-122"/>
                        </a:rPr>
                        <a:t>增减额</a:t>
                      </a:r>
                    </a:p>
                  </a:txBody>
                  <a:tcPr/>
                </a:tc>
                <a:tc>
                  <a:txBody>
                    <a:bodyPr/>
                    <a:lstStyle/>
                    <a:p>
                      <a:pPr algn="ctr"/>
                      <a:r>
                        <a:rPr lang="zh-CN" altLang="en-US" sz="1400" dirty="0">
                          <a:latin typeface="黑体" panose="02010609060101010101" pitchFamily="49" charset="-122"/>
                          <a:ea typeface="黑体" panose="02010609060101010101" pitchFamily="49" charset="-122"/>
                        </a:rPr>
                        <a:t>增减率</a:t>
                      </a:r>
                    </a:p>
                  </a:txBody>
                  <a:tcPr/>
                </a:tc>
                <a:tc>
                  <a:txBody>
                    <a:bodyPr/>
                    <a:lstStyle/>
                    <a:p>
                      <a:pPr algn="ctr"/>
                      <a:r>
                        <a:rPr lang="zh-CN" altLang="en-US" sz="1400" dirty="0">
                          <a:latin typeface="黑体" panose="02010609060101010101" pitchFamily="49" charset="-122"/>
                          <a:ea typeface="黑体" panose="02010609060101010101" pitchFamily="49" charset="-122"/>
                        </a:rPr>
                        <a:t>说明</a:t>
                      </a:r>
                    </a:p>
                  </a:txBody>
                  <a:tcPr/>
                </a:tc>
              </a:tr>
              <a:tr h="387283">
                <a:tc>
                  <a:txBody>
                    <a:bodyPr/>
                    <a:lstStyle/>
                    <a:p>
                      <a:pPr algn="ctr"/>
                      <a:r>
                        <a:rPr lang="zh-CN" altLang="en-US" sz="1400" dirty="0">
                          <a:latin typeface="黑体" panose="02010609060101010101" pitchFamily="49" charset="-122"/>
                          <a:ea typeface="黑体" panose="02010609060101010101" pitchFamily="49" charset="-122"/>
                        </a:rPr>
                        <a:t>经营业务所得流入净额</a:t>
                      </a:r>
                    </a:p>
                  </a:txBody>
                  <a:tcPr/>
                </a:tc>
                <a:tc>
                  <a:txBody>
                    <a:bodyPr/>
                    <a:lstStyle/>
                    <a:p>
                      <a:endParaRPr lang="zh-CN" altLang="en-US" dirty="0">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pPr algn="ctr" fontAlgn="ctr"/>
                      <a:endParaRPr lang="en-US" altLang="zh-CN" sz="1200" b="0" i="0" u="none" strike="noStrike" dirty="0">
                        <a:latin typeface="黑体" panose="02010609060101010101" pitchFamily="49" charset="-122"/>
                        <a:ea typeface="黑体" panose="02010609060101010101" pitchFamily="49" charset="-122"/>
                      </a:endParaRPr>
                    </a:p>
                  </a:txBody>
                  <a:tcPr marL="0" marR="0" marT="0" marB="0" anchor="ctr"/>
                </a:tc>
              </a:tr>
              <a:tr h="507097">
                <a:tc>
                  <a:txBody>
                    <a:bodyPr/>
                    <a:lstStyle/>
                    <a:p>
                      <a:pPr marL="0" algn="l"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其中：</a:t>
                      </a:r>
                      <a:endParaRPr lang="en-US" altLang="zh-CN" sz="1400" kern="1200" dirty="0">
                        <a:solidFill>
                          <a:schemeClr val="dk1"/>
                        </a:solidFill>
                        <a:latin typeface="黑体" panose="02010609060101010101" pitchFamily="49" charset="-122"/>
                        <a:ea typeface="黑体" panose="02010609060101010101" pitchFamily="49" charset="-122"/>
                        <a:cs typeface="+mn-cs"/>
                      </a:endParaRPr>
                    </a:p>
                    <a:p>
                      <a:pPr marL="0" algn="ctr"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销售商品等流入</a:t>
                      </a: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endParaRPr lang="en-US" altLang="zh-CN" sz="1000" b="0" i="0" u="none" strike="noStrike" dirty="0">
                        <a:latin typeface="黑体" panose="02010609060101010101" pitchFamily="49" charset="-122"/>
                        <a:ea typeface="黑体" panose="02010609060101010101" pitchFamily="49" charset="-122"/>
                      </a:endParaRPr>
                    </a:p>
                    <a:p>
                      <a:pPr marL="0" marR="0" indent="0" algn="ctr" defTabSz="914400" rtl="0" eaLnBrk="1" fontAlgn="ctr" latinLnBrk="0" hangingPunct="1">
                        <a:lnSpc>
                          <a:spcPct val="100000"/>
                        </a:lnSpc>
                        <a:spcBef>
                          <a:spcPts val="0"/>
                        </a:spcBef>
                        <a:spcAft>
                          <a:spcPts val="0"/>
                        </a:spcAft>
                        <a:buClrTx/>
                        <a:buSzTx/>
                        <a:buFontTx/>
                        <a:buNone/>
                        <a:defRPr/>
                      </a:pPr>
                      <a:endParaRPr lang="en-US" altLang="zh-CN" sz="1000" b="0" i="0" u="none" strike="noStrike" dirty="0">
                        <a:latin typeface="黑体" panose="02010609060101010101" pitchFamily="49" charset="-122"/>
                        <a:ea typeface="黑体" panose="02010609060101010101" pitchFamily="49" charset="-122"/>
                      </a:endParaRPr>
                    </a:p>
                    <a:p>
                      <a:pPr algn="ctr" fontAlgn="ctr"/>
                      <a:endParaRPr lang="en-US" altLang="zh-CN" sz="1200" b="0" i="0" u="none" strike="noStrike" dirty="0">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r>
              <a:tr h="355544">
                <a:tc>
                  <a:txBody>
                    <a:bodyPr/>
                    <a:lstStyle/>
                    <a:p>
                      <a:pPr marL="0" algn="ctr"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 购买商品等流出</a:t>
                      </a: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c>
                  <a:txBody>
                    <a:bodyPr/>
                    <a:lstStyle/>
                    <a:p>
                      <a:pPr algn="ctr" fontAlgn="ctr"/>
                      <a:endParaRPr lang="en-US" altLang="zh-CN" sz="1000" b="0" i="0" u="none" strike="noStrike" dirty="0">
                        <a:latin typeface="黑体" panose="02010609060101010101" pitchFamily="49" charset="-122"/>
                        <a:ea typeface="黑体" panose="02010609060101010101" pitchFamily="49" charset="-122"/>
                      </a:endParaRPr>
                    </a:p>
                  </a:txBody>
                  <a:tcPr marL="0" marR="0" marT="0" marB="0" anchor="ctr">
                    <a:solidFill>
                      <a:schemeClr val="accent2">
                        <a:lumMod val="20000"/>
                        <a:lumOff val="80000"/>
                      </a:schemeClr>
                    </a:solidFill>
                  </a:tcPr>
                </a:tc>
              </a:tr>
              <a:tr h="507097">
                <a:tc>
                  <a:txBody>
                    <a:bodyPr/>
                    <a:lstStyle/>
                    <a:p>
                      <a:pPr marL="0" algn="ctr"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投资活动流入净额</a:t>
                      </a:r>
                    </a:p>
                  </a:txBody>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dirty="0">
                        <a:latin typeface="黑体" panose="02010609060101010101" pitchFamily="49" charset="-122"/>
                        <a:ea typeface="黑体" panose="02010609060101010101" pitchFamily="49" charset="-122"/>
                      </a:endParaRPr>
                    </a:p>
                  </a:txBody>
                  <a:tcPr marL="0" marR="0" marT="0" marB="0" anchor="ctr"/>
                </a:tc>
              </a:tr>
              <a:tr h="563441">
                <a:tc>
                  <a:txBody>
                    <a:bodyPr/>
                    <a:lstStyle/>
                    <a:p>
                      <a:pPr marL="0" algn="ctr"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融资活动流入净额</a:t>
                      </a:r>
                    </a:p>
                  </a:txBody>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r>
              <a:tr h="507097">
                <a:tc>
                  <a:txBody>
                    <a:bodyPr/>
                    <a:lstStyle/>
                    <a:p>
                      <a:pPr marL="0" algn="ctr" defTabSz="914400" rtl="0" eaLnBrk="1" fontAlgn="b"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外汇兑换率变动影响</a:t>
                      </a:r>
                    </a:p>
                  </a:txBody>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r>
              <a:tr h="507097">
                <a:tc>
                  <a:txBody>
                    <a:bodyPr/>
                    <a:lstStyle/>
                    <a:p>
                      <a:pPr marL="0" marR="0" indent="0" algn="ctr" defTabSz="914400" rtl="0" eaLnBrk="1" fontAlgn="b" latinLnBrk="0" hangingPunct="1">
                        <a:lnSpc>
                          <a:spcPct val="100000"/>
                        </a:lnSpc>
                        <a:spcBef>
                          <a:spcPts val="0"/>
                        </a:spcBef>
                        <a:spcAft>
                          <a:spcPts val="0"/>
                        </a:spcAft>
                        <a:buClrTx/>
                        <a:buSzTx/>
                        <a:buFontTx/>
                        <a:buNone/>
                        <a:defRPr/>
                      </a:pPr>
                      <a:r>
                        <a:rPr lang="zh-CN" altLang="en-US" sz="1400" kern="1200" dirty="0">
                          <a:solidFill>
                            <a:schemeClr val="dk1"/>
                          </a:solidFill>
                          <a:latin typeface="黑体" panose="02010609060101010101" pitchFamily="49" charset="-122"/>
                          <a:ea typeface="黑体" panose="02010609060101010101" pitchFamily="49" charset="-122"/>
                          <a:cs typeface="+mn-cs"/>
                        </a:rPr>
                        <a:t>现金及现金等价物增加</a:t>
                      </a:r>
                    </a:p>
                  </a:txBody>
                  <a:tcPr/>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b"/>
                </a:tc>
                <a:tc>
                  <a:txBody>
                    <a:bodyPr/>
                    <a:lstStyle/>
                    <a:p>
                      <a:endParaRPr lang="zh-CN" altLang="en-US">
                        <a:latin typeface="黑体" panose="02010609060101010101" pitchFamily="49" charset="-122"/>
                        <a:ea typeface="黑体" panose="02010609060101010101" pitchFamily="49" charset="-122"/>
                      </a:endParaRPr>
                    </a:p>
                  </a:txBody>
                  <a:tcPr marL="0" marR="0" marT="0" marB="0" anchor="ctr"/>
                </a:tc>
                <a:tc>
                  <a:txBody>
                    <a:bodyPr/>
                    <a:lstStyle/>
                    <a:p>
                      <a:endParaRPr lang="zh-CN" altLang="en-US" dirty="0">
                        <a:latin typeface="黑体" panose="02010609060101010101" pitchFamily="49" charset="-122"/>
                        <a:ea typeface="黑体" panose="02010609060101010101" pitchFamily="49" charset="-122"/>
                      </a:endParaRPr>
                    </a:p>
                  </a:txBody>
                  <a:tcPr marL="0" marR="0" marT="0" marB="0" anchor="ctr"/>
                </a:tc>
                <a:tc>
                  <a:txBody>
                    <a:bodyPr/>
                    <a:lstStyle/>
                    <a:p>
                      <a:endParaRPr lang="zh-CN" altLang="en-US" dirty="0">
                        <a:latin typeface="黑体" panose="02010609060101010101" pitchFamily="49" charset="-122"/>
                        <a:ea typeface="黑体" panose="02010609060101010101" pitchFamily="49" charset="-122"/>
                      </a:endParaRPr>
                    </a:p>
                  </a:txBody>
                  <a:tcPr marL="0" marR="0" marT="0" marB="0" anchor="ctr"/>
                </a:tc>
              </a:tr>
            </a:tbl>
          </a:graphicData>
        </a:graphic>
      </p:graphicFrame>
      <p:sp>
        <p:nvSpPr>
          <p:cNvPr id="49" name="TextBox 8"/>
          <p:cNvSpPr txBox="1"/>
          <p:nvPr/>
        </p:nvSpPr>
        <p:spPr>
          <a:xfrm>
            <a:off x="9812718" y="931674"/>
            <a:ext cx="1296144" cy="261610"/>
          </a:xfrm>
          <a:prstGeom prst="rect">
            <a:avLst/>
          </a:prstGeom>
          <a:noFill/>
        </p:spPr>
        <p:txBody>
          <a:bodyPr wrap="square" rtlCol="0">
            <a:spAutoFit/>
          </a:bodyPr>
          <a:lstStyle/>
          <a:p>
            <a:r>
              <a:rPr lang="zh-CN" altLang="en-US" sz="1100" b="1" dirty="0"/>
              <a:t>单位：万元</a:t>
            </a:r>
          </a:p>
        </p:txBody>
      </p:sp>
      <p:sp>
        <p:nvSpPr>
          <p:cNvPr id="50" name="TextBox 12"/>
          <p:cNvSpPr txBox="1"/>
          <p:nvPr/>
        </p:nvSpPr>
        <p:spPr>
          <a:xfrm>
            <a:off x="1523999" y="5284358"/>
            <a:ext cx="9190008" cy="923330"/>
          </a:xfrm>
          <a:prstGeom prst="rect">
            <a:avLst/>
          </a:prstGeom>
          <a:noFill/>
        </p:spPr>
        <p:txBody>
          <a:bodyPr wrap="square" rtlCol="0">
            <a:spAutoFit/>
          </a:bodyPr>
          <a:lstStyle/>
          <a:p>
            <a:pPr>
              <a:lnSpc>
                <a:spcPct val="150000"/>
              </a:lnSpc>
            </a:pPr>
            <a:r>
              <a:rPr lang="zh-CN" altLang="en-US" dirty="0">
                <a:latin typeface="黑体" panose="02010609060101010101" pitchFamily="49" charset="-122"/>
                <a:ea typeface="黑体" panose="02010609060101010101" pitchFamily="49" charset="-122"/>
              </a:rPr>
              <a:t>分析：从收入结构对比分析看，</a:t>
            </a:r>
            <a:r>
              <a:rPr lang="en-US" altLang="zh-CN" dirty="0">
                <a:latin typeface="黑体" panose="02010609060101010101" pitchFamily="49" charset="-122"/>
                <a:ea typeface="黑体" panose="02010609060101010101" pitchFamily="49" charset="-122"/>
              </a:rPr>
              <a:t>2017</a:t>
            </a:r>
            <a:r>
              <a:rPr lang="zh-CN" altLang="en-US" dirty="0">
                <a:latin typeface="黑体" panose="02010609060101010101" pitchFamily="49" charset="-122"/>
                <a:ea typeface="黑体" panose="02010609060101010101" pitchFamily="49" charset="-122"/>
              </a:rPr>
              <a:t>年，投入比例较高的是购买大型设备，主要收入来自于</a:t>
            </a:r>
            <a:r>
              <a:rPr lang="en-US" altLang="zh-CN" dirty="0">
                <a:latin typeface="黑体" panose="02010609060101010101" pitchFamily="49" charset="-122"/>
                <a:ea typeface="黑体" panose="02010609060101010101" pitchFamily="49" charset="-122"/>
              </a:rPr>
              <a:t>XX</a:t>
            </a:r>
            <a:r>
              <a:rPr lang="zh-CN" altLang="en-US" dirty="0">
                <a:latin typeface="黑体" panose="02010609060101010101" pitchFamily="49" charset="-122"/>
                <a:ea typeface="黑体" panose="02010609060101010101" pitchFamily="49" charset="-122"/>
              </a:rPr>
              <a:t>产品的销售利润。</a:t>
            </a:r>
          </a:p>
        </p:txBody>
      </p:sp>
    </p:spTree>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ppt_y</p:attrName>
                                        </p:attrNameLst>
                                      </p:cBhvr>
                                      <p:tavLst>
                                        <p:tav tm="0">
                                          <p:val>
                                            <p:strVal val="#ppt_y+#ppt_h*1.125000"/>
                                          </p:val>
                                        </p:tav>
                                        <p:tav tm="100000">
                                          <p:val>
                                            <p:strVal val="#ppt_y"/>
                                          </p:val>
                                        </p:tav>
                                      </p:tavLst>
                                    </p:anim>
                                    <p:animEffect transition="in" filter="wipe(up)">
                                      <p:cBhvr>
                                        <p:cTn id="8" dur="500"/>
                                        <p:tgtEl>
                                          <p:spTgt spid="47"/>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ppt_x"/>
                                          </p:val>
                                        </p:tav>
                                        <p:tav tm="100000">
                                          <p:val>
                                            <p:strVal val="#ppt_x"/>
                                          </p:val>
                                        </p:tav>
                                      </p:tavLst>
                                    </p:anim>
                                    <p:anim calcmode="lin" valueType="num">
                                      <p:cBhvr additive="base">
                                        <p:cTn id="1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500" fill="hold"/>
                                        <p:tgtEl>
                                          <p:spTgt spid="50"/>
                                        </p:tgtEl>
                                        <p:attrNameLst>
                                          <p:attrName>ppt_x</p:attrName>
                                        </p:attrNameLst>
                                      </p:cBhvr>
                                      <p:tavLst>
                                        <p:tav tm="0">
                                          <p:val>
                                            <p:strVal val="#ppt_x"/>
                                          </p:val>
                                        </p:tav>
                                        <p:tav tm="100000">
                                          <p:val>
                                            <p:strVal val="#ppt_x"/>
                                          </p:val>
                                        </p:tav>
                                      </p:tavLst>
                                    </p:anim>
                                    <p:anim calcmode="lin" valueType="num">
                                      <p:cBhvr additive="base">
                                        <p:cTn id="20"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收入结构对比分析</a:t>
            </a:r>
          </a:p>
        </p:txBody>
      </p:sp>
      <p:sp>
        <p:nvSpPr>
          <p:cNvPr id="49" name="TextBox 8"/>
          <p:cNvSpPr txBox="1"/>
          <p:nvPr/>
        </p:nvSpPr>
        <p:spPr>
          <a:xfrm>
            <a:off x="8924196" y="1193819"/>
            <a:ext cx="1296144" cy="261610"/>
          </a:xfrm>
          <a:prstGeom prst="rect">
            <a:avLst/>
          </a:prstGeom>
          <a:noFill/>
        </p:spPr>
        <p:txBody>
          <a:bodyPr wrap="square" rtlCol="0">
            <a:spAutoFit/>
          </a:bodyPr>
          <a:lstStyle/>
          <a:p>
            <a:r>
              <a:rPr lang="zh-CN" altLang="en-US" sz="1100" b="1" dirty="0"/>
              <a:t>单位：万元</a:t>
            </a:r>
          </a:p>
        </p:txBody>
      </p:sp>
      <p:graphicFrame>
        <p:nvGraphicFramePr>
          <p:cNvPr id="7" name="内容占位符 10"/>
          <p:cNvGraphicFramePr/>
          <p:nvPr/>
        </p:nvGraphicFramePr>
        <p:xfrm>
          <a:off x="902117" y="1608109"/>
          <a:ext cx="8897491" cy="4669905"/>
        </p:xfrm>
        <a:graphic>
          <a:graphicData uri="http://schemas.openxmlformats.org/drawingml/2006/table">
            <a:tbl>
              <a:tblPr firstRow="1" bandRow="1">
                <a:tableStyleId>{EB9631B5-78F2-41C9-869B-9F39066F8104}</a:tableStyleId>
              </a:tblPr>
              <a:tblGrid>
                <a:gridCol w="3146486"/>
                <a:gridCol w="1302259"/>
                <a:gridCol w="2224373"/>
                <a:gridCol w="2224373"/>
              </a:tblGrid>
              <a:tr h="311327">
                <a:tc>
                  <a:txBody>
                    <a:bodyPr/>
                    <a:lstStyle/>
                    <a:p>
                      <a:pPr algn="ctr" fontAlgn="ctr"/>
                      <a:r>
                        <a:rPr lang="zh-CN" altLang="en-US" sz="1050" u="none" strike="noStrike" dirty="0"/>
                        <a:t>银行名称</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币别</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状态</a:t>
                      </a:r>
                      <a:endParaRPr lang="zh-CN" altLang="en-US" sz="1050" b="0" i="0" u="none" strike="noStrike" dirty="0">
                        <a:latin typeface="宋体" panose="02010600030101010101" pitchFamily="2" charset="-122"/>
                      </a:endParaRPr>
                    </a:p>
                  </a:txBody>
                  <a:tcPr marL="9525" marR="9525" marT="9525" marB="0" anchor="ctr"/>
                </a:tc>
                <a:tc>
                  <a:txBody>
                    <a:bodyPr/>
                    <a:lstStyle/>
                    <a:p>
                      <a:pPr algn="ctr" fontAlgn="ctr"/>
                      <a:r>
                        <a:rPr lang="zh-CN" altLang="en-US" sz="1050" u="none" strike="noStrike" dirty="0"/>
                        <a:t>资金储备比</a:t>
                      </a:r>
                      <a:endParaRPr lang="zh-CN" altLang="en-US" sz="1050" b="0" i="0" u="none" strike="noStrike" dirty="0">
                        <a:latin typeface="宋体" panose="02010600030101010101" pitchFamily="2" charset="-122"/>
                      </a:endParaRPr>
                    </a:p>
                  </a:txBody>
                  <a:tcPr marL="9525" marR="9525" marT="9525" marB="0" anchor="ctr"/>
                </a:tc>
              </a:tr>
              <a:tr h="311327">
                <a:tc>
                  <a:txBody>
                    <a:bodyPr/>
                    <a:lstStyle/>
                    <a:p>
                      <a:pPr algn="ctr" fontAlgn="ctr"/>
                      <a:r>
                        <a:rPr lang="zh-CN" altLang="en-US" sz="1000" b="0" i="0" u="none" strike="noStrike" dirty="0">
                          <a:latin typeface="+mn-ea"/>
                          <a:ea typeface="+mn-ea"/>
                        </a:rPr>
                        <a:t>银行</a:t>
                      </a:r>
                      <a:r>
                        <a:rPr lang="en-US" altLang="zh-CN" sz="1000" b="0" i="0" u="none" strike="noStrike" dirty="0">
                          <a:latin typeface="+mn-ea"/>
                          <a:ea typeface="+mn-ea"/>
                        </a:rPr>
                        <a:t>*****</a:t>
                      </a:r>
                    </a:p>
                  </a:txBody>
                  <a:tcPr marL="9525" marR="9525" marT="9525" marB="0" anchor="ctr"/>
                </a:tc>
                <a:tc>
                  <a:txBody>
                    <a:bodyPr/>
                    <a:lstStyle/>
                    <a:p>
                      <a:pPr algn="ctr" fontAlgn="ctr"/>
                      <a:r>
                        <a:rPr lang="zh-CN" altLang="en-US" sz="1000" u="none" strike="noStrike" dirty="0">
                          <a:latin typeface="+mn-ea"/>
                          <a:ea typeface="+mn-ea"/>
                        </a:rPr>
                        <a:t>人民币</a:t>
                      </a:r>
                      <a:endParaRPr lang="zh-CN" altLang="en-US"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常用</a:t>
                      </a:r>
                      <a:endParaRPr lang="zh-CN" altLang="en-US" sz="1000" b="0" i="0" u="none" strike="noStrike">
                        <a:latin typeface="+mn-ea"/>
                        <a:ea typeface="+mn-ea"/>
                      </a:endParaRPr>
                    </a:p>
                  </a:txBody>
                  <a:tcPr marL="9525" marR="9525" marT="9525" marB="0" anchor="ctr"/>
                </a:tc>
                <a:tc>
                  <a:txBody>
                    <a:bodyPr/>
                    <a:lstStyle/>
                    <a:p>
                      <a:pPr algn="ctr" fontAlgn="ctr"/>
                      <a:r>
                        <a:rPr lang="en-US" altLang="zh-CN" sz="1000" u="none" strike="noStrike" dirty="0">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solidFill>
                            <a:srgbClr val="FF0000"/>
                          </a:solidFill>
                          <a:latin typeface="+mn-ea"/>
                          <a:ea typeface="+mn-ea"/>
                        </a:rPr>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solidFill>
                            <a:srgbClr val="FF0000"/>
                          </a:solidFill>
                          <a:latin typeface="+mn-ea"/>
                          <a:ea typeface="+mn-ea"/>
                        </a:rPr>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dirty="0">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人民币</a:t>
                      </a:r>
                      <a:endParaRPr lang="zh-CN" altLang="en-US" sz="1000" b="0" i="0" u="none" strike="noStrike" dirty="0">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常用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solidFill>
                            <a:srgbClr val="FF0000"/>
                          </a:solidFill>
                          <a:latin typeface="+mn-ea"/>
                          <a:ea typeface="+mn-ea"/>
                        </a:rPr>
                        <a:t>港币</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常用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少用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latin typeface="+mn-ea"/>
                          <a:ea typeface="+mn-ea"/>
                        </a:rPr>
                        <a:t>不用</a:t>
                      </a:r>
                      <a:endParaRPr lang="zh-CN" altLang="en-US" sz="1000" b="0" i="0" u="none" strike="noStrike" dirty="0">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a:latin typeface="+mn-ea"/>
                          <a:ea typeface="+mn-ea"/>
                        </a:rPr>
                        <a:t>人民币</a:t>
                      </a:r>
                      <a:endParaRPr lang="zh-CN" altLang="en-US" sz="1000" b="0" i="0" u="none" strike="noStrike">
                        <a:latin typeface="+mn-ea"/>
                        <a:ea typeface="+mn-ea"/>
                      </a:endParaRPr>
                    </a:p>
                  </a:txBody>
                  <a:tcPr marL="9525" marR="9525" marT="9525" marB="0" anchor="ctr"/>
                </a:tc>
                <a:tc>
                  <a:txBody>
                    <a:bodyPr/>
                    <a:lstStyle/>
                    <a:p>
                      <a:pPr algn="ctr" fontAlgn="ctr"/>
                      <a:r>
                        <a:rPr lang="zh-CN" altLang="en-US" sz="1000" u="none" strike="noStrike" dirty="0">
                          <a:solidFill>
                            <a:schemeClr val="tx1"/>
                          </a:solidFill>
                          <a:latin typeface="+mn-ea"/>
                          <a:ea typeface="+mn-ea"/>
                        </a:rPr>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a:latin typeface="+mn-ea"/>
                          <a:ea typeface="+mn-ea"/>
                        </a:rPr>
                        <a:t>银行</a:t>
                      </a:r>
                      <a:r>
                        <a:rPr lang="en-US" altLang="zh-CN" sz="1000" b="0" i="0" u="none" strike="noStrike">
                          <a:latin typeface="+mn-ea"/>
                          <a:ea typeface="+mn-ea"/>
                        </a:rPr>
                        <a:t>*****</a:t>
                      </a:r>
                      <a:endParaRPr lang="en-US" altLang="zh-CN" sz="1000" b="0" i="0" u="none" strike="noStrike" dirty="0">
                        <a:latin typeface="+mn-ea"/>
                        <a:ea typeface="+mn-ea"/>
                      </a:endParaRPr>
                    </a:p>
                  </a:txBody>
                  <a:tcPr marL="9525" marR="9525" marT="9525" marB="0" anchor="ctr"/>
                </a:tc>
                <a:tc>
                  <a:txBody>
                    <a:bodyPr/>
                    <a:lstStyle/>
                    <a:p>
                      <a:pPr algn="ctr" fontAlgn="ctr"/>
                      <a:r>
                        <a:rPr lang="zh-CN" altLang="en-US" sz="1000" u="none" strike="noStrike" dirty="0">
                          <a:solidFill>
                            <a:srgbClr val="FF0000"/>
                          </a:solidFill>
                          <a:latin typeface="+mn-ea"/>
                          <a:ea typeface="+mn-ea"/>
                        </a:rPr>
                        <a:t>美元</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solidFill>
                            <a:schemeClr val="tx1"/>
                          </a:solidFill>
                          <a:latin typeface="+mn-ea"/>
                          <a:ea typeface="+mn-ea"/>
                        </a:rPr>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a:latin typeface="+mn-ea"/>
                          <a:ea typeface="+mn-ea"/>
                        </a:rPr>
                        <a:t>%</a:t>
                      </a:r>
                      <a:endParaRPr lang="en-US" altLang="zh-CN" sz="1000" b="0" i="0" u="none" strike="noStrike" dirty="0">
                        <a:latin typeface="+mn-ea"/>
                        <a:ea typeface="+mn-ea"/>
                      </a:endParaRPr>
                    </a:p>
                  </a:txBody>
                  <a:tcPr marL="9525" marR="9525" marT="9525" marB="0" anchor="ctr"/>
                </a:tc>
              </a:tr>
              <a:tr h="311327">
                <a:tc>
                  <a:txBody>
                    <a:bodyPr/>
                    <a:lstStyle/>
                    <a:p>
                      <a:pPr algn="ctr" fontAlgn="ctr"/>
                      <a:r>
                        <a:rPr lang="zh-CN" altLang="en-US" sz="1000" b="0" i="0" u="none" strike="noStrike" dirty="0">
                          <a:latin typeface="+mn-ea"/>
                          <a:ea typeface="+mn-ea"/>
                        </a:rPr>
                        <a:t>银行</a:t>
                      </a:r>
                      <a:r>
                        <a:rPr lang="en-US" altLang="zh-CN" sz="1000" b="0" i="0" u="none" strike="noStrike" dirty="0">
                          <a:latin typeface="+mn-ea"/>
                          <a:ea typeface="+mn-ea"/>
                        </a:rPr>
                        <a:t>*****</a:t>
                      </a:r>
                    </a:p>
                  </a:txBody>
                  <a:tcPr marL="9525" marR="9525" marT="9525" marB="0" anchor="ctr"/>
                </a:tc>
                <a:tc>
                  <a:txBody>
                    <a:bodyPr/>
                    <a:lstStyle/>
                    <a:p>
                      <a:pPr algn="ctr" fontAlgn="ctr"/>
                      <a:r>
                        <a:rPr lang="zh-CN" altLang="en-US" sz="1000" u="none" strike="noStrike" dirty="0">
                          <a:solidFill>
                            <a:srgbClr val="FF0000"/>
                          </a:solidFill>
                          <a:latin typeface="+mn-ea"/>
                          <a:ea typeface="+mn-ea"/>
                        </a:rPr>
                        <a:t>港币</a:t>
                      </a:r>
                      <a:endParaRPr lang="zh-CN" altLang="en-US" sz="1000" b="0" i="0" u="none" strike="noStrike" dirty="0">
                        <a:solidFill>
                          <a:srgbClr val="FF0000"/>
                        </a:solidFill>
                        <a:latin typeface="+mn-ea"/>
                        <a:ea typeface="+mn-ea"/>
                      </a:endParaRPr>
                    </a:p>
                  </a:txBody>
                  <a:tcPr marL="9525" marR="9525" marT="9525" marB="0" anchor="ctr"/>
                </a:tc>
                <a:tc>
                  <a:txBody>
                    <a:bodyPr/>
                    <a:lstStyle/>
                    <a:p>
                      <a:pPr algn="ctr" fontAlgn="ctr"/>
                      <a:r>
                        <a:rPr lang="zh-CN" altLang="en-US" sz="1000" u="none" strike="noStrike" dirty="0">
                          <a:solidFill>
                            <a:schemeClr val="tx1"/>
                          </a:solidFill>
                          <a:latin typeface="+mn-ea"/>
                          <a:ea typeface="+mn-ea"/>
                        </a:rPr>
                        <a:t>不用</a:t>
                      </a:r>
                      <a:endParaRPr lang="zh-CN" altLang="en-US" sz="1000" b="0" i="0" u="none" strike="noStrike" dirty="0">
                        <a:solidFill>
                          <a:schemeClr val="tx1"/>
                        </a:solidFill>
                        <a:latin typeface="+mn-ea"/>
                        <a:ea typeface="+mn-ea"/>
                      </a:endParaRPr>
                    </a:p>
                  </a:txBody>
                  <a:tcPr marL="9525" marR="9525" marT="9525" marB="0" anchor="ctr"/>
                </a:tc>
                <a:tc>
                  <a:txBody>
                    <a:bodyPr/>
                    <a:lstStyle/>
                    <a:p>
                      <a:pPr algn="ctr" fontAlgn="ctr"/>
                      <a:r>
                        <a:rPr lang="en-US" altLang="zh-CN" sz="1000" u="none" strike="noStrike" dirty="0">
                          <a:latin typeface="+mn-ea"/>
                          <a:ea typeface="+mn-ea"/>
                        </a:rPr>
                        <a:t>%</a:t>
                      </a:r>
                      <a:endParaRPr lang="en-US" altLang="zh-CN" sz="1000" b="0" i="0" u="none" strike="noStrike" dirty="0">
                        <a:latin typeface="+mn-ea"/>
                        <a:ea typeface="+mn-ea"/>
                      </a:endParaRPr>
                    </a:p>
                  </a:txBody>
                  <a:tcPr marL="9525" marR="9525" marT="9525" marB="0" anchor="ctr"/>
                </a:tc>
              </a:tr>
            </a:tbl>
          </a:graphicData>
        </a:graphic>
      </p:graphicFrame>
      <p:pic>
        <p:nvPicPr>
          <p:cNvPr id="8" name="图片 7" descr="QQ图片20170518101614.png"/>
          <p:cNvPicPr>
            <a:picLocks noChangeAspect="1"/>
          </p:cNvPicPr>
          <p:nvPr/>
        </p:nvPicPr>
        <p:blipFill>
          <a:blip r:embed="rId3" cstate="print"/>
          <a:stretch>
            <a:fillRect/>
          </a:stretch>
        </p:blipFill>
        <p:spPr>
          <a:xfrm>
            <a:off x="10396682" y="4779417"/>
            <a:ext cx="1607438" cy="18722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ppt_y</p:attrName>
                                        </p:attrNameLst>
                                      </p:cBhvr>
                                      <p:tavLst>
                                        <p:tav tm="0">
                                          <p:val>
                                            <p:strVal val="#ppt_y+#ppt_h*1.125000"/>
                                          </p:val>
                                        </p:tav>
                                        <p:tav tm="100000">
                                          <p:val>
                                            <p:strVal val="#ppt_y"/>
                                          </p:val>
                                        </p:tav>
                                      </p:tavLst>
                                    </p:anim>
                                    <p:animEffect transition="in" filter="wipe(up)">
                                      <p:cBhvr>
                                        <p:cTn id="8" dur="500"/>
                                        <p:tgtEl>
                                          <p:spTgt spid="47"/>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收入结构对比分析</a:t>
            </a:r>
          </a:p>
        </p:txBody>
      </p:sp>
      <p:sp>
        <p:nvSpPr>
          <p:cNvPr id="49" name="TextBox 8"/>
          <p:cNvSpPr txBox="1"/>
          <p:nvPr/>
        </p:nvSpPr>
        <p:spPr>
          <a:xfrm>
            <a:off x="9200241" y="1193819"/>
            <a:ext cx="1296144" cy="261610"/>
          </a:xfrm>
          <a:prstGeom prst="rect">
            <a:avLst/>
          </a:prstGeom>
          <a:noFill/>
        </p:spPr>
        <p:txBody>
          <a:bodyPr wrap="square" rtlCol="0">
            <a:spAutoFit/>
          </a:bodyPr>
          <a:lstStyle/>
          <a:p>
            <a:r>
              <a:rPr lang="zh-CN" altLang="en-US" sz="1100" b="1" dirty="0"/>
              <a:t>单位：万元</a:t>
            </a:r>
          </a:p>
        </p:txBody>
      </p:sp>
      <p:pic>
        <p:nvPicPr>
          <p:cNvPr id="8" name="图片 7" descr="QQ图片20170518101614.png"/>
          <p:cNvPicPr>
            <a:picLocks noChangeAspect="1"/>
          </p:cNvPicPr>
          <p:nvPr/>
        </p:nvPicPr>
        <p:blipFill>
          <a:blip r:embed="rId3" cstate="print"/>
          <a:stretch>
            <a:fillRect/>
          </a:stretch>
        </p:blipFill>
        <p:spPr>
          <a:xfrm>
            <a:off x="10396682" y="4779417"/>
            <a:ext cx="1607438" cy="1872208"/>
          </a:xfrm>
          <a:prstGeom prst="rect">
            <a:avLst/>
          </a:prstGeom>
        </p:spPr>
      </p:pic>
      <p:graphicFrame>
        <p:nvGraphicFramePr>
          <p:cNvPr id="6" name="图表 5"/>
          <p:cNvGraphicFramePr/>
          <p:nvPr/>
        </p:nvGraphicFramePr>
        <p:xfrm>
          <a:off x="817015" y="1324624"/>
          <a:ext cx="9403325" cy="518457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4="http://schemas.microsoft.com/office/powerpoint/2010/main">
    <mc:Choice Requires="p14">
      <p:transition spd="slow" p14:dur="1250" advClick="0" advTm="3000">
        <p14:flip dir="r"/>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p:tgtEl>
                                          <p:spTgt spid="47"/>
                                        </p:tgtEl>
                                        <p:attrNameLst>
                                          <p:attrName>ppt_y</p:attrName>
                                        </p:attrNameLst>
                                      </p:cBhvr>
                                      <p:tavLst>
                                        <p:tav tm="0">
                                          <p:val>
                                            <p:strVal val="#ppt_y+#ppt_h*1.125000"/>
                                          </p:val>
                                        </p:tav>
                                        <p:tav tm="100000">
                                          <p:val>
                                            <p:strVal val="#ppt_y"/>
                                          </p:val>
                                        </p:tav>
                                      </p:tavLst>
                                    </p:anim>
                                    <p:animEffect transition="in" filter="wipe(up)">
                                      <p:cBhvr>
                                        <p:cTn id="8" dur="500"/>
                                        <p:tgtEl>
                                          <p:spTgt spid="47"/>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Graphic spid="6"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rot="2700000">
            <a:off x="2561399" y="2408490"/>
            <a:ext cx="2101576" cy="2208116"/>
            <a:chOff x="0" y="986971"/>
            <a:chExt cx="4615543" cy="4847774"/>
          </a:xfrm>
        </p:grpSpPr>
        <p:sp>
          <p:nvSpPr>
            <p:cNvPr id="3" name="矩形 2"/>
            <p:cNvSpPr/>
            <p:nvPr/>
          </p:nvSpPr>
          <p:spPr>
            <a:xfrm>
              <a:off x="449943" y="986971"/>
              <a:ext cx="4165600" cy="4847774"/>
            </a:xfrm>
            <a:prstGeom prst="rect">
              <a:avLst/>
            </a:prstGeom>
            <a:noFill/>
            <a:ln>
              <a:solidFill>
                <a:schemeClr val="accent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矩形 3"/>
            <p:cNvSpPr/>
            <p:nvPr/>
          </p:nvSpPr>
          <p:spPr>
            <a:xfrm>
              <a:off x="0" y="1320801"/>
              <a:ext cx="4180114" cy="4180114"/>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sp>
        <p:nvSpPr>
          <p:cNvPr id="5" name="矩形 4"/>
          <p:cNvSpPr/>
          <p:nvPr/>
        </p:nvSpPr>
        <p:spPr>
          <a:xfrm>
            <a:off x="5135893" y="2437438"/>
            <a:ext cx="3887653" cy="1015663"/>
          </a:xfrm>
          <a:prstGeom prst="rect">
            <a:avLst/>
          </a:prstGeom>
        </p:spPr>
        <p:txBody>
          <a:bodyPr wrap="square">
            <a:spAutoFit/>
          </a:bodyPr>
          <a:lstStyle/>
          <a:p>
            <a:pPr algn="ctr">
              <a:buNone/>
            </a:pPr>
            <a:r>
              <a:rPr lang="zh-CN" altLang="en-US" sz="6000" dirty="0">
                <a:solidFill>
                  <a:schemeClr val="bg1">
                    <a:lumMod val="50000"/>
                  </a:schemeClr>
                </a:solidFill>
                <a:latin typeface="微软雅黑" panose="020B0503020204020204" charset="-122"/>
                <a:ea typeface="微软雅黑" panose="020B0503020204020204" charset="-122"/>
              </a:rPr>
              <a:t>费用分析</a:t>
            </a:r>
          </a:p>
        </p:txBody>
      </p:sp>
      <p:sp>
        <p:nvSpPr>
          <p:cNvPr id="6" name="文本框 26"/>
          <p:cNvSpPr txBox="1"/>
          <p:nvPr/>
        </p:nvSpPr>
        <p:spPr>
          <a:xfrm>
            <a:off x="5568720" y="3373032"/>
            <a:ext cx="5135792" cy="879856"/>
          </a:xfrm>
          <a:prstGeom prst="rect">
            <a:avLst/>
          </a:prstGeom>
          <a:noFill/>
        </p:spPr>
        <p:txBody>
          <a:bodyPr wrap="square" rtlCol="0">
            <a:spAutoFit/>
          </a:bodyPr>
          <a:lstStyle/>
          <a:p>
            <a:pPr>
              <a:lnSpc>
                <a:spcPct val="150000"/>
              </a:lnSpc>
            </a:pPr>
            <a:r>
              <a:rPr lang="en-US" altLang="zh-CN" sz="1135" dirty="0">
                <a:solidFill>
                  <a:schemeClr val="tx1">
                    <a:lumMod val="65000"/>
                    <a:lumOff val="35000"/>
                  </a:schemeClr>
                </a:solidFill>
                <a:latin typeface="Arial" panose="020B0604020202020204" pitchFamily="34" charset="0"/>
                <a:cs typeface="Arial" panose="020B0604020202020204" pitchFamily="34" charset="0"/>
                <a:sym typeface="+mn-lt"/>
              </a:rPr>
              <a:t>CLICK ADD RELATED TITLE TEXT, AND CLICK ADD RELATED TITLE TEXT, CLICK ADD RELATED TITLE TEXT, CLICK ON ADD RELATED TITLE WORDS.</a:t>
            </a:r>
            <a:endParaRPr lang="zh-CN" altLang="en-US" sz="1135" dirty="0">
              <a:solidFill>
                <a:schemeClr val="tx1">
                  <a:lumMod val="65000"/>
                  <a:lumOff val="35000"/>
                </a:schemeClr>
              </a:solidFill>
              <a:latin typeface="Arial" panose="020B0604020202020204" pitchFamily="34" charset="0"/>
              <a:cs typeface="Arial" panose="020B0604020202020204" pitchFamily="34" charset="0"/>
              <a:sym typeface="+mn-lt"/>
            </a:endParaRPr>
          </a:p>
        </p:txBody>
      </p:sp>
      <p:sp>
        <p:nvSpPr>
          <p:cNvPr id="7" name="TextBox 20"/>
          <p:cNvSpPr txBox="1"/>
          <p:nvPr/>
        </p:nvSpPr>
        <p:spPr>
          <a:xfrm>
            <a:off x="3023659" y="2852937"/>
            <a:ext cx="1210588" cy="1200329"/>
          </a:xfrm>
          <a:prstGeom prst="rect">
            <a:avLst/>
          </a:prstGeom>
          <a:noFill/>
        </p:spPr>
        <p:txBody>
          <a:bodyPr wrap="none" rtlCol="0">
            <a:spAutoFit/>
          </a:bodyPr>
          <a:lstStyle/>
          <a:p>
            <a:r>
              <a:rPr lang="en-US" altLang="zh-CN" sz="7200" dirty="0">
                <a:solidFill>
                  <a:schemeClr val="bg1"/>
                </a:solidFill>
              </a:rPr>
              <a:t>04</a:t>
            </a:r>
            <a:endParaRPr lang="zh-CN" altLang="en-US" sz="7200" dirty="0">
              <a:solidFill>
                <a:schemeClr val="bg1"/>
              </a:solidFill>
            </a:endParaRPr>
          </a:p>
        </p:txBody>
      </p:sp>
      <p:pic>
        <p:nvPicPr>
          <p:cNvPr id="8" name="图片 7" descr="QQ图片20170823140614.png"/>
          <p:cNvPicPr>
            <a:picLocks noChangeAspect="1"/>
          </p:cNvPicPr>
          <p:nvPr/>
        </p:nvPicPr>
        <p:blipFill>
          <a:blip r:embed="rId3" cstate="print"/>
          <a:stretch>
            <a:fillRect/>
          </a:stretch>
        </p:blipFill>
        <p:spPr>
          <a:xfrm>
            <a:off x="4649666" y="4252888"/>
            <a:ext cx="6973899" cy="90963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advClick="0" advTm="3000">
        <p14:warp dir="in"/>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250" fill="hold"/>
                                        <p:tgtEl>
                                          <p:spTgt spid="2"/>
                                        </p:tgtEl>
                                        <p:attrNameLst>
                                          <p:attrName>ppt_w</p:attrName>
                                        </p:attrNameLst>
                                      </p:cBhvr>
                                      <p:tavLst>
                                        <p:tav tm="0">
                                          <p:val>
                                            <p:fltVal val="0"/>
                                          </p:val>
                                        </p:tav>
                                        <p:tav tm="100000">
                                          <p:val>
                                            <p:strVal val="#ppt_w"/>
                                          </p:val>
                                        </p:tav>
                                      </p:tavLst>
                                    </p:anim>
                                    <p:anim calcmode="lin" valueType="num">
                                      <p:cBhvr>
                                        <p:cTn id="8" dur="1250" fill="hold"/>
                                        <p:tgtEl>
                                          <p:spTgt spid="2"/>
                                        </p:tgtEl>
                                        <p:attrNameLst>
                                          <p:attrName>ppt_h</p:attrName>
                                        </p:attrNameLst>
                                      </p:cBhvr>
                                      <p:tavLst>
                                        <p:tav tm="0">
                                          <p:val>
                                            <p:fltVal val="0"/>
                                          </p:val>
                                        </p:tav>
                                        <p:tav tm="100000">
                                          <p:val>
                                            <p:strVal val="#ppt_h"/>
                                          </p:val>
                                        </p:tav>
                                      </p:tavLst>
                                    </p:anim>
                                    <p:animEffect transition="in" filter="fade">
                                      <p:cBhvr>
                                        <p:cTn id="9" dur="125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4*#ppt_w"/>
                                          </p:val>
                                        </p:tav>
                                        <p:tav tm="100000">
                                          <p:val>
                                            <p:strVal val="#ppt_w"/>
                                          </p:val>
                                        </p:tav>
                                      </p:tavLst>
                                    </p:anim>
                                    <p:anim calcmode="lin" valueType="num">
                                      <p:cBhvr>
                                        <p:cTn id="22" dur="500" fill="hold"/>
                                        <p:tgtEl>
                                          <p:spTgt spid="5"/>
                                        </p:tgtEl>
                                        <p:attrNameLst>
                                          <p:attrName>ppt_h</p:attrName>
                                        </p:attrNameLst>
                                      </p:cBhvr>
                                      <p:tavLst>
                                        <p:tav tm="0">
                                          <p:val>
                                            <p:strVal val="4*#ppt_h"/>
                                          </p:val>
                                        </p:tav>
                                        <p:tav tm="100000">
                                          <p:val>
                                            <p:strVal val="#ppt_h"/>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59"/>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期间费用总体分析</a:t>
            </a:r>
          </a:p>
        </p:txBody>
      </p:sp>
      <p:graphicFrame>
        <p:nvGraphicFramePr>
          <p:cNvPr id="61" name="内容占位符 6"/>
          <p:cNvGraphicFramePr/>
          <p:nvPr/>
        </p:nvGraphicFramePr>
        <p:xfrm>
          <a:off x="1524000" y="1600200"/>
          <a:ext cx="4546848" cy="3411840"/>
        </p:xfrm>
        <a:graphic>
          <a:graphicData uri="http://schemas.openxmlformats.org/drawingml/2006/table">
            <a:tbl>
              <a:tblPr firstRow="1" bandRow="1">
                <a:tableStyleId>{EB344D84-9AFB-497E-A393-DC336BA19D2E}</a:tableStyleId>
              </a:tblPr>
              <a:tblGrid>
                <a:gridCol w="1018456"/>
                <a:gridCol w="792088"/>
                <a:gridCol w="792088"/>
                <a:gridCol w="792088"/>
                <a:gridCol w="1152128"/>
              </a:tblGrid>
              <a:tr h="415560">
                <a:tc>
                  <a:txBody>
                    <a:bodyPr/>
                    <a:lstStyle/>
                    <a:p>
                      <a:pPr algn="ctr"/>
                      <a:r>
                        <a:rPr lang="zh-CN" altLang="en-US" sz="1400" dirty="0"/>
                        <a:t>年份</a:t>
                      </a:r>
                    </a:p>
                  </a:txBody>
                  <a:tcPr/>
                </a:tc>
                <a:tc>
                  <a:txBody>
                    <a:bodyPr/>
                    <a:lstStyle/>
                    <a:p>
                      <a:pPr algn="ctr"/>
                      <a:r>
                        <a:rPr lang="en-US" altLang="zh-CN" sz="1400" dirty="0"/>
                        <a:t>2014</a:t>
                      </a:r>
                      <a:r>
                        <a:rPr lang="zh-CN" altLang="en-US" sz="1400" dirty="0"/>
                        <a:t>年</a:t>
                      </a:r>
                    </a:p>
                  </a:txBody>
                  <a:tcPr/>
                </a:tc>
                <a:tc>
                  <a:txBody>
                    <a:bodyPr/>
                    <a:lstStyle/>
                    <a:p>
                      <a:pPr algn="ctr"/>
                      <a:r>
                        <a:rPr lang="en-US" altLang="zh-CN" sz="1400" dirty="0"/>
                        <a:t>2015</a:t>
                      </a:r>
                      <a:r>
                        <a:rPr lang="zh-CN" altLang="en-US" sz="1400" dirty="0"/>
                        <a:t>年</a:t>
                      </a:r>
                    </a:p>
                  </a:txBody>
                  <a:tcPr/>
                </a:tc>
                <a:tc>
                  <a:txBody>
                    <a:bodyPr/>
                    <a:lstStyle/>
                    <a:p>
                      <a:pPr algn="ctr"/>
                      <a:r>
                        <a:rPr lang="en-US" altLang="zh-CN" sz="1400" dirty="0"/>
                        <a:t>2016</a:t>
                      </a:r>
                      <a:r>
                        <a:rPr lang="zh-CN" altLang="en-US" sz="1400" dirty="0"/>
                        <a:t>年</a:t>
                      </a:r>
                    </a:p>
                  </a:txBody>
                  <a:tcPr/>
                </a:tc>
                <a:tc>
                  <a:txBody>
                    <a:bodyPr/>
                    <a:lstStyle/>
                    <a:p>
                      <a:pPr algn="ctr"/>
                      <a:r>
                        <a:rPr lang="en-US" altLang="zh-CN" sz="1200" dirty="0"/>
                        <a:t>2017</a:t>
                      </a:r>
                      <a:r>
                        <a:rPr lang="zh-CN" altLang="en-US" sz="1200" dirty="0"/>
                        <a:t>年</a:t>
                      </a:r>
                    </a:p>
                  </a:txBody>
                  <a:tcPr/>
                </a:tc>
              </a:tr>
              <a:tr h="415560">
                <a:tc>
                  <a:txBody>
                    <a:bodyPr/>
                    <a:lstStyle/>
                    <a:p>
                      <a:r>
                        <a:rPr lang="zh-CN" altLang="en-US" sz="1400" b="1" dirty="0">
                          <a:latin typeface="楷体" panose="02010609060101010101" pitchFamily="49" charset="-122"/>
                          <a:ea typeface="楷体" panose="02010609060101010101" pitchFamily="49" charset="-122"/>
                        </a:rPr>
                        <a:t>销售费用</a:t>
                      </a: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41556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900" b="1" dirty="0">
                          <a:latin typeface="楷体" panose="02010609060101010101" pitchFamily="49" charset="-122"/>
                          <a:ea typeface="楷体" panose="02010609060101010101" pitchFamily="49" charset="-122"/>
                        </a:rPr>
                        <a:t>其中：</a:t>
                      </a:r>
                      <a:endParaRPr lang="en-US" altLang="zh-CN" sz="900" b="1" dirty="0">
                        <a:latin typeface="楷体" panose="02010609060101010101" pitchFamily="49" charset="-122"/>
                        <a:ea typeface="楷体" panose="02010609060101010101" pitchFamily="49" charset="-122"/>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zh-CN" sz="900" b="1" dirty="0">
                          <a:latin typeface="楷体" panose="02010609060101010101" pitchFamily="49" charset="-122"/>
                          <a:ea typeface="楷体" panose="02010609060101010101" pitchFamily="49" charset="-122"/>
                        </a:rPr>
                        <a:t>**********</a:t>
                      </a:r>
                      <a:endParaRPr lang="zh-CN" altLang="en-US" sz="900" b="1" dirty="0">
                        <a:latin typeface="楷体" panose="02010609060101010101" pitchFamily="49" charset="-122"/>
                        <a:ea typeface="楷体" panose="02010609060101010101" pitchFamily="49" charset="-122"/>
                      </a:endParaRPr>
                    </a:p>
                  </a:txBody>
                  <a:tcPr>
                    <a:solidFill>
                      <a:schemeClr val="accent4">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4">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4">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4">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4">
                        <a:lumMod val="20000"/>
                        <a:lumOff val="80000"/>
                      </a:schemeClr>
                    </a:solidFill>
                  </a:tcPr>
                </a:tc>
              </a:tr>
              <a:tr h="415560">
                <a:tc>
                  <a:txBody>
                    <a:bodyPr/>
                    <a:lstStyle/>
                    <a:p>
                      <a:r>
                        <a:rPr lang="zh-CN" altLang="en-US" sz="1400" b="1" dirty="0">
                          <a:latin typeface="楷体" panose="02010609060101010101" pitchFamily="49" charset="-122"/>
                          <a:ea typeface="楷体" panose="02010609060101010101" pitchFamily="49" charset="-122"/>
                        </a:rPr>
                        <a:t>管理费用</a:t>
                      </a: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415560">
                <a:tc>
                  <a:txBody>
                    <a:bodyPr/>
                    <a:lstStyle/>
                    <a:p>
                      <a:endParaRPr lang="en-US" altLang="zh-CN" sz="900" b="1" dirty="0">
                        <a:latin typeface="楷体" panose="02010609060101010101" pitchFamily="49" charset="-122"/>
                        <a:ea typeface="楷体" panose="02010609060101010101" pitchFamily="49" charset="-122"/>
                      </a:endParaRPr>
                    </a:p>
                    <a:p>
                      <a:r>
                        <a:rPr lang="zh-CN" altLang="en-US" sz="900" b="1" dirty="0">
                          <a:latin typeface="楷体" panose="02010609060101010101" pitchFamily="49" charset="-122"/>
                          <a:ea typeface="楷体" panose="02010609060101010101" pitchFamily="49" charset="-122"/>
                        </a:rPr>
                        <a:t>其中：</a:t>
                      </a:r>
                      <a:endParaRPr lang="en-US" altLang="zh-CN" sz="900" b="1" dirty="0">
                        <a:latin typeface="楷体" panose="02010609060101010101" pitchFamily="49" charset="-122"/>
                        <a:ea typeface="楷体" panose="02010609060101010101" pitchFamily="49" charset="-122"/>
                      </a:endParaRPr>
                    </a:p>
                    <a:p>
                      <a:r>
                        <a:rPr lang="en-US" altLang="zh-CN" sz="900" b="1" dirty="0">
                          <a:latin typeface="楷体" panose="02010609060101010101" pitchFamily="49" charset="-122"/>
                          <a:ea typeface="楷体" panose="02010609060101010101" pitchFamily="49" charset="-122"/>
                        </a:rPr>
                        <a:t>***********</a:t>
                      </a:r>
                      <a:endParaRPr lang="zh-CN" altLang="en-US" sz="900" b="1" dirty="0">
                        <a:latin typeface="楷体" panose="02010609060101010101" pitchFamily="49" charset="-122"/>
                        <a:ea typeface="楷体" panose="02010609060101010101" pitchFamily="49" charset="-122"/>
                      </a:endParaRPr>
                    </a:p>
                  </a:txBody>
                  <a:tcPr>
                    <a:solidFill>
                      <a:schemeClr val="accent6">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6">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6">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6">
                        <a:lumMod val="20000"/>
                        <a:lumOff val="80000"/>
                      </a:schemeClr>
                    </a:solidFill>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solidFill>
                      <a:schemeClr val="accent6">
                        <a:lumMod val="20000"/>
                        <a:lumOff val="80000"/>
                      </a:schemeClr>
                    </a:solidFill>
                  </a:tcPr>
                </a:tc>
              </a:tr>
              <a:tr h="415560">
                <a:tc>
                  <a:txBody>
                    <a:bodyPr/>
                    <a:lstStyle/>
                    <a:p>
                      <a:r>
                        <a:rPr lang="zh-CN" altLang="en-US" sz="1400" b="1" dirty="0">
                          <a:latin typeface="楷体" panose="02010609060101010101" pitchFamily="49" charset="-122"/>
                          <a:ea typeface="楷体" panose="02010609060101010101" pitchFamily="49" charset="-122"/>
                        </a:rPr>
                        <a:t>财务费用</a:t>
                      </a:r>
                    </a:p>
                  </a:txBody>
                  <a:tcP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c>
                  <a:txBody>
                    <a:bodyPr/>
                    <a:lstStyle/>
                    <a:p>
                      <a:pPr algn="ctr" fontAlgn="ctr"/>
                      <a:endParaRPr lang="en-US" altLang="zh-CN" sz="1200" b="0" i="0" u="none" strike="noStrike" dirty="0">
                        <a:solidFill>
                          <a:srgbClr val="000000"/>
                        </a:solidFill>
                        <a:latin typeface="MS Sans Serif"/>
                      </a:endParaRPr>
                    </a:p>
                  </a:txBody>
                  <a:tcPr marL="9525" marR="9525" marT="9525" marB="0" anchor="ctr"/>
                </a:tc>
              </a:tr>
              <a:tr h="415560">
                <a:tc>
                  <a:txBody>
                    <a:bodyPr/>
                    <a:lstStyle/>
                    <a:p>
                      <a:r>
                        <a:rPr lang="zh-CN" altLang="en-US" sz="1400" b="1" baseline="0" dirty="0">
                          <a:latin typeface="楷体" panose="02010609060101010101" pitchFamily="49" charset="-122"/>
                          <a:ea typeface="楷体" panose="02010609060101010101" pitchFamily="49" charset="-122"/>
                        </a:rPr>
                        <a:t>  </a:t>
                      </a:r>
                      <a:r>
                        <a:rPr lang="zh-CN" altLang="en-US" sz="1400" b="1" dirty="0">
                          <a:latin typeface="楷体" panose="02010609060101010101" pitchFamily="49" charset="-122"/>
                          <a:ea typeface="楷体" panose="02010609060101010101" pitchFamily="49" charset="-122"/>
                        </a:rPr>
                        <a:t>合计</a:t>
                      </a:r>
                    </a:p>
                  </a:txBody>
                  <a:tcP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r>
              <a:tr h="415560">
                <a:tc>
                  <a:txBody>
                    <a:bodyPr/>
                    <a:lstStyle/>
                    <a:p>
                      <a:r>
                        <a:rPr lang="zh-CN" altLang="en-US" sz="1400" b="1" dirty="0">
                          <a:latin typeface="楷体" panose="02010609060101010101" pitchFamily="49" charset="-122"/>
                          <a:ea typeface="楷体" panose="02010609060101010101" pitchFamily="49" charset="-122"/>
                        </a:rPr>
                        <a:t>费率比</a:t>
                      </a:r>
                    </a:p>
                  </a:txBody>
                  <a:tcP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c>
                  <a:txBody>
                    <a:bodyPr/>
                    <a:lstStyle/>
                    <a:p>
                      <a:pPr algn="ctr" fontAlgn="ctr"/>
                      <a:endParaRPr lang="en-US" altLang="zh-CN" sz="1200" b="0" i="0" u="none" strike="noStrike" kern="1200" dirty="0">
                        <a:solidFill>
                          <a:srgbClr val="000000"/>
                        </a:solidFill>
                        <a:latin typeface="MS Sans Serif"/>
                        <a:ea typeface="+mn-ea"/>
                        <a:cs typeface="+mn-cs"/>
                      </a:endParaRPr>
                    </a:p>
                  </a:txBody>
                  <a:tcPr marL="9525" marR="9525" marT="9525" marB="0" anchor="ctr"/>
                </a:tc>
              </a:tr>
            </a:tbl>
          </a:graphicData>
        </a:graphic>
      </p:graphicFrame>
      <p:graphicFrame>
        <p:nvGraphicFramePr>
          <p:cNvPr id="62" name="图表 61"/>
          <p:cNvGraphicFramePr/>
          <p:nvPr/>
        </p:nvGraphicFramePr>
        <p:xfrm>
          <a:off x="6539671" y="1505920"/>
          <a:ext cx="4010435" cy="3600400"/>
        </p:xfrm>
        <a:graphic>
          <a:graphicData uri="http://schemas.openxmlformats.org/drawingml/2006/chart">
            <c:chart xmlns:c="http://schemas.openxmlformats.org/drawingml/2006/chart" xmlns:r="http://schemas.openxmlformats.org/officeDocument/2006/relationships" r:id="rId3"/>
          </a:graphicData>
        </a:graphic>
      </p:graphicFrame>
      <p:sp>
        <p:nvSpPr>
          <p:cNvPr id="63" name="TextBox 8"/>
          <p:cNvSpPr txBox="1"/>
          <p:nvPr/>
        </p:nvSpPr>
        <p:spPr>
          <a:xfrm>
            <a:off x="1416208" y="5220866"/>
            <a:ext cx="9133898" cy="1338828"/>
          </a:xfrm>
          <a:prstGeom prst="rect">
            <a:avLst/>
          </a:prstGeom>
          <a:noFill/>
        </p:spPr>
        <p:txBody>
          <a:bodyPr wrap="square" rtlCol="0">
            <a:spAutoFit/>
          </a:bodyPr>
          <a:lstStyle/>
          <a:p>
            <a:pPr>
              <a:lnSpc>
                <a:spcPct val="150000"/>
              </a:lnSpc>
            </a:pPr>
            <a:r>
              <a:rPr lang="zh-CN" altLang="en-US" dirty="0">
                <a:latin typeface="黑体" panose="02010609060101010101" pitchFamily="49" charset="-122"/>
                <a:ea typeface="黑体" panose="02010609060101010101" pitchFamily="49" charset="-122"/>
              </a:rPr>
              <a:t>分析：</a:t>
            </a:r>
            <a:r>
              <a:rPr lang="en-US" altLang="zh-CN" dirty="0">
                <a:latin typeface="黑体" panose="02010609060101010101" pitchFamily="49" charset="-122"/>
                <a:ea typeface="黑体" panose="02010609060101010101" pitchFamily="49" charset="-122"/>
              </a:rPr>
              <a:t>2017</a:t>
            </a:r>
            <a:r>
              <a:rPr lang="zh-CN" altLang="en-US" dirty="0">
                <a:latin typeface="黑体" panose="02010609060101010101" pitchFamily="49" charset="-122"/>
                <a:ea typeface="黑体" panose="02010609060101010101" pitchFamily="49" charset="-122"/>
              </a:rPr>
              <a:t>年，测算</a:t>
            </a:r>
            <a:r>
              <a:rPr lang="en-US" altLang="zh-CN" dirty="0">
                <a:latin typeface="黑体" panose="02010609060101010101" pitchFamily="49" charset="-122"/>
                <a:ea typeface="黑体" panose="02010609060101010101" pitchFamily="49" charset="-122"/>
              </a:rPr>
              <a:t>2017</a:t>
            </a:r>
            <a:r>
              <a:rPr lang="zh-CN" altLang="en-US" dirty="0">
                <a:latin typeface="黑体" panose="02010609060101010101" pitchFamily="49" charset="-122"/>
                <a:ea typeface="黑体" panose="02010609060101010101" pitchFamily="49" charset="-122"/>
              </a:rPr>
              <a:t>全年期间费用将达万左右，费率在左右。期中上升明显的是财务费用，主要是因为</a:t>
            </a:r>
            <a:r>
              <a:rPr lang="en-US" altLang="zh-CN" dirty="0">
                <a:latin typeface="黑体" panose="02010609060101010101" pitchFamily="49" charset="-122"/>
                <a:ea typeface="黑体" panose="02010609060101010101" pitchFamily="49" charset="-122"/>
              </a:rPr>
              <a:t>2017</a:t>
            </a:r>
            <a:r>
              <a:rPr lang="zh-CN" altLang="en-US" dirty="0">
                <a:latin typeface="黑体" panose="02010609060101010101" pitchFamily="49" charset="-122"/>
                <a:ea typeface="黑体" panose="02010609060101010101" pitchFamily="49" charset="-122"/>
              </a:rPr>
              <a:t>年外币波动较大，美元持续走软，我司的储存外币和应收外销款都大受汇率的影响。</a:t>
            </a:r>
          </a:p>
        </p:txBody>
      </p:sp>
      <p:sp>
        <p:nvSpPr>
          <p:cNvPr id="64" name="TextBox 9"/>
          <p:cNvSpPr txBox="1"/>
          <p:nvPr/>
        </p:nvSpPr>
        <p:spPr>
          <a:xfrm>
            <a:off x="5087888" y="1268760"/>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gallery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p:tgtEl>
                                          <p:spTgt spid="60"/>
                                        </p:tgtEl>
                                        <p:attrNameLst>
                                          <p:attrName>ppt_y</p:attrName>
                                        </p:attrNameLst>
                                      </p:cBhvr>
                                      <p:tavLst>
                                        <p:tav tm="0">
                                          <p:val>
                                            <p:strVal val="#ppt_y+#ppt_h*1.125000"/>
                                          </p:val>
                                        </p:tav>
                                        <p:tav tm="100000">
                                          <p:val>
                                            <p:strVal val="#ppt_y"/>
                                          </p:val>
                                        </p:tav>
                                      </p:tavLst>
                                    </p:anim>
                                    <p:animEffect transition="in" filter="wipe(up)">
                                      <p:cBhvr>
                                        <p:cTn id="8" dur="500"/>
                                        <p:tgtEl>
                                          <p:spTgt spid="6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ppt_x"/>
                                          </p:val>
                                        </p:tav>
                                        <p:tav tm="100000">
                                          <p:val>
                                            <p:strVal val="#ppt_x"/>
                                          </p:val>
                                        </p:tav>
                                      </p:tavLst>
                                    </p:anim>
                                    <p:anim calcmode="lin" valueType="num">
                                      <p:cBhvr additive="base">
                                        <p:cTn id="1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
                                        </p:tgtEl>
                                        <p:attrNameLst>
                                          <p:attrName>style.visibility</p:attrName>
                                        </p:attrNameLst>
                                      </p:cBhvr>
                                      <p:to>
                                        <p:strVal val="visible"/>
                                      </p:to>
                                    </p:set>
                                    <p:anim calcmode="lin" valueType="num">
                                      <p:cBhvr additive="base">
                                        <p:cTn id="19" dur="500" fill="hold"/>
                                        <p:tgtEl>
                                          <p:spTgt spid="64"/>
                                        </p:tgtEl>
                                        <p:attrNameLst>
                                          <p:attrName>ppt_x</p:attrName>
                                        </p:attrNameLst>
                                      </p:cBhvr>
                                      <p:tavLst>
                                        <p:tav tm="0">
                                          <p:val>
                                            <p:strVal val="#ppt_x"/>
                                          </p:val>
                                        </p:tav>
                                        <p:tav tm="100000">
                                          <p:val>
                                            <p:strVal val="#ppt_x"/>
                                          </p:val>
                                        </p:tav>
                                      </p:tavLst>
                                    </p:anim>
                                    <p:anim calcmode="lin" valueType="num">
                                      <p:cBhvr additive="base">
                                        <p:cTn id="2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additive="base">
                                        <p:cTn id="25" dur="500" fill="hold"/>
                                        <p:tgtEl>
                                          <p:spTgt spid="62"/>
                                        </p:tgtEl>
                                        <p:attrNameLst>
                                          <p:attrName>ppt_x</p:attrName>
                                        </p:attrNameLst>
                                      </p:cBhvr>
                                      <p:tavLst>
                                        <p:tav tm="0">
                                          <p:val>
                                            <p:strVal val="#ppt_x"/>
                                          </p:val>
                                        </p:tav>
                                        <p:tav tm="100000">
                                          <p:val>
                                            <p:strVal val="#ppt_x"/>
                                          </p:val>
                                        </p:tav>
                                      </p:tavLst>
                                    </p:anim>
                                    <p:anim calcmode="lin" valueType="num">
                                      <p:cBhvr additive="base">
                                        <p:cTn id="26"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3"/>
                                        </p:tgtEl>
                                        <p:attrNameLst>
                                          <p:attrName>style.visibility</p:attrName>
                                        </p:attrNameLst>
                                      </p:cBhvr>
                                      <p:to>
                                        <p:strVal val="visible"/>
                                      </p:to>
                                    </p:set>
                                    <p:anim calcmode="lin" valueType="num">
                                      <p:cBhvr additive="base">
                                        <p:cTn id="31" dur="500" fill="hold"/>
                                        <p:tgtEl>
                                          <p:spTgt spid="63"/>
                                        </p:tgtEl>
                                        <p:attrNameLst>
                                          <p:attrName>ppt_x</p:attrName>
                                        </p:attrNameLst>
                                      </p:cBhvr>
                                      <p:tavLst>
                                        <p:tav tm="0">
                                          <p:val>
                                            <p:strVal val="#ppt_x"/>
                                          </p:val>
                                        </p:tav>
                                        <p:tav tm="100000">
                                          <p:val>
                                            <p:strVal val="#ppt_x"/>
                                          </p:val>
                                        </p:tav>
                                      </p:tavLst>
                                    </p:anim>
                                    <p:anim calcmode="lin" valueType="num">
                                      <p:cBhvr additive="base">
                                        <p:cTn id="32"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Graphic spid="62" grpId="0">
        <p:bldAsOne/>
      </p:bldGraphic>
      <p:bldP spid="63"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59"/>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期间费用总体分析</a:t>
            </a:r>
          </a:p>
        </p:txBody>
      </p:sp>
      <p:graphicFrame>
        <p:nvGraphicFramePr>
          <p:cNvPr id="7" name="图表 6"/>
          <p:cNvGraphicFramePr/>
          <p:nvPr/>
        </p:nvGraphicFramePr>
        <p:xfrm>
          <a:off x="1335573" y="1338135"/>
          <a:ext cx="3168352" cy="49685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图表 7"/>
          <p:cNvGraphicFramePr/>
          <p:nvPr/>
        </p:nvGraphicFramePr>
        <p:xfrm>
          <a:off x="4365970" y="1338135"/>
          <a:ext cx="3584297" cy="48965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图表 8"/>
          <p:cNvGraphicFramePr/>
          <p:nvPr/>
        </p:nvGraphicFramePr>
        <p:xfrm>
          <a:off x="8331597" y="1245877"/>
          <a:ext cx="2039888" cy="246404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图表 9"/>
          <p:cNvGraphicFramePr/>
          <p:nvPr/>
        </p:nvGraphicFramePr>
        <p:xfrm>
          <a:off x="8223585" y="3709925"/>
          <a:ext cx="2255912" cy="2376264"/>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4"/>
          <p:cNvSpPr txBox="1"/>
          <p:nvPr/>
        </p:nvSpPr>
        <p:spPr>
          <a:xfrm>
            <a:off x="9759417" y="5654141"/>
            <a:ext cx="720080" cy="369332"/>
          </a:xfrm>
          <a:prstGeom prst="rect">
            <a:avLst/>
          </a:prstGeom>
          <a:noFill/>
        </p:spPr>
        <p:txBody>
          <a:bodyPr wrap="square" rtlCol="0">
            <a:spAutoFit/>
          </a:bodyPr>
          <a:lstStyle/>
          <a:p>
            <a:r>
              <a:rPr lang="en-US" altLang="zh-CN" dirty="0">
                <a:latin typeface="黑体" panose="02010609060101010101" pitchFamily="49" charset="-122"/>
                <a:ea typeface="黑体" panose="02010609060101010101" pitchFamily="49" charset="-122"/>
              </a:rPr>
              <a:t>-</a:t>
            </a:r>
            <a:r>
              <a:rPr lang="en-US" altLang="zh-CN" sz="1100" dirty="0">
                <a:latin typeface="黑体" panose="02010609060101010101" pitchFamily="49" charset="-122"/>
                <a:ea typeface="黑体" panose="02010609060101010101" pitchFamily="49" charset="-122"/>
              </a:rPr>
              <a:t>174%</a:t>
            </a:r>
            <a:endParaRPr lang="zh-CN" altLang="en-US" sz="11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gallery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p:tgtEl>
                                          <p:spTgt spid="60"/>
                                        </p:tgtEl>
                                        <p:attrNameLst>
                                          <p:attrName>ppt_y</p:attrName>
                                        </p:attrNameLst>
                                      </p:cBhvr>
                                      <p:tavLst>
                                        <p:tav tm="0">
                                          <p:val>
                                            <p:strVal val="#ppt_y+#ppt_h*1.125000"/>
                                          </p:val>
                                        </p:tav>
                                        <p:tav tm="100000">
                                          <p:val>
                                            <p:strVal val="#ppt_y"/>
                                          </p:val>
                                        </p:tav>
                                      </p:tavLst>
                                    </p:anim>
                                    <p:animEffect transition="in" filter="wipe(up)">
                                      <p:cBhvr>
                                        <p:cTn id="8" dur="500"/>
                                        <p:tgtEl>
                                          <p:spTgt spid="6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heel(1)">
                                      <p:cBhvr>
                                        <p:cTn id="25" dur="2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heel(1)">
                                      <p:cBhvr>
                                        <p:cTn id="30"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Graphic spid="7" grpId="0">
        <p:bldAsOne/>
      </p:bldGraphic>
      <p:bldGraphic spid="8" grpId="0">
        <p:bldAsOne/>
      </p:bldGraphic>
      <p:bldGraphic spid="9" grpId="0">
        <p:bldAsOne/>
      </p:bldGraphic>
      <p:bldGraphic spid="10"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59"/>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费用明细对比分析</a:t>
            </a:r>
          </a:p>
        </p:txBody>
      </p:sp>
      <p:graphicFrame>
        <p:nvGraphicFramePr>
          <p:cNvPr id="12" name="表格 11"/>
          <p:cNvGraphicFramePr>
            <a:graphicFrameLocks noGrp="1"/>
          </p:cNvGraphicFramePr>
          <p:nvPr/>
        </p:nvGraphicFramePr>
        <p:xfrm>
          <a:off x="4223793" y="1412781"/>
          <a:ext cx="5976663" cy="3600391"/>
        </p:xfrm>
        <a:graphic>
          <a:graphicData uri="http://schemas.openxmlformats.org/drawingml/2006/table">
            <a:tbl>
              <a:tblPr firstRow="1" bandRow="1">
                <a:tableStyleId>{6E25E649-3F16-4E02-A733-19D2CDBF48F0}</a:tableStyleId>
              </a:tblPr>
              <a:tblGrid>
                <a:gridCol w="1280931"/>
                <a:gridCol w="1064343"/>
                <a:gridCol w="1210463"/>
                <a:gridCol w="1210463"/>
                <a:gridCol w="1210463"/>
              </a:tblGrid>
              <a:tr h="302632">
                <a:tc>
                  <a:txBody>
                    <a:bodyPr/>
                    <a:lstStyle/>
                    <a:p>
                      <a:pPr algn="ctr" fontAlgn="ctr"/>
                      <a:r>
                        <a:rPr lang="zh-CN" altLang="en-US" sz="1100" u="none" strike="noStrike" dirty="0">
                          <a:latin typeface="楷体" panose="02010609060101010101" pitchFamily="49" charset="-122"/>
                          <a:ea typeface="楷体" panose="02010609060101010101" pitchFamily="49" charset="-122"/>
                        </a:rPr>
                        <a:t> 类别 </a:t>
                      </a:r>
                      <a:endParaRPr lang="zh-CN" altLang="en-US" sz="1100" b="0"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zh-CN" altLang="en-US" sz="1100" u="none" strike="noStrike" dirty="0">
                          <a:latin typeface="楷体" panose="02010609060101010101" pitchFamily="49" charset="-122"/>
                          <a:ea typeface="楷体" panose="02010609060101010101" pitchFamily="49" charset="-122"/>
                        </a:rPr>
                        <a:t> </a:t>
                      </a:r>
                      <a:r>
                        <a:rPr lang="en-US" altLang="zh-CN" sz="1100" u="none" strike="noStrike" dirty="0">
                          <a:latin typeface="楷体" panose="02010609060101010101" pitchFamily="49" charset="-122"/>
                          <a:ea typeface="楷体" panose="02010609060101010101" pitchFamily="49" charset="-122"/>
                        </a:rPr>
                        <a:t>2017</a:t>
                      </a:r>
                      <a:r>
                        <a:rPr lang="zh-CN" altLang="en-US" sz="1100" u="none" strike="noStrike" dirty="0">
                          <a:latin typeface="楷体" panose="02010609060101010101" pitchFamily="49" charset="-122"/>
                          <a:ea typeface="楷体" panose="02010609060101010101" pitchFamily="49" charset="-122"/>
                        </a:rPr>
                        <a:t>年</a:t>
                      </a:r>
                      <a:endParaRPr lang="zh-CN" altLang="en-US" sz="1100" b="0"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zh-CN" altLang="en-US" sz="1100" u="none" strike="noStrike" dirty="0">
                          <a:latin typeface="楷体" panose="02010609060101010101" pitchFamily="49" charset="-122"/>
                          <a:ea typeface="楷体" panose="02010609060101010101" pitchFamily="49" charset="-122"/>
                        </a:rPr>
                        <a:t> </a:t>
                      </a:r>
                      <a:r>
                        <a:rPr lang="en-US" altLang="zh-CN" sz="1100" u="none" strike="noStrike" dirty="0">
                          <a:latin typeface="楷体" panose="02010609060101010101" pitchFamily="49" charset="-122"/>
                          <a:ea typeface="楷体" panose="02010609060101010101" pitchFamily="49" charset="-122"/>
                        </a:rPr>
                        <a:t>2016</a:t>
                      </a:r>
                      <a:r>
                        <a:rPr lang="zh-CN" altLang="en-US" sz="1100" u="none" strike="noStrike" dirty="0">
                          <a:latin typeface="楷体" panose="02010609060101010101" pitchFamily="49" charset="-122"/>
                          <a:ea typeface="楷体" panose="02010609060101010101" pitchFamily="49" charset="-122"/>
                        </a:rPr>
                        <a:t>年</a:t>
                      </a:r>
                      <a:endParaRPr lang="zh-CN" altLang="en-US" sz="1100" b="0"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zh-CN" altLang="en-US" sz="1100" u="none" strike="noStrike" dirty="0">
                          <a:latin typeface="楷体" panose="02010609060101010101" pitchFamily="49" charset="-122"/>
                          <a:ea typeface="楷体" panose="02010609060101010101" pitchFamily="49" charset="-122"/>
                        </a:rPr>
                        <a:t> 增减额 </a:t>
                      </a:r>
                      <a:endParaRPr lang="zh-CN" altLang="en-US" sz="1100" b="0"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c>
                  <a:txBody>
                    <a:bodyPr/>
                    <a:lstStyle/>
                    <a:p>
                      <a:pPr algn="ctr" fontAlgn="ctr"/>
                      <a:r>
                        <a:rPr lang="zh-CN" altLang="en-US" sz="1100" u="none" strike="noStrike" dirty="0">
                          <a:latin typeface="楷体" panose="02010609060101010101" pitchFamily="49" charset="-122"/>
                          <a:ea typeface="楷体" panose="02010609060101010101" pitchFamily="49" charset="-122"/>
                        </a:rPr>
                        <a:t> 增减率  </a:t>
                      </a:r>
                      <a:endParaRPr lang="zh-CN" altLang="en-US" sz="1100" b="0"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工资薪金 </a:t>
                      </a: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财务费用 </a:t>
                      </a: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dirty="0">
                          <a:solidFill>
                            <a:srgbClr val="000000"/>
                          </a:solidFill>
                          <a:latin typeface="楷体" panose="02010609060101010101" pitchFamily="49" charset="-122"/>
                          <a:ea typeface="楷体" panose="02010609060101010101" pitchFamily="49" charset="-122"/>
                        </a:rPr>
                        <a:t> 咨询审计服务费 </a:t>
                      </a: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271439">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办公费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项目费用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dirty="0">
                          <a:solidFill>
                            <a:srgbClr val="000000"/>
                          </a:solidFill>
                          <a:latin typeface="楷体" panose="02010609060101010101" pitchFamily="49" charset="-122"/>
                          <a:ea typeface="楷体" panose="02010609060101010101" pitchFamily="49" charset="-122"/>
                        </a:rPr>
                        <a:t> 业务招待费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差旅及交通费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资产摊销及折旧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a:solidFill>
                            <a:srgbClr val="000000"/>
                          </a:solidFill>
                          <a:latin typeface="楷体" panose="02010609060101010101" pitchFamily="49" charset="-122"/>
                          <a:ea typeface="楷体" panose="02010609060101010101" pitchFamily="49" charset="-122"/>
                        </a:rPr>
                        <a:t> 车辆费用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100" b="0" i="0" u="none" strike="noStrike" dirty="0">
                          <a:solidFill>
                            <a:srgbClr val="000000"/>
                          </a:solidFill>
                          <a:latin typeface="楷体" panose="02010609060101010101" pitchFamily="49" charset="-122"/>
                          <a:ea typeface="楷体" panose="02010609060101010101" pitchFamily="49" charset="-122"/>
                        </a:rPr>
                        <a:t> 其它 </a:t>
                      </a: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r>
              <a:tr h="302632">
                <a:tc>
                  <a:txBody>
                    <a:bodyPr/>
                    <a:lstStyle/>
                    <a:p>
                      <a:pPr algn="ctr" fontAlgn="ctr"/>
                      <a:r>
                        <a:rPr lang="zh-CN" altLang="en-US" sz="1050" b="1" u="none" strike="noStrike" dirty="0">
                          <a:latin typeface="楷体" panose="02010609060101010101" pitchFamily="49" charset="-122"/>
                          <a:ea typeface="楷体" panose="02010609060101010101" pitchFamily="49" charset="-122"/>
                        </a:rPr>
                        <a:t> 总计 </a:t>
                      </a:r>
                      <a:endParaRPr lang="zh-CN" altLang="en-US" sz="1050" b="1" i="0" u="none" strike="noStrike" dirty="0">
                        <a:solidFill>
                          <a:srgbClr val="000000"/>
                        </a:solidFill>
                        <a:latin typeface="楷体" panose="02010609060101010101" pitchFamily="49" charset="-122"/>
                        <a:ea typeface="楷体" panose="02010609060101010101" pitchFamily="49"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a:solidFill>
                          <a:srgbClr val="000000"/>
                        </a:solidFill>
                        <a:latin typeface="宋体" panose="02010600030101010101" pitchFamily="2" charset="-122"/>
                      </a:endParaRPr>
                    </a:p>
                  </a:txBody>
                  <a:tcPr marL="0" marR="0" marT="0" marB="0" anchor="ctr"/>
                </a:tc>
                <a:tc>
                  <a:txBody>
                    <a:bodyPr/>
                    <a:lstStyle/>
                    <a:p>
                      <a:pPr algn="ctr" fontAlgn="ctr"/>
                      <a:endParaRPr lang="en-US" altLang="zh-CN" sz="1100" b="0" i="0" u="none" strike="noStrike" dirty="0">
                        <a:solidFill>
                          <a:srgbClr val="000000"/>
                        </a:solidFill>
                        <a:latin typeface="宋体" panose="02010600030101010101" pitchFamily="2" charset="-122"/>
                      </a:endParaRPr>
                    </a:p>
                  </a:txBody>
                  <a:tcPr marL="0" marR="0" marT="0" marB="0" anchor="ctr"/>
                </a:tc>
              </a:tr>
            </a:tbl>
          </a:graphicData>
        </a:graphic>
      </p:graphicFrame>
      <p:sp>
        <p:nvSpPr>
          <p:cNvPr id="13" name="TextBox 6"/>
          <p:cNvSpPr txBox="1"/>
          <p:nvPr/>
        </p:nvSpPr>
        <p:spPr>
          <a:xfrm>
            <a:off x="997894" y="5143520"/>
            <a:ext cx="9388310" cy="1508105"/>
          </a:xfrm>
          <a:prstGeom prst="rect">
            <a:avLst/>
          </a:prstGeom>
          <a:noFill/>
        </p:spPr>
        <p:txBody>
          <a:bodyPr wrap="square" rtlCol="0">
            <a:spAutoFit/>
          </a:bodyPr>
          <a:lstStyle/>
          <a:p>
            <a:pPr>
              <a:lnSpc>
                <a:spcPct val="150000"/>
              </a:lnSpc>
            </a:pPr>
            <a:r>
              <a:rPr lang="zh-CN" altLang="en-US" sz="1600" b="1" dirty="0">
                <a:latin typeface="黑体" panose="02010609060101010101" pitchFamily="49" charset="-122"/>
                <a:ea typeface="黑体" panose="02010609060101010101" pitchFamily="49" charset="-122"/>
              </a:rPr>
              <a:t>分析：</a:t>
            </a:r>
            <a:r>
              <a:rPr lang="zh-CN" altLang="en-US" sz="1600" b="1" dirty="0">
                <a:solidFill>
                  <a:srgbClr val="000000"/>
                </a:solidFill>
                <a:latin typeface="黑体" panose="02010609060101010101" pitchFamily="49" charset="-122"/>
                <a:ea typeface="黑体" panose="02010609060101010101" pitchFamily="49" charset="-122"/>
              </a:rPr>
              <a:t> </a:t>
            </a:r>
            <a:r>
              <a:rPr lang="en-US" altLang="zh-CN" sz="1600" dirty="0">
                <a:solidFill>
                  <a:srgbClr val="000000"/>
                </a:solidFill>
                <a:latin typeface="黑体" panose="02010609060101010101" pitchFamily="49" charset="-122"/>
                <a:ea typeface="黑体" panose="02010609060101010101" pitchFamily="49" charset="-122"/>
              </a:rPr>
              <a:t>1</a:t>
            </a:r>
            <a:r>
              <a:rPr lang="zh-CN" altLang="en-US" sz="1600" dirty="0">
                <a:solidFill>
                  <a:srgbClr val="000000"/>
                </a:solidFill>
                <a:latin typeface="黑体" panose="02010609060101010101" pitchFamily="49" charset="-122"/>
                <a:ea typeface="黑体" panose="02010609060101010101" pitchFamily="49" charset="-122"/>
              </a:rPr>
              <a:t>、财务费用本期比上年同期费上升了，主要：①、是受国际市场美元持续走软，我司美元现金储备和应收账款都受到汇率的影响 ，</a:t>
            </a:r>
            <a:r>
              <a:rPr lang="en-US" altLang="zh-CN" sz="1600" dirty="0">
                <a:solidFill>
                  <a:srgbClr val="000000"/>
                </a:solidFill>
                <a:latin typeface="黑体" panose="02010609060101010101" pitchFamily="49" charset="-122"/>
                <a:ea typeface="黑体" panose="02010609060101010101" pitchFamily="49" charset="-122"/>
              </a:rPr>
              <a:t>2017</a:t>
            </a:r>
            <a:r>
              <a:rPr lang="zh-CN" altLang="en-US" sz="1600" dirty="0">
                <a:solidFill>
                  <a:srgbClr val="000000"/>
                </a:solidFill>
                <a:latin typeface="黑体" panose="02010609060101010101" pitchFamily="49" charset="-122"/>
                <a:ea typeface="黑体" panose="02010609060101010101" pitchFamily="49" charset="-122"/>
              </a:rPr>
              <a:t>年累计产生汇兑损益万元；</a:t>
            </a:r>
            <a:r>
              <a:rPr lang="en-US" altLang="zh-CN" sz="1600" dirty="0">
                <a:solidFill>
                  <a:srgbClr val="000000"/>
                </a:solidFill>
                <a:latin typeface="黑体" panose="02010609060101010101" pitchFamily="49" charset="-122"/>
                <a:ea typeface="黑体" panose="02010609060101010101" pitchFamily="49" charset="-122"/>
              </a:rPr>
              <a:t>2</a:t>
            </a:r>
            <a:r>
              <a:rPr lang="zh-CN" altLang="en-US" sz="1600" dirty="0">
                <a:solidFill>
                  <a:srgbClr val="000000"/>
                </a:solidFill>
                <a:latin typeface="黑体" panose="02010609060101010101" pitchFamily="49" charset="-122"/>
                <a:ea typeface="黑体" panose="02010609060101010101" pitchFamily="49" charset="-122"/>
              </a:rPr>
              <a:t>、</a:t>
            </a:r>
            <a:r>
              <a:rPr lang="en-US" altLang="zh-CN" sz="1600" dirty="0">
                <a:solidFill>
                  <a:srgbClr val="000000"/>
                </a:solidFill>
                <a:latin typeface="黑体" panose="02010609060101010101" pitchFamily="49" charset="-122"/>
                <a:ea typeface="黑体" panose="02010609060101010101" pitchFamily="49" charset="-122"/>
              </a:rPr>
              <a:t>201</a:t>
            </a:r>
            <a:r>
              <a:rPr lang="zh-CN" altLang="en-US" sz="1600" dirty="0">
                <a:solidFill>
                  <a:srgbClr val="000000"/>
                </a:solidFill>
                <a:latin typeface="黑体" panose="02010609060101010101" pitchFamily="49" charset="-122"/>
                <a:ea typeface="黑体" panose="02010609060101010101" pitchFamily="49" charset="-122"/>
              </a:rPr>
              <a:t>费</a:t>
            </a:r>
            <a:r>
              <a:rPr lang="en-US" altLang="zh-CN" sz="1600" dirty="0">
                <a:solidFill>
                  <a:srgbClr val="000000"/>
                </a:solidFill>
                <a:latin typeface="黑体" panose="02010609060101010101" pitchFamily="49" charset="-122"/>
                <a:ea typeface="黑体" panose="02010609060101010101" pitchFamily="49" charset="-122"/>
              </a:rPr>
              <a:t>2017</a:t>
            </a:r>
            <a:r>
              <a:rPr lang="zh-CN" altLang="en-US" sz="1600" dirty="0">
                <a:solidFill>
                  <a:srgbClr val="000000"/>
                </a:solidFill>
                <a:latin typeface="黑体" panose="02010609060101010101" pitchFamily="49" charset="-122"/>
                <a:ea typeface="黑体" panose="02010609060101010101" pitchFamily="49" charset="-122"/>
              </a:rPr>
              <a:t>年上比上年同期费用上升了</a:t>
            </a:r>
            <a:r>
              <a:rPr lang="en-US" altLang="zh-CN" sz="1600" dirty="0">
                <a:solidFill>
                  <a:srgbClr val="000000"/>
                </a:solidFill>
                <a:latin typeface="黑体" panose="02010609060101010101" pitchFamily="49" charset="-122"/>
                <a:ea typeface="黑体" panose="02010609060101010101" pitchFamily="49" charset="-122"/>
              </a:rPr>
              <a:t>%</a:t>
            </a:r>
            <a:r>
              <a:rPr lang="zh-CN" altLang="en-US" sz="1600" dirty="0">
                <a:solidFill>
                  <a:srgbClr val="000000"/>
                </a:solidFill>
                <a:latin typeface="黑体" panose="02010609060101010101" pitchFamily="49" charset="-122"/>
                <a:ea typeface="黑体" panose="02010609060101010101" pitchFamily="49" charset="-122"/>
              </a:rPr>
              <a:t>， 主要是在月确认了万元的咨询服务费。</a:t>
            </a:r>
          </a:p>
          <a:p>
            <a:endParaRPr lang="zh-CN" altLang="en-US" sz="2000" dirty="0">
              <a:latin typeface="黑体" panose="02010609060101010101" pitchFamily="49" charset="-122"/>
              <a:ea typeface="黑体" panose="02010609060101010101" pitchFamily="49" charset="-122"/>
            </a:endParaRPr>
          </a:p>
        </p:txBody>
      </p:sp>
      <p:pic>
        <p:nvPicPr>
          <p:cNvPr id="14" name="图片 13" descr="费用图片.png"/>
          <p:cNvPicPr>
            <a:picLocks noChangeAspect="1"/>
          </p:cNvPicPr>
          <p:nvPr/>
        </p:nvPicPr>
        <p:blipFill>
          <a:blip r:embed="rId3" cstate="print"/>
          <a:stretch>
            <a:fillRect/>
          </a:stretch>
        </p:blipFill>
        <p:spPr>
          <a:xfrm>
            <a:off x="966158" y="1412776"/>
            <a:ext cx="3113618" cy="3600400"/>
          </a:xfrm>
          <a:prstGeom prst="rect">
            <a:avLst/>
          </a:prstGeom>
        </p:spPr>
      </p:pic>
      <p:sp>
        <p:nvSpPr>
          <p:cNvPr id="15" name="TextBox 7"/>
          <p:cNvSpPr txBox="1"/>
          <p:nvPr/>
        </p:nvSpPr>
        <p:spPr>
          <a:xfrm>
            <a:off x="8832304" y="1124744"/>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gallery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p:tgtEl>
                                          <p:spTgt spid="60"/>
                                        </p:tgtEl>
                                        <p:attrNameLst>
                                          <p:attrName>ppt_y</p:attrName>
                                        </p:attrNameLst>
                                      </p:cBhvr>
                                      <p:tavLst>
                                        <p:tav tm="0">
                                          <p:val>
                                            <p:strVal val="#ppt_y+#ppt_h*1.125000"/>
                                          </p:val>
                                        </p:tav>
                                        <p:tav tm="100000">
                                          <p:val>
                                            <p:strVal val="#ppt_y"/>
                                          </p:val>
                                        </p:tav>
                                      </p:tavLst>
                                    </p:anim>
                                    <p:animEffect transition="in" filter="wipe(up)">
                                      <p:cBhvr>
                                        <p:cTn id="8" dur="500"/>
                                        <p:tgtEl>
                                          <p:spTgt spid="6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3"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59"/>
          <p:cNvSpPr txBox="1"/>
          <p:nvPr/>
        </p:nvSpPr>
        <p:spPr>
          <a:xfrm>
            <a:off x="997894" y="671807"/>
            <a:ext cx="5160225" cy="369332"/>
          </a:xfrm>
          <a:prstGeom prst="rect">
            <a:avLst/>
          </a:prstGeom>
          <a:noFill/>
        </p:spPr>
        <p:txBody>
          <a:bodyPr wrap="square" rtlCol="0">
            <a:spAutoFit/>
          </a:bodyPr>
          <a:lstStyle>
            <a:defPPr>
              <a:defRPr lang="zh-CN"/>
            </a:defPPr>
            <a:lvl1pPr>
              <a:defRPr sz="19900" b="1">
                <a:gradFill flip="none" rotWithShape="1">
                  <a:gsLst>
                    <a:gs pos="43000">
                      <a:srgbClr val="282828"/>
                    </a:gs>
                    <a:gs pos="43000">
                      <a:srgbClr val="FF4A53"/>
                    </a:gs>
                  </a:gsLst>
                  <a:lin ang="0" scaled="1"/>
                  <a:tileRect/>
                </a:gradFill>
                <a:latin typeface="Agency FB" panose="020B0503020202020204" pitchFamily="34" charset="0"/>
              </a:defRPr>
            </a:lvl1pPr>
          </a:lstStyle>
          <a:p>
            <a:pPr lvl="0">
              <a:defRPr/>
            </a:pPr>
            <a:r>
              <a:rPr lang="zh-CN" altLang="en-US" sz="1800" b="0" dirty="0">
                <a:solidFill>
                  <a:prstClr val="black"/>
                </a:solidFill>
                <a:latin typeface="+mn-lt"/>
                <a:ea typeface="黑体" panose="02010609060101010101" pitchFamily="49" charset="-122"/>
              </a:rPr>
              <a:t>工资薪金分析</a:t>
            </a:r>
          </a:p>
        </p:txBody>
      </p:sp>
      <p:graphicFrame>
        <p:nvGraphicFramePr>
          <p:cNvPr id="7" name="表格 6"/>
          <p:cNvGraphicFramePr>
            <a:graphicFrameLocks noGrp="1"/>
          </p:cNvGraphicFramePr>
          <p:nvPr/>
        </p:nvGraphicFramePr>
        <p:xfrm>
          <a:off x="845389" y="1412777"/>
          <a:ext cx="6186717" cy="2869401"/>
        </p:xfrm>
        <a:graphic>
          <a:graphicData uri="http://schemas.openxmlformats.org/drawingml/2006/table">
            <a:tbl>
              <a:tblPr firstRow="1" bandRow="1">
                <a:tableStyleId>{74C1A8A3-306A-4EB7-A6B1-4F7E0EB9C5D6}</a:tableStyleId>
              </a:tblPr>
              <a:tblGrid>
                <a:gridCol w="1618065"/>
                <a:gridCol w="1142163"/>
                <a:gridCol w="1237343"/>
                <a:gridCol w="1046983"/>
                <a:gridCol w="1142163"/>
              </a:tblGrid>
              <a:tr h="344117">
                <a:tc>
                  <a:txBody>
                    <a:bodyPr/>
                    <a:lstStyle/>
                    <a:p>
                      <a:pPr algn="ctr"/>
                      <a:r>
                        <a:rPr lang="zh-CN" altLang="en-US" sz="1200" dirty="0">
                          <a:latin typeface="黑体" panose="02010609060101010101" pitchFamily="49" charset="-122"/>
                          <a:ea typeface="黑体" panose="02010609060101010101" pitchFamily="49" charset="-122"/>
                        </a:rPr>
                        <a:t>项目</a:t>
                      </a:r>
                    </a:p>
                  </a:txBody>
                  <a:tcPr/>
                </a:tc>
                <a:tc>
                  <a:txBody>
                    <a:bodyPr/>
                    <a:lstStyle/>
                    <a:p>
                      <a:pPr algn="ctr"/>
                      <a:r>
                        <a:rPr lang="en-US" altLang="zh-CN" sz="1200" dirty="0">
                          <a:latin typeface="黑体" panose="02010609060101010101" pitchFamily="49" charset="-122"/>
                          <a:ea typeface="黑体" panose="02010609060101010101" pitchFamily="49" charset="-122"/>
                        </a:rPr>
                        <a:t>2017</a:t>
                      </a:r>
                      <a:r>
                        <a:rPr lang="zh-CN" altLang="en-US" sz="1200" dirty="0">
                          <a:latin typeface="黑体" panose="02010609060101010101" pitchFamily="49" charset="-122"/>
                          <a:ea typeface="黑体" panose="02010609060101010101" pitchFamily="49" charset="-122"/>
                        </a:rPr>
                        <a:t>年</a:t>
                      </a:r>
                    </a:p>
                  </a:txBody>
                  <a:tcPr/>
                </a:tc>
                <a:tc>
                  <a:txBody>
                    <a:bodyPr/>
                    <a:lstStyle/>
                    <a:p>
                      <a:pPr algn="ctr"/>
                      <a:r>
                        <a:rPr lang="en-US" altLang="zh-CN" sz="1200" dirty="0">
                          <a:latin typeface="黑体" panose="02010609060101010101" pitchFamily="49" charset="-122"/>
                          <a:ea typeface="黑体" panose="02010609060101010101" pitchFamily="49" charset="-122"/>
                        </a:rPr>
                        <a:t>2016</a:t>
                      </a:r>
                      <a:r>
                        <a:rPr lang="zh-CN" altLang="en-US" sz="1200" dirty="0">
                          <a:latin typeface="黑体" panose="02010609060101010101" pitchFamily="49" charset="-122"/>
                          <a:ea typeface="黑体" panose="02010609060101010101" pitchFamily="49" charset="-122"/>
                        </a:rPr>
                        <a:t>年</a:t>
                      </a:r>
                    </a:p>
                  </a:txBody>
                  <a:tcPr/>
                </a:tc>
                <a:tc>
                  <a:txBody>
                    <a:bodyPr/>
                    <a:lstStyle/>
                    <a:p>
                      <a:pPr algn="ctr"/>
                      <a:r>
                        <a:rPr lang="zh-CN" altLang="en-US" sz="1200" dirty="0">
                          <a:latin typeface="黑体" panose="02010609060101010101" pitchFamily="49" charset="-122"/>
                          <a:ea typeface="黑体" panose="02010609060101010101" pitchFamily="49" charset="-122"/>
                        </a:rPr>
                        <a:t>增减额</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latin typeface="黑体" panose="02010609060101010101" pitchFamily="49" charset="-122"/>
                          <a:ea typeface="黑体" panose="02010609060101010101" pitchFamily="49" charset="-122"/>
                        </a:rPr>
                        <a:t>增减率</a:t>
                      </a:r>
                    </a:p>
                  </a:txBody>
                  <a:tcPr/>
                </a:tc>
              </a:tr>
              <a:tr h="348242">
                <a:tc>
                  <a:txBody>
                    <a:bodyPr/>
                    <a:lstStyle/>
                    <a:p>
                      <a:pPr algn="ctr"/>
                      <a:r>
                        <a:rPr lang="zh-CN" altLang="en-US" dirty="0">
                          <a:latin typeface="黑体" panose="02010609060101010101" pitchFamily="49" charset="-122"/>
                          <a:ea typeface="黑体" panose="02010609060101010101" pitchFamily="49" charset="-122"/>
                        </a:rPr>
                        <a:t>工资</a:t>
                      </a:r>
                      <a:endParaRPr lang="zh-CN" altLang="en-US" b="1" dirty="0">
                        <a:latin typeface="黑体" panose="02010609060101010101" pitchFamily="49" charset="-122"/>
                        <a:ea typeface="黑体" panose="02010609060101010101" pitchFamily="49" charset="-122"/>
                      </a:endParaRPr>
                    </a:p>
                  </a:txBody>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r h="348242">
                <a:tc>
                  <a:txBody>
                    <a:bodyPr/>
                    <a:lstStyle/>
                    <a:p>
                      <a:pPr algn="ctr"/>
                      <a:r>
                        <a:rPr lang="zh-CN" altLang="en-US" dirty="0">
                          <a:latin typeface="黑体" panose="02010609060101010101" pitchFamily="49" charset="-122"/>
                          <a:ea typeface="黑体" panose="02010609060101010101" pitchFamily="49" charset="-122"/>
                        </a:rPr>
                        <a:t>社保</a:t>
                      </a:r>
                      <a:endParaRPr lang="zh-CN" altLang="en-US" b="1" dirty="0">
                        <a:latin typeface="黑体" panose="02010609060101010101" pitchFamily="49" charset="-122"/>
                        <a:ea typeface="黑体" panose="02010609060101010101" pitchFamily="49" charset="-122"/>
                      </a:endParaRPr>
                    </a:p>
                  </a:txBody>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r h="348242">
                <a:tc>
                  <a:txBody>
                    <a:bodyPr/>
                    <a:lstStyle/>
                    <a:p>
                      <a:pPr algn="ctr"/>
                      <a:r>
                        <a:rPr lang="zh-CN" altLang="en-US" dirty="0">
                          <a:latin typeface="黑体" panose="02010609060101010101" pitchFamily="49" charset="-122"/>
                          <a:ea typeface="黑体" panose="02010609060101010101" pitchFamily="49" charset="-122"/>
                        </a:rPr>
                        <a:t>公积金</a:t>
                      </a:r>
                      <a:endParaRPr lang="zh-CN" altLang="en-US" b="1" dirty="0">
                        <a:latin typeface="黑体" panose="02010609060101010101" pitchFamily="49" charset="-122"/>
                        <a:ea typeface="黑体" panose="02010609060101010101" pitchFamily="49" charset="-122"/>
                      </a:endParaRPr>
                    </a:p>
                  </a:txBody>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r h="348242">
                <a:tc>
                  <a:txBody>
                    <a:bodyPr/>
                    <a:lstStyle/>
                    <a:p>
                      <a:pPr algn="ctr"/>
                      <a:r>
                        <a:rPr lang="zh-CN" altLang="en-US" dirty="0">
                          <a:latin typeface="黑体" panose="02010609060101010101" pitchFamily="49" charset="-122"/>
                          <a:ea typeface="黑体" panose="02010609060101010101" pitchFamily="49" charset="-122"/>
                        </a:rPr>
                        <a:t>合计</a:t>
                      </a:r>
                      <a:endParaRPr lang="zh-CN" altLang="en-US" b="1" dirty="0">
                        <a:latin typeface="黑体" panose="02010609060101010101" pitchFamily="49" charset="-122"/>
                        <a:ea typeface="黑体" panose="02010609060101010101" pitchFamily="49" charset="-122"/>
                      </a:endParaRPr>
                    </a:p>
                  </a:txBody>
                  <a:tcPr/>
                </a:tc>
                <a:tc>
                  <a:txBody>
                    <a:bodyPr/>
                    <a:lstStyle/>
                    <a:p>
                      <a:pPr algn="ctr" rtl="0" fontAlgn="b"/>
                      <a:endParaRPr lang="en-US" altLang="zh-CN" sz="1100" b="0" i="0" u="none" strike="noStrike">
                        <a:solidFill>
                          <a:srgbClr val="000000"/>
                        </a:solidFill>
                        <a:latin typeface="黑体" panose="02010609060101010101" pitchFamily="49" charset="-122"/>
                        <a:ea typeface="黑体" panose="02010609060101010101" pitchFamily="49" charset="-122"/>
                      </a:endParaRPr>
                    </a:p>
                  </a:txBody>
                  <a:tcPr marL="9525" marR="9525" marT="9525" marB="0" anchor="b"/>
                </a:tc>
                <a:tc>
                  <a:txBody>
                    <a:bodyPr/>
                    <a:lstStyle/>
                    <a:p>
                      <a:pPr algn="ctr" rtl="0" fontAlgn="b"/>
                      <a:endParaRPr lang="en-US" altLang="zh-CN" sz="11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nchor="b"/>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r h="348242">
                <a:tc>
                  <a:txBody>
                    <a:bodyPr/>
                    <a:lstStyle/>
                    <a:p>
                      <a:pPr algn="ctr"/>
                      <a:r>
                        <a:rPr lang="zh-CN" altLang="en-US" dirty="0">
                          <a:latin typeface="黑体" panose="02010609060101010101" pitchFamily="49" charset="-122"/>
                          <a:ea typeface="黑体" panose="02010609060101010101" pitchFamily="49" charset="-122"/>
                        </a:rPr>
                        <a:t>人数</a:t>
                      </a:r>
                      <a:endParaRPr lang="zh-CN" altLang="en-US" b="1" dirty="0">
                        <a:latin typeface="黑体" panose="02010609060101010101" pitchFamily="49" charset="-122"/>
                        <a:ea typeface="黑体" panose="02010609060101010101" pitchFamily="49" charset="-122"/>
                      </a:endParaRPr>
                    </a:p>
                  </a:txBody>
                  <a:tcPr>
                    <a:solidFill>
                      <a:schemeClr val="accent2">
                        <a:lumMod val="40000"/>
                        <a:lumOff val="60000"/>
                      </a:schemeClr>
                    </a:solidFill>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solidFill>
                      <a:schemeClr val="accent2">
                        <a:lumMod val="40000"/>
                        <a:lumOff val="60000"/>
                      </a:schemeClr>
                    </a:solidFill>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solidFill>
                      <a:schemeClr val="accent2">
                        <a:lumMod val="40000"/>
                        <a:lumOff val="60000"/>
                      </a:schemeClr>
                    </a:solidFill>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solidFill>
                      <a:schemeClr val="accent2">
                        <a:lumMod val="40000"/>
                        <a:lumOff val="60000"/>
                      </a:schemeClr>
                    </a:solidFill>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solidFill>
                      <a:schemeClr val="accent2">
                        <a:lumMod val="40000"/>
                        <a:lumOff val="60000"/>
                      </a:schemeClr>
                    </a:solidFill>
                  </a:tcPr>
                </a:tc>
              </a:tr>
              <a:tr h="348242">
                <a:tc>
                  <a:txBody>
                    <a:bodyPr/>
                    <a:lstStyle/>
                    <a:p>
                      <a:pPr marL="0" algn="ctr" defTabSz="914400" rtl="0" eaLnBrk="1" latinLnBrk="0" hangingPunct="1"/>
                      <a:r>
                        <a:rPr lang="zh-CN" altLang="en-US" sz="1400" kern="1200" dirty="0">
                          <a:solidFill>
                            <a:schemeClr val="dk1"/>
                          </a:solidFill>
                          <a:latin typeface="黑体" panose="02010609060101010101" pitchFamily="49" charset="-122"/>
                          <a:ea typeface="黑体" panose="02010609060101010101" pitchFamily="49" charset="-122"/>
                          <a:cs typeface="+mn-cs"/>
                        </a:rPr>
                        <a:t>人均成本（万元）</a:t>
                      </a:r>
                    </a:p>
                  </a:txBody>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r h="348242">
                <a:tc>
                  <a:txBody>
                    <a:bodyPr/>
                    <a:lstStyle/>
                    <a:p>
                      <a:pPr marL="0" algn="ctr" defTabSz="914400" rtl="0" eaLnBrk="1" latinLnBrk="0" hangingPunct="1"/>
                      <a:r>
                        <a:rPr lang="zh-CN" altLang="en-US" sz="1600" kern="1200" dirty="0">
                          <a:solidFill>
                            <a:schemeClr val="dk1"/>
                          </a:solidFill>
                          <a:latin typeface="黑体" panose="02010609060101010101" pitchFamily="49" charset="-122"/>
                          <a:ea typeface="黑体" panose="02010609060101010101" pitchFamily="49" charset="-122"/>
                          <a:cs typeface="+mn-cs"/>
                        </a:rPr>
                        <a:t>占期间费用</a:t>
                      </a:r>
                    </a:p>
                  </a:txBody>
                  <a:tcPr/>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c>
                  <a:txBody>
                    <a:bodyPr/>
                    <a:lstStyle/>
                    <a:p>
                      <a:pPr algn="ctr" rtl="0" fontAlgn="t"/>
                      <a:endParaRPr lang="en-US" altLang="zh-CN" sz="1200" b="0" i="0" u="none" strike="noStrike" dirty="0">
                        <a:solidFill>
                          <a:srgbClr val="000000"/>
                        </a:solidFill>
                        <a:latin typeface="黑体" panose="02010609060101010101" pitchFamily="49" charset="-122"/>
                        <a:ea typeface="黑体" panose="02010609060101010101" pitchFamily="49" charset="-122"/>
                      </a:endParaRPr>
                    </a:p>
                  </a:txBody>
                  <a:tcPr marL="9525" marR="9525" marT="9525" marB="0"/>
                </a:tc>
              </a:tr>
            </a:tbl>
          </a:graphicData>
        </a:graphic>
      </p:graphicFrame>
      <p:sp>
        <p:nvSpPr>
          <p:cNvPr id="8" name="TextBox 6"/>
          <p:cNvSpPr txBox="1"/>
          <p:nvPr/>
        </p:nvSpPr>
        <p:spPr>
          <a:xfrm>
            <a:off x="845389" y="4578495"/>
            <a:ext cx="10122309" cy="1200329"/>
          </a:xfrm>
          <a:prstGeom prst="rect">
            <a:avLst/>
          </a:prstGeom>
          <a:noFill/>
        </p:spPr>
        <p:txBody>
          <a:bodyPr wrap="square" rtlCol="0">
            <a:spAutoFit/>
          </a:bodyPr>
          <a:lstStyle/>
          <a:p>
            <a:pPr>
              <a:lnSpc>
                <a:spcPct val="150000"/>
              </a:lnSpc>
            </a:pPr>
            <a:r>
              <a:rPr lang="zh-CN" altLang="en-US" sz="1600" dirty="0">
                <a:latin typeface="黑体" panose="02010609060101010101" pitchFamily="49" charset="-122"/>
                <a:ea typeface="黑体" panose="02010609060101010101" pitchFamily="49" charset="-122"/>
              </a:rPr>
              <a:t>分析：</a:t>
            </a:r>
            <a:r>
              <a:rPr lang="en-US" altLang="zh-CN" sz="1600" dirty="0">
                <a:latin typeface="黑体" panose="02010609060101010101" pitchFamily="49" charset="-122"/>
                <a:ea typeface="黑体" panose="02010609060101010101" pitchFamily="49" charset="-122"/>
              </a:rPr>
              <a:t>2017</a:t>
            </a:r>
            <a:r>
              <a:rPr lang="zh-CN" altLang="en-US" sz="1600" dirty="0">
                <a:latin typeface="黑体" panose="02010609060101010101" pitchFamily="49" charset="-122"/>
                <a:ea typeface="黑体" panose="02010609060101010101" pitchFamily="49" charset="-122"/>
              </a:rPr>
              <a:t>年比</a:t>
            </a:r>
            <a:r>
              <a:rPr lang="en-US" altLang="zh-CN" sz="1600" dirty="0">
                <a:latin typeface="黑体" panose="02010609060101010101" pitchFamily="49" charset="-122"/>
                <a:ea typeface="黑体" panose="02010609060101010101" pitchFamily="49" charset="-122"/>
              </a:rPr>
              <a:t>2016</a:t>
            </a:r>
            <a:r>
              <a:rPr lang="zh-CN" altLang="en-US" sz="1600" dirty="0">
                <a:latin typeface="黑体" panose="02010609060101010101" pitchFamily="49" charset="-122"/>
                <a:ea typeface="黑体" panose="02010609060101010101" pitchFamily="49" charset="-122"/>
              </a:rPr>
              <a:t>年的人员增加了约人，主要是</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部门有新的员工注入；从增减的幅度来看，社保本期比上年同期上升了约</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，主要是</a:t>
            </a:r>
            <a:r>
              <a:rPr lang="en-US" altLang="zh-CN" sz="1600" dirty="0">
                <a:latin typeface="黑体" panose="02010609060101010101" pitchFamily="49" charset="-122"/>
                <a:ea typeface="黑体" panose="02010609060101010101" pitchFamily="49" charset="-122"/>
              </a:rPr>
              <a:t>2017</a:t>
            </a:r>
            <a:r>
              <a:rPr lang="zh-CN" altLang="en-US" sz="1600" dirty="0">
                <a:latin typeface="黑体" panose="02010609060101010101" pitchFamily="49" charset="-122"/>
                <a:ea typeface="黑体" panose="02010609060101010101" pitchFamily="49" charset="-122"/>
              </a:rPr>
              <a:t>年的社保采用了的方式；工资和公积金的部份也有明显增加，除了受人员增加的影响，同时</a:t>
            </a:r>
            <a:r>
              <a:rPr lang="en-US" altLang="zh-CN" sz="1600" dirty="0">
                <a:latin typeface="黑体" panose="02010609060101010101" pitchFamily="49" charset="-122"/>
                <a:ea typeface="黑体" panose="02010609060101010101" pitchFamily="49" charset="-122"/>
              </a:rPr>
              <a:t>2017</a:t>
            </a:r>
            <a:r>
              <a:rPr lang="zh-CN" altLang="en-US" sz="1600" dirty="0">
                <a:latin typeface="黑体" panose="02010609060101010101" pitchFamily="49" charset="-122"/>
                <a:ea typeface="黑体" panose="02010609060101010101" pitchFamily="49" charset="-122"/>
              </a:rPr>
              <a:t>年比</a:t>
            </a:r>
            <a:r>
              <a:rPr lang="en-US" altLang="zh-CN" sz="1600" dirty="0">
                <a:latin typeface="黑体" panose="02010609060101010101" pitchFamily="49" charset="-122"/>
                <a:ea typeface="黑体" panose="02010609060101010101" pitchFamily="49" charset="-122"/>
              </a:rPr>
              <a:t>2016</a:t>
            </a:r>
            <a:r>
              <a:rPr lang="zh-CN" altLang="en-US" sz="1600" dirty="0">
                <a:latin typeface="黑体" panose="02010609060101010101" pitchFamily="49" charset="-122"/>
                <a:ea typeface="黑体" panose="02010609060101010101" pitchFamily="49" charset="-122"/>
              </a:rPr>
              <a:t>年同期的工资上升约左右。</a:t>
            </a:r>
          </a:p>
        </p:txBody>
      </p:sp>
      <p:pic>
        <p:nvPicPr>
          <p:cNvPr id="9" name="图片 8" descr="人力资源.png"/>
          <p:cNvPicPr>
            <a:picLocks noChangeAspect="1"/>
          </p:cNvPicPr>
          <p:nvPr/>
        </p:nvPicPr>
        <p:blipFill>
          <a:blip r:embed="rId3" cstate="print"/>
          <a:stretch>
            <a:fillRect/>
          </a:stretch>
        </p:blipFill>
        <p:spPr>
          <a:xfrm>
            <a:off x="7431917" y="1185834"/>
            <a:ext cx="3305905" cy="3096344"/>
          </a:xfrm>
          <a:prstGeom prst="rect">
            <a:avLst/>
          </a:prstGeom>
        </p:spPr>
      </p:pic>
      <p:sp>
        <p:nvSpPr>
          <p:cNvPr id="10" name="TextBox 7"/>
          <p:cNvSpPr txBox="1"/>
          <p:nvPr/>
        </p:nvSpPr>
        <p:spPr>
          <a:xfrm>
            <a:off x="5663952" y="1124744"/>
            <a:ext cx="1296144" cy="261610"/>
          </a:xfrm>
          <a:prstGeom prst="rect">
            <a:avLst/>
          </a:prstGeom>
          <a:noFill/>
        </p:spPr>
        <p:txBody>
          <a:bodyPr wrap="square" rtlCol="0">
            <a:spAutoFit/>
          </a:bodyPr>
          <a:lstStyle/>
          <a:p>
            <a:r>
              <a:rPr lang="zh-CN" altLang="en-US" sz="1100" b="1" dirty="0"/>
              <a:t>单位：万元</a:t>
            </a:r>
          </a:p>
        </p:txBody>
      </p:sp>
    </p:spTree>
  </p:cSld>
  <p:clrMapOvr>
    <a:masterClrMapping/>
  </p:clrMapOvr>
  <mc:AlternateContent xmlns:mc="http://schemas.openxmlformats.org/markup-compatibility/2006" xmlns:p14="http://schemas.microsoft.com/office/powerpoint/2010/main">
    <mc:Choice Requires="p14">
      <p:transition spd="slow" p14:dur="1600" advClick="0" advTm="3000">
        <p14:gallery dir="l"/>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0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p:tgtEl>
                                          <p:spTgt spid="60"/>
                                        </p:tgtEl>
                                        <p:attrNameLst>
                                          <p:attrName>ppt_y</p:attrName>
                                        </p:attrNameLst>
                                      </p:cBhvr>
                                      <p:tavLst>
                                        <p:tav tm="0">
                                          <p:val>
                                            <p:strVal val="#ppt_y+#ppt_h*1.125000"/>
                                          </p:val>
                                        </p:tav>
                                        <p:tav tm="100000">
                                          <p:val>
                                            <p:strVal val="#ppt_y"/>
                                          </p:val>
                                        </p:tav>
                                      </p:tavLst>
                                    </p:anim>
                                    <p:animEffect transition="in" filter="wipe(up)">
                                      <p:cBhvr>
                                        <p:cTn id="8" dur="500"/>
                                        <p:tgtEl>
                                          <p:spTgt spid="60"/>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8"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86160" y="851647"/>
            <a:ext cx="6228035" cy="6006353"/>
          </a:xfrm>
          <a:prstGeom prst="rect">
            <a:avLst/>
          </a:prstGeom>
        </p:spPr>
      </p:pic>
      <p:sp>
        <p:nvSpPr>
          <p:cNvPr id="6" name="TextBox 59"/>
          <p:cNvSpPr txBox="1">
            <a:spLocks noChangeArrowheads="1"/>
          </p:cNvSpPr>
          <p:nvPr/>
        </p:nvSpPr>
        <p:spPr bwMode="auto">
          <a:xfrm>
            <a:off x="8002" y="2490229"/>
            <a:ext cx="5093696" cy="954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9" rIns="121917" bIns="60959">
            <a:spAutoFit/>
          </a:bodyPr>
          <a:lstStyle>
            <a:lvl1pPr>
              <a:defRPr sz="1900">
                <a:solidFill>
                  <a:schemeClr val="tx1"/>
                </a:solidFill>
                <a:latin typeface="Calibri" panose="020F0502020204030204" pitchFamily="34" charset="0"/>
                <a:ea typeface="宋体" panose="02010600030101010101" pitchFamily="2" charset="-122"/>
              </a:defRPr>
            </a:lvl1pPr>
            <a:lvl2pPr marL="742950" indent="-285750">
              <a:defRPr sz="1900">
                <a:solidFill>
                  <a:schemeClr val="tx1"/>
                </a:solidFill>
                <a:latin typeface="Calibri" panose="020F0502020204030204" pitchFamily="34" charset="0"/>
                <a:ea typeface="宋体" panose="02010600030101010101" pitchFamily="2" charset="-122"/>
              </a:defRPr>
            </a:lvl2pPr>
            <a:lvl3pPr marL="1143000" indent="-228600">
              <a:defRPr sz="1900">
                <a:solidFill>
                  <a:schemeClr val="tx1"/>
                </a:solidFill>
                <a:latin typeface="Calibri" panose="020F0502020204030204" pitchFamily="34" charset="0"/>
                <a:ea typeface="宋体" panose="02010600030101010101" pitchFamily="2" charset="-122"/>
              </a:defRPr>
            </a:lvl3pPr>
            <a:lvl4pPr marL="1600200" indent="-228600">
              <a:defRPr sz="1900">
                <a:solidFill>
                  <a:schemeClr val="tx1"/>
                </a:solidFill>
                <a:latin typeface="Calibri" panose="020F0502020204030204" pitchFamily="34" charset="0"/>
                <a:ea typeface="宋体" panose="02010600030101010101" pitchFamily="2" charset="-122"/>
              </a:defRPr>
            </a:lvl4pPr>
            <a:lvl5pPr marL="2057400" indent="-228600">
              <a:defRPr sz="1900">
                <a:solidFill>
                  <a:schemeClr val="tx1"/>
                </a:solidFill>
                <a:latin typeface="Calibri" panose="020F0502020204030204" pitchFamily="34" charset="0"/>
                <a:ea typeface="宋体" panose="02010600030101010101" pitchFamily="2" charset="-122"/>
              </a:defRPr>
            </a:lvl5pPr>
            <a:lvl6pPr marL="25146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6pPr>
            <a:lvl7pPr marL="29718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7pPr>
            <a:lvl8pPr marL="34290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8pPr>
            <a:lvl9pPr marL="3886200" indent="-228600" defTabSz="913130" fontAlgn="base">
              <a:spcBef>
                <a:spcPct val="0"/>
              </a:spcBef>
              <a:spcAft>
                <a:spcPct val="0"/>
              </a:spcAft>
              <a:defRPr sz="1900">
                <a:solidFill>
                  <a:schemeClr val="tx1"/>
                </a:solidFill>
                <a:latin typeface="Calibri" panose="020F0502020204030204" pitchFamily="34" charset="0"/>
                <a:ea typeface="宋体" panose="02010600030101010101" pitchFamily="2" charset="-122"/>
              </a:defRPr>
            </a:lvl9pPr>
          </a:lstStyle>
          <a:p>
            <a:r>
              <a:rPr lang="zh-CN" altLang="en-US" sz="5400" b="1" dirty="0">
                <a:latin typeface="微软雅黑" panose="020B0503020204020204" charset="-122"/>
                <a:ea typeface="微软雅黑" panose="020B0503020204020204" charset="-122"/>
              </a:rPr>
              <a:t>感谢您的观看！</a:t>
            </a:r>
            <a:endParaRPr lang="en-US" altLang="zh-CN" sz="5400" b="1" dirty="0">
              <a:latin typeface="微软雅黑" panose="020B0503020204020204" charset="-122"/>
              <a:ea typeface="微软雅黑" panose="020B0503020204020204" charset="-122"/>
            </a:endParaRPr>
          </a:p>
        </p:txBody>
      </p:sp>
      <p:sp>
        <p:nvSpPr>
          <p:cNvPr id="7" name="TextBox 7"/>
          <p:cNvSpPr>
            <a:spLocks noChangeArrowheads="1"/>
          </p:cNvSpPr>
          <p:nvPr/>
        </p:nvSpPr>
        <p:spPr bwMode="auto">
          <a:xfrm>
            <a:off x="172636" y="1957517"/>
            <a:ext cx="753075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defRPr/>
            </a:pPr>
            <a:r>
              <a:rPr lang="en-US" altLang="zh-CN" sz="3200" dirty="0">
                <a:solidFill>
                  <a:schemeClr val="tx1">
                    <a:lumMod val="75000"/>
                    <a:lumOff val="25000"/>
                  </a:schemeClr>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rPr>
              <a:t>FINANCIAL DATA ANALYSIS REPORT PPT</a:t>
            </a:r>
          </a:p>
        </p:txBody>
      </p:sp>
      <p:grpSp>
        <p:nvGrpSpPr>
          <p:cNvPr id="8" name="组合 7"/>
          <p:cNvGrpSpPr/>
          <p:nvPr/>
        </p:nvGrpSpPr>
        <p:grpSpPr>
          <a:xfrm flipH="1">
            <a:off x="209551" y="3484603"/>
            <a:ext cx="6415483" cy="0"/>
            <a:chOff x="3339156" y="2641879"/>
            <a:chExt cx="5804844" cy="0"/>
          </a:xfrm>
        </p:grpSpPr>
        <p:cxnSp>
          <p:nvCxnSpPr>
            <p:cNvPr id="9" name="直接连接符 8"/>
            <p:cNvCxnSpPr/>
            <p:nvPr/>
          </p:nvCxnSpPr>
          <p:spPr>
            <a:xfrm>
              <a:off x="3339156" y="2641879"/>
              <a:ext cx="4695709" cy="0"/>
            </a:xfrm>
            <a:prstGeom prst="line">
              <a:avLst/>
            </a:prstGeom>
            <a:ln w="7620">
              <a:solidFill>
                <a:srgbClr val="000000"/>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03924" y="2641879"/>
              <a:ext cx="754055" cy="0"/>
            </a:xfrm>
            <a:prstGeom prst="line">
              <a:avLst/>
            </a:prstGeom>
            <a:ln w="7620">
              <a:solidFill>
                <a:srgbClr val="000000"/>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948986" y="2641879"/>
              <a:ext cx="195014" cy="0"/>
            </a:xfrm>
            <a:prstGeom prst="line">
              <a:avLst/>
            </a:prstGeom>
            <a:ln w="7620">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 name="圆角矩形 330"/>
          <p:cNvSpPr/>
          <p:nvPr/>
        </p:nvSpPr>
        <p:spPr>
          <a:xfrm>
            <a:off x="209551" y="3686328"/>
            <a:ext cx="5440077" cy="492985"/>
          </a:xfrm>
          <a:prstGeom prst="round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135" b="1" dirty="0">
                <a:solidFill>
                  <a:schemeClr val="bg1"/>
                </a:solidFill>
                <a:latin typeface="微软雅黑" panose="020B0503020204020204" charset="-122"/>
                <a:ea typeface="微软雅黑" panose="020B0503020204020204" charset="-122"/>
              </a:rPr>
              <a:t>工作汇报  工作总结  数据分析  财务金融</a:t>
            </a:r>
          </a:p>
        </p:txBody>
      </p:sp>
      <p:sp>
        <p:nvSpPr>
          <p:cNvPr id="13" name="圆角矩形 331"/>
          <p:cNvSpPr/>
          <p:nvPr/>
        </p:nvSpPr>
        <p:spPr>
          <a:xfrm>
            <a:off x="209551" y="4406969"/>
            <a:ext cx="2688300" cy="480076"/>
          </a:xfrm>
          <a:prstGeom prst="roundRect">
            <a:avLst>
              <a:gd name="adj" fmla="val 50000"/>
            </a:avLst>
          </a:prstGeom>
          <a:gradFill flip="none" rotWithShape="1">
            <a:gsLst>
              <a:gs pos="0">
                <a:schemeClr val="bg1">
                  <a:lumMod val="85000"/>
                </a:schemeClr>
              </a:gs>
              <a:gs pos="100000">
                <a:schemeClr val="bg1">
                  <a:lumMod val="95000"/>
                </a:schemeClr>
              </a:gs>
            </a:gsLst>
            <a:lin ang="2700000" scaled="1"/>
            <a:tileRect/>
          </a:gradFill>
          <a:ln w="25400">
            <a:gradFill flip="none" rotWithShape="1">
              <a:gsLst>
                <a:gs pos="0">
                  <a:schemeClr val="bg1">
                    <a:lumMod val="75000"/>
                  </a:schemeClr>
                </a:gs>
                <a:gs pos="100000">
                  <a:schemeClr val="bg1"/>
                </a:gs>
              </a:gsLst>
              <a:lin ang="2700000" scaled="1"/>
              <a:tileRect/>
            </a:gradFill>
          </a:ln>
          <a:effectLst>
            <a:innerShdw blurRad="1651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4" name="TextBox 332"/>
          <p:cNvSpPr txBox="1"/>
          <p:nvPr/>
        </p:nvSpPr>
        <p:spPr>
          <a:xfrm>
            <a:off x="666603" y="4453114"/>
            <a:ext cx="1467637" cy="410395"/>
          </a:xfrm>
          <a:prstGeom prst="rect">
            <a:avLst/>
          </a:prstGeom>
          <a:noFill/>
        </p:spPr>
        <p:txBody>
          <a:bodyPr wrap="none" lIns="121884" tIns="60941" rIns="121884" bIns="60941" rtlCol="0">
            <a:spAutoFit/>
          </a:bodyPr>
          <a:lstStyle/>
          <a:p>
            <a:pPr lvl="0"/>
            <a:r>
              <a:rPr lang="zh-CN" altLang="en-US" sz="1865" b="1" dirty="0">
                <a:solidFill>
                  <a:schemeClr val="tx1">
                    <a:lumMod val="75000"/>
                    <a:lumOff val="25000"/>
                  </a:schemeClr>
                </a:solidFill>
                <a:latin typeface="微软雅黑" panose="020B0503020204020204" charset="-122"/>
                <a:ea typeface="微软雅黑" panose="020B0503020204020204" charset="-122"/>
              </a:rPr>
              <a:t>部门：</a:t>
            </a:r>
            <a:r>
              <a:rPr lang="en-US" altLang="zh-CN" sz="1865" b="1" dirty="0">
                <a:solidFill>
                  <a:schemeClr val="tx1">
                    <a:lumMod val="75000"/>
                    <a:lumOff val="25000"/>
                  </a:schemeClr>
                </a:solidFill>
                <a:latin typeface="微软雅黑" panose="020B0503020204020204" charset="-122"/>
                <a:ea typeface="微软雅黑" panose="020B0503020204020204" charset="-122"/>
              </a:rPr>
              <a:t>XXX</a:t>
            </a:r>
            <a:endParaRPr lang="zh-CN" altLang="en-US" sz="1865" b="1" dirty="0">
              <a:solidFill>
                <a:schemeClr val="tx1">
                  <a:lumMod val="75000"/>
                  <a:lumOff val="25000"/>
                </a:schemeClr>
              </a:solidFill>
              <a:latin typeface="微软雅黑" panose="020B0503020204020204" charset="-122"/>
              <a:ea typeface="微软雅黑" panose="020B0503020204020204" charset="-122"/>
            </a:endParaRPr>
          </a:p>
        </p:txBody>
      </p:sp>
      <p:grpSp>
        <p:nvGrpSpPr>
          <p:cNvPr id="15" name="Group 91"/>
          <p:cNvGrpSpPr/>
          <p:nvPr/>
        </p:nvGrpSpPr>
        <p:grpSpPr bwMode="auto">
          <a:xfrm>
            <a:off x="223912" y="4419924"/>
            <a:ext cx="434101" cy="767467"/>
            <a:chOff x="936" y="1480"/>
            <a:chExt cx="1589" cy="2810"/>
          </a:xfrm>
        </p:grpSpPr>
        <p:grpSp>
          <p:nvGrpSpPr>
            <p:cNvPr id="16" name="组合 33"/>
            <p:cNvGrpSpPr/>
            <p:nvPr/>
          </p:nvGrpSpPr>
          <p:grpSpPr bwMode="auto">
            <a:xfrm>
              <a:off x="985" y="1583"/>
              <a:ext cx="1441" cy="2707"/>
              <a:chOff x="1754168" y="3653262"/>
              <a:chExt cx="1857599" cy="3495430"/>
            </a:xfrm>
          </p:grpSpPr>
          <p:sp>
            <p:nvSpPr>
              <p:cNvPr id="21" name="椭圆 2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4000" dirty="0">
                  <a:latin typeface="+mj-lt"/>
                  <a:ea typeface="方正超粗黑简体" panose="02010601030101010101" pitchFamily="65" charset="-122"/>
                </a:endParaRPr>
              </a:p>
            </p:txBody>
          </p:sp>
          <p:sp>
            <p:nvSpPr>
              <p:cNvPr id="22" name="椭圆 2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p>
            </p:txBody>
          </p:sp>
          <p:sp>
            <p:nvSpPr>
              <p:cNvPr id="23" name="椭圆 22"/>
              <p:cNvSpPr/>
              <p:nvPr/>
            </p:nvSpPr>
            <p:spPr>
              <a:xfrm>
                <a:off x="1890879" y="3789973"/>
                <a:ext cx="1584176" cy="1584174"/>
              </a:xfrm>
              <a:prstGeom prst="ellipse">
                <a:avLst/>
              </a:prstGeom>
              <a:solidFill>
                <a:schemeClr val="accent1"/>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4000" dirty="0">
                  <a:solidFill>
                    <a:srgbClr val="0087CF"/>
                  </a:solidFill>
                  <a:latin typeface="+mj-lt"/>
                  <a:ea typeface="方正超粗黑简体" panose="02010601030101010101" pitchFamily="65" charset="-122"/>
                </a:endParaRPr>
              </a:p>
            </p:txBody>
          </p:sp>
          <p:sp>
            <p:nvSpPr>
              <p:cNvPr id="24" name="矩形 23"/>
              <p:cNvSpPr/>
              <p:nvPr/>
            </p:nvSpPr>
            <p:spPr>
              <a:xfrm>
                <a:off x="2245590" y="4093186"/>
                <a:ext cx="871682" cy="3055506"/>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3600" b="1">
                  <a:solidFill>
                    <a:srgbClr val="CA0098"/>
                  </a:solidFill>
                  <a:latin typeface="微软雅黑" panose="020B0503020204020204" charset="-122"/>
                  <a:ea typeface="微软雅黑" panose="020B0503020204020204" charset="-122"/>
                </a:endParaRPr>
              </a:p>
            </p:txBody>
          </p:sp>
        </p:grpSp>
        <p:grpSp>
          <p:nvGrpSpPr>
            <p:cNvPr id="17" name="组合 4"/>
            <p:cNvGrpSpPr/>
            <p:nvPr/>
          </p:nvGrpSpPr>
          <p:grpSpPr bwMode="auto">
            <a:xfrm>
              <a:off x="936" y="1480"/>
              <a:ext cx="1589" cy="1588"/>
              <a:chOff x="3733576" y="3930057"/>
              <a:chExt cx="1801556" cy="1800152"/>
            </a:xfrm>
          </p:grpSpPr>
          <p:sp>
            <p:nvSpPr>
              <p:cNvPr id="18" name="椭圆 1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sp>
            <p:nvSpPr>
              <p:cNvPr id="1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sp>
            <p:nvSpPr>
              <p:cNvPr id="2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a:solidFill>
                    <a:prstClr val="white"/>
                  </a:solidFill>
                </a:endParaRPr>
              </a:p>
            </p:txBody>
          </p:sp>
        </p:grpSp>
      </p:grpSp>
    </p:spTree>
  </p:cSld>
  <p:clrMapOvr>
    <a:masterClrMapping/>
  </p:clrMapOvr>
  <mc:AlternateContent xmlns:mc="http://schemas.openxmlformats.org/markup-compatibility/2006" xmlns:p14="http://schemas.microsoft.com/office/powerpoint/2010/main">
    <mc:Choice Requires="p14">
      <p:transition spd="slow" p14:dur="1400" advClick="0" advTm="3000">
        <p14:ripple/>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p:tgtEl>
                                          <p:spTgt spid="6"/>
                                        </p:tgtEl>
                                        <p:attrNameLst>
                                          <p:attrName>ppt_y</p:attrName>
                                        </p:attrNameLst>
                                      </p:cBhvr>
                                      <p:tavLst>
                                        <p:tav tm="0">
                                          <p:val>
                                            <p:strVal val="#ppt_y+#ppt_h*1.125000"/>
                                          </p:val>
                                        </p:tav>
                                        <p:tav tm="100000">
                                          <p:val>
                                            <p:strVal val="#ppt_y"/>
                                          </p:val>
                                        </p:tav>
                                      </p:tavLst>
                                    </p:anim>
                                    <p:animEffect transition="in" filter="wipe(up)">
                                      <p:cBhvr>
                                        <p:cTn id="8" dur="750"/>
                                        <p:tgtEl>
                                          <p:spTgt spid="6"/>
                                        </p:tgtEl>
                                      </p:cBhvr>
                                    </p:animEffect>
                                  </p:childTnLst>
                                </p:cTn>
                              </p:par>
                            </p:childTnLst>
                          </p:cTn>
                        </p:par>
                        <p:par>
                          <p:cTn id="9" fill="hold">
                            <p:stCondLst>
                              <p:cond delay="0"/>
                            </p:stCondLst>
                            <p:childTnLst>
                              <p:par>
                                <p:cTn id="10" presetID="38" presetClass="entr" presetSubtype="0" accel="50000" fill="hold" grpId="0" nodeType="afterEffect">
                                  <p:stCondLst>
                                    <p:cond delay="0"/>
                                  </p:stCondLst>
                                  <p:iterate type="lt">
                                    <p:tmPct val="50000"/>
                                  </p:iterate>
                                  <p:childTnLst>
                                    <p:set>
                                      <p:cBhvr>
                                        <p:cTn id="11" dur="1" fill="hold">
                                          <p:stCondLst>
                                            <p:cond delay="0"/>
                                          </p:stCondLst>
                                        </p:cTn>
                                        <p:tgtEl>
                                          <p:spTgt spid="7"/>
                                        </p:tgtEl>
                                        <p:attrNameLst>
                                          <p:attrName>style.visibility</p:attrName>
                                        </p:attrNameLst>
                                      </p:cBhvr>
                                      <p:to>
                                        <p:strVal val="visible"/>
                                      </p:to>
                                    </p:set>
                                    <p:set>
                                      <p:cBhvr>
                                        <p:cTn id="12" dur="46" fill="hold">
                                          <p:stCondLst>
                                            <p:cond delay="0"/>
                                          </p:stCondLst>
                                        </p:cTn>
                                        <p:tgtEl>
                                          <p:spTgt spid="7"/>
                                        </p:tgtEl>
                                        <p:attrNameLst>
                                          <p:attrName>style.rotation</p:attrName>
                                        </p:attrNameLst>
                                      </p:cBhvr>
                                      <p:to>
                                        <p:strVal val="-45.0"/>
                                      </p:to>
                                    </p:set>
                                    <p:anim calcmode="lin" valueType="num">
                                      <p:cBhvr>
                                        <p:cTn id="13" dur="46" fill="hold">
                                          <p:stCondLst>
                                            <p:cond delay="46"/>
                                          </p:stCondLst>
                                        </p:cTn>
                                        <p:tgtEl>
                                          <p:spTgt spid="7"/>
                                        </p:tgtEl>
                                        <p:attrNameLst>
                                          <p:attrName>style.rotation</p:attrName>
                                        </p:attrNameLst>
                                      </p:cBhvr>
                                      <p:tavLst>
                                        <p:tav tm="0">
                                          <p:val>
                                            <p:fltVal val="-45"/>
                                          </p:val>
                                        </p:tav>
                                        <p:tav tm="69900">
                                          <p:val>
                                            <p:fltVal val="45"/>
                                          </p:val>
                                        </p:tav>
                                        <p:tav tm="100000">
                                          <p:val>
                                            <p:fltVal val="0"/>
                                          </p:val>
                                        </p:tav>
                                      </p:tavLst>
                                    </p:anim>
                                    <p:anim calcmode="lin" valueType="num">
                                      <p:cBhvr>
                                        <p:cTn id="14" dur="46" fill="hold">
                                          <p:stCondLst>
                                            <p:cond delay="0"/>
                                          </p:stCondLst>
                                        </p:cTn>
                                        <p:tgtEl>
                                          <p:spTgt spid="7"/>
                                        </p:tgtEl>
                                        <p:attrNameLst>
                                          <p:attrName>ppt_y</p:attrName>
                                        </p:attrNameLst>
                                      </p:cBhvr>
                                      <p:tavLst>
                                        <p:tav tm="0">
                                          <p:val>
                                            <p:strVal val="#ppt_y-1"/>
                                          </p:val>
                                        </p:tav>
                                        <p:tav tm="100000">
                                          <p:val>
                                            <p:strVal val="#ppt_y-(0.354*#ppt_w-0.172*#ppt_h)"/>
                                          </p:val>
                                        </p:tav>
                                      </p:tavLst>
                                    </p:anim>
                                    <p:anim calcmode="lin" valueType="num">
                                      <p:cBhvr>
                                        <p:cTn id="15" dur="16" decel="50000" autoRev="1" fill="hold">
                                          <p:stCondLst>
                                            <p:cond delay="46"/>
                                          </p:stCondLst>
                                        </p:cTn>
                                        <p:tgtEl>
                                          <p:spTgt spid="7"/>
                                        </p:tgtEl>
                                        <p:attrNameLst>
                                          <p:attrName>ppt_y</p:attrName>
                                        </p:attrNameLst>
                                      </p:cBhvr>
                                      <p:tavLst>
                                        <p:tav tm="0">
                                          <p:val>
                                            <p:strVal val="#ppt_y-(0.354*#ppt_w-0.172*#ppt_h)"/>
                                          </p:val>
                                        </p:tav>
                                        <p:tav tm="100000">
                                          <p:val>
                                            <p:strVal val="#ppt_y-(0.354*#ppt_w-0.172*#ppt_h)-#ppt_h/2"/>
                                          </p:val>
                                        </p:tav>
                                      </p:tavLst>
                                    </p:anim>
                                    <p:anim calcmode="lin" valueType="num">
                                      <p:cBhvr>
                                        <p:cTn id="16" dur="14" fill="hold">
                                          <p:stCondLst>
                                            <p:cond delay="86"/>
                                          </p:stCondLst>
                                        </p:cTn>
                                        <p:tgtEl>
                                          <p:spTgt spid="7"/>
                                        </p:tgtEl>
                                        <p:attrNameLst>
                                          <p:attrName>ppt_y</p:attrName>
                                        </p:attrNameLst>
                                      </p:cBhvr>
                                      <p:tavLst>
                                        <p:tav tm="0">
                                          <p:val>
                                            <p:strVal val="#ppt_y-(0.354*#ppt_w-0.172*#ppt_h)"/>
                                          </p:val>
                                        </p:tav>
                                        <p:tav tm="100000">
                                          <p:val>
                                            <p:strVal val="#ppt_y"/>
                                          </p:val>
                                        </p:tav>
                                      </p:tavLst>
                                    </p:anim>
                                  </p:childTnLst>
                                </p:cTn>
                              </p:par>
                            </p:childTnLst>
                          </p:cTn>
                        </p:par>
                        <p:par>
                          <p:cTn id="17" fill="hold">
                            <p:stCondLst>
                              <p:cond delay="1750"/>
                            </p:stCondLst>
                            <p:childTnLst>
                              <p:par>
                                <p:cTn id="18" presetID="2" presetClass="entr" presetSubtype="2"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1+#ppt_w/2"/>
                                          </p:val>
                                        </p:tav>
                                        <p:tav tm="100000">
                                          <p:val>
                                            <p:strVal val="#ppt_x"/>
                                          </p:val>
                                        </p:tav>
                                      </p:tavLst>
                                    </p:anim>
                                    <p:anim calcmode="lin" valueType="num">
                                      <p:cBhvr additive="base">
                                        <p:cTn id="21" dur="500" fill="hold"/>
                                        <p:tgtEl>
                                          <p:spTgt spid="8"/>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6" presetClass="entr" presetSubtype="37"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outVertical)">
                                      <p:cBhvr>
                                        <p:cTn id="25" dur="500"/>
                                        <p:tgtEl>
                                          <p:spTgt spid="12"/>
                                        </p:tgtEl>
                                      </p:cBhvr>
                                    </p:animEffect>
                                  </p:childTnLst>
                                </p:cTn>
                              </p:par>
                            </p:childTnLst>
                          </p:cTn>
                        </p:par>
                        <p:par>
                          <p:cTn id="26" fill="hold">
                            <p:stCondLst>
                              <p:cond delay="275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par>
                          <p:cTn id="30" fill="hold">
                            <p:stCondLst>
                              <p:cond delay="3250"/>
                            </p:stCondLst>
                            <p:childTnLst>
                              <p:par>
                                <p:cTn id="31" presetID="10" presetClass="entr" presetSubtype="0"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3750"/>
                            </p:stCondLst>
                            <p:childTnLst>
                              <p:par>
                                <p:cTn id="35" presetID="42" presetClass="path" presetSubtype="0" accel="50000" decel="50000" fill="hold" nodeType="afterEffect">
                                  <p:stCondLst>
                                    <p:cond delay="0"/>
                                  </p:stCondLst>
                                  <p:childTnLst>
                                    <p:animMotion origin="layout" path="M 2.29167E-6 -2.96296E-6 L 0.14896 -0.00023 " pathEditMode="relative" rAng="0" ptsTypes="AA">
                                      <p:cBhvr>
                                        <p:cTn id="36" dur="2000" fill="hold"/>
                                        <p:tgtEl>
                                          <p:spTgt spid="15"/>
                                        </p:tgtEl>
                                        <p:attrNameLst>
                                          <p:attrName>ppt_x</p:attrName>
                                          <p:attrName>ppt_y</p:attrName>
                                        </p:attrNameLst>
                                      </p:cBhvr>
                                      <p:rCtr x="7448" y="-23"/>
                                    </p:animMotion>
                                  </p:childTnLst>
                                </p:cTn>
                              </p:par>
                              <p:par>
                                <p:cTn id="37" presetID="22" presetClass="entr" presetSubtype="8" fill="hold" grpId="0" nodeType="withEffect">
                                  <p:stCondLst>
                                    <p:cond delay="40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1600"/>
                                        <p:tgtEl>
                                          <p:spTgt spid="14"/>
                                        </p:tgtEl>
                                      </p:cBhvr>
                                    </p:animEffect>
                                  </p:childTnLst>
                                </p:cTn>
                              </p:par>
                            </p:childTnLst>
                          </p:cTn>
                        </p:par>
                        <p:par>
                          <p:cTn id="40" fill="hold">
                            <p:stCondLst>
                              <p:cond delay="5750"/>
                            </p:stCondLst>
                            <p:childTnLst>
                              <p:par>
                                <p:cTn id="41" presetID="10" presetClass="exit" presetSubtype="0" fill="hold" nodeType="afterEffect">
                                  <p:stCondLst>
                                    <p:cond delay="0"/>
                                  </p:stCondLst>
                                  <p:childTnLst>
                                    <p:animEffect transition="out" filter="fade">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animBg="1"/>
      <p:bldP spid="13" grpId="0" animBg="1"/>
      <p:bldP spid="14"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GuidesStyle_Normal&quot;,&quot;Name&quot;:&quot;正常&quot;,&quot;HeaderHeight&quot;:10.0,&quot;FooterHeight&quot;:4.0,&quot;SideMargin&quot;:3.0,&quot;TopMargin&quot;:3.0,&quot;BottomMargin&quot;:3.0,&quot;IntervalMargin&quot;:3.0}"/>
  <p:tag name="ISPRING_ULTRA_SCORM_COURSE_ID" val="A28D64FE-EAD0-419D-84B3-9368BBF65C35"/>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1"/>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1">
  <a:themeElements>
    <a:clrScheme name="MC-欧美风主题色">
      <a:dk1>
        <a:srgbClr val="000000"/>
      </a:dk1>
      <a:lt1>
        <a:srgbClr val="FFFFFF"/>
      </a:lt1>
      <a:dk2>
        <a:srgbClr val="778495"/>
      </a:dk2>
      <a:lt2>
        <a:srgbClr val="F0F0F0"/>
      </a:lt2>
      <a:accent1>
        <a:srgbClr val="548BB7"/>
      </a:accent1>
      <a:accent2>
        <a:srgbClr val="DD8047"/>
      </a:accent2>
      <a:accent3>
        <a:srgbClr val="A5AB81"/>
      </a:accent3>
      <a:accent4>
        <a:srgbClr val="D8B25C"/>
      </a:accent4>
      <a:accent5>
        <a:srgbClr val="7BA79D"/>
      </a:accent5>
      <a:accent6>
        <a:srgbClr val="968C8C"/>
      </a:accent6>
      <a:hlink>
        <a:srgbClr val="548BB7"/>
      </a:hlink>
      <a:folHlink>
        <a:srgbClr val="BFBFBF"/>
      </a:folHlink>
    </a:clrScheme>
    <a:fontScheme name="Arial+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1895</Words>
  <Application>Microsoft Macintosh PowerPoint</Application>
  <PresentationFormat>宽屏</PresentationFormat>
  <Paragraphs>363</Paragraphs>
  <Slides>23</Slides>
  <Notes>23</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23</vt:i4>
      </vt:variant>
    </vt:vector>
  </HeadingPairs>
  <TitlesOfParts>
    <vt:vector size="37" baseType="lpstr">
      <vt:lpstr>黑体</vt:lpstr>
      <vt:lpstr>Swis721 Lt BT</vt:lpstr>
      <vt:lpstr>LilyUPC</vt:lpstr>
      <vt:lpstr>Roboto</vt:lpstr>
      <vt:lpstr>方正超粗黑简体</vt:lpstr>
      <vt:lpstr>MS Sans Serif</vt:lpstr>
      <vt:lpstr>Calibri</vt:lpstr>
      <vt:lpstr>宋体</vt:lpstr>
      <vt:lpstr>Arial</vt:lpstr>
      <vt:lpstr>Agency FB</vt:lpstr>
      <vt:lpstr>等线</vt:lpstr>
      <vt:lpstr>楷体</vt:lpstr>
      <vt:lpstr>微软雅黑</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2</cp:revision>
  <dcterms:created xsi:type="dcterms:W3CDTF">2019-05-14T02:24:12Z</dcterms:created>
  <dcterms:modified xsi:type="dcterms:W3CDTF">2020-03-13T12:09:04Z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