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oleObject"/>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charts/chart2.xml" ContentType="application/vnd.openxmlformats-officedocument.drawingml.chart+xml"/>
  <Override PartName="/ppt/notesSlides/notesSlide6.xml" ContentType="application/vnd.openxmlformats-officedocument.presentationml.notesSlide+xml"/>
  <Override PartName="/ppt/charts/chart3.xml" ContentType="application/vnd.openxmlformats-officedocument.drawingml.chart+xml"/>
  <Override PartName="/ppt/notesSlides/notesSlide7.xml" ContentType="application/vnd.openxmlformats-officedocument.presentationml.notesSlide+xml"/>
  <Override PartName="/ppt/charts/chart4.xml" ContentType="application/vnd.openxmlformats-officedocument.drawingml.chart+xml"/>
  <Override PartName="/ppt/notesSlides/notesSlide8.xml" ContentType="application/vnd.openxmlformats-officedocument.presentationml.notesSlide+xml"/>
  <Override PartName="/ppt/charts/chart5.xml" ContentType="application/vnd.openxmlformats-officedocument.drawingml.chart+xml"/>
  <Override PartName="/ppt/notesSlides/notesSlide9.xml" ContentType="application/vnd.openxmlformats-officedocument.presentationml.notesSlide+xml"/>
  <Override PartName="/ppt/charts/chart6.xml" ContentType="application/vnd.openxmlformats-officedocument.drawingml.chart+xml"/>
  <Override PartName="/ppt/charts/chart7.xml" ContentType="application/vnd.openxmlformats-officedocument.drawingml.chart+xml"/>
  <Override PartName="/ppt/drawings/drawing1.xml" ContentType="application/vnd.openxmlformats-officedocument.drawingml.chartshapes+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drawings/drawing2.xml" ContentType="application/vnd.openxmlformats-officedocument.drawingml.chartshapes+xml"/>
  <Override PartName="/ppt/charts/chart12.xml" ContentType="application/vnd.openxmlformats-officedocument.drawingml.chart+xml"/>
  <Override PartName="/ppt/drawings/drawing3.xml" ContentType="application/vnd.openxmlformats-officedocument.drawingml.chartshapes+xml"/>
  <Override PartName="/ppt/charts/chart13.xml" ContentType="application/vnd.openxmlformats-officedocument.drawingml.chart+xml"/>
  <Override PartName="/ppt/drawings/drawing4.xml" ContentType="application/vnd.openxmlformats-officedocument.drawingml.chartshapes+xml"/>
  <Override PartName="/ppt/notesSlides/notesSlide10.xml" ContentType="application/vnd.openxmlformats-officedocument.presentationml.notesSlide+xml"/>
  <Override PartName="/ppt/charts/chart14.xml" ContentType="application/vnd.openxmlformats-officedocument.drawingml.chart+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5.xml" ContentType="application/vnd.openxmlformats-officedocument.drawingml.chart+xml"/>
  <Override PartName="/ppt/charts/chart16.xml" ContentType="application/vnd.openxmlformats-officedocument.drawingml.chart+xml"/>
  <Override PartName="/ppt/notesSlides/notesSlide13.xml" ContentType="application/vnd.openxmlformats-officedocument.presentationml.notesSlide+xml"/>
  <Override PartName="/ppt/charts/chart17.xml" ContentType="application/vnd.openxmlformats-officedocument.drawingml.chart+xml"/>
  <Override PartName="/ppt/charts/chart18.xml" ContentType="application/vnd.openxmlformats-officedocument.drawingml.chart+xml"/>
  <Override PartName="/ppt/drawings/drawing5.xml" ContentType="application/vnd.openxmlformats-officedocument.drawingml.chartshapes+xml"/>
  <Override PartName="/ppt/charts/chart19.xml" ContentType="application/vnd.openxmlformats-officedocument.drawingml.chart+xml"/>
  <Override PartName="/ppt/drawings/drawing6.xml" ContentType="application/vnd.openxmlformats-officedocument.drawingml.chartshape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20.xml" ContentType="application/vnd.openxmlformats-officedocument.drawingml.chart+xml"/>
  <Override PartName="/ppt/notesSlides/notesSlide16.xml" ContentType="application/vnd.openxmlformats-officedocument.presentationml.notesSlide+xml"/>
  <Override PartName="/ppt/charts/chart21.xml" ContentType="application/vnd.openxmlformats-officedocument.drawingml.chart+xml"/>
  <Override PartName="/ppt/notesSlides/notesSlide17.xml" ContentType="application/vnd.openxmlformats-officedocument.presentationml.notesSlide+xml"/>
  <Override PartName="/ppt/charts/chart22.xml" ContentType="application/vnd.openxmlformats-officedocument.drawingml.chart+xml"/>
  <Override PartName="/ppt/charts/chart23.xml" ContentType="application/vnd.openxmlformats-officedocument.drawingml.chart+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24.xml" ContentType="application/vnd.openxmlformats-officedocument.drawingml.chart+xml"/>
  <Override PartName="/ppt/charts/chart25.xml" ContentType="application/vnd.openxmlformats-officedocument.drawingml.chart+xml"/>
  <Override PartName="/ppt/notesSlides/notesSlide20.xml" ContentType="application/vnd.openxmlformats-officedocument.presentationml.notesSlide+xml"/>
  <Override PartName="/ppt/charts/chart26.xml" ContentType="application/vnd.openxmlformats-officedocument.drawingml.chart+xml"/>
  <Override PartName="/ppt/notesSlides/notesSlide21.xml" ContentType="application/vnd.openxmlformats-officedocument.presentationml.notesSlide+xml"/>
  <Override PartName="/ppt/charts/chart27.xml" ContentType="application/vnd.openxmlformats-officedocument.drawingml.chart+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rts/chart28.xml" ContentType="application/vnd.openxmlformats-officedocument.drawingml.chart+xml"/>
  <Override PartName="/ppt/notesSlides/notesSlide24.xml" ContentType="application/vnd.openxmlformats-officedocument.presentationml.notesSlide+xml"/>
  <Override PartName="/ppt/charts/chart29.xml" ContentType="application/vnd.openxmlformats-officedocument.drawingml.chart+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rts/chart30.xml" ContentType="application/vnd.openxmlformats-officedocument.drawingml.chart+xml"/>
  <Override PartName="/ppt/notesSlides/notesSlide27.xml" ContentType="application/vnd.openxmlformats-officedocument.presentationml.notesSlide+xml"/>
  <Override PartName="/ppt/charts/chart31.xml" ContentType="application/vnd.openxmlformats-officedocument.drawingml.chart+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rts/chart32.xml" ContentType="application/vnd.openxmlformats-officedocument.drawingml.chart+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handoutMasterIdLst>
    <p:handoutMasterId r:id="rId33"/>
  </p:handoutMasterIdLst>
  <p:sldIdLst>
    <p:sldId id="819" r:id="rId2"/>
    <p:sldId id="353" r:id="rId3"/>
    <p:sldId id="354" r:id="rId4"/>
    <p:sldId id="259" r:id="rId5"/>
    <p:sldId id="822" r:id="rId6"/>
    <p:sldId id="823" r:id="rId7"/>
    <p:sldId id="824" r:id="rId8"/>
    <p:sldId id="825" r:id="rId9"/>
    <p:sldId id="826" r:id="rId10"/>
    <p:sldId id="827" r:id="rId11"/>
    <p:sldId id="829" r:id="rId12"/>
    <p:sldId id="828" r:id="rId13"/>
    <p:sldId id="830" r:id="rId14"/>
    <p:sldId id="832" r:id="rId15"/>
    <p:sldId id="831" r:id="rId16"/>
    <p:sldId id="833" r:id="rId17"/>
    <p:sldId id="834" r:id="rId18"/>
    <p:sldId id="836" r:id="rId19"/>
    <p:sldId id="835" r:id="rId20"/>
    <p:sldId id="838" r:id="rId21"/>
    <p:sldId id="839" r:id="rId22"/>
    <p:sldId id="841" r:id="rId23"/>
    <p:sldId id="840" r:id="rId24"/>
    <p:sldId id="842" r:id="rId25"/>
    <p:sldId id="844" r:id="rId26"/>
    <p:sldId id="843" r:id="rId27"/>
    <p:sldId id="845" r:id="rId28"/>
    <p:sldId id="847" r:id="rId29"/>
    <p:sldId id="846" r:id="rId30"/>
    <p:sldId id="407" r:id="rId31"/>
  </p:sldIdLst>
  <p:sldSz cx="9144000" cy="5143500" type="screen16x9"/>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733">
          <p15:clr>
            <a:srgbClr val="A4A3A4"/>
          </p15:clr>
        </p15:guide>
        <p15:guide id="2" pos="2758">
          <p15:clr>
            <a:srgbClr val="A4A3A4"/>
          </p15:clr>
        </p15:guide>
      </p15:sldGuideLst>
    </p:ext>
    <p:ext uri="{2D200454-40CA-4A62-9FC3-DE9A4176ACB9}">
      <p15:notesGuideLst xmlns:p15="http://schemas.microsoft.com/office/powerpoint/2012/main">
        <p15:guide id="1" orient="horz" pos="3081">
          <p15:clr>
            <a:srgbClr val="A4A3A4"/>
          </p15:clr>
        </p15:guide>
        <p15:guide id="2" pos="2107">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huaibing" initials="s" lastIdx="5" clrIdx="0"/>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0C0"/>
    <a:srgbClr val="005DA2"/>
    <a:srgbClr val="2894D6"/>
    <a:srgbClr val="7F7F7F"/>
    <a:srgbClr val="00B0F0"/>
    <a:srgbClr val="F79600"/>
    <a:srgbClr val="C4C7CB"/>
    <a:srgbClr val="E7E7E5"/>
    <a:srgbClr val="595959"/>
    <a:srgbClr val="DCDE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6D9F66E-5EB9-4882-86FB-DCBF35E3C3E4}" styleName="中度样式 4 - 强调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C083E6E3-FA7D-4D7B-A595-EF9225AFEA82}" styleName="浅色样式 1 - 强调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799B23B-EC83-4686-B30A-512413B5E67A}" styleName="浅色样式 3 - 强调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0505E3EF-67EA-436B-97B2-0124C06EBD24}" styleName="中度样式 4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EB344D84-9AFB-497E-A393-DC336BA19D2E}" styleName="中度样式 3 - 强调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中度样式 3 - 强调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74C1A8A3-306A-4EB7-A6B1-4F7E0EB9C5D6}" styleName="中度样式 3 - 强调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EB9631B5-78F2-41C9-869B-9F39066F8104}" styleName="中度样式 3 - 强调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83" autoAdjust="0"/>
    <p:restoredTop sz="91213" autoAdjust="0"/>
  </p:normalViewPr>
  <p:slideViewPr>
    <p:cSldViewPr>
      <p:cViewPr>
        <p:scale>
          <a:sx n="95" d="100"/>
          <a:sy n="95" d="100"/>
        </p:scale>
        <p:origin x="2160" y="1072"/>
      </p:cViewPr>
      <p:guideLst>
        <p:guide orient="horz" pos="1733"/>
        <p:guide pos="2758"/>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86" d="100"/>
          <a:sy n="86" d="100"/>
        </p:scale>
        <p:origin x="-3810" y="-90"/>
      </p:cViewPr>
      <p:guideLst>
        <p:guide orient="horz" pos="3081"/>
        <p:guide pos="2107"/>
      </p:guideLst>
    </p:cSldViewPr>
  </p:notesViewPr>
  <p:gridSpacing cx="72008" cy="72008"/>
</p:viewPr>
</file>

<file path=ppt/_rels/presentation.xml.rels><?xml version="1.0" encoding="UTF-8" standalone="yes"?>
<Relationships xmlns="http://schemas.openxmlformats.org/package/2006/relationships"><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9" Type="http://schemas.openxmlformats.org/officeDocument/2006/relationships/slide" Target="slides/slide8.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33" Type="http://schemas.openxmlformats.org/officeDocument/2006/relationships/handoutMaster" Target="handoutMasters/handoutMaster1.xml"/><Relationship Id="rId34" Type="http://schemas.openxmlformats.org/officeDocument/2006/relationships/commentAuthors" Target="commentAuthors.xml"/><Relationship Id="rId35" Type="http://schemas.openxmlformats.org/officeDocument/2006/relationships/presProps" Target="presProps.xml"/><Relationship Id="rId36" Type="http://schemas.openxmlformats.org/officeDocument/2006/relationships/viewProps" Target="viewProp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37" Type="http://schemas.openxmlformats.org/officeDocument/2006/relationships/theme" Target="theme/theme1.xml"/><Relationship Id="rId38"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oleObject" Target="NULL"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NULL" TargetMode="External"/></Relationships>
</file>

<file path=ppt/charts/_rels/chart3.xml.rels><?xml version="1.0" encoding="UTF-8" standalone="yes"?>
<Relationships xmlns="http://schemas.openxmlformats.org/package/2006/relationships"><Relationship Id="rId1" Type="http://schemas.openxmlformats.org/officeDocument/2006/relationships/oleObject" Target="NULL" TargetMode="External"/></Relationships>
</file>

<file path=ppt/charts/_rels/chart4.xml.rels><?xml version="1.0" encoding="UTF-8" standalone="yes"?>
<Relationships xmlns="http://schemas.openxmlformats.org/package/2006/relationships"><Relationship Id="rId1" Type="http://schemas.openxmlformats.org/officeDocument/2006/relationships/oleObject" Target="NULL" TargetMode="External"/></Relationships>
</file>

<file path=ppt/charts/_rels/chart5.xml.rels><?xml version="1.0" encoding="UTF-8" standalone="yes"?>
<Relationships xmlns="http://schemas.openxmlformats.org/package/2006/relationships"><Relationship Id="rId1" Type="http://schemas.openxmlformats.org/officeDocument/2006/relationships/oleObject" Target="NULL" TargetMode="External"/></Relationships>
</file>

<file path=ppt/charts/_rels/chart6.xml.rels><?xml version="1.0" encoding="UTF-8" standalone="yes"?>
<Relationships xmlns="http://schemas.openxmlformats.org/package/2006/relationships"><Relationship Id="rId1" Type="http://schemas.openxmlformats.org/officeDocument/2006/relationships/oleObject" Target="NULL" TargetMode="External"/></Relationships>
</file>

<file path=ppt/charts/_rels/chart7.xml.rels><?xml version="1.0" encoding="UTF-8" standalone="yes"?>
<Relationships xmlns="http://schemas.openxmlformats.org/package/2006/relationships"><Relationship Id="rId1" Type="http://schemas.openxmlformats.org/officeDocument/2006/relationships/oleObject" Target="../embeddings/oleObject1.bin"/><Relationship Id="rId2" Type="http://schemas.openxmlformats.org/officeDocument/2006/relationships/chartUserShapes" Target="../drawings/drawing1.xml"/></Relationships>
</file>

<file path=ppt/charts/_rels/chart8.xml.rels><?xml version="1.0" encoding="UTF-8" standalone="yes"?>
<Relationships xmlns="http://schemas.openxmlformats.org/package/2006/relationships"><Relationship Id="rId1" Type="http://schemas.openxmlformats.org/officeDocument/2006/relationships/oleObject" Target="../embeddings/oleObject2.bin"/></Relationships>
</file>

<file path=ppt/charts/_rels/chart9.xml.rels><?xml version="1.0" encoding="UTF-8" standalone="yes"?>
<Relationships xmlns="http://schemas.openxmlformats.org/package/2006/relationships"><Relationship Id="rId1" Type="http://schemas.openxmlformats.org/officeDocument/2006/relationships/oleObject" Target="../embeddings/oleObject3.bin"/></Relationships>
</file>

<file path=ppt/charts/_rels/chart10.xml.rels><?xml version="1.0" encoding="UTF-8" standalone="yes"?>
<Relationships xmlns="http://schemas.openxmlformats.org/package/2006/relationships"><Relationship Id="rId1" Type="http://schemas.openxmlformats.org/officeDocument/2006/relationships/oleObject" Target="../embeddings/oleObject4.bin"/></Relationships>
</file>

<file path=ppt/charts/_rels/chart11.xml.rels><?xml version="1.0" encoding="UTF-8" standalone="yes"?>
<Relationships xmlns="http://schemas.openxmlformats.org/package/2006/relationships"><Relationship Id="rId1" Type="http://schemas.openxmlformats.org/officeDocument/2006/relationships/oleObject" Target="NULL" TargetMode="External"/><Relationship Id="rId2" Type="http://schemas.openxmlformats.org/officeDocument/2006/relationships/chartUserShapes" Target="../drawings/drawing2.xml"/></Relationships>
</file>

<file path=ppt/charts/_rels/chart12.xml.rels><?xml version="1.0" encoding="UTF-8" standalone="yes"?>
<Relationships xmlns="http://schemas.openxmlformats.org/package/2006/relationships"><Relationship Id="rId1" Type="http://schemas.openxmlformats.org/officeDocument/2006/relationships/oleObject" Target="NULL" TargetMode="External"/><Relationship Id="rId2" Type="http://schemas.openxmlformats.org/officeDocument/2006/relationships/chartUserShapes" Target="../drawings/drawing3.xml"/></Relationships>
</file>

<file path=ppt/charts/_rels/chart13.xml.rels><?xml version="1.0" encoding="UTF-8" standalone="yes"?>
<Relationships xmlns="http://schemas.openxmlformats.org/package/2006/relationships"><Relationship Id="rId1" Type="http://schemas.openxmlformats.org/officeDocument/2006/relationships/oleObject" Target="NULL" TargetMode="External"/><Relationship Id="rId2" Type="http://schemas.openxmlformats.org/officeDocument/2006/relationships/chartUserShapes" Target="../drawings/drawing4.xml"/></Relationships>
</file>

<file path=ppt/charts/_rels/chart14.xml.rels><?xml version="1.0" encoding="UTF-8" standalone="yes"?>
<Relationships xmlns="http://schemas.openxmlformats.org/package/2006/relationships"><Relationship Id="rId1" Type="http://schemas.openxmlformats.org/officeDocument/2006/relationships/oleObject" Target="../embeddings/oleObject5.bin"/></Relationships>
</file>

<file path=ppt/charts/_rels/chart15.xml.rels><?xml version="1.0" encoding="UTF-8" standalone="yes"?>
<Relationships xmlns="http://schemas.openxmlformats.org/package/2006/relationships"><Relationship Id="rId1" Type="http://schemas.openxmlformats.org/officeDocument/2006/relationships/oleObject" Target="../embeddings/oleObject6.bin"/></Relationships>
</file>

<file path=ppt/charts/_rels/chart16.xml.rels><?xml version="1.0" encoding="UTF-8" standalone="yes"?>
<Relationships xmlns="http://schemas.openxmlformats.org/package/2006/relationships"><Relationship Id="rId1" Type="http://schemas.openxmlformats.org/officeDocument/2006/relationships/oleObject" Target="../embeddings/oleObject7.bin"/></Relationships>
</file>

<file path=ppt/charts/_rels/chart17.xml.rels><?xml version="1.0" encoding="UTF-8" standalone="yes"?>
<Relationships xmlns="http://schemas.openxmlformats.org/package/2006/relationships"><Relationship Id="rId1" Type="http://schemas.openxmlformats.org/officeDocument/2006/relationships/oleObject" Target="../embeddings/oleObject8.bin"/></Relationships>
</file>

<file path=ppt/charts/_rels/chart18.xml.rels><?xml version="1.0" encoding="UTF-8" standalone="yes"?>
<Relationships xmlns="http://schemas.openxmlformats.org/package/2006/relationships"><Relationship Id="rId1" Type="http://schemas.openxmlformats.org/officeDocument/2006/relationships/oleObject" Target="../embeddings/oleObject9.bin"/><Relationship Id="rId2" Type="http://schemas.openxmlformats.org/officeDocument/2006/relationships/chartUserShapes" Target="../drawings/drawing5.xml"/></Relationships>
</file>

<file path=ppt/charts/_rels/chart19.xml.rels><?xml version="1.0" encoding="UTF-8" standalone="yes"?>
<Relationships xmlns="http://schemas.openxmlformats.org/package/2006/relationships"><Relationship Id="rId1" Type="http://schemas.openxmlformats.org/officeDocument/2006/relationships/oleObject" Target="../embeddings/oleObject10.bin"/><Relationship Id="rId2" Type="http://schemas.openxmlformats.org/officeDocument/2006/relationships/chartUserShapes" Target="../drawings/drawing6.xml"/></Relationships>
</file>

<file path=ppt/charts/_rels/chart20.xml.rels><?xml version="1.0" encoding="UTF-8" standalone="yes"?>
<Relationships xmlns="http://schemas.openxmlformats.org/package/2006/relationships"><Relationship Id="rId1" Type="http://schemas.openxmlformats.org/officeDocument/2006/relationships/oleObject" Target="../embeddings/oleObject11.bin"/></Relationships>
</file>

<file path=ppt/charts/_rels/chart21.xml.rels><?xml version="1.0" encoding="UTF-8" standalone="yes"?>
<Relationships xmlns="http://schemas.openxmlformats.org/package/2006/relationships"><Relationship Id="rId1" Type="http://schemas.openxmlformats.org/officeDocument/2006/relationships/oleObject" Target="../embeddings/oleObject12.bin"/></Relationships>
</file>

<file path=ppt/charts/_rels/chart22.xml.rels><?xml version="1.0" encoding="UTF-8" standalone="yes"?>
<Relationships xmlns="http://schemas.openxmlformats.org/package/2006/relationships"><Relationship Id="rId1" Type="http://schemas.openxmlformats.org/officeDocument/2006/relationships/oleObject" Target="../embeddings/oleObject13.bin"/></Relationships>
</file>

<file path=ppt/charts/_rels/chart23.xml.rels><?xml version="1.0" encoding="UTF-8" standalone="yes"?>
<Relationships xmlns="http://schemas.openxmlformats.org/package/2006/relationships"><Relationship Id="rId1" Type="http://schemas.openxmlformats.org/officeDocument/2006/relationships/image" Target="../media/image6.jpeg"/><Relationship Id="rId2" Type="http://schemas.openxmlformats.org/officeDocument/2006/relationships/oleObject" Target="NULL" TargetMode="External"/></Relationships>
</file>

<file path=ppt/charts/_rels/chart24.xml.rels><?xml version="1.0" encoding="UTF-8" standalone="yes"?>
<Relationships xmlns="http://schemas.openxmlformats.org/package/2006/relationships"><Relationship Id="rId1" Type="http://schemas.openxmlformats.org/officeDocument/2006/relationships/oleObject" Target="../embeddings/oleObject14.bin"/></Relationships>
</file>

<file path=ppt/charts/_rels/chart25.xml.rels><?xml version="1.0" encoding="UTF-8" standalone="yes"?>
<Relationships xmlns="http://schemas.openxmlformats.org/package/2006/relationships"><Relationship Id="rId1" Type="http://schemas.openxmlformats.org/officeDocument/2006/relationships/oleObject" Target="../embeddings/oleObject15.bin"/></Relationships>
</file>

<file path=ppt/charts/_rels/chart26.xml.rels><?xml version="1.0" encoding="UTF-8" standalone="yes"?>
<Relationships xmlns="http://schemas.openxmlformats.org/package/2006/relationships"><Relationship Id="rId1" Type="http://schemas.openxmlformats.org/officeDocument/2006/relationships/oleObject" Target="../embeddings/oleObject16.bin"/></Relationships>
</file>

<file path=ppt/charts/_rels/chart27.xml.rels><?xml version="1.0" encoding="UTF-8" standalone="yes"?>
<Relationships xmlns="http://schemas.openxmlformats.org/package/2006/relationships"><Relationship Id="rId1" Type="http://schemas.openxmlformats.org/officeDocument/2006/relationships/oleObject" Target="../embeddings/oleObject17.bin"/></Relationships>
</file>

<file path=ppt/charts/_rels/chart28.xml.rels><?xml version="1.0" encoding="UTF-8" standalone="yes"?>
<Relationships xmlns="http://schemas.openxmlformats.org/package/2006/relationships"><Relationship Id="rId1" Type="http://schemas.openxmlformats.org/officeDocument/2006/relationships/oleObject" Target="../embeddings/oleObject18.bin"/></Relationships>
</file>

<file path=ppt/charts/_rels/chart29.xml.rels><?xml version="1.0" encoding="UTF-8" standalone="yes"?>
<Relationships xmlns="http://schemas.openxmlformats.org/package/2006/relationships"><Relationship Id="rId1" Type="http://schemas.openxmlformats.org/officeDocument/2006/relationships/oleObject" Target="../embeddings/oleObject19.bin"/></Relationships>
</file>

<file path=ppt/charts/_rels/chart30.xml.rels><?xml version="1.0" encoding="UTF-8" standalone="yes"?>
<Relationships xmlns="http://schemas.openxmlformats.org/package/2006/relationships"><Relationship Id="rId1" Type="http://schemas.openxmlformats.org/officeDocument/2006/relationships/oleObject" Target="../embeddings/oleObject20.bin"/></Relationships>
</file>

<file path=ppt/charts/_rels/chart31.xml.rels><?xml version="1.0" encoding="UTF-8" standalone="yes"?>
<Relationships xmlns="http://schemas.openxmlformats.org/package/2006/relationships"><Relationship Id="rId1" Type="http://schemas.openxmlformats.org/officeDocument/2006/relationships/oleObject" Target="../embeddings/oleObject21.bin"/></Relationships>
</file>

<file path=ppt/charts/_rels/chart32.xml.rels><?xml version="1.0" encoding="UTF-8" standalone="yes"?>
<Relationships xmlns="http://schemas.openxmlformats.org/package/2006/relationships"><Relationship Id="rId1" Type="http://schemas.openxmlformats.org/officeDocument/2006/relationships/oleObject" Target="../embeddings/oleObject22.bin"/></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zh-CN" sz="2160" b="1" i="0" u="none" strike="noStrike" kern="1200" baseline="0">
                <a:solidFill>
                  <a:schemeClr val="tx1"/>
                </a:solidFill>
                <a:latin typeface="+mn-lt"/>
                <a:ea typeface="+mn-ea"/>
                <a:cs typeface="+mn-cs"/>
              </a:defRPr>
            </a:pPr>
            <a:r>
              <a:rPr lang="en-US" altLang="zh-CN" sz="1800" dirty="0"/>
              <a:t>2014-2017</a:t>
            </a:r>
            <a:r>
              <a:rPr lang="zh-CN" altLang="en-US" sz="1800" dirty="0"/>
              <a:t>年上资产规模</a:t>
            </a:r>
          </a:p>
        </c:rich>
      </c:tx>
      <c:overlay val="0"/>
    </c:title>
    <c:autoTitleDeleted val="0"/>
    <c:plotArea>
      <c:layout/>
      <c:barChart>
        <c:barDir val="col"/>
        <c:grouping val="clustered"/>
        <c:varyColors val="0"/>
        <c:ser>
          <c:idx val="0"/>
          <c:order val="0"/>
          <c:tx>
            <c:strRef>
              <c:f>Sheet1!$B$1</c:f>
              <c:strCache>
                <c:ptCount val="1"/>
                <c:pt idx="0">
                  <c:v>流动资产 </c:v>
                </c:pt>
              </c:strCache>
            </c:strRef>
          </c:tx>
          <c:invertIfNegative val="0"/>
          <c:cat>
            <c:strRef>
              <c:f>Sheet1!$A$2:$A$5</c:f>
              <c:strCache>
                <c:ptCount val="4"/>
                <c:pt idx="0">
                  <c:v>2014</c:v>
                </c:pt>
                <c:pt idx="1">
                  <c:v>2015</c:v>
                </c:pt>
                <c:pt idx="2">
                  <c:v>16年 </c:v>
                </c:pt>
                <c:pt idx="3">
                  <c:v>2017</c:v>
                </c:pt>
              </c:strCache>
            </c:strRef>
          </c:cat>
          <c:val>
            <c:numRef>
              <c:f>Sheet1!$B$2:$B$5</c:f>
              <c:numCache>
                <c:formatCode>_(* #,##0.00_);_(* \(#,##0.00\);_(* "-"??_);_(@_)</c:formatCode>
                <c:ptCount val="4"/>
                <c:pt idx="0">
                  <c:v>20000.0</c:v>
                </c:pt>
                <c:pt idx="1">
                  <c:v>30000.0</c:v>
                </c:pt>
                <c:pt idx="2">
                  <c:v>40000.0</c:v>
                </c:pt>
                <c:pt idx="3">
                  <c:v>50000.0</c:v>
                </c:pt>
              </c:numCache>
            </c:numRef>
          </c:val>
        </c:ser>
        <c:ser>
          <c:idx val="1"/>
          <c:order val="1"/>
          <c:tx>
            <c:strRef>
              <c:f>Sheet1!$C$1</c:f>
              <c:strCache>
                <c:ptCount val="1"/>
                <c:pt idx="0">
                  <c:v>非流动资产 </c:v>
                </c:pt>
              </c:strCache>
            </c:strRef>
          </c:tx>
          <c:invertIfNegative val="0"/>
          <c:cat>
            <c:strRef>
              <c:f>Sheet1!$A$2:$A$5</c:f>
              <c:strCache>
                <c:ptCount val="4"/>
                <c:pt idx="0">
                  <c:v>2014</c:v>
                </c:pt>
                <c:pt idx="1">
                  <c:v>2015</c:v>
                </c:pt>
                <c:pt idx="2">
                  <c:v>16年 </c:v>
                </c:pt>
                <c:pt idx="3">
                  <c:v>2017</c:v>
                </c:pt>
              </c:strCache>
            </c:strRef>
          </c:cat>
          <c:val>
            <c:numRef>
              <c:f>Sheet1!$C$2:$C$5</c:f>
              <c:numCache>
                <c:formatCode>_(* #,##0.00_);_(* \(#,##0.00\);_(* "-"??_);_(@_)</c:formatCode>
                <c:ptCount val="4"/>
                <c:pt idx="0">
                  <c:v>30000.0</c:v>
                </c:pt>
                <c:pt idx="1">
                  <c:v>58000.0</c:v>
                </c:pt>
                <c:pt idx="2">
                  <c:v>45000.0</c:v>
                </c:pt>
                <c:pt idx="3">
                  <c:v>68000.0</c:v>
                </c:pt>
              </c:numCache>
            </c:numRef>
          </c:val>
        </c:ser>
        <c:ser>
          <c:idx val="2"/>
          <c:order val="2"/>
          <c:tx>
            <c:strRef>
              <c:f>Sheet1!$D$1</c:f>
              <c:strCache>
                <c:ptCount val="1"/>
                <c:pt idx="0">
                  <c:v>总资产 </c:v>
                </c:pt>
              </c:strCache>
            </c:strRef>
          </c:tx>
          <c:invertIfNegative val="0"/>
          <c:cat>
            <c:strRef>
              <c:f>Sheet1!$A$2:$A$5</c:f>
              <c:strCache>
                <c:ptCount val="4"/>
                <c:pt idx="0">
                  <c:v>2014</c:v>
                </c:pt>
                <c:pt idx="1">
                  <c:v>2015</c:v>
                </c:pt>
                <c:pt idx="2">
                  <c:v>16年 </c:v>
                </c:pt>
                <c:pt idx="3">
                  <c:v>2017</c:v>
                </c:pt>
              </c:strCache>
            </c:strRef>
          </c:cat>
          <c:val>
            <c:numRef>
              <c:f>Sheet1!$D$2:$D$5</c:f>
              <c:numCache>
                <c:formatCode>_(* #,##0.00_);_(* \(#,##0.00\);_(* "-"??_);_(@_)</c:formatCode>
                <c:ptCount val="4"/>
                <c:pt idx="0">
                  <c:v>100000.0</c:v>
                </c:pt>
                <c:pt idx="1">
                  <c:v>250000.0</c:v>
                </c:pt>
                <c:pt idx="2">
                  <c:v>350000.0</c:v>
                </c:pt>
                <c:pt idx="3">
                  <c:v>450000.0</c:v>
                </c:pt>
              </c:numCache>
            </c:numRef>
          </c:val>
        </c:ser>
        <c:dLbls>
          <c:showLegendKey val="0"/>
          <c:showVal val="0"/>
          <c:showCatName val="0"/>
          <c:showSerName val="0"/>
          <c:showPercent val="0"/>
          <c:showBubbleSize val="0"/>
        </c:dLbls>
        <c:gapWidth val="75"/>
        <c:overlap val="-25"/>
        <c:axId val="-2096749072"/>
        <c:axId val="-2096747296"/>
      </c:barChart>
      <c:catAx>
        <c:axId val="-2096749072"/>
        <c:scaling>
          <c:orientation val="minMax"/>
        </c:scaling>
        <c:delete val="0"/>
        <c:axPos val="b"/>
        <c:numFmt formatCode="General" sourceLinked="0"/>
        <c:majorTickMark val="none"/>
        <c:minorTickMark val="none"/>
        <c:tickLblPos val="nextTo"/>
        <c:txPr>
          <a:bodyPr rot="-60000000" spcFirstLastPara="0" vertOverflow="ellipsis" vert="horz" wrap="square" anchor="ctr" anchorCtr="1"/>
          <a:lstStyle/>
          <a:p>
            <a:pPr>
              <a:defRPr lang="zh-CN" sz="1800" b="0" i="0" u="none" strike="noStrike" kern="1200" baseline="0">
                <a:solidFill>
                  <a:schemeClr val="tx1"/>
                </a:solidFill>
                <a:latin typeface="+mn-lt"/>
                <a:ea typeface="+mn-ea"/>
                <a:cs typeface="+mn-cs"/>
              </a:defRPr>
            </a:pPr>
            <a:endParaRPr lang="zh-CN"/>
          </a:p>
        </c:txPr>
        <c:crossAx val="-2096747296"/>
        <c:crosses val="autoZero"/>
        <c:auto val="1"/>
        <c:lblAlgn val="ctr"/>
        <c:lblOffset val="100"/>
        <c:noMultiLvlLbl val="0"/>
      </c:catAx>
      <c:valAx>
        <c:axId val="-2096747296"/>
        <c:scaling>
          <c:orientation val="minMax"/>
        </c:scaling>
        <c:delete val="0"/>
        <c:axPos val="l"/>
        <c:majorGridlines/>
        <c:numFmt formatCode="_(* #,##0.00_);_(* \(#,##0.00\);_(* &quot;-&quot;??_);_(@_)" sourceLinked="1"/>
        <c:majorTickMark val="none"/>
        <c:minorTickMark val="none"/>
        <c:tickLblPos val="nextTo"/>
        <c:spPr>
          <a:ln w="9525" cap="flat" cmpd="sng" algn="ctr">
            <a:noFill/>
            <a:prstDash val="solid"/>
            <a:round/>
          </a:ln>
        </c:spPr>
        <c:txPr>
          <a:bodyPr rot="-60000000" spcFirstLastPara="0" vertOverflow="ellipsis" vert="horz" wrap="square" anchor="ctr" anchorCtr="1"/>
          <a:lstStyle/>
          <a:p>
            <a:pPr>
              <a:defRPr lang="zh-CN" sz="1100" b="0" i="0" u="none" strike="noStrike" kern="1200" baseline="0">
                <a:solidFill>
                  <a:schemeClr val="tx1"/>
                </a:solidFill>
                <a:latin typeface="+mn-lt"/>
                <a:ea typeface="+mn-ea"/>
                <a:cs typeface="+mn-cs"/>
              </a:defRPr>
            </a:pPr>
            <a:endParaRPr lang="zh-CN"/>
          </a:p>
        </c:txPr>
        <c:crossAx val="-2096749072"/>
        <c:crosses val="autoZero"/>
        <c:crossBetween val="between"/>
      </c:valAx>
    </c:plotArea>
    <c:legend>
      <c:legendPos val="b"/>
      <c:overlay val="0"/>
      <c:txPr>
        <a:bodyPr rot="0" spcFirstLastPara="0" vertOverflow="ellipsis" vert="horz" wrap="square" anchor="ctr" anchorCtr="1"/>
        <a:lstStyle/>
        <a:p>
          <a:pPr>
            <a:defRPr lang="zh-CN" sz="1800" b="0" i="0" u="none" strike="noStrike" kern="1200" baseline="0">
              <a:solidFill>
                <a:schemeClr val="tx1"/>
              </a:solidFill>
              <a:latin typeface="+mn-lt"/>
              <a:ea typeface="+mn-ea"/>
              <a:cs typeface="+mn-cs"/>
            </a:defRPr>
          </a:pPr>
          <a:endParaRPr lang="zh-CN"/>
        </a:p>
      </c:txPr>
    </c:legend>
    <c:plotVisOnly val="1"/>
    <c:dispBlanksAs val="gap"/>
    <c:showDLblsOverMax val="0"/>
  </c:chart>
  <c:txPr>
    <a:bodyPr/>
    <a:lstStyle/>
    <a:p>
      <a:pPr>
        <a:defRPr lang="zh-CN" sz="1800"/>
      </a:pPr>
      <a:endParaRPr lang="zh-CN"/>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percentStacked"/>
        <c:varyColors val="0"/>
        <c:ser>
          <c:idx val="0"/>
          <c:order val="0"/>
          <c:tx>
            <c:strRef>
              <c:f>Sheet1!$B$1</c:f>
              <c:strCache>
                <c:ptCount val="1"/>
                <c:pt idx="0">
                  <c:v>  货币资金</c:v>
                </c:pt>
              </c:strCache>
            </c:strRef>
          </c:tx>
          <c:spPr>
            <a:solidFill>
              <a:srgbClr val="00B0F0"/>
            </a:solidFill>
          </c:spPr>
          <c:invertIfNegative val="0"/>
          <c:dLbls>
            <c:spPr>
              <a:noFill/>
              <a:ln>
                <a:noFill/>
              </a:ln>
              <a:effectLst/>
            </c:spPr>
            <c:txPr>
              <a:bodyPr rot="0" spcFirstLastPara="0" vertOverflow="ellipsis" vert="horz" wrap="square" lIns="38100" tIns="19050" rIns="38100" bIns="19050" anchor="ctr" anchorCtr="1"/>
              <a:lstStyle/>
              <a:p>
                <a:pPr>
                  <a:defRPr lang="zh-CN" sz="1800" b="0" i="0" u="none" strike="noStrike" kern="1200" baseline="0">
                    <a:solidFill>
                      <a:schemeClr val="tx1"/>
                    </a:solidFill>
                    <a:latin typeface="+mn-lt"/>
                    <a:ea typeface="+mn-ea"/>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2014</c:v>
                </c:pt>
                <c:pt idx="1">
                  <c:v>2015</c:v>
                </c:pt>
                <c:pt idx="2">
                  <c:v>2016</c:v>
                </c:pt>
                <c:pt idx="3">
                  <c:v>2017上</c:v>
                </c:pt>
              </c:strCache>
            </c:strRef>
          </c:cat>
          <c:val>
            <c:numRef>
              <c:f>Sheet1!$B$2:$B$5</c:f>
              <c:numCache>
                <c:formatCode>0%</c:formatCode>
                <c:ptCount val="4"/>
                <c:pt idx="0">
                  <c:v>0.146126878581443</c:v>
                </c:pt>
                <c:pt idx="1">
                  <c:v>0.328184545593292</c:v>
                </c:pt>
                <c:pt idx="2">
                  <c:v>0.279555875055344</c:v>
                </c:pt>
                <c:pt idx="3">
                  <c:v>0.178076810362961</c:v>
                </c:pt>
              </c:numCache>
            </c:numRef>
          </c:val>
        </c:ser>
        <c:ser>
          <c:idx val="1"/>
          <c:order val="1"/>
          <c:tx>
            <c:strRef>
              <c:f>Sheet1!$C$1</c:f>
              <c:strCache>
                <c:ptCount val="1"/>
                <c:pt idx="0">
                  <c:v>  应收账款</c:v>
                </c:pt>
              </c:strCache>
            </c:strRef>
          </c:tx>
          <c:spPr>
            <a:solidFill>
              <a:srgbClr val="92D050"/>
            </a:solidFill>
          </c:spPr>
          <c:invertIfNegative val="0"/>
          <c:dLbls>
            <c:spPr>
              <a:noFill/>
              <a:ln>
                <a:noFill/>
              </a:ln>
              <a:effectLst/>
            </c:spPr>
            <c:txPr>
              <a:bodyPr rot="0" spcFirstLastPara="0" vertOverflow="ellipsis" vert="horz" wrap="square" lIns="38100" tIns="19050" rIns="38100" bIns="19050" anchor="ctr" anchorCtr="1"/>
              <a:lstStyle/>
              <a:p>
                <a:pPr>
                  <a:defRPr lang="zh-CN" sz="1800" b="0" i="0" u="none" strike="noStrike" kern="1200" baseline="0">
                    <a:solidFill>
                      <a:schemeClr val="tx1"/>
                    </a:solidFill>
                    <a:latin typeface="+mn-lt"/>
                    <a:ea typeface="+mn-ea"/>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2014</c:v>
                </c:pt>
                <c:pt idx="1">
                  <c:v>2015</c:v>
                </c:pt>
                <c:pt idx="2">
                  <c:v>2016</c:v>
                </c:pt>
                <c:pt idx="3">
                  <c:v>2017上</c:v>
                </c:pt>
              </c:strCache>
            </c:strRef>
          </c:cat>
          <c:val>
            <c:numRef>
              <c:f>Sheet1!$C$2:$C$5</c:f>
              <c:numCache>
                <c:formatCode>0%</c:formatCode>
                <c:ptCount val="4"/>
                <c:pt idx="0">
                  <c:v>0.617014409924095</c:v>
                </c:pt>
                <c:pt idx="1">
                  <c:v>0.442270703232295</c:v>
                </c:pt>
                <c:pt idx="2">
                  <c:v>0.330259612883312</c:v>
                </c:pt>
                <c:pt idx="3">
                  <c:v>0.378173046390184</c:v>
                </c:pt>
              </c:numCache>
            </c:numRef>
          </c:val>
        </c:ser>
        <c:ser>
          <c:idx val="2"/>
          <c:order val="2"/>
          <c:tx>
            <c:strRef>
              <c:f>Sheet1!$D$1</c:f>
              <c:strCache>
                <c:ptCount val="1"/>
                <c:pt idx="0">
                  <c:v>  预付账款</c:v>
                </c:pt>
              </c:strCache>
            </c:strRef>
          </c:tx>
          <c:invertIfNegative val="0"/>
          <c:dLbls>
            <c:spPr>
              <a:noFill/>
              <a:ln>
                <a:noFill/>
              </a:ln>
              <a:effectLst/>
            </c:spPr>
            <c:txPr>
              <a:bodyPr rot="0" spcFirstLastPara="0" vertOverflow="ellipsis" vert="horz" wrap="square" lIns="38100" tIns="19050" rIns="38100" bIns="19050" anchor="ctr" anchorCtr="1"/>
              <a:lstStyle/>
              <a:p>
                <a:pPr>
                  <a:defRPr lang="zh-CN" sz="1800" b="0" i="0" u="none" strike="noStrike" kern="1200" baseline="0">
                    <a:solidFill>
                      <a:schemeClr val="tx1"/>
                    </a:solidFill>
                    <a:latin typeface="+mn-lt"/>
                    <a:ea typeface="+mn-ea"/>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2014</c:v>
                </c:pt>
                <c:pt idx="1">
                  <c:v>2015</c:v>
                </c:pt>
                <c:pt idx="2">
                  <c:v>2016</c:v>
                </c:pt>
                <c:pt idx="3">
                  <c:v>2017上</c:v>
                </c:pt>
              </c:strCache>
            </c:strRef>
          </c:cat>
          <c:val>
            <c:numRef>
              <c:f>Sheet1!$D$2:$D$5</c:f>
              <c:numCache>
                <c:formatCode>0%</c:formatCode>
                <c:ptCount val="4"/>
                <c:pt idx="0">
                  <c:v>0.0632099937099832</c:v>
                </c:pt>
                <c:pt idx="1">
                  <c:v>0.121420531171815</c:v>
                </c:pt>
                <c:pt idx="2">
                  <c:v>0.149296128883399</c:v>
                </c:pt>
                <c:pt idx="3">
                  <c:v>0.118279747732293</c:v>
                </c:pt>
              </c:numCache>
            </c:numRef>
          </c:val>
        </c:ser>
        <c:ser>
          <c:idx val="3"/>
          <c:order val="3"/>
          <c:tx>
            <c:strRef>
              <c:f>Sheet1!$E$1</c:f>
              <c:strCache>
                <c:ptCount val="1"/>
                <c:pt idx="0">
                  <c:v>  存货</c:v>
                </c:pt>
              </c:strCache>
            </c:strRef>
          </c:tx>
          <c:spPr>
            <a:solidFill>
              <a:schemeClr val="accent4">
                <a:lumMod val="40000"/>
                <a:lumOff val="60000"/>
              </a:schemeClr>
            </a:solidFill>
          </c:spPr>
          <c:invertIfNegative val="0"/>
          <c:dLbls>
            <c:dLbl>
              <c:idx val="0"/>
              <c:layout>
                <c:manualLayout>
                  <c:x val="0.00180891581847031"/>
                  <c:y val="-0.0684935260872963"/>
                </c:manualLayout>
              </c:layout>
              <c:dLblPos val="ctr"/>
              <c:showLegendKey val="0"/>
              <c:showVal val="1"/>
              <c:showCatName val="0"/>
              <c:showSerName val="0"/>
              <c:showPercent val="0"/>
              <c:showBubbleSize val="0"/>
              <c:extLst>
                <c:ext xmlns:c15="http://schemas.microsoft.com/office/drawing/2012/chart" uri="{CE6537A1-D6FC-4f65-9D91-7224C49458BB}"/>
              </c:extLst>
            </c:dLbl>
            <c:dLbl>
              <c:idx val="1"/>
              <c:layout>
                <c:manualLayout>
                  <c:x val="-0.00180891581847031"/>
                  <c:y val="-0.0630211691371955"/>
                </c:manualLayout>
              </c:layout>
              <c:dLblPos val="ctr"/>
              <c:showLegendKey val="0"/>
              <c:showVal val="1"/>
              <c:showCatName val="0"/>
              <c:showSerName val="0"/>
              <c:showPercent val="0"/>
              <c:showBubbleSize val="0"/>
              <c:extLst>
                <c:ext xmlns:c15="http://schemas.microsoft.com/office/drawing/2012/chart" uri="{CE6537A1-D6FC-4f65-9D91-7224C49458BB}"/>
              </c:extLst>
            </c:dLbl>
            <c:spPr>
              <a:noFill/>
              <a:ln>
                <a:noFill/>
              </a:ln>
              <a:effectLst/>
            </c:spPr>
            <c:txPr>
              <a:bodyPr rot="0" spcFirstLastPara="0" vertOverflow="ellipsis" vert="horz" wrap="square" lIns="38100" tIns="19050" rIns="38100" bIns="19050" anchor="ctr" anchorCtr="1"/>
              <a:lstStyle/>
              <a:p>
                <a:pPr>
                  <a:defRPr lang="zh-CN" sz="1800" b="0" i="0" u="none" strike="noStrike" kern="1200" baseline="0">
                    <a:solidFill>
                      <a:schemeClr val="tx1"/>
                    </a:solidFill>
                    <a:latin typeface="+mn-lt"/>
                    <a:ea typeface="+mn-ea"/>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2014</c:v>
                </c:pt>
                <c:pt idx="1">
                  <c:v>2015</c:v>
                </c:pt>
                <c:pt idx="2">
                  <c:v>2016</c:v>
                </c:pt>
                <c:pt idx="3">
                  <c:v>2017上</c:v>
                </c:pt>
              </c:strCache>
            </c:strRef>
          </c:cat>
          <c:val>
            <c:numRef>
              <c:f>Sheet1!$E$2:$E$5</c:f>
              <c:numCache>
                <c:formatCode>0%</c:formatCode>
                <c:ptCount val="4"/>
                <c:pt idx="0">
                  <c:v>0.0248020676061533</c:v>
                </c:pt>
                <c:pt idx="1">
                  <c:v>0.0107795468663861</c:v>
                </c:pt>
                <c:pt idx="2">
                  <c:v>0.158944664626955</c:v>
                </c:pt>
                <c:pt idx="3">
                  <c:v>0.193989196791046</c:v>
                </c:pt>
              </c:numCache>
            </c:numRef>
          </c:val>
        </c:ser>
        <c:dLbls>
          <c:showLegendKey val="0"/>
          <c:showVal val="1"/>
          <c:showCatName val="0"/>
          <c:showSerName val="0"/>
          <c:showPercent val="0"/>
          <c:showBubbleSize val="0"/>
        </c:dLbls>
        <c:gapWidth val="95"/>
        <c:overlap val="100"/>
        <c:axId val="-2096594544"/>
        <c:axId val="-2096296272"/>
      </c:barChart>
      <c:catAx>
        <c:axId val="-2096594544"/>
        <c:scaling>
          <c:orientation val="minMax"/>
        </c:scaling>
        <c:delete val="0"/>
        <c:axPos val="b"/>
        <c:numFmt formatCode="General" sourceLinked="0"/>
        <c:majorTickMark val="none"/>
        <c:minorTickMark val="none"/>
        <c:tickLblPos val="nextTo"/>
        <c:txPr>
          <a:bodyPr rot="-60000000" spcFirstLastPara="0" vertOverflow="ellipsis" vert="horz" wrap="square" anchor="ctr" anchorCtr="1"/>
          <a:lstStyle/>
          <a:p>
            <a:pPr>
              <a:defRPr lang="zh-CN" sz="1800" b="0" i="0" u="none" strike="noStrike" kern="1200" baseline="0">
                <a:solidFill>
                  <a:schemeClr val="tx1"/>
                </a:solidFill>
                <a:latin typeface="+mn-lt"/>
                <a:ea typeface="+mn-ea"/>
                <a:cs typeface="+mn-cs"/>
              </a:defRPr>
            </a:pPr>
            <a:endParaRPr lang="zh-CN"/>
          </a:p>
        </c:txPr>
        <c:crossAx val="-2096296272"/>
        <c:crosses val="autoZero"/>
        <c:auto val="1"/>
        <c:lblAlgn val="ctr"/>
        <c:lblOffset val="100"/>
        <c:noMultiLvlLbl val="0"/>
      </c:catAx>
      <c:valAx>
        <c:axId val="-2096296272"/>
        <c:scaling>
          <c:orientation val="minMax"/>
        </c:scaling>
        <c:delete val="1"/>
        <c:axPos val="l"/>
        <c:numFmt formatCode="0%" sourceLinked="1"/>
        <c:majorTickMark val="out"/>
        <c:minorTickMark val="none"/>
        <c:tickLblPos val="none"/>
        <c:crossAx val="-2096594544"/>
        <c:crosses val="autoZero"/>
        <c:crossBetween val="between"/>
      </c:valAx>
    </c:plotArea>
    <c:legend>
      <c:legendPos val="t"/>
      <c:layout>
        <c:manualLayout>
          <c:xMode val="edge"/>
          <c:yMode val="edge"/>
          <c:x val="0.057943989129413"/>
          <c:y val="0.0189212362296512"/>
          <c:w val="0.889538769196585"/>
          <c:h val="0.142313739084871"/>
        </c:manualLayout>
      </c:layout>
      <c:overlay val="0"/>
      <c:txPr>
        <a:bodyPr rot="0" spcFirstLastPara="0" vertOverflow="ellipsis" vert="horz" wrap="square" anchor="ctr" anchorCtr="1"/>
        <a:lstStyle/>
        <a:p>
          <a:pPr>
            <a:defRPr lang="zh-CN" sz="1800" b="0" i="0" u="none" strike="noStrike" kern="1200" baseline="0">
              <a:solidFill>
                <a:schemeClr val="tx1"/>
              </a:solidFill>
              <a:latin typeface="+mn-lt"/>
              <a:ea typeface="+mn-ea"/>
              <a:cs typeface="+mn-cs"/>
            </a:defRPr>
          </a:pPr>
          <a:endParaRPr lang="zh-CN"/>
        </a:p>
      </c:txPr>
    </c:legend>
    <c:plotVisOnly val="1"/>
    <c:dispBlanksAs val="gap"/>
    <c:showDLblsOverMax val="0"/>
  </c:chart>
  <c:txPr>
    <a:bodyPr/>
    <a:lstStyle/>
    <a:p>
      <a:pPr>
        <a:defRPr lang="zh-CN" sz="1800"/>
      </a:pPr>
      <a:endParaRPr lang="zh-CN"/>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zh-CN" sz="2160" b="1" i="0" u="none" strike="noStrike" kern="1200" baseline="0">
                <a:solidFill>
                  <a:schemeClr val="tx1"/>
                </a:solidFill>
                <a:latin typeface="+mn-lt"/>
                <a:ea typeface="+mn-ea"/>
                <a:cs typeface="+mn-cs"/>
              </a:defRPr>
            </a:pPr>
            <a:r>
              <a:rPr lang="en-US" altLang="zh-CN" sz="1800" dirty="0"/>
              <a:t>2014-2017</a:t>
            </a:r>
            <a:r>
              <a:rPr lang="zh-CN" altLang="en-US" sz="1800" dirty="0"/>
              <a:t>年上负债规模</a:t>
            </a:r>
          </a:p>
        </c:rich>
      </c:tx>
      <c:layout>
        <c:manualLayout>
          <c:xMode val="edge"/>
          <c:yMode val="edge"/>
          <c:x val="0.408398140947302"/>
          <c:y val="0.0666283993136565"/>
        </c:manualLayout>
      </c:layout>
      <c:overlay val="0"/>
    </c:title>
    <c:autoTitleDeleted val="0"/>
    <c:plotArea>
      <c:layout>
        <c:manualLayout>
          <c:layoutTarget val="inner"/>
          <c:xMode val="edge"/>
          <c:yMode val="edge"/>
          <c:x val="0.300564983520351"/>
          <c:y val="0.219766013652805"/>
          <c:w val="0.661221669814466"/>
          <c:h val="0.497722475280526"/>
        </c:manualLayout>
      </c:layout>
      <c:barChart>
        <c:barDir val="col"/>
        <c:grouping val="clustered"/>
        <c:varyColors val="0"/>
        <c:ser>
          <c:idx val="0"/>
          <c:order val="0"/>
          <c:tx>
            <c:strRef>
              <c:f>Sheet1!$B$1</c:f>
              <c:strCache>
                <c:ptCount val="1"/>
                <c:pt idx="0">
                  <c:v>流动负债 </c:v>
                </c:pt>
              </c:strCache>
            </c:strRef>
          </c:tx>
          <c:invertIfNegative val="0"/>
          <c:cat>
            <c:strRef>
              <c:f>Sheet1!$A$2:$A$5</c:f>
              <c:strCache>
                <c:ptCount val="4"/>
                <c:pt idx="0">
                  <c:v>2014</c:v>
                </c:pt>
                <c:pt idx="1">
                  <c:v>2015</c:v>
                </c:pt>
                <c:pt idx="2">
                  <c:v>2016</c:v>
                </c:pt>
                <c:pt idx="3">
                  <c:v>2017上</c:v>
                </c:pt>
              </c:strCache>
            </c:strRef>
          </c:cat>
          <c:val>
            <c:numRef>
              <c:f>Sheet1!$B$2:$B$5</c:f>
              <c:numCache>
                <c:formatCode>#,##0.00</c:formatCode>
                <c:ptCount val="4"/>
                <c:pt idx="0">
                  <c:v>5042.4</c:v>
                </c:pt>
                <c:pt idx="1">
                  <c:v>8924.859999999926</c:v>
                </c:pt>
                <c:pt idx="2">
                  <c:v>12511.64</c:v>
                </c:pt>
                <c:pt idx="3">
                  <c:v>16907.47</c:v>
                </c:pt>
              </c:numCache>
            </c:numRef>
          </c:val>
        </c:ser>
        <c:ser>
          <c:idx val="1"/>
          <c:order val="1"/>
          <c:tx>
            <c:strRef>
              <c:f>Sheet1!$C$1</c:f>
              <c:strCache>
                <c:ptCount val="1"/>
                <c:pt idx="0">
                  <c:v>非流动负债 </c:v>
                </c:pt>
              </c:strCache>
            </c:strRef>
          </c:tx>
          <c:invertIfNegative val="0"/>
          <c:cat>
            <c:strRef>
              <c:f>Sheet1!$A$2:$A$5</c:f>
              <c:strCache>
                <c:ptCount val="4"/>
                <c:pt idx="0">
                  <c:v>2014</c:v>
                </c:pt>
                <c:pt idx="1">
                  <c:v>2015</c:v>
                </c:pt>
                <c:pt idx="2">
                  <c:v>2016</c:v>
                </c:pt>
                <c:pt idx="3">
                  <c:v>2017上</c:v>
                </c:pt>
              </c:strCache>
            </c:strRef>
          </c:cat>
          <c:val>
            <c:numRef>
              <c:f>Sheet1!$C$2:$C$5</c:f>
              <c:numCache>
                <c:formatCode>General</c:formatCode>
                <c:ptCount val="4"/>
                <c:pt idx="0">
                  <c:v>0.0</c:v>
                </c:pt>
                <c:pt idx="1">
                  <c:v>0.0</c:v>
                </c:pt>
                <c:pt idx="2">
                  <c:v>0.0</c:v>
                </c:pt>
                <c:pt idx="3">
                  <c:v>0.0</c:v>
                </c:pt>
              </c:numCache>
            </c:numRef>
          </c:val>
        </c:ser>
        <c:ser>
          <c:idx val="2"/>
          <c:order val="2"/>
          <c:tx>
            <c:strRef>
              <c:f>Sheet1!$D$1</c:f>
              <c:strCache>
                <c:ptCount val="1"/>
                <c:pt idx="0">
                  <c:v>总负债 </c:v>
                </c:pt>
              </c:strCache>
            </c:strRef>
          </c:tx>
          <c:invertIfNegative val="0"/>
          <c:cat>
            <c:strRef>
              <c:f>Sheet1!$A$2:$A$5</c:f>
              <c:strCache>
                <c:ptCount val="4"/>
                <c:pt idx="0">
                  <c:v>2014</c:v>
                </c:pt>
                <c:pt idx="1">
                  <c:v>2015</c:v>
                </c:pt>
                <c:pt idx="2">
                  <c:v>2016</c:v>
                </c:pt>
                <c:pt idx="3">
                  <c:v>2017上</c:v>
                </c:pt>
              </c:strCache>
            </c:strRef>
          </c:cat>
          <c:val>
            <c:numRef>
              <c:f>Sheet1!$D$2:$D$5</c:f>
              <c:numCache>
                <c:formatCode>#,##0.00</c:formatCode>
                <c:ptCount val="4"/>
                <c:pt idx="0">
                  <c:v>5042.4</c:v>
                </c:pt>
                <c:pt idx="1">
                  <c:v>8924.859999999926</c:v>
                </c:pt>
                <c:pt idx="2">
                  <c:v>12511.64</c:v>
                </c:pt>
                <c:pt idx="3">
                  <c:v>16907.47</c:v>
                </c:pt>
              </c:numCache>
            </c:numRef>
          </c:val>
        </c:ser>
        <c:dLbls>
          <c:showLegendKey val="0"/>
          <c:showVal val="0"/>
          <c:showCatName val="0"/>
          <c:showSerName val="0"/>
          <c:showPercent val="0"/>
          <c:showBubbleSize val="0"/>
        </c:dLbls>
        <c:gapWidth val="75"/>
        <c:overlap val="-25"/>
        <c:axId val="-2096839680"/>
        <c:axId val="-2096838048"/>
      </c:barChart>
      <c:catAx>
        <c:axId val="-2096839680"/>
        <c:scaling>
          <c:orientation val="minMax"/>
        </c:scaling>
        <c:delete val="0"/>
        <c:axPos val="b"/>
        <c:numFmt formatCode="General" sourceLinked="0"/>
        <c:majorTickMark val="none"/>
        <c:minorTickMark val="none"/>
        <c:tickLblPos val="nextTo"/>
        <c:txPr>
          <a:bodyPr rot="-60000000" spcFirstLastPara="0" vertOverflow="ellipsis" vert="horz" wrap="square" anchor="ctr" anchorCtr="1"/>
          <a:lstStyle/>
          <a:p>
            <a:pPr>
              <a:defRPr lang="zh-CN" sz="1800" b="0" i="0" u="none" strike="noStrike" kern="1200" baseline="0">
                <a:solidFill>
                  <a:schemeClr val="tx1"/>
                </a:solidFill>
                <a:latin typeface="+mn-lt"/>
                <a:ea typeface="+mn-ea"/>
                <a:cs typeface="+mn-cs"/>
              </a:defRPr>
            </a:pPr>
            <a:endParaRPr lang="zh-CN"/>
          </a:p>
        </c:txPr>
        <c:crossAx val="-2096838048"/>
        <c:crosses val="autoZero"/>
        <c:auto val="1"/>
        <c:lblAlgn val="ctr"/>
        <c:lblOffset val="100"/>
        <c:noMultiLvlLbl val="0"/>
      </c:catAx>
      <c:valAx>
        <c:axId val="-2096838048"/>
        <c:scaling>
          <c:orientation val="minMax"/>
        </c:scaling>
        <c:delete val="0"/>
        <c:axPos val="l"/>
        <c:majorGridlines/>
        <c:numFmt formatCode="#,##0.00" sourceLinked="1"/>
        <c:majorTickMark val="none"/>
        <c:minorTickMark val="none"/>
        <c:tickLblPos val="nextTo"/>
        <c:spPr>
          <a:ln w="9525" cap="flat" cmpd="sng" algn="ctr">
            <a:noFill/>
            <a:prstDash val="solid"/>
            <a:round/>
          </a:ln>
        </c:spPr>
        <c:txPr>
          <a:bodyPr rot="-60000000" spcFirstLastPara="0" vertOverflow="ellipsis" vert="horz" wrap="square" anchor="ctr" anchorCtr="1"/>
          <a:lstStyle/>
          <a:p>
            <a:pPr>
              <a:defRPr lang="zh-CN" sz="1800" b="0" i="0" u="none" strike="noStrike" kern="1200" baseline="0">
                <a:solidFill>
                  <a:schemeClr val="tx1"/>
                </a:solidFill>
                <a:latin typeface="+mn-lt"/>
                <a:ea typeface="+mn-ea"/>
                <a:cs typeface="+mn-cs"/>
              </a:defRPr>
            </a:pPr>
            <a:endParaRPr lang="zh-CN"/>
          </a:p>
        </c:txPr>
        <c:crossAx val="-2096839680"/>
        <c:crosses val="autoZero"/>
        <c:crossBetween val="between"/>
      </c:valAx>
    </c:plotArea>
    <c:legend>
      <c:legendPos val="b"/>
      <c:overlay val="0"/>
      <c:txPr>
        <a:bodyPr rot="0" spcFirstLastPara="0" vertOverflow="ellipsis" vert="horz" wrap="square" anchor="ctr" anchorCtr="1"/>
        <a:lstStyle/>
        <a:p>
          <a:pPr>
            <a:defRPr lang="zh-CN" sz="1800" b="0" i="0" u="none" strike="noStrike" kern="1200" baseline="0">
              <a:solidFill>
                <a:schemeClr val="tx1"/>
              </a:solidFill>
              <a:latin typeface="+mn-lt"/>
              <a:ea typeface="+mn-ea"/>
              <a:cs typeface="+mn-cs"/>
            </a:defRPr>
          </a:pPr>
          <a:endParaRPr lang="zh-CN"/>
        </a:p>
      </c:txPr>
    </c:legend>
    <c:plotVisOnly val="1"/>
    <c:dispBlanksAs val="gap"/>
    <c:showDLblsOverMax val="0"/>
  </c:chart>
  <c:txPr>
    <a:bodyPr/>
    <a:lstStyle/>
    <a:p>
      <a:pPr>
        <a:defRPr lang="zh-CN" sz="1800"/>
      </a:pPr>
      <a:endParaRPr lang="zh-CN"/>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percentStacked"/>
        <c:varyColors val="0"/>
        <c:ser>
          <c:idx val="0"/>
          <c:order val="0"/>
          <c:tx>
            <c:strRef>
              <c:f>Sheet1!$B$1</c:f>
              <c:strCache>
                <c:ptCount val="1"/>
                <c:pt idx="0">
                  <c:v>  短期借款</c:v>
                </c:pt>
              </c:strCache>
            </c:strRef>
          </c:tx>
          <c:spPr>
            <a:solidFill>
              <a:srgbClr val="00B0F0"/>
            </a:solidFill>
          </c:spPr>
          <c:invertIfNegative val="0"/>
          <c:dLbls>
            <c:spPr>
              <a:noFill/>
              <a:ln>
                <a:noFill/>
              </a:ln>
              <a:effectLst/>
            </c:spPr>
            <c:txPr>
              <a:bodyPr rot="0" spcFirstLastPara="0" vertOverflow="ellipsis" vert="horz" wrap="square" lIns="38100" tIns="19050" rIns="38100" bIns="19050" anchor="ctr" anchorCtr="1"/>
              <a:lstStyle/>
              <a:p>
                <a:pPr>
                  <a:defRPr lang="zh-CN" sz="1800" b="0" i="0" u="none" strike="noStrike" kern="1200" baseline="0">
                    <a:solidFill>
                      <a:schemeClr val="tx1"/>
                    </a:solidFill>
                    <a:latin typeface="Arial" panose="020B0604020202020204" pitchFamily="34" charset="0"/>
                    <a:ea typeface="微软雅黑" panose="020B0503020204020204" pitchFamily="34" charset="-122"/>
                    <a:cs typeface="+mn-cs"/>
                    <a:sym typeface="Arial" panose="020B0604020202020204" pitchFamily="34" charset="0"/>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2014</c:v>
                </c:pt>
                <c:pt idx="1">
                  <c:v>2015</c:v>
                </c:pt>
                <c:pt idx="2">
                  <c:v>2016</c:v>
                </c:pt>
                <c:pt idx="3">
                  <c:v>2017上</c:v>
                </c:pt>
              </c:strCache>
            </c:strRef>
          </c:cat>
          <c:val>
            <c:numRef>
              <c:f>Sheet1!$B$2:$B$5</c:f>
              <c:numCache>
                <c:formatCode>0%</c:formatCode>
                <c:ptCount val="4"/>
                <c:pt idx="0">
                  <c:v>0.0</c:v>
                </c:pt>
                <c:pt idx="1">
                  <c:v>0.168069869344561</c:v>
                </c:pt>
                <c:pt idx="2">
                  <c:v>0.319702401822242</c:v>
                </c:pt>
                <c:pt idx="3">
                  <c:v>0.319702401822242</c:v>
                </c:pt>
              </c:numCache>
            </c:numRef>
          </c:val>
        </c:ser>
        <c:ser>
          <c:idx val="1"/>
          <c:order val="1"/>
          <c:tx>
            <c:strRef>
              <c:f>Sheet1!$C$1</c:f>
              <c:strCache>
                <c:ptCount val="1"/>
                <c:pt idx="0">
                  <c:v>  应付账款</c:v>
                </c:pt>
              </c:strCache>
            </c:strRef>
          </c:tx>
          <c:spPr>
            <a:solidFill>
              <a:srgbClr val="92D050"/>
            </a:solidFill>
          </c:spPr>
          <c:invertIfNegative val="0"/>
          <c:dLbls>
            <c:spPr>
              <a:noFill/>
              <a:ln>
                <a:noFill/>
              </a:ln>
              <a:effectLst/>
            </c:spPr>
            <c:txPr>
              <a:bodyPr rot="0" spcFirstLastPara="0" vertOverflow="ellipsis" vert="horz" wrap="square" lIns="38100" tIns="19050" rIns="38100" bIns="19050" anchor="ctr" anchorCtr="1"/>
              <a:lstStyle/>
              <a:p>
                <a:pPr>
                  <a:defRPr lang="zh-CN" sz="1800" b="0" i="0" u="none" strike="noStrike" kern="1200" baseline="0">
                    <a:solidFill>
                      <a:schemeClr val="tx1"/>
                    </a:solidFill>
                    <a:latin typeface="Arial" panose="020B0604020202020204" pitchFamily="34" charset="0"/>
                    <a:ea typeface="微软雅黑" panose="020B0503020204020204" pitchFamily="34" charset="-122"/>
                    <a:cs typeface="+mn-cs"/>
                    <a:sym typeface="Arial" panose="020B0604020202020204" pitchFamily="34" charset="0"/>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2014</c:v>
                </c:pt>
                <c:pt idx="1">
                  <c:v>2015</c:v>
                </c:pt>
                <c:pt idx="2">
                  <c:v>2016</c:v>
                </c:pt>
                <c:pt idx="3">
                  <c:v>2017上</c:v>
                </c:pt>
              </c:strCache>
            </c:strRef>
          </c:cat>
          <c:val>
            <c:numRef>
              <c:f>Sheet1!$C$2:$C$5</c:f>
              <c:numCache>
                <c:formatCode>0%</c:formatCode>
                <c:ptCount val="4"/>
                <c:pt idx="0">
                  <c:v>0.903687880229199</c:v>
                </c:pt>
                <c:pt idx="1">
                  <c:v>0.696710646479704</c:v>
                </c:pt>
                <c:pt idx="2">
                  <c:v>0.583866442723126</c:v>
                </c:pt>
                <c:pt idx="3">
                  <c:v>0.583866442723126</c:v>
                </c:pt>
              </c:numCache>
            </c:numRef>
          </c:val>
        </c:ser>
        <c:ser>
          <c:idx val="2"/>
          <c:order val="2"/>
          <c:tx>
            <c:strRef>
              <c:f>Sheet1!$D$1</c:f>
              <c:strCache>
                <c:ptCount val="1"/>
                <c:pt idx="0">
                  <c:v>  其他应付款</c:v>
                </c:pt>
              </c:strCache>
            </c:strRef>
          </c:tx>
          <c:spPr>
            <a:solidFill>
              <a:schemeClr val="accent6">
                <a:lumMod val="60000"/>
                <a:lumOff val="40000"/>
              </a:schemeClr>
            </a:solidFill>
          </c:spPr>
          <c:invertIfNegative val="0"/>
          <c:dLbls>
            <c:spPr>
              <a:noFill/>
              <a:ln>
                <a:noFill/>
              </a:ln>
              <a:effectLst/>
            </c:spPr>
            <c:txPr>
              <a:bodyPr rot="0" spcFirstLastPara="0" vertOverflow="ellipsis" vert="horz" wrap="square" lIns="38100" tIns="19050" rIns="38100" bIns="19050" anchor="ctr" anchorCtr="1"/>
              <a:lstStyle/>
              <a:p>
                <a:pPr>
                  <a:defRPr lang="zh-CN" sz="1800" b="0" i="0" u="none" strike="noStrike" kern="1200" baseline="0">
                    <a:solidFill>
                      <a:schemeClr val="tx1"/>
                    </a:solidFill>
                    <a:latin typeface="Arial" panose="020B0604020202020204" pitchFamily="34" charset="0"/>
                    <a:ea typeface="微软雅黑" panose="020B0503020204020204" pitchFamily="34" charset="-122"/>
                    <a:cs typeface="+mn-cs"/>
                    <a:sym typeface="Arial" panose="020B0604020202020204" pitchFamily="34" charset="0"/>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2014</c:v>
                </c:pt>
                <c:pt idx="1">
                  <c:v>2015</c:v>
                </c:pt>
                <c:pt idx="2">
                  <c:v>2016</c:v>
                </c:pt>
                <c:pt idx="3">
                  <c:v>2017上</c:v>
                </c:pt>
              </c:strCache>
            </c:strRef>
          </c:cat>
          <c:val>
            <c:numRef>
              <c:f>Sheet1!$D$2:$D$5</c:f>
              <c:numCache>
                <c:formatCode>0%</c:formatCode>
                <c:ptCount val="4"/>
                <c:pt idx="0">
                  <c:v>0.0446364453873031</c:v>
                </c:pt>
                <c:pt idx="1">
                  <c:v>0.0552659621322508</c:v>
                </c:pt>
                <c:pt idx="2">
                  <c:v>0.0188644993920959</c:v>
                </c:pt>
                <c:pt idx="3">
                  <c:v>0.0188644993920959</c:v>
                </c:pt>
              </c:numCache>
            </c:numRef>
          </c:val>
        </c:ser>
        <c:ser>
          <c:idx val="3"/>
          <c:order val="3"/>
          <c:tx>
            <c:strRef>
              <c:f>Sheet1!$E$1</c:f>
              <c:strCache>
                <c:ptCount val="1"/>
                <c:pt idx="0">
                  <c:v>  应交税费</c:v>
                </c:pt>
              </c:strCache>
            </c:strRef>
          </c:tx>
          <c:invertIfNegative val="0"/>
          <c:dLbls>
            <c:delete val="1"/>
          </c:dLbls>
          <c:cat>
            <c:strRef>
              <c:f>Sheet1!$A$2:$A$5</c:f>
              <c:strCache>
                <c:ptCount val="4"/>
                <c:pt idx="0">
                  <c:v>2014</c:v>
                </c:pt>
                <c:pt idx="1">
                  <c:v>2015</c:v>
                </c:pt>
                <c:pt idx="2">
                  <c:v>2016</c:v>
                </c:pt>
                <c:pt idx="3">
                  <c:v>2017上</c:v>
                </c:pt>
              </c:strCache>
            </c:strRef>
          </c:cat>
          <c:val>
            <c:numRef>
              <c:f>Sheet1!$E$2:$E$5</c:f>
              <c:numCache>
                <c:formatCode>0%</c:formatCode>
                <c:ptCount val="4"/>
                <c:pt idx="0">
                  <c:v>0.0491999510991305</c:v>
                </c:pt>
                <c:pt idx="1">
                  <c:v>0.0250334227159601</c:v>
                </c:pt>
                <c:pt idx="2">
                  <c:v>0.0396465825821376</c:v>
                </c:pt>
                <c:pt idx="3">
                  <c:v>0.0396465825821376</c:v>
                </c:pt>
              </c:numCache>
            </c:numRef>
          </c:val>
        </c:ser>
        <c:dLbls>
          <c:showLegendKey val="0"/>
          <c:showVal val="1"/>
          <c:showCatName val="0"/>
          <c:showSerName val="0"/>
          <c:showPercent val="0"/>
          <c:showBubbleSize val="0"/>
        </c:dLbls>
        <c:gapWidth val="95"/>
        <c:overlap val="100"/>
        <c:axId val="-2095478272"/>
        <c:axId val="-2095475984"/>
      </c:barChart>
      <c:catAx>
        <c:axId val="-2095478272"/>
        <c:scaling>
          <c:orientation val="minMax"/>
        </c:scaling>
        <c:delete val="0"/>
        <c:axPos val="b"/>
        <c:numFmt formatCode="General" sourceLinked="0"/>
        <c:majorTickMark val="none"/>
        <c:minorTickMark val="none"/>
        <c:tickLblPos val="nextTo"/>
        <c:txPr>
          <a:bodyPr rot="-60000000" spcFirstLastPara="0" vertOverflow="ellipsis" vert="horz" wrap="square" anchor="ctr" anchorCtr="1"/>
          <a:lstStyle/>
          <a:p>
            <a:pPr>
              <a:defRPr lang="zh-CN" sz="1800" b="0" i="0" u="none" strike="noStrike" kern="1200" baseline="0">
                <a:solidFill>
                  <a:schemeClr val="tx1"/>
                </a:solidFill>
                <a:latin typeface="Arial" panose="020B0604020202020204" pitchFamily="34" charset="0"/>
                <a:ea typeface="微软雅黑" panose="020B0503020204020204" pitchFamily="34" charset="-122"/>
                <a:cs typeface="+mn-cs"/>
                <a:sym typeface="Arial" panose="020B0604020202020204" pitchFamily="34" charset="0"/>
              </a:defRPr>
            </a:pPr>
            <a:endParaRPr lang="zh-CN"/>
          </a:p>
        </c:txPr>
        <c:crossAx val="-2095475984"/>
        <c:crosses val="autoZero"/>
        <c:auto val="1"/>
        <c:lblAlgn val="ctr"/>
        <c:lblOffset val="100"/>
        <c:noMultiLvlLbl val="0"/>
      </c:catAx>
      <c:valAx>
        <c:axId val="-2095475984"/>
        <c:scaling>
          <c:orientation val="minMax"/>
        </c:scaling>
        <c:delete val="1"/>
        <c:axPos val="l"/>
        <c:numFmt formatCode="0%" sourceLinked="1"/>
        <c:majorTickMark val="out"/>
        <c:minorTickMark val="none"/>
        <c:tickLblPos val="none"/>
        <c:crossAx val="-2095478272"/>
        <c:crosses val="autoZero"/>
        <c:crossBetween val="between"/>
      </c:valAx>
    </c:plotArea>
    <c:legend>
      <c:legendPos val="t"/>
      <c:layout>
        <c:manualLayout>
          <c:xMode val="edge"/>
          <c:yMode val="edge"/>
          <c:x val="0.057943989129413"/>
          <c:y val="0.0189212362296512"/>
          <c:w val="0.889538769196585"/>
          <c:h val="0.142313739084871"/>
        </c:manualLayout>
      </c:layout>
      <c:overlay val="0"/>
      <c:txPr>
        <a:bodyPr rot="0" spcFirstLastPara="0" vertOverflow="ellipsis" vert="horz" wrap="square" anchor="ctr" anchorCtr="1"/>
        <a:lstStyle/>
        <a:p>
          <a:pPr>
            <a:defRPr lang="zh-CN" sz="1800" b="0" i="0" u="none" strike="noStrike" kern="1200" baseline="0">
              <a:solidFill>
                <a:schemeClr val="tx1"/>
              </a:solidFill>
              <a:latin typeface="Arial" panose="020B0604020202020204" pitchFamily="34" charset="0"/>
              <a:ea typeface="微软雅黑" panose="020B0503020204020204" pitchFamily="34" charset="-122"/>
              <a:cs typeface="+mn-cs"/>
              <a:sym typeface="Arial" panose="020B0604020202020204" pitchFamily="34" charset="0"/>
            </a:defRPr>
          </a:pPr>
          <a:endParaRPr lang="zh-CN"/>
        </a:p>
      </c:txPr>
    </c:legend>
    <c:plotVisOnly val="1"/>
    <c:dispBlanksAs val="gap"/>
    <c:showDLblsOverMax val="0"/>
  </c:chart>
  <c:txPr>
    <a:bodyPr/>
    <a:lstStyle/>
    <a:p>
      <a:pPr>
        <a:defRPr lang="zh-CN" sz="1800">
          <a:latin typeface="Arial" panose="020B0604020202020204" pitchFamily="34" charset="0"/>
          <a:ea typeface="微软雅黑" panose="020B0503020204020204" pitchFamily="34" charset="-122"/>
          <a:sym typeface="Arial" panose="020B0604020202020204" pitchFamily="34" charset="0"/>
        </a:defRPr>
      </a:pPr>
      <a:endParaRPr lang="zh-CN"/>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txPr>
        <a:bodyPr rot="0" spcFirstLastPara="0" vertOverflow="ellipsis" vert="horz" wrap="square" anchor="ctr" anchorCtr="1"/>
        <a:lstStyle/>
        <a:p>
          <a:pPr>
            <a:defRPr lang="zh-CN" sz="2160" b="1" i="0" u="none" strike="noStrike" kern="1200" baseline="0">
              <a:solidFill>
                <a:schemeClr val="tx1"/>
              </a:solidFill>
              <a:latin typeface="Arial" panose="020B0604020202020204" pitchFamily="34" charset="0"/>
              <a:ea typeface="微软雅黑" panose="020B0503020204020204" pitchFamily="34" charset="-122"/>
              <a:cs typeface="+mn-cs"/>
              <a:sym typeface="Arial" panose="020B0604020202020204" pitchFamily="34" charset="0"/>
            </a:defRPr>
          </a:pPr>
          <a:endParaRPr lang="zh-CN"/>
        </a:p>
      </c:txPr>
    </c:title>
    <c:autoTitleDeleted val="0"/>
    <c:plotArea>
      <c:layout/>
      <c:barChart>
        <c:barDir val="col"/>
        <c:grouping val="clustered"/>
        <c:varyColors val="0"/>
        <c:ser>
          <c:idx val="0"/>
          <c:order val="0"/>
          <c:tx>
            <c:strRef>
              <c:f>Sheet1!$B$1</c:f>
              <c:strCache>
                <c:ptCount val="1"/>
                <c:pt idx="0">
                  <c:v>权益总额 </c:v>
                </c:pt>
              </c:strCache>
            </c:strRef>
          </c:tx>
          <c:spPr>
            <a:solidFill>
              <a:schemeClr val="accent2">
                <a:lumMod val="60000"/>
                <a:lumOff val="40000"/>
              </a:schemeClr>
            </a:solidFill>
          </c:spPr>
          <c:invertIfNegative val="0"/>
          <c:cat>
            <c:strRef>
              <c:f>Sheet1!$A$2:$A$5</c:f>
              <c:strCache>
                <c:ptCount val="4"/>
                <c:pt idx="0">
                  <c:v>2014</c:v>
                </c:pt>
                <c:pt idx="1">
                  <c:v>2015</c:v>
                </c:pt>
                <c:pt idx="2">
                  <c:v>2016</c:v>
                </c:pt>
                <c:pt idx="3">
                  <c:v>2017上 </c:v>
                </c:pt>
              </c:strCache>
            </c:strRef>
          </c:cat>
          <c:val>
            <c:numRef>
              <c:f>Sheet1!$B$2:$B$5</c:f>
              <c:numCache>
                <c:formatCode>General</c:formatCode>
                <c:ptCount val="4"/>
                <c:pt idx="0">
                  <c:v>5900.506695</c:v>
                </c:pt>
                <c:pt idx="1">
                  <c:v>7200.358307</c:v>
                </c:pt>
                <c:pt idx="2">
                  <c:v>11196.31249</c:v>
                </c:pt>
                <c:pt idx="3">
                  <c:v>13216.536726</c:v>
                </c:pt>
              </c:numCache>
            </c:numRef>
          </c:val>
        </c:ser>
        <c:dLbls>
          <c:showLegendKey val="0"/>
          <c:showVal val="0"/>
          <c:showCatName val="0"/>
          <c:showSerName val="0"/>
          <c:showPercent val="0"/>
          <c:showBubbleSize val="0"/>
        </c:dLbls>
        <c:gapWidth val="100"/>
        <c:axId val="-2095465328"/>
        <c:axId val="-2095463552"/>
      </c:barChart>
      <c:catAx>
        <c:axId val="-2095465328"/>
        <c:scaling>
          <c:orientation val="minMax"/>
        </c:scaling>
        <c:delete val="1"/>
        <c:axPos val="b"/>
        <c:numFmt formatCode="General" sourceLinked="0"/>
        <c:majorTickMark val="out"/>
        <c:minorTickMark val="none"/>
        <c:tickLblPos val="nextTo"/>
        <c:crossAx val="-2095463552"/>
        <c:crosses val="autoZero"/>
        <c:auto val="1"/>
        <c:lblAlgn val="ctr"/>
        <c:lblOffset val="100"/>
        <c:noMultiLvlLbl val="0"/>
      </c:catAx>
      <c:valAx>
        <c:axId val="-2095463552"/>
        <c:scaling>
          <c:orientation val="minMax"/>
        </c:scaling>
        <c:delete val="0"/>
        <c:axPos val="l"/>
        <c:majorGridlines/>
        <c:numFmt formatCode="General" sourceLinked="1"/>
        <c:majorTickMark val="out"/>
        <c:minorTickMark val="none"/>
        <c:tickLblPos val="nextTo"/>
        <c:txPr>
          <a:bodyPr rot="-60000000" spcFirstLastPara="0" vertOverflow="ellipsis" vert="horz" wrap="square" anchor="ctr" anchorCtr="1"/>
          <a:lstStyle/>
          <a:p>
            <a:pPr>
              <a:defRPr lang="zh-CN" sz="1800" b="0" i="0" u="none" strike="noStrike" kern="1200" baseline="0">
                <a:solidFill>
                  <a:schemeClr val="tx1"/>
                </a:solidFill>
                <a:latin typeface="Arial" panose="020B0604020202020204" pitchFamily="34" charset="0"/>
                <a:ea typeface="微软雅黑" panose="020B0503020204020204" pitchFamily="34" charset="-122"/>
                <a:cs typeface="+mn-cs"/>
                <a:sym typeface="Arial" panose="020B0604020202020204" pitchFamily="34" charset="0"/>
              </a:defRPr>
            </a:pPr>
            <a:endParaRPr lang="zh-CN"/>
          </a:p>
        </c:txPr>
        <c:crossAx val="-2095465328"/>
        <c:crosses val="autoZero"/>
        <c:crossBetween val="between"/>
      </c:valAx>
    </c:plotArea>
    <c:legend>
      <c:legendPos val="b"/>
      <c:overlay val="0"/>
      <c:txPr>
        <a:bodyPr rot="0" spcFirstLastPara="0" vertOverflow="ellipsis" vert="horz" wrap="square" anchor="ctr" anchorCtr="1"/>
        <a:lstStyle/>
        <a:p>
          <a:pPr>
            <a:defRPr lang="zh-CN" sz="1800" b="0" i="0" u="none" strike="noStrike" kern="1200" baseline="0">
              <a:solidFill>
                <a:schemeClr val="tx1"/>
              </a:solidFill>
              <a:latin typeface="Arial" panose="020B0604020202020204" pitchFamily="34" charset="0"/>
              <a:ea typeface="微软雅黑" panose="020B0503020204020204" pitchFamily="34" charset="-122"/>
              <a:cs typeface="+mn-cs"/>
              <a:sym typeface="Arial" panose="020B0604020202020204" pitchFamily="34" charset="0"/>
            </a:defRPr>
          </a:pPr>
          <a:endParaRPr lang="zh-CN"/>
        </a:p>
      </c:txPr>
    </c:legend>
    <c:plotVisOnly val="1"/>
    <c:dispBlanksAs val="gap"/>
    <c:showDLblsOverMax val="0"/>
  </c:chart>
  <c:txPr>
    <a:bodyPr/>
    <a:lstStyle/>
    <a:p>
      <a:pPr>
        <a:defRPr lang="zh-CN" sz="1800">
          <a:latin typeface="Arial" panose="020B0604020202020204" pitchFamily="34" charset="0"/>
          <a:ea typeface="微软雅黑" panose="020B0503020204020204" pitchFamily="34" charset="-122"/>
          <a:sym typeface="Arial" panose="020B0604020202020204" pitchFamily="34" charset="0"/>
        </a:defRPr>
      </a:pPr>
      <a:endParaRPr lang="zh-CN"/>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zh-CN" sz="2160" b="1" i="0" u="none" strike="noStrike" kern="1200" baseline="0">
                <a:solidFill>
                  <a:schemeClr val="tx1"/>
                </a:solidFill>
                <a:latin typeface="+mn-lt"/>
                <a:ea typeface="+mn-ea"/>
                <a:cs typeface="+mn-cs"/>
              </a:defRPr>
            </a:pPr>
            <a:r>
              <a:rPr lang="zh-CN" altLang="en-US" sz="1400" dirty="0"/>
              <a:t>公司历年资产、负债、权益变动情况表</a:t>
            </a:r>
            <a:endParaRPr lang="en-US" altLang="zh-CN" sz="1400" dirty="0"/>
          </a:p>
        </c:rich>
      </c:tx>
      <c:layout>
        <c:manualLayout>
          <c:xMode val="edge"/>
          <c:yMode val="edge"/>
          <c:x val="0.131708036024671"/>
          <c:y val="0.00688685813939871"/>
        </c:manualLayout>
      </c:layout>
      <c:overlay val="0"/>
    </c:title>
    <c:autoTitleDeleted val="0"/>
    <c:plotArea>
      <c:layout/>
      <c:barChart>
        <c:barDir val="col"/>
        <c:grouping val="percentStacked"/>
        <c:varyColors val="0"/>
        <c:ser>
          <c:idx val="0"/>
          <c:order val="0"/>
          <c:tx>
            <c:strRef>
              <c:f>Sheet1!$B$1</c:f>
              <c:strCache>
                <c:ptCount val="1"/>
                <c:pt idx="0">
                  <c:v>  流动资产</c:v>
                </c:pt>
              </c:strCache>
            </c:strRef>
          </c:tx>
          <c:spPr>
            <a:solidFill>
              <a:srgbClr val="00B0F0"/>
            </a:solidFill>
          </c:spPr>
          <c:invertIfNegative val="0"/>
          <c:dLbls>
            <c:spPr>
              <a:noFill/>
              <a:ln>
                <a:noFill/>
              </a:ln>
              <a:effectLst/>
            </c:spPr>
            <c:txPr>
              <a:bodyPr rot="0" spcFirstLastPara="0" vertOverflow="ellipsis" vert="horz" wrap="square" lIns="38100" tIns="19050" rIns="38100" bIns="19050" anchor="ctr" anchorCtr="1"/>
              <a:lstStyle/>
              <a:p>
                <a:pPr>
                  <a:defRPr lang="zh-CN" sz="1800" b="0" i="0" u="none" strike="noStrike" kern="1200" baseline="0">
                    <a:solidFill>
                      <a:schemeClr val="tx1"/>
                    </a:solidFill>
                    <a:latin typeface="+mn-lt"/>
                    <a:ea typeface="+mn-ea"/>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2014</c:v>
                </c:pt>
                <c:pt idx="1">
                  <c:v>2015</c:v>
                </c:pt>
                <c:pt idx="2">
                  <c:v>2016</c:v>
                </c:pt>
                <c:pt idx="3">
                  <c:v>2017上</c:v>
                </c:pt>
              </c:strCache>
            </c:strRef>
          </c:cat>
          <c:val>
            <c:numRef>
              <c:f>Sheet1!$B$2:$B$5</c:f>
              <c:numCache>
                <c:formatCode>_(* #,##0_);_(* \(#,##0\);_(* "-"_);_(@_)</c:formatCode>
                <c:ptCount val="4"/>
                <c:pt idx="0">
                  <c:v>4.0</c:v>
                </c:pt>
                <c:pt idx="1">
                  <c:v>5.0</c:v>
                </c:pt>
                <c:pt idx="2">
                  <c:v>5.0</c:v>
                </c:pt>
                <c:pt idx="3">
                  <c:v>5.0</c:v>
                </c:pt>
              </c:numCache>
            </c:numRef>
          </c:val>
        </c:ser>
        <c:ser>
          <c:idx val="1"/>
          <c:order val="1"/>
          <c:tx>
            <c:strRef>
              <c:f>Sheet1!$C$1</c:f>
              <c:strCache>
                <c:ptCount val="1"/>
                <c:pt idx="0">
                  <c:v>  非流动资产</c:v>
                </c:pt>
              </c:strCache>
            </c:strRef>
          </c:tx>
          <c:spPr>
            <a:solidFill>
              <a:srgbClr val="92D050"/>
            </a:solidFill>
          </c:spPr>
          <c:invertIfNegative val="0"/>
          <c:dLbls>
            <c:spPr>
              <a:noFill/>
              <a:ln>
                <a:noFill/>
              </a:ln>
              <a:effectLst/>
            </c:spPr>
            <c:txPr>
              <a:bodyPr rot="0" spcFirstLastPara="0" vertOverflow="ellipsis" vert="horz" wrap="square" lIns="38100" tIns="19050" rIns="38100" bIns="19050" anchor="ctr" anchorCtr="1"/>
              <a:lstStyle/>
              <a:p>
                <a:pPr>
                  <a:defRPr lang="zh-CN" sz="1800" b="0" i="0" u="none" strike="noStrike" kern="1200" baseline="0">
                    <a:solidFill>
                      <a:schemeClr val="tx1"/>
                    </a:solidFill>
                    <a:latin typeface="+mn-lt"/>
                    <a:ea typeface="+mn-ea"/>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2014</c:v>
                </c:pt>
                <c:pt idx="1">
                  <c:v>2015</c:v>
                </c:pt>
                <c:pt idx="2">
                  <c:v>2016</c:v>
                </c:pt>
                <c:pt idx="3">
                  <c:v>2017上</c:v>
                </c:pt>
              </c:strCache>
            </c:strRef>
          </c:cat>
          <c:val>
            <c:numRef>
              <c:f>Sheet1!$C$2:$C$5</c:f>
              <c:numCache>
                <c:formatCode>_ * #,##0.0_ ;_ * \-#,##0.0_ ;_ * "-"_ ;_ @_ </c:formatCode>
                <c:ptCount val="4"/>
                <c:pt idx="0" formatCode="_(* #,##0_);_(* \(#,##0\);_(* &quot;-&quot;_);_(@_)">
                  <c:v>0.6</c:v>
                </c:pt>
                <c:pt idx="1">
                  <c:v>0.4</c:v>
                </c:pt>
                <c:pt idx="2">
                  <c:v>0.3</c:v>
                </c:pt>
                <c:pt idx="3">
                  <c:v>0.3</c:v>
                </c:pt>
              </c:numCache>
            </c:numRef>
          </c:val>
        </c:ser>
        <c:ser>
          <c:idx val="2"/>
          <c:order val="2"/>
          <c:tx>
            <c:strRef>
              <c:f>Sheet1!$D$1</c:f>
              <c:strCache>
                <c:ptCount val="1"/>
                <c:pt idx="0">
                  <c:v>  流动负债</c:v>
                </c:pt>
              </c:strCache>
            </c:strRef>
          </c:tx>
          <c:spPr>
            <a:solidFill>
              <a:srgbClr val="FFFF00"/>
            </a:solidFill>
          </c:spPr>
          <c:invertIfNegative val="0"/>
          <c:dLbls>
            <c:spPr>
              <a:noFill/>
              <a:ln>
                <a:noFill/>
              </a:ln>
              <a:effectLst/>
            </c:spPr>
            <c:txPr>
              <a:bodyPr rot="0" spcFirstLastPara="0" vertOverflow="ellipsis" vert="horz" wrap="square" lIns="38100" tIns="19050" rIns="38100" bIns="19050" anchor="ctr" anchorCtr="1"/>
              <a:lstStyle/>
              <a:p>
                <a:pPr>
                  <a:defRPr lang="zh-CN" sz="1800" b="0" i="0" u="none" strike="noStrike" kern="1200" baseline="0">
                    <a:solidFill>
                      <a:schemeClr val="tx1"/>
                    </a:solidFill>
                    <a:latin typeface="+mn-lt"/>
                    <a:ea typeface="+mn-ea"/>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2014</c:v>
                </c:pt>
                <c:pt idx="1">
                  <c:v>2015</c:v>
                </c:pt>
                <c:pt idx="2">
                  <c:v>2016</c:v>
                </c:pt>
                <c:pt idx="3">
                  <c:v>2017上</c:v>
                </c:pt>
              </c:strCache>
            </c:strRef>
          </c:cat>
          <c:val>
            <c:numRef>
              <c:f>Sheet1!$D$2:$D$5</c:f>
              <c:numCache>
                <c:formatCode>_(* #,##0_);_(* \(#,##0\);_(* "-"_);_(@_)</c:formatCode>
                <c:ptCount val="4"/>
                <c:pt idx="0">
                  <c:v>2.0</c:v>
                </c:pt>
                <c:pt idx="1">
                  <c:v>3.0</c:v>
                </c:pt>
                <c:pt idx="2">
                  <c:v>3.0</c:v>
                </c:pt>
                <c:pt idx="3">
                  <c:v>2.0</c:v>
                </c:pt>
              </c:numCache>
            </c:numRef>
          </c:val>
        </c:ser>
        <c:ser>
          <c:idx val="3"/>
          <c:order val="3"/>
          <c:tx>
            <c:strRef>
              <c:f>Sheet1!$E$1</c:f>
              <c:strCache>
                <c:ptCount val="1"/>
                <c:pt idx="0">
                  <c:v>  所有者权益</c:v>
                </c:pt>
              </c:strCache>
            </c:strRef>
          </c:tx>
          <c:invertIfNegative val="0"/>
          <c:dLbls>
            <c:spPr>
              <a:noFill/>
              <a:ln>
                <a:noFill/>
              </a:ln>
              <a:effectLst/>
            </c:spPr>
            <c:txPr>
              <a:bodyPr rot="0" spcFirstLastPara="0" vertOverflow="ellipsis" vert="horz" wrap="square" lIns="38100" tIns="19050" rIns="38100" bIns="19050" anchor="ctr" anchorCtr="1"/>
              <a:lstStyle/>
              <a:p>
                <a:pPr>
                  <a:defRPr lang="zh-CN" sz="1800" b="0" i="0" u="none" strike="noStrike" kern="1200" baseline="0">
                    <a:solidFill>
                      <a:schemeClr val="tx1"/>
                    </a:solidFill>
                    <a:latin typeface="+mn-lt"/>
                    <a:ea typeface="+mn-ea"/>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2014</c:v>
                </c:pt>
                <c:pt idx="1">
                  <c:v>2015</c:v>
                </c:pt>
                <c:pt idx="2">
                  <c:v>2016</c:v>
                </c:pt>
                <c:pt idx="3">
                  <c:v>2017上</c:v>
                </c:pt>
              </c:strCache>
            </c:strRef>
          </c:cat>
          <c:val>
            <c:numRef>
              <c:f>Sheet1!$E$2:$E$5</c:f>
              <c:numCache>
                <c:formatCode>_(* #,##0_);_(* \(#,##0\);_(* "-"_);_(@_)</c:formatCode>
                <c:ptCount val="4"/>
                <c:pt idx="0">
                  <c:v>3.0</c:v>
                </c:pt>
                <c:pt idx="1">
                  <c:v>2.0</c:v>
                </c:pt>
                <c:pt idx="2">
                  <c:v>2.0</c:v>
                </c:pt>
                <c:pt idx="3">
                  <c:v>3.0</c:v>
                </c:pt>
              </c:numCache>
            </c:numRef>
          </c:val>
        </c:ser>
        <c:dLbls>
          <c:showLegendKey val="0"/>
          <c:showVal val="1"/>
          <c:showCatName val="0"/>
          <c:showSerName val="0"/>
          <c:showPercent val="0"/>
          <c:showBubbleSize val="0"/>
        </c:dLbls>
        <c:gapWidth val="95"/>
        <c:overlap val="100"/>
        <c:axId val="-2095274960"/>
        <c:axId val="-2095418752"/>
      </c:barChart>
      <c:catAx>
        <c:axId val="-2095274960"/>
        <c:scaling>
          <c:orientation val="minMax"/>
        </c:scaling>
        <c:delete val="0"/>
        <c:axPos val="b"/>
        <c:numFmt formatCode="General" sourceLinked="0"/>
        <c:majorTickMark val="none"/>
        <c:minorTickMark val="none"/>
        <c:tickLblPos val="nextTo"/>
        <c:txPr>
          <a:bodyPr rot="-60000000" spcFirstLastPara="0" vertOverflow="ellipsis" vert="horz" wrap="square" anchor="ctr" anchorCtr="1"/>
          <a:lstStyle/>
          <a:p>
            <a:pPr>
              <a:defRPr lang="zh-CN" sz="1800" b="0" i="0" u="none" strike="noStrike" kern="1200" baseline="0">
                <a:solidFill>
                  <a:schemeClr val="tx1"/>
                </a:solidFill>
                <a:latin typeface="+mn-lt"/>
                <a:ea typeface="+mn-ea"/>
                <a:cs typeface="+mn-cs"/>
              </a:defRPr>
            </a:pPr>
            <a:endParaRPr lang="zh-CN"/>
          </a:p>
        </c:txPr>
        <c:crossAx val="-2095418752"/>
        <c:crosses val="autoZero"/>
        <c:auto val="1"/>
        <c:lblAlgn val="ctr"/>
        <c:lblOffset val="100"/>
        <c:noMultiLvlLbl val="0"/>
      </c:catAx>
      <c:valAx>
        <c:axId val="-2095418752"/>
        <c:scaling>
          <c:orientation val="minMax"/>
        </c:scaling>
        <c:delete val="1"/>
        <c:axPos val="l"/>
        <c:numFmt formatCode="0%" sourceLinked="1"/>
        <c:majorTickMark val="none"/>
        <c:minorTickMark val="none"/>
        <c:tickLblPos val="none"/>
        <c:crossAx val="-2095274960"/>
        <c:crosses val="autoZero"/>
        <c:crossBetween val="between"/>
      </c:valAx>
    </c:plotArea>
    <c:legend>
      <c:legendPos val="t"/>
      <c:layout>
        <c:manualLayout>
          <c:xMode val="edge"/>
          <c:yMode val="edge"/>
          <c:x val="0.0147553049661149"/>
          <c:y val="0.103649926359422"/>
          <c:w val="0.978822834645672"/>
          <c:h val="0.168782480314961"/>
        </c:manualLayout>
      </c:layout>
      <c:overlay val="0"/>
      <c:txPr>
        <a:bodyPr rot="0" spcFirstLastPara="0" vertOverflow="ellipsis" vert="horz" wrap="square" anchor="ctr" anchorCtr="1"/>
        <a:lstStyle/>
        <a:p>
          <a:pPr>
            <a:defRPr lang="zh-CN" sz="1400" b="0" i="0" u="none" strike="noStrike" kern="1200" baseline="0">
              <a:solidFill>
                <a:schemeClr val="tx1"/>
              </a:solidFill>
              <a:latin typeface="+mn-lt"/>
              <a:ea typeface="+mn-ea"/>
              <a:cs typeface="+mn-cs"/>
            </a:defRPr>
          </a:pPr>
          <a:endParaRPr lang="zh-CN"/>
        </a:p>
      </c:txPr>
    </c:legend>
    <c:plotVisOnly val="1"/>
    <c:dispBlanksAs val="gap"/>
    <c:showDLblsOverMax val="0"/>
  </c:chart>
  <c:txPr>
    <a:bodyPr/>
    <a:lstStyle/>
    <a:p>
      <a:pPr>
        <a:defRPr lang="zh-CN" sz="1800"/>
      </a:pPr>
      <a:endParaRPr lang="zh-CN"/>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zh-CN" sz="2160" b="1" i="0" u="none" strike="noStrike" kern="1200" baseline="0">
                <a:solidFill>
                  <a:schemeClr val="tx1"/>
                </a:solidFill>
                <a:latin typeface="+mn-lt"/>
                <a:ea typeface="+mn-ea"/>
                <a:cs typeface="+mn-cs"/>
              </a:defRPr>
            </a:pPr>
            <a:r>
              <a:rPr lang="zh-CN" altLang="en-US" sz="1800" dirty="0"/>
              <a:t>流动资产构成</a:t>
            </a:r>
          </a:p>
        </c:rich>
      </c:tx>
      <c:overlay val="0"/>
    </c:title>
    <c:autoTitleDeleted val="0"/>
    <c:plotArea>
      <c:layout/>
      <c:pieChart>
        <c:varyColors val="1"/>
        <c:ser>
          <c:idx val="0"/>
          <c:order val="0"/>
          <c:tx>
            <c:strRef>
              <c:f>Sheet1!$B$1</c:f>
              <c:strCache>
                <c:ptCount val="1"/>
                <c:pt idx="0">
                  <c:v>销售额</c:v>
                </c:pt>
              </c:strCache>
            </c:strRef>
          </c:tx>
          <c:dPt>
            <c:idx val="0"/>
            <c:bubble3D val="0"/>
            <c:spPr>
              <a:solidFill>
                <a:srgbClr val="00B0F0"/>
              </a:solidFill>
            </c:spPr>
          </c:dPt>
          <c:dPt>
            <c:idx val="1"/>
            <c:bubble3D val="0"/>
            <c:spPr>
              <a:solidFill>
                <a:srgbClr val="92D050"/>
              </a:solidFill>
            </c:spPr>
          </c:dPt>
          <c:dPt>
            <c:idx val="2"/>
            <c:bubble3D val="0"/>
            <c:spPr>
              <a:solidFill>
                <a:srgbClr val="FFFF00"/>
              </a:solidFill>
            </c:spPr>
          </c:dPt>
          <c:dPt>
            <c:idx val="3"/>
            <c:bubble3D val="0"/>
          </c:dPt>
          <c:dPt>
            <c:idx val="4"/>
            <c:bubble3D val="0"/>
          </c:dPt>
          <c:dLbls>
            <c:delete val="1"/>
          </c:dLbls>
          <c:cat>
            <c:strRef>
              <c:f>Sheet1!$A$2:$A$6</c:f>
              <c:strCache>
                <c:ptCount val="5"/>
                <c:pt idx="0">
                  <c:v>  货币资金</c:v>
                </c:pt>
                <c:pt idx="1">
                  <c:v>  应收账款</c:v>
                </c:pt>
                <c:pt idx="2">
                  <c:v>  预付账款</c:v>
                </c:pt>
                <c:pt idx="3">
                  <c:v>  存货</c:v>
                </c:pt>
                <c:pt idx="4">
                  <c:v>其它</c:v>
                </c:pt>
              </c:strCache>
            </c:strRef>
          </c:cat>
          <c:val>
            <c:numRef>
              <c:f>Sheet1!$B$2:$B$6</c:f>
              <c:numCache>
                <c:formatCode>0%</c:formatCode>
                <c:ptCount val="5"/>
                <c:pt idx="0">
                  <c:v>0.178076810362961</c:v>
                </c:pt>
                <c:pt idx="1">
                  <c:v>0.378173046390184</c:v>
                </c:pt>
                <c:pt idx="2">
                  <c:v>0.118279747732293</c:v>
                </c:pt>
                <c:pt idx="3">
                  <c:v>0.193989196791046</c:v>
                </c:pt>
                <c:pt idx="4">
                  <c:v>0.131481198723517</c:v>
                </c:pt>
              </c:numCache>
            </c:numRef>
          </c:val>
        </c:ser>
        <c:dLbls>
          <c:showLegendKey val="0"/>
          <c:showVal val="0"/>
          <c:showCatName val="1"/>
          <c:showSerName val="0"/>
          <c:showPercent val="1"/>
          <c:showBubbleSize val="0"/>
          <c:showLeaderLines val="1"/>
        </c:dLbls>
        <c:firstSliceAng val="0"/>
      </c:pieChart>
    </c:plotArea>
    <c:plotVisOnly val="1"/>
    <c:dispBlanksAs val="gap"/>
    <c:showDLblsOverMax val="0"/>
  </c:chart>
  <c:txPr>
    <a:bodyPr/>
    <a:lstStyle/>
    <a:p>
      <a:pPr>
        <a:defRPr lang="zh-CN" sz="1800"/>
      </a:pPr>
      <a:endParaRPr lang="zh-CN"/>
    </a:p>
  </c:txPr>
  <c:externalData r:id="rId1">
    <c:autoUpdate val="0"/>
  </c:externalData>
  <c:userShapes r:id="rId2"/>
</c:chartSpace>
</file>

<file path=ppt/charts/chart8.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dLbls>
          <c:showLegendKey val="0"/>
          <c:showVal val="0"/>
          <c:showCatName val="1"/>
          <c:showSerName val="0"/>
          <c:showPercent val="1"/>
          <c:showBubbleSize val="0"/>
          <c:showLeaderLines val="0"/>
        </c:dLbls>
        <c:firstSliceAng val="0"/>
      </c:pieChart>
    </c:plotArea>
    <c:plotVisOnly val="1"/>
    <c:dispBlanksAs val="gap"/>
    <c:showDLblsOverMax val="0"/>
  </c:chart>
  <c:txPr>
    <a:bodyPr/>
    <a:lstStyle/>
    <a:p>
      <a:pPr>
        <a:defRPr lang="zh-CN" sz="1800"/>
      </a:pPr>
      <a:endParaRPr lang="zh-CN"/>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dLbls>
          <c:showLegendKey val="0"/>
          <c:showVal val="0"/>
          <c:showCatName val="1"/>
          <c:showSerName val="0"/>
          <c:showPercent val="1"/>
          <c:showBubbleSize val="0"/>
          <c:showLeaderLines val="0"/>
        </c:dLbls>
        <c:firstSliceAng val="0"/>
      </c:pieChart>
    </c:plotArea>
    <c:plotVisOnly val="1"/>
    <c:dispBlanksAs val="gap"/>
    <c:showDLblsOverMax val="0"/>
  </c:chart>
  <c:txPr>
    <a:bodyPr/>
    <a:lstStyle/>
    <a:p>
      <a:pPr>
        <a:defRPr lang="zh-CN" sz="1800"/>
      </a:pPr>
      <a:endParaRPr lang="zh-CN"/>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dLbls>
          <c:showLegendKey val="0"/>
          <c:showVal val="0"/>
          <c:showCatName val="1"/>
          <c:showSerName val="0"/>
          <c:showPercent val="1"/>
          <c:showBubbleSize val="0"/>
          <c:showLeaderLines val="0"/>
        </c:dLbls>
        <c:firstSliceAng val="0"/>
      </c:pieChart>
    </c:plotArea>
    <c:plotVisOnly val="1"/>
    <c:dispBlanksAs val="gap"/>
    <c:showDLblsOverMax val="0"/>
  </c:chart>
  <c:txPr>
    <a:bodyPr/>
    <a:lstStyle/>
    <a:p>
      <a:pPr>
        <a:defRPr lang="zh-CN" sz="1800"/>
      </a:pPr>
      <a:endParaRPr lang="zh-CN"/>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zh-CN" sz="2160" b="1" i="0" u="none" strike="noStrike" kern="1200" baseline="0">
                <a:solidFill>
                  <a:schemeClr val="tx1"/>
                </a:solidFill>
                <a:latin typeface="+mn-lt"/>
                <a:ea typeface="+mn-ea"/>
                <a:cs typeface="+mn-cs"/>
              </a:defRPr>
            </a:pPr>
            <a:r>
              <a:rPr lang="zh-CN" altLang="en-US" sz="1800" dirty="0"/>
              <a:t>销售额</a:t>
            </a:r>
          </a:p>
        </c:rich>
      </c:tx>
      <c:overlay val="0"/>
    </c:title>
    <c:autoTitleDeleted val="0"/>
    <c:plotArea>
      <c:layout/>
      <c:pieChart>
        <c:varyColors val="1"/>
        <c:ser>
          <c:idx val="0"/>
          <c:order val="0"/>
          <c:tx>
            <c:strRef>
              <c:f>Sheet1!$B$1</c:f>
              <c:strCache>
                <c:ptCount val="1"/>
                <c:pt idx="0">
                  <c:v>销售额</c:v>
                </c:pt>
              </c:strCache>
            </c:strRef>
          </c:tx>
          <c:dPt>
            <c:idx val="0"/>
            <c:bubble3D val="0"/>
            <c:spPr>
              <a:solidFill>
                <a:srgbClr val="00B0F0"/>
              </a:solidFill>
            </c:spPr>
          </c:dPt>
          <c:dPt>
            <c:idx val="1"/>
            <c:bubble3D val="0"/>
            <c:spPr>
              <a:solidFill>
                <a:srgbClr val="92D050"/>
              </a:solidFill>
            </c:spPr>
          </c:dPt>
          <c:dPt>
            <c:idx val="2"/>
            <c:bubble3D val="0"/>
            <c:spPr>
              <a:solidFill>
                <a:srgbClr val="FFFF00"/>
              </a:solidFill>
            </c:spPr>
          </c:dPt>
          <c:dPt>
            <c:idx val="3"/>
            <c:bubble3D val="0"/>
          </c:dPt>
          <c:dLbls>
            <c:delete val="1"/>
          </c:dLbls>
          <c:cat>
            <c:strRef>
              <c:f>Sheet1!$A$2:$A$5</c:f>
              <c:strCache>
                <c:ptCount val="4"/>
                <c:pt idx="0">
                  <c:v>  实收资本</c:v>
                </c:pt>
                <c:pt idx="1">
                  <c:v>  资本公积</c:v>
                </c:pt>
                <c:pt idx="2">
                  <c:v>  盈余公积</c:v>
                </c:pt>
                <c:pt idx="3">
                  <c:v>  未分配利润</c:v>
                </c:pt>
              </c:strCache>
            </c:strRef>
          </c:cat>
          <c:val>
            <c:numRef>
              <c:f>Sheet1!$B$2:$B$5</c:f>
              <c:numCache>
                <c:formatCode>0%</c:formatCode>
                <c:ptCount val="4"/>
                <c:pt idx="0">
                  <c:v>0.297716770854438</c:v>
                </c:pt>
                <c:pt idx="1">
                  <c:v>0.00747363206187187</c:v>
                </c:pt>
                <c:pt idx="2">
                  <c:v>0.0759605817325665</c:v>
                </c:pt>
                <c:pt idx="3">
                  <c:v>0.618849015351129</c:v>
                </c:pt>
              </c:numCache>
            </c:numRef>
          </c:val>
        </c:ser>
        <c:dLbls>
          <c:showLegendKey val="0"/>
          <c:showVal val="0"/>
          <c:showCatName val="1"/>
          <c:showSerName val="0"/>
          <c:showPercent val="1"/>
          <c:showBubbleSize val="0"/>
          <c:showLeaderLines val="1"/>
        </c:dLbls>
        <c:firstSliceAng val="0"/>
      </c:pieChart>
    </c:plotArea>
    <c:plotVisOnly val="1"/>
    <c:dispBlanksAs val="gap"/>
    <c:showDLblsOverMax val="0"/>
  </c:chart>
  <c:txPr>
    <a:bodyPr/>
    <a:lstStyle/>
    <a:p>
      <a:pPr>
        <a:defRPr lang="zh-CN" sz="1800"/>
      </a:pPr>
      <a:endParaRPr lang="zh-CN"/>
    </a:p>
  </c:txPr>
  <c:externalData r:id="rId1">
    <c:autoUpdate val="0"/>
  </c:externalData>
  <c:userShapes r:id="rId2"/>
</c:chartSpace>
</file>

<file path=ppt/charts/chart1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zh-CN" sz="2160" b="1" i="0" u="none" strike="noStrike" kern="1200" baseline="0">
                <a:solidFill>
                  <a:schemeClr val="tx1"/>
                </a:solidFill>
                <a:latin typeface="+mn-lt"/>
                <a:ea typeface="+mn-ea"/>
                <a:cs typeface="+mn-cs"/>
              </a:defRPr>
            </a:pPr>
            <a:r>
              <a:rPr lang="zh-CN" altLang="en-US" sz="1800" dirty="0"/>
              <a:t>流动负债</a:t>
            </a:r>
          </a:p>
        </c:rich>
      </c:tx>
      <c:overlay val="0"/>
    </c:title>
    <c:autoTitleDeleted val="0"/>
    <c:plotArea>
      <c:layout/>
      <c:pieChart>
        <c:varyColors val="1"/>
        <c:ser>
          <c:idx val="0"/>
          <c:order val="0"/>
          <c:tx>
            <c:strRef>
              <c:f>Sheet1!$B$1</c:f>
              <c:strCache>
                <c:ptCount val="1"/>
                <c:pt idx="0">
                  <c:v>销售额</c:v>
                </c:pt>
              </c:strCache>
            </c:strRef>
          </c:tx>
          <c:dPt>
            <c:idx val="0"/>
            <c:bubble3D val="0"/>
            <c:spPr>
              <a:solidFill>
                <a:srgbClr val="00B0F0"/>
              </a:solidFill>
            </c:spPr>
          </c:dPt>
          <c:dPt>
            <c:idx val="1"/>
            <c:bubble3D val="0"/>
            <c:spPr>
              <a:solidFill>
                <a:srgbClr val="92D050"/>
              </a:solidFill>
            </c:spPr>
          </c:dPt>
          <c:dPt>
            <c:idx val="2"/>
            <c:bubble3D val="0"/>
            <c:spPr>
              <a:solidFill>
                <a:srgbClr val="FFFF00"/>
              </a:solidFill>
            </c:spPr>
          </c:dPt>
          <c:dPt>
            <c:idx val="3"/>
            <c:bubble3D val="0"/>
          </c:dPt>
          <c:dLbls>
            <c:delete val="1"/>
          </c:dLbls>
          <c:cat>
            <c:strRef>
              <c:f>Sheet1!$A$2:$A$5</c:f>
              <c:strCache>
                <c:ptCount val="4"/>
                <c:pt idx="0">
                  <c:v>  短期借款</c:v>
                </c:pt>
                <c:pt idx="1">
                  <c:v>  应付账款</c:v>
                </c:pt>
                <c:pt idx="2">
                  <c:v>  应交税费</c:v>
                </c:pt>
                <c:pt idx="3">
                  <c:v>其它</c:v>
                </c:pt>
              </c:strCache>
            </c:strRef>
          </c:cat>
          <c:val>
            <c:numRef>
              <c:f>Sheet1!$B$2:$B$5</c:f>
              <c:numCache>
                <c:formatCode>0%</c:formatCode>
                <c:ptCount val="4"/>
                <c:pt idx="0">
                  <c:v>0.319702401822242</c:v>
                </c:pt>
                <c:pt idx="1">
                  <c:v>0.583866442723126</c:v>
                </c:pt>
                <c:pt idx="2">
                  <c:v>0.0396465825821376</c:v>
                </c:pt>
                <c:pt idx="3">
                  <c:v>0.0567845728724959</c:v>
                </c:pt>
              </c:numCache>
            </c:numRef>
          </c:val>
        </c:ser>
        <c:dLbls>
          <c:showLegendKey val="0"/>
          <c:showVal val="0"/>
          <c:showCatName val="1"/>
          <c:showSerName val="0"/>
          <c:showPercent val="1"/>
          <c:showBubbleSize val="0"/>
          <c:showLeaderLines val="1"/>
        </c:dLbls>
        <c:firstSliceAng val="0"/>
      </c:pieChart>
    </c:plotArea>
    <c:plotVisOnly val="1"/>
    <c:dispBlanksAs val="gap"/>
    <c:showDLblsOverMax val="0"/>
  </c:chart>
  <c:txPr>
    <a:bodyPr/>
    <a:lstStyle/>
    <a:p>
      <a:pPr>
        <a:defRPr lang="zh-CN" sz="1800"/>
      </a:pPr>
      <a:endParaRPr lang="zh-CN"/>
    </a:p>
  </c:txPr>
  <c:externalData r:id="rId1">
    <c:autoUpdate val="0"/>
  </c:externalData>
  <c:userShapes r:id="rId2"/>
</c:chartSpace>
</file>

<file path=ppt/charts/chart1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zh-CN" sz="2160" b="1" i="0" u="none" strike="noStrike" kern="1200" baseline="0">
                <a:solidFill>
                  <a:schemeClr val="tx1"/>
                </a:solidFill>
                <a:latin typeface="+mn-lt"/>
                <a:ea typeface="+mn-ea"/>
                <a:cs typeface="+mn-cs"/>
              </a:defRPr>
            </a:pPr>
            <a:r>
              <a:rPr lang="zh-CN" altLang="en-US" sz="1600" dirty="0"/>
              <a:t>非流动资产构成</a:t>
            </a:r>
          </a:p>
        </c:rich>
      </c:tx>
      <c:overlay val="0"/>
    </c:title>
    <c:autoTitleDeleted val="0"/>
    <c:plotArea>
      <c:layout/>
      <c:pieChart>
        <c:varyColors val="1"/>
        <c:ser>
          <c:idx val="0"/>
          <c:order val="0"/>
          <c:tx>
            <c:strRef>
              <c:f>Sheet1!$B$1</c:f>
              <c:strCache>
                <c:ptCount val="1"/>
                <c:pt idx="0">
                  <c:v>销售额</c:v>
                </c:pt>
              </c:strCache>
            </c:strRef>
          </c:tx>
          <c:dPt>
            <c:idx val="0"/>
            <c:bubble3D val="0"/>
            <c:spPr>
              <a:solidFill>
                <a:srgbClr val="00B0F0"/>
              </a:solidFill>
            </c:spPr>
          </c:dPt>
          <c:dPt>
            <c:idx val="1"/>
            <c:bubble3D val="0"/>
            <c:spPr>
              <a:solidFill>
                <a:srgbClr val="92D050"/>
              </a:solidFill>
            </c:spPr>
          </c:dPt>
          <c:dPt>
            <c:idx val="2"/>
            <c:bubble3D val="0"/>
            <c:spPr>
              <a:solidFill>
                <a:srgbClr val="FFFF00"/>
              </a:solidFill>
            </c:spPr>
          </c:dPt>
          <c:dPt>
            <c:idx val="3"/>
            <c:bubble3D val="0"/>
          </c:dPt>
          <c:dLbls>
            <c:delete val="1"/>
          </c:dLbls>
          <c:cat>
            <c:strRef>
              <c:f>Sheet1!$A$2:$A$5</c:f>
              <c:strCache>
                <c:ptCount val="4"/>
                <c:pt idx="0">
                  <c:v>  长期股权投资</c:v>
                </c:pt>
                <c:pt idx="1">
                  <c:v>  固定资产净额</c:v>
                </c:pt>
                <c:pt idx="2">
                  <c:v>  在建工程</c:v>
                </c:pt>
                <c:pt idx="3">
                  <c:v>  无形资产</c:v>
                </c:pt>
              </c:strCache>
            </c:strRef>
          </c:cat>
          <c:val>
            <c:numRef>
              <c:f>Sheet1!$B$2:$B$5</c:f>
              <c:numCache>
                <c:formatCode>0%</c:formatCode>
                <c:ptCount val="4"/>
                <c:pt idx="0">
                  <c:v>0.0701194197682947</c:v>
                </c:pt>
                <c:pt idx="1">
                  <c:v>0.773982124551671</c:v>
                </c:pt>
                <c:pt idx="2">
                  <c:v>0.103403959166383</c:v>
                </c:pt>
                <c:pt idx="3">
                  <c:v>0.0524944965136509</c:v>
                </c:pt>
              </c:numCache>
            </c:numRef>
          </c:val>
        </c:ser>
        <c:dLbls>
          <c:showLegendKey val="0"/>
          <c:showVal val="0"/>
          <c:showCatName val="1"/>
          <c:showSerName val="0"/>
          <c:showPercent val="1"/>
          <c:showBubbleSize val="0"/>
          <c:showLeaderLines val="1"/>
        </c:dLbls>
        <c:firstSliceAng val="0"/>
      </c:pieChart>
    </c:plotArea>
    <c:plotVisOnly val="1"/>
    <c:dispBlanksAs val="gap"/>
    <c:showDLblsOverMax val="0"/>
  </c:chart>
  <c:txPr>
    <a:bodyPr/>
    <a:lstStyle/>
    <a:p>
      <a:pPr>
        <a:defRPr lang="zh-CN" sz="1800"/>
      </a:pPr>
      <a:endParaRPr lang="zh-CN"/>
    </a:p>
  </c:txPr>
  <c:externalData r:id="rId1">
    <c:autoUpdate val="0"/>
  </c:externalData>
  <c:userShapes r:id="rId2"/>
</c:chartSpace>
</file>

<file path=ppt/charts/chart1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dLbls>
          <c:showLegendKey val="0"/>
          <c:showVal val="0"/>
          <c:showCatName val="1"/>
          <c:showSerName val="0"/>
          <c:showPercent val="1"/>
          <c:showBubbleSize val="0"/>
          <c:showLeaderLines val="0"/>
        </c:dLbls>
        <c:firstSliceAng val="0"/>
      </c:pieChart>
    </c:plotArea>
    <c:plotVisOnly val="1"/>
    <c:dispBlanksAs val="gap"/>
    <c:showDLblsOverMax val="0"/>
  </c:chart>
  <c:txPr>
    <a:bodyPr/>
    <a:lstStyle/>
    <a:p>
      <a:pPr>
        <a:defRPr lang="zh-CN" sz="1800">
          <a:latin typeface="Arial" panose="020B0604020202020204" pitchFamily="34" charset="0"/>
          <a:ea typeface="微软雅黑" panose="020B0503020204020204" pitchFamily="34" charset="-122"/>
          <a:sym typeface="Arial" panose="020B0604020202020204" pitchFamily="34" charset="0"/>
        </a:defRPr>
      </a:pPr>
      <a:endParaRPr lang="zh-CN"/>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dLbls>
          <c:showLegendKey val="0"/>
          <c:showVal val="0"/>
          <c:showCatName val="1"/>
          <c:showSerName val="0"/>
          <c:showPercent val="1"/>
          <c:showBubbleSize val="0"/>
          <c:showLeaderLines val="0"/>
        </c:dLbls>
        <c:firstSliceAng val="0"/>
      </c:pieChart>
    </c:plotArea>
    <c:plotVisOnly val="1"/>
    <c:dispBlanksAs val="gap"/>
    <c:showDLblsOverMax val="0"/>
  </c:chart>
  <c:txPr>
    <a:bodyPr/>
    <a:lstStyle/>
    <a:p>
      <a:pPr>
        <a:defRPr lang="zh-CN" sz="1800"/>
      </a:pPr>
      <a:endParaRPr lang="zh-CN"/>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zh-CN" sz="2160" b="1" i="0" u="none" strike="noStrike" kern="1200" baseline="0">
                <a:solidFill>
                  <a:schemeClr val="tx1"/>
                </a:solidFill>
                <a:latin typeface="+mn-lt"/>
                <a:ea typeface="+mn-ea"/>
                <a:cs typeface="+mn-cs"/>
              </a:defRPr>
            </a:pPr>
            <a:r>
              <a:rPr lang="en-US" altLang="zh-CN" dirty="0"/>
              <a:t>2014-2017</a:t>
            </a:r>
            <a:r>
              <a:rPr lang="zh-CN" altLang="en-US" dirty="0"/>
              <a:t>上营收对比图</a:t>
            </a:r>
          </a:p>
        </c:rich>
      </c:tx>
      <c:overlay val="0"/>
    </c:title>
    <c:autoTitleDeleted val="0"/>
    <c:plotArea>
      <c:layout/>
      <c:barChart>
        <c:barDir val="col"/>
        <c:grouping val="clustered"/>
        <c:varyColors val="0"/>
        <c:ser>
          <c:idx val="0"/>
          <c:order val="0"/>
          <c:tx>
            <c:strRef>
              <c:f>Sheet1!$B$1</c:f>
              <c:strCache>
                <c:ptCount val="1"/>
                <c:pt idx="0">
                  <c:v>营业收入</c:v>
                </c:pt>
              </c:strCache>
            </c:strRef>
          </c:tx>
          <c:invertIfNegative val="0"/>
          <c:cat>
            <c:strRef>
              <c:f>Sheet1!$A$2:$A$5</c:f>
              <c:strCache>
                <c:ptCount val="4"/>
                <c:pt idx="0">
                  <c:v>2014</c:v>
                </c:pt>
                <c:pt idx="1">
                  <c:v>2015</c:v>
                </c:pt>
                <c:pt idx="2">
                  <c:v>2016</c:v>
                </c:pt>
                <c:pt idx="3">
                  <c:v>2017上</c:v>
                </c:pt>
              </c:strCache>
            </c:strRef>
          </c:cat>
          <c:val>
            <c:numRef>
              <c:f>Sheet1!$B$2:$B$5</c:f>
              <c:numCache>
                <c:formatCode>General</c:formatCode>
                <c:ptCount val="4"/>
                <c:pt idx="0">
                  <c:v>12254.0</c:v>
                </c:pt>
                <c:pt idx="1">
                  <c:v>16728.0</c:v>
                </c:pt>
                <c:pt idx="2">
                  <c:v>17462.0</c:v>
                </c:pt>
                <c:pt idx="3">
                  <c:v>10714.0</c:v>
                </c:pt>
              </c:numCache>
            </c:numRef>
          </c:val>
        </c:ser>
        <c:ser>
          <c:idx val="1"/>
          <c:order val="1"/>
          <c:tx>
            <c:strRef>
              <c:f>Sheet1!$C$1</c:f>
              <c:strCache>
                <c:ptCount val="1"/>
                <c:pt idx="0">
                  <c:v>营业成本</c:v>
                </c:pt>
              </c:strCache>
            </c:strRef>
          </c:tx>
          <c:invertIfNegative val="0"/>
          <c:cat>
            <c:strRef>
              <c:f>Sheet1!$A$2:$A$5</c:f>
              <c:strCache>
                <c:ptCount val="4"/>
                <c:pt idx="0">
                  <c:v>2014</c:v>
                </c:pt>
                <c:pt idx="1">
                  <c:v>2015</c:v>
                </c:pt>
                <c:pt idx="2">
                  <c:v>2016</c:v>
                </c:pt>
                <c:pt idx="3">
                  <c:v>2017上</c:v>
                </c:pt>
              </c:strCache>
            </c:strRef>
          </c:cat>
          <c:val>
            <c:numRef>
              <c:f>Sheet1!$C$2:$C$5</c:f>
              <c:numCache>
                <c:formatCode>General</c:formatCode>
                <c:ptCount val="4"/>
                <c:pt idx="0">
                  <c:v>8878.0</c:v>
                </c:pt>
                <c:pt idx="1">
                  <c:v>12060.0</c:v>
                </c:pt>
                <c:pt idx="2">
                  <c:v>11159.0</c:v>
                </c:pt>
                <c:pt idx="3">
                  <c:v>7526.0</c:v>
                </c:pt>
              </c:numCache>
            </c:numRef>
          </c:val>
        </c:ser>
        <c:ser>
          <c:idx val="2"/>
          <c:order val="2"/>
          <c:tx>
            <c:strRef>
              <c:f>Sheet1!$D$1</c:f>
              <c:strCache>
                <c:ptCount val="1"/>
                <c:pt idx="0">
                  <c:v>毛利</c:v>
                </c:pt>
              </c:strCache>
            </c:strRef>
          </c:tx>
          <c:invertIfNegative val="0"/>
          <c:cat>
            <c:strRef>
              <c:f>Sheet1!$A$2:$A$5</c:f>
              <c:strCache>
                <c:ptCount val="4"/>
                <c:pt idx="0">
                  <c:v>2014</c:v>
                </c:pt>
                <c:pt idx="1">
                  <c:v>2015</c:v>
                </c:pt>
                <c:pt idx="2">
                  <c:v>2016</c:v>
                </c:pt>
                <c:pt idx="3">
                  <c:v>2017上</c:v>
                </c:pt>
              </c:strCache>
            </c:strRef>
          </c:cat>
          <c:val>
            <c:numRef>
              <c:f>Sheet1!$D$2:$D$5</c:f>
              <c:numCache>
                <c:formatCode>General</c:formatCode>
                <c:ptCount val="4"/>
                <c:pt idx="0">
                  <c:v>3376.0</c:v>
                </c:pt>
                <c:pt idx="1">
                  <c:v>4668.0</c:v>
                </c:pt>
                <c:pt idx="2">
                  <c:v>6303.0</c:v>
                </c:pt>
                <c:pt idx="3">
                  <c:v>3188.0</c:v>
                </c:pt>
              </c:numCache>
            </c:numRef>
          </c:val>
        </c:ser>
        <c:ser>
          <c:idx val="3"/>
          <c:order val="3"/>
          <c:tx>
            <c:strRef>
              <c:f>Sheet1!$E$1</c:f>
              <c:strCache>
                <c:ptCount val="1"/>
                <c:pt idx="0">
                  <c:v>净利润</c:v>
                </c:pt>
              </c:strCache>
            </c:strRef>
          </c:tx>
          <c:invertIfNegative val="0"/>
          <c:cat>
            <c:strRef>
              <c:f>Sheet1!$A$2:$A$5</c:f>
              <c:strCache>
                <c:ptCount val="4"/>
                <c:pt idx="0">
                  <c:v>2014</c:v>
                </c:pt>
                <c:pt idx="1">
                  <c:v>2015</c:v>
                </c:pt>
                <c:pt idx="2">
                  <c:v>2016</c:v>
                </c:pt>
                <c:pt idx="3">
                  <c:v>2017上</c:v>
                </c:pt>
              </c:strCache>
            </c:strRef>
          </c:cat>
          <c:val>
            <c:numRef>
              <c:f>Sheet1!$E$2:$E$5</c:f>
              <c:numCache>
                <c:formatCode>_(* #,##0.00_);_(* \(#,##0.00\);_(* "-"??_);_(@_)</c:formatCode>
                <c:ptCount val="4"/>
                <c:pt idx="0">
                  <c:v>1925.0</c:v>
                </c:pt>
                <c:pt idx="1">
                  <c:v>1313.0</c:v>
                </c:pt>
                <c:pt idx="2">
                  <c:v>4002.0</c:v>
                </c:pt>
                <c:pt idx="3">
                  <c:v>2020.0</c:v>
                </c:pt>
              </c:numCache>
            </c:numRef>
          </c:val>
        </c:ser>
        <c:dLbls>
          <c:showLegendKey val="0"/>
          <c:showVal val="0"/>
          <c:showCatName val="0"/>
          <c:showSerName val="0"/>
          <c:showPercent val="0"/>
          <c:showBubbleSize val="0"/>
        </c:dLbls>
        <c:gapWidth val="150"/>
        <c:axId val="-2095631504"/>
        <c:axId val="-2095628672"/>
      </c:barChart>
      <c:catAx>
        <c:axId val="-2095631504"/>
        <c:scaling>
          <c:orientation val="minMax"/>
        </c:scaling>
        <c:delete val="0"/>
        <c:axPos val="b"/>
        <c:numFmt formatCode="General" sourceLinked="0"/>
        <c:majorTickMark val="none"/>
        <c:minorTickMark val="none"/>
        <c:tickLblPos val="nextTo"/>
        <c:txPr>
          <a:bodyPr rot="-60000000" spcFirstLastPara="0" vertOverflow="ellipsis" vert="horz" wrap="square" anchor="ctr" anchorCtr="1"/>
          <a:lstStyle/>
          <a:p>
            <a:pPr>
              <a:defRPr lang="zh-CN" sz="1100" b="0" i="0" u="none" strike="noStrike" kern="1200" baseline="0">
                <a:solidFill>
                  <a:schemeClr val="tx1"/>
                </a:solidFill>
                <a:latin typeface="+mn-lt"/>
                <a:ea typeface="+mn-ea"/>
                <a:cs typeface="+mn-cs"/>
              </a:defRPr>
            </a:pPr>
            <a:endParaRPr lang="zh-CN"/>
          </a:p>
        </c:txPr>
        <c:crossAx val="-2095628672"/>
        <c:crosses val="autoZero"/>
        <c:auto val="1"/>
        <c:lblAlgn val="ctr"/>
        <c:lblOffset val="100"/>
        <c:noMultiLvlLbl val="0"/>
      </c:catAx>
      <c:valAx>
        <c:axId val="-2095628672"/>
        <c:scaling>
          <c:orientation val="minMax"/>
        </c:scaling>
        <c:delete val="0"/>
        <c:axPos val="l"/>
        <c:majorGridlines/>
        <c:numFmt formatCode="General" sourceLinked="1"/>
        <c:majorTickMark val="none"/>
        <c:minorTickMark val="none"/>
        <c:tickLblPos val="nextTo"/>
        <c:txPr>
          <a:bodyPr rot="-60000000" spcFirstLastPara="0" vertOverflow="ellipsis" vert="horz" wrap="square" anchor="ctr" anchorCtr="1"/>
          <a:lstStyle/>
          <a:p>
            <a:pPr>
              <a:defRPr lang="zh-CN" sz="1100" b="0" i="0" u="none" strike="noStrike" kern="1200" baseline="0">
                <a:solidFill>
                  <a:schemeClr val="tx1"/>
                </a:solidFill>
                <a:latin typeface="+mn-lt"/>
                <a:ea typeface="+mn-ea"/>
                <a:cs typeface="+mn-cs"/>
              </a:defRPr>
            </a:pPr>
            <a:endParaRPr lang="zh-CN"/>
          </a:p>
        </c:txPr>
        <c:crossAx val="-2095631504"/>
        <c:crosses val="autoZero"/>
        <c:crossBetween val="between"/>
      </c:valAx>
    </c:plotArea>
    <c:legend>
      <c:legendPos val="r"/>
      <c:overlay val="0"/>
      <c:txPr>
        <a:bodyPr rot="0" spcFirstLastPara="0" vertOverflow="ellipsis" vert="horz" wrap="square" anchor="ctr" anchorCtr="1"/>
        <a:lstStyle/>
        <a:p>
          <a:pPr>
            <a:defRPr lang="zh-CN" sz="1100" b="0" i="0" u="none" strike="noStrike" kern="1200" baseline="0">
              <a:solidFill>
                <a:schemeClr val="tx1"/>
              </a:solidFill>
              <a:latin typeface="+mn-lt"/>
              <a:ea typeface="+mn-ea"/>
              <a:cs typeface="+mn-cs"/>
            </a:defRPr>
          </a:pPr>
          <a:endParaRPr lang="zh-CN"/>
        </a:p>
      </c:txPr>
    </c:legend>
    <c:plotVisOnly val="1"/>
    <c:dispBlanksAs val="gap"/>
    <c:showDLblsOverMax val="0"/>
  </c:chart>
  <c:txPr>
    <a:bodyPr/>
    <a:lstStyle/>
    <a:p>
      <a:pPr>
        <a:defRPr lang="zh-CN" sz="1800"/>
      </a:pPr>
      <a:endParaRPr lang="zh-CN"/>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dLbls>
          <c:showLegendKey val="0"/>
          <c:showVal val="0"/>
          <c:showCatName val="1"/>
          <c:showSerName val="0"/>
          <c:showPercent val="1"/>
          <c:showBubbleSize val="0"/>
          <c:showLeaderLines val="0"/>
        </c:dLbls>
        <c:firstSliceAng val="0"/>
      </c:pieChart>
    </c:plotArea>
    <c:plotVisOnly val="1"/>
    <c:dispBlanksAs val="gap"/>
    <c:showDLblsOverMax val="0"/>
  </c:chart>
  <c:txPr>
    <a:bodyPr/>
    <a:lstStyle/>
    <a:p>
      <a:pPr>
        <a:defRPr lang="zh-CN" sz="1800">
          <a:latin typeface="Arial" panose="020B0604020202020204" pitchFamily="34" charset="0"/>
          <a:ea typeface="微软雅黑" panose="020B0503020204020204" pitchFamily="34" charset="-122"/>
          <a:sym typeface="Arial" panose="020B0604020202020204" pitchFamily="34" charset="0"/>
        </a:defRPr>
      </a:pPr>
      <a:endParaRPr lang="zh-CN"/>
    </a:p>
  </c:tx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10"/>
    </mc:Choice>
    <mc:Fallback>
      <c:style val="10"/>
    </mc:Fallback>
  </mc:AlternateContent>
  <c:chart>
    <c:title>
      <c:tx>
        <c:rich>
          <a:bodyPr rot="0" spcFirstLastPara="0" vertOverflow="ellipsis" vert="horz" wrap="square" anchor="ctr" anchorCtr="1"/>
          <a:lstStyle/>
          <a:p>
            <a:pPr>
              <a:defRPr lang="zh-CN" sz="2160" b="1" i="0" u="none" strike="noStrike" kern="1200" baseline="0">
                <a:solidFill>
                  <a:schemeClr val="tx1"/>
                </a:solidFill>
                <a:latin typeface="Arial" panose="020B0604020202020204" pitchFamily="34" charset="0"/>
                <a:ea typeface="微软雅黑" panose="020B0503020204020204" pitchFamily="34" charset="-122"/>
                <a:cs typeface="+mn-cs"/>
                <a:sym typeface="Arial" panose="020B0604020202020204" pitchFamily="34" charset="0"/>
              </a:defRPr>
            </a:pPr>
            <a:r>
              <a:rPr lang="zh-CN" sz="1600" dirty="0"/>
              <a:t>当年值</a:t>
            </a:r>
          </a:p>
        </c:rich>
      </c:tx>
      <c:overlay val="0"/>
    </c:title>
    <c:autoTitleDeleted val="0"/>
    <c:plotArea>
      <c:layout>
        <c:manualLayout>
          <c:layoutTarget val="inner"/>
          <c:xMode val="edge"/>
          <c:yMode val="edge"/>
          <c:x val="0.214505249343832"/>
          <c:y val="0.217154691145429"/>
          <c:w val="0.529322834645669"/>
          <c:h val="0.700172203088547"/>
        </c:manualLayout>
      </c:layout>
      <c:pieChart>
        <c:varyColors val="1"/>
        <c:ser>
          <c:idx val="0"/>
          <c:order val="0"/>
          <c:tx>
            <c:strRef>
              <c:f>Sheet1!$B$1</c:f>
              <c:strCache>
                <c:ptCount val="1"/>
                <c:pt idx="0">
                  <c:v>当年值</c:v>
                </c:pt>
              </c:strCache>
            </c:strRef>
          </c:tx>
          <c:dPt>
            <c:idx val="0"/>
            <c:bubble3D val="0"/>
            <c:spPr>
              <a:solidFill>
                <a:srgbClr val="92D050"/>
              </a:solidFill>
            </c:spPr>
          </c:dPt>
          <c:dPt>
            <c:idx val="1"/>
            <c:bubble3D val="0"/>
            <c:spPr>
              <a:solidFill>
                <a:schemeClr val="tx2">
                  <a:lumMod val="60000"/>
                  <a:lumOff val="40000"/>
                </a:schemeClr>
              </a:solidFill>
            </c:spPr>
          </c:dPt>
          <c:dPt>
            <c:idx val="2"/>
            <c:bubble3D val="0"/>
            <c:spPr>
              <a:solidFill>
                <a:srgbClr val="FFFF00"/>
              </a:solidFill>
            </c:spPr>
          </c:dPt>
          <c:dPt>
            <c:idx val="3"/>
            <c:bubble3D val="0"/>
          </c:dPt>
          <c:dPt>
            <c:idx val="4"/>
            <c:bubble3D val="0"/>
            <c:spPr>
              <a:solidFill>
                <a:schemeClr val="accent6">
                  <a:lumMod val="75000"/>
                </a:schemeClr>
              </a:solidFill>
            </c:spPr>
          </c:dPt>
          <c:dPt>
            <c:idx val="5"/>
            <c:bubble3D val="0"/>
            <c:spPr>
              <a:solidFill>
                <a:schemeClr val="accent4">
                  <a:lumMod val="20000"/>
                  <a:lumOff val="80000"/>
                </a:schemeClr>
              </a:solidFill>
            </c:spPr>
          </c:dPt>
          <c:cat>
            <c:strRef>
              <c:f>Sheet1!$A$2:$A$7</c:f>
              <c:strCache>
                <c:ptCount val="6"/>
                <c:pt idx="0">
                  <c:v>工程 </c:v>
                </c:pt>
                <c:pt idx="1">
                  <c:v>内销    </c:v>
                </c:pt>
                <c:pt idx="2">
                  <c:v>外销    </c:v>
                </c:pt>
                <c:pt idx="3">
                  <c:v>运营 </c:v>
                </c:pt>
                <c:pt idx="4">
                  <c:v> 设计咨询 </c:v>
                </c:pt>
                <c:pt idx="5">
                  <c:v>房屋租赁 </c:v>
                </c:pt>
              </c:strCache>
            </c:strRef>
          </c:cat>
          <c:val>
            <c:numRef>
              <c:f>Sheet1!$B$2:$B$7</c:f>
              <c:numCache>
                <c:formatCode>0%</c:formatCode>
                <c:ptCount val="6"/>
                <c:pt idx="0">
                  <c:v>0.346929251446705</c:v>
                </c:pt>
                <c:pt idx="1">
                  <c:v>0.553668097815942</c:v>
                </c:pt>
                <c:pt idx="2">
                  <c:v>0.0401344035840956</c:v>
                </c:pt>
                <c:pt idx="3">
                  <c:v>0.0153070748553295</c:v>
                </c:pt>
                <c:pt idx="4">
                  <c:v>0.0350942691805115</c:v>
                </c:pt>
                <c:pt idx="5">
                  <c:v>0.00886690311741647</c:v>
                </c:pt>
              </c:numCache>
            </c:numRef>
          </c:val>
        </c:ser>
        <c:dLbls>
          <c:showLegendKey val="0"/>
          <c:showVal val="0"/>
          <c:showCatName val="0"/>
          <c:showSerName val="0"/>
          <c:showPercent val="0"/>
          <c:showBubbleSize val="0"/>
          <c:showLeaderLines val="1"/>
        </c:dLbls>
        <c:firstSliceAng val="0"/>
      </c:pieChart>
    </c:plotArea>
    <c:plotVisOnly val="1"/>
    <c:dispBlanksAs val="gap"/>
    <c:showDLblsOverMax val="0"/>
  </c:chart>
  <c:txPr>
    <a:bodyPr/>
    <a:lstStyle/>
    <a:p>
      <a:pPr>
        <a:defRPr lang="zh-CN" sz="1800">
          <a:latin typeface="Arial" panose="020B0604020202020204" pitchFamily="34" charset="0"/>
          <a:ea typeface="微软雅黑" panose="020B0503020204020204" pitchFamily="34" charset="-122"/>
          <a:sym typeface="Arial" panose="020B0604020202020204" pitchFamily="34" charset="0"/>
        </a:defRPr>
      </a:pPr>
      <a:endParaRPr lang="zh-CN"/>
    </a:p>
  </c:txPr>
  <c:externalData r:id="rId1">
    <c:autoUpdate val="0"/>
  </c:externalData>
  <c:userShapes r:id="rId2"/>
</c:chartSpace>
</file>

<file path=ppt/charts/chart19.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10"/>
    </mc:Choice>
    <mc:Fallback>
      <c:style val="10"/>
    </mc:Fallback>
  </mc:AlternateContent>
  <c:chart>
    <c:title>
      <c:tx>
        <c:rich>
          <a:bodyPr rot="0" spcFirstLastPara="0" vertOverflow="ellipsis" vert="horz" wrap="square" anchor="ctr" anchorCtr="1"/>
          <a:lstStyle/>
          <a:p>
            <a:pPr>
              <a:defRPr lang="zh-CN" sz="2160" b="1" i="0" u="none" strike="noStrike" kern="1200" baseline="0">
                <a:solidFill>
                  <a:schemeClr val="tx1"/>
                </a:solidFill>
                <a:latin typeface="Arial" panose="020B0604020202020204" pitchFamily="34" charset="0"/>
                <a:ea typeface="微软雅黑" panose="020B0503020204020204" pitchFamily="34" charset="-122"/>
                <a:cs typeface="+mn-cs"/>
                <a:sym typeface="Arial" panose="020B0604020202020204" pitchFamily="34" charset="0"/>
              </a:defRPr>
            </a:pPr>
            <a:r>
              <a:rPr lang="zh-CN" sz="1600" dirty="0"/>
              <a:t>上年值</a:t>
            </a:r>
          </a:p>
        </c:rich>
      </c:tx>
      <c:overlay val="0"/>
    </c:title>
    <c:autoTitleDeleted val="0"/>
    <c:plotArea>
      <c:layout/>
      <c:pieChart>
        <c:varyColors val="1"/>
        <c:ser>
          <c:idx val="0"/>
          <c:order val="0"/>
          <c:tx>
            <c:strRef>
              <c:f>Sheet1!$B$1</c:f>
              <c:strCache>
                <c:ptCount val="1"/>
                <c:pt idx="0">
                  <c:v>上年值</c:v>
                </c:pt>
              </c:strCache>
            </c:strRef>
          </c:tx>
          <c:spPr>
            <a:solidFill>
              <a:schemeClr val="tx2">
                <a:lumMod val="60000"/>
                <a:lumOff val="40000"/>
              </a:schemeClr>
            </a:solidFill>
          </c:spPr>
          <c:dPt>
            <c:idx val="0"/>
            <c:bubble3D val="0"/>
          </c:dPt>
          <c:dPt>
            <c:idx val="1"/>
            <c:bubble3D val="0"/>
          </c:dPt>
          <c:dPt>
            <c:idx val="2"/>
            <c:bubble3D val="0"/>
          </c:dPt>
          <c:dPt>
            <c:idx val="3"/>
            <c:bubble3D val="0"/>
            <c:spPr>
              <a:solidFill>
                <a:srgbClr val="92D050"/>
              </a:solidFill>
            </c:spPr>
          </c:dPt>
          <c:dPt>
            <c:idx val="4"/>
            <c:bubble3D val="0"/>
            <c:spPr>
              <a:solidFill>
                <a:srgbClr val="FFFF00"/>
              </a:solidFill>
            </c:spPr>
          </c:dPt>
          <c:dPt>
            <c:idx val="5"/>
            <c:bubble3D val="0"/>
            <c:spPr>
              <a:solidFill>
                <a:schemeClr val="accent6">
                  <a:lumMod val="75000"/>
                </a:schemeClr>
              </a:solidFill>
              <a:ln w="9525" cap="flat" cmpd="sng" algn="ctr">
                <a:solidFill>
                  <a:srgbClr val="FFFF00"/>
                </a:solidFill>
                <a:prstDash val="solid"/>
                <a:round/>
              </a:ln>
            </c:spPr>
          </c:dPt>
          <c:dLbls>
            <c:delete val="1"/>
          </c:dLbls>
          <c:cat>
            <c:strRef>
              <c:f>Sheet1!$A$2:$A$7</c:f>
              <c:strCache>
                <c:ptCount val="6"/>
                <c:pt idx="0">
                  <c:v>工程 </c:v>
                </c:pt>
                <c:pt idx="1">
                  <c:v>内销    </c:v>
                </c:pt>
                <c:pt idx="2">
                  <c:v>外销    </c:v>
                </c:pt>
                <c:pt idx="3">
                  <c:v>运营 </c:v>
                </c:pt>
                <c:pt idx="4">
                  <c:v> 设计咨询 </c:v>
                </c:pt>
                <c:pt idx="5">
                  <c:v>房屋租赁 </c:v>
                </c:pt>
              </c:strCache>
            </c:strRef>
          </c:cat>
          <c:val>
            <c:numRef>
              <c:f>Sheet1!$B$2:$B$7</c:f>
              <c:numCache>
                <c:formatCode>0%</c:formatCode>
                <c:ptCount val="6"/>
                <c:pt idx="0">
                  <c:v>0.00813871196036801</c:v>
                </c:pt>
                <c:pt idx="1">
                  <c:v>0.937190375088465</c:v>
                </c:pt>
                <c:pt idx="2">
                  <c:v>0.0</c:v>
                </c:pt>
                <c:pt idx="3">
                  <c:v>0.0261854210898798</c:v>
                </c:pt>
                <c:pt idx="4">
                  <c:v>0.00778485491861289</c:v>
                </c:pt>
                <c:pt idx="5">
                  <c:v>0.0207006369426752</c:v>
                </c:pt>
              </c:numCache>
            </c:numRef>
          </c:val>
        </c:ser>
        <c:dLbls>
          <c:showLegendKey val="0"/>
          <c:showVal val="0"/>
          <c:showCatName val="1"/>
          <c:showSerName val="0"/>
          <c:showPercent val="0"/>
          <c:showBubbleSize val="0"/>
          <c:showLeaderLines val="1"/>
        </c:dLbls>
        <c:firstSliceAng val="0"/>
      </c:pieChart>
    </c:plotArea>
    <c:plotVisOnly val="1"/>
    <c:dispBlanksAs val="gap"/>
    <c:showDLblsOverMax val="0"/>
  </c:chart>
  <c:txPr>
    <a:bodyPr/>
    <a:lstStyle/>
    <a:p>
      <a:pPr>
        <a:defRPr lang="zh-CN" sz="1800">
          <a:latin typeface="Arial" panose="020B0604020202020204" pitchFamily="34" charset="0"/>
          <a:ea typeface="微软雅黑" panose="020B0503020204020204" pitchFamily="34" charset="-122"/>
          <a:sym typeface="Arial" panose="020B0604020202020204" pitchFamily="34" charset="0"/>
        </a:defRPr>
      </a:pPr>
      <a:endParaRPr lang="zh-CN"/>
    </a:p>
  </c:txPr>
  <c:externalData r:id="rId1">
    <c:autoUpdate val="0"/>
  </c:externalData>
  <c:userShapes r:id="rId2"/>
</c:chartSpace>
</file>

<file path=ppt/charts/chart20.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dLbls>
          <c:showLegendKey val="0"/>
          <c:showVal val="0"/>
          <c:showCatName val="1"/>
          <c:showSerName val="0"/>
          <c:showPercent val="1"/>
          <c:showBubbleSize val="0"/>
          <c:showLeaderLines val="0"/>
        </c:dLbls>
        <c:firstSliceAng val="0"/>
      </c:pieChart>
    </c:plotArea>
    <c:plotVisOnly val="1"/>
    <c:dispBlanksAs val="gap"/>
    <c:showDLblsOverMax val="0"/>
  </c:chart>
  <c:txPr>
    <a:bodyPr/>
    <a:lstStyle/>
    <a:p>
      <a:pPr>
        <a:defRPr lang="zh-CN" sz="1800">
          <a:latin typeface="Arial" panose="020B0604020202020204" pitchFamily="34" charset="0"/>
          <a:ea typeface="微软雅黑" panose="020B0503020204020204" pitchFamily="34" charset="-122"/>
          <a:sym typeface="Arial" panose="020B0604020202020204" pitchFamily="34" charset="0"/>
        </a:defRPr>
      </a:pPr>
      <a:endParaRPr lang="zh-CN"/>
    </a:p>
  </c:tx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dLbls>
          <c:showLegendKey val="0"/>
          <c:showVal val="0"/>
          <c:showCatName val="1"/>
          <c:showSerName val="0"/>
          <c:showPercent val="1"/>
          <c:showBubbleSize val="0"/>
          <c:showLeaderLines val="0"/>
        </c:dLbls>
        <c:firstSliceAng val="0"/>
      </c:pieChart>
    </c:plotArea>
    <c:plotVisOnly val="1"/>
    <c:dispBlanksAs val="gap"/>
    <c:showDLblsOverMax val="0"/>
  </c:chart>
  <c:txPr>
    <a:bodyPr/>
    <a:lstStyle/>
    <a:p>
      <a:pPr>
        <a:defRPr lang="zh-CN" sz="1800">
          <a:latin typeface="Arial" panose="020B0604020202020204" pitchFamily="34" charset="0"/>
          <a:ea typeface="微软雅黑" panose="020B0503020204020204" pitchFamily="34" charset="-122"/>
          <a:sym typeface="Arial" panose="020B0604020202020204" pitchFamily="34" charset="0"/>
        </a:defRPr>
      </a:pPr>
      <a:endParaRPr lang="zh-CN"/>
    </a:p>
  </c:tx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dLbls>
          <c:showLegendKey val="0"/>
          <c:showVal val="0"/>
          <c:showCatName val="1"/>
          <c:showSerName val="0"/>
          <c:showPercent val="1"/>
          <c:showBubbleSize val="0"/>
          <c:showLeaderLines val="0"/>
        </c:dLbls>
        <c:firstSliceAng val="0"/>
      </c:pieChart>
    </c:plotArea>
    <c:plotVisOnly val="1"/>
    <c:dispBlanksAs val="gap"/>
    <c:showDLblsOverMax val="0"/>
  </c:chart>
  <c:txPr>
    <a:bodyPr/>
    <a:lstStyle/>
    <a:p>
      <a:pPr>
        <a:defRPr lang="zh-CN" sz="1800">
          <a:latin typeface="Arial" panose="020B0604020202020204" pitchFamily="34" charset="0"/>
          <a:ea typeface="微软雅黑" panose="020B0503020204020204" pitchFamily="34" charset="-122"/>
          <a:sym typeface="Arial" panose="020B0604020202020204" pitchFamily="34" charset="0"/>
        </a:defRPr>
      </a:pPr>
      <a:endParaRPr lang="zh-CN"/>
    </a:p>
  </c:tx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zh-CN" sz="2160" b="1" i="0" u="none" strike="noStrike" kern="1200" baseline="0">
                <a:solidFill>
                  <a:schemeClr val="tx1"/>
                </a:solidFill>
                <a:latin typeface="Arial" panose="020B0604020202020204" pitchFamily="34" charset="0"/>
                <a:ea typeface="微软雅黑" panose="020B0503020204020204" pitchFamily="34" charset="-122"/>
                <a:cs typeface="+mn-cs"/>
                <a:sym typeface="Arial" panose="020B0604020202020204" pitchFamily="34" charset="0"/>
              </a:defRPr>
            </a:pPr>
            <a:r>
              <a:rPr lang="zh-CN"/>
              <a:t>历年货币资金储备趋势对比</a:t>
            </a:r>
          </a:p>
        </c:rich>
      </c:tx>
      <c:overlay val="0"/>
    </c:title>
    <c:autoTitleDeleted val="0"/>
    <c:plotArea>
      <c:layout>
        <c:manualLayout>
          <c:layoutTarget val="inner"/>
          <c:xMode val="edge"/>
          <c:yMode val="edge"/>
          <c:x val="0.110982346717447"/>
          <c:y val="0.151499370440321"/>
          <c:w val="0.809239653537977"/>
          <c:h val="0.630738266458858"/>
        </c:manualLayout>
      </c:layout>
      <c:barChart>
        <c:barDir val="col"/>
        <c:grouping val="clustered"/>
        <c:varyColors val="0"/>
        <c:ser>
          <c:idx val="0"/>
          <c:order val="0"/>
          <c:tx>
            <c:strRef>
              <c:f>Sheet1!$B$1</c:f>
              <c:strCache>
                <c:ptCount val="1"/>
                <c:pt idx="0">
                  <c:v>金额</c:v>
                </c:pt>
              </c:strCache>
            </c:strRef>
          </c:tx>
          <c:spPr>
            <a:gradFill>
              <a:gsLst>
                <a:gs pos="0">
                  <a:srgbClr val="03D4A8"/>
                </a:gs>
                <a:gs pos="25000">
                  <a:srgbClr val="21D6E0"/>
                </a:gs>
                <a:gs pos="75000">
                  <a:srgbClr val="0087E6"/>
                </a:gs>
                <a:gs pos="100000">
                  <a:srgbClr val="005CBF"/>
                </a:gs>
              </a:gsLst>
              <a:lin ang="5400000" scaled="0"/>
            </a:gradFill>
          </c:spPr>
          <c:invertIfNegative val="0"/>
          <c:cat>
            <c:strRef>
              <c:f>Sheet1!$A$2:$A$7</c:f>
              <c:strCache>
                <c:ptCount val="6"/>
                <c:pt idx="0">
                  <c:v>2012年</c:v>
                </c:pt>
                <c:pt idx="1">
                  <c:v>2013年</c:v>
                </c:pt>
                <c:pt idx="2">
                  <c:v>2014年</c:v>
                </c:pt>
                <c:pt idx="3">
                  <c:v>2015年</c:v>
                </c:pt>
                <c:pt idx="4">
                  <c:v>2016年</c:v>
                </c:pt>
                <c:pt idx="5">
                  <c:v>2017年</c:v>
                </c:pt>
              </c:strCache>
            </c:strRef>
          </c:cat>
          <c:val>
            <c:numRef>
              <c:f>Sheet1!$B$2:$B$7</c:f>
              <c:numCache>
                <c:formatCode>_ * #,##0_ ;_ * \-#,##0_ ;_ * "-"??_ ;_ @_ </c:formatCode>
                <c:ptCount val="6"/>
                <c:pt idx="0">
                  <c:v>1777.547028</c:v>
                </c:pt>
                <c:pt idx="1">
                  <c:v>344.265043</c:v>
                </c:pt>
                <c:pt idx="2">
                  <c:v>1599.05356</c:v>
                </c:pt>
                <c:pt idx="3">
                  <c:v>5292.047337</c:v>
                </c:pt>
                <c:pt idx="4">
                  <c:v>6627.696216</c:v>
                </c:pt>
                <c:pt idx="5">
                  <c:v>5364.38642</c:v>
                </c:pt>
              </c:numCache>
            </c:numRef>
          </c:val>
        </c:ser>
        <c:dLbls>
          <c:showLegendKey val="0"/>
          <c:showVal val="0"/>
          <c:showCatName val="0"/>
          <c:showSerName val="0"/>
          <c:showPercent val="0"/>
          <c:showBubbleSize val="0"/>
        </c:dLbls>
        <c:gapWidth val="150"/>
        <c:axId val="1995955408"/>
        <c:axId val="-2093754112"/>
      </c:barChart>
      <c:lineChart>
        <c:grouping val="stacked"/>
        <c:varyColors val="0"/>
        <c:ser>
          <c:idx val="1"/>
          <c:order val="1"/>
          <c:tx>
            <c:strRef>
              <c:f>Sheet1!$C$1</c:f>
              <c:strCache>
                <c:ptCount val="1"/>
                <c:pt idx="0">
                  <c:v>列1</c:v>
                </c:pt>
              </c:strCache>
            </c:strRef>
          </c:tx>
          <c:spPr>
            <a:ln w="28575" cap="rnd" cmpd="sng" algn="ctr">
              <a:gradFill>
                <a:gsLst>
                  <a:gs pos="0">
                    <a:srgbClr val="FFF200"/>
                  </a:gs>
                  <a:gs pos="45000">
                    <a:srgbClr val="FF7A00"/>
                  </a:gs>
                  <a:gs pos="70000">
                    <a:srgbClr val="FF0300"/>
                  </a:gs>
                  <a:gs pos="100000">
                    <a:srgbClr val="4D0808"/>
                  </a:gs>
                </a:gsLst>
                <a:lin ang="5400000" scaled="0"/>
              </a:gradFill>
              <a:prstDash val="solid"/>
              <a:round/>
            </a:ln>
          </c:spPr>
          <c:marker>
            <c:symbol val="none"/>
          </c:marker>
          <c:cat>
            <c:strRef>
              <c:f>Sheet1!$A$2:$A$7</c:f>
              <c:strCache>
                <c:ptCount val="6"/>
                <c:pt idx="0">
                  <c:v>2012年</c:v>
                </c:pt>
                <c:pt idx="1">
                  <c:v>2013年</c:v>
                </c:pt>
                <c:pt idx="2">
                  <c:v>2014年</c:v>
                </c:pt>
                <c:pt idx="3">
                  <c:v>2015年</c:v>
                </c:pt>
                <c:pt idx="4">
                  <c:v>2016年</c:v>
                </c:pt>
                <c:pt idx="5">
                  <c:v>2017年</c:v>
                </c:pt>
              </c:strCache>
            </c:strRef>
          </c:cat>
          <c:val>
            <c:numRef>
              <c:f>Sheet1!$C$2:$C$7</c:f>
              <c:numCache>
                <c:formatCode>0%</c:formatCode>
                <c:ptCount val="6"/>
                <c:pt idx="0">
                  <c:v>0.08</c:v>
                </c:pt>
                <c:pt idx="1">
                  <c:v>0.0163896746036186</c:v>
                </c:pt>
                <c:pt idx="2">
                  <c:v>0.0761272980078839</c:v>
                </c:pt>
                <c:pt idx="3">
                  <c:v>0.25194232061597</c:v>
                </c:pt>
                <c:pt idx="4">
                  <c:v>0.31552952168854</c:v>
                </c:pt>
                <c:pt idx="5">
                  <c:v>0.255386219599039</c:v>
                </c:pt>
              </c:numCache>
            </c:numRef>
          </c:val>
          <c:smooth val="0"/>
        </c:ser>
        <c:dLbls>
          <c:showLegendKey val="0"/>
          <c:showVal val="0"/>
          <c:showCatName val="0"/>
          <c:showSerName val="0"/>
          <c:showPercent val="0"/>
          <c:showBubbleSize val="0"/>
        </c:dLbls>
        <c:marker val="1"/>
        <c:smooth val="0"/>
        <c:axId val="-2093588688"/>
        <c:axId val="1996386240"/>
      </c:lineChart>
      <c:catAx>
        <c:axId val="1995955408"/>
        <c:scaling>
          <c:orientation val="minMax"/>
        </c:scaling>
        <c:delete val="0"/>
        <c:axPos val="b"/>
        <c:numFmt formatCode="General" sourceLinked="0"/>
        <c:majorTickMark val="none"/>
        <c:minorTickMark val="none"/>
        <c:tickLblPos val="nextTo"/>
        <c:txPr>
          <a:bodyPr rot="-60000000" spcFirstLastPara="0" vertOverflow="ellipsis" vert="horz" wrap="square" anchor="ctr" anchorCtr="1"/>
          <a:lstStyle/>
          <a:p>
            <a:pPr>
              <a:defRPr lang="zh-CN" sz="1800" b="0" i="0" u="none" strike="noStrike" kern="1200" baseline="0">
                <a:solidFill>
                  <a:schemeClr val="tx1"/>
                </a:solidFill>
                <a:latin typeface="Arial" panose="020B0604020202020204" pitchFamily="34" charset="0"/>
                <a:ea typeface="微软雅黑" panose="020B0503020204020204" pitchFamily="34" charset="-122"/>
                <a:cs typeface="+mn-cs"/>
                <a:sym typeface="Arial" panose="020B0604020202020204" pitchFamily="34" charset="0"/>
              </a:defRPr>
            </a:pPr>
            <a:endParaRPr lang="zh-CN"/>
          </a:p>
        </c:txPr>
        <c:crossAx val="-2093754112"/>
        <c:crosses val="autoZero"/>
        <c:auto val="1"/>
        <c:lblAlgn val="ctr"/>
        <c:lblOffset val="100"/>
        <c:noMultiLvlLbl val="0"/>
      </c:catAx>
      <c:valAx>
        <c:axId val="-2093754112"/>
        <c:scaling>
          <c:orientation val="minMax"/>
        </c:scaling>
        <c:delete val="0"/>
        <c:axPos val="l"/>
        <c:majorGridlines/>
        <c:numFmt formatCode="_ * #,##0_ ;_ * \-#,##0_ ;_ * &quot;-&quot;??_ ;_ @_ " sourceLinked="1"/>
        <c:majorTickMark val="none"/>
        <c:minorTickMark val="none"/>
        <c:tickLblPos val="nextTo"/>
        <c:txPr>
          <a:bodyPr rot="-60000000" spcFirstLastPara="0" vertOverflow="ellipsis" vert="horz" wrap="square" anchor="ctr" anchorCtr="1"/>
          <a:lstStyle/>
          <a:p>
            <a:pPr>
              <a:defRPr lang="zh-CN" sz="1800" b="0" i="0" u="none" strike="noStrike" kern="1200" baseline="0">
                <a:solidFill>
                  <a:schemeClr val="tx1"/>
                </a:solidFill>
                <a:latin typeface="Arial" panose="020B0604020202020204" pitchFamily="34" charset="0"/>
                <a:ea typeface="微软雅黑" panose="020B0503020204020204" pitchFamily="34" charset="-122"/>
                <a:cs typeface="+mn-cs"/>
                <a:sym typeface="Arial" panose="020B0604020202020204" pitchFamily="34" charset="0"/>
              </a:defRPr>
            </a:pPr>
            <a:endParaRPr lang="zh-CN"/>
          </a:p>
        </c:txPr>
        <c:crossAx val="1995955408"/>
        <c:crosses val="autoZero"/>
        <c:crossBetween val="between"/>
      </c:valAx>
      <c:catAx>
        <c:axId val="-2093588688"/>
        <c:scaling>
          <c:orientation val="minMax"/>
        </c:scaling>
        <c:delete val="1"/>
        <c:axPos val="b"/>
        <c:numFmt formatCode="General" sourceLinked="1"/>
        <c:majorTickMark val="out"/>
        <c:minorTickMark val="none"/>
        <c:tickLblPos val="none"/>
        <c:crossAx val="1996386240"/>
        <c:crosses val="autoZero"/>
        <c:auto val="1"/>
        <c:lblAlgn val="ctr"/>
        <c:lblOffset val="100"/>
        <c:noMultiLvlLbl val="0"/>
      </c:catAx>
      <c:valAx>
        <c:axId val="1996386240"/>
        <c:scaling>
          <c:orientation val="minMax"/>
        </c:scaling>
        <c:delete val="0"/>
        <c:axPos val="r"/>
        <c:numFmt formatCode="0%" sourceLinked="1"/>
        <c:majorTickMark val="out"/>
        <c:minorTickMark val="none"/>
        <c:tickLblPos val="nextTo"/>
        <c:txPr>
          <a:bodyPr rot="-60000000" spcFirstLastPara="0" vertOverflow="ellipsis" vert="horz" wrap="square" anchor="ctr" anchorCtr="1"/>
          <a:lstStyle/>
          <a:p>
            <a:pPr>
              <a:defRPr lang="zh-CN" sz="1800" b="0" i="0" u="none" strike="noStrike" kern="1200" baseline="0">
                <a:solidFill>
                  <a:schemeClr val="tx1"/>
                </a:solidFill>
                <a:latin typeface="Arial" panose="020B0604020202020204" pitchFamily="34" charset="0"/>
                <a:ea typeface="微软雅黑" panose="020B0503020204020204" pitchFamily="34" charset="-122"/>
                <a:cs typeface="+mn-cs"/>
                <a:sym typeface="Arial" panose="020B0604020202020204" pitchFamily="34" charset="0"/>
              </a:defRPr>
            </a:pPr>
            <a:endParaRPr lang="zh-CN"/>
          </a:p>
        </c:txPr>
        <c:crossAx val="-2093588688"/>
        <c:crosses val="max"/>
        <c:crossBetween val="between"/>
      </c:valAx>
      <c:spPr>
        <a:blipFill>
          <a:blip xmlns:r="http://schemas.openxmlformats.org/officeDocument/2006/relationships" r:embed="rId1"/>
          <a:tile tx="0" ty="0" sx="100000" sy="100000" flip="none" algn="tl"/>
        </a:blipFill>
      </c:spPr>
    </c:plotArea>
    <c:plotVisOnly val="1"/>
    <c:dispBlanksAs val="gap"/>
    <c:showDLblsOverMax val="0"/>
  </c:chart>
  <c:txPr>
    <a:bodyPr/>
    <a:lstStyle/>
    <a:p>
      <a:pPr>
        <a:defRPr lang="zh-CN" sz="1800">
          <a:latin typeface="Arial" panose="020B0604020202020204" pitchFamily="34" charset="0"/>
          <a:ea typeface="微软雅黑" panose="020B0503020204020204" pitchFamily="34" charset="-122"/>
          <a:sym typeface="Arial" panose="020B0604020202020204" pitchFamily="34" charset="0"/>
        </a:defRPr>
      </a:pPr>
      <a:endParaRPr lang="zh-CN"/>
    </a:p>
  </c:txPr>
  <c:externalData r:id="rId2">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dLbls>
          <c:showLegendKey val="0"/>
          <c:showVal val="0"/>
          <c:showCatName val="1"/>
          <c:showSerName val="0"/>
          <c:showPercent val="1"/>
          <c:showBubbleSize val="0"/>
          <c:showLeaderLines val="0"/>
        </c:dLbls>
        <c:firstSliceAng val="0"/>
      </c:pieChart>
    </c:plotArea>
    <c:plotVisOnly val="1"/>
    <c:dispBlanksAs val="gap"/>
    <c:showDLblsOverMax val="0"/>
  </c:chart>
  <c:txPr>
    <a:bodyPr/>
    <a:lstStyle/>
    <a:p>
      <a:pPr>
        <a:defRPr lang="zh-CN" sz="1800">
          <a:latin typeface="Arial" panose="020B0604020202020204" pitchFamily="34" charset="0"/>
          <a:ea typeface="微软雅黑" panose="020B0503020204020204" pitchFamily="34" charset="-122"/>
          <a:sym typeface="Arial" panose="020B0604020202020204" pitchFamily="34" charset="0"/>
        </a:defRPr>
      </a:pPr>
      <a:endParaRPr lang="zh-CN"/>
    </a:p>
  </c:tx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zh-CN" sz="1200" b="1" i="0" u="none" strike="noStrike" kern="1200" baseline="0">
                <a:solidFill>
                  <a:schemeClr val="tx1"/>
                </a:solidFill>
                <a:latin typeface="Arial" panose="020B0604020202020204" pitchFamily="34" charset="0"/>
                <a:ea typeface="微软雅黑" panose="020B0503020204020204" pitchFamily="34" charset="-122"/>
                <a:cs typeface="+mn-cs"/>
                <a:sym typeface="Arial" panose="020B0604020202020204" pitchFamily="34" charset="0"/>
              </a:defRPr>
            </a:pPr>
            <a:r>
              <a:rPr lang="en-US"/>
              <a:t>2014-2017</a:t>
            </a:r>
            <a:r>
              <a:rPr lang="zh-CN"/>
              <a:t>年上期间费用对比图</a:t>
            </a:r>
          </a:p>
        </c:rich>
      </c:tx>
      <c:overlay val="0"/>
    </c:title>
    <c:autoTitleDeleted val="0"/>
    <c:plotArea>
      <c:layout/>
      <c:barChart>
        <c:barDir val="col"/>
        <c:grouping val="clustered"/>
        <c:varyColors val="0"/>
        <c:ser>
          <c:idx val="0"/>
          <c:order val="0"/>
          <c:tx>
            <c:strRef>
              <c:f>Sheet1!$B$1</c:f>
              <c:strCache>
                <c:ptCount val="1"/>
                <c:pt idx="0">
                  <c:v>销售费用</c:v>
                </c:pt>
              </c:strCache>
            </c:strRef>
          </c:tx>
          <c:invertIfNegative val="0"/>
          <c:cat>
            <c:strRef>
              <c:f>Sheet1!$A$2:$A$5</c:f>
              <c:strCache>
                <c:ptCount val="4"/>
                <c:pt idx="0">
                  <c:v>2014</c:v>
                </c:pt>
                <c:pt idx="1">
                  <c:v>2015</c:v>
                </c:pt>
                <c:pt idx="2">
                  <c:v>2016</c:v>
                </c:pt>
                <c:pt idx="3">
                  <c:v>2017上</c:v>
                </c:pt>
              </c:strCache>
            </c:strRef>
          </c:cat>
          <c:val>
            <c:numRef>
              <c:f>Sheet1!$B$2:$B$5</c:f>
              <c:numCache>
                <c:formatCode>General</c:formatCode>
                <c:ptCount val="4"/>
                <c:pt idx="0">
                  <c:v>112.0</c:v>
                </c:pt>
                <c:pt idx="1">
                  <c:v>134.0</c:v>
                </c:pt>
                <c:pt idx="2">
                  <c:v>200.0</c:v>
                </c:pt>
                <c:pt idx="3">
                  <c:v>117.0</c:v>
                </c:pt>
              </c:numCache>
            </c:numRef>
          </c:val>
        </c:ser>
        <c:ser>
          <c:idx val="1"/>
          <c:order val="1"/>
          <c:tx>
            <c:strRef>
              <c:f>Sheet1!$C$1</c:f>
              <c:strCache>
                <c:ptCount val="1"/>
                <c:pt idx="0">
                  <c:v>管理费有</c:v>
                </c:pt>
              </c:strCache>
            </c:strRef>
          </c:tx>
          <c:spPr>
            <a:solidFill>
              <a:srgbClr val="FFC000"/>
            </a:solidFill>
          </c:spPr>
          <c:invertIfNegative val="0"/>
          <c:cat>
            <c:strRef>
              <c:f>Sheet1!$A$2:$A$5</c:f>
              <c:strCache>
                <c:ptCount val="4"/>
                <c:pt idx="0">
                  <c:v>2014</c:v>
                </c:pt>
                <c:pt idx="1">
                  <c:v>2015</c:v>
                </c:pt>
                <c:pt idx="2">
                  <c:v>2016</c:v>
                </c:pt>
                <c:pt idx="3">
                  <c:v>2017上</c:v>
                </c:pt>
              </c:strCache>
            </c:strRef>
          </c:cat>
          <c:val>
            <c:numRef>
              <c:f>Sheet1!$C$2:$C$5</c:f>
              <c:numCache>
                <c:formatCode>General</c:formatCode>
                <c:ptCount val="4"/>
                <c:pt idx="0">
                  <c:v>920.0</c:v>
                </c:pt>
                <c:pt idx="1">
                  <c:v>1150.0</c:v>
                </c:pt>
                <c:pt idx="2">
                  <c:v>1622.0</c:v>
                </c:pt>
                <c:pt idx="3">
                  <c:v>834.0</c:v>
                </c:pt>
              </c:numCache>
            </c:numRef>
          </c:val>
        </c:ser>
        <c:ser>
          <c:idx val="2"/>
          <c:order val="2"/>
          <c:tx>
            <c:strRef>
              <c:f>Sheet1!$D$1</c:f>
              <c:strCache>
                <c:ptCount val="1"/>
                <c:pt idx="0">
                  <c:v>财务费用</c:v>
                </c:pt>
              </c:strCache>
            </c:strRef>
          </c:tx>
          <c:invertIfNegative val="0"/>
          <c:cat>
            <c:strRef>
              <c:f>Sheet1!$A$2:$A$5</c:f>
              <c:strCache>
                <c:ptCount val="4"/>
                <c:pt idx="0">
                  <c:v>2014</c:v>
                </c:pt>
                <c:pt idx="1">
                  <c:v>2015</c:v>
                </c:pt>
                <c:pt idx="2">
                  <c:v>2016</c:v>
                </c:pt>
                <c:pt idx="3">
                  <c:v>2017上</c:v>
                </c:pt>
              </c:strCache>
            </c:strRef>
          </c:cat>
          <c:val>
            <c:numRef>
              <c:f>Sheet1!$D$2:$D$5</c:f>
              <c:numCache>
                <c:formatCode>General</c:formatCode>
                <c:ptCount val="4"/>
                <c:pt idx="0">
                  <c:v>14.0</c:v>
                </c:pt>
                <c:pt idx="1">
                  <c:v>19.0</c:v>
                </c:pt>
                <c:pt idx="2">
                  <c:v>-74.0</c:v>
                </c:pt>
                <c:pt idx="3">
                  <c:v>147.0</c:v>
                </c:pt>
              </c:numCache>
            </c:numRef>
          </c:val>
        </c:ser>
        <c:dLbls>
          <c:showLegendKey val="0"/>
          <c:showVal val="0"/>
          <c:showCatName val="0"/>
          <c:showSerName val="0"/>
          <c:showPercent val="0"/>
          <c:showBubbleSize val="0"/>
        </c:dLbls>
        <c:gapWidth val="75"/>
        <c:overlap val="-25"/>
        <c:axId val="-2096050784"/>
        <c:axId val="-2096049424"/>
      </c:barChart>
      <c:catAx>
        <c:axId val="-2096050784"/>
        <c:scaling>
          <c:orientation val="minMax"/>
        </c:scaling>
        <c:delete val="0"/>
        <c:axPos val="b"/>
        <c:numFmt formatCode="General" sourceLinked="0"/>
        <c:majorTickMark val="none"/>
        <c:minorTickMark val="none"/>
        <c:tickLblPos val="nextTo"/>
        <c:txPr>
          <a:bodyPr rot="-60000000" spcFirstLastPara="0" vertOverflow="ellipsis" vert="horz" wrap="square" anchor="ctr" anchorCtr="1"/>
          <a:lstStyle/>
          <a:p>
            <a:pPr>
              <a:defRPr lang="zh-CN" sz="1000" b="0" i="0" u="none" strike="noStrike" kern="1200" baseline="0">
                <a:solidFill>
                  <a:schemeClr val="tx1"/>
                </a:solidFill>
                <a:latin typeface="Arial" panose="020B0604020202020204" pitchFamily="34" charset="0"/>
                <a:ea typeface="微软雅黑" panose="020B0503020204020204" pitchFamily="34" charset="-122"/>
                <a:cs typeface="+mn-cs"/>
                <a:sym typeface="Arial" panose="020B0604020202020204" pitchFamily="34" charset="0"/>
              </a:defRPr>
            </a:pPr>
            <a:endParaRPr lang="zh-CN"/>
          </a:p>
        </c:txPr>
        <c:crossAx val="-2096049424"/>
        <c:crosses val="autoZero"/>
        <c:auto val="1"/>
        <c:lblAlgn val="ctr"/>
        <c:lblOffset val="100"/>
        <c:noMultiLvlLbl val="0"/>
      </c:catAx>
      <c:valAx>
        <c:axId val="-2096049424"/>
        <c:scaling>
          <c:orientation val="minMax"/>
        </c:scaling>
        <c:delete val="0"/>
        <c:axPos val="l"/>
        <c:majorGridlines/>
        <c:numFmt formatCode="General" sourceLinked="1"/>
        <c:majorTickMark val="none"/>
        <c:minorTickMark val="none"/>
        <c:tickLblPos val="nextTo"/>
        <c:spPr>
          <a:ln w="9525" cap="flat" cmpd="sng" algn="ctr">
            <a:noFill/>
            <a:prstDash val="solid"/>
            <a:round/>
          </a:ln>
        </c:spPr>
        <c:txPr>
          <a:bodyPr rot="-60000000" spcFirstLastPara="0" vertOverflow="ellipsis" vert="horz" wrap="square" anchor="ctr" anchorCtr="1"/>
          <a:lstStyle/>
          <a:p>
            <a:pPr>
              <a:defRPr lang="zh-CN" sz="1000" b="0" i="0" u="none" strike="noStrike" kern="1200" baseline="0">
                <a:solidFill>
                  <a:schemeClr val="tx1"/>
                </a:solidFill>
                <a:latin typeface="Arial" panose="020B0604020202020204" pitchFamily="34" charset="0"/>
                <a:ea typeface="微软雅黑" panose="020B0503020204020204" pitchFamily="34" charset="-122"/>
                <a:cs typeface="+mn-cs"/>
                <a:sym typeface="Arial" panose="020B0604020202020204" pitchFamily="34" charset="0"/>
              </a:defRPr>
            </a:pPr>
            <a:endParaRPr lang="zh-CN"/>
          </a:p>
        </c:txPr>
        <c:crossAx val="-2096050784"/>
        <c:crosses val="autoZero"/>
        <c:crossBetween val="between"/>
      </c:valAx>
    </c:plotArea>
    <c:legend>
      <c:legendPos val="b"/>
      <c:overlay val="0"/>
      <c:txPr>
        <a:bodyPr rot="0" spcFirstLastPara="0" vertOverflow="ellipsis" vert="horz" wrap="square" anchor="ctr" anchorCtr="1"/>
        <a:lstStyle/>
        <a:p>
          <a:pPr>
            <a:defRPr lang="zh-CN" sz="1000" b="0" i="0" u="none" strike="noStrike" kern="1200" baseline="0">
              <a:solidFill>
                <a:schemeClr val="tx1"/>
              </a:solidFill>
              <a:latin typeface="Arial" panose="020B0604020202020204" pitchFamily="34" charset="0"/>
              <a:ea typeface="微软雅黑" panose="020B0503020204020204" pitchFamily="34" charset="-122"/>
              <a:cs typeface="+mn-cs"/>
              <a:sym typeface="Arial" panose="020B0604020202020204" pitchFamily="34" charset="0"/>
            </a:defRPr>
          </a:pPr>
          <a:endParaRPr lang="zh-CN"/>
        </a:p>
      </c:txPr>
    </c:legend>
    <c:plotVisOnly val="1"/>
    <c:dispBlanksAs val="gap"/>
    <c:showDLblsOverMax val="0"/>
  </c:chart>
  <c:txPr>
    <a:bodyPr/>
    <a:lstStyle/>
    <a:p>
      <a:pPr>
        <a:defRPr lang="zh-CN" sz="1000" baseline="0">
          <a:latin typeface="Arial" panose="020B0604020202020204" pitchFamily="34" charset="0"/>
          <a:ea typeface="微软雅黑" panose="020B0503020204020204" pitchFamily="34" charset="-122"/>
          <a:sym typeface="Arial" panose="020B0604020202020204" pitchFamily="34" charset="0"/>
        </a:defRPr>
      </a:pPr>
      <a:endParaRPr lang="zh-CN"/>
    </a:p>
  </c:tx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dLbls>
          <c:showLegendKey val="0"/>
          <c:showVal val="0"/>
          <c:showCatName val="1"/>
          <c:showSerName val="0"/>
          <c:showPercent val="1"/>
          <c:showBubbleSize val="0"/>
          <c:showLeaderLines val="0"/>
        </c:dLbls>
        <c:firstSliceAng val="0"/>
      </c:pieChart>
    </c:plotArea>
    <c:plotVisOnly val="1"/>
    <c:dispBlanksAs val="gap"/>
    <c:showDLblsOverMax val="0"/>
  </c:chart>
  <c:txPr>
    <a:bodyPr/>
    <a:lstStyle/>
    <a:p>
      <a:pPr>
        <a:defRPr lang="zh-CN" sz="1800">
          <a:latin typeface="Arial" panose="020B0604020202020204" pitchFamily="34" charset="0"/>
          <a:ea typeface="微软雅黑" panose="020B0503020204020204" pitchFamily="34" charset="-122"/>
          <a:sym typeface="Arial" panose="020B0604020202020204" pitchFamily="34" charset="0"/>
        </a:defRPr>
      </a:pPr>
      <a:endParaRPr lang="zh-CN"/>
    </a:p>
  </c:txPr>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dLbls>
          <c:showLegendKey val="0"/>
          <c:showVal val="0"/>
          <c:showCatName val="1"/>
          <c:showSerName val="0"/>
          <c:showPercent val="1"/>
          <c:showBubbleSize val="0"/>
          <c:showLeaderLines val="0"/>
        </c:dLbls>
        <c:firstSliceAng val="0"/>
      </c:pieChart>
    </c:plotArea>
    <c:plotVisOnly val="1"/>
    <c:dispBlanksAs val="gap"/>
    <c:showDLblsOverMax val="0"/>
  </c:chart>
  <c:txPr>
    <a:bodyPr/>
    <a:lstStyle/>
    <a:p>
      <a:pPr>
        <a:defRPr lang="zh-CN" sz="1800">
          <a:latin typeface="Arial" panose="020B0604020202020204" pitchFamily="34" charset="0"/>
          <a:ea typeface="微软雅黑" panose="020B0503020204020204" pitchFamily="34" charset="-122"/>
          <a:sym typeface="Arial" panose="020B0604020202020204" pitchFamily="34" charset="0"/>
        </a:defRPr>
      </a:pPr>
      <a:endParaRPr lang="zh-CN"/>
    </a:p>
  </c:tx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dLbls>
          <c:showLegendKey val="0"/>
          <c:showVal val="0"/>
          <c:showCatName val="1"/>
          <c:showSerName val="0"/>
          <c:showPercent val="1"/>
          <c:showBubbleSize val="0"/>
          <c:showLeaderLines val="0"/>
        </c:dLbls>
        <c:firstSliceAng val="0"/>
      </c:pieChart>
    </c:plotArea>
    <c:plotVisOnly val="1"/>
    <c:dispBlanksAs val="gap"/>
    <c:showDLblsOverMax val="0"/>
  </c:chart>
  <c:txPr>
    <a:bodyPr/>
    <a:lstStyle/>
    <a:p>
      <a:pPr>
        <a:defRPr lang="zh-CN" sz="1800">
          <a:latin typeface="Arial" panose="020B0604020202020204" pitchFamily="34" charset="0"/>
          <a:ea typeface="微软雅黑" panose="020B0503020204020204" pitchFamily="34" charset="-122"/>
          <a:sym typeface="Arial" panose="020B0604020202020204" pitchFamily="34" charset="0"/>
        </a:defRPr>
      </a:pPr>
      <a:endParaRPr lang="zh-CN"/>
    </a:p>
  </c:txPr>
  <c:externalData r:id="rId1">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dLbls>
          <c:showLegendKey val="0"/>
          <c:showVal val="0"/>
          <c:showCatName val="1"/>
          <c:showSerName val="0"/>
          <c:showPercent val="1"/>
          <c:showBubbleSize val="0"/>
          <c:showLeaderLines val="0"/>
        </c:dLbls>
        <c:firstSliceAng val="0"/>
      </c:pieChart>
    </c:plotArea>
    <c:plotVisOnly val="1"/>
    <c:dispBlanksAs val="gap"/>
    <c:showDLblsOverMax val="0"/>
  </c:chart>
  <c:txPr>
    <a:bodyPr/>
    <a:lstStyle/>
    <a:p>
      <a:pPr>
        <a:defRPr lang="zh-CN" sz="1800">
          <a:latin typeface="Arial" panose="020B0604020202020204" pitchFamily="34" charset="0"/>
          <a:ea typeface="微软雅黑" panose="020B0503020204020204" pitchFamily="34" charset="-122"/>
          <a:sym typeface="Arial" panose="020B0604020202020204" pitchFamily="34" charset="0"/>
        </a:defRPr>
      </a:pPr>
      <a:endParaRPr lang="zh-CN"/>
    </a:p>
  </c:txPr>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dLbls>
          <c:showLegendKey val="0"/>
          <c:showVal val="0"/>
          <c:showCatName val="1"/>
          <c:showSerName val="0"/>
          <c:showPercent val="1"/>
          <c:showBubbleSize val="0"/>
          <c:showLeaderLines val="0"/>
        </c:dLbls>
        <c:firstSliceAng val="0"/>
      </c:pieChart>
    </c:plotArea>
    <c:plotVisOnly val="1"/>
    <c:dispBlanksAs val="gap"/>
    <c:showDLblsOverMax val="0"/>
  </c:chart>
  <c:txPr>
    <a:bodyPr/>
    <a:lstStyle/>
    <a:p>
      <a:pPr>
        <a:defRPr lang="zh-CN" sz="1800">
          <a:latin typeface="Arial" panose="020B0604020202020204" pitchFamily="34" charset="0"/>
          <a:ea typeface="微软雅黑" panose="020B0503020204020204" pitchFamily="34" charset="-122"/>
          <a:sym typeface="Arial" panose="020B0604020202020204" pitchFamily="34" charset="0"/>
        </a:defRPr>
      </a:pPr>
      <a:endParaRPr lang="zh-CN"/>
    </a:p>
  </c:txPr>
  <c:externalData r:id="rId1">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dLbls>
          <c:showLegendKey val="0"/>
          <c:showVal val="0"/>
          <c:showCatName val="1"/>
          <c:showSerName val="0"/>
          <c:showPercent val="1"/>
          <c:showBubbleSize val="0"/>
          <c:showLeaderLines val="0"/>
        </c:dLbls>
        <c:firstSliceAng val="0"/>
      </c:pieChart>
    </c:plotArea>
    <c:plotVisOnly val="1"/>
    <c:dispBlanksAs val="gap"/>
    <c:showDLblsOverMax val="0"/>
  </c:chart>
  <c:txPr>
    <a:bodyPr/>
    <a:lstStyle/>
    <a:p>
      <a:pPr>
        <a:defRPr lang="zh-CN" sz="1800">
          <a:latin typeface="Arial" panose="020B0604020202020204" pitchFamily="34" charset="0"/>
          <a:ea typeface="微软雅黑" panose="020B0503020204020204" pitchFamily="34" charset="-122"/>
          <a:sym typeface="Arial" panose="020B0604020202020204" pitchFamily="34" charset="0"/>
        </a:defRPr>
      </a:pPr>
      <a:endParaRPr lang="zh-CN"/>
    </a:p>
  </c:txPr>
  <c:externalData r:id="rId1">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dLbls>
          <c:showLegendKey val="0"/>
          <c:showVal val="0"/>
          <c:showCatName val="1"/>
          <c:showSerName val="0"/>
          <c:showPercent val="1"/>
          <c:showBubbleSize val="0"/>
          <c:showLeaderLines val="0"/>
        </c:dLbls>
        <c:firstSliceAng val="0"/>
      </c:pieChart>
    </c:plotArea>
    <c:plotVisOnly val="1"/>
    <c:dispBlanksAs val="gap"/>
    <c:showDLblsOverMax val="0"/>
  </c:chart>
  <c:txPr>
    <a:bodyPr/>
    <a:lstStyle/>
    <a:p>
      <a:pPr>
        <a:defRPr lang="zh-CN" sz="1800">
          <a:latin typeface="Arial" panose="020B0604020202020204" pitchFamily="34" charset="0"/>
          <a:ea typeface="微软雅黑" panose="020B0503020204020204" pitchFamily="34" charset="-122"/>
          <a:sym typeface="Arial" panose="020B0604020202020204" pitchFamily="34" charset="0"/>
        </a:defRPr>
      </a:pPr>
      <a:endParaRPr lang="zh-CN"/>
    </a:p>
  </c:txPr>
  <c:externalData r:id="rId1">
    <c:autoUpdate val="0"/>
  </c:externalData>
</c:chartSpace>
</file>

<file path=ppt/drawings/drawing1.xml><?xml version="1.0" encoding="utf-8"?>
<c:userShapes xmlns:c="http://schemas.openxmlformats.org/drawingml/2006/chart">
  <cdr:relSizeAnchor xmlns:cdr="http://schemas.openxmlformats.org/drawingml/2006/chartDrawing">
    <cdr:from>
      <cdr:x>0.47222</cdr:x>
      <cdr:y>0.29032</cdr:y>
    </cdr:from>
    <cdr:to>
      <cdr:x>0.77778</cdr:x>
      <cdr:y>0.51613</cdr:y>
    </cdr:to>
    <cdr:sp macro="" textlink="">
      <cdr:nvSpPr>
        <cdr:cNvPr id="2" name="矩形 1"/>
        <cdr:cNvSpPr/>
      </cdr:nvSpPr>
      <cdr:spPr>
        <a:xfrm xmlns:a="http://schemas.openxmlformats.org/drawingml/2006/main">
          <a:off x="1224136" y="648072"/>
          <a:ext cx="792088" cy="504056"/>
        </a:xfrm>
        <a:prstGeom xmlns:a="http://schemas.openxmlformats.org/drawingml/2006/main" prst="rect">
          <a:avLst/>
        </a:prstGeom>
      </cdr:spPr>
      <cdr:txBody>
        <a:bodyPr xmlns:a="http://schemas.openxmlformats.org/drawingml/2006/main" vertOverflow="clip" vert="horz" wrap="square" lIns="45720" tIns="45720" rIns="45720" bIns="45720" rtlCol="0" anchor="t" anchorCtr="0">
          <a:normAutofit/>
        </a:bodyPr>
        <a:lstStyle xmlns:a="http://schemas.openxmlformats.org/drawingml/2006/main"/>
        <a:p xmlns:a="http://schemas.openxmlformats.org/drawingml/2006/main">
          <a:r>
            <a:rPr lang="zh-CN" altLang="en-US" sz="1100" dirty="0"/>
            <a:t>货币资金</a:t>
          </a:r>
          <a:endParaRPr lang="en-US" altLang="zh-CN" sz="1100" dirty="0"/>
        </a:p>
      </cdr:txBody>
    </cdr:sp>
  </cdr:relSizeAnchor>
  <cdr:relSizeAnchor xmlns:cdr="http://schemas.openxmlformats.org/drawingml/2006/chartDrawing">
    <cdr:from>
      <cdr:x>0.5</cdr:x>
      <cdr:y>0.6129</cdr:y>
    </cdr:from>
    <cdr:to>
      <cdr:x>0.80556</cdr:x>
      <cdr:y>0.83871</cdr:y>
    </cdr:to>
    <cdr:sp macro="" textlink="">
      <cdr:nvSpPr>
        <cdr:cNvPr id="3" name="矩形 2"/>
        <cdr:cNvSpPr/>
      </cdr:nvSpPr>
      <cdr:spPr>
        <a:xfrm xmlns:a="http://schemas.openxmlformats.org/drawingml/2006/main">
          <a:off x="1296144" y="1368152"/>
          <a:ext cx="792088" cy="504056"/>
        </a:xfrm>
        <a:prstGeom xmlns:a="http://schemas.openxmlformats.org/drawingml/2006/main" prst="rect">
          <a:avLst/>
        </a:prstGeom>
      </cdr:spPr>
      <cdr:txBody>
        <a:bodyPr xmlns:a="http://schemas.openxmlformats.org/drawingml/2006/main" vertOverflow="clip" vert="horz" wrap="square" lIns="45720" tIns="45720" rIns="45720" bIns="45720" rtlCol="0" anchor="t" anchorCtr="0">
          <a:normAutofit/>
        </a:bodyPr>
        <a:lstStyle xmlns:a="http://schemas.openxmlformats.org/drawingml/2006/main"/>
        <a:p xmlns:a="http://schemas.openxmlformats.org/drawingml/2006/main">
          <a:r>
            <a:rPr lang="zh-CN" altLang="en-US" sz="1100" dirty="0"/>
            <a:t>应收账款</a:t>
          </a:r>
          <a:endParaRPr lang="en-US" altLang="zh-CN" sz="1100" dirty="0"/>
        </a:p>
      </cdr:txBody>
    </cdr:sp>
  </cdr:relSizeAnchor>
  <cdr:relSizeAnchor xmlns:cdr="http://schemas.openxmlformats.org/drawingml/2006/chartDrawing">
    <cdr:from>
      <cdr:x>0.22222</cdr:x>
      <cdr:y>0.48387</cdr:y>
    </cdr:from>
    <cdr:to>
      <cdr:x>0.41667</cdr:x>
      <cdr:y>0.67742</cdr:y>
    </cdr:to>
    <cdr:sp macro="" textlink="">
      <cdr:nvSpPr>
        <cdr:cNvPr id="4" name="矩形 3"/>
        <cdr:cNvSpPr/>
      </cdr:nvSpPr>
      <cdr:spPr>
        <a:xfrm xmlns:a="http://schemas.openxmlformats.org/drawingml/2006/main">
          <a:off x="576064" y="1080120"/>
          <a:ext cx="504056" cy="432048"/>
        </a:xfrm>
        <a:prstGeom xmlns:a="http://schemas.openxmlformats.org/drawingml/2006/main" prst="rect">
          <a:avLst/>
        </a:prstGeom>
      </cdr:spPr>
      <cdr:txBody>
        <a:bodyPr xmlns:a="http://schemas.openxmlformats.org/drawingml/2006/main" vertOverflow="clip" vert="horz" wrap="square" lIns="45720" tIns="45720" rIns="45720" bIns="45720" rtlCol="0" anchor="t" anchorCtr="0">
          <a:normAutofit/>
        </a:bodyPr>
        <a:lstStyle xmlns:a="http://schemas.openxmlformats.org/drawingml/2006/main"/>
        <a:p xmlns:a="http://schemas.openxmlformats.org/drawingml/2006/main">
          <a:r>
            <a:rPr lang="zh-CN" altLang="en-US" sz="1100" dirty="0"/>
            <a:t>存货</a:t>
          </a:r>
          <a:endParaRPr lang="en-US" altLang="zh-CN" sz="1100" dirty="0"/>
        </a:p>
      </cdr:txBody>
    </cdr:sp>
  </cdr:relSizeAnchor>
  <cdr:relSizeAnchor xmlns:cdr="http://schemas.openxmlformats.org/drawingml/2006/chartDrawing">
    <cdr:from>
      <cdr:x>0.30556</cdr:x>
      <cdr:y>0.67742</cdr:y>
    </cdr:from>
    <cdr:to>
      <cdr:x>0.5</cdr:x>
      <cdr:y>0.90323</cdr:y>
    </cdr:to>
    <cdr:sp macro="" textlink="">
      <cdr:nvSpPr>
        <cdr:cNvPr id="5" name="矩形 4"/>
        <cdr:cNvSpPr/>
      </cdr:nvSpPr>
      <cdr:spPr>
        <a:xfrm xmlns:a="http://schemas.openxmlformats.org/drawingml/2006/main">
          <a:off x="792088" y="1512168"/>
          <a:ext cx="504056" cy="504056"/>
        </a:xfrm>
        <a:prstGeom xmlns:a="http://schemas.openxmlformats.org/drawingml/2006/main" prst="rect">
          <a:avLst/>
        </a:prstGeom>
      </cdr:spPr>
      <cdr:txBody>
        <a:bodyPr xmlns:a="http://schemas.openxmlformats.org/drawingml/2006/main" vertOverflow="clip" vert="horz" wrap="square" lIns="45720" tIns="45720" rIns="45720" bIns="45720" rtlCol="0" anchor="t" anchorCtr="0">
          <a:normAutofit/>
        </a:bodyPr>
        <a:lstStyle xmlns:a="http://schemas.openxmlformats.org/drawingml/2006/main"/>
        <a:p xmlns:a="http://schemas.openxmlformats.org/drawingml/2006/main">
          <a:r>
            <a:rPr lang="zh-CN" altLang="en-US" sz="1100" dirty="0"/>
            <a:t>预付</a:t>
          </a:r>
          <a:endParaRPr lang="en-US" altLang="zh-CN" sz="1100" dirty="0"/>
        </a:p>
      </cdr:txBody>
    </cdr:sp>
  </cdr:relSizeAnchor>
  <cdr:relSizeAnchor xmlns:cdr="http://schemas.openxmlformats.org/drawingml/2006/chartDrawing">
    <cdr:from>
      <cdr:x>0.30556</cdr:x>
      <cdr:y>0.29032</cdr:y>
    </cdr:from>
    <cdr:to>
      <cdr:x>0.5</cdr:x>
      <cdr:y>0.51613</cdr:y>
    </cdr:to>
    <cdr:sp macro="" textlink="">
      <cdr:nvSpPr>
        <cdr:cNvPr id="6" name="矩形 5"/>
        <cdr:cNvSpPr/>
      </cdr:nvSpPr>
      <cdr:spPr>
        <a:xfrm xmlns:a="http://schemas.openxmlformats.org/drawingml/2006/main">
          <a:off x="792088" y="648072"/>
          <a:ext cx="504056" cy="504056"/>
        </a:xfrm>
        <a:prstGeom xmlns:a="http://schemas.openxmlformats.org/drawingml/2006/main" prst="rect">
          <a:avLst/>
        </a:prstGeom>
      </cdr:spPr>
      <cdr:txBody>
        <a:bodyPr xmlns:a="http://schemas.openxmlformats.org/drawingml/2006/main" vertOverflow="clip" vert="horz" wrap="square" lIns="45720" tIns="45720" rIns="45720" bIns="45720" rtlCol="0" anchor="t" anchorCtr="0">
          <a:normAutofit/>
        </a:bodyPr>
        <a:lstStyle xmlns:a="http://schemas.openxmlformats.org/drawingml/2006/main"/>
        <a:p xmlns:a="http://schemas.openxmlformats.org/drawingml/2006/main">
          <a:r>
            <a:rPr lang="zh-CN" altLang="en-US" sz="1100" dirty="0"/>
            <a:t>其它</a:t>
          </a:r>
          <a:endParaRPr lang="en-US" altLang="zh-CN" sz="1100" dirty="0"/>
        </a:p>
      </cdr:txBody>
    </cdr:sp>
  </cdr:relSizeAnchor>
</c:userShapes>
</file>

<file path=ppt/drawings/drawing2.xml><?xml version="1.0" encoding="utf-8"?>
<c:userShapes xmlns:c="http://schemas.openxmlformats.org/drawingml/2006/chart">
  <cdr:relSizeAnchor xmlns:cdr="http://schemas.openxmlformats.org/drawingml/2006/chartDrawing">
    <cdr:from>
      <cdr:x>0.23631</cdr:x>
      <cdr:y>0.54839</cdr:y>
    </cdr:from>
    <cdr:to>
      <cdr:x>0.51408</cdr:x>
      <cdr:y>0.74194</cdr:y>
    </cdr:to>
    <cdr:sp macro="" textlink="">
      <cdr:nvSpPr>
        <cdr:cNvPr id="2" name="矩形 1"/>
        <cdr:cNvSpPr/>
      </cdr:nvSpPr>
      <cdr:spPr>
        <a:xfrm xmlns:a="http://schemas.openxmlformats.org/drawingml/2006/main">
          <a:off x="612576" y="1224136"/>
          <a:ext cx="720080" cy="432048"/>
        </a:xfrm>
        <a:prstGeom xmlns:a="http://schemas.openxmlformats.org/drawingml/2006/main" prst="rect">
          <a:avLst/>
        </a:prstGeom>
      </cdr:spPr>
      <cdr:txBody>
        <a:bodyPr xmlns:a="http://schemas.openxmlformats.org/drawingml/2006/main" vertOverflow="clip" vert="horz" wrap="square" lIns="45720" tIns="45720" rIns="45720" bIns="45720" rtlCol="0" anchor="t" anchorCtr="0">
          <a:normAutofit/>
        </a:bodyPr>
        <a:lstStyle xmlns:a="http://schemas.openxmlformats.org/drawingml/2006/main"/>
        <a:p xmlns:a="http://schemas.openxmlformats.org/drawingml/2006/main">
          <a:r>
            <a:rPr lang="zh-CN" altLang="en-US" sz="1100" dirty="0"/>
            <a:t>未分配利润</a:t>
          </a:r>
          <a:r>
            <a:rPr lang="en-US" altLang="zh-CN" sz="1100" dirty="0"/>
            <a:t>%</a:t>
          </a:r>
          <a:endParaRPr lang="zh-CN" altLang="en-US" sz="1100" dirty="0"/>
        </a:p>
      </cdr:txBody>
    </cdr:sp>
  </cdr:relSizeAnchor>
  <cdr:relSizeAnchor xmlns:cdr="http://schemas.openxmlformats.org/drawingml/2006/chartDrawing">
    <cdr:from>
      <cdr:x>0.48631</cdr:x>
      <cdr:y>0.35484</cdr:y>
    </cdr:from>
    <cdr:to>
      <cdr:x>0.81964</cdr:x>
      <cdr:y>0.58065</cdr:y>
    </cdr:to>
    <cdr:sp macro="" textlink="">
      <cdr:nvSpPr>
        <cdr:cNvPr id="3" name="矩形 2"/>
        <cdr:cNvSpPr/>
      </cdr:nvSpPr>
      <cdr:spPr>
        <a:xfrm xmlns:a="http://schemas.openxmlformats.org/drawingml/2006/main">
          <a:off x="1260648" y="792088"/>
          <a:ext cx="864096" cy="504056"/>
        </a:xfrm>
        <a:prstGeom xmlns:a="http://schemas.openxmlformats.org/drawingml/2006/main" prst="rect">
          <a:avLst/>
        </a:prstGeom>
      </cdr:spPr>
      <cdr:txBody>
        <a:bodyPr xmlns:a="http://schemas.openxmlformats.org/drawingml/2006/main" vertOverflow="clip" vert="horz" wrap="square" lIns="45720" tIns="45720" rIns="45720" bIns="45720" rtlCol="0" anchor="t" anchorCtr="0">
          <a:normAutofit/>
        </a:bodyPr>
        <a:lstStyle xmlns:a="http://schemas.openxmlformats.org/drawingml/2006/main"/>
        <a:p xmlns:a="http://schemas.openxmlformats.org/drawingml/2006/main">
          <a:r>
            <a:rPr lang="zh-CN" altLang="en-US" sz="1100" dirty="0"/>
            <a:t>实收资本</a:t>
          </a:r>
          <a:endParaRPr lang="en-US" altLang="zh-CN" sz="1100" dirty="0"/>
        </a:p>
        <a:p xmlns:a="http://schemas.openxmlformats.org/drawingml/2006/main">
          <a:r>
            <a:rPr lang="en-US" altLang="zh-CN" dirty="0"/>
            <a:t>%</a:t>
          </a:r>
          <a:endParaRPr lang="zh-CN" altLang="en-US" sz="1100" dirty="0"/>
        </a:p>
      </cdr:txBody>
    </cdr:sp>
  </cdr:relSizeAnchor>
  <cdr:relSizeAnchor xmlns:cdr="http://schemas.openxmlformats.org/drawingml/2006/chartDrawing">
    <cdr:from>
      <cdr:x>0.54186</cdr:x>
      <cdr:y>0.70968</cdr:y>
    </cdr:from>
    <cdr:to>
      <cdr:x>0.84742</cdr:x>
      <cdr:y>0.96774</cdr:y>
    </cdr:to>
    <cdr:sp macro="" textlink="">
      <cdr:nvSpPr>
        <cdr:cNvPr id="4" name="矩形 3"/>
        <cdr:cNvSpPr/>
      </cdr:nvSpPr>
      <cdr:spPr>
        <a:xfrm xmlns:a="http://schemas.openxmlformats.org/drawingml/2006/main">
          <a:off x="1404664" y="1584176"/>
          <a:ext cx="792088" cy="576064"/>
        </a:xfrm>
        <a:prstGeom xmlns:a="http://schemas.openxmlformats.org/drawingml/2006/main" prst="rect">
          <a:avLst/>
        </a:prstGeom>
      </cdr:spPr>
      <cdr:txBody>
        <a:bodyPr xmlns:a="http://schemas.openxmlformats.org/drawingml/2006/main" vertOverflow="clip" vert="horz" wrap="square" lIns="45720" tIns="45720" rIns="45720" bIns="45720" rtlCol="0" anchor="t" anchorCtr="0">
          <a:normAutofit/>
        </a:bodyPr>
        <a:lstStyle xmlns:a="http://schemas.openxmlformats.org/drawingml/2006/main"/>
        <a:p xmlns:a="http://schemas.openxmlformats.org/drawingml/2006/main">
          <a:r>
            <a:rPr lang="zh-CN" altLang="en-US" sz="1100" dirty="0"/>
            <a:t>盈余公积</a:t>
          </a:r>
          <a:endParaRPr lang="en-US" altLang="zh-CN" sz="1100" dirty="0"/>
        </a:p>
        <a:p xmlns:a="http://schemas.openxmlformats.org/drawingml/2006/main">
          <a:r>
            <a:rPr lang="en-US" altLang="zh-CN" sz="1100" dirty="0"/>
            <a:t>%</a:t>
          </a:r>
          <a:endParaRPr lang="zh-CN" altLang="en-US" sz="1100" dirty="0"/>
        </a:p>
      </cdr:txBody>
    </cdr:sp>
  </cdr:relSizeAnchor>
  <cdr:relSizeAnchor xmlns:cdr="http://schemas.openxmlformats.org/drawingml/2006/chartDrawing">
    <cdr:from>
      <cdr:x>0.6252</cdr:x>
      <cdr:y>0.6129</cdr:y>
    </cdr:from>
    <cdr:to>
      <cdr:x>1</cdr:x>
      <cdr:y>0.77419</cdr:y>
    </cdr:to>
    <cdr:sp macro="" textlink="">
      <cdr:nvSpPr>
        <cdr:cNvPr id="5" name="矩形 4"/>
        <cdr:cNvSpPr/>
      </cdr:nvSpPr>
      <cdr:spPr>
        <a:xfrm xmlns:a="http://schemas.openxmlformats.org/drawingml/2006/main">
          <a:off x="1620688" y="1368152"/>
          <a:ext cx="971600" cy="360040"/>
        </a:xfrm>
        <a:prstGeom xmlns:a="http://schemas.openxmlformats.org/drawingml/2006/main" prst="rect">
          <a:avLst/>
        </a:prstGeom>
      </cdr:spPr>
      <cdr:txBody>
        <a:bodyPr xmlns:a="http://schemas.openxmlformats.org/drawingml/2006/main" vertOverflow="clip" vert="horz" wrap="square" lIns="45720" tIns="45720" rIns="45720" bIns="45720" rtlCol="0" anchor="t" anchorCtr="0">
          <a:normAutofit/>
        </a:bodyPr>
        <a:lstStyle xmlns:a="http://schemas.openxmlformats.org/drawingml/2006/main"/>
        <a:p xmlns:a="http://schemas.openxmlformats.org/drawingml/2006/main">
          <a:r>
            <a:rPr lang="zh-CN" altLang="en-US" sz="1100" dirty="0"/>
            <a:t>资本公积</a:t>
          </a:r>
          <a:r>
            <a:rPr lang="en-US" altLang="zh-CN" sz="1100" dirty="0"/>
            <a:t>%</a:t>
          </a:r>
          <a:endParaRPr lang="zh-CN" altLang="en-US" sz="1100" dirty="0"/>
        </a:p>
      </cdr:txBody>
    </cdr:sp>
  </cdr:relSizeAnchor>
</c:userShapes>
</file>

<file path=ppt/drawings/drawing3.xml><?xml version="1.0" encoding="utf-8"?>
<c:userShapes xmlns:c="http://schemas.openxmlformats.org/drawingml/2006/chart">
  <cdr:relSizeAnchor xmlns:cdr="http://schemas.openxmlformats.org/drawingml/2006/chartDrawing">
    <cdr:from>
      <cdr:x>0.27778</cdr:x>
      <cdr:y>0.70968</cdr:y>
    </cdr:from>
    <cdr:to>
      <cdr:x>0.63889</cdr:x>
      <cdr:y>0.96774</cdr:y>
    </cdr:to>
    <cdr:sp macro="" textlink="">
      <cdr:nvSpPr>
        <cdr:cNvPr id="2" name="矩形 1"/>
        <cdr:cNvSpPr/>
      </cdr:nvSpPr>
      <cdr:spPr>
        <a:xfrm xmlns:a="http://schemas.openxmlformats.org/drawingml/2006/main">
          <a:off x="720080" y="1584176"/>
          <a:ext cx="936104" cy="576064"/>
        </a:xfrm>
        <a:prstGeom xmlns:a="http://schemas.openxmlformats.org/drawingml/2006/main" prst="rect">
          <a:avLst/>
        </a:prstGeom>
      </cdr:spPr>
      <cdr:txBody>
        <a:bodyPr xmlns:a="http://schemas.openxmlformats.org/drawingml/2006/main" vertOverflow="clip" vert="horz" wrap="square" lIns="45720" tIns="45720" rIns="45720" bIns="45720" rtlCol="0" anchor="t" anchorCtr="0">
          <a:normAutofit/>
        </a:bodyPr>
        <a:lstStyle xmlns:a="http://schemas.openxmlformats.org/drawingml/2006/main"/>
        <a:p xmlns:a="http://schemas.openxmlformats.org/drawingml/2006/main">
          <a:r>
            <a:rPr lang="zh-CN" altLang="en-US" sz="1100" dirty="0"/>
            <a:t>应付账款</a:t>
          </a:r>
          <a:endParaRPr lang="en-US" altLang="zh-CN" sz="1100" dirty="0"/>
        </a:p>
        <a:p xmlns:a="http://schemas.openxmlformats.org/drawingml/2006/main">
          <a:r>
            <a:rPr lang="en-US" altLang="zh-CN"/>
            <a:t>     58%</a:t>
          </a:r>
          <a:endParaRPr lang="zh-CN" altLang="en-US" sz="1100" dirty="0"/>
        </a:p>
      </cdr:txBody>
    </cdr:sp>
  </cdr:relSizeAnchor>
  <cdr:relSizeAnchor xmlns:cdr="http://schemas.openxmlformats.org/drawingml/2006/chartDrawing">
    <cdr:from>
      <cdr:x>0.5</cdr:x>
      <cdr:y>0.3871</cdr:y>
    </cdr:from>
    <cdr:to>
      <cdr:x>0.83333</cdr:x>
      <cdr:y>0.67742</cdr:y>
    </cdr:to>
    <cdr:sp macro="" textlink="">
      <cdr:nvSpPr>
        <cdr:cNvPr id="3" name="矩形 2"/>
        <cdr:cNvSpPr/>
      </cdr:nvSpPr>
      <cdr:spPr>
        <a:xfrm xmlns:a="http://schemas.openxmlformats.org/drawingml/2006/main">
          <a:off x="1296144" y="864096"/>
          <a:ext cx="864096" cy="648072"/>
        </a:xfrm>
        <a:prstGeom xmlns:a="http://schemas.openxmlformats.org/drawingml/2006/main" prst="rect">
          <a:avLst/>
        </a:prstGeom>
      </cdr:spPr>
      <cdr:txBody>
        <a:bodyPr xmlns:a="http://schemas.openxmlformats.org/drawingml/2006/main" vertOverflow="clip" vert="horz" wrap="square" lIns="45720" tIns="45720" rIns="45720" bIns="45720" rtlCol="0" anchor="t" anchorCtr="0">
          <a:normAutofit/>
        </a:bodyPr>
        <a:lstStyle xmlns:a="http://schemas.openxmlformats.org/drawingml/2006/main"/>
        <a:p xmlns:a="http://schemas.openxmlformats.org/drawingml/2006/main">
          <a:r>
            <a:rPr lang="zh-CN" altLang="en-US" sz="1100" dirty="0"/>
            <a:t>短期借款</a:t>
          </a:r>
          <a:endParaRPr lang="en-US" altLang="zh-CN" sz="1100" dirty="0"/>
        </a:p>
        <a:p xmlns:a="http://schemas.openxmlformats.org/drawingml/2006/main">
          <a:r>
            <a:rPr lang="en-US" altLang="zh-CN" dirty="0"/>
            <a:t>%</a:t>
          </a:r>
          <a:endParaRPr lang="zh-CN" altLang="en-US" sz="1100" dirty="0"/>
        </a:p>
      </cdr:txBody>
    </cdr:sp>
  </cdr:relSizeAnchor>
  <cdr:relSizeAnchor xmlns:cdr="http://schemas.openxmlformats.org/drawingml/2006/chartDrawing">
    <cdr:from>
      <cdr:x>0.41667</cdr:x>
      <cdr:y>0.25806</cdr:y>
    </cdr:from>
    <cdr:to>
      <cdr:x>0.63889</cdr:x>
      <cdr:y>0.45161</cdr:y>
    </cdr:to>
    <cdr:sp macro="" textlink="">
      <cdr:nvSpPr>
        <cdr:cNvPr id="4" name="矩形 3"/>
        <cdr:cNvSpPr/>
      </cdr:nvSpPr>
      <cdr:spPr>
        <a:xfrm xmlns:a="http://schemas.openxmlformats.org/drawingml/2006/main">
          <a:off x="1080120" y="576064"/>
          <a:ext cx="576064" cy="432048"/>
        </a:xfrm>
        <a:prstGeom xmlns:a="http://schemas.openxmlformats.org/drawingml/2006/main" prst="rect">
          <a:avLst/>
        </a:prstGeom>
      </cdr:spPr>
      <cdr:txBody>
        <a:bodyPr xmlns:a="http://schemas.openxmlformats.org/drawingml/2006/main" vertOverflow="clip" vert="horz" wrap="square" lIns="45720" tIns="45720" rIns="45720" bIns="45720" rtlCol="0" anchor="t" anchorCtr="0">
          <a:normAutofit/>
        </a:bodyPr>
        <a:lstStyle xmlns:a="http://schemas.openxmlformats.org/drawingml/2006/main"/>
        <a:p xmlns:a="http://schemas.openxmlformats.org/drawingml/2006/main">
          <a:r>
            <a:rPr lang="zh-CN" altLang="en-US" sz="1100" dirty="0"/>
            <a:t>其它</a:t>
          </a:r>
          <a:endParaRPr lang="en-US" altLang="zh-CN" sz="1100" dirty="0"/>
        </a:p>
        <a:p xmlns:a="http://schemas.openxmlformats.org/drawingml/2006/main">
          <a:r>
            <a:rPr lang="en-US" altLang="zh-CN" dirty="0"/>
            <a:t>%</a:t>
          </a:r>
          <a:endParaRPr lang="zh-CN" altLang="en-US" sz="1100" dirty="0"/>
        </a:p>
      </cdr:txBody>
    </cdr:sp>
  </cdr:relSizeAnchor>
  <cdr:relSizeAnchor xmlns:cdr="http://schemas.openxmlformats.org/drawingml/2006/chartDrawing">
    <cdr:from>
      <cdr:x>0.27778</cdr:x>
      <cdr:y>0.25806</cdr:y>
    </cdr:from>
    <cdr:to>
      <cdr:x>0.47222</cdr:x>
      <cdr:y>0.54839</cdr:y>
    </cdr:to>
    <cdr:sp macro="" textlink="">
      <cdr:nvSpPr>
        <cdr:cNvPr id="5" name="矩形 4"/>
        <cdr:cNvSpPr/>
      </cdr:nvSpPr>
      <cdr:spPr>
        <a:xfrm xmlns:a="http://schemas.openxmlformats.org/drawingml/2006/main">
          <a:off x="720080" y="576064"/>
          <a:ext cx="504056" cy="648072"/>
        </a:xfrm>
        <a:prstGeom xmlns:a="http://schemas.openxmlformats.org/drawingml/2006/main" prst="rect">
          <a:avLst/>
        </a:prstGeom>
      </cdr:spPr>
      <cdr:txBody>
        <a:bodyPr xmlns:a="http://schemas.openxmlformats.org/drawingml/2006/main" vertOverflow="clip" vert="horz" wrap="square" lIns="45720" tIns="45720" rIns="45720" bIns="45720" rtlCol="0" anchor="t" anchorCtr="0">
          <a:normAutofit/>
        </a:bodyPr>
        <a:lstStyle xmlns:a="http://schemas.openxmlformats.org/drawingml/2006/main"/>
        <a:p xmlns:a="http://schemas.openxmlformats.org/drawingml/2006/main">
          <a:r>
            <a:rPr lang="zh-CN" altLang="en-US" sz="1100" dirty="0"/>
            <a:t>应交税费</a:t>
          </a:r>
          <a:endParaRPr lang="en-US" altLang="zh-CN" sz="1100" dirty="0"/>
        </a:p>
        <a:p xmlns:a="http://schemas.openxmlformats.org/drawingml/2006/main">
          <a:r>
            <a:rPr lang="en-US" altLang="zh-CN" dirty="0"/>
            <a:t>%</a:t>
          </a:r>
          <a:endParaRPr lang="zh-CN" altLang="en-US" sz="1100" dirty="0"/>
        </a:p>
      </cdr:txBody>
    </cdr:sp>
  </cdr:relSizeAnchor>
</c:userShapes>
</file>

<file path=ppt/drawings/drawing4.xml><?xml version="1.0" encoding="utf-8"?>
<c:userShapes xmlns:c="http://schemas.openxmlformats.org/drawingml/2006/chart">
  <cdr:relSizeAnchor xmlns:cdr="http://schemas.openxmlformats.org/drawingml/2006/chartDrawing">
    <cdr:from>
      <cdr:x>0.34742</cdr:x>
      <cdr:y>0.67742</cdr:y>
    </cdr:from>
    <cdr:to>
      <cdr:x>0.65297</cdr:x>
      <cdr:y>0.83871</cdr:y>
    </cdr:to>
    <cdr:sp macro="" textlink="">
      <cdr:nvSpPr>
        <cdr:cNvPr id="2" name="矩形 1"/>
        <cdr:cNvSpPr/>
      </cdr:nvSpPr>
      <cdr:spPr>
        <a:xfrm xmlns:a="http://schemas.openxmlformats.org/drawingml/2006/main">
          <a:off x="900608" y="1512168"/>
          <a:ext cx="792088" cy="360040"/>
        </a:xfrm>
        <a:prstGeom xmlns:a="http://schemas.openxmlformats.org/drawingml/2006/main" prst="rect">
          <a:avLst/>
        </a:prstGeom>
      </cdr:spPr>
      <cdr:txBody>
        <a:bodyPr xmlns:a="http://schemas.openxmlformats.org/drawingml/2006/main" vertOverflow="clip" vert="horz" wrap="square" lIns="45720" tIns="45720" rIns="45720" bIns="45720" rtlCol="0" anchor="t" anchorCtr="0">
          <a:normAutofit/>
        </a:bodyPr>
        <a:lstStyle xmlns:a="http://schemas.openxmlformats.org/drawingml/2006/main"/>
        <a:p xmlns:a="http://schemas.openxmlformats.org/drawingml/2006/main">
          <a:r>
            <a:rPr lang="zh-CN" altLang="en-US" sz="1100" dirty="0"/>
            <a:t>固定资产</a:t>
          </a:r>
          <a:endParaRPr lang="en-US" altLang="zh-CN" sz="1100" dirty="0"/>
        </a:p>
        <a:p xmlns:a="http://schemas.openxmlformats.org/drawingml/2006/main">
          <a:r>
            <a:rPr lang="en-US" altLang="zh-CN" dirty="0"/>
            <a:t>      77%</a:t>
          </a:r>
          <a:endParaRPr lang="zh-CN" altLang="en-US" sz="1100" dirty="0"/>
        </a:p>
      </cdr:txBody>
    </cdr:sp>
  </cdr:relSizeAnchor>
  <cdr:relSizeAnchor xmlns:cdr="http://schemas.openxmlformats.org/drawingml/2006/chartDrawing">
    <cdr:from>
      <cdr:x>0.29186</cdr:x>
      <cdr:y>0.3871</cdr:y>
    </cdr:from>
    <cdr:to>
      <cdr:x>0.51408</cdr:x>
      <cdr:y>0.67742</cdr:y>
    </cdr:to>
    <cdr:sp macro="" textlink="">
      <cdr:nvSpPr>
        <cdr:cNvPr id="3" name="矩形 2"/>
        <cdr:cNvSpPr/>
      </cdr:nvSpPr>
      <cdr:spPr>
        <a:xfrm xmlns:a="http://schemas.openxmlformats.org/drawingml/2006/main">
          <a:off x="756592" y="864096"/>
          <a:ext cx="576064" cy="648072"/>
        </a:xfrm>
        <a:prstGeom xmlns:a="http://schemas.openxmlformats.org/drawingml/2006/main" prst="rect">
          <a:avLst/>
        </a:prstGeom>
      </cdr:spPr>
      <cdr:txBody>
        <a:bodyPr xmlns:a="http://schemas.openxmlformats.org/drawingml/2006/main" vertOverflow="clip" vert="horz" wrap="square" lIns="45720" tIns="45720" rIns="45720" bIns="45720" rtlCol="0" anchor="t" anchorCtr="0">
          <a:normAutofit/>
        </a:bodyPr>
        <a:lstStyle xmlns:a="http://schemas.openxmlformats.org/drawingml/2006/main"/>
        <a:p xmlns:a="http://schemas.openxmlformats.org/drawingml/2006/main">
          <a:r>
            <a:rPr lang="zh-CN" altLang="en-US" sz="1100" dirty="0"/>
            <a:t>在建工程</a:t>
          </a:r>
          <a:endParaRPr lang="en-US" altLang="zh-CN" sz="1100" dirty="0"/>
        </a:p>
        <a:p xmlns:a="http://schemas.openxmlformats.org/drawingml/2006/main">
          <a:r>
            <a:rPr lang="en-US" altLang="zh-CN" dirty="0"/>
            <a:t>%</a:t>
          </a:r>
          <a:endParaRPr lang="zh-CN" altLang="en-US" sz="1100" dirty="0"/>
        </a:p>
      </cdr:txBody>
    </cdr:sp>
  </cdr:relSizeAnchor>
  <cdr:relSizeAnchor xmlns:cdr="http://schemas.openxmlformats.org/drawingml/2006/chartDrawing">
    <cdr:from>
      <cdr:x>0.48631</cdr:x>
      <cdr:y>0.3871</cdr:y>
    </cdr:from>
    <cdr:to>
      <cdr:x>0.73631</cdr:x>
      <cdr:y>0.64516</cdr:y>
    </cdr:to>
    <cdr:sp macro="" textlink="">
      <cdr:nvSpPr>
        <cdr:cNvPr id="4" name="矩形 3"/>
        <cdr:cNvSpPr/>
      </cdr:nvSpPr>
      <cdr:spPr>
        <a:xfrm xmlns:a="http://schemas.openxmlformats.org/drawingml/2006/main">
          <a:off x="1260648" y="864096"/>
          <a:ext cx="648072" cy="576064"/>
        </a:xfrm>
        <a:prstGeom xmlns:a="http://schemas.openxmlformats.org/drawingml/2006/main" prst="rect">
          <a:avLst/>
        </a:prstGeom>
      </cdr:spPr>
      <cdr:txBody>
        <a:bodyPr xmlns:a="http://schemas.openxmlformats.org/drawingml/2006/main" vertOverflow="clip" vert="horz" wrap="square" lIns="45720" tIns="45720" rIns="45720" bIns="45720" rtlCol="0" anchor="t" anchorCtr="0">
          <a:normAutofit/>
        </a:bodyPr>
        <a:lstStyle xmlns:a="http://schemas.openxmlformats.org/drawingml/2006/main"/>
        <a:p xmlns:a="http://schemas.openxmlformats.org/drawingml/2006/main">
          <a:r>
            <a:rPr lang="zh-CN" altLang="en-US" dirty="0"/>
            <a:t>金融资产</a:t>
          </a:r>
          <a:r>
            <a:rPr lang="en-US" altLang="zh-CN" dirty="0"/>
            <a:t>%</a:t>
          </a:r>
          <a:endParaRPr lang="zh-CN" altLang="en-US" sz="1100" dirty="0"/>
        </a:p>
      </cdr:txBody>
    </cdr:sp>
  </cdr:relSizeAnchor>
  <cdr:relSizeAnchor xmlns:cdr="http://schemas.openxmlformats.org/drawingml/2006/chartDrawing">
    <cdr:from>
      <cdr:x>0.3752</cdr:x>
      <cdr:y>0.16129</cdr:y>
    </cdr:from>
    <cdr:to>
      <cdr:x>0.56964</cdr:x>
      <cdr:y>0.45161</cdr:y>
    </cdr:to>
    <cdr:sp macro="" textlink="">
      <cdr:nvSpPr>
        <cdr:cNvPr id="5" name="矩形 4"/>
        <cdr:cNvSpPr/>
      </cdr:nvSpPr>
      <cdr:spPr>
        <a:xfrm xmlns:a="http://schemas.openxmlformats.org/drawingml/2006/main">
          <a:off x="972616" y="360040"/>
          <a:ext cx="504056" cy="648072"/>
        </a:xfrm>
        <a:prstGeom xmlns:a="http://schemas.openxmlformats.org/drawingml/2006/main" prst="rect">
          <a:avLst/>
        </a:prstGeom>
      </cdr:spPr>
      <cdr:txBody>
        <a:bodyPr xmlns:a="http://schemas.openxmlformats.org/drawingml/2006/main" vertOverflow="clip" vert="horz" wrap="square" lIns="45720" tIns="45720" rIns="45720" bIns="45720" rtlCol="0" anchor="t" anchorCtr="0">
          <a:normAutofit/>
        </a:bodyPr>
        <a:lstStyle xmlns:a="http://schemas.openxmlformats.org/drawingml/2006/main"/>
        <a:p xmlns:a="http://schemas.openxmlformats.org/drawingml/2006/main">
          <a:r>
            <a:rPr lang="zh-CN" altLang="en-US" sz="1100" dirty="0"/>
            <a:t>无形资产</a:t>
          </a:r>
          <a:r>
            <a:rPr lang="en-US" altLang="zh-CN" sz="1100" dirty="0"/>
            <a:t>%</a:t>
          </a:r>
          <a:endParaRPr lang="zh-CN" altLang="en-US" sz="1100" dirty="0"/>
        </a:p>
      </cdr:txBody>
    </cdr:sp>
  </cdr:relSizeAnchor>
</c:userShapes>
</file>

<file path=ppt/drawings/drawing5.xml><?xml version="1.0" encoding="utf-8"?>
<c:userShapes xmlns:c="http://schemas.openxmlformats.org/drawingml/2006/chart">
  <cdr:relSizeAnchor xmlns:cdr="http://schemas.openxmlformats.org/drawingml/2006/chartDrawing">
    <cdr:from>
      <cdr:x>0.30712</cdr:x>
      <cdr:y>0.59375</cdr:y>
    </cdr:from>
    <cdr:to>
      <cdr:x>0.49612</cdr:x>
      <cdr:y>0.78125</cdr:y>
    </cdr:to>
    <cdr:sp macro="" textlink="">
      <cdr:nvSpPr>
        <cdr:cNvPr id="2" name="矩形 1"/>
        <cdr:cNvSpPr/>
      </cdr:nvSpPr>
      <cdr:spPr>
        <a:xfrm xmlns:a="http://schemas.openxmlformats.org/drawingml/2006/main">
          <a:off x="936104" y="1368152"/>
          <a:ext cx="576064" cy="432048"/>
        </a:xfrm>
        <a:prstGeom xmlns:a="http://schemas.openxmlformats.org/drawingml/2006/main" prst="rect">
          <a:avLst/>
        </a:prstGeom>
      </cdr:spPr>
      <cdr:txBody>
        <a:bodyPr xmlns:a="http://schemas.openxmlformats.org/drawingml/2006/main" vertOverflow="clip" vert="horz" wrap="square" lIns="45720" tIns="45720" rIns="45720" bIns="45720" rtlCol="0" anchor="t" anchorCtr="0">
          <a:normAutofit/>
        </a:bodyPr>
        <a:lstStyle xmlns:a="http://schemas.openxmlformats.org/drawingml/2006/main"/>
        <a:p xmlns:a="http://schemas.openxmlformats.org/drawingml/2006/main">
          <a:r>
            <a:rPr lang="zh-CN" altLang="en-US" dirty="0"/>
            <a:t>内销</a:t>
          </a:r>
          <a:endParaRPr lang="en-US" altLang="zh-CN" dirty="0"/>
        </a:p>
        <a:p xmlns:a="http://schemas.openxmlformats.org/drawingml/2006/main">
          <a:r>
            <a:rPr lang="en-US" altLang="zh-CN" sz="1100" dirty="0"/>
            <a:t>%</a:t>
          </a:r>
        </a:p>
        <a:p xmlns:a="http://schemas.openxmlformats.org/drawingml/2006/main">
          <a:endParaRPr lang="zh-CN" altLang="en-US" sz="1100" dirty="0"/>
        </a:p>
      </cdr:txBody>
    </cdr:sp>
  </cdr:relSizeAnchor>
  <cdr:relSizeAnchor xmlns:cdr="http://schemas.openxmlformats.org/drawingml/2006/chartDrawing">
    <cdr:from>
      <cdr:x>0.56699</cdr:x>
      <cdr:y>0.46875</cdr:y>
    </cdr:from>
    <cdr:to>
      <cdr:x>0.77961</cdr:x>
      <cdr:y>0.65625</cdr:y>
    </cdr:to>
    <cdr:sp macro="" textlink="">
      <cdr:nvSpPr>
        <cdr:cNvPr id="3" name="矩形 2"/>
        <cdr:cNvSpPr/>
      </cdr:nvSpPr>
      <cdr:spPr>
        <a:xfrm xmlns:a="http://schemas.openxmlformats.org/drawingml/2006/main">
          <a:off x="1728192" y="1080120"/>
          <a:ext cx="648072" cy="432048"/>
        </a:xfrm>
        <a:prstGeom xmlns:a="http://schemas.openxmlformats.org/drawingml/2006/main" prst="rect">
          <a:avLst/>
        </a:prstGeom>
      </cdr:spPr>
      <cdr:txBody>
        <a:bodyPr xmlns:a="http://schemas.openxmlformats.org/drawingml/2006/main" vertOverflow="clip" vert="horz" wrap="square" lIns="45720" tIns="45720" rIns="45720" bIns="45720" rtlCol="0" anchor="t" anchorCtr="0">
          <a:normAutofit/>
        </a:bodyPr>
        <a:lstStyle xmlns:a="http://schemas.openxmlformats.org/drawingml/2006/main"/>
        <a:p xmlns:a="http://schemas.openxmlformats.org/drawingml/2006/main">
          <a:r>
            <a:rPr lang="zh-CN" altLang="en-US" sz="1100" dirty="0"/>
            <a:t>工程</a:t>
          </a:r>
          <a:endParaRPr lang="en-US" altLang="zh-CN" sz="1100" dirty="0"/>
        </a:p>
        <a:p xmlns:a="http://schemas.openxmlformats.org/drawingml/2006/main">
          <a:r>
            <a:rPr lang="en-US" altLang="zh-CN" dirty="0"/>
            <a:t>%</a:t>
          </a:r>
          <a:endParaRPr lang="zh-CN" altLang="en-US" sz="1100" dirty="0"/>
        </a:p>
      </cdr:txBody>
    </cdr:sp>
  </cdr:relSizeAnchor>
  <cdr:relSizeAnchor xmlns:cdr="http://schemas.openxmlformats.org/drawingml/2006/chartDrawing">
    <cdr:from>
      <cdr:x>0.25987</cdr:x>
      <cdr:y>0.21875</cdr:y>
    </cdr:from>
    <cdr:to>
      <cdr:x>0.44887</cdr:x>
      <cdr:y>0.46875</cdr:y>
    </cdr:to>
    <cdr:sp macro="" textlink="">
      <cdr:nvSpPr>
        <cdr:cNvPr id="4" name="矩形 3"/>
        <cdr:cNvSpPr/>
      </cdr:nvSpPr>
      <cdr:spPr>
        <a:xfrm xmlns:a="http://schemas.openxmlformats.org/drawingml/2006/main">
          <a:off x="792088" y="504056"/>
          <a:ext cx="576064" cy="576064"/>
        </a:xfrm>
        <a:prstGeom xmlns:a="http://schemas.openxmlformats.org/drawingml/2006/main" prst="rect">
          <a:avLst/>
        </a:prstGeom>
      </cdr:spPr>
      <cdr:txBody>
        <a:bodyPr xmlns:a="http://schemas.openxmlformats.org/drawingml/2006/main" vertOverflow="clip" vert="horz" wrap="square" lIns="45720" tIns="45720" rIns="45720" bIns="45720" rtlCol="0" anchor="t" anchorCtr="0">
          <a:normAutofit/>
        </a:bodyPr>
        <a:lstStyle xmlns:a="http://schemas.openxmlformats.org/drawingml/2006/main"/>
        <a:p xmlns:a="http://schemas.openxmlformats.org/drawingml/2006/main">
          <a:r>
            <a:rPr lang="zh-CN" altLang="en-US" sz="1100" dirty="0"/>
            <a:t>外销</a:t>
          </a:r>
          <a:endParaRPr lang="en-US" altLang="zh-CN" sz="1100" dirty="0"/>
        </a:p>
        <a:p xmlns:a="http://schemas.openxmlformats.org/drawingml/2006/main">
          <a:r>
            <a:rPr lang="en-US" altLang="zh-CN" dirty="0"/>
            <a:t>%</a:t>
          </a:r>
          <a:endParaRPr lang="zh-CN" altLang="en-US" sz="1100" dirty="0"/>
        </a:p>
      </cdr:txBody>
    </cdr:sp>
  </cdr:relSizeAnchor>
  <cdr:relSizeAnchor xmlns:cdr="http://schemas.openxmlformats.org/drawingml/2006/chartDrawing">
    <cdr:from>
      <cdr:x>0.35437</cdr:x>
      <cdr:y>0.15625</cdr:y>
    </cdr:from>
    <cdr:to>
      <cdr:x>0.61424</cdr:x>
      <cdr:y>0.34375</cdr:y>
    </cdr:to>
    <cdr:sp macro="" textlink="">
      <cdr:nvSpPr>
        <cdr:cNvPr id="5" name="矩形 4"/>
        <cdr:cNvSpPr/>
      </cdr:nvSpPr>
      <cdr:spPr>
        <a:xfrm xmlns:a="http://schemas.openxmlformats.org/drawingml/2006/main">
          <a:off x="1080120" y="360040"/>
          <a:ext cx="792088" cy="432048"/>
        </a:xfrm>
        <a:prstGeom xmlns:a="http://schemas.openxmlformats.org/drawingml/2006/main" prst="rect">
          <a:avLst/>
        </a:prstGeom>
      </cdr:spPr>
      <cdr:txBody>
        <a:bodyPr xmlns:a="http://schemas.openxmlformats.org/drawingml/2006/main" vertOverflow="clip" vert="horz" wrap="square" lIns="45720" tIns="45720" rIns="45720" bIns="45720" rtlCol="0" anchor="t" anchorCtr="0">
          <a:normAutofit/>
        </a:bodyPr>
        <a:lstStyle xmlns:a="http://schemas.openxmlformats.org/drawingml/2006/main"/>
        <a:p xmlns:a="http://schemas.openxmlformats.org/drawingml/2006/main">
          <a:r>
            <a:rPr lang="zh-CN" altLang="en-US" sz="1100" dirty="0"/>
            <a:t>设计咨询</a:t>
          </a:r>
          <a:endParaRPr lang="en-US" altLang="zh-CN" sz="1100" dirty="0"/>
        </a:p>
        <a:p xmlns:a="http://schemas.openxmlformats.org/drawingml/2006/main">
          <a:r>
            <a:rPr lang="en-US" altLang="zh-CN" dirty="0"/>
            <a:t>   %</a:t>
          </a:r>
          <a:endParaRPr lang="zh-CN" altLang="en-US" sz="1100" dirty="0"/>
        </a:p>
      </cdr:txBody>
    </cdr:sp>
  </cdr:relSizeAnchor>
</c:userShapes>
</file>

<file path=ppt/drawings/drawing6.xml><?xml version="1.0" encoding="utf-8"?>
<c:userShapes xmlns:c="http://schemas.openxmlformats.org/drawingml/2006/chart">
  <cdr:relSizeAnchor xmlns:cdr="http://schemas.openxmlformats.org/drawingml/2006/chartDrawing">
    <cdr:from>
      <cdr:x>0.42524</cdr:x>
      <cdr:y>0.65625</cdr:y>
    </cdr:from>
    <cdr:to>
      <cdr:x>0.66149</cdr:x>
      <cdr:y>0.84375</cdr:y>
    </cdr:to>
    <cdr:sp macro="" textlink="">
      <cdr:nvSpPr>
        <cdr:cNvPr id="2" name="矩形 1"/>
        <cdr:cNvSpPr/>
      </cdr:nvSpPr>
      <cdr:spPr>
        <a:xfrm xmlns:a="http://schemas.openxmlformats.org/drawingml/2006/main">
          <a:off x="1296144" y="1512168"/>
          <a:ext cx="720080" cy="432048"/>
        </a:xfrm>
        <a:prstGeom xmlns:a="http://schemas.openxmlformats.org/drawingml/2006/main" prst="rect">
          <a:avLst/>
        </a:prstGeom>
      </cdr:spPr>
      <cdr:txBody>
        <a:bodyPr xmlns:a="http://schemas.openxmlformats.org/drawingml/2006/main" vertOverflow="clip" vert="horz" wrap="square" lIns="45720" tIns="45720" rIns="45720" bIns="45720" rtlCol="0" anchor="t" anchorCtr="0">
          <a:normAutofit/>
        </a:bodyPr>
        <a:lstStyle xmlns:a="http://schemas.openxmlformats.org/drawingml/2006/main"/>
        <a:p xmlns:a="http://schemas.openxmlformats.org/drawingml/2006/main">
          <a:r>
            <a:rPr lang="zh-CN" altLang="en-US" sz="1100" dirty="0"/>
            <a:t>内销</a:t>
          </a:r>
          <a:endParaRPr lang="en-US" altLang="zh-CN" sz="1100" dirty="0"/>
        </a:p>
        <a:p xmlns:a="http://schemas.openxmlformats.org/drawingml/2006/main">
          <a:r>
            <a:rPr lang="en-US" altLang="zh-CN" dirty="0"/>
            <a:t>%</a:t>
          </a:r>
          <a:endParaRPr lang="zh-CN" altLang="en-US" sz="1100" dirty="0"/>
        </a:p>
      </cdr:txBody>
    </cdr:sp>
  </cdr:relSizeAnchor>
  <cdr:relSizeAnchor xmlns:cdr="http://schemas.openxmlformats.org/drawingml/2006/chartDrawing">
    <cdr:from>
      <cdr:x>0.35437</cdr:x>
      <cdr:y>0.21875</cdr:y>
    </cdr:from>
    <cdr:to>
      <cdr:x>0.59061</cdr:x>
      <cdr:y>0.4375</cdr:y>
    </cdr:to>
    <cdr:sp macro="" textlink="">
      <cdr:nvSpPr>
        <cdr:cNvPr id="3" name="矩形 2"/>
        <cdr:cNvSpPr/>
      </cdr:nvSpPr>
      <cdr:spPr>
        <a:xfrm xmlns:a="http://schemas.openxmlformats.org/drawingml/2006/main">
          <a:off x="1080120" y="504056"/>
          <a:ext cx="720060" cy="504056"/>
        </a:xfrm>
        <a:prstGeom xmlns:a="http://schemas.openxmlformats.org/drawingml/2006/main" prst="rect">
          <a:avLst/>
        </a:prstGeom>
      </cdr:spPr>
      <cdr:txBody>
        <a:bodyPr xmlns:a="http://schemas.openxmlformats.org/drawingml/2006/main" vertOverflow="clip" vert="horz" wrap="square" lIns="45720" tIns="45720" rIns="45720" bIns="45720" rtlCol="0" anchor="t" anchorCtr="0">
          <a:normAutofit/>
        </a:bodyPr>
        <a:lstStyle xmlns:a="http://schemas.openxmlformats.org/drawingml/2006/main"/>
        <a:p xmlns:a="http://schemas.openxmlformats.org/drawingml/2006/main">
          <a:r>
            <a:rPr lang="zh-CN" altLang="en-US" sz="1100" dirty="0"/>
            <a:t>运营</a:t>
          </a:r>
          <a:endParaRPr lang="en-US" altLang="zh-CN" sz="1100" dirty="0"/>
        </a:p>
        <a:p xmlns:a="http://schemas.openxmlformats.org/drawingml/2006/main">
          <a:r>
            <a:rPr lang="en-US" altLang="zh-CN" dirty="0"/>
            <a:t>%</a:t>
          </a:r>
          <a:endParaRPr lang="zh-CN" altLang="en-US" sz="1100" dirty="0"/>
        </a:p>
      </cdr:txBody>
    </cdr:sp>
  </cdr:relSizeAnchor>
  <cdr:relSizeAnchor xmlns:cdr="http://schemas.openxmlformats.org/drawingml/2006/chartDrawing">
    <cdr:from>
      <cdr:x>0.44887</cdr:x>
      <cdr:y>0.1875</cdr:y>
    </cdr:from>
    <cdr:to>
      <cdr:x>0.63787</cdr:x>
      <cdr:y>0.40625</cdr:y>
    </cdr:to>
    <cdr:sp macro="" textlink="">
      <cdr:nvSpPr>
        <cdr:cNvPr id="4" name="矩形 3"/>
        <cdr:cNvSpPr/>
      </cdr:nvSpPr>
      <cdr:spPr>
        <a:xfrm xmlns:a="http://schemas.openxmlformats.org/drawingml/2006/main">
          <a:off x="1368152" y="432048"/>
          <a:ext cx="576072" cy="504056"/>
        </a:xfrm>
        <a:prstGeom xmlns:a="http://schemas.openxmlformats.org/drawingml/2006/main" prst="rect">
          <a:avLst/>
        </a:prstGeom>
      </cdr:spPr>
      <cdr:txBody>
        <a:bodyPr xmlns:a="http://schemas.openxmlformats.org/drawingml/2006/main" vertOverflow="clip" vert="horz" wrap="square" lIns="45720" tIns="45720" rIns="45720" bIns="45720" rtlCol="0" anchor="t" anchorCtr="0">
          <a:normAutofit/>
        </a:bodyPr>
        <a:lstStyle xmlns:a="http://schemas.openxmlformats.org/drawingml/2006/main"/>
        <a:p xmlns:a="http://schemas.openxmlformats.org/drawingml/2006/main">
          <a:r>
            <a:rPr lang="zh-CN" altLang="en-US" sz="1100" dirty="0"/>
            <a:t>工程</a:t>
          </a:r>
          <a:endParaRPr lang="en-US" altLang="zh-CN" sz="1100" dirty="0"/>
        </a:p>
        <a:p xmlns:a="http://schemas.openxmlformats.org/drawingml/2006/main">
          <a:r>
            <a:rPr lang="en-US" altLang="zh-CN" dirty="0"/>
            <a:t>  %</a:t>
          </a:r>
          <a:endParaRPr lang="zh-CN" altLang="en-US" sz="1100" dirty="0"/>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A2B73EA-EE91-4E33-A9C1-8BF5DD7139A2}" type="datetimeFigureOut">
              <a:rPr lang="zh-CN" altLang="en-US" smtClean="0"/>
              <a:t>2020/3/13</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392B679-AE23-4750-8FB0-6513430B8953}"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19</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20</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21</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22</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23</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24</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25</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26</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27</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28</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29</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30</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2020/3/13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17" name="图片 16"/>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 y="-2866"/>
            <a:ext cx="9144001" cy="5146366"/>
          </a:xfrm>
          <a:prstGeom prst="rect">
            <a:avLst/>
          </a:prstGeom>
        </p:spPr>
      </p:pic>
      <p:cxnSp>
        <p:nvCxnSpPr>
          <p:cNvPr id="7" name="直接连接符 6"/>
          <p:cNvCxnSpPr/>
          <p:nvPr userDrawn="1"/>
        </p:nvCxnSpPr>
        <p:spPr>
          <a:xfrm>
            <a:off x="755576" y="625398"/>
            <a:ext cx="7848872"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12" name="Group 7"/>
          <p:cNvGrpSpPr/>
          <p:nvPr userDrawn="1"/>
        </p:nvGrpSpPr>
        <p:grpSpPr bwMode="auto">
          <a:xfrm>
            <a:off x="323528" y="292895"/>
            <a:ext cx="390372" cy="205979"/>
            <a:chOff x="0" y="0"/>
            <a:chExt cx="1041399" cy="549275"/>
          </a:xfrm>
        </p:grpSpPr>
        <p:sp>
          <p:nvSpPr>
            <p:cNvPr id="13" name="Freeform 16"/>
            <p:cNvSpPr/>
            <p:nvPr/>
          </p:nvSpPr>
          <p:spPr bwMode="auto">
            <a:xfrm>
              <a:off x="0" y="0"/>
              <a:ext cx="361950" cy="549275"/>
            </a:xfrm>
            <a:custGeom>
              <a:avLst/>
              <a:gdLst>
                <a:gd name="T0" fmla="*/ 4 w 400"/>
                <a:gd name="T1" fmla="*/ 92 h 608"/>
                <a:gd name="T2" fmla="*/ 96 w 400"/>
                <a:gd name="T3" fmla="*/ 0 h 608"/>
                <a:gd name="T4" fmla="*/ 400 w 400"/>
                <a:gd name="T5" fmla="*/ 304 h 608"/>
                <a:gd name="T6" fmla="*/ 96 w 400"/>
                <a:gd name="T7" fmla="*/ 608 h 608"/>
                <a:gd name="T8" fmla="*/ 0 w 400"/>
                <a:gd name="T9" fmla="*/ 512 h 608"/>
                <a:gd name="T10" fmla="*/ 212 w 400"/>
                <a:gd name="T11" fmla="*/ 300 h 608"/>
                <a:gd name="T12" fmla="*/ 4 w 400"/>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400" h="608">
                  <a:moveTo>
                    <a:pt x="4" y="92"/>
                  </a:moveTo>
                  <a:lnTo>
                    <a:pt x="96" y="0"/>
                  </a:lnTo>
                  <a:lnTo>
                    <a:pt x="400" y="304"/>
                  </a:lnTo>
                  <a:lnTo>
                    <a:pt x="96" y="608"/>
                  </a:lnTo>
                  <a:lnTo>
                    <a:pt x="0" y="512"/>
                  </a:lnTo>
                  <a:lnTo>
                    <a:pt x="212" y="300"/>
                  </a:lnTo>
                  <a:lnTo>
                    <a:pt x="4" y="92"/>
                  </a:lnTo>
                  <a:close/>
                </a:path>
              </a:pathLst>
            </a:custGeom>
            <a:solidFill>
              <a:srgbClr val="005DA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 name="Freeform 17"/>
            <p:cNvSpPr/>
            <p:nvPr/>
          </p:nvSpPr>
          <p:spPr bwMode="auto">
            <a:xfrm>
              <a:off x="338137" y="0"/>
              <a:ext cx="360362" cy="549275"/>
            </a:xfrm>
            <a:custGeom>
              <a:avLst/>
              <a:gdLst>
                <a:gd name="T0" fmla="*/ 4 w 399"/>
                <a:gd name="T1" fmla="*/ 92 h 608"/>
                <a:gd name="T2" fmla="*/ 96 w 399"/>
                <a:gd name="T3" fmla="*/ 0 h 608"/>
                <a:gd name="T4" fmla="*/ 399 w 399"/>
                <a:gd name="T5" fmla="*/ 304 h 608"/>
                <a:gd name="T6" fmla="*/ 96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6" y="0"/>
                  </a:lnTo>
                  <a:lnTo>
                    <a:pt x="399" y="304"/>
                  </a:lnTo>
                  <a:lnTo>
                    <a:pt x="96" y="608"/>
                  </a:lnTo>
                  <a:lnTo>
                    <a:pt x="0" y="512"/>
                  </a:lnTo>
                  <a:lnTo>
                    <a:pt x="212" y="300"/>
                  </a:lnTo>
                  <a:lnTo>
                    <a:pt x="4" y="92"/>
                  </a:lnTo>
                  <a:close/>
                </a:path>
              </a:pathLst>
            </a:custGeom>
            <a:solidFill>
              <a:srgbClr val="3992DB"/>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5" name="Freeform 18"/>
            <p:cNvSpPr/>
            <p:nvPr/>
          </p:nvSpPr>
          <p:spPr bwMode="auto">
            <a:xfrm>
              <a:off x="681037" y="0"/>
              <a:ext cx="360362" cy="549275"/>
            </a:xfrm>
            <a:custGeom>
              <a:avLst/>
              <a:gdLst>
                <a:gd name="T0" fmla="*/ 4 w 399"/>
                <a:gd name="T1" fmla="*/ 92 h 608"/>
                <a:gd name="T2" fmla="*/ 95 w 399"/>
                <a:gd name="T3" fmla="*/ 0 h 608"/>
                <a:gd name="T4" fmla="*/ 399 w 399"/>
                <a:gd name="T5" fmla="*/ 304 h 608"/>
                <a:gd name="T6" fmla="*/ 95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5" y="0"/>
                  </a:lnTo>
                  <a:lnTo>
                    <a:pt x="399" y="304"/>
                  </a:lnTo>
                  <a:lnTo>
                    <a:pt x="95" y="608"/>
                  </a:lnTo>
                  <a:lnTo>
                    <a:pt x="0" y="512"/>
                  </a:lnTo>
                  <a:lnTo>
                    <a:pt x="212" y="300"/>
                  </a:lnTo>
                  <a:lnTo>
                    <a:pt x="4" y="92"/>
                  </a:lnTo>
                  <a:close/>
                </a:path>
              </a:pathLst>
            </a:custGeom>
            <a:solidFill>
              <a:srgbClr val="F796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18" name="TextBox 15"/>
          <p:cNvSpPr txBox="1"/>
          <p:nvPr userDrawn="1"/>
        </p:nvSpPr>
        <p:spPr>
          <a:xfrm>
            <a:off x="8100392" y="241995"/>
            <a:ext cx="671347" cy="368300"/>
          </a:xfrm>
          <a:prstGeom prst="rect">
            <a:avLst/>
          </a:prstGeom>
          <a:noFill/>
        </p:spPr>
        <p:txBody>
          <a:bodyPr wrap="square" rtlCol="0">
            <a:spAutoFit/>
          </a:bodyPr>
          <a:lstStyle/>
          <a:p>
            <a:pPr algn="ctr"/>
            <a:r>
              <a:rPr lang="zh-CN" altLang="en-US" sz="1800" b="0" dirty="0">
                <a:solidFill>
                  <a:schemeClr val="accent1"/>
                </a:solidFill>
                <a:latin typeface="微软雅黑 Light" panose="020B0502040204020203" pitchFamily="34" charset="-122"/>
                <a:ea typeface="微软雅黑 Light" panose="020B0502040204020203" pitchFamily="34"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2" fill="hold"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right)">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 y="-2866"/>
            <a:ext cx="9144001" cy="5146366"/>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 y="-2866"/>
            <a:ext cx="9144001" cy="5146366"/>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2020/3/13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2020/3/13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30820CF-B880-4189-942D-D702A7CBA730}" type="datetimeFigureOut">
              <a:rPr lang="zh-CN" altLang="en-US" smtClean="0"/>
              <a:t>2020/3/13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30820CF-B880-4189-942D-D702A7CBA730}" type="datetimeFigureOut">
              <a:rPr lang="zh-CN" altLang="en-US" smtClean="0"/>
              <a:t>2020/3/13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2020/3/13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2020/3/13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2020/3/13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2020/3/13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05979"/>
            <a:ext cx="6019800" cy="4388644"/>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2020/3/13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t>2020/3/13</a:t>
            </a:fld>
            <a:endParaRPr lang="zh-CN" altLang="en-US"/>
          </a:p>
        </p:txBody>
      </p:sp>
      <p:sp>
        <p:nvSpPr>
          <p:cNvPr id="5" name="页脚占位符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1" Type="http://schemas.openxmlformats.org/officeDocument/2006/relationships/tags" Target="../tags/tag11.xml"/><Relationship Id="rId12" Type="http://schemas.openxmlformats.org/officeDocument/2006/relationships/tags" Target="../tags/tag12.xml"/><Relationship Id="rId13" Type="http://schemas.openxmlformats.org/officeDocument/2006/relationships/tags" Target="../tags/tag13.xml"/><Relationship Id="rId14" Type="http://schemas.openxmlformats.org/officeDocument/2006/relationships/tags" Target="../tags/tag14.xml"/><Relationship Id="rId15" Type="http://schemas.openxmlformats.org/officeDocument/2006/relationships/tags" Target="../tags/tag15.xml"/><Relationship Id="rId16" Type="http://schemas.openxmlformats.org/officeDocument/2006/relationships/slideLayout" Target="../slideLayouts/slideLayout9.xml"/><Relationship Id="rId17" Type="http://schemas.openxmlformats.org/officeDocument/2006/relationships/notesSlide" Target="../notesSlides/notesSlide1.xml"/><Relationship Id="rId18" Type="http://schemas.openxmlformats.org/officeDocument/2006/relationships/image" Target="../media/image2.jpeg"/><Relationship Id="rId1" Type="http://schemas.openxmlformats.org/officeDocument/2006/relationships/tags" Target="../tags/tag1.xml"/><Relationship Id="rId2" Type="http://schemas.openxmlformats.org/officeDocument/2006/relationships/tags" Target="../tags/tag2.xml"/><Relationship Id="rId3" Type="http://schemas.openxmlformats.org/officeDocument/2006/relationships/tags" Target="../tags/tag3.xml"/><Relationship Id="rId4" Type="http://schemas.openxmlformats.org/officeDocument/2006/relationships/tags" Target="../tags/tag4.xml"/><Relationship Id="rId5" Type="http://schemas.openxmlformats.org/officeDocument/2006/relationships/tags" Target="../tags/tag5.xml"/><Relationship Id="rId6" Type="http://schemas.openxmlformats.org/officeDocument/2006/relationships/tags" Target="../tags/tag6.xml"/><Relationship Id="rId7" Type="http://schemas.openxmlformats.org/officeDocument/2006/relationships/tags" Target="../tags/tag7.xml"/><Relationship Id="rId8" Type="http://schemas.openxmlformats.org/officeDocument/2006/relationships/tags" Target="../tags/tag8.xml"/><Relationship Id="rId9" Type="http://schemas.openxmlformats.org/officeDocument/2006/relationships/tags" Target="../tags/tag9.xml"/><Relationship Id="rId10" Type="http://schemas.openxmlformats.org/officeDocument/2006/relationships/tags" Target="../tags/tag1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1" Type="http://schemas.openxmlformats.org/officeDocument/2006/relationships/tags" Target="../tags/tag26.xml"/><Relationship Id="rId12" Type="http://schemas.openxmlformats.org/officeDocument/2006/relationships/tags" Target="../tags/tag27.xml"/><Relationship Id="rId13" Type="http://schemas.openxmlformats.org/officeDocument/2006/relationships/tags" Target="../tags/tag28.xml"/><Relationship Id="rId14" Type="http://schemas.openxmlformats.org/officeDocument/2006/relationships/tags" Target="../tags/tag29.xml"/><Relationship Id="rId15" Type="http://schemas.openxmlformats.org/officeDocument/2006/relationships/tags" Target="../tags/tag30.xml"/><Relationship Id="rId16" Type="http://schemas.openxmlformats.org/officeDocument/2006/relationships/slideLayout" Target="../slideLayouts/slideLayout3.xml"/><Relationship Id="rId17" Type="http://schemas.openxmlformats.org/officeDocument/2006/relationships/notesSlide" Target="../notesSlides/notesSlide3.xml"/><Relationship Id="rId18" Type="http://schemas.openxmlformats.org/officeDocument/2006/relationships/image" Target="../media/image4.png"/><Relationship Id="rId1" Type="http://schemas.openxmlformats.org/officeDocument/2006/relationships/tags" Target="../tags/tag16.xml"/><Relationship Id="rId2" Type="http://schemas.openxmlformats.org/officeDocument/2006/relationships/tags" Target="../tags/tag17.xml"/><Relationship Id="rId3" Type="http://schemas.openxmlformats.org/officeDocument/2006/relationships/tags" Target="../tags/tag18.xml"/><Relationship Id="rId4" Type="http://schemas.openxmlformats.org/officeDocument/2006/relationships/tags" Target="../tags/tag19.xml"/><Relationship Id="rId5" Type="http://schemas.openxmlformats.org/officeDocument/2006/relationships/tags" Target="../tags/tag20.xml"/><Relationship Id="rId6" Type="http://schemas.openxmlformats.org/officeDocument/2006/relationships/tags" Target="../tags/tag21.xml"/><Relationship Id="rId7" Type="http://schemas.openxmlformats.org/officeDocument/2006/relationships/tags" Target="../tags/tag22.xml"/><Relationship Id="rId8" Type="http://schemas.openxmlformats.org/officeDocument/2006/relationships/tags" Target="../tags/tag23.xml"/><Relationship Id="rId9" Type="http://schemas.openxmlformats.org/officeDocument/2006/relationships/tags" Target="../tags/tag24.xml"/><Relationship Id="rId10" Type="http://schemas.openxmlformats.org/officeDocument/2006/relationships/tags" Target="../tags/tag2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chart" Target="../charts/char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chart" Target="../charts/char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chart" Target="../charts/chart5.xml"/></Relationships>
</file>

<file path=ppt/slides/_rels/slide9.xml.rels><?xml version="1.0" encoding="UTF-8" standalone="yes"?>
<Relationships xmlns="http://schemas.openxmlformats.org/package/2006/relationships"><Relationship Id="rId3" Type="http://schemas.openxmlformats.org/officeDocument/2006/relationships/chart" Target="../charts/chart6.xml"/><Relationship Id="rId4" Type="http://schemas.openxmlformats.org/officeDocument/2006/relationships/chart" Target="../charts/chart7.xml"/><Relationship Id="rId5" Type="http://schemas.openxmlformats.org/officeDocument/2006/relationships/chart" Target="../charts/chart8.xml"/><Relationship Id="rId6" Type="http://schemas.openxmlformats.org/officeDocument/2006/relationships/chart" Target="../charts/chart9.xml"/><Relationship Id="rId7" Type="http://schemas.openxmlformats.org/officeDocument/2006/relationships/chart" Target="../charts/chart10.xml"/><Relationship Id="rId8" Type="http://schemas.openxmlformats.org/officeDocument/2006/relationships/chart" Target="../charts/chart11.xml"/><Relationship Id="rId9" Type="http://schemas.openxmlformats.org/officeDocument/2006/relationships/chart" Target="../charts/chart12.xml"/><Relationship Id="rId10" Type="http://schemas.openxmlformats.org/officeDocument/2006/relationships/chart" Target="../charts/chart13.xml"/><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chart" Target="../charts/chart14.xml"/></Relationships>
</file>

<file path=ppt/slides/_rels/slide11.xml.rels><?xml version="1.0" encoding="UTF-8" standalone="yes"?>
<Relationships xmlns="http://schemas.openxmlformats.org/package/2006/relationships"><Relationship Id="rId11" Type="http://schemas.openxmlformats.org/officeDocument/2006/relationships/tags" Target="../tags/tag41.xml"/><Relationship Id="rId12" Type="http://schemas.openxmlformats.org/officeDocument/2006/relationships/tags" Target="../tags/tag42.xml"/><Relationship Id="rId13" Type="http://schemas.openxmlformats.org/officeDocument/2006/relationships/tags" Target="../tags/tag43.xml"/><Relationship Id="rId14" Type="http://schemas.openxmlformats.org/officeDocument/2006/relationships/tags" Target="../tags/tag44.xml"/><Relationship Id="rId15" Type="http://schemas.openxmlformats.org/officeDocument/2006/relationships/tags" Target="../tags/tag45.xml"/><Relationship Id="rId16" Type="http://schemas.openxmlformats.org/officeDocument/2006/relationships/slideLayout" Target="../slideLayouts/slideLayout3.xml"/><Relationship Id="rId17" Type="http://schemas.openxmlformats.org/officeDocument/2006/relationships/notesSlide" Target="../notesSlides/notesSlide11.xml"/><Relationship Id="rId18" Type="http://schemas.openxmlformats.org/officeDocument/2006/relationships/image" Target="../media/image4.png"/><Relationship Id="rId1" Type="http://schemas.openxmlformats.org/officeDocument/2006/relationships/tags" Target="../tags/tag31.xml"/><Relationship Id="rId2" Type="http://schemas.openxmlformats.org/officeDocument/2006/relationships/tags" Target="../tags/tag32.xml"/><Relationship Id="rId3" Type="http://schemas.openxmlformats.org/officeDocument/2006/relationships/tags" Target="../tags/tag33.xml"/><Relationship Id="rId4" Type="http://schemas.openxmlformats.org/officeDocument/2006/relationships/tags" Target="../tags/tag34.xml"/><Relationship Id="rId5" Type="http://schemas.openxmlformats.org/officeDocument/2006/relationships/tags" Target="../tags/tag35.xml"/><Relationship Id="rId6" Type="http://schemas.openxmlformats.org/officeDocument/2006/relationships/tags" Target="../tags/tag36.xml"/><Relationship Id="rId7" Type="http://schemas.openxmlformats.org/officeDocument/2006/relationships/tags" Target="../tags/tag37.xml"/><Relationship Id="rId8" Type="http://schemas.openxmlformats.org/officeDocument/2006/relationships/tags" Target="../tags/tag38.xml"/><Relationship Id="rId9" Type="http://schemas.openxmlformats.org/officeDocument/2006/relationships/tags" Target="../tags/tag39.xml"/><Relationship Id="rId10" Type="http://schemas.openxmlformats.org/officeDocument/2006/relationships/tags" Target="../tags/tag40.xml"/></Relationships>
</file>

<file path=ppt/slides/_rels/slide12.xml.rels><?xml version="1.0" encoding="UTF-8" standalone="yes"?>
<Relationships xmlns="http://schemas.openxmlformats.org/package/2006/relationships"><Relationship Id="rId3" Type="http://schemas.openxmlformats.org/officeDocument/2006/relationships/chart" Target="../charts/chart15.xml"/><Relationship Id="rId4" Type="http://schemas.openxmlformats.org/officeDocument/2006/relationships/chart" Target="../charts/chart16.xml"/><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chart" Target="../charts/chart17.xml"/><Relationship Id="rId4" Type="http://schemas.openxmlformats.org/officeDocument/2006/relationships/chart" Target="../charts/chart18.xml"/><Relationship Id="rId5" Type="http://schemas.openxmlformats.org/officeDocument/2006/relationships/chart" Target="../charts/chart19.xml"/><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1" Type="http://schemas.openxmlformats.org/officeDocument/2006/relationships/tags" Target="../tags/tag56.xml"/><Relationship Id="rId12" Type="http://schemas.openxmlformats.org/officeDocument/2006/relationships/tags" Target="../tags/tag57.xml"/><Relationship Id="rId13" Type="http://schemas.openxmlformats.org/officeDocument/2006/relationships/tags" Target="../tags/tag58.xml"/><Relationship Id="rId14" Type="http://schemas.openxmlformats.org/officeDocument/2006/relationships/tags" Target="../tags/tag59.xml"/><Relationship Id="rId15" Type="http://schemas.openxmlformats.org/officeDocument/2006/relationships/tags" Target="../tags/tag60.xml"/><Relationship Id="rId16" Type="http://schemas.openxmlformats.org/officeDocument/2006/relationships/slideLayout" Target="../slideLayouts/slideLayout3.xml"/><Relationship Id="rId17" Type="http://schemas.openxmlformats.org/officeDocument/2006/relationships/notesSlide" Target="../notesSlides/notesSlide14.xml"/><Relationship Id="rId18" Type="http://schemas.openxmlformats.org/officeDocument/2006/relationships/image" Target="../media/image4.png"/><Relationship Id="rId1" Type="http://schemas.openxmlformats.org/officeDocument/2006/relationships/tags" Target="../tags/tag46.xml"/><Relationship Id="rId2" Type="http://schemas.openxmlformats.org/officeDocument/2006/relationships/tags" Target="../tags/tag47.xml"/><Relationship Id="rId3" Type="http://schemas.openxmlformats.org/officeDocument/2006/relationships/tags" Target="../tags/tag48.xml"/><Relationship Id="rId4" Type="http://schemas.openxmlformats.org/officeDocument/2006/relationships/tags" Target="../tags/tag49.xml"/><Relationship Id="rId5" Type="http://schemas.openxmlformats.org/officeDocument/2006/relationships/tags" Target="../tags/tag50.xml"/><Relationship Id="rId6" Type="http://schemas.openxmlformats.org/officeDocument/2006/relationships/tags" Target="../tags/tag51.xml"/><Relationship Id="rId7" Type="http://schemas.openxmlformats.org/officeDocument/2006/relationships/tags" Target="../tags/tag52.xml"/><Relationship Id="rId8" Type="http://schemas.openxmlformats.org/officeDocument/2006/relationships/tags" Target="../tags/tag53.xml"/><Relationship Id="rId9" Type="http://schemas.openxmlformats.org/officeDocument/2006/relationships/tags" Target="../tags/tag54.xml"/><Relationship Id="rId10" Type="http://schemas.openxmlformats.org/officeDocument/2006/relationships/tags" Target="../tags/tag5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chart" Target="../charts/chart20.xml"/></Relationships>
</file>

<file path=ppt/slides/_rels/slide16.xml.rels><?xml version="1.0" encoding="UTF-8" standalone="yes"?>
<Relationships xmlns="http://schemas.openxmlformats.org/package/2006/relationships"><Relationship Id="rId3" Type="http://schemas.openxmlformats.org/officeDocument/2006/relationships/chart" Target="../charts/chart21.xml"/><Relationship Id="rId4" Type="http://schemas.openxmlformats.org/officeDocument/2006/relationships/image" Target="../media/image5.png"/><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chart" Target="../charts/chart22.xml"/><Relationship Id="rId4" Type="http://schemas.openxmlformats.org/officeDocument/2006/relationships/chart" Target="../charts/chart23.xml"/><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1" Type="http://schemas.openxmlformats.org/officeDocument/2006/relationships/tags" Target="../tags/tag71.xml"/><Relationship Id="rId12" Type="http://schemas.openxmlformats.org/officeDocument/2006/relationships/tags" Target="../tags/tag72.xml"/><Relationship Id="rId13" Type="http://schemas.openxmlformats.org/officeDocument/2006/relationships/tags" Target="../tags/tag73.xml"/><Relationship Id="rId14" Type="http://schemas.openxmlformats.org/officeDocument/2006/relationships/tags" Target="../tags/tag74.xml"/><Relationship Id="rId15" Type="http://schemas.openxmlformats.org/officeDocument/2006/relationships/tags" Target="../tags/tag75.xml"/><Relationship Id="rId16" Type="http://schemas.openxmlformats.org/officeDocument/2006/relationships/slideLayout" Target="../slideLayouts/slideLayout3.xml"/><Relationship Id="rId17" Type="http://schemas.openxmlformats.org/officeDocument/2006/relationships/notesSlide" Target="../notesSlides/notesSlide18.xml"/><Relationship Id="rId18" Type="http://schemas.openxmlformats.org/officeDocument/2006/relationships/image" Target="../media/image4.png"/><Relationship Id="rId1" Type="http://schemas.openxmlformats.org/officeDocument/2006/relationships/tags" Target="../tags/tag61.xml"/><Relationship Id="rId2" Type="http://schemas.openxmlformats.org/officeDocument/2006/relationships/tags" Target="../tags/tag62.xml"/><Relationship Id="rId3" Type="http://schemas.openxmlformats.org/officeDocument/2006/relationships/tags" Target="../tags/tag63.xml"/><Relationship Id="rId4" Type="http://schemas.openxmlformats.org/officeDocument/2006/relationships/tags" Target="../tags/tag64.xml"/><Relationship Id="rId5" Type="http://schemas.openxmlformats.org/officeDocument/2006/relationships/tags" Target="../tags/tag65.xml"/><Relationship Id="rId6" Type="http://schemas.openxmlformats.org/officeDocument/2006/relationships/tags" Target="../tags/tag66.xml"/><Relationship Id="rId7" Type="http://schemas.openxmlformats.org/officeDocument/2006/relationships/tags" Target="../tags/tag67.xml"/><Relationship Id="rId8" Type="http://schemas.openxmlformats.org/officeDocument/2006/relationships/tags" Target="../tags/tag68.xml"/><Relationship Id="rId9" Type="http://schemas.openxmlformats.org/officeDocument/2006/relationships/tags" Target="../tags/tag69.xml"/><Relationship Id="rId10" Type="http://schemas.openxmlformats.org/officeDocument/2006/relationships/tags" Target="../tags/tag70.xml"/></Relationships>
</file>

<file path=ppt/slides/_rels/slide19.xml.rels><?xml version="1.0" encoding="UTF-8" standalone="yes"?>
<Relationships xmlns="http://schemas.openxmlformats.org/package/2006/relationships"><Relationship Id="rId3" Type="http://schemas.openxmlformats.org/officeDocument/2006/relationships/chart" Target="../charts/chart24.xml"/><Relationship Id="rId4" Type="http://schemas.openxmlformats.org/officeDocument/2006/relationships/chart" Target="../charts/chart25.xml"/><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chart" Target="../charts/chart26.xml"/><Relationship Id="rId4" Type="http://schemas.openxmlformats.org/officeDocument/2006/relationships/image" Target="../media/image7.png"/><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3" Type="http://schemas.openxmlformats.org/officeDocument/2006/relationships/chart" Target="../charts/chart27.xml"/><Relationship Id="rId4" Type="http://schemas.openxmlformats.org/officeDocument/2006/relationships/image" Target="../media/image8.png"/><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1" Type="http://schemas.openxmlformats.org/officeDocument/2006/relationships/tags" Target="../tags/tag86.xml"/><Relationship Id="rId12" Type="http://schemas.openxmlformats.org/officeDocument/2006/relationships/tags" Target="../tags/tag87.xml"/><Relationship Id="rId13" Type="http://schemas.openxmlformats.org/officeDocument/2006/relationships/tags" Target="../tags/tag88.xml"/><Relationship Id="rId14" Type="http://schemas.openxmlformats.org/officeDocument/2006/relationships/tags" Target="../tags/tag89.xml"/><Relationship Id="rId15" Type="http://schemas.openxmlformats.org/officeDocument/2006/relationships/tags" Target="../tags/tag90.xml"/><Relationship Id="rId16" Type="http://schemas.openxmlformats.org/officeDocument/2006/relationships/slideLayout" Target="../slideLayouts/slideLayout3.xml"/><Relationship Id="rId17" Type="http://schemas.openxmlformats.org/officeDocument/2006/relationships/notesSlide" Target="../notesSlides/notesSlide22.xml"/><Relationship Id="rId18" Type="http://schemas.openxmlformats.org/officeDocument/2006/relationships/image" Target="../media/image4.png"/><Relationship Id="rId1" Type="http://schemas.openxmlformats.org/officeDocument/2006/relationships/tags" Target="../tags/tag76.xml"/><Relationship Id="rId2" Type="http://schemas.openxmlformats.org/officeDocument/2006/relationships/tags" Target="../tags/tag77.xml"/><Relationship Id="rId3" Type="http://schemas.openxmlformats.org/officeDocument/2006/relationships/tags" Target="../tags/tag78.xml"/><Relationship Id="rId4" Type="http://schemas.openxmlformats.org/officeDocument/2006/relationships/tags" Target="../tags/tag79.xml"/><Relationship Id="rId5" Type="http://schemas.openxmlformats.org/officeDocument/2006/relationships/tags" Target="../tags/tag80.xml"/><Relationship Id="rId6" Type="http://schemas.openxmlformats.org/officeDocument/2006/relationships/tags" Target="../tags/tag81.xml"/><Relationship Id="rId7" Type="http://schemas.openxmlformats.org/officeDocument/2006/relationships/tags" Target="../tags/tag82.xml"/><Relationship Id="rId8" Type="http://schemas.openxmlformats.org/officeDocument/2006/relationships/tags" Target="../tags/tag83.xml"/><Relationship Id="rId9" Type="http://schemas.openxmlformats.org/officeDocument/2006/relationships/tags" Target="../tags/tag84.xml"/><Relationship Id="rId10" Type="http://schemas.openxmlformats.org/officeDocument/2006/relationships/tags" Target="../tags/tag85.xml"/></Relationships>
</file>

<file path=ppt/slides/_rels/slide23.xml.rels><?xml version="1.0" encoding="UTF-8" standalone="yes"?>
<Relationships xmlns="http://schemas.openxmlformats.org/package/2006/relationships"><Relationship Id="rId3" Type="http://schemas.openxmlformats.org/officeDocument/2006/relationships/chart" Target="../charts/chart28.xml"/><Relationship Id="rId4" Type="http://schemas.openxmlformats.org/officeDocument/2006/relationships/image" Target="../media/image3.png"/><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3" Type="http://schemas.openxmlformats.org/officeDocument/2006/relationships/chart" Target="../charts/chart29.xml"/><Relationship Id="rId4" Type="http://schemas.openxmlformats.org/officeDocument/2006/relationships/image" Target="../media/image3.png"/><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1" Type="http://schemas.openxmlformats.org/officeDocument/2006/relationships/tags" Target="../tags/tag101.xml"/><Relationship Id="rId12" Type="http://schemas.openxmlformats.org/officeDocument/2006/relationships/tags" Target="../tags/tag102.xml"/><Relationship Id="rId13" Type="http://schemas.openxmlformats.org/officeDocument/2006/relationships/tags" Target="../tags/tag103.xml"/><Relationship Id="rId14" Type="http://schemas.openxmlformats.org/officeDocument/2006/relationships/tags" Target="../tags/tag104.xml"/><Relationship Id="rId15" Type="http://schemas.openxmlformats.org/officeDocument/2006/relationships/tags" Target="../tags/tag105.xml"/><Relationship Id="rId16" Type="http://schemas.openxmlformats.org/officeDocument/2006/relationships/slideLayout" Target="../slideLayouts/slideLayout3.xml"/><Relationship Id="rId17" Type="http://schemas.openxmlformats.org/officeDocument/2006/relationships/notesSlide" Target="../notesSlides/notesSlide25.xml"/><Relationship Id="rId18" Type="http://schemas.openxmlformats.org/officeDocument/2006/relationships/image" Target="../media/image4.png"/><Relationship Id="rId1" Type="http://schemas.openxmlformats.org/officeDocument/2006/relationships/tags" Target="../tags/tag91.xml"/><Relationship Id="rId2" Type="http://schemas.openxmlformats.org/officeDocument/2006/relationships/tags" Target="../tags/tag92.xml"/><Relationship Id="rId3" Type="http://schemas.openxmlformats.org/officeDocument/2006/relationships/tags" Target="../tags/tag93.xml"/><Relationship Id="rId4" Type="http://schemas.openxmlformats.org/officeDocument/2006/relationships/tags" Target="../tags/tag94.xml"/><Relationship Id="rId5" Type="http://schemas.openxmlformats.org/officeDocument/2006/relationships/tags" Target="../tags/tag95.xml"/><Relationship Id="rId6" Type="http://schemas.openxmlformats.org/officeDocument/2006/relationships/tags" Target="../tags/tag96.xml"/><Relationship Id="rId7" Type="http://schemas.openxmlformats.org/officeDocument/2006/relationships/tags" Target="../tags/tag97.xml"/><Relationship Id="rId8" Type="http://schemas.openxmlformats.org/officeDocument/2006/relationships/tags" Target="../tags/tag98.xml"/><Relationship Id="rId9" Type="http://schemas.openxmlformats.org/officeDocument/2006/relationships/tags" Target="../tags/tag99.xml"/><Relationship Id="rId10" Type="http://schemas.openxmlformats.org/officeDocument/2006/relationships/tags" Target="../tags/tag100.xml"/></Relationships>
</file>

<file path=ppt/slides/_rels/slide26.xml.rels><?xml version="1.0" encoding="UTF-8" standalone="yes"?>
<Relationships xmlns="http://schemas.openxmlformats.org/package/2006/relationships"><Relationship Id="rId3" Type="http://schemas.openxmlformats.org/officeDocument/2006/relationships/chart" Target="../charts/chart30.xml"/><Relationship Id="rId4" Type="http://schemas.openxmlformats.org/officeDocument/2006/relationships/image" Target="../media/image9.png"/><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3" Type="http://schemas.openxmlformats.org/officeDocument/2006/relationships/chart" Target="../charts/chart31.xml"/><Relationship Id="rId4" Type="http://schemas.openxmlformats.org/officeDocument/2006/relationships/image" Target="../media/image9.png"/><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1" Type="http://schemas.openxmlformats.org/officeDocument/2006/relationships/tags" Target="../tags/tag116.xml"/><Relationship Id="rId12" Type="http://schemas.openxmlformats.org/officeDocument/2006/relationships/tags" Target="../tags/tag117.xml"/><Relationship Id="rId13" Type="http://schemas.openxmlformats.org/officeDocument/2006/relationships/tags" Target="../tags/tag118.xml"/><Relationship Id="rId14" Type="http://schemas.openxmlformats.org/officeDocument/2006/relationships/tags" Target="../tags/tag119.xml"/><Relationship Id="rId15" Type="http://schemas.openxmlformats.org/officeDocument/2006/relationships/tags" Target="../tags/tag120.xml"/><Relationship Id="rId16" Type="http://schemas.openxmlformats.org/officeDocument/2006/relationships/slideLayout" Target="../slideLayouts/slideLayout3.xml"/><Relationship Id="rId17" Type="http://schemas.openxmlformats.org/officeDocument/2006/relationships/notesSlide" Target="../notesSlides/notesSlide28.xml"/><Relationship Id="rId18" Type="http://schemas.openxmlformats.org/officeDocument/2006/relationships/image" Target="../media/image4.png"/><Relationship Id="rId1" Type="http://schemas.openxmlformats.org/officeDocument/2006/relationships/tags" Target="../tags/tag106.xml"/><Relationship Id="rId2" Type="http://schemas.openxmlformats.org/officeDocument/2006/relationships/tags" Target="../tags/tag107.xml"/><Relationship Id="rId3" Type="http://schemas.openxmlformats.org/officeDocument/2006/relationships/tags" Target="../tags/tag108.xml"/><Relationship Id="rId4" Type="http://schemas.openxmlformats.org/officeDocument/2006/relationships/tags" Target="../tags/tag109.xml"/><Relationship Id="rId5" Type="http://schemas.openxmlformats.org/officeDocument/2006/relationships/tags" Target="../tags/tag110.xml"/><Relationship Id="rId6" Type="http://schemas.openxmlformats.org/officeDocument/2006/relationships/tags" Target="../tags/tag111.xml"/><Relationship Id="rId7" Type="http://schemas.openxmlformats.org/officeDocument/2006/relationships/tags" Target="../tags/tag112.xml"/><Relationship Id="rId8" Type="http://schemas.openxmlformats.org/officeDocument/2006/relationships/tags" Target="../tags/tag113.xml"/><Relationship Id="rId9" Type="http://schemas.openxmlformats.org/officeDocument/2006/relationships/tags" Target="../tags/tag114.xml"/><Relationship Id="rId10" Type="http://schemas.openxmlformats.org/officeDocument/2006/relationships/tags" Target="../tags/tag115.xml"/></Relationships>
</file>

<file path=ppt/slides/_rels/slide29.xml.rels><?xml version="1.0" encoding="UTF-8" standalone="yes"?>
<Relationships xmlns="http://schemas.openxmlformats.org/package/2006/relationships"><Relationship Id="rId3" Type="http://schemas.openxmlformats.org/officeDocument/2006/relationships/chart" Target="../charts/chart32.xml"/><Relationship Id="rId4" Type="http://schemas.openxmlformats.org/officeDocument/2006/relationships/image" Target="../media/image10.png"/><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1" Type="http://schemas.openxmlformats.org/officeDocument/2006/relationships/tags" Target="../tags/tag131.xml"/><Relationship Id="rId12" Type="http://schemas.openxmlformats.org/officeDocument/2006/relationships/tags" Target="../tags/tag132.xml"/><Relationship Id="rId13" Type="http://schemas.openxmlformats.org/officeDocument/2006/relationships/tags" Target="../tags/tag133.xml"/><Relationship Id="rId14" Type="http://schemas.openxmlformats.org/officeDocument/2006/relationships/tags" Target="../tags/tag134.xml"/><Relationship Id="rId15" Type="http://schemas.openxmlformats.org/officeDocument/2006/relationships/tags" Target="../tags/tag135.xml"/><Relationship Id="rId16" Type="http://schemas.openxmlformats.org/officeDocument/2006/relationships/slideLayout" Target="../slideLayouts/slideLayout3.xml"/><Relationship Id="rId17" Type="http://schemas.openxmlformats.org/officeDocument/2006/relationships/notesSlide" Target="../notesSlides/notesSlide30.xml"/><Relationship Id="rId18" Type="http://schemas.openxmlformats.org/officeDocument/2006/relationships/image" Target="../media/image2.jpeg"/><Relationship Id="rId1" Type="http://schemas.openxmlformats.org/officeDocument/2006/relationships/tags" Target="../tags/tag121.xml"/><Relationship Id="rId2" Type="http://schemas.openxmlformats.org/officeDocument/2006/relationships/tags" Target="../tags/tag122.xml"/><Relationship Id="rId3" Type="http://schemas.openxmlformats.org/officeDocument/2006/relationships/tags" Target="../tags/tag123.xml"/><Relationship Id="rId4" Type="http://schemas.openxmlformats.org/officeDocument/2006/relationships/tags" Target="../tags/tag124.xml"/><Relationship Id="rId5" Type="http://schemas.openxmlformats.org/officeDocument/2006/relationships/tags" Target="../tags/tag125.xml"/><Relationship Id="rId6" Type="http://schemas.openxmlformats.org/officeDocument/2006/relationships/tags" Target="../tags/tag126.xml"/><Relationship Id="rId7" Type="http://schemas.openxmlformats.org/officeDocument/2006/relationships/tags" Target="../tags/tag127.xml"/><Relationship Id="rId8" Type="http://schemas.openxmlformats.org/officeDocument/2006/relationships/tags" Target="../tags/tag128.xml"/><Relationship Id="rId9" Type="http://schemas.openxmlformats.org/officeDocument/2006/relationships/tags" Target="../tags/tag129.xml"/><Relationship Id="rId10" Type="http://schemas.openxmlformats.org/officeDocument/2006/relationships/tags" Target="../tags/tag1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8" cstate="print">
            <a:extLst>
              <a:ext uri="{28A0092B-C50C-407E-A947-70E740481C1C}">
                <a14:useLocalDpi xmlns:a14="http://schemas.microsoft.com/office/drawing/2010/main"/>
              </a:ext>
            </a:extLst>
          </a:blip>
          <a:stretch>
            <a:fillRect/>
          </a:stretch>
        </p:blipFill>
        <p:spPr>
          <a:xfrm>
            <a:off x="-1" y="0"/>
            <a:ext cx="9144001" cy="5143500"/>
          </a:xfrm>
          <a:prstGeom prst="rect">
            <a:avLst/>
          </a:prstGeom>
        </p:spPr>
      </p:pic>
      <p:sp>
        <p:nvSpPr>
          <p:cNvPr id="43" name="Rectangle 3"/>
          <p:cNvSpPr txBox="1">
            <a:spLocks noChangeArrowheads="1"/>
          </p:cNvSpPr>
          <p:nvPr/>
        </p:nvSpPr>
        <p:spPr>
          <a:xfrm>
            <a:off x="3039597" y="561013"/>
            <a:ext cx="6543203" cy="1617107"/>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150000"/>
              </a:lnSpc>
            </a:pPr>
            <a:r>
              <a:rPr lang="zh-CN" altLang="en-US" sz="5800" b="1" dirty="0">
                <a:solidFill>
                  <a:schemeClr val="accent1"/>
                </a:solidFill>
                <a:latin typeface="Arial" panose="020B0604020202020204" pitchFamily="34" charset="0"/>
                <a:ea typeface="微软雅黑" panose="020B0503020204020204" pitchFamily="34" charset="-122"/>
                <a:sym typeface="Arial" panose="020B0604020202020204" pitchFamily="34" charset="0"/>
              </a:rPr>
              <a:t>财务分析报告</a:t>
            </a:r>
            <a:endParaRPr sz="5800" b="1"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cxnSp>
        <p:nvCxnSpPr>
          <p:cNvPr id="46" name="直接连接符 5"/>
          <p:cNvCxnSpPr>
            <a:cxnSpLocks noChangeShapeType="1"/>
          </p:cNvCxnSpPr>
          <p:nvPr/>
        </p:nvCxnSpPr>
        <p:spPr bwMode="auto">
          <a:xfrm flipH="1">
            <a:off x="4209904" y="1995686"/>
            <a:ext cx="4250528" cy="0"/>
          </a:xfrm>
          <a:prstGeom prst="line">
            <a:avLst/>
          </a:prstGeom>
          <a:noFill/>
          <a:ln w="12700">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7" name="矩形 9"/>
          <p:cNvSpPr>
            <a:spLocks noChangeArrowheads="1"/>
          </p:cNvSpPr>
          <p:nvPr/>
        </p:nvSpPr>
        <p:spPr bwMode="auto">
          <a:xfrm>
            <a:off x="8763956" y="1123264"/>
            <a:ext cx="380044" cy="1931107"/>
          </a:xfrm>
          <a:prstGeom prst="rect">
            <a:avLst/>
          </a:prstGeom>
          <a:solidFill>
            <a:schemeClr val="accent1"/>
          </a:solidFill>
          <a:ln>
            <a:noFill/>
          </a:ln>
        </p:spPr>
        <p:txBody>
          <a:bodyPr lIns="68557" tIns="34279" rIns="68557" bIns="34279"/>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ea typeface="微软雅黑" panose="020B0503020204020204" pitchFamily="34" charset="-122"/>
              <a:sym typeface="Arial" panose="020B0604020202020204" pitchFamily="34" charset="0"/>
            </a:endParaRPr>
          </a:p>
        </p:txBody>
      </p:sp>
      <p:sp>
        <p:nvSpPr>
          <p:cNvPr id="26" name="Rectangle 4"/>
          <p:cNvSpPr txBox="1">
            <a:spLocks noChangeArrowheads="1"/>
          </p:cNvSpPr>
          <p:nvPr/>
        </p:nvSpPr>
        <p:spPr>
          <a:xfrm>
            <a:off x="3524857" y="2202679"/>
            <a:ext cx="4814274" cy="197149"/>
          </a:xfrm>
          <a:prstGeom prst="rect">
            <a:avLst/>
          </a:prstGeom>
        </p:spPr>
        <p:txBody>
          <a:bodyPr vert="horz" lIns="91440" tIns="45720" rIns="91440" bIns="45720" rtlCol="0"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r">
              <a:buNone/>
            </a:pPr>
            <a:r>
              <a:rPr lang="zh-CN" altLang="en-US" sz="1600" smtClean="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财务报表丨 数据报告 丨财务分析丨 商业汇报</a:t>
            </a:r>
            <a:endParaRPr lang="zh-CN" altLang="en-US" sz="16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27" name="PA-组合 6"/>
          <p:cNvGrpSpPr/>
          <p:nvPr>
            <p:custDataLst>
              <p:tags r:id="rId1"/>
            </p:custDataLst>
          </p:nvPr>
        </p:nvGrpSpPr>
        <p:grpSpPr>
          <a:xfrm>
            <a:off x="6774758" y="2660436"/>
            <a:ext cx="432048" cy="432834"/>
            <a:chOff x="6084168" y="1274820"/>
            <a:chExt cx="432048" cy="432834"/>
          </a:xfrm>
        </p:grpSpPr>
        <p:sp>
          <p:nvSpPr>
            <p:cNvPr id="28" name="PA-椭圆 22"/>
            <p:cNvSpPr>
              <a:spLocks noChangeArrowheads="1"/>
            </p:cNvSpPr>
            <p:nvPr>
              <p:custDataLst>
                <p:tags r:id="rId14"/>
              </p:custDataLst>
            </p:nvPr>
          </p:nvSpPr>
          <p:spPr bwMode="auto">
            <a:xfrm>
              <a:off x="6084168" y="1274820"/>
              <a:ext cx="432048" cy="432834"/>
            </a:xfrm>
            <a:prstGeom prst="ellipse">
              <a:avLst/>
            </a:prstGeom>
            <a:solidFill>
              <a:schemeClr val="accent1"/>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00">
                <a:solidFill>
                  <a:srgbClr val="FFFFFF"/>
                </a:solidFill>
                <a:ea typeface="微软雅黑" panose="020B0503020204020204" pitchFamily="34" charset="-122"/>
                <a:sym typeface="Arial" panose="020B0604020202020204" pitchFamily="34" charset="0"/>
              </a:endParaRPr>
            </a:p>
          </p:txBody>
        </p:sp>
        <p:sp>
          <p:nvSpPr>
            <p:cNvPr id="29" name="PA-任意多边形 59"/>
            <p:cNvSpPr>
              <a:spLocks noChangeArrowheads="1"/>
            </p:cNvSpPr>
            <p:nvPr>
              <p:custDataLst>
                <p:tags r:id="rId15"/>
              </p:custDataLst>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sz="100">
                <a:latin typeface="Arial" panose="020B0604020202020204" pitchFamily="34" charset="0"/>
                <a:ea typeface="微软雅黑" panose="020B0503020204020204" pitchFamily="34" charset="-122"/>
                <a:sym typeface="Arial" panose="020B0604020202020204" pitchFamily="34" charset="0"/>
              </a:endParaRPr>
            </a:p>
          </p:txBody>
        </p:sp>
      </p:grpSp>
      <p:grpSp>
        <p:nvGrpSpPr>
          <p:cNvPr id="30" name="PA-组合 5"/>
          <p:cNvGrpSpPr/>
          <p:nvPr>
            <p:custDataLst>
              <p:tags r:id="rId2"/>
            </p:custDataLst>
          </p:nvPr>
        </p:nvGrpSpPr>
        <p:grpSpPr>
          <a:xfrm>
            <a:off x="5478614" y="2660829"/>
            <a:ext cx="432048" cy="432048"/>
            <a:chOff x="4788024" y="1275213"/>
            <a:chExt cx="432048" cy="432048"/>
          </a:xfrm>
        </p:grpSpPr>
        <p:sp>
          <p:nvSpPr>
            <p:cNvPr id="31" name="PA-椭圆 65"/>
            <p:cNvSpPr>
              <a:spLocks noChangeArrowheads="1"/>
            </p:cNvSpPr>
            <p:nvPr>
              <p:custDataLst>
                <p:tags r:id="rId12"/>
              </p:custDataLst>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00">
                <a:solidFill>
                  <a:srgbClr val="FFFFFF"/>
                </a:solidFill>
                <a:ea typeface="微软雅黑" panose="020B0503020204020204" pitchFamily="34" charset="-122"/>
                <a:sym typeface="Arial" panose="020B0604020202020204" pitchFamily="34" charset="0"/>
              </a:endParaRPr>
            </a:p>
          </p:txBody>
        </p:sp>
        <p:sp>
          <p:nvSpPr>
            <p:cNvPr id="32" name="PA-任意多边形 110"/>
            <p:cNvSpPr>
              <a:spLocks noChangeArrowheads="1"/>
            </p:cNvSpPr>
            <p:nvPr>
              <p:custDataLst>
                <p:tags r:id="rId13"/>
              </p:custDataLst>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sz="100">
                <a:latin typeface="Arial" panose="020B0604020202020204" pitchFamily="34" charset="0"/>
                <a:ea typeface="微软雅黑" panose="020B0503020204020204" pitchFamily="34" charset="-122"/>
                <a:sym typeface="Arial" panose="020B0604020202020204" pitchFamily="34" charset="0"/>
              </a:endParaRPr>
            </a:p>
          </p:txBody>
        </p:sp>
      </p:grpSp>
      <p:grpSp>
        <p:nvGrpSpPr>
          <p:cNvPr id="33" name="PA-组合 8"/>
          <p:cNvGrpSpPr/>
          <p:nvPr>
            <p:custDataLst>
              <p:tags r:id="rId3"/>
            </p:custDataLst>
          </p:nvPr>
        </p:nvGrpSpPr>
        <p:grpSpPr>
          <a:xfrm>
            <a:off x="6126686" y="2660436"/>
            <a:ext cx="432833" cy="432834"/>
            <a:chOff x="5436096" y="1274820"/>
            <a:chExt cx="432833" cy="432834"/>
          </a:xfrm>
        </p:grpSpPr>
        <p:sp>
          <p:nvSpPr>
            <p:cNvPr id="34" name="PA-椭圆 16"/>
            <p:cNvSpPr>
              <a:spLocks noChangeArrowheads="1"/>
            </p:cNvSpPr>
            <p:nvPr>
              <p:custDataLst>
                <p:tags r:id="rId10"/>
              </p:custDataLst>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00">
                <a:solidFill>
                  <a:srgbClr val="FFFFFF"/>
                </a:solidFill>
                <a:ea typeface="微软雅黑" panose="020B0503020204020204" pitchFamily="34" charset="-122"/>
                <a:sym typeface="Arial" panose="020B0604020202020204" pitchFamily="34" charset="0"/>
              </a:endParaRPr>
            </a:p>
          </p:txBody>
        </p:sp>
        <p:sp>
          <p:nvSpPr>
            <p:cNvPr id="35" name="PA-任意多边形 16"/>
            <p:cNvSpPr>
              <a:spLocks noChangeArrowheads="1"/>
            </p:cNvSpPr>
            <p:nvPr>
              <p:custDataLst>
                <p:tags r:id="rId11"/>
              </p:custDataLst>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sz="100">
                <a:latin typeface="Arial" panose="020B0604020202020204" pitchFamily="34" charset="0"/>
                <a:ea typeface="微软雅黑" panose="020B0503020204020204" pitchFamily="34" charset="-122"/>
                <a:sym typeface="Arial" panose="020B0604020202020204" pitchFamily="34" charset="0"/>
              </a:endParaRPr>
            </a:p>
          </p:txBody>
        </p:sp>
      </p:grpSp>
      <p:grpSp>
        <p:nvGrpSpPr>
          <p:cNvPr id="36" name="PA-组合 3"/>
          <p:cNvGrpSpPr/>
          <p:nvPr>
            <p:custDataLst>
              <p:tags r:id="rId4"/>
            </p:custDataLst>
          </p:nvPr>
        </p:nvGrpSpPr>
        <p:grpSpPr>
          <a:xfrm>
            <a:off x="4182470" y="2660436"/>
            <a:ext cx="432833" cy="432834"/>
            <a:chOff x="3491880" y="1274820"/>
            <a:chExt cx="432833" cy="432834"/>
          </a:xfrm>
        </p:grpSpPr>
        <p:sp>
          <p:nvSpPr>
            <p:cNvPr id="37" name="PA-椭圆 16"/>
            <p:cNvSpPr>
              <a:spLocks noChangeArrowheads="1"/>
            </p:cNvSpPr>
            <p:nvPr>
              <p:custDataLst>
                <p:tags r:id="rId8"/>
              </p:custDataLst>
            </p:nvPr>
          </p:nvSpPr>
          <p:spPr bwMode="auto">
            <a:xfrm>
              <a:off x="3491880" y="1274820"/>
              <a:ext cx="432833" cy="432834"/>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00">
                <a:solidFill>
                  <a:srgbClr val="FFFFFF"/>
                </a:solidFill>
                <a:ea typeface="微软雅黑" panose="020B0503020204020204" pitchFamily="34" charset="-122"/>
                <a:sym typeface="Arial" panose="020B0604020202020204" pitchFamily="34" charset="0"/>
              </a:endParaRPr>
            </a:p>
          </p:txBody>
        </p:sp>
        <p:sp>
          <p:nvSpPr>
            <p:cNvPr id="38" name="PA-任意多边形 75"/>
            <p:cNvSpPr>
              <a:spLocks noChangeArrowheads="1"/>
            </p:cNvSpPr>
            <p:nvPr>
              <p:custDataLst>
                <p:tags r:id="rId9"/>
              </p:custDataLst>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sz="100">
                <a:latin typeface="Arial" panose="020B0604020202020204" pitchFamily="34" charset="0"/>
                <a:ea typeface="微软雅黑" panose="020B0503020204020204" pitchFamily="34" charset="-122"/>
                <a:sym typeface="Arial" panose="020B0604020202020204" pitchFamily="34" charset="0"/>
              </a:endParaRPr>
            </a:p>
          </p:txBody>
        </p:sp>
      </p:grpSp>
      <p:grpSp>
        <p:nvGrpSpPr>
          <p:cNvPr id="39" name="PA-组合 4"/>
          <p:cNvGrpSpPr/>
          <p:nvPr>
            <p:custDataLst>
              <p:tags r:id="rId5"/>
            </p:custDataLst>
          </p:nvPr>
        </p:nvGrpSpPr>
        <p:grpSpPr>
          <a:xfrm>
            <a:off x="4830542" y="2660436"/>
            <a:ext cx="432833" cy="432834"/>
            <a:chOff x="4139952" y="1274820"/>
            <a:chExt cx="432833" cy="432834"/>
          </a:xfrm>
        </p:grpSpPr>
        <p:sp>
          <p:nvSpPr>
            <p:cNvPr id="40" name="PA-椭圆 16"/>
            <p:cNvSpPr>
              <a:spLocks noChangeArrowheads="1"/>
            </p:cNvSpPr>
            <p:nvPr>
              <p:custDataLst>
                <p:tags r:id="rId6"/>
              </p:custDataLst>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00">
                <a:solidFill>
                  <a:srgbClr val="FFFFFF"/>
                </a:solidFill>
                <a:ea typeface="微软雅黑" panose="020B0503020204020204" pitchFamily="34" charset="-122"/>
                <a:sym typeface="Arial" panose="020B0604020202020204" pitchFamily="34" charset="0"/>
              </a:endParaRPr>
            </a:p>
          </p:txBody>
        </p:sp>
        <p:sp>
          <p:nvSpPr>
            <p:cNvPr id="41" name="PA-任意多边形 84"/>
            <p:cNvSpPr>
              <a:spLocks noChangeArrowheads="1"/>
            </p:cNvSpPr>
            <p:nvPr>
              <p:custDataLst>
                <p:tags r:id="rId7"/>
              </p:custDataLst>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sz="100">
                <a:latin typeface="Arial" panose="020B0604020202020204" pitchFamily="34" charset="0"/>
                <a:ea typeface="微软雅黑" panose="020B0503020204020204" pitchFamily="34" charset="-122"/>
                <a:sym typeface="Arial" panose="020B0604020202020204" pitchFamily="34" charset="0"/>
              </a:endParaRPr>
            </a:p>
          </p:txBody>
        </p:sp>
      </p:grpSp>
    </p:spTree>
  </p:cSld>
  <p:clrMapOvr>
    <a:masterClrMapping/>
  </p:clrMapOvr>
  <mc:AlternateContent xmlns:mc="http://schemas.openxmlformats.org/markup-compatibility/2006" xmlns:p14="http://schemas.microsoft.com/office/powerpoint/2010/main">
    <mc:Choice Requires="p14">
      <p:transition spd="slow" p14:dur="2500" advClick="0" advTm="0">
        <p:checker/>
      </p:transition>
    </mc:Choice>
    <mc:Fallback xmlns="">
      <p:transition spd="slow" advClick="0" advTm="0">
        <p:check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2" presetClass="entr" presetSubtype="0" fill="hold" grpId="0" nodeType="afterEffect">
                                  <p:stCondLst>
                                    <p:cond delay="0"/>
                                  </p:stCondLst>
                                  <p:childTnLst>
                                    <p:set>
                                      <p:cBhvr>
                                        <p:cTn id="6" dur="1" fill="hold">
                                          <p:stCondLst>
                                            <p:cond delay="0"/>
                                          </p:stCondLst>
                                        </p:cTn>
                                        <p:tgtEl>
                                          <p:spTgt spid="43"/>
                                        </p:tgtEl>
                                        <p:attrNameLst>
                                          <p:attrName>style.visibility</p:attrName>
                                        </p:attrNameLst>
                                      </p:cBhvr>
                                      <p:to>
                                        <p:strVal val="visible"/>
                                      </p:to>
                                    </p:set>
                                    <p:animScale>
                                      <p:cBhvr>
                                        <p:cTn id="7" dur="1000" decel="50000" fill="hold">
                                          <p:stCondLst>
                                            <p:cond delay="0"/>
                                          </p:stCondLst>
                                        </p:cTn>
                                        <p:tgtEl>
                                          <p:spTgt spid="43"/>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43"/>
                                        </p:tgtEl>
                                        <p:attrNameLst>
                                          <p:attrName>ppt_x</p:attrName>
                                          <p:attrName>ppt_y</p:attrName>
                                        </p:attrNameLst>
                                      </p:cBhvr>
                                    </p:animMotion>
                                    <p:animEffect transition="in" filter="fade">
                                      <p:cBhvr>
                                        <p:cTn id="9" dur="1000"/>
                                        <p:tgtEl>
                                          <p:spTgt spid="43"/>
                                        </p:tgtEl>
                                      </p:cBhvr>
                                    </p:animEffect>
                                  </p:childTnLst>
                                </p:cTn>
                              </p:par>
                            </p:childTnLst>
                          </p:cTn>
                        </p:par>
                        <p:par>
                          <p:cTn id="10" fill="hold">
                            <p:stCondLst>
                              <p:cond delay="1000"/>
                            </p:stCondLst>
                            <p:childTnLst>
                              <p:par>
                                <p:cTn id="11" presetID="2" presetClass="entr" presetSubtype="8" fill="hold" nodeType="afterEffect">
                                  <p:stCondLst>
                                    <p:cond delay="0"/>
                                  </p:stCondLst>
                                  <p:childTnLst>
                                    <p:set>
                                      <p:cBhvr>
                                        <p:cTn id="12" dur="1" fill="hold">
                                          <p:stCondLst>
                                            <p:cond delay="0"/>
                                          </p:stCondLst>
                                        </p:cTn>
                                        <p:tgtEl>
                                          <p:spTgt spid="46"/>
                                        </p:tgtEl>
                                        <p:attrNameLst>
                                          <p:attrName>style.visibility</p:attrName>
                                        </p:attrNameLst>
                                      </p:cBhvr>
                                      <p:to>
                                        <p:strVal val="visible"/>
                                      </p:to>
                                    </p:set>
                                    <p:anim calcmode="lin" valueType="num">
                                      <p:cBhvr additive="base">
                                        <p:cTn id="13" dur="500" fill="hold"/>
                                        <p:tgtEl>
                                          <p:spTgt spid="46"/>
                                        </p:tgtEl>
                                        <p:attrNameLst>
                                          <p:attrName>ppt_x</p:attrName>
                                        </p:attrNameLst>
                                      </p:cBhvr>
                                      <p:tavLst>
                                        <p:tav tm="0">
                                          <p:val>
                                            <p:strVal val="0-#ppt_w/2"/>
                                          </p:val>
                                        </p:tav>
                                        <p:tav tm="100000">
                                          <p:val>
                                            <p:strVal val="#ppt_x"/>
                                          </p:val>
                                        </p:tav>
                                      </p:tavLst>
                                    </p:anim>
                                    <p:anim calcmode="lin" valueType="num">
                                      <p:cBhvr additive="base">
                                        <p:cTn id="14" dur="500" fill="hold"/>
                                        <p:tgtEl>
                                          <p:spTgt spid="46"/>
                                        </p:tgtEl>
                                        <p:attrNameLst>
                                          <p:attrName>ppt_y</p:attrName>
                                        </p:attrNameLst>
                                      </p:cBhvr>
                                      <p:tavLst>
                                        <p:tav tm="0">
                                          <p:val>
                                            <p:strVal val="#ppt_y"/>
                                          </p:val>
                                        </p:tav>
                                        <p:tav tm="100000">
                                          <p:val>
                                            <p:strVal val="#ppt_y"/>
                                          </p:val>
                                        </p:tav>
                                      </p:tavLst>
                                    </p:anim>
                                  </p:childTnLst>
                                </p:cTn>
                              </p:par>
                            </p:childTnLst>
                          </p:cTn>
                        </p:par>
                        <p:par>
                          <p:cTn id="15" fill="hold">
                            <p:stCondLst>
                              <p:cond delay="1500"/>
                            </p:stCondLst>
                            <p:childTnLst>
                              <p:par>
                                <p:cTn id="16" presetID="42" presetClass="entr" presetSubtype="0" fill="hold" grpId="0" nodeType="afterEffect">
                                  <p:stCondLst>
                                    <p:cond delay="0"/>
                                  </p:stCondLst>
                                  <p:childTnLst>
                                    <p:set>
                                      <p:cBhvr>
                                        <p:cTn id="17" dur="1" fill="hold">
                                          <p:stCondLst>
                                            <p:cond delay="0"/>
                                          </p:stCondLst>
                                        </p:cTn>
                                        <p:tgtEl>
                                          <p:spTgt spid="47"/>
                                        </p:tgtEl>
                                        <p:attrNameLst>
                                          <p:attrName>style.visibility</p:attrName>
                                        </p:attrNameLst>
                                      </p:cBhvr>
                                      <p:to>
                                        <p:strVal val="visible"/>
                                      </p:to>
                                    </p:set>
                                    <p:animEffect transition="in" filter="fade">
                                      <p:cBhvr>
                                        <p:cTn id="18" dur="1000"/>
                                        <p:tgtEl>
                                          <p:spTgt spid="47"/>
                                        </p:tgtEl>
                                      </p:cBhvr>
                                    </p:animEffect>
                                    <p:anim calcmode="lin" valueType="num">
                                      <p:cBhvr>
                                        <p:cTn id="19" dur="1000" fill="hold"/>
                                        <p:tgtEl>
                                          <p:spTgt spid="47"/>
                                        </p:tgtEl>
                                        <p:attrNameLst>
                                          <p:attrName>ppt_x</p:attrName>
                                        </p:attrNameLst>
                                      </p:cBhvr>
                                      <p:tavLst>
                                        <p:tav tm="0">
                                          <p:val>
                                            <p:strVal val="#ppt_x"/>
                                          </p:val>
                                        </p:tav>
                                        <p:tav tm="100000">
                                          <p:val>
                                            <p:strVal val="#ppt_x"/>
                                          </p:val>
                                        </p:tav>
                                      </p:tavLst>
                                    </p:anim>
                                    <p:anim calcmode="lin" valueType="num">
                                      <p:cBhvr>
                                        <p:cTn id="20" dur="1000" fill="hold"/>
                                        <p:tgtEl>
                                          <p:spTgt spid="47"/>
                                        </p:tgtEl>
                                        <p:attrNameLst>
                                          <p:attrName>ppt_y</p:attrName>
                                        </p:attrNameLst>
                                      </p:cBhvr>
                                      <p:tavLst>
                                        <p:tav tm="0">
                                          <p:val>
                                            <p:strVal val="#ppt_y+.1"/>
                                          </p:val>
                                        </p:tav>
                                        <p:tav tm="100000">
                                          <p:val>
                                            <p:strVal val="#ppt_y"/>
                                          </p:val>
                                        </p:tav>
                                      </p:tavLst>
                                    </p:anim>
                                  </p:childTnLst>
                                </p:cTn>
                              </p:par>
                            </p:childTnLst>
                          </p:cTn>
                        </p:par>
                        <p:par>
                          <p:cTn id="21" fill="hold">
                            <p:stCondLst>
                              <p:cond delay="2500"/>
                            </p:stCondLst>
                            <p:childTnLst>
                              <p:par>
                                <p:cTn id="22" presetID="31" presetClass="entr" presetSubtype="0" fill="hold" grpId="0" nodeType="afterEffect">
                                  <p:stCondLst>
                                    <p:cond delay="0"/>
                                  </p:stCondLst>
                                  <p:childTnLst>
                                    <p:set>
                                      <p:cBhvr>
                                        <p:cTn id="23" dur="1" fill="hold">
                                          <p:stCondLst>
                                            <p:cond delay="0"/>
                                          </p:stCondLst>
                                        </p:cTn>
                                        <p:tgtEl>
                                          <p:spTgt spid="26"/>
                                        </p:tgtEl>
                                        <p:attrNameLst>
                                          <p:attrName>style.visibility</p:attrName>
                                        </p:attrNameLst>
                                      </p:cBhvr>
                                      <p:to>
                                        <p:strVal val="visible"/>
                                      </p:to>
                                    </p:set>
                                    <p:anim calcmode="lin" valueType="num">
                                      <p:cBhvr>
                                        <p:cTn id="24" dur="1000" fill="hold"/>
                                        <p:tgtEl>
                                          <p:spTgt spid="26"/>
                                        </p:tgtEl>
                                        <p:attrNameLst>
                                          <p:attrName>ppt_w</p:attrName>
                                        </p:attrNameLst>
                                      </p:cBhvr>
                                      <p:tavLst>
                                        <p:tav tm="0">
                                          <p:val>
                                            <p:fltVal val="0"/>
                                          </p:val>
                                        </p:tav>
                                        <p:tav tm="100000">
                                          <p:val>
                                            <p:strVal val="#ppt_w"/>
                                          </p:val>
                                        </p:tav>
                                      </p:tavLst>
                                    </p:anim>
                                    <p:anim calcmode="lin" valueType="num">
                                      <p:cBhvr>
                                        <p:cTn id="25" dur="1000" fill="hold"/>
                                        <p:tgtEl>
                                          <p:spTgt spid="26"/>
                                        </p:tgtEl>
                                        <p:attrNameLst>
                                          <p:attrName>ppt_h</p:attrName>
                                        </p:attrNameLst>
                                      </p:cBhvr>
                                      <p:tavLst>
                                        <p:tav tm="0">
                                          <p:val>
                                            <p:fltVal val="0"/>
                                          </p:val>
                                        </p:tav>
                                        <p:tav tm="100000">
                                          <p:val>
                                            <p:strVal val="#ppt_h"/>
                                          </p:val>
                                        </p:tav>
                                      </p:tavLst>
                                    </p:anim>
                                    <p:anim calcmode="lin" valueType="num">
                                      <p:cBhvr>
                                        <p:cTn id="26" dur="1000" fill="hold"/>
                                        <p:tgtEl>
                                          <p:spTgt spid="26"/>
                                        </p:tgtEl>
                                        <p:attrNameLst>
                                          <p:attrName>style.rotation</p:attrName>
                                        </p:attrNameLst>
                                      </p:cBhvr>
                                      <p:tavLst>
                                        <p:tav tm="0">
                                          <p:val>
                                            <p:fltVal val="90"/>
                                          </p:val>
                                        </p:tav>
                                        <p:tav tm="100000">
                                          <p:val>
                                            <p:fltVal val="0"/>
                                          </p:val>
                                        </p:tav>
                                      </p:tavLst>
                                    </p:anim>
                                    <p:animEffect transition="in" filter="fade">
                                      <p:cBhvr>
                                        <p:cTn id="27" dur="1000"/>
                                        <p:tgtEl>
                                          <p:spTgt spid="26"/>
                                        </p:tgtEl>
                                      </p:cBhvr>
                                    </p:animEffect>
                                  </p:childTnLst>
                                </p:cTn>
                              </p:par>
                            </p:childTnLst>
                          </p:cTn>
                        </p:par>
                        <p:par>
                          <p:cTn id="28" fill="hold">
                            <p:stCondLst>
                              <p:cond delay="3500"/>
                            </p:stCondLst>
                            <p:childTnLst>
                              <p:par>
                                <p:cTn id="29" presetID="0" presetClass="entr" presetSubtype="0" decel="50000" fill="hold" nodeType="afterEffect">
                                  <p:stCondLst>
                                    <p:cond delay="0"/>
                                  </p:stCondLst>
                                  <p:childTnLst>
                                    <p:set>
                                      <p:cBhvr>
                                        <p:cTn id="30" dur="750" fill="hold">
                                          <p:stCondLst>
                                            <p:cond delay="0"/>
                                          </p:stCondLst>
                                        </p:cTn>
                                        <p:tgtEl>
                                          <p:spTgt spid="27"/>
                                        </p:tgtEl>
                                        <p:attrNameLst>
                                          <p:attrName>style.visibility</p:attrName>
                                        </p:attrNameLst>
                                      </p:cBhvr>
                                      <p:to>
                                        <p:strVal val="visible"/>
                                      </p:to>
                                    </p:set>
                                    <p:animScale>
                                      <p:cBhvr>
                                        <p:cTn id="31" dur="225" decel="50000" fill="hold">
                                          <p:stCondLst>
                                            <p:cond delay="0"/>
                                          </p:stCondLst>
                                        </p:cTn>
                                        <p:tgtEl>
                                          <p:spTgt spid="27"/>
                                        </p:tgtEl>
                                      </p:cBhvr>
                                      <p:from x="150000" y="150000"/>
                                      <p:to x="50000" y="50000"/>
                                    </p:animScale>
                                    <p:anim to="" calcmode="lin" valueType="num">
                                      <p:cBhvr>
                                        <p:cTn id="32" dur="225" decel="50000" fill="hold">
                                          <p:stCondLst>
                                            <p:cond delay="0"/>
                                          </p:stCondLst>
                                        </p:cTn>
                                        <p:tgtEl>
                                          <p:spTgt spid="27"/>
                                        </p:tgtEl>
                                        <p:attrNameLst>
                                          <p:attrName>ppt_x</p:attrName>
                                        </p:attrNameLst>
                                      </p:cBhvr>
                                      <p:tavLst>
                                        <p:tav tm="0">
                                          <p:val>
                                            <p:strVal val="#ppt_x-0.05"/>
                                          </p:val>
                                        </p:tav>
                                        <p:tav tm="100000">
                                          <p:val>
                                            <p:strVal val="#ppt_x+0.02"/>
                                          </p:val>
                                        </p:tav>
                                      </p:tavLst>
                                    </p:anim>
                                    <p:animScale>
                                      <p:cBhvr>
                                        <p:cTn id="33" dur="375" accel="50000" fill="hold">
                                          <p:stCondLst>
                                            <p:cond delay="225"/>
                                          </p:stCondLst>
                                        </p:cTn>
                                        <p:tgtEl>
                                          <p:spTgt spid="27"/>
                                        </p:tgtEl>
                                      </p:cBhvr>
                                      <p:from x="50000" y="50000"/>
                                      <p:to x="100000" y="100000"/>
                                    </p:animScale>
                                    <p:anim to="" calcmode="lin" valueType="num">
                                      <p:cBhvr>
                                        <p:cTn id="34" dur="375" accel="50000" fill="hold">
                                          <p:stCondLst>
                                            <p:cond delay="225"/>
                                          </p:stCondLst>
                                        </p:cTn>
                                        <p:tgtEl>
                                          <p:spTgt spid="27"/>
                                        </p:tgtEl>
                                        <p:attrNameLst>
                                          <p:attrName>ppt_x</p:attrName>
                                        </p:attrNameLst>
                                      </p:cBhvr>
                                      <p:tavLst>
                                        <p:tav tm="0">
                                          <p:val>
                                            <p:strVal val="ppt_x"/>
                                          </p:val>
                                        </p:tav>
                                        <p:tav tm="100000">
                                          <p:val>
                                            <p:strVal val="#ppt_x"/>
                                          </p:val>
                                        </p:tav>
                                      </p:tavLst>
                                    </p:anim>
                                    <p:anim to="" calcmode="lin" valueType="num">
                                      <p:cBhvr>
                                        <p:cTn id="35" dur="225" decel="50000" fill="hold">
                                          <p:stCondLst>
                                            <p:cond delay="0"/>
                                          </p:stCondLst>
                                        </p:cTn>
                                        <p:tgtEl>
                                          <p:spTgt spid="27"/>
                                        </p:tgtEl>
                                        <p:attrNameLst>
                                          <p:attrName>ppt_y</p:attrName>
                                        </p:attrNameLst>
                                      </p:cBhvr>
                                      <p:tavLst>
                                        <p:tav tm="0">
                                          <p:val>
                                            <p:strVal val="#ppt_y-0.05"/>
                                          </p:val>
                                        </p:tav>
                                        <p:tav tm="100000">
                                          <p:val>
                                            <p:strVal val="#ppt_y+0.05"/>
                                          </p:val>
                                        </p:tav>
                                      </p:tavLst>
                                    </p:anim>
                                    <p:anim to="" calcmode="lin" valueType="num">
                                      <p:cBhvr>
                                        <p:cTn id="36" dur="375" accel="50000" fill="hold">
                                          <p:stCondLst>
                                            <p:cond delay="225"/>
                                          </p:stCondLst>
                                        </p:cTn>
                                        <p:tgtEl>
                                          <p:spTgt spid="27"/>
                                        </p:tgtEl>
                                        <p:attrNameLst>
                                          <p:attrName>ppt_y</p:attrName>
                                        </p:attrNameLst>
                                      </p:cBhvr>
                                      <p:tavLst>
                                        <p:tav tm="0">
                                          <p:val>
                                            <p:strVal val="ppt_y"/>
                                          </p:val>
                                        </p:tav>
                                        <p:tav tm="100000">
                                          <p:val>
                                            <p:strVal val="#ppt_y"/>
                                          </p:val>
                                        </p:tav>
                                      </p:tavLst>
                                    </p:anim>
                                    <p:animRot by="21600000">
                                      <p:cBhvr>
                                        <p:cTn id="37" dur="750" decel="50000" fill="hold">
                                          <p:stCondLst>
                                            <p:cond delay="0"/>
                                          </p:stCondLst>
                                        </p:cTn>
                                        <p:tgtEl>
                                          <p:spTgt spid="27"/>
                                        </p:tgtEl>
                                        <p:attrNameLst>
                                          <p:attrName>r</p:attrName>
                                        </p:attrNameLst>
                                      </p:cBhvr>
                                    </p:animRot>
                                    <p:animRot by="21600000">
                                      <p:cBhvr>
                                        <p:cTn id="38" dur="375" accel="50000" fill="hold">
                                          <p:stCondLst>
                                            <p:cond delay="225"/>
                                          </p:stCondLst>
                                        </p:cTn>
                                        <p:tgtEl>
                                          <p:spTgt spid="27"/>
                                        </p:tgtEl>
                                        <p:attrNameLst>
                                          <p:attrName>r</p:attrName>
                                        </p:attrNameLst>
                                      </p:cBhvr>
                                    </p:animRot>
                                    <p:animEffect filter="fade">
                                      <p:cBhvr>
                                        <p:cTn id="39" dur="225">
                                          <p:stCondLst>
                                            <p:cond delay="0"/>
                                          </p:stCondLst>
                                        </p:cTn>
                                        <p:tgtEl>
                                          <p:spTgt spid="27"/>
                                        </p:tgtEl>
                                      </p:cBhvr>
                                    </p:animEffect>
                                  </p:childTnLst>
                                </p:cTn>
                              </p:par>
                              <p:par>
                                <p:cTn id="40" presetID="0" presetClass="entr" presetSubtype="0" decel="50000" fill="hold" nodeType="withEffect">
                                  <p:stCondLst>
                                    <p:cond delay="0"/>
                                  </p:stCondLst>
                                  <p:childTnLst>
                                    <p:set>
                                      <p:cBhvr>
                                        <p:cTn id="41" dur="750" fill="hold">
                                          <p:stCondLst>
                                            <p:cond delay="0"/>
                                          </p:stCondLst>
                                        </p:cTn>
                                        <p:tgtEl>
                                          <p:spTgt spid="30"/>
                                        </p:tgtEl>
                                        <p:attrNameLst>
                                          <p:attrName>style.visibility</p:attrName>
                                        </p:attrNameLst>
                                      </p:cBhvr>
                                      <p:to>
                                        <p:strVal val="visible"/>
                                      </p:to>
                                    </p:set>
                                    <p:animScale>
                                      <p:cBhvr>
                                        <p:cTn id="42" dur="225" decel="50000" fill="hold">
                                          <p:stCondLst>
                                            <p:cond delay="0"/>
                                          </p:stCondLst>
                                        </p:cTn>
                                        <p:tgtEl>
                                          <p:spTgt spid="30"/>
                                        </p:tgtEl>
                                      </p:cBhvr>
                                      <p:from x="150000" y="150000"/>
                                      <p:to x="50000" y="50000"/>
                                    </p:animScale>
                                    <p:anim to="" calcmode="lin" valueType="num">
                                      <p:cBhvr>
                                        <p:cTn id="43" dur="225" decel="50000" fill="hold">
                                          <p:stCondLst>
                                            <p:cond delay="0"/>
                                          </p:stCondLst>
                                        </p:cTn>
                                        <p:tgtEl>
                                          <p:spTgt spid="30"/>
                                        </p:tgtEl>
                                        <p:attrNameLst>
                                          <p:attrName>ppt_x</p:attrName>
                                        </p:attrNameLst>
                                      </p:cBhvr>
                                      <p:tavLst>
                                        <p:tav tm="0">
                                          <p:val>
                                            <p:strVal val="#ppt_x-0.05"/>
                                          </p:val>
                                        </p:tav>
                                        <p:tav tm="100000">
                                          <p:val>
                                            <p:strVal val="#ppt_x+0.02"/>
                                          </p:val>
                                        </p:tav>
                                      </p:tavLst>
                                    </p:anim>
                                    <p:animScale>
                                      <p:cBhvr>
                                        <p:cTn id="44" dur="375" accel="50000" fill="hold">
                                          <p:stCondLst>
                                            <p:cond delay="225"/>
                                          </p:stCondLst>
                                        </p:cTn>
                                        <p:tgtEl>
                                          <p:spTgt spid="30"/>
                                        </p:tgtEl>
                                      </p:cBhvr>
                                      <p:from x="50000" y="50000"/>
                                      <p:to x="100000" y="100000"/>
                                    </p:animScale>
                                    <p:anim to="" calcmode="lin" valueType="num">
                                      <p:cBhvr>
                                        <p:cTn id="45" dur="375" accel="50000" fill="hold">
                                          <p:stCondLst>
                                            <p:cond delay="225"/>
                                          </p:stCondLst>
                                        </p:cTn>
                                        <p:tgtEl>
                                          <p:spTgt spid="30"/>
                                        </p:tgtEl>
                                        <p:attrNameLst>
                                          <p:attrName>ppt_x</p:attrName>
                                        </p:attrNameLst>
                                      </p:cBhvr>
                                      <p:tavLst>
                                        <p:tav tm="0">
                                          <p:val>
                                            <p:strVal val="ppt_x"/>
                                          </p:val>
                                        </p:tav>
                                        <p:tav tm="100000">
                                          <p:val>
                                            <p:strVal val="#ppt_x"/>
                                          </p:val>
                                        </p:tav>
                                      </p:tavLst>
                                    </p:anim>
                                    <p:anim to="" calcmode="lin" valueType="num">
                                      <p:cBhvr>
                                        <p:cTn id="46" dur="225" decel="50000" fill="hold">
                                          <p:stCondLst>
                                            <p:cond delay="0"/>
                                          </p:stCondLst>
                                        </p:cTn>
                                        <p:tgtEl>
                                          <p:spTgt spid="30"/>
                                        </p:tgtEl>
                                        <p:attrNameLst>
                                          <p:attrName>ppt_y</p:attrName>
                                        </p:attrNameLst>
                                      </p:cBhvr>
                                      <p:tavLst>
                                        <p:tav tm="0">
                                          <p:val>
                                            <p:strVal val="#ppt_y-0.05"/>
                                          </p:val>
                                        </p:tav>
                                        <p:tav tm="100000">
                                          <p:val>
                                            <p:strVal val="#ppt_y+0.05"/>
                                          </p:val>
                                        </p:tav>
                                      </p:tavLst>
                                    </p:anim>
                                    <p:anim to="" calcmode="lin" valueType="num">
                                      <p:cBhvr>
                                        <p:cTn id="47" dur="375" accel="50000" fill="hold">
                                          <p:stCondLst>
                                            <p:cond delay="225"/>
                                          </p:stCondLst>
                                        </p:cTn>
                                        <p:tgtEl>
                                          <p:spTgt spid="30"/>
                                        </p:tgtEl>
                                        <p:attrNameLst>
                                          <p:attrName>ppt_y</p:attrName>
                                        </p:attrNameLst>
                                      </p:cBhvr>
                                      <p:tavLst>
                                        <p:tav tm="0">
                                          <p:val>
                                            <p:strVal val="ppt_y"/>
                                          </p:val>
                                        </p:tav>
                                        <p:tav tm="100000">
                                          <p:val>
                                            <p:strVal val="#ppt_y"/>
                                          </p:val>
                                        </p:tav>
                                      </p:tavLst>
                                    </p:anim>
                                    <p:animRot by="21600000">
                                      <p:cBhvr>
                                        <p:cTn id="48" dur="750" decel="50000" fill="hold">
                                          <p:stCondLst>
                                            <p:cond delay="0"/>
                                          </p:stCondLst>
                                        </p:cTn>
                                        <p:tgtEl>
                                          <p:spTgt spid="30"/>
                                        </p:tgtEl>
                                        <p:attrNameLst>
                                          <p:attrName>r</p:attrName>
                                        </p:attrNameLst>
                                      </p:cBhvr>
                                    </p:animRot>
                                    <p:animRot by="21600000">
                                      <p:cBhvr>
                                        <p:cTn id="49" dur="375" accel="50000" fill="hold">
                                          <p:stCondLst>
                                            <p:cond delay="225"/>
                                          </p:stCondLst>
                                        </p:cTn>
                                        <p:tgtEl>
                                          <p:spTgt spid="30"/>
                                        </p:tgtEl>
                                        <p:attrNameLst>
                                          <p:attrName>r</p:attrName>
                                        </p:attrNameLst>
                                      </p:cBhvr>
                                    </p:animRot>
                                    <p:animEffect filter="fade">
                                      <p:cBhvr>
                                        <p:cTn id="50" dur="225">
                                          <p:stCondLst>
                                            <p:cond delay="0"/>
                                          </p:stCondLst>
                                        </p:cTn>
                                        <p:tgtEl>
                                          <p:spTgt spid="30"/>
                                        </p:tgtEl>
                                      </p:cBhvr>
                                    </p:animEffect>
                                  </p:childTnLst>
                                </p:cTn>
                              </p:par>
                              <p:par>
                                <p:cTn id="51" presetID="0" presetClass="entr" presetSubtype="0" decel="50000" fill="hold" nodeType="withEffect">
                                  <p:stCondLst>
                                    <p:cond delay="0"/>
                                  </p:stCondLst>
                                  <p:childTnLst>
                                    <p:set>
                                      <p:cBhvr>
                                        <p:cTn id="52" dur="750" fill="hold">
                                          <p:stCondLst>
                                            <p:cond delay="0"/>
                                          </p:stCondLst>
                                        </p:cTn>
                                        <p:tgtEl>
                                          <p:spTgt spid="33"/>
                                        </p:tgtEl>
                                        <p:attrNameLst>
                                          <p:attrName>style.visibility</p:attrName>
                                        </p:attrNameLst>
                                      </p:cBhvr>
                                      <p:to>
                                        <p:strVal val="visible"/>
                                      </p:to>
                                    </p:set>
                                    <p:animScale>
                                      <p:cBhvr>
                                        <p:cTn id="53" dur="225" decel="50000" fill="hold">
                                          <p:stCondLst>
                                            <p:cond delay="0"/>
                                          </p:stCondLst>
                                        </p:cTn>
                                        <p:tgtEl>
                                          <p:spTgt spid="33"/>
                                        </p:tgtEl>
                                      </p:cBhvr>
                                      <p:from x="150000" y="150000"/>
                                      <p:to x="50000" y="50000"/>
                                    </p:animScale>
                                    <p:anim to="" calcmode="lin" valueType="num">
                                      <p:cBhvr>
                                        <p:cTn id="54" dur="225" decel="50000" fill="hold">
                                          <p:stCondLst>
                                            <p:cond delay="0"/>
                                          </p:stCondLst>
                                        </p:cTn>
                                        <p:tgtEl>
                                          <p:spTgt spid="33"/>
                                        </p:tgtEl>
                                        <p:attrNameLst>
                                          <p:attrName>ppt_x</p:attrName>
                                        </p:attrNameLst>
                                      </p:cBhvr>
                                      <p:tavLst>
                                        <p:tav tm="0">
                                          <p:val>
                                            <p:strVal val="#ppt_x-0.05"/>
                                          </p:val>
                                        </p:tav>
                                        <p:tav tm="100000">
                                          <p:val>
                                            <p:strVal val="#ppt_x+0.02"/>
                                          </p:val>
                                        </p:tav>
                                      </p:tavLst>
                                    </p:anim>
                                    <p:animScale>
                                      <p:cBhvr>
                                        <p:cTn id="55" dur="375" accel="50000" fill="hold">
                                          <p:stCondLst>
                                            <p:cond delay="225"/>
                                          </p:stCondLst>
                                        </p:cTn>
                                        <p:tgtEl>
                                          <p:spTgt spid="33"/>
                                        </p:tgtEl>
                                      </p:cBhvr>
                                      <p:from x="50000" y="50000"/>
                                      <p:to x="100000" y="100000"/>
                                    </p:animScale>
                                    <p:anim to="" calcmode="lin" valueType="num">
                                      <p:cBhvr>
                                        <p:cTn id="56" dur="375" accel="50000" fill="hold">
                                          <p:stCondLst>
                                            <p:cond delay="225"/>
                                          </p:stCondLst>
                                        </p:cTn>
                                        <p:tgtEl>
                                          <p:spTgt spid="33"/>
                                        </p:tgtEl>
                                        <p:attrNameLst>
                                          <p:attrName>ppt_x</p:attrName>
                                        </p:attrNameLst>
                                      </p:cBhvr>
                                      <p:tavLst>
                                        <p:tav tm="0">
                                          <p:val>
                                            <p:strVal val="ppt_x"/>
                                          </p:val>
                                        </p:tav>
                                        <p:tav tm="100000">
                                          <p:val>
                                            <p:strVal val="#ppt_x"/>
                                          </p:val>
                                        </p:tav>
                                      </p:tavLst>
                                    </p:anim>
                                    <p:anim to="" calcmode="lin" valueType="num">
                                      <p:cBhvr>
                                        <p:cTn id="57" dur="225" decel="50000" fill="hold">
                                          <p:stCondLst>
                                            <p:cond delay="0"/>
                                          </p:stCondLst>
                                        </p:cTn>
                                        <p:tgtEl>
                                          <p:spTgt spid="33"/>
                                        </p:tgtEl>
                                        <p:attrNameLst>
                                          <p:attrName>ppt_y</p:attrName>
                                        </p:attrNameLst>
                                      </p:cBhvr>
                                      <p:tavLst>
                                        <p:tav tm="0">
                                          <p:val>
                                            <p:strVal val="#ppt_y-0.05"/>
                                          </p:val>
                                        </p:tav>
                                        <p:tav tm="100000">
                                          <p:val>
                                            <p:strVal val="#ppt_y+0.05"/>
                                          </p:val>
                                        </p:tav>
                                      </p:tavLst>
                                    </p:anim>
                                    <p:anim to="" calcmode="lin" valueType="num">
                                      <p:cBhvr>
                                        <p:cTn id="58" dur="375" accel="50000" fill="hold">
                                          <p:stCondLst>
                                            <p:cond delay="225"/>
                                          </p:stCondLst>
                                        </p:cTn>
                                        <p:tgtEl>
                                          <p:spTgt spid="33"/>
                                        </p:tgtEl>
                                        <p:attrNameLst>
                                          <p:attrName>ppt_y</p:attrName>
                                        </p:attrNameLst>
                                      </p:cBhvr>
                                      <p:tavLst>
                                        <p:tav tm="0">
                                          <p:val>
                                            <p:strVal val="ppt_y"/>
                                          </p:val>
                                        </p:tav>
                                        <p:tav tm="100000">
                                          <p:val>
                                            <p:strVal val="#ppt_y"/>
                                          </p:val>
                                        </p:tav>
                                      </p:tavLst>
                                    </p:anim>
                                    <p:animRot by="21600000">
                                      <p:cBhvr>
                                        <p:cTn id="59" dur="750" decel="50000" fill="hold">
                                          <p:stCondLst>
                                            <p:cond delay="0"/>
                                          </p:stCondLst>
                                        </p:cTn>
                                        <p:tgtEl>
                                          <p:spTgt spid="33"/>
                                        </p:tgtEl>
                                        <p:attrNameLst>
                                          <p:attrName>r</p:attrName>
                                        </p:attrNameLst>
                                      </p:cBhvr>
                                    </p:animRot>
                                    <p:animRot by="21600000">
                                      <p:cBhvr>
                                        <p:cTn id="60" dur="375" accel="50000" fill="hold">
                                          <p:stCondLst>
                                            <p:cond delay="225"/>
                                          </p:stCondLst>
                                        </p:cTn>
                                        <p:tgtEl>
                                          <p:spTgt spid="33"/>
                                        </p:tgtEl>
                                        <p:attrNameLst>
                                          <p:attrName>r</p:attrName>
                                        </p:attrNameLst>
                                      </p:cBhvr>
                                    </p:animRot>
                                    <p:animEffect filter="fade">
                                      <p:cBhvr>
                                        <p:cTn id="61" dur="225">
                                          <p:stCondLst>
                                            <p:cond delay="0"/>
                                          </p:stCondLst>
                                        </p:cTn>
                                        <p:tgtEl>
                                          <p:spTgt spid="33"/>
                                        </p:tgtEl>
                                      </p:cBhvr>
                                    </p:animEffect>
                                  </p:childTnLst>
                                </p:cTn>
                              </p:par>
                              <p:par>
                                <p:cTn id="62" presetID="0" presetClass="entr" presetSubtype="0" decel="50000" fill="hold" nodeType="withEffect">
                                  <p:stCondLst>
                                    <p:cond delay="0"/>
                                  </p:stCondLst>
                                  <p:childTnLst>
                                    <p:set>
                                      <p:cBhvr>
                                        <p:cTn id="63" dur="750" fill="hold">
                                          <p:stCondLst>
                                            <p:cond delay="0"/>
                                          </p:stCondLst>
                                        </p:cTn>
                                        <p:tgtEl>
                                          <p:spTgt spid="36"/>
                                        </p:tgtEl>
                                        <p:attrNameLst>
                                          <p:attrName>style.visibility</p:attrName>
                                        </p:attrNameLst>
                                      </p:cBhvr>
                                      <p:to>
                                        <p:strVal val="visible"/>
                                      </p:to>
                                    </p:set>
                                    <p:animScale>
                                      <p:cBhvr>
                                        <p:cTn id="64" dur="225" decel="50000" fill="hold">
                                          <p:stCondLst>
                                            <p:cond delay="0"/>
                                          </p:stCondLst>
                                        </p:cTn>
                                        <p:tgtEl>
                                          <p:spTgt spid="36"/>
                                        </p:tgtEl>
                                      </p:cBhvr>
                                      <p:from x="150000" y="150000"/>
                                      <p:to x="50000" y="50000"/>
                                    </p:animScale>
                                    <p:anim to="" calcmode="lin" valueType="num">
                                      <p:cBhvr>
                                        <p:cTn id="65" dur="225" decel="50000" fill="hold">
                                          <p:stCondLst>
                                            <p:cond delay="0"/>
                                          </p:stCondLst>
                                        </p:cTn>
                                        <p:tgtEl>
                                          <p:spTgt spid="36"/>
                                        </p:tgtEl>
                                        <p:attrNameLst>
                                          <p:attrName>ppt_x</p:attrName>
                                        </p:attrNameLst>
                                      </p:cBhvr>
                                      <p:tavLst>
                                        <p:tav tm="0">
                                          <p:val>
                                            <p:strVal val="#ppt_x-0.05"/>
                                          </p:val>
                                        </p:tav>
                                        <p:tav tm="100000">
                                          <p:val>
                                            <p:strVal val="#ppt_x+0.02"/>
                                          </p:val>
                                        </p:tav>
                                      </p:tavLst>
                                    </p:anim>
                                    <p:animScale>
                                      <p:cBhvr>
                                        <p:cTn id="66" dur="375" accel="50000" fill="hold">
                                          <p:stCondLst>
                                            <p:cond delay="225"/>
                                          </p:stCondLst>
                                        </p:cTn>
                                        <p:tgtEl>
                                          <p:spTgt spid="36"/>
                                        </p:tgtEl>
                                      </p:cBhvr>
                                      <p:from x="50000" y="50000"/>
                                      <p:to x="100000" y="100000"/>
                                    </p:animScale>
                                    <p:anim to="" calcmode="lin" valueType="num">
                                      <p:cBhvr>
                                        <p:cTn id="67" dur="375" accel="50000" fill="hold">
                                          <p:stCondLst>
                                            <p:cond delay="225"/>
                                          </p:stCondLst>
                                        </p:cTn>
                                        <p:tgtEl>
                                          <p:spTgt spid="36"/>
                                        </p:tgtEl>
                                        <p:attrNameLst>
                                          <p:attrName>ppt_x</p:attrName>
                                        </p:attrNameLst>
                                      </p:cBhvr>
                                      <p:tavLst>
                                        <p:tav tm="0">
                                          <p:val>
                                            <p:strVal val="ppt_x"/>
                                          </p:val>
                                        </p:tav>
                                        <p:tav tm="100000">
                                          <p:val>
                                            <p:strVal val="#ppt_x"/>
                                          </p:val>
                                        </p:tav>
                                      </p:tavLst>
                                    </p:anim>
                                    <p:anim to="" calcmode="lin" valueType="num">
                                      <p:cBhvr>
                                        <p:cTn id="68" dur="225" decel="50000" fill="hold">
                                          <p:stCondLst>
                                            <p:cond delay="0"/>
                                          </p:stCondLst>
                                        </p:cTn>
                                        <p:tgtEl>
                                          <p:spTgt spid="36"/>
                                        </p:tgtEl>
                                        <p:attrNameLst>
                                          <p:attrName>ppt_y</p:attrName>
                                        </p:attrNameLst>
                                      </p:cBhvr>
                                      <p:tavLst>
                                        <p:tav tm="0">
                                          <p:val>
                                            <p:strVal val="#ppt_y-0.05"/>
                                          </p:val>
                                        </p:tav>
                                        <p:tav tm="100000">
                                          <p:val>
                                            <p:strVal val="#ppt_y+0.05"/>
                                          </p:val>
                                        </p:tav>
                                      </p:tavLst>
                                    </p:anim>
                                    <p:anim to="" calcmode="lin" valueType="num">
                                      <p:cBhvr>
                                        <p:cTn id="69" dur="375" accel="50000" fill="hold">
                                          <p:stCondLst>
                                            <p:cond delay="225"/>
                                          </p:stCondLst>
                                        </p:cTn>
                                        <p:tgtEl>
                                          <p:spTgt spid="36"/>
                                        </p:tgtEl>
                                        <p:attrNameLst>
                                          <p:attrName>ppt_y</p:attrName>
                                        </p:attrNameLst>
                                      </p:cBhvr>
                                      <p:tavLst>
                                        <p:tav tm="0">
                                          <p:val>
                                            <p:strVal val="ppt_y"/>
                                          </p:val>
                                        </p:tav>
                                        <p:tav tm="100000">
                                          <p:val>
                                            <p:strVal val="#ppt_y"/>
                                          </p:val>
                                        </p:tav>
                                      </p:tavLst>
                                    </p:anim>
                                    <p:animRot by="21600000">
                                      <p:cBhvr>
                                        <p:cTn id="70" dur="750" decel="50000" fill="hold">
                                          <p:stCondLst>
                                            <p:cond delay="0"/>
                                          </p:stCondLst>
                                        </p:cTn>
                                        <p:tgtEl>
                                          <p:spTgt spid="36"/>
                                        </p:tgtEl>
                                        <p:attrNameLst>
                                          <p:attrName>r</p:attrName>
                                        </p:attrNameLst>
                                      </p:cBhvr>
                                    </p:animRot>
                                    <p:animRot by="21600000">
                                      <p:cBhvr>
                                        <p:cTn id="71" dur="375" accel="50000" fill="hold">
                                          <p:stCondLst>
                                            <p:cond delay="225"/>
                                          </p:stCondLst>
                                        </p:cTn>
                                        <p:tgtEl>
                                          <p:spTgt spid="36"/>
                                        </p:tgtEl>
                                        <p:attrNameLst>
                                          <p:attrName>r</p:attrName>
                                        </p:attrNameLst>
                                      </p:cBhvr>
                                    </p:animRot>
                                    <p:animEffect filter="fade">
                                      <p:cBhvr>
                                        <p:cTn id="72" dur="225">
                                          <p:stCondLst>
                                            <p:cond delay="0"/>
                                          </p:stCondLst>
                                        </p:cTn>
                                        <p:tgtEl>
                                          <p:spTgt spid="36"/>
                                        </p:tgtEl>
                                      </p:cBhvr>
                                    </p:animEffect>
                                  </p:childTnLst>
                                </p:cTn>
                              </p:par>
                              <p:par>
                                <p:cTn id="73" presetID="0" presetClass="entr" presetSubtype="0" decel="50000" fill="hold" nodeType="withEffect">
                                  <p:stCondLst>
                                    <p:cond delay="0"/>
                                  </p:stCondLst>
                                  <p:childTnLst>
                                    <p:set>
                                      <p:cBhvr>
                                        <p:cTn id="74" dur="750" fill="hold">
                                          <p:stCondLst>
                                            <p:cond delay="0"/>
                                          </p:stCondLst>
                                        </p:cTn>
                                        <p:tgtEl>
                                          <p:spTgt spid="39"/>
                                        </p:tgtEl>
                                        <p:attrNameLst>
                                          <p:attrName>style.visibility</p:attrName>
                                        </p:attrNameLst>
                                      </p:cBhvr>
                                      <p:to>
                                        <p:strVal val="visible"/>
                                      </p:to>
                                    </p:set>
                                    <p:animScale>
                                      <p:cBhvr>
                                        <p:cTn id="75" dur="225" decel="50000" fill="hold">
                                          <p:stCondLst>
                                            <p:cond delay="0"/>
                                          </p:stCondLst>
                                        </p:cTn>
                                        <p:tgtEl>
                                          <p:spTgt spid="39"/>
                                        </p:tgtEl>
                                      </p:cBhvr>
                                      <p:from x="150000" y="150000"/>
                                      <p:to x="50000" y="50000"/>
                                    </p:animScale>
                                    <p:anim to="" calcmode="lin" valueType="num">
                                      <p:cBhvr>
                                        <p:cTn id="76" dur="225" decel="50000" fill="hold">
                                          <p:stCondLst>
                                            <p:cond delay="0"/>
                                          </p:stCondLst>
                                        </p:cTn>
                                        <p:tgtEl>
                                          <p:spTgt spid="39"/>
                                        </p:tgtEl>
                                        <p:attrNameLst>
                                          <p:attrName>ppt_x</p:attrName>
                                        </p:attrNameLst>
                                      </p:cBhvr>
                                      <p:tavLst>
                                        <p:tav tm="0">
                                          <p:val>
                                            <p:strVal val="#ppt_x-0.05"/>
                                          </p:val>
                                        </p:tav>
                                        <p:tav tm="100000">
                                          <p:val>
                                            <p:strVal val="#ppt_x+0.02"/>
                                          </p:val>
                                        </p:tav>
                                      </p:tavLst>
                                    </p:anim>
                                    <p:animScale>
                                      <p:cBhvr>
                                        <p:cTn id="77" dur="375" accel="50000" fill="hold">
                                          <p:stCondLst>
                                            <p:cond delay="225"/>
                                          </p:stCondLst>
                                        </p:cTn>
                                        <p:tgtEl>
                                          <p:spTgt spid="39"/>
                                        </p:tgtEl>
                                      </p:cBhvr>
                                      <p:from x="50000" y="50000"/>
                                      <p:to x="100000" y="100000"/>
                                    </p:animScale>
                                    <p:anim to="" calcmode="lin" valueType="num">
                                      <p:cBhvr>
                                        <p:cTn id="78" dur="375" accel="50000" fill="hold">
                                          <p:stCondLst>
                                            <p:cond delay="225"/>
                                          </p:stCondLst>
                                        </p:cTn>
                                        <p:tgtEl>
                                          <p:spTgt spid="39"/>
                                        </p:tgtEl>
                                        <p:attrNameLst>
                                          <p:attrName>ppt_x</p:attrName>
                                        </p:attrNameLst>
                                      </p:cBhvr>
                                      <p:tavLst>
                                        <p:tav tm="0">
                                          <p:val>
                                            <p:strVal val="ppt_x"/>
                                          </p:val>
                                        </p:tav>
                                        <p:tav tm="100000">
                                          <p:val>
                                            <p:strVal val="#ppt_x"/>
                                          </p:val>
                                        </p:tav>
                                      </p:tavLst>
                                    </p:anim>
                                    <p:anim to="" calcmode="lin" valueType="num">
                                      <p:cBhvr>
                                        <p:cTn id="79" dur="225" decel="50000" fill="hold">
                                          <p:stCondLst>
                                            <p:cond delay="0"/>
                                          </p:stCondLst>
                                        </p:cTn>
                                        <p:tgtEl>
                                          <p:spTgt spid="39"/>
                                        </p:tgtEl>
                                        <p:attrNameLst>
                                          <p:attrName>ppt_y</p:attrName>
                                        </p:attrNameLst>
                                      </p:cBhvr>
                                      <p:tavLst>
                                        <p:tav tm="0">
                                          <p:val>
                                            <p:strVal val="#ppt_y-0.05"/>
                                          </p:val>
                                        </p:tav>
                                        <p:tav tm="100000">
                                          <p:val>
                                            <p:strVal val="#ppt_y+0.05"/>
                                          </p:val>
                                        </p:tav>
                                      </p:tavLst>
                                    </p:anim>
                                    <p:anim to="" calcmode="lin" valueType="num">
                                      <p:cBhvr>
                                        <p:cTn id="80" dur="375" accel="50000" fill="hold">
                                          <p:stCondLst>
                                            <p:cond delay="225"/>
                                          </p:stCondLst>
                                        </p:cTn>
                                        <p:tgtEl>
                                          <p:spTgt spid="39"/>
                                        </p:tgtEl>
                                        <p:attrNameLst>
                                          <p:attrName>ppt_y</p:attrName>
                                        </p:attrNameLst>
                                      </p:cBhvr>
                                      <p:tavLst>
                                        <p:tav tm="0">
                                          <p:val>
                                            <p:strVal val="ppt_y"/>
                                          </p:val>
                                        </p:tav>
                                        <p:tav tm="100000">
                                          <p:val>
                                            <p:strVal val="#ppt_y"/>
                                          </p:val>
                                        </p:tav>
                                      </p:tavLst>
                                    </p:anim>
                                    <p:animRot by="21600000">
                                      <p:cBhvr>
                                        <p:cTn id="81" dur="750" decel="50000" fill="hold">
                                          <p:stCondLst>
                                            <p:cond delay="0"/>
                                          </p:stCondLst>
                                        </p:cTn>
                                        <p:tgtEl>
                                          <p:spTgt spid="39"/>
                                        </p:tgtEl>
                                        <p:attrNameLst>
                                          <p:attrName>r</p:attrName>
                                        </p:attrNameLst>
                                      </p:cBhvr>
                                    </p:animRot>
                                    <p:animRot by="21600000">
                                      <p:cBhvr>
                                        <p:cTn id="82" dur="375" accel="50000" fill="hold">
                                          <p:stCondLst>
                                            <p:cond delay="225"/>
                                          </p:stCondLst>
                                        </p:cTn>
                                        <p:tgtEl>
                                          <p:spTgt spid="39"/>
                                        </p:tgtEl>
                                        <p:attrNameLst>
                                          <p:attrName>r</p:attrName>
                                        </p:attrNameLst>
                                      </p:cBhvr>
                                    </p:animRot>
                                    <p:animEffect filter="fade">
                                      <p:cBhvr>
                                        <p:cTn id="83" dur="225">
                                          <p:stCondLst>
                                            <p:cond delay="0"/>
                                          </p:stCondLst>
                                        </p:cTn>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47" grpId="0" animBg="1"/>
      <p:bldP spid="2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611560" y="267494"/>
            <a:ext cx="2256285" cy="496784"/>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b="1" dirty="0">
                <a:solidFill>
                  <a:schemeClr val="accent1"/>
                </a:solidFill>
                <a:latin typeface="Arial" panose="020B0604020202020204" pitchFamily="34" charset="0"/>
                <a:ea typeface="微软雅黑" panose="020B0503020204020204" pitchFamily="34" charset="-122"/>
                <a:sym typeface="Arial" panose="020B0604020202020204" pitchFamily="34" charset="0"/>
              </a:rPr>
              <a:t>目录</a:t>
            </a:r>
            <a:r>
              <a:rPr lang="en-US" altLang="zh-CN" b="1" dirty="0">
                <a:solidFill>
                  <a:schemeClr val="accent1"/>
                </a:solidFill>
                <a:latin typeface="Arial" panose="020B0604020202020204" pitchFamily="34" charset="0"/>
                <a:ea typeface="微软雅黑" panose="020B0503020204020204" pitchFamily="34" charset="-122"/>
                <a:sym typeface="Arial" panose="020B0604020202020204" pitchFamily="34" charset="0"/>
              </a:rPr>
              <a:t>/</a:t>
            </a:r>
            <a:r>
              <a:rPr lang="en-US" altLang="zh-CN" sz="1800" b="1" dirty="0">
                <a:solidFill>
                  <a:schemeClr val="accent1"/>
                </a:solidFill>
                <a:latin typeface="Arial" panose="020B0604020202020204" pitchFamily="34" charset="0"/>
                <a:ea typeface="微软雅黑" panose="020B0503020204020204" pitchFamily="34" charset="-122"/>
                <a:sym typeface="Arial" panose="020B0604020202020204" pitchFamily="34" charset="0"/>
              </a:rPr>
              <a:t>Contents</a:t>
            </a:r>
            <a:endParaRPr lang="en-GB" sz="1800" b="1"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cxnSp>
        <p:nvCxnSpPr>
          <p:cNvPr id="43" name="直接连接符 42"/>
          <p:cNvCxnSpPr/>
          <p:nvPr/>
        </p:nvCxnSpPr>
        <p:spPr>
          <a:xfrm>
            <a:off x="738572" y="897607"/>
            <a:ext cx="7649852"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34" name="组合 33"/>
          <p:cNvGrpSpPr/>
          <p:nvPr/>
        </p:nvGrpSpPr>
        <p:grpSpPr>
          <a:xfrm>
            <a:off x="7956376" y="328858"/>
            <a:ext cx="432048" cy="432834"/>
            <a:chOff x="6084168" y="1274820"/>
            <a:chExt cx="432048" cy="432834"/>
          </a:xfrm>
        </p:grpSpPr>
        <p:sp>
          <p:nvSpPr>
            <p:cNvPr id="35" name="椭圆 22"/>
            <p:cNvSpPr>
              <a:spLocks noChangeArrowheads="1"/>
            </p:cNvSpPr>
            <p:nvPr/>
          </p:nvSpPr>
          <p:spPr bwMode="auto">
            <a:xfrm>
              <a:off x="6084168" y="1274820"/>
              <a:ext cx="432048" cy="432834"/>
            </a:xfrm>
            <a:prstGeom prst="ellipse">
              <a:avLst/>
            </a:prstGeom>
            <a:solidFill>
              <a:schemeClr val="accent1"/>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00">
                <a:solidFill>
                  <a:srgbClr val="FFFFFF"/>
                </a:solidFill>
                <a:ea typeface="微软雅黑" panose="020B0503020204020204" pitchFamily="34" charset="-122"/>
                <a:sym typeface="Arial" panose="020B0604020202020204" pitchFamily="34" charset="0"/>
              </a:endParaRPr>
            </a:p>
          </p:txBody>
        </p:sp>
        <p:sp>
          <p:nvSpPr>
            <p:cNvPr id="36"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sz="100">
                <a:latin typeface="Arial" panose="020B0604020202020204" pitchFamily="34" charset="0"/>
                <a:ea typeface="微软雅黑" panose="020B0503020204020204" pitchFamily="34" charset="-122"/>
                <a:sym typeface="Arial" panose="020B0604020202020204" pitchFamily="34" charset="0"/>
              </a:endParaRPr>
            </a:p>
          </p:txBody>
        </p:sp>
      </p:grpSp>
      <p:grpSp>
        <p:nvGrpSpPr>
          <p:cNvPr id="37" name="组合 36"/>
          <p:cNvGrpSpPr/>
          <p:nvPr/>
        </p:nvGrpSpPr>
        <p:grpSpPr>
          <a:xfrm>
            <a:off x="6660232" y="329251"/>
            <a:ext cx="432048" cy="432048"/>
            <a:chOff x="4788024" y="1275213"/>
            <a:chExt cx="432048" cy="432048"/>
          </a:xfrm>
        </p:grpSpPr>
        <p:sp>
          <p:nvSpPr>
            <p:cNvPr id="38"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00">
                <a:solidFill>
                  <a:srgbClr val="FFFFFF"/>
                </a:solidFill>
                <a:ea typeface="微软雅黑" panose="020B0503020204020204" pitchFamily="34" charset="-122"/>
                <a:sym typeface="Arial" panose="020B0604020202020204" pitchFamily="34" charset="0"/>
              </a:endParaRPr>
            </a:p>
          </p:txBody>
        </p:sp>
        <p:sp>
          <p:nvSpPr>
            <p:cNvPr id="39"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sz="100">
                <a:latin typeface="Arial" panose="020B0604020202020204" pitchFamily="34" charset="0"/>
                <a:ea typeface="微软雅黑" panose="020B0503020204020204" pitchFamily="34" charset="-122"/>
                <a:sym typeface="Arial" panose="020B0604020202020204" pitchFamily="34" charset="0"/>
              </a:endParaRPr>
            </a:p>
          </p:txBody>
        </p:sp>
      </p:grpSp>
      <p:grpSp>
        <p:nvGrpSpPr>
          <p:cNvPr id="40" name="组合 39"/>
          <p:cNvGrpSpPr/>
          <p:nvPr/>
        </p:nvGrpSpPr>
        <p:grpSpPr>
          <a:xfrm>
            <a:off x="7308304" y="328858"/>
            <a:ext cx="432833" cy="432834"/>
            <a:chOff x="5436096" y="1274820"/>
            <a:chExt cx="432833" cy="432834"/>
          </a:xfrm>
        </p:grpSpPr>
        <p:sp>
          <p:nvSpPr>
            <p:cNvPr id="41"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00">
                <a:solidFill>
                  <a:srgbClr val="FFFFFF"/>
                </a:solidFill>
                <a:ea typeface="微软雅黑" panose="020B0503020204020204" pitchFamily="34" charset="-122"/>
                <a:sym typeface="Arial" panose="020B0604020202020204" pitchFamily="34" charset="0"/>
              </a:endParaRPr>
            </a:p>
          </p:txBody>
        </p:sp>
        <p:sp>
          <p:nvSpPr>
            <p:cNvPr id="42"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sz="100">
                <a:latin typeface="Arial" panose="020B0604020202020204" pitchFamily="34" charset="0"/>
                <a:ea typeface="微软雅黑" panose="020B0503020204020204" pitchFamily="34" charset="-122"/>
                <a:sym typeface="Arial" panose="020B0604020202020204" pitchFamily="34" charset="0"/>
              </a:endParaRPr>
            </a:p>
          </p:txBody>
        </p:sp>
      </p:grpSp>
      <p:grpSp>
        <p:nvGrpSpPr>
          <p:cNvPr id="44" name="组合 43"/>
          <p:cNvGrpSpPr/>
          <p:nvPr/>
        </p:nvGrpSpPr>
        <p:grpSpPr>
          <a:xfrm>
            <a:off x="5364088" y="328858"/>
            <a:ext cx="432833" cy="432834"/>
            <a:chOff x="3491880" y="1274820"/>
            <a:chExt cx="432833" cy="432834"/>
          </a:xfrm>
        </p:grpSpPr>
        <p:sp>
          <p:nvSpPr>
            <p:cNvPr id="75" name="椭圆 16"/>
            <p:cNvSpPr>
              <a:spLocks noChangeArrowheads="1"/>
            </p:cNvSpPr>
            <p:nvPr/>
          </p:nvSpPr>
          <p:spPr bwMode="auto">
            <a:xfrm>
              <a:off x="3491880" y="1274820"/>
              <a:ext cx="432833" cy="432834"/>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00">
                <a:solidFill>
                  <a:srgbClr val="FFFFFF"/>
                </a:solidFill>
                <a:ea typeface="微软雅黑" panose="020B0503020204020204" pitchFamily="34" charset="-122"/>
                <a:sym typeface="Arial" panose="020B0604020202020204" pitchFamily="34" charset="0"/>
              </a:endParaRPr>
            </a:p>
          </p:txBody>
        </p:sp>
        <p:sp>
          <p:nvSpPr>
            <p:cNvPr id="76"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sz="100">
                <a:latin typeface="Arial" panose="020B0604020202020204" pitchFamily="34" charset="0"/>
                <a:ea typeface="微软雅黑" panose="020B0503020204020204" pitchFamily="34" charset="-122"/>
                <a:sym typeface="Arial" panose="020B0604020202020204" pitchFamily="34" charset="0"/>
              </a:endParaRPr>
            </a:p>
          </p:txBody>
        </p:sp>
      </p:grpSp>
      <p:grpSp>
        <p:nvGrpSpPr>
          <p:cNvPr id="77" name="组合 76"/>
          <p:cNvGrpSpPr/>
          <p:nvPr/>
        </p:nvGrpSpPr>
        <p:grpSpPr>
          <a:xfrm>
            <a:off x="6012160" y="328858"/>
            <a:ext cx="432833" cy="432834"/>
            <a:chOff x="4139952" y="1274820"/>
            <a:chExt cx="432833" cy="432834"/>
          </a:xfrm>
        </p:grpSpPr>
        <p:sp>
          <p:nvSpPr>
            <p:cNvPr id="78"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00">
                <a:solidFill>
                  <a:srgbClr val="FFFFFF"/>
                </a:solidFill>
                <a:ea typeface="微软雅黑" panose="020B0503020204020204" pitchFamily="34" charset="-122"/>
                <a:sym typeface="Arial" panose="020B0604020202020204" pitchFamily="34" charset="0"/>
              </a:endParaRPr>
            </a:p>
          </p:txBody>
        </p:sp>
        <p:sp>
          <p:nvSpPr>
            <p:cNvPr id="79"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sz="100">
                <a:latin typeface="Arial" panose="020B0604020202020204" pitchFamily="34" charset="0"/>
                <a:ea typeface="微软雅黑" panose="020B0503020204020204" pitchFamily="34" charset="-122"/>
                <a:sym typeface="Arial" panose="020B0604020202020204" pitchFamily="34" charset="0"/>
              </a:endParaRPr>
            </a:p>
          </p:txBody>
        </p:sp>
      </p:grpSp>
      <p:grpSp>
        <p:nvGrpSpPr>
          <p:cNvPr id="4" name="组合 3"/>
          <p:cNvGrpSpPr/>
          <p:nvPr/>
        </p:nvGrpSpPr>
        <p:grpSpPr>
          <a:xfrm>
            <a:off x="835576" y="1268990"/>
            <a:ext cx="4287833" cy="402582"/>
            <a:chOff x="2475476" y="1447608"/>
            <a:chExt cx="4287833" cy="402582"/>
          </a:xfrm>
        </p:grpSpPr>
        <p:grpSp>
          <p:nvGrpSpPr>
            <p:cNvPr id="45" name="组合 44"/>
            <p:cNvGrpSpPr/>
            <p:nvPr/>
          </p:nvGrpSpPr>
          <p:grpSpPr>
            <a:xfrm>
              <a:off x="2475476" y="1447608"/>
              <a:ext cx="718772" cy="400110"/>
              <a:chOff x="2215144" y="927951"/>
              <a:chExt cx="1244730" cy="912643"/>
            </a:xfrm>
          </p:grpSpPr>
          <p:sp>
            <p:nvSpPr>
              <p:cNvPr id="46" name="平行四边形 45"/>
              <p:cNvSpPr/>
              <p:nvPr/>
            </p:nvSpPr>
            <p:spPr>
              <a:xfrm>
                <a:off x="2215144" y="982844"/>
                <a:ext cx="1120898" cy="842780"/>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Arial" panose="020B0604020202020204" pitchFamily="34" charset="0"/>
                  <a:ea typeface="微软雅黑" panose="020B0503020204020204" pitchFamily="34" charset="-122"/>
                  <a:sym typeface="Arial" panose="020B0604020202020204" pitchFamily="34" charset="0"/>
                </a:endParaRPr>
              </a:p>
            </p:txBody>
          </p:sp>
          <p:sp>
            <p:nvSpPr>
              <p:cNvPr id="47" name="文本框 9"/>
              <p:cNvSpPr txBox="1"/>
              <p:nvPr/>
            </p:nvSpPr>
            <p:spPr>
              <a:xfrm>
                <a:off x="2393076" y="927951"/>
                <a:ext cx="1066798" cy="912643"/>
              </a:xfrm>
              <a:prstGeom prst="rect">
                <a:avLst/>
              </a:prstGeom>
              <a:noFill/>
            </p:spPr>
            <p:txBody>
              <a:bodyPr wrap="square" rtlCol="0">
                <a:spAutoFit/>
              </a:bodyPr>
              <a:lstStyle/>
              <a:p>
                <a:r>
                  <a:rPr lang="en-US" altLang="zh-CN" sz="2000" dirty="0">
                    <a:solidFill>
                      <a:schemeClr val="bg1"/>
                    </a:solidFill>
                    <a:latin typeface="Arial" panose="020B0604020202020204" pitchFamily="34" charset="0"/>
                    <a:ea typeface="微软雅黑" panose="020B0503020204020204" pitchFamily="34" charset="-122"/>
                    <a:sym typeface="Arial" panose="020B0604020202020204" pitchFamily="34" charset="0"/>
                  </a:rPr>
                  <a:t>01</a:t>
                </a:r>
                <a:endParaRPr lang="zh-CN" altLang="en-US" sz="200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grpSp>
        <p:sp>
          <p:nvSpPr>
            <p:cNvPr id="62" name="平行四边形 61"/>
            <p:cNvSpPr/>
            <p:nvPr/>
          </p:nvSpPr>
          <p:spPr>
            <a:xfrm>
              <a:off x="3021433" y="1458307"/>
              <a:ext cx="3741875" cy="369481"/>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1600" b="1">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2" name="文本框 1"/>
            <p:cNvSpPr txBox="1"/>
            <p:nvPr/>
          </p:nvSpPr>
          <p:spPr>
            <a:xfrm>
              <a:off x="3405900" y="1491630"/>
              <a:ext cx="3357409" cy="358560"/>
            </a:xfrm>
            <a:prstGeom prst="rect">
              <a:avLst/>
            </a:prstGeom>
            <a:noFill/>
          </p:spPr>
          <p:txBody>
            <a:bodyPr wrap="square" rtlCol="0" anchor="t">
              <a:spAutoFit/>
              <a:scene3d>
                <a:camera prst="orthographicFront"/>
                <a:lightRig rig="threePt" dir="t"/>
              </a:scene3d>
            </a:bodyPr>
            <a:lstStyle/>
            <a:p>
              <a:r>
                <a:rPr lang="zh-CN" altLang="en-US" sz="1730" b="1" spc="300" dirty="0">
                  <a:solidFill>
                    <a:schemeClr val="accent1"/>
                  </a:solidFill>
                  <a:effectLst>
                    <a:outerShdw blurRad="38100" dist="25400" dir="5400000" algn="ctr" rotWithShape="0">
                      <a:srgbClr val="6E747A">
                        <a:alpha val="43000"/>
                      </a:srgbClr>
                    </a:outerShdw>
                  </a:effectLst>
                  <a:latin typeface="Arial" panose="020B0604020202020204" pitchFamily="34" charset="0"/>
                  <a:ea typeface="微软雅黑" panose="020B0503020204020204" pitchFamily="34" charset="-122"/>
                  <a:cs typeface="+mn-ea"/>
                  <a:sym typeface="Arial" panose="020B0604020202020204" pitchFamily="34" charset="0"/>
                </a:rPr>
                <a:t>三大报表分析</a:t>
              </a:r>
              <a:r>
                <a:rPr lang="en-US" altLang="zh-CN" sz="1730" b="1" spc="300" dirty="0">
                  <a:solidFill>
                    <a:schemeClr val="accent1"/>
                  </a:solidFill>
                  <a:effectLst>
                    <a:outerShdw blurRad="38100" dist="25400" dir="5400000" algn="ctr" rotWithShape="0">
                      <a:srgbClr val="6E747A">
                        <a:alpha val="43000"/>
                      </a:srgbClr>
                    </a:outerShdw>
                  </a:effectLst>
                  <a:latin typeface="Arial" panose="020B0604020202020204" pitchFamily="34" charset="0"/>
                  <a:ea typeface="微软雅黑" panose="020B0503020204020204" pitchFamily="34" charset="-122"/>
                  <a:cs typeface="+mn-ea"/>
                  <a:sym typeface="Arial" panose="020B0604020202020204" pitchFamily="34" charset="0"/>
                </a:rPr>
                <a:t>-</a:t>
              </a:r>
              <a:r>
                <a:rPr lang="zh-CN" altLang="en-US" sz="1730" b="1" spc="300" dirty="0">
                  <a:solidFill>
                    <a:schemeClr val="accent1"/>
                  </a:solidFill>
                  <a:effectLst>
                    <a:outerShdw blurRad="38100" dist="25400" dir="5400000" algn="ctr" rotWithShape="0">
                      <a:srgbClr val="6E747A">
                        <a:alpha val="43000"/>
                      </a:srgbClr>
                    </a:outerShdw>
                  </a:effectLst>
                  <a:latin typeface="Arial" panose="020B0604020202020204" pitchFamily="34" charset="0"/>
                  <a:ea typeface="微软雅黑" panose="020B0503020204020204" pitchFamily="34" charset="-122"/>
                  <a:cs typeface="+mn-ea"/>
                  <a:sym typeface="Arial" panose="020B0604020202020204" pitchFamily="34" charset="0"/>
                </a:rPr>
                <a:t>资产负债表</a:t>
              </a:r>
              <a:endParaRPr lang="zh-CN" altLang="en-US" sz="1730" b="1" spc="300" dirty="0">
                <a:solidFill>
                  <a:schemeClr val="accent1"/>
                </a:solidFill>
                <a:effectLst>
                  <a:outerShdw blurRad="38100" dist="25400" dir="5400000" algn="ctr" rotWithShape="0">
                    <a:srgbClr val="6E747A">
                      <a:alpha val="43000"/>
                    </a:srgbClr>
                  </a:outerShdw>
                </a:effectLst>
                <a:uFillTx/>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63" name="组合 62"/>
          <p:cNvGrpSpPr/>
          <p:nvPr/>
        </p:nvGrpSpPr>
        <p:grpSpPr>
          <a:xfrm>
            <a:off x="827584" y="1809128"/>
            <a:ext cx="4295824" cy="402582"/>
            <a:chOff x="2475476" y="1447608"/>
            <a:chExt cx="4295824" cy="402582"/>
          </a:xfrm>
        </p:grpSpPr>
        <p:grpSp>
          <p:nvGrpSpPr>
            <p:cNvPr id="64" name="组合 63"/>
            <p:cNvGrpSpPr/>
            <p:nvPr/>
          </p:nvGrpSpPr>
          <p:grpSpPr>
            <a:xfrm>
              <a:off x="2475476" y="1447608"/>
              <a:ext cx="718772" cy="400110"/>
              <a:chOff x="2215144" y="927951"/>
              <a:chExt cx="1244730" cy="912643"/>
            </a:xfrm>
          </p:grpSpPr>
          <p:sp>
            <p:nvSpPr>
              <p:cNvPr id="67" name="平行四边形 66"/>
              <p:cNvSpPr/>
              <p:nvPr/>
            </p:nvSpPr>
            <p:spPr>
              <a:xfrm>
                <a:off x="2215144" y="982844"/>
                <a:ext cx="1120898" cy="842780"/>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Arial" panose="020B0604020202020204" pitchFamily="34" charset="0"/>
                  <a:ea typeface="微软雅黑" panose="020B0503020204020204" pitchFamily="34" charset="-122"/>
                  <a:sym typeface="Arial" panose="020B0604020202020204" pitchFamily="34" charset="0"/>
                </a:endParaRPr>
              </a:p>
            </p:txBody>
          </p:sp>
          <p:sp>
            <p:nvSpPr>
              <p:cNvPr id="69" name="文本框 9"/>
              <p:cNvSpPr txBox="1"/>
              <p:nvPr/>
            </p:nvSpPr>
            <p:spPr>
              <a:xfrm>
                <a:off x="2393076" y="927951"/>
                <a:ext cx="1066798" cy="912643"/>
              </a:xfrm>
              <a:prstGeom prst="rect">
                <a:avLst/>
              </a:prstGeom>
              <a:noFill/>
            </p:spPr>
            <p:txBody>
              <a:bodyPr wrap="square" rtlCol="0">
                <a:spAutoFit/>
              </a:bodyPr>
              <a:lstStyle/>
              <a:p>
                <a:r>
                  <a:rPr lang="en-US" altLang="zh-CN" sz="2000" dirty="0">
                    <a:solidFill>
                      <a:schemeClr val="bg1"/>
                    </a:solidFill>
                    <a:latin typeface="Arial" panose="020B0604020202020204" pitchFamily="34" charset="0"/>
                    <a:ea typeface="微软雅黑" panose="020B0503020204020204" pitchFamily="34" charset="-122"/>
                    <a:sym typeface="Arial" panose="020B0604020202020204" pitchFamily="34" charset="0"/>
                  </a:rPr>
                  <a:t>02</a:t>
                </a:r>
                <a:endParaRPr lang="zh-CN" altLang="en-US" sz="200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grpSp>
        <p:sp>
          <p:nvSpPr>
            <p:cNvPr id="65" name="平行四边形 64"/>
            <p:cNvSpPr/>
            <p:nvPr/>
          </p:nvSpPr>
          <p:spPr>
            <a:xfrm>
              <a:off x="3021434" y="1458307"/>
              <a:ext cx="3749866" cy="369481"/>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1600" b="1">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66" name="文本框 65"/>
            <p:cNvSpPr txBox="1"/>
            <p:nvPr/>
          </p:nvSpPr>
          <p:spPr>
            <a:xfrm>
              <a:off x="3405901" y="1491630"/>
              <a:ext cx="3357408" cy="358560"/>
            </a:xfrm>
            <a:prstGeom prst="rect">
              <a:avLst/>
            </a:prstGeom>
            <a:noFill/>
          </p:spPr>
          <p:txBody>
            <a:bodyPr wrap="square" rtlCol="0" anchor="t">
              <a:spAutoFit/>
              <a:scene3d>
                <a:camera prst="orthographicFront"/>
                <a:lightRig rig="threePt" dir="t"/>
              </a:scene3d>
            </a:bodyPr>
            <a:lstStyle/>
            <a:p>
              <a:r>
                <a:rPr lang="zh-CN" altLang="en-US" sz="1730" b="1" spc="300" dirty="0">
                  <a:solidFill>
                    <a:schemeClr val="accent1"/>
                  </a:solidFill>
                  <a:effectLst>
                    <a:outerShdw blurRad="38100" dist="25400" dir="5400000" algn="ctr" rotWithShape="0">
                      <a:srgbClr val="6E747A">
                        <a:alpha val="43000"/>
                      </a:srgbClr>
                    </a:outerShdw>
                  </a:effectLst>
                  <a:latin typeface="Arial" panose="020B0604020202020204" pitchFamily="34" charset="0"/>
                  <a:ea typeface="微软雅黑" panose="020B0503020204020204" pitchFamily="34" charset="-122"/>
                  <a:cs typeface="+mn-ea"/>
                  <a:sym typeface="Arial" panose="020B0604020202020204" pitchFamily="34" charset="0"/>
                </a:rPr>
                <a:t>三大报表分析</a:t>
              </a:r>
              <a:r>
                <a:rPr lang="en-US" altLang="zh-CN" sz="1730" b="1" spc="300" dirty="0">
                  <a:solidFill>
                    <a:schemeClr val="accent1"/>
                  </a:solidFill>
                  <a:effectLst>
                    <a:outerShdw blurRad="38100" dist="25400" dir="5400000" algn="ctr" rotWithShape="0">
                      <a:srgbClr val="6E747A">
                        <a:alpha val="43000"/>
                      </a:srgbClr>
                    </a:outerShdw>
                  </a:effectLst>
                  <a:latin typeface="Arial" panose="020B0604020202020204" pitchFamily="34" charset="0"/>
                  <a:ea typeface="微软雅黑" panose="020B0503020204020204" pitchFamily="34" charset="-122"/>
                  <a:cs typeface="+mn-ea"/>
                  <a:sym typeface="Arial" panose="020B0604020202020204" pitchFamily="34" charset="0"/>
                </a:rPr>
                <a:t>-</a:t>
              </a:r>
              <a:r>
                <a:rPr lang="zh-CN" altLang="en-US" sz="1730" b="1" spc="300" dirty="0">
                  <a:solidFill>
                    <a:schemeClr val="accent1"/>
                  </a:solidFill>
                  <a:effectLst>
                    <a:outerShdw blurRad="38100" dist="25400" dir="5400000" algn="ctr" rotWithShape="0">
                      <a:srgbClr val="6E747A">
                        <a:alpha val="43000"/>
                      </a:srgbClr>
                    </a:outerShdw>
                  </a:effectLst>
                  <a:latin typeface="Arial" panose="020B0604020202020204" pitchFamily="34" charset="0"/>
                  <a:ea typeface="微软雅黑" panose="020B0503020204020204" pitchFamily="34" charset="-122"/>
                  <a:cs typeface="+mn-ea"/>
                  <a:sym typeface="Arial" panose="020B0604020202020204" pitchFamily="34" charset="0"/>
                </a:rPr>
                <a:t>资产利润表</a:t>
              </a:r>
              <a:endParaRPr lang="zh-CN" altLang="en-US" sz="1730" b="1" spc="300" dirty="0">
                <a:solidFill>
                  <a:schemeClr val="accent1"/>
                </a:solidFill>
                <a:effectLst>
                  <a:outerShdw blurRad="38100" dist="25400" dir="5400000" algn="ctr" rotWithShape="0">
                    <a:srgbClr val="6E747A">
                      <a:alpha val="43000"/>
                    </a:srgbClr>
                  </a:outerShdw>
                </a:effectLst>
                <a:uFillTx/>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70" name="组合 69"/>
          <p:cNvGrpSpPr/>
          <p:nvPr/>
        </p:nvGrpSpPr>
        <p:grpSpPr>
          <a:xfrm>
            <a:off x="827584" y="2385192"/>
            <a:ext cx="4295822" cy="402582"/>
            <a:chOff x="2475476" y="1447608"/>
            <a:chExt cx="4295822" cy="402582"/>
          </a:xfrm>
        </p:grpSpPr>
        <p:grpSp>
          <p:nvGrpSpPr>
            <p:cNvPr id="72" name="组合 71"/>
            <p:cNvGrpSpPr/>
            <p:nvPr/>
          </p:nvGrpSpPr>
          <p:grpSpPr>
            <a:xfrm>
              <a:off x="2475476" y="1447608"/>
              <a:ext cx="718772" cy="400110"/>
              <a:chOff x="2215144" y="927951"/>
              <a:chExt cx="1244730" cy="912643"/>
            </a:xfrm>
          </p:grpSpPr>
          <p:sp>
            <p:nvSpPr>
              <p:cNvPr id="81" name="平行四边形 80"/>
              <p:cNvSpPr/>
              <p:nvPr/>
            </p:nvSpPr>
            <p:spPr>
              <a:xfrm>
                <a:off x="2215144" y="982844"/>
                <a:ext cx="1120898" cy="842780"/>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Arial" panose="020B0604020202020204" pitchFamily="34" charset="0"/>
                  <a:ea typeface="微软雅黑" panose="020B0503020204020204" pitchFamily="34" charset="-122"/>
                  <a:sym typeface="Arial" panose="020B0604020202020204" pitchFamily="34" charset="0"/>
                </a:endParaRPr>
              </a:p>
            </p:txBody>
          </p:sp>
          <p:sp>
            <p:nvSpPr>
              <p:cNvPr id="82" name="文本框 9"/>
              <p:cNvSpPr txBox="1"/>
              <p:nvPr/>
            </p:nvSpPr>
            <p:spPr>
              <a:xfrm>
                <a:off x="2393076" y="927951"/>
                <a:ext cx="1066798" cy="912643"/>
              </a:xfrm>
              <a:prstGeom prst="rect">
                <a:avLst/>
              </a:prstGeom>
              <a:noFill/>
            </p:spPr>
            <p:txBody>
              <a:bodyPr wrap="square" rtlCol="0">
                <a:spAutoFit/>
              </a:bodyPr>
              <a:lstStyle/>
              <a:p>
                <a:r>
                  <a:rPr lang="en-US" altLang="zh-CN" sz="2000" dirty="0">
                    <a:solidFill>
                      <a:schemeClr val="bg1"/>
                    </a:solidFill>
                    <a:latin typeface="Arial" panose="020B0604020202020204" pitchFamily="34" charset="0"/>
                    <a:ea typeface="微软雅黑" panose="020B0503020204020204" pitchFamily="34" charset="-122"/>
                    <a:sym typeface="Arial" panose="020B0604020202020204" pitchFamily="34" charset="0"/>
                  </a:rPr>
                  <a:t>03</a:t>
                </a:r>
                <a:endParaRPr lang="zh-CN" altLang="en-US" sz="200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grpSp>
        <p:sp>
          <p:nvSpPr>
            <p:cNvPr id="73" name="平行四边形 72"/>
            <p:cNvSpPr/>
            <p:nvPr/>
          </p:nvSpPr>
          <p:spPr>
            <a:xfrm>
              <a:off x="3021433" y="1458307"/>
              <a:ext cx="3749865" cy="369481"/>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1600" b="1">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80" name="文本框 79"/>
            <p:cNvSpPr txBox="1"/>
            <p:nvPr/>
          </p:nvSpPr>
          <p:spPr>
            <a:xfrm>
              <a:off x="3405901" y="1491630"/>
              <a:ext cx="3047084" cy="358560"/>
            </a:xfrm>
            <a:prstGeom prst="rect">
              <a:avLst/>
            </a:prstGeom>
            <a:noFill/>
          </p:spPr>
          <p:txBody>
            <a:bodyPr wrap="square" rtlCol="0" anchor="t">
              <a:spAutoFit/>
              <a:scene3d>
                <a:camera prst="orthographicFront"/>
                <a:lightRig rig="threePt" dir="t"/>
              </a:scene3d>
            </a:bodyPr>
            <a:lstStyle/>
            <a:p>
              <a:r>
                <a:rPr lang="zh-CN" altLang="en-US" sz="1730" b="1" spc="300" dirty="0">
                  <a:solidFill>
                    <a:schemeClr val="accent1"/>
                  </a:solidFill>
                  <a:effectLst>
                    <a:outerShdw blurRad="38100" dist="25400" dir="5400000" algn="ctr" rotWithShape="0">
                      <a:srgbClr val="6E747A">
                        <a:alpha val="43000"/>
                      </a:srgbClr>
                    </a:outerShdw>
                  </a:effectLst>
                  <a:latin typeface="Arial" panose="020B0604020202020204" pitchFamily="34" charset="0"/>
                  <a:ea typeface="微软雅黑" panose="020B0503020204020204" pitchFamily="34" charset="-122"/>
                  <a:cs typeface="+mn-ea"/>
                  <a:sym typeface="Arial" panose="020B0604020202020204" pitchFamily="34" charset="0"/>
                </a:rPr>
                <a:t>大报表分析</a:t>
              </a:r>
              <a:r>
                <a:rPr lang="en-US" altLang="zh-CN" sz="1730" b="1" spc="300" dirty="0">
                  <a:solidFill>
                    <a:schemeClr val="accent1"/>
                  </a:solidFill>
                  <a:effectLst>
                    <a:outerShdw blurRad="38100" dist="25400" dir="5400000" algn="ctr" rotWithShape="0">
                      <a:srgbClr val="6E747A">
                        <a:alpha val="43000"/>
                      </a:srgbClr>
                    </a:outerShdw>
                  </a:effectLst>
                  <a:latin typeface="Arial" panose="020B0604020202020204" pitchFamily="34" charset="0"/>
                  <a:ea typeface="微软雅黑" panose="020B0503020204020204" pitchFamily="34" charset="-122"/>
                  <a:cs typeface="+mn-ea"/>
                  <a:sym typeface="Arial" panose="020B0604020202020204" pitchFamily="34" charset="0"/>
                </a:rPr>
                <a:t>-</a:t>
              </a:r>
              <a:r>
                <a:rPr lang="zh-CN" altLang="en-US" sz="1730" b="1" spc="300" dirty="0">
                  <a:solidFill>
                    <a:schemeClr val="accent1"/>
                  </a:solidFill>
                  <a:effectLst>
                    <a:outerShdw blurRad="38100" dist="25400" dir="5400000" algn="ctr" rotWithShape="0">
                      <a:srgbClr val="6E747A">
                        <a:alpha val="43000"/>
                      </a:srgbClr>
                    </a:outerShdw>
                  </a:effectLst>
                  <a:latin typeface="Arial" panose="020B0604020202020204" pitchFamily="34" charset="0"/>
                  <a:ea typeface="微软雅黑" panose="020B0503020204020204" pitchFamily="34" charset="-122"/>
                  <a:cs typeface="+mn-ea"/>
                  <a:sym typeface="Arial" panose="020B0604020202020204" pitchFamily="34" charset="0"/>
                </a:rPr>
                <a:t>现金流量表</a:t>
              </a:r>
              <a:endParaRPr lang="zh-CN" altLang="en-US" sz="1730" b="1" spc="300" dirty="0">
                <a:solidFill>
                  <a:schemeClr val="accent1"/>
                </a:solidFill>
                <a:effectLst>
                  <a:outerShdw blurRad="38100" dist="25400" dir="5400000" algn="ctr" rotWithShape="0">
                    <a:srgbClr val="6E747A">
                      <a:alpha val="43000"/>
                    </a:srgbClr>
                  </a:outerShdw>
                </a:effectLst>
                <a:uFillTx/>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83" name="组合 82"/>
          <p:cNvGrpSpPr/>
          <p:nvPr/>
        </p:nvGrpSpPr>
        <p:grpSpPr>
          <a:xfrm>
            <a:off x="827583" y="2961256"/>
            <a:ext cx="4287832" cy="402582"/>
            <a:chOff x="2475476" y="1447608"/>
            <a:chExt cx="4160509" cy="402582"/>
          </a:xfrm>
        </p:grpSpPr>
        <p:grpSp>
          <p:nvGrpSpPr>
            <p:cNvPr id="84" name="组合 83"/>
            <p:cNvGrpSpPr/>
            <p:nvPr/>
          </p:nvGrpSpPr>
          <p:grpSpPr>
            <a:xfrm>
              <a:off x="2475476" y="1447608"/>
              <a:ext cx="718772" cy="400110"/>
              <a:chOff x="2215144" y="927951"/>
              <a:chExt cx="1244730" cy="912643"/>
            </a:xfrm>
          </p:grpSpPr>
          <p:sp>
            <p:nvSpPr>
              <p:cNvPr id="87" name="平行四边形 86"/>
              <p:cNvSpPr/>
              <p:nvPr/>
            </p:nvSpPr>
            <p:spPr>
              <a:xfrm>
                <a:off x="2215144" y="982844"/>
                <a:ext cx="1120898" cy="842780"/>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Arial" panose="020B0604020202020204" pitchFamily="34" charset="0"/>
                  <a:ea typeface="微软雅黑" panose="020B0503020204020204" pitchFamily="34" charset="-122"/>
                  <a:sym typeface="Arial" panose="020B0604020202020204" pitchFamily="34" charset="0"/>
                </a:endParaRPr>
              </a:p>
            </p:txBody>
          </p:sp>
          <p:sp>
            <p:nvSpPr>
              <p:cNvPr id="88" name="文本框 9"/>
              <p:cNvSpPr txBox="1"/>
              <p:nvPr/>
            </p:nvSpPr>
            <p:spPr>
              <a:xfrm>
                <a:off x="2393076" y="927951"/>
                <a:ext cx="1066798" cy="912643"/>
              </a:xfrm>
              <a:prstGeom prst="rect">
                <a:avLst/>
              </a:prstGeom>
              <a:noFill/>
            </p:spPr>
            <p:txBody>
              <a:bodyPr wrap="square" rtlCol="0">
                <a:spAutoFit/>
              </a:bodyPr>
              <a:lstStyle/>
              <a:p>
                <a:r>
                  <a:rPr lang="en-US" altLang="zh-CN" sz="2000" dirty="0">
                    <a:solidFill>
                      <a:schemeClr val="bg1"/>
                    </a:solidFill>
                    <a:latin typeface="Arial" panose="020B0604020202020204" pitchFamily="34" charset="0"/>
                    <a:ea typeface="微软雅黑" panose="020B0503020204020204" pitchFamily="34" charset="-122"/>
                    <a:sym typeface="Arial" panose="020B0604020202020204" pitchFamily="34" charset="0"/>
                  </a:rPr>
                  <a:t>04</a:t>
                </a:r>
                <a:endParaRPr lang="zh-CN" altLang="en-US" sz="200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grpSp>
        <p:sp>
          <p:nvSpPr>
            <p:cNvPr id="85" name="平行四边形 84"/>
            <p:cNvSpPr/>
            <p:nvPr/>
          </p:nvSpPr>
          <p:spPr>
            <a:xfrm>
              <a:off x="3021433" y="1458307"/>
              <a:ext cx="3614552" cy="369481"/>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1600" b="1">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86" name="文本框 85"/>
            <p:cNvSpPr txBox="1"/>
            <p:nvPr/>
          </p:nvSpPr>
          <p:spPr>
            <a:xfrm>
              <a:off x="3405901" y="1491630"/>
              <a:ext cx="2411588" cy="358560"/>
            </a:xfrm>
            <a:prstGeom prst="rect">
              <a:avLst/>
            </a:prstGeom>
            <a:noFill/>
          </p:spPr>
          <p:txBody>
            <a:bodyPr wrap="square" rtlCol="0" anchor="t">
              <a:spAutoFit/>
              <a:scene3d>
                <a:camera prst="orthographicFront"/>
                <a:lightRig rig="threePt" dir="t"/>
              </a:scene3d>
            </a:bodyPr>
            <a:lstStyle/>
            <a:p>
              <a:r>
                <a:rPr lang="zh-CN" altLang="en-US" sz="1730" b="1" spc="300" dirty="0">
                  <a:solidFill>
                    <a:schemeClr val="accent1"/>
                  </a:solidFill>
                  <a:effectLst>
                    <a:outerShdw blurRad="38100" dist="25400" dir="5400000" algn="ctr" rotWithShape="0">
                      <a:srgbClr val="6E747A">
                        <a:alpha val="43000"/>
                      </a:srgbClr>
                    </a:outerShdw>
                  </a:effectLst>
                  <a:latin typeface="Arial" panose="020B0604020202020204" pitchFamily="34" charset="0"/>
                  <a:ea typeface="微软雅黑" panose="020B0503020204020204" pitchFamily="34" charset="-122"/>
                  <a:cs typeface="+mn-ea"/>
                  <a:sym typeface="Arial" panose="020B0604020202020204" pitchFamily="34" charset="0"/>
                </a:rPr>
                <a:t>费用分析</a:t>
              </a:r>
              <a:endParaRPr lang="zh-CN" altLang="en-US" sz="1730" b="1" spc="300" dirty="0">
                <a:solidFill>
                  <a:schemeClr val="accent1"/>
                </a:solidFill>
                <a:effectLst>
                  <a:outerShdw blurRad="38100" dist="25400" dir="5400000" algn="ctr" rotWithShape="0">
                    <a:srgbClr val="6E747A">
                      <a:alpha val="43000"/>
                    </a:srgbClr>
                  </a:outerShdw>
                </a:effectLst>
                <a:uFillTx/>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89" name="组合 88"/>
          <p:cNvGrpSpPr/>
          <p:nvPr/>
        </p:nvGrpSpPr>
        <p:grpSpPr>
          <a:xfrm>
            <a:off x="819592" y="3537320"/>
            <a:ext cx="4303814" cy="402582"/>
            <a:chOff x="2475476" y="1447608"/>
            <a:chExt cx="4303814" cy="402582"/>
          </a:xfrm>
        </p:grpSpPr>
        <p:grpSp>
          <p:nvGrpSpPr>
            <p:cNvPr id="90" name="组合 89"/>
            <p:cNvGrpSpPr/>
            <p:nvPr/>
          </p:nvGrpSpPr>
          <p:grpSpPr>
            <a:xfrm>
              <a:off x="2475476" y="1447608"/>
              <a:ext cx="718772" cy="400110"/>
              <a:chOff x="2215144" y="927951"/>
              <a:chExt cx="1244730" cy="912643"/>
            </a:xfrm>
          </p:grpSpPr>
          <p:sp>
            <p:nvSpPr>
              <p:cNvPr id="93" name="平行四边形 92"/>
              <p:cNvSpPr/>
              <p:nvPr/>
            </p:nvSpPr>
            <p:spPr>
              <a:xfrm>
                <a:off x="2215144" y="982844"/>
                <a:ext cx="1120898" cy="842780"/>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Arial" panose="020B0604020202020204" pitchFamily="34" charset="0"/>
                  <a:ea typeface="微软雅黑" panose="020B0503020204020204" pitchFamily="34" charset="-122"/>
                  <a:sym typeface="Arial" panose="020B0604020202020204" pitchFamily="34" charset="0"/>
                </a:endParaRPr>
              </a:p>
            </p:txBody>
          </p:sp>
          <p:sp>
            <p:nvSpPr>
              <p:cNvPr id="94" name="文本框 9"/>
              <p:cNvSpPr txBox="1"/>
              <p:nvPr/>
            </p:nvSpPr>
            <p:spPr>
              <a:xfrm>
                <a:off x="2393076" y="927951"/>
                <a:ext cx="1066798" cy="912643"/>
              </a:xfrm>
              <a:prstGeom prst="rect">
                <a:avLst/>
              </a:prstGeom>
              <a:noFill/>
            </p:spPr>
            <p:txBody>
              <a:bodyPr wrap="square" rtlCol="0">
                <a:spAutoFit/>
              </a:bodyPr>
              <a:lstStyle/>
              <a:p>
                <a:r>
                  <a:rPr lang="en-US" altLang="zh-CN" sz="2000" dirty="0">
                    <a:solidFill>
                      <a:schemeClr val="bg1"/>
                    </a:solidFill>
                    <a:latin typeface="Arial" panose="020B0604020202020204" pitchFamily="34" charset="0"/>
                    <a:ea typeface="微软雅黑" panose="020B0503020204020204" pitchFamily="34" charset="-122"/>
                    <a:sym typeface="Arial" panose="020B0604020202020204" pitchFamily="34" charset="0"/>
                  </a:rPr>
                  <a:t>05</a:t>
                </a:r>
                <a:endParaRPr lang="zh-CN" altLang="en-US" sz="200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grpSp>
        <p:sp>
          <p:nvSpPr>
            <p:cNvPr id="91" name="平行四边形 90"/>
            <p:cNvSpPr/>
            <p:nvPr/>
          </p:nvSpPr>
          <p:spPr>
            <a:xfrm>
              <a:off x="3021434" y="1458307"/>
              <a:ext cx="3757856" cy="369481"/>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1600" b="1">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92" name="文本框 91"/>
            <p:cNvSpPr txBox="1"/>
            <p:nvPr/>
          </p:nvSpPr>
          <p:spPr>
            <a:xfrm>
              <a:off x="3405901" y="1491630"/>
              <a:ext cx="2411588" cy="358560"/>
            </a:xfrm>
            <a:prstGeom prst="rect">
              <a:avLst/>
            </a:prstGeom>
            <a:noFill/>
          </p:spPr>
          <p:txBody>
            <a:bodyPr wrap="square" rtlCol="0" anchor="t">
              <a:spAutoFit/>
              <a:scene3d>
                <a:camera prst="orthographicFront"/>
                <a:lightRig rig="threePt" dir="t"/>
              </a:scene3d>
            </a:bodyPr>
            <a:lstStyle/>
            <a:p>
              <a:r>
                <a:rPr lang="zh-CN" altLang="en-US" sz="1730" b="1" spc="300" dirty="0">
                  <a:solidFill>
                    <a:schemeClr val="accent1"/>
                  </a:solidFill>
                  <a:effectLst>
                    <a:outerShdw blurRad="38100" dist="25400" dir="5400000" algn="ctr" rotWithShape="0">
                      <a:srgbClr val="6E747A">
                        <a:alpha val="43000"/>
                      </a:srgbClr>
                    </a:outerShdw>
                  </a:effectLst>
                  <a:latin typeface="Arial" panose="020B0604020202020204" pitchFamily="34" charset="0"/>
                  <a:ea typeface="微软雅黑" panose="020B0503020204020204" pitchFamily="34" charset="-122"/>
                  <a:cs typeface="+mn-ea"/>
                  <a:sym typeface="Arial" panose="020B0604020202020204" pitchFamily="34" charset="0"/>
                </a:rPr>
                <a:t>应收账款分析</a:t>
              </a:r>
              <a:endParaRPr lang="zh-CN" altLang="en-US" sz="1730" b="1" spc="300" dirty="0">
                <a:solidFill>
                  <a:schemeClr val="accent1"/>
                </a:solidFill>
                <a:effectLst>
                  <a:outerShdw blurRad="38100" dist="25400" dir="5400000" algn="ctr" rotWithShape="0">
                    <a:srgbClr val="6E747A">
                      <a:alpha val="43000"/>
                    </a:srgbClr>
                  </a:outerShdw>
                </a:effectLst>
                <a:uFillTx/>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95" name="组合 94"/>
          <p:cNvGrpSpPr/>
          <p:nvPr/>
        </p:nvGrpSpPr>
        <p:grpSpPr>
          <a:xfrm>
            <a:off x="819592" y="4113384"/>
            <a:ext cx="4295824" cy="402582"/>
            <a:chOff x="2475476" y="1447608"/>
            <a:chExt cx="4295824" cy="402582"/>
          </a:xfrm>
        </p:grpSpPr>
        <p:grpSp>
          <p:nvGrpSpPr>
            <p:cNvPr id="96" name="组合 95"/>
            <p:cNvGrpSpPr/>
            <p:nvPr/>
          </p:nvGrpSpPr>
          <p:grpSpPr>
            <a:xfrm>
              <a:off x="2475476" y="1447608"/>
              <a:ext cx="718772" cy="400110"/>
              <a:chOff x="2215144" y="927951"/>
              <a:chExt cx="1244730" cy="912643"/>
            </a:xfrm>
          </p:grpSpPr>
          <p:sp>
            <p:nvSpPr>
              <p:cNvPr id="99" name="平行四边形 98"/>
              <p:cNvSpPr/>
              <p:nvPr/>
            </p:nvSpPr>
            <p:spPr>
              <a:xfrm>
                <a:off x="2215144" y="982844"/>
                <a:ext cx="1120898" cy="842780"/>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Arial" panose="020B0604020202020204" pitchFamily="34" charset="0"/>
                  <a:ea typeface="微软雅黑" panose="020B0503020204020204" pitchFamily="34" charset="-122"/>
                  <a:sym typeface="Arial" panose="020B0604020202020204" pitchFamily="34" charset="0"/>
                </a:endParaRPr>
              </a:p>
            </p:txBody>
          </p:sp>
          <p:sp>
            <p:nvSpPr>
              <p:cNvPr id="100" name="文本框 9"/>
              <p:cNvSpPr txBox="1"/>
              <p:nvPr/>
            </p:nvSpPr>
            <p:spPr>
              <a:xfrm>
                <a:off x="2393076" y="927951"/>
                <a:ext cx="1066798" cy="912643"/>
              </a:xfrm>
              <a:prstGeom prst="rect">
                <a:avLst/>
              </a:prstGeom>
              <a:noFill/>
            </p:spPr>
            <p:txBody>
              <a:bodyPr wrap="square" rtlCol="0">
                <a:spAutoFit/>
              </a:bodyPr>
              <a:lstStyle/>
              <a:p>
                <a:r>
                  <a:rPr lang="en-US" altLang="zh-CN" sz="2000" dirty="0">
                    <a:solidFill>
                      <a:schemeClr val="bg1"/>
                    </a:solidFill>
                    <a:latin typeface="Arial" panose="020B0604020202020204" pitchFamily="34" charset="0"/>
                    <a:ea typeface="微软雅黑" panose="020B0503020204020204" pitchFamily="34" charset="-122"/>
                    <a:sym typeface="Arial" panose="020B0604020202020204" pitchFamily="34" charset="0"/>
                  </a:rPr>
                  <a:t>06</a:t>
                </a:r>
                <a:endParaRPr lang="zh-CN" altLang="en-US" sz="200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grpSp>
        <p:sp>
          <p:nvSpPr>
            <p:cNvPr id="97" name="平行四边形 96"/>
            <p:cNvSpPr/>
            <p:nvPr/>
          </p:nvSpPr>
          <p:spPr>
            <a:xfrm>
              <a:off x="3021434" y="1458307"/>
              <a:ext cx="3749866" cy="369481"/>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1600" b="1">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98" name="文本框 97"/>
            <p:cNvSpPr txBox="1"/>
            <p:nvPr/>
          </p:nvSpPr>
          <p:spPr>
            <a:xfrm>
              <a:off x="3405901" y="1491630"/>
              <a:ext cx="2411588" cy="358560"/>
            </a:xfrm>
            <a:prstGeom prst="rect">
              <a:avLst/>
            </a:prstGeom>
            <a:noFill/>
          </p:spPr>
          <p:txBody>
            <a:bodyPr wrap="square" rtlCol="0" anchor="t">
              <a:spAutoFit/>
              <a:scene3d>
                <a:camera prst="orthographicFront"/>
                <a:lightRig rig="threePt" dir="t"/>
              </a:scene3d>
            </a:bodyPr>
            <a:lstStyle/>
            <a:p>
              <a:r>
                <a:rPr lang="zh-CN" altLang="en-US" sz="1730" b="1" spc="300" dirty="0">
                  <a:solidFill>
                    <a:schemeClr val="accent1"/>
                  </a:solidFill>
                  <a:effectLst>
                    <a:outerShdw blurRad="38100" dist="25400" dir="5400000" algn="ctr" rotWithShape="0">
                      <a:srgbClr val="6E747A">
                        <a:alpha val="43000"/>
                      </a:srgbClr>
                    </a:outerShdw>
                  </a:effectLst>
                  <a:latin typeface="Arial" panose="020B0604020202020204" pitchFamily="34" charset="0"/>
                  <a:ea typeface="微软雅黑" panose="020B0503020204020204" pitchFamily="34" charset="-122"/>
                  <a:cs typeface="+mn-ea"/>
                  <a:sym typeface="Arial" panose="020B0604020202020204" pitchFamily="34" charset="0"/>
                </a:rPr>
                <a:t>应付账款分析</a:t>
              </a:r>
            </a:p>
          </p:txBody>
        </p:sp>
      </p:grpSp>
      <p:pic>
        <p:nvPicPr>
          <p:cNvPr id="3" name="图片 2"/>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flipH="1">
            <a:off x="5456072" y="1790361"/>
            <a:ext cx="3877078" cy="2410606"/>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00" advClick="0" advTm="0">
        <p14:flip dir="r"/>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2" fill="hold"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1+#ppt_w/2"/>
                                          </p:val>
                                        </p:tav>
                                        <p:tav tm="100000">
                                          <p:val>
                                            <p:strVal val="#ppt_x"/>
                                          </p:val>
                                        </p:tav>
                                      </p:tavLst>
                                    </p:anim>
                                    <p:anim calcmode="lin" valueType="num">
                                      <p:cBhvr additive="base">
                                        <p:cTn id="13" dur="500" fill="hold"/>
                                        <p:tgtEl>
                                          <p:spTgt spid="4"/>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2" fill="hold" nodeType="afterEffect">
                                  <p:stCondLst>
                                    <p:cond delay="0"/>
                                  </p:stCondLst>
                                  <p:childTnLst>
                                    <p:set>
                                      <p:cBhvr>
                                        <p:cTn id="16" dur="1" fill="hold">
                                          <p:stCondLst>
                                            <p:cond delay="0"/>
                                          </p:stCondLst>
                                        </p:cTn>
                                        <p:tgtEl>
                                          <p:spTgt spid="63"/>
                                        </p:tgtEl>
                                        <p:attrNameLst>
                                          <p:attrName>style.visibility</p:attrName>
                                        </p:attrNameLst>
                                      </p:cBhvr>
                                      <p:to>
                                        <p:strVal val="visible"/>
                                      </p:to>
                                    </p:set>
                                    <p:anim calcmode="lin" valueType="num">
                                      <p:cBhvr additive="base">
                                        <p:cTn id="17" dur="500" fill="hold"/>
                                        <p:tgtEl>
                                          <p:spTgt spid="63"/>
                                        </p:tgtEl>
                                        <p:attrNameLst>
                                          <p:attrName>ppt_x</p:attrName>
                                        </p:attrNameLst>
                                      </p:cBhvr>
                                      <p:tavLst>
                                        <p:tav tm="0">
                                          <p:val>
                                            <p:strVal val="1+#ppt_w/2"/>
                                          </p:val>
                                        </p:tav>
                                        <p:tav tm="100000">
                                          <p:val>
                                            <p:strVal val="#ppt_x"/>
                                          </p:val>
                                        </p:tav>
                                      </p:tavLst>
                                    </p:anim>
                                    <p:anim calcmode="lin" valueType="num">
                                      <p:cBhvr additive="base">
                                        <p:cTn id="18" dur="500" fill="hold"/>
                                        <p:tgtEl>
                                          <p:spTgt spid="63"/>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 presetClass="entr" presetSubtype="2" fill="hold" nodeType="afterEffect">
                                  <p:stCondLst>
                                    <p:cond delay="0"/>
                                  </p:stCondLst>
                                  <p:childTnLst>
                                    <p:set>
                                      <p:cBhvr>
                                        <p:cTn id="21" dur="1" fill="hold">
                                          <p:stCondLst>
                                            <p:cond delay="0"/>
                                          </p:stCondLst>
                                        </p:cTn>
                                        <p:tgtEl>
                                          <p:spTgt spid="70"/>
                                        </p:tgtEl>
                                        <p:attrNameLst>
                                          <p:attrName>style.visibility</p:attrName>
                                        </p:attrNameLst>
                                      </p:cBhvr>
                                      <p:to>
                                        <p:strVal val="visible"/>
                                      </p:to>
                                    </p:set>
                                    <p:anim calcmode="lin" valueType="num">
                                      <p:cBhvr additive="base">
                                        <p:cTn id="22" dur="500" fill="hold"/>
                                        <p:tgtEl>
                                          <p:spTgt spid="70"/>
                                        </p:tgtEl>
                                        <p:attrNameLst>
                                          <p:attrName>ppt_x</p:attrName>
                                        </p:attrNameLst>
                                      </p:cBhvr>
                                      <p:tavLst>
                                        <p:tav tm="0">
                                          <p:val>
                                            <p:strVal val="1+#ppt_w/2"/>
                                          </p:val>
                                        </p:tav>
                                        <p:tav tm="100000">
                                          <p:val>
                                            <p:strVal val="#ppt_x"/>
                                          </p:val>
                                        </p:tav>
                                      </p:tavLst>
                                    </p:anim>
                                    <p:anim calcmode="lin" valueType="num">
                                      <p:cBhvr additive="base">
                                        <p:cTn id="23" dur="500" fill="hold"/>
                                        <p:tgtEl>
                                          <p:spTgt spid="70"/>
                                        </p:tgtEl>
                                        <p:attrNameLst>
                                          <p:attrName>ppt_y</p:attrName>
                                        </p:attrNameLst>
                                      </p:cBhvr>
                                      <p:tavLst>
                                        <p:tav tm="0">
                                          <p:val>
                                            <p:strVal val="#ppt_y"/>
                                          </p:val>
                                        </p:tav>
                                        <p:tav tm="100000">
                                          <p:val>
                                            <p:strVal val="#ppt_y"/>
                                          </p:val>
                                        </p:tav>
                                      </p:tavLst>
                                    </p:anim>
                                  </p:childTnLst>
                                </p:cTn>
                              </p:par>
                            </p:childTnLst>
                          </p:cTn>
                        </p:par>
                        <p:par>
                          <p:cTn id="24" fill="hold">
                            <p:stCondLst>
                              <p:cond delay="2000"/>
                            </p:stCondLst>
                            <p:childTnLst>
                              <p:par>
                                <p:cTn id="25" presetID="2" presetClass="entr" presetSubtype="2" fill="hold" nodeType="afterEffect">
                                  <p:stCondLst>
                                    <p:cond delay="0"/>
                                  </p:stCondLst>
                                  <p:childTnLst>
                                    <p:set>
                                      <p:cBhvr>
                                        <p:cTn id="26" dur="1" fill="hold">
                                          <p:stCondLst>
                                            <p:cond delay="0"/>
                                          </p:stCondLst>
                                        </p:cTn>
                                        <p:tgtEl>
                                          <p:spTgt spid="83"/>
                                        </p:tgtEl>
                                        <p:attrNameLst>
                                          <p:attrName>style.visibility</p:attrName>
                                        </p:attrNameLst>
                                      </p:cBhvr>
                                      <p:to>
                                        <p:strVal val="visible"/>
                                      </p:to>
                                    </p:set>
                                    <p:anim calcmode="lin" valueType="num">
                                      <p:cBhvr additive="base">
                                        <p:cTn id="27" dur="500" fill="hold"/>
                                        <p:tgtEl>
                                          <p:spTgt spid="83"/>
                                        </p:tgtEl>
                                        <p:attrNameLst>
                                          <p:attrName>ppt_x</p:attrName>
                                        </p:attrNameLst>
                                      </p:cBhvr>
                                      <p:tavLst>
                                        <p:tav tm="0">
                                          <p:val>
                                            <p:strVal val="1+#ppt_w/2"/>
                                          </p:val>
                                        </p:tav>
                                        <p:tav tm="100000">
                                          <p:val>
                                            <p:strVal val="#ppt_x"/>
                                          </p:val>
                                        </p:tav>
                                      </p:tavLst>
                                    </p:anim>
                                    <p:anim calcmode="lin" valueType="num">
                                      <p:cBhvr additive="base">
                                        <p:cTn id="28" dur="500" fill="hold"/>
                                        <p:tgtEl>
                                          <p:spTgt spid="83"/>
                                        </p:tgtEl>
                                        <p:attrNameLst>
                                          <p:attrName>ppt_y</p:attrName>
                                        </p:attrNameLst>
                                      </p:cBhvr>
                                      <p:tavLst>
                                        <p:tav tm="0">
                                          <p:val>
                                            <p:strVal val="#ppt_y"/>
                                          </p:val>
                                        </p:tav>
                                        <p:tav tm="100000">
                                          <p:val>
                                            <p:strVal val="#ppt_y"/>
                                          </p:val>
                                        </p:tav>
                                      </p:tavLst>
                                    </p:anim>
                                  </p:childTnLst>
                                </p:cTn>
                              </p:par>
                            </p:childTnLst>
                          </p:cTn>
                        </p:par>
                        <p:par>
                          <p:cTn id="29" fill="hold">
                            <p:stCondLst>
                              <p:cond delay="2500"/>
                            </p:stCondLst>
                            <p:childTnLst>
                              <p:par>
                                <p:cTn id="30" presetID="2" presetClass="entr" presetSubtype="2" fill="hold" nodeType="afterEffect">
                                  <p:stCondLst>
                                    <p:cond delay="0"/>
                                  </p:stCondLst>
                                  <p:childTnLst>
                                    <p:set>
                                      <p:cBhvr>
                                        <p:cTn id="31" dur="1" fill="hold">
                                          <p:stCondLst>
                                            <p:cond delay="0"/>
                                          </p:stCondLst>
                                        </p:cTn>
                                        <p:tgtEl>
                                          <p:spTgt spid="89"/>
                                        </p:tgtEl>
                                        <p:attrNameLst>
                                          <p:attrName>style.visibility</p:attrName>
                                        </p:attrNameLst>
                                      </p:cBhvr>
                                      <p:to>
                                        <p:strVal val="visible"/>
                                      </p:to>
                                    </p:set>
                                    <p:anim calcmode="lin" valueType="num">
                                      <p:cBhvr additive="base">
                                        <p:cTn id="32" dur="500" fill="hold"/>
                                        <p:tgtEl>
                                          <p:spTgt spid="89"/>
                                        </p:tgtEl>
                                        <p:attrNameLst>
                                          <p:attrName>ppt_x</p:attrName>
                                        </p:attrNameLst>
                                      </p:cBhvr>
                                      <p:tavLst>
                                        <p:tav tm="0">
                                          <p:val>
                                            <p:strVal val="1+#ppt_w/2"/>
                                          </p:val>
                                        </p:tav>
                                        <p:tav tm="100000">
                                          <p:val>
                                            <p:strVal val="#ppt_x"/>
                                          </p:val>
                                        </p:tav>
                                      </p:tavLst>
                                    </p:anim>
                                    <p:anim calcmode="lin" valueType="num">
                                      <p:cBhvr additive="base">
                                        <p:cTn id="33" dur="500" fill="hold"/>
                                        <p:tgtEl>
                                          <p:spTgt spid="89"/>
                                        </p:tgtEl>
                                        <p:attrNameLst>
                                          <p:attrName>ppt_y</p:attrName>
                                        </p:attrNameLst>
                                      </p:cBhvr>
                                      <p:tavLst>
                                        <p:tav tm="0">
                                          <p:val>
                                            <p:strVal val="#ppt_y"/>
                                          </p:val>
                                        </p:tav>
                                        <p:tav tm="100000">
                                          <p:val>
                                            <p:strVal val="#ppt_y"/>
                                          </p:val>
                                        </p:tav>
                                      </p:tavLst>
                                    </p:anim>
                                  </p:childTnLst>
                                </p:cTn>
                              </p:par>
                            </p:childTnLst>
                          </p:cTn>
                        </p:par>
                        <p:par>
                          <p:cTn id="34" fill="hold">
                            <p:stCondLst>
                              <p:cond delay="3000"/>
                            </p:stCondLst>
                            <p:childTnLst>
                              <p:par>
                                <p:cTn id="35" presetID="2" presetClass="entr" presetSubtype="2" fill="hold" nodeType="afterEffect">
                                  <p:stCondLst>
                                    <p:cond delay="0"/>
                                  </p:stCondLst>
                                  <p:childTnLst>
                                    <p:set>
                                      <p:cBhvr>
                                        <p:cTn id="36" dur="1" fill="hold">
                                          <p:stCondLst>
                                            <p:cond delay="0"/>
                                          </p:stCondLst>
                                        </p:cTn>
                                        <p:tgtEl>
                                          <p:spTgt spid="95"/>
                                        </p:tgtEl>
                                        <p:attrNameLst>
                                          <p:attrName>style.visibility</p:attrName>
                                        </p:attrNameLst>
                                      </p:cBhvr>
                                      <p:to>
                                        <p:strVal val="visible"/>
                                      </p:to>
                                    </p:set>
                                    <p:anim calcmode="lin" valueType="num">
                                      <p:cBhvr additive="base">
                                        <p:cTn id="37" dur="500" fill="hold"/>
                                        <p:tgtEl>
                                          <p:spTgt spid="95"/>
                                        </p:tgtEl>
                                        <p:attrNameLst>
                                          <p:attrName>ppt_x</p:attrName>
                                        </p:attrNameLst>
                                      </p:cBhvr>
                                      <p:tavLst>
                                        <p:tav tm="0">
                                          <p:val>
                                            <p:strVal val="1+#ppt_w/2"/>
                                          </p:val>
                                        </p:tav>
                                        <p:tav tm="100000">
                                          <p:val>
                                            <p:strVal val="#ppt_x"/>
                                          </p:val>
                                        </p:tav>
                                      </p:tavLst>
                                    </p:anim>
                                    <p:anim calcmode="lin" valueType="num">
                                      <p:cBhvr additive="base">
                                        <p:cTn id="38" dur="500" fill="hold"/>
                                        <p:tgtEl>
                                          <p:spTgt spid="9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1203598"/>
            <a:ext cx="9144000" cy="1814777"/>
            <a:chOff x="0" y="1651830"/>
            <a:chExt cx="9144000" cy="1814777"/>
          </a:xfrm>
        </p:grpSpPr>
        <p:sp>
          <p:nvSpPr>
            <p:cNvPr id="44" name="等腰三角形 43"/>
            <p:cNvSpPr/>
            <p:nvPr/>
          </p:nvSpPr>
          <p:spPr>
            <a:xfrm>
              <a:off x="2469921" y="1651830"/>
              <a:ext cx="825385" cy="828242"/>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100">
                <a:latin typeface="Arial" panose="020B0604020202020204" pitchFamily="34" charset="0"/>
                <a:ea typeface="微软雅黑" panose="020B0503020204020204" pitchFamily="34" charset="-122"/>
                <a:sym typeface="Arial" panose="020B0604020202020204" pitchFamily="34" charset="0"/>
              </a:endParaRPr>
            </a:p>
          </p:txBody>
        </p:sp>
        <p:sp>
          <p:nvSpPr>
            <p:cNvPr id="45" name="等腰三角形 44"/>
            <p:cNvSpPr/>
            <p:nvPr/>
          </p:nvSpPr>
          <p:spPr>
            <a:xfrm flipV="1">
              <a:off x="68682" y="2638365"/>
              <a:ext cx="825385" cy="828242"/>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100">
                <a:latin typeface="Arial" panose="020B0604020202020204" pitchFamily="34" charset="0"/>
                <a:ea typeface="微软雅黑" panose="020B0503020204020204" pitchFamily="34" charset="-122"/>
                <a:sym typeface="Arial" panose="020B0604020202020204" pitchFamily="34" charset="0"/>
              </a:endParaRPr>
            </a:p>
          </p:txBody>
        </p:sp>
        <p:sp>
          <p:nvSpPr>
            <p:cNvPr id="46" name="矩形 45"/>
            <p:cNvSpPr/>
            <p:nvPr/>
          </p:nvSpPr>
          <p:spPr>
            <a:xfrm>
              <a:off x="0" y="1846479"/>
              <a:ext cx="9144000" cy="142173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100">
                <a:latin typeface="Arial" panose="020B0604020202020204" pitchFamily="34" charset="0"/>
                <a:ea typeface="微软雅黑" panose="020B0503020204020204" pitchFamily="34" charset="-122"/>
                <a:sym typeface="Arial" panose="020B0604020202020204" pitchFamily="34" charset="0"/>
              </a:endParaRPr>
            </a:p>
          </p:txBody>
        </p:sp>
        <p:sp>
          <p:nvSpPr>
            <p:cNvPr id="47" name="平行四边形 46"/>
            <p:cNvSpPr/>
            <p:nvPr/>
          </p:nvSpPr>
          <p:spPr>
            <a:xfrm>
              <a:off x="479202" y="1652469"/>
              <a:ext cx="2406979" cy="1809759"/>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100">
                <a:latin typeface="Arial" panose="020B0604020202020204" pitchFamily="34" charset="0"/>
                <a:ea typeface="微软雅黑" panose="020B0503020204020204" pitchFamily="34" charset="-122"/>
                <a:sym typeface="Arial" panose="020B0604020202020204" pitchFamily="34" charset="0"/>
              </a:endParaRPr>
            </a:p>
          </p:txBody>
        </p:sp>
      </p:grpSp>
      <p:sp>
        <p:nvSpPr>
          <p:cNvPr id="48" name="文本框 6"/>
          <p:cNvSpPr txBox="1"/>
          <p:nvPr/>
        </p:nvSpPr>
        <p:spPr>
          <a:xfrm>
            <a:off x="1115616" y="1450309"/>
            <a:ext cx="1322150" cy="1299210"/>
          </a:xfrm>
          <a:prstGeom prst="rect">
            <a:avLst/>
          </a:prstGeom>
          <a:noFill/>
        </p:spPr>
        <p:txBody>
          <a:bodyPr wrap="square" lIns="68580" tIns="34290" rIns="68580" bIns="34290" rtlCol="0">
            <a:spAutoFit/>
          </a:bodyPr>
          <a:lstStyle/>
          <a:p>
            <a:r>
              <a:rPr lang="en-US" altLang="zh-CN" sz="8000" dirty="0">
                <a:solidFill>
                  <a:schemeClr val="bg1">
                    <a:lumMod val="95000"/>
                  </a:schemeClr>
                </a:solidFill>
                <a:latin typeface="Arial" panose="020B0604020202020204" pitchFamily="34" charset="0"/>
                <a:ea typeface="微软雅黑" panose="020B0503020204020204" pitchFamily="34" charset="-122"/>
                <a:sym typeface="Arial" panose="020B0604020202020204" pitchFamily="34" charset="0"/>
              </a:rPr>
              <a:t>01</a:t>
            </a:r>
            <a:endParaRPr lang="zh-CN" altLang="en-US" sz="8000" dirty="0">
              <a:solidFill>
                <a:schemeClr val="bg1">
                  <a:lumMod val="9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49" name="TextBox 48"/>
          <p:cNvSpPr txBox="1"/>
          <p:nvPr/>
        </p:nvSpPr>
        <p:spPr>
          <a:xfrm>
            <a:off x="2977966" y="1831998"/>
            <a:ext cx="5050408" cy="561692"/>
          </a:xfrm>
          <a:prstGeom prst="rect">
            <a:avLst/>
          </a:prstGeom>
          <a:noFill/>
        </p:spPr>
        <p:txBody>
          <a:bodyPr wrap="square" lIns="68583" tIns="34290" rIns="68583" bIns="34290" rtlCol="0">
            <a:spAutoFit/>
          </a:bodyPr>
          <a:lstStyle/>
          <a:p>
            <a:r>
              <a:rPr lang="zh-CN" altLang="en-US" sz="3200" b="1"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三大报表分析</a:t>
            </a:r>
            <a:r>
              <a:rPr lang="en-US" altLang="zh-CN" sz="3200" b="1"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a:t>
            </a:r>
            <a:r>
              <a:rPr lang="zh-CN" altLang="en-US" sz="3200" b="1"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资产负债表</a:t>
            </a:r>
          </a:p>
        </p:txBody>
      </p:sp>
      <p:grpSp>
        <p:nvGrpSpPr>
          <p:cNvPr id="7" name="PA-组合 6"/>
          <p:cNvGrpSpPr/>
          <p:nvPr>
            <p:custDataLst>
              <p:tags r:id="rId1"/>
            </p:custDataLst>
          </p:nvPr>
        </p:nvGrpSpPr>
        <p:grpSpPr>
          <a:xfrm>
            <a:off x="5940152" y="826588"/>
            <a:ext cx="432048" cy="432834"/>
            <a:chOff x="6084168" y="1274820"/>
            <a:chExt cx="432048" cy="432834"/>
          </a:xfrm>
        </p:grpSpPr>
        <p:sp>
          <p:nvSpPr>
            <p:cNvPr id="14" name="PA-椭圆 22"/>
            <p:cNvSpPr>
              <a:spLocks noChangeArrowheads="1"/>
            </p:cNvSpPr>
            <p:nvPr>
              <p:custDataLst>
                <p:tags r:id="rId14"/>
              </p:custDataLst>
            </p:nvPr>
          </p:nvSpPr>
          <p:spPr bwMode="auto">
            <a:xfrm>
              <a:off x="6084168" y="1274820"/>
              <a:ext cx="432048" cy="432834"/>
            </a:xfrm>
            <a:prstGeom prst="ellipse">
              <a:avLst/>
            </a:prstGeom>
            <a:solidFill>
              <a:schemeClr val="accent1"/>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00">
                <a:solidFill>
                  <a:srgbClr val="FFFFFF"/>
                </a:solidFill>
                <a:ea typeface="微软雅黑" panose="020B0503020204020204" pitchFamily="34" charset="-122"/>
                <a:sym typeface="Arial" panose="020B0604020202020204" pitchFamily="34" charset="0"/>
              </a:endParaRPr>
            </a:p>
          </p:txBody>
        </p:sp>
        <p:sp>
          <p:nvSpPr>
            <p:cNvPr id="19" name="PA-任意多边形 59"/>
            <p:cNvSpPr>
              <a:spLocks noChangeArrowheads="1"/>
            </p:cNvSpPr>
            <p:nvPr>
              <p:custDataLst>
                <p:tags r:id="rId15"/>
              </p:custDataLst>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sz="100">
                <a:latin typeface="Arial" panose="020B0604020202020204" pitchFamily="34" charset="0"/>
                <a:ea typeface="微软雅黑" panose="020B0503020204020204" pitchFamily="34" charset="-122"/>
                <a:sym typeface="Arial" panose="020B0604020202020204" pitchFamily="34" charset="0"/>
              </a:endParaRPr>
            </a:p>
          </p:txBody>
        </p:sp>
      </p:grpSp>
      <p:grpSp>
        <p:nvGrpSpPr>
          <p:cNvPr id="6" name="PA-组合 5"/>
          <p:cNvGrpSpPr/>
          <p:nvPr>
            <p:custDataLst>
              <p:tags r:id="rId2"/>
            </p:custDataLst>
          </p:nvPr>
        </p:nvGrpSpPr>
        <p:grpSpPr>
          <a:xfrm>
            <a:off x="4644008" y="826981"/>
            <a:ext cx="432048" cy="432048"/>
            <a:chOff x="4788024" y="1275213"/>
            <a:chExt cx="432048" cy="432048"/>
          </a:xfrm>
        </p:grpSpPr>
        <p:sp>
          <p:nvSpPr>
            <p:cNvPr id="17" name="PA-椭圆 65"/>
            <p:cNvSpPr>
              <a:spLocks noChangeArrowheads="1"/>
            </p:cNvSpPr>
            <p:nvPr>
              <p:custDataLst>
                <p:tags r:id="rId12"/>
              </p:custDataLst>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00">
                <a:solidFill>
                  <a:srgbClr val="FFFFFF"/>
                </a:solidFill>
                <a:ea typeface="微软雅黑" panose="020B0503020204020204" pitchFamily="34" charset="-122"/>
                <a:sym typeface="Arial" panose="020B0604020202020204" pitchFamily="34" charset="0"/>
              </a:endParaRPr>
            </a:p>
          </p:txBody>
        </p:sp>
        <p:sp>
          <p:nvSpPr>
            <p:cNvPr id="20" name="PA-任意多边形 110"/>
            <p:cNvSpPr>
              <a:spLocks noChangeArrowheads="1"/>
            </p:cNvSpPr>
            <p:nvPr>
              <p:custDataLst>
                <p:tags r:id="rId13"/>
              </p:custDataLst>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sz="100">
                <a:latin typeface="Arial" panose="020B0604020202020204" pitchFamily="34" charset="0"/>
                <a:ea typeface="微软雅黑" panose="020B0503020204020204" pitchFamily="34" charset="-122"/>
                <a:sym typeface="Arial" panose="020B0604020202020204" pitchFamily="34" charset="0"/>
              </a:endParaRPr>
            </a:p>
          </p:txBody>
        </p:sp>
      </p:grpSp>
      <p:grpSp>
        <p:nvGrpSpPr>
          <p:cNvPr id="9" name="PA-组合 8"/>
          <p:cNvGrpSpPr/>
          <p:nvPr>
            <p:custDataLst>
              <p:tags r:id="rId3"/>
            </p:custDataLst>
          </p:nvPr>
        </p:nvGrpSpPr>
        <p:grpSpPr>
          <a:xfrm>
            <a:off x="5292080" y="826588"/>
            <a:ext cx="432833" cy="432834"/>
            <a:chOff x="5436096" y="1274820"/>
            <a:chExt cx="432833" cy="432834"/>
          </a:xfrm>
        </p:grpSpPr>
        <p:sp>
          <p:nvSpPr>
            <p:cNvPr id="25" name="PA-椭圆 16"/>
            <p:cNvSpPr>
              <a:spLocks noChangeArrowheads="1"/>
            </p:cNvSpPr>
            <p:nvPr>
              <p:custDataLst>
                <p:tags r:id="rId10"/>
              </p:custDataLst>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00">
                <a:solidFill>
                  <a:srgbClr val="FFFFFF"/>
                </a:solidFill>
                <a:ea typeface="微软雅黑" panose="020B0503020204020204" pitchFamily="34" charset="-122"/>
                <a:sym typeface="Arial" panose="020B0604020202020204" pitchFamily="34" charset="0"/>
              </a:endParaRPr>
            </a:p>
          </p:txBody>
        </p:sp>
        <p:sp>
          <p:nvSpPr>
            <p:cNvPr id="21" name="PA-任意多边形 16"/>
            <p:cNvSpPr>
              <a:spLocks noChangeArrowheads="1"/>
            </p:cNvSpPr>
            <p:nvPr>
              <p:custDataLst>
                <p:tags r:id="rId11"/>
              </p:custDataLst>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sz="100">
                <a:latin typeface="Arial" panose="020B0604020202020204" pitchFamily="34" charset="0"/>
                <a:ea typeface="微软雅黑" panose="020B0503020204020204" pitchFamily="34" charset="-122"/>
                <a:sym typeface="Arial" panose="020B0604020202020204" pitchFamily="34" charset="0"/>
              </a:endParaRPr>
            </a:p>
          </p:txBody>
        </p:sp>
      </p:grpSp>
      <p:grpSp>
        <p:nvGrpSpPr>
          <p:cNvPr id="4" name="PA-组合 3"/>
          <p:cNvGrpSpPr/>
          <p:nvPr>
            <p:custDataLst>
              <p:tags r:id="rId4"/>
            </p:custDataLst>
          </p:nvPr>
        </p:nvGrpSpPr>
        <p:grpSpPr>
          <a:xfrm>
            <a:off x="3347864" y="826588"/>
            <a:ext cx="432833" cy="432834"/>
            <a:chOff x="3491880" y="1274820"/>
            <a:chExt cx="432833" cy="432834"/>
          </a:xfrm>
        </p:grpSpPr>
        <p:sp>
          <p:nvSpPr>
            <p:cNvPr id="11" name="PA-椭圆 16"/>
            <p:cNvSpPr>
              <a:spLocks noChangeArrowheads="1"/>
            </p:cNvSpPr>
            <p:nvPr>
              <p:custDataLst>
                <p:tags r:id="rId8"/>
              </p:custDataLst>
            </p:nvPr>
          </p:nvSpPr>
          <p:spPr bwMode="auto">
            <a:xfrm>
              <a:off x="3491880" y="1274820"/>
              <a:ext cx="432833" cy="432834"/>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00">
                <a:solidFill>
                  <a:srgbClr val="FFFFFF"/>
                </a:solidFill>
                <a:ea typeface="微软雅黑" panose="020B0503020204020204" pitchFamily="34" charset="-122"/>
                <a:sym typeface="Arial" panose="020B0604020202020204" pitchFamily="34" charset="0"/>
              </a:endParaRPr>
            </a:p>
          </p:txBody>
        </p:sp>
        <p:sp>
          <p:nvSpPr>
            <p:cNvPr id="22" name="PA-任意多边形 75"/>
            <p:cNvSpPr>
              <a:spLocks noChangeArrowheads="1"/>
            </p:cNvSpPr>
            <p:nvPr>
              <p:custDataLst>
                <p:tags r:id="rId9"/>
              </p:custDataLst>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sz="100">
                <a:latin typeface="Arial" panose="020B0604020202020204" pitchFamily="34" charset="0"/>
                <a:ea typeface="微软雅黑" panose="020B0503020204020204" pitchFamily="34" charset="-122"/>
                <a:sym typeface="Arial" panose="020B0604020202020204" pitchFamily="34" charset="0"/>
              </a:endParaRPr>
            </a:p>
          </p:txBody>
        </p:sp>
      </p:grpSp>
      <p:grpSp>
        <p:nvGrpSpPr>
          <p:cNvPr id="5" name="PA-组合 4"/>
          <p:cNvGrpSpPr/>
          <p:nvPr>
            <p:custDataLst>
              <p:tags r:id="rId5"/>
            </p:custDataLst>
          </p:nvPr>
        </p:nvGrpSpPr>
        <p:grpSpPr>
          <a:xfrm>
            <a:off x="3995936" y="826588"/>
            <a:ext cx="432833" cy="432834"/>
            <a:chOff x="4139952" y="1274820"/>
            <a:chExt cx="432833" cy="432834"/>
          </a:xfrm>
        </p:grpSpPr>
        <p:sp>
          <p:nvSpPr>
            <p:cNvPr id="24" name="PA-椭圆 16"/>
            <p:cNvSpPr>
              <a:spLocks noChangeArrowheads="1"/>
            </p:cNvSpPr>
            <p:nvPr>
              <p:custDataLst>
                <p:tags r:id="rId6"/>
              </p:custDataLst>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00">
                <a:solidFill>
                  <a:srgbClr val="FFFFFF"/>
                </a:solidFill>
                <a:ea typeface="微软雅黑" panose="020B0503020204020204" pitchFamily="34" charset="-122"/>
                <a:sym typeface="Arial" panose="020B0604020202020204" pitchFamily="34" charset="0"/>
              </a:endParaRPr>
            </a:p>
          </p:txBody>
        </p:sp>
        <p:sp>
          <p:nvSpPr>
            <p:cNvPr id="23" name="PA-任意多边形 84"/>
            <p:cNvSpPr>
              <a:spLocks noChangeArrowheads="1"/>
            </p:cNvSpPr>
            <p:nvPr>
              <p:custDataLst>
                <p:tags r:id="rId7"/>
              </p:custDataLst>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sz="100">
                <a:latin typeface="Arial" panose="020B0604020202020204" pitchFamily="34" charset="0"/>
                <a:ea typeface="微软雅黑" panose="020B0503020204020204" pitchFamily="34" charset="-122"/>
                <a:sym typeface="Arial" panose="020B0604020202020204" pitchFamily="34" charset="0"/>
              </a:endParaRPr>
            </a:p>
          </p:txBody>
        </p:sp>
      </p:grpSp>
      <p:pic>
        <p:nvPicPr>
          <p:cNvPr id="3" name="图片 2"/>
          <p:cNvPicPr>
            <a:picLocks noChangeAspect="1"/>
          </p:cNvPicPr>
          <p:nvPr/>
        </p:nvPicPr>
        <p:blipFill>
          <a:blip r:embed="rId18" cstate="print">
            <a:extLst>
              <a:ext uri="{28A0092B-C50C-407E-A947-70E740481C1C}">
                <a14:useLocalDpi xmlns:a14="http://schemas.microsoft.com/office/drawing/2010/main"/>
              </a:ext>
            </a:extLst>
          </a:blip>
          <a:stretch>
            <a:fillRect/>
          </a:stretch>
        </p:blipFill>
        <p:spPr>
          <a:xfrm>
            <a:off x="3500410" y="2958806"/>
            <a:ext cx="2493351" cy="2041201"/>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advTm="0">
        <p15:prstTrans prst="airplane" invX="1"/>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2" presetClass="entr" presetSubtype="0" fill="hold" grpId="0" nodeType="afterEffect">
                                  <p:stCondLst>
                                    <p:cond delay="0"/>
                                  </p:stCondLst>
                                  <p:childTnLst>
                                    <p:set>
                                      <p:cBhvr>
                                        <p:cTn id="11" dur="1" fill="hold">
                                          <p:stCondLst>
                                            <p:cond delay="0"/>
                                          </p:stCondLst>
                                        </p:cTn>
                                        <p:tgtEl>
                                          <p:spTgt spid="48"/>
                                        </p:tgtEl>
                                        <p:attrNameLst>
                                          <p:attrName>style.visibility</p:attrName>
                                        </p:attrNameLst>
                                      </p:cBhvr>
                                      <p:to>
                                        <p:strVal val="visible"/>
                                      </p:to>
                                    </p:set>
                                    <p:animEffect transition="in" filter="fade">
                                      <p:cBhvr>
                                        <p:cTn id="12" dur="1000"/>
                                        <p:tgtEl>
                                          <p:spTgt spid="48"/>
                                        </p:tgtEl>
                                      </p:cBhvr>
                                    </p:animEffect>
                                    <p:anim calcmode="lin" valueType="num">
                                      <p:cBhvr>
                                        <p:cTn id="13" dur="1000" fill="hold"/>
                                        <p:tgtEl>
                                          <p:spTgt spid="48"/>
                                        </p:tgtEl>
                                        <p:attrNameLst>
                                          <p:attrName>ppt_x</p:attrName>
                                        </p:attrNameLst>
                                      </p:cBhvr>
                                      <p:tavLst>
                                        <p:tav tm="0">
                                          <p:val>
                                            <p:strVal val="#ppt_x"/>
                                          </p:val>
                                        </p:tav>
                                        <p:tav tm="100000">
                                          <p:val>
                                            <p:strVal val="#ppt_x"/>
                                          </p:val>
                                        </p:tav>
                                      </p:tavLst>
                                    </p:anim>
                                    <p:anim calcmode="lin" valueType="num">
                                      <p:cBhvr>
                                        <p:cTn id="14" dur="1000" fill="hold"/>
                                        <p:tgtEl>
                                          <p:spTgt spid="48"/>
                                        </p:tgtEl>
                                        <p:attrNameLst>
                                          <p:attrName>ppt_y</p:attrName>
                                        </p:attrNameLst>
                                      </p:cBhvr>
                                      <p:tavLst>
                                        <p:tav tm="0">
                                          <p:val>
                                            <p:strVal val="#ppt_y+.1"/>
                                          </p:val>
                                        </p:tav>
                                        <p:tav tm="100000">
                                          <p:val>
                                            <p:strVal val="#ppt_y"/>
                                          </p:val>
                                        </p:tav>
                                      </p:tavLst>
                                    </p:anim>
                                  </p:childTnLst>
                                </p:cTn>
                              </p:par>
                            </p:childTnLst>
                          </p:cTn>
                        </p:par>
                        <p:par>
                          <p:cTn id="15" fill="hold">
                            <p:stCondLst>
                              <p:cond delay="1500"/>
                            </p:stCondLst>
                            <p:childTnLst>
                              <p:par>
                                <p:cTn id="16" presetID="41" presetClass="entr" presetSubtype="0" fill="hold" grpId="0" nodeType="afterEffect">
                                  <p:stCondLst>
                                    <p:cond delay="0"/>
                                  </p:stCondLst>
                                  <p:iterate type="lt">
                                    <p:tmPct val="10000"/>
                                  </p:iterate>
                                  <p:childTnLst>
                                    <p:set>
                                      <p:cBhvr>
                                        <p:cTn id="17" dur="1" fill="hold">
                                          <p:stCondLst>
                                            <p:cond delay="0"/>
                                          </p:stCondLst>
                                        </p:cTn>
                                        <p:tgtEl>
                                          <p:spTgt spid="49"/>
                                        </p:tgtEl>
                                        <p:attrNameLst>
                                          <p:attrName>style.visibility</p:attrName>
                                        </p:attrNameLst>
                                      </p:cBhvr>
                                      <p:to>
                                        <p:strVal val="visible"/>
                                      </p:to>
                                    </p:set>
                                    <p:anim calcmode="lin" valueType="num">
                                      <p:cBhvr>
                                        <p:cTn id="18" dur="500" fill="hold"/>
                                        <p:tgtEl>
                                          <p:spTgt spid="49"/>
                                        </p:tgtEl>
                                        <p:attrNameLst>
                                          <p:attrName>ppt_x</p:attrName>
                                        </p:attrNameLst>
                                      </p:cBhvr>
                                      <p:tavLst>
                                        <p:tav tm="0">
                                          <p:val>
                                            <p:strVal val="#ppt_x"/>
                                          </p:val>
                                        </p:tav>
                                        <p:tav tm="50000">
                                          <p:val>
                                            <p:strVal val="#ppt_x+.1"/>
                                          </p:val>
                                        </p:tav>
                                        <p:tav tm="100000">
                                          <p:val>
                                            <p:strVal val="#ppt_x"/>
                                          </p:val>
                                        </p:tav>
                                      </p:tavLst>
                                    </p:anim>
                                    <p:anim calcmode="lin" valueType="num">
                                      <p:cBhvr>
                                        <p:cTn id="19" dur="500" fill="hold"/>
                                        <p:tgtEl>
                                          <p:spTgt spid="49"/>
                                        </p:tgtEl>
                                        <p:attrNameLst>
                                          <p:attrName>ppt_y</p:attrName>
                                        </p:attrNameLst>
                                      </p:cBhvr>
                                      <p:tavLst>
                                        <p:tav tm="0">
                                          <p:val>
                                            <p:strVal val="#ppt_y"/>
                                          </p:val>
                                        </p:tav>
                                        <p:tav tm="100000">
                                          <p:val>
                                            <p:strVal val="#ppt_y"/>
                                          </p:val>
                                        </p:tav>
                                      </p:tavLst>
                                    </p:anim>
                                    <p:anim calcmode="lin" valueType="num">
                                      <p:cBhvr>
                                        <p:cTn id="20" dur="500" fill="hold"/>
                                        <p:tgtEl>
                                          <p:spTgt spid="49"/>
                                        </p:tgtEl>
                                        <p:attrNameLst>
                                          <p:attrName>ppt_h</p:attrName>
                                        </p:attrNameLst>
                                      </p:cBhvr>
                                      <p:tavLst>
                                        <p:tav tm="0">
                                          <p:val>
                                            <p:strVal val="#ppt_h/10"/>
                                          </p:val>
                                        </p:tav>
                                        <p:tav tm="50000">
                                          <p:val>
                                            <p:strVal val="#ppt_h+.01"/>
                                          </p:val>
                                        </p:tav>
                                        <p:tav tm="100000">
                                          <p:val>
                                            <p:strVal val="#ppt_h"/>
                                          </p:val>
                                        </p:tav>
                                      </p:tavLst>
                                    </p:anim>
                                    <p:anim calcmode="lin" valueType="num">
                                      <p:cBhvr>
                                        <p:cTn id="21" dur="500" fill="hold"/>
                                        <p:tgtEl>
                                          <p:spTgt spid="49"/>
                                        </p:tgtEl>
                                        <p:attrNameLst>
                                          <p:attrName>ppt_w</p:attrName>
                                        </p:attrNameLst>
                                      </p:cBhvr>
                                      <p:tavLst>
                                        <p:tav tm="0">
                                          <p:val>
                                            <p:strVal val="#ppt_w/10"/>
                                          </p:val>
                                        </p:tav>
                                        <p:tav tm="50000">
                                          <p:val>
                                            <p:strVal val="#ppt_w+.01"/>
                                          </p:val>
                                        </p:tav>
                                        <p:tav tm="100000">
                                          <p:val>
                                            <p:strVal val="#ppt_w"/>
                                          </p:val>
                                        </p:tav>
                                      </p:tavLst>
                                    </p:anim>
                                    <p:animEffect transition="in" filter="fade">
                                      <p:cBhvr>
                                        <p:cTn id="22" dur="500" tmFilter="0,0; .5, 1; 1, 1"/>
                                        <p:tgtEl>
                                          <p:spTgt spid="49"/>
                                        </p:tgtEl>
                                      </p:cBhvr>
                                    </p:animEffect>
                                  </p:childTnLst>
                                </p:cTn>
                              </p:par>
                            </p:childTnLst>
                          </p:cTn>
                        </p:par>
                        <p:par>
                          <p:cTn id="23" fill="hold">
                            <p:stCondLst>
                              <p:cond delay="2049"/>
                            </p:stCondLst>
                            <p:childTnLst>
                              <p:par>
                                <p:cTn id="24" presetID="0" presetClass="entr" presetSubtype="0" decel="50000" fill="hold" nodeType="afterEffect">
                                  <p:stCondLst>
                                    <p:cond delay="0"/>
                                  </p:stCondLst>
                                  <p:childTnLst>
                                    <p:set>
                                      <p:cBhvr>
                                        <p:cTn id="25" dur="750" fill="hold">
                                          <p:stCondLst>
                                            <p:cond delay="0"/>
                                          </p:stCondLst>
                                        </p:cTn>
                                        <p:tgtEl>
                                          <p:spTgt spid="7"/>
                                        </p:tgtEl>
                                        <p:attrNameLst>
                                          <p:attrName>style.visibility</p:attrName>
                                        </p:attrNameLst>
                                      </p:cBhvr>
                                      <p:to>
                                        <p:strVal val="visible"/>
                                      </p:to>
                                    </p:set>
                                    <p:animScale>
                                      <p:cBhvr>
                                        <p:cTn id="26" dur="225" decel="50000" fill="hold">
                                          <p:stCondLst>
                                            <p:cond delay="0"/>
                                          </p:stCondLst>
                                        </p:cTn>
                                        <p:tgtEl>
                                          <p:spTgt spid="7"/>
                                        </p:tgtEl>
                                      </p:cBhvr>
                                      <p:from x="150000" y="150000"/>
                                      <p:to x="50000" y="50000"/>
                                    </p:animScale>
                                    <p:anim to="" calcmode="lin" valueType="num">
                                      <p:cBhvr>
                                        <p:cTn id="27" dur="225" decel="50000" fill="hold">
                                          <p:stCondLst>
                                            <p:cond delay="0"/>
                                          </p:stCondLst>
                                        </p:cTn>
                                        <p:tgtEl>
                                          <p:spTgt spid="7"/>
                                        </p:tgtEl>
                                        <p:attrNameLst>
                                          <p:attrName>ppt_x</p:attrName>
                                        </p:attrNameLst>
                                      </p:cBhvr>
                                      <p:tavLst>
                                        <p:tav tm="0">
                                          <p:val>
                                            <p:strVal val="#ppt_x-0.05"/>
                                          </p:val>
                                        </p:tav>
                                        <p:tav tm="100000">
                                          <p:val>
                                            <p:strVal val="#ppt_x+0.02"/>
                                          </p:val>
                                        </p:tav>
                                      </p:tavLst>
                                    </p:anim>
                                    <p:animScale>
                                      <p:cBhvr>
                                        <p:cTn id="28" dur="375" accel="50000" fill="hold">
                                          <p:stCondLst>
                                            <p:cond delay="225"/>
                                          </p:stCondLst>
                                        </p:cTn>
                                        <p:tgtEl>
                                          <p:spTgt spid="7"/>
                                        </p:tgtEl>
                                      </p:cBhvr>
                                      <p:from x="50000" y="50000"/>
                                      <p:to x="100000" y="100000"/>
                                    </p:animScale>
                                    <p:anim to="" calcmode="lin" valueType="num">
                                      <p:cBhvr>
                                        <p:cTn id="29" dur="375" accel="50000" fill="hold">
                                          <p:stCondLst>
                                            <p:cond delay="225"/>
                                          </p:stCondLst>
                                        </p:cTn>
                                        <p:tgtEl>
                                          <p:spTgt spid="7"/>
                                        </p:tgtEl>
                                        <p:attrNameLst>
                                          <p:attrName>ppt_x</p:attrName>
                                        </p:attrNameLst>
                                      </p:cBhvr>
                                      <p:tavLst>
                                        <p:tav tm="0">
                                          <p:val>
                                            <p:strVal val="ppt_x"/>
                                          </p:val>
                                        </p:tav>
                                        <p:tav tm="100000">
                                          <p:val>
                                            <p:strVal val="#ppt_x"/>
                                          </p:val>
                                        </p:tav>
                                      </p:tavLst>
                                    </p:anim>
                                    <p:anim to="" calcmode="lin" valueType="num">
                                      <p:cBhvr>
                                        <p:cTn id="30" dur="225" decel="50000" fill="hold">
                                          <p:stCondLst>
                                            <p:cond delay="0"/>
                                          </p:stCondLst>
                                        </p:cTn>
                                        <p:tgtEl>
                                          <p:spTgt spid="7"/>
                                        </p:tgtEl>
                                        <p:attrNameLst>
                                          <p:attrName>ppt_y</p:attrName>
                                        </p:attrNameLst>
                                      </p:cBhvr>
                                      <p:tavLst>
                                        <p:tav tm="0">
                                          <p:val>
                                            <p:strVal val="#ppt_y-0.05"/>
                                          </p:val>
                                        </p:tav>
                                        <p:tav tm="100000">
                                          <p:val>
                                            <p:strVal val="#ppt_y+0.05"/>
                                          </p:val>
                                        </p:tav>
                                      </p:tavLst>
                                    </p:anim>
                                    <p:anim to="" calcmode="lin" valueType="num">
                                      <p:cBhvr>
                                        <p:cTn id="31" dur="375" accel="50000" fill="hold">
                                          <p:stCondLst>
                                            <p:cond delay="225"/>
                                          </p:stCondLst>
                                        </p:cTn>
                                        <p:tgtEl>
                                          <p:spTgt spid="7"/>
                                        </p:tgtEl>
                                        <p:attrNameLst>
                                          <p:attrName>ppt_y</p:attrName>
                                        </p:attrNameLst>
                                      </p:cBhvr>
                                      <p:tavLst>
                                        <p:tav tm="0">
                                          <p:val>
                                            <p:strVal val="ppt_y"/>
                                          </p:val>
                                        </p:tav>
                                        <p:tav tm="100000">
                                          <p:val>
                                            <p:strVal val="#ppt_y"/>
                                          </p:val>
                                        </p:tav>
                                      </p:tavLst>
                                    </p:anim>
                                    <p:animRot by="21600000">
                                      <p:cBhvr>
                                        <p:cTn id="32" dur="750" decel="50000" fill="hold">
                                          <p:stCondLst>
                                            <p:cond delay="0"/>
                                          </p:stCondLst>
                                        </p:cTn>
                                        <p:tgtEl>
                                          <p:spTgt spid="7"/>
                                        </p:tgtEl>
                                        <p:attrNameLst>
                                          <p:attrName>r</p:attrName>
                                        </p:attrNameLst>
                                      </p:cBhvr>
                                    </p:animRot>
                                    <p:animRot by="21600000">
                                      <p:cBhvr>
                                        <p:cTn id="33" dur="375" accel="50000" fill="hold">
                                          <p:stCondLst>
                                            <p:cond delay="225"/>
                                          </p:stCondLst>
                                        </p:cTn>
                                        <p:tgtEl>
                                          <p:spTgt spid="7"/>
                                        </p:tgtEl>
                                        <p:attrNameLst>
                                          <p:attrName>r</p:attrName>
                                        </p:attrNameLst>
                                      </p:cBhvr>
                                    </p:animRot>
                                    <p:animEffect filter="fade">
                                      <p:cBhvr>
                                        <p:cTn id="34" dur="225">
                                          <p:stCondLst>
                                            <p:cond delay="0"/>
                                          </p:stCondLst>
                                        </p:cTn>
                                        <p:tgtEl>
                                          <p:spTgt spid="7"/>
                                        </p:tgtEl>
                                      </p:cBhvr>
                                    </p:animEffect>
                                  </p:childTnLst>
                                </p:cTn>
                              </p:par>
                              <p:par>
                                <p:cTn id="35" presetID="0" presetClass="entr" presetSubtype="0" decel="50000" fill="hold" nodeType="withEffect">
                                  <p:stCondLst>
                                    <p:cond delay="0"/>
                                  </p:stCondLst>
                                  <p:childTnLst>
                                    <p:set>
                                      <p:cBhvr>
                                        <p:cTn id="36" dur="750" fill="hold">
                                          <p:stCondLst>
                                            <p:cond delay="0"/>
                                          </p:stCondLst>
                                        </p:cTn>
                                        <p:tgtEl>
                                          <p:spTgt spid="6"/>
                                        </p:tgtEl>
                                        <p:attrNameLst>
                                          <p:attrName>style.visibility</p:attrName>
                                        </p:attrNameLst>
                                      </p:cBhvr>
                                      <p:to>
                                        <p:strVal val="visible"/>
                                      </p:to>
                                    </p:set>
                                    <p:animScale>
                                      <p:cBhvr>
                                        <p:cTn id="37" dur="225" decel="50000" fill="hold">
                                          <p:stCondLst>
                                            <p:cond delay="0"/>
                                          </p:stCondLst>
                                        </p:cTn>
                                        <p:tgtEl>
                                          <p:spTgt spid="6"/>
                                        </p:tgtEl>
                                      </p:cBhvr>
                                      <p:from x="150000" y="150000"/>
                                      <p:to x="50000" y="50000"/>
                                    </p:animScale>
                                    <p:anim to="" calcmode="lin" valueType="num">
                                      <p:cBhvr>
                                        <p:cTn id="38" dur="225" decel="50000" fill="hold">
                                          <p:stCondLst>
                                            <p:cond delay="0"/>
                                          </p:stCondLst>
                                        </p:cTn>
                                        <p:tgtEl>
                                          <p:spTgt spid="6"/>
                                        </p:tgtEl>
                                        <p:attrNameLst>
                                          <p:attrName>ppt_x</p:attrName>
                                        </p:attrNameLst>
                                      </p:cBhvr>
                                      <p:tavLst>
                                        <p:tav tm="0">
                                          <p:val>
                                            <p:strVal val="#ppt_x-0.05"/>
                                          </p:val>
                                        </p:tav>
                                        <p:tav tm="100000">
                                          <p:val>
                                            <p:strVal val="#ppt_x+0.02"/>
                                          </p:val>
                                        </p:tav>
                                      </p:tavLst>
                                    </p:anim>
                                    <p:animScale>
                                      <p:cBhvr>
                                        <p:cTn id="39" dur="375" accel="50000" fill="hold">
                                          <p:stCondLst>
                                            <p:cond delay="225"/>
                                          </p:stCondLst>
                                        </p:cTn>
                                        <p:tgtEl>
                                          <p:spTgt spid="6"/>
                                        </p:tgtEl>
                                      </p:cBhvr>
                                      <p:from x="50000" y="50000"/>
                                      <p:to x="100000" y="100000"/>
                                    </p:animScale>
                                    <p:anim to="" calcmode="lin" valueType="num">
                                      <p:cBhvr>
                                        <p:cTn id="40" dur="375" accel="50000" fill="hold">
                                          <p:stCondLst>
                                            <p:cond delay="225"/>
                                          </p:stCondLst>
                                        </p:cTn>
                                        <p:tgtEl>
                                          <p:spTgt spid="6"/>
                                        </p:tgtEl>
                                        <p:attrNameLst>
                                          <p:attrName>ppt_x</p:attrName>
                                        </p:attrNameLst>
                                      </p:cBhvr>
                                      <p:tavLst>
                                        <p:tav tm="0">
                                          <p:val>
                                            <p:strVal val="ppt_x"/>
                                          </p:val>
                                        </p:tav>
                                        <p:tav tm="100000">
                                          <p:val>
                                            <p:strVal val="#ppt_x"/>
                                          </p:val>
                                        </p:tav>
                                      </p:tavLst>
                                    </p:anim>
                                    <p:anim to="" calcmode="lin" valueType="num">
                                      <p:cBhvr>
                                        <p:cTn id="41" dur="225" decel="50000" fill="hold">
                                          <p:stCondLst>
                                            <p:cond delay="0"/>
                                          </p:stCondLst>
                                        </p:cTn>
                                        <p:tgtEl>
                                          <p:spTgt spid="6"/>
                                        </p:tgtEl>
                                        <p:attrNameLst>
                                          <p:attrName>ppt_y</p:attrName>
                                        </p:attrNameLst>
                                      </p:cBhvr>
                                      <p:tavLst>
                                        <p:tav tm="0">
                                          <p:val>
                                            <p:strVal val="#ppt_y-0.05"/>
                                          </p:val>
                                        </p:tav>
                                        <p:tav tm="100000">
                                          <p:val>
                                            <p:strVal val="#ppt_y+0.05"/>
                                          </p:val>
                                        </p:tav>
                                      </p:tavLst>
                                    </p:anim>
                                    <p:anim to="" calcmode="lin" valueType="num">
                                      <p:cBhvr>
                                        <p:cTn id="42" dur="375" accel="50000" fill="hold">
                                          <p:stCondLst>
                                            <p:cond delay="225"/>
                                          </p:stCondLst>
                                        </p:cTn>
                                        <p:tgtEl>
                                          <p:spTgt spid="6"/>
                                        </p:tgtEl>
                                        <p:attrNameLst>
                                          <p:attrName>ppt_y</p:attrName>
                                        </p:attrNameLst>
                                      </p:cBhvr>
                                      <p:tavLst>
                                        <p:tav tm="0">
                                          <p:val>
                                            <p:strVal val="ppt_y"/>
                                          </p:val>
                                        </p:tav>
                                        <p:tav tm="100000">
                                          <p:val>
                                            <p:strVal val="#ppt_y"/>
                                          </p:val>
                                        </p:tav>
                                      </p:tavLst>
                                    </p:anim>
                                    <p:animRot by="21600000">
                                      <p:cBhvr>
                                        <p:cTn id="43" dur="750" decel="50000" fill="hold">
                                          <p:stCondLst>
                                            <p:cond delay="0"/>
                                          </p:stCondLst>
                                        </p:cTn>
                                        <p:tgtEl>
                                          <p:spTgt spid="6"/>
                                        </p:tgtEl>
                                        <p:attrNameLst>
                                          <p:attrName>r</p:attrName>
                                        </p:attrNameLst>
                                      </p:cBhvr>
                                    </p:animRot>
                                    <p:animRot by="21600000">
                                      <p:cBhvr>
                                        <p:cTn id="44" dur="375" accel="50000" fill="hold">
                                          <p:stCondLst>
                                            <p:cond delay="225"/>
                                          </p:stCondLst>
                                        </p:cTn>
                                        <p:tgtEl>
                                          <p:spTgt spid="6"/>
                                        </p:tgtEl>
                                        <p:attrNameLst>
                                          <p:attrName>r</p:attrName>
                                        </p:attrNameLst>
                                      </p:cBhvr>
                                    </p:animRot>
                                    <p:animEffect filter="fade">
                                      <p:cBhvr>
                                        <p:cTn id="45" dur="225">
                                          <p:stCondLst>
                                            <p:cond delay="0"/>
                                          </p:stCondLst>
                                        </p:cTn>
                                        <p:tgtEl>
                                          <p:spTgt spid="6"/>
                                        </p:tgtEl>
                                      </p:cBhvr>
                                    </p:animEffect>
                                  </p:childTnLst>
                                </p:cTn>
                              </p:par>
                              <p:par>
                                <p:cTn id="46" presetID="0" presetClass="entr" presetSubtype="0" decel="50000" fill="hold" nodeType="withEffect">
                                  <p:stCondLst>
                                    <p:cond delay="0"/>
                                  </p:stCondLst>
                                  <p:childTnLst>
                                    <p:set>
                                      <p:cBhvr>
                                        <p:cTn id="47" dur="750" fill="hold">
                                          <p:stCondLst>
                                            <p:cond delay="0"/>
                                          </p:stCondLst>
                                        </p:cTn>
                                        <p:tgtEl>
                                          <p:spTgt spid="9"/>
                                        </p:tgtEl>
                                        <p:attrNameLst>
                                          <p:attrName>style.visibility</p:attrName>
                                        </p:attrNameLst>
                                      </p:cBhvr>
                                      <p:to>
                                        <p:strVal val="visible"/>
                                      </p:to>
                                    </p:set>
                                    <p:animScale>
                                      <p:cBhvr>
                                        <p:cTn id="48" dur="225" decel="50000" fill="hold">
                                          <p:stCondLst>
                                            <p:cond delay="0"/>
                                          </p:stCondLst>
                                        </p:cTn>
                                        <p:tgtEl>
                                          <p:spTgt spid="9"/>
                                        </p:tgtEl>
                                      </p:cBhvr>
                                      <p:from x="150000" y="150000"/>
                                      <p:to x="50000" y="50000"/>
                                    </p:animScale>
                                    <p:anim to="" calcmode="lin" valueType="num">
                                      <p:cBhvr>
                                        <p:cTn id="49" dur="225" decel="50000" fill="hold">
                                          <p:stCondLst>
                                            <p:cond delay="0"/>
                                          </p:stCondLst>
                                        </p:cTn>
                                        <p:tgtEl>
                                          <p:spTgt spid="9"/>
                                        </p:tgtEl>
                                        <p:attrNameLst>
                                          <p:attrName>ppt_x</p:attrName>
                                        </p:attrNameLst>
                                      </p:cBhvr>
                                      <p:tavLst>
                                        <p:tav tm="0">
                                          <p:val>
                                            <p:strVal val="#ppt_x-0.05"/>
                                          </p:val>
                                        </p:tav>
                                        <p:tav tm="100000">
                                          <p:val>
                                            <p:strVal val="#ppt_x+0.02"/>
                                          </p:val>
                                        </p:tav>
                                      </p:tavLst>
                                    </p:anim>
                                    <p:animScale>
                                      <p:cBhvr>
                                        <p:cTn id="50" dur="375" accel="50000" fill="hold">
                                          <p:stCondLst>
                                            <p:cond delay="225"/>
                                          </p:stCondLst>
                                        </p:cTn>
                                        <p:tgtEl>
                                          <p:spTgt spid="9"/>
                                        </p:tgtEl>
                                      </p:cBhvr>
                                      <p:from x="50000" y="50000"/>
                                      <p:to x="100000" y="100000"/>
                                    </p:animScale>
                                    <p:anim to="" calcmode="lin" valueType="num">
                                      <p:cBhvr>
                                        <p:cTn id="51" dur="375" accel="50000" fill="hold">
                                          <p:stCondLst>
                                            <p:cond delay="225"/>
                                          </p:stCondLst>
                                        </p:cTn>
                                        <p:tgtEl>
                                          <p:spTgt spid="9"/>
                                        </p:tgtEl>
                                        <p:attrNameLst>
                                          <p:attrName>ppt_x</p:attrName>
                                        </p:attrNameLst>
                                      </p:cBhvr>
                                      <p:tavLst>
                                        <p:tav tm="0">
                                          <p:val>
                                            <p:strVal val="ppt_x"/>
                                          </p:val>
                                        </p:tav>
                                        <p:tav tm="100000">
                                          <p:val>
                                            <p:strVal val="#ppt_x"/>
                                          </p:val>
                                        </p:tav>
                                      </p:tavLst>
                                    </p:anim>
                                    <p:anim to="" calcmode="lin" valueType="num">
                                      <p:cBhvr>
                                        <p:cTn id="52" dur="225" decel="50000" fill="hold">
                                          <p:stCondLst>
                                            <p:cond delay="0"/>
                                          </p:stCondLst>
                                        </p:cTn>
                                        <p:tgtEl>
                                          <p:spTgt spid="9"/>
                                        </p:tgtEl>
                                        <p:attrNameLst>
                                          <p:attrName>ppt_y</p:attrName>
                                        </p:attrNameLst>
                                      </p:cBhvr>
                                      <p:tavLst>
                                        <p:tav tm="0">
                                          <p:val>
                                            <p:strVal val="#ppt_y-0.05"/>
                                          </p:val>
                                        </p:tav>
                                        <p:tav tm="100000">
                                          <p:val>
                                            <p:strVal val="#ppt_y+0.05"/>
                                          </p:val>
                                        </p:tav>
                                      </p:tavLst>
                                    </p:anim>
                                    <p:anim to="" calcmode="lin" valueType="num">
                                      <p:cBhvr>
                                        <p:cTn id="53" dur="375" accel="50000" fill="hold">
                                          <p:stCondLst>
                                            <p:cond delay="225"/>
                                          </p:stCondLst>
                                        </p:cTn>
                                        <p:tgtEl>
                                          <p:spTgt spid="9"/>
                                        </p:tgtEl>
                                        <p:attrNameLst>
                                          <p:attrName>ppt_y</p:attrName>
                                        </p:attrNameLst>
                                      </p:cBhvr>
                                      <p:tavLst>
                                        <p:tav tm="0">
                                          <p:val>
                                            <p:strVal val="ppt_y"/>
                                          </p:val>
                                        </p:tav>
                                        <p:tav tm="100000">
                                          <p:val>
                                            <p:strVal val="#ppt_y"/>
                                          </p:val>
                                        </p:tav>
                                      </p:tavLst>
                                    </p:anim>
                                    <p:animRot by="21600000">
                                      <p:cBhvr>
                                        <p:cTn id="54" dur="750" decel="50000" fill="hold">
                                          <p:stCondLst>
                                            <p:cond delay="0"/>
                                          </p:stCondLst>
                                        </p:cTn>
                                        <p:tgtEl>
                                          <p:spTgt spid="9"/>
                                        </p:tgtEl>
                                        <p:attrNameLst>
                                          <p:attrName>r</p:attrName>
                                        </p:attrNameLst>
                                      </p:cBhvr>
                                    </p:animRot>
                                    <p:animRot by="21600000">
                                      <p:cBhvr>
                                        <p:cTn id="55" dur="375" accel="50000" fill="hold">
                                          <p:stCondLst>
                                            <p:cond delay="225"/>
                                          </p:stCondLst>
                                        </p:cTn>
                                        <p:tgtEl>
                                          <p:spTgt spid="9"/>
                                        </p:tgtEl>
                                        <p:attrNameLst>
                                          <p:attrName>r</p:attrName>
                                        </p:attrNameLst>
                                      </p:cBhvr>
                                    </p:animRot>
                                    <p:animEffect filter="fade">
                                      <p:cBhvr>
                                        <p:cTn id="56" dur="225">
                                          <p:stCondLst>
                                            <p:cond delay="0"/>
                                          </p:stCondLst>
                                        </p:cTn>
                                        <p:tgtEl>
                                          <p:spTgt spid="9"/>
                                        </p:tgtEl>
                                      </p:cBhvr>
                                    </p:animEffect>
                                  </p:childTnLst>
                                </p:cTn>
                              </p:par>
                              <p:par>
                                <p:cTn id="57" presetID="0" presetClass="entr" presetSubtype="0" decel="50000" fill="hold" nodeType="withEffect">
                                  <p:stCondLst>
                                    <p:cond delay="0"/>
                                  </p:stCondLst>
                                  <p:childTnLst>
                                    <p:set>
                                      <p:cBhvr>
                                        <p:cTn id="58" dur="750" fill="hold">
                                          <p:stCondLst>
                                            <p:cond delay="0"/>
                                          </p:stCondLst>
                                        </p:cTn>
                                        <p:tgtEl>
                                          <p:spTgt spid="4"/>
                                        </p:tgtEl>
                                        <p:attrNameLst>
                                          <p:attrName>style.visibility</p:attrName>
                                        </p:attrNameLst>
                                      </p:cBhvr>
                                      <p:to>
                                        <p:strVal val="visible"/>
                                      </p:to>
                                    </p:set>
                                    <p:animScale>
                                      <p:cBhvr>
                                        <p:cTn id="59" dur="225" decel="50000" fill="hold">
                                          <p:stCondLst>
                                            <p:cond delay="0"/>
                                          </p:stCondLst>
                                        </p:cTn>
                                        <p:tgtEl>
                                          <p:spTgt spid="4"/>
                                        </p:tgtEl>
                                      </p:cBhvr>
                                      <p:from x="150000" y="150000"/>
                                      <p:to x="50000" y="50000"/>
                                    </p:animScale>
                                    <p:anim to="" calcmode="lin" valueType="num">
                                      <p:cBhvr>
                                        <p:cTn id="60" dur="225" decel="50000" fill="hold">
                                          <p:stCondLst>
                                            <p:cond delay="0"/>
                                          </p:stCondLst>
                                        </p:cTn>
                                        <p:tgtEl>
                                          <p:spTgt spid="4"/>
                                        </p:tgtEl>
                                        <p:attrNameLst>
                                          <p:attrName>ppt_x</p:attrName>
                                        </p:attrNameLst>
                                      </p:cBhvr>
                                      <p:tavLst>
                                        <p:tav tm="0">
                                          <p:val>
                                            <p:strVal val="#ppt_x-0.05"/>
                                          </p:val>
                                        </p:tav>
                                        <p:tav tm="100000">
                                          <p:val>
                                            <p:strVal val="#ppt_x+0.02"/>
                                          </p:val>
                                        </p:tav>
                                      </p:tavLst>
                                    </p:anim>
                                    <p:animScale>
                                      <p:cBhvr>
                                        <p:cTn id="61" dur="375" accel="50000" fill="hold">
                                          <p:stCondLst>
                                            <p:cond delay="225"/>
                                          </p:stCondLst>
                                        </p:cTn>
                                        <p:tgtEl>
                                          <p:spTgt spid="4"/>
                                        </p:tgtEl>
                                      </p:cBhvr>
                                      <p:from x="50000" y="50000"/>
                                      <p:to x="100000" y="100000"/>
                                    </p:animScale>
                                    <p:anim to="" calcmode="lin" valueType="num">
                                      <p:cBhvr>
                                        <p:cTn id="62" dur="375" accel="50000" fill="hold">
                                          <p:stCondLst>
                                            <p:cond delay="225"/>
                                          </p:stCondLst>
                                        </p:cTn>
                                        <p:tgtEl>
                                          <p:spTgt spid="4"/>
                                        </p:tgtEl>
                                        <p:attrNameLst>
                                          <p:attrName>ppt_x</p:attrName>
                                        </p:attrNameLst>
                                      </p:cBhvr>
                                      <p:tavLst>
                                        <p:tav tm="0">
                                          <p:val>
                                            <p:strVal val="ppt_x"/>
                                          </p:val>
                                        </p:tav>
                                        <p:tav tm="100000">
                                          <p:val>
                                            <p:strVal val="#ppt_x"/>
                                          </p:val>
                                        </p:tav>
                                      </p:tavLst>
                                    </p:anim>
                                    <p:anim to="" calcmode="lin" valueType="num">
                                      <p:cBhvr>
                                        <p:cTn id="63" dur="225" decel="50000" fill="hold">
                                          <p:stCondLst>
                                            <p:cond delay="0"/>
                                          </p:stCondLst>
                                        </p:cTn>
                                        <p:tgtEl>
                                          <p:spTgt spid="4"/>
                                        </p:tgtEl>
                                        <p:attrNameLst>
                                          <p:attrName>ppt_y</p:attrName>
                                        </p:attrNameLst>
                                      </p:cBhvr>
                                      <p:tavLst>
                                        <p:tav tm="0">
                                          <p:val>
                                            <p:strVal val="#ppt_y-0.05"/>
                                          </p:val>
                                        </p:tav>
                                        <p:tav tm="100000">
                                          <p:val>
                                            <p:strVal val="#ppt_y+0.05"/>
                                          </p:val>
                                        </p:tav>
                                      </p:tavLst>
                                    </p:anim>
                                    <p:anim to="" calcmode="lin" valueType="num">
                                      <p:cBhvr>
                                        <p:cTn id="64" dur="375" accel="50000" fill="hold">
                                          <p:stCondLst>
                                            <p:cond delay="225"/>
                                          </p:stCondLst>
                                        </p:cTn>
                                        <p:tgtEl>
                                          <p:spTgt spid="4"/>
                                        </p:tgtEl>
                                        <p:attrNameLst>
                                          <p:attrName>ppt_y</p:attrName>
                                        </p:attrNameLst>
                                      </p:cBhvr>
                                      <p:tavLst>
                                        <p:tav tm="0">
                                          <p:val>
                                            <p:strVal val="ppt_y"/>
                                          </p:val>
                                        </p:tav>
                                        <p:tav tm="100000">
                                          <p:val>
                                            <p:strVal val="#ppt_y"/>
                                          </p:val>
                                        </p:tav>
                                      </p:tavLst>
                                    </p:anim>
                                    <p:animRot by="21600000">
                                      <p:cBhvr>
                                        <p:cTn id="65" dur="750" decel="50000" fill="hold">
                                          <p:stCondLst>
                                            <p:cond delay="0"/>
                                          </p:stCondLst>
                                        </p:cTn>
                                        <p:tgtEl>
                                          <p:spTgt spid="4"/>
                                        </p:tgtEl>
                                        <p:attrNameLst>
                                          <p:attrName>r</p:attrName>
                                        </p:attrNameLst>
                                      </p:cBhvr>
                                    </p:animRot>
                                    <p:animRot by="21600000">
                                      <p:cBhvr>
                                        <p:cTn id="66" dur="375" accel="50000" fill="hold">
                                          <p:stCondLst>
                                            <p:cond delay="225"/>
                                          </p:stCondLst>
                                        </p:cTn>
                                        <p:tgtEl>
                                          <p:spTgt spid="4"/>
                                        </p:tgtEl>
                                        <p:attrNameLst>
                                          <p:attrName>r</p:attrName>
                                        </p:attrNameLst>
                                      </p:cBhvr>
                                    </p:animRot>
                                    <p:animEffect filter="fade">
                                      <p:cBhvr>
                                        <p:cTn id="67" dur="225">
                                          <p:stCondLst>
                                            <p:cond delay="0"/>
                                          </p:stCondLst>
                                        </p:cTn>
                                        <p:tgtEl>
                                          <p:spTgt spid="4"/>
                                        </p:tgtEl>
                                      </p:cBhvr>
                                    </p:animEffect>
                                  </p:childTnLst>
                                </p:cTn>
                              </p:par>
                              <p:par>
                                <p:cTn id="68" presetID="0" presetClass="entr" presetSubtype="0" decel="50000" fill="hold" nodeType="withEffect">
                                  <p:stCondLst>
                                    <p:cond delay="0"/>
                                  </p:stCondLst>
                                  <p:childTnLst>
                                    <p:set>
                                      <p:cBhvr>
                                        <p:cTn id="69" dur="750" fill="hold">
                                          <p:stCondLst>
                                            <p:cond delay="0"/>
                                          </p:stCondLst>
                                        </p:cTn>
                                        <p:tgtEl>
                                          <p:spTgt spid="5"/>
                                        </p:tgtEl>
                                        <p:attrNameLst>
                                          <p:attrName>style.visibility</p:attrName>
                                        </p:attrNameLst>
                                      </p:cBhvr>
                                      <p:to>
                                        <p:strVal val="visible"/>
                                      </p:to>
                                    </p:set>
                                    <p:animScale>
                                      <p:cBhvr>
                                        <p:cTn id="70" dur="225" decel="50000" fill="hold">
                                          <p:stCondLst>
                                            <p:cond delay="0"/>
                                          </p:stCondLst>
                                        </p:cTn>
                                        <p:tgtEl>
                                          <p:spTgt spid="5"/>
                                        </p:tgtEl>
                                      </p:cBhvr>
                                      <p:from x="150000" y="150000"/>
                                      <p:to x="50000" y="50000"/>
                                    </p:animScale>
                                    <p:anim to="" calcmode="lin" valueType="num">
                                      <p:cBhvr>
                                        <p:cTn id="71" dur="225" decel="50000" fill="hold">
                                          <p:stCondLst>
                                            <p:cond delay="0"/>
                                          </p:stCondLst>
                                        </p:cTn>
                                        <p:tgtEl>
                                          <p:spTgt spid="5"/>
                                        </p:tgtEl>
                                        <p:attrNameLst>
                                          <p:attrName>ppt_x</p:attrName>
                                        </p:attrNameLst>
                                      </p:cBhvr>
                                      <p:tavLst>
                                        <p:tav tm="0">
                                          <p:val>
                                            <p:strVal val="#ppt_x-0.05"/>
                                          </p:val>
                                        </p:tav>
                                        <p:tav tm="100000">
                                          <p:val>
                                            <p:strVal val="#ppt_x+0.02"/>
                                          </p:val>
                                        </p:tav>
                                      </p:tavLst>
                                    </p:anim>
                                    <p:animScale>
                                      <p:cBhvr>
                                        <p:cTn id="72" dur="375" accel="50000" fill="hold">
                                          <p:stCondLst>
                                            <p:cond delay="225"/>
                                          </p:stCondLst>
                                        </p:cTn>
                                        <p:tgtEl>
                                          <p:spTgt spid="5"/>
                                        </p:tgtEl>
                                      </p:cBhvr>
                                      <p:from x="50000" y="50000"/>
                                      <p:to x="100000" y="100000"/>
                                    </p:animScale>
                                    <p:anim to="" calcmode="lin" valueType="num">
                                      <p:cBhvr>
                                        <p:cTn id="73" dur="375" accel="50000" fill="hold">
                                          <p:stCondLst>
                                            <p:cond delay="225"/>
                                          </p:stCondLst>
                                        </p:cTn>
                                        <p:tgtEl>
                                          <p:spTgt spid="5"/>
                                        </p:tgtEl>
                                        <p:attrNameLst>
                                          <p:attrName>ppt_x</p:attrName>
                                        </p:attrNameLst>
                                      </p:cBhvr>
                                      <p:tavLst>
                                        <p:tav tm="0">
                                          <p:val>
                                            <p:strVal val="ppt_x"/>
                                          </p:val>
                                        </p:tav>
                                        <p:tav tm="100000">
                                          <p:val>
                                            <p:strVal val="#ppt_x"/>
                                          </p:val>
                                        </p:tav>
                                      </p:tavLst>
                                    </p:anim>
                                    <p:anim to="" calcmode="lin" valueType="num">
                                      <p:cBhvr>
                                        <p:cTn id="74" dur="225" decel="50000" fill="hold">
                                          <p:stCondLst>
                                            <p:cond delay="0"/>
                                          </p:stCondLst>
                                        </p:cTn>
                                        <p:tgtEl>
                                          <p:spTgt spid="5"/>
                                        </p:tgtEl>
                                        <p:attrNameLst>
                                          <p:attrName>ppt_y</p:attrName>
                                        </p:attrNameLst>
                                      </p:cBhvr>
                                      <p:tavLst>
                                        <p:tav tm="0">
                                          <p:val>
                                            <p:strVal val="#ppt_y-0.05"/>
                                          </p:val>
                                        </p:tav>
                                        <p:tav tm="100000">
                                          <p:val>
                                            <p:strVal val="#ppt_y+0.05"/>
                                          </p:val>
                                        </p:tav>
                                      </p:tavLst>
                                    </p:anim>
                                    <p:anim to="" calcmode="lin" valueType="num">
                                      <p:cBhvr>
                                        <p:cTn id="75" dur="375" accel="50000" fill="hold">
                                          <p:stCondLst>
                                            <p:cond delay="225"/>
                                          </p:stCondLst>
                                        </p:cTn>
                                        <p:tgtEl>
                                          <p:spTgt spid="5"/>
                                        </p:tgtEl>
                                        <p:attrNameLst>
                                          <p:attrName>ppt_y</p:attrName>
                                        </p:attrNameLst>
                                      </p:cBhvr>
                                      <p:tavLst>
                                        <p:tav tm="0">
                                          <p:val>
                                            <p:strVal val="ppt_y"/>
                                          </p:val>
                                        </p:tav>
                                        <p:tav tm="100000">
                                          <p:val>
                                            <p:strVal val="#ppt_y"/>
                                          </p:val>
                                        </p:tav>
                                      </p:tavLst>
                                    </p:anim>
                                    <p:animRot by="21600000">
                                      <p:cBhvr>
                                        <p:cTn id="76" dur="750" decel="50000" fill="hold">
                                          <p:stCondLst>
                                            <p:cond delay="0"/>
                                          </p:stCondLst>
                                        </p:cTn>
                                        <p:tgtEl>
                                          <p:spTgt spid="5"/>
                                        </p:tgtEl>
                                        <p:attrNameLst>
                                          <p:attrName>r</p:attrName>
                                        </p:attrNameLst>
                                      </p:cBhvr>
                                    </p:animRot>
                                    <p:animRot by="21600000">
                                      <p:cBhvr>
                                        <p:cTn id="77" dur="375" accel="50000" fill="hold">
                                          <p:stCondLst>
                                            <p:cond delay="225"/>
                                          </p:stCondLst>
                                        </p:cTn>
                                        <p:tgtEl>
                                          <p:spTgt spid="5"/>
                                        </p:tgtEl>
                                        <p:attrNameLst>
                                          <p:attrName>r</p:attrName>
                                        </p:attrNameLst>
                                      </p:cBhvr>
                                    </p:animRot>
                                    <p:animEffect filter="fade">
                                      <p:cBhvr>
                                        <p:cTn id="78" dur="225">
                                          <p:stCondLst>
                                            <p:cond delay="0"/>
                                          </p:stCondLst>
                                        </p:cTn>
                                        <p:tgtEl>
                                          <p:spTgt spid="5"/>
                                        </p:tgtEl>
                                      </p:cBhvr>
                                    </p:animEffect>
                                  </p:childTnLst>
                                </p:cTn>
                              </p:par>
                            </p:childTnLst>
                          </p:cTn>
                        </p:par>
                        <p:par>
                          <p:cTn id="79" fill="hold">
                            <p:stCondLst>
                              <p:cond delay="3049"/>
                            </p:stCondLst>
                            <p:childTnLst>
                              <p:par>
                                <p:cTn id="80" presetID="10" presetClass="entr" presetSubtype="0" fill="hold" nodeType="afterEffect">
                                  <p:stCondLst>
                                    <p:cond delay="0"/>
                                  </p:stCondLst>
                                  <p:childTnLst>
                                    <p:set>
                                      <p:cBhvr>
                                        <p:cTn id="81" dur="1" fill="hold">
                                          <p:stCondLst>
                                            <p:cond delay="0"/>
                                          </p:stCondLst>
                                        </p:cTn>
                                        <p:tgtEl>
                                          <p:spTgt spid="3"/>
                                        </p:tgtEl>
                                        <p:attrNameLst>
                                          <p:attrName>style.visibility</p:attrName>
                                        </p:attrNameLst>
                                      </p:cBhvr>
                                      <p:to>
                                        <p:strVal val="visible"/>
                                      </p:to>
                                    </p:set>
                                    <p:animEffect transition="in" filter="fade">
                                      <p:cBhvr>
                                        <p:cTn id="8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P spid="4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857885" y="195109"/>
            <a:ext cx="2600960" cy="379730"/>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000" b="1" dirty="0">
                <a:solidFill>
                  <a:schemeClr val="tx1"/>
                </a:solidFill>
                <a:latin typeface="微软雅黑" panose="020B0503020204020204" pitchFamily="34" charset="-122"/>
                <a:ea typeface="微软雅黑" panose="020B0503020204020204" pitchFamily="34" charset="-122"/>
              </a:rPr>
              <a:t>1.</a:t>
            </a:r>
            <a:r>
              <a:rPr lang="zh-CN" altLang="en-US" sz="2000" b="1" dirty="0">
                <a:solidFill>
                  <a:schemeClr val="tx1"/>
                </a:solidFill>
                <a:latin typeface="微软雅黑" panose="020B0503020204020204" pitchFamily="34" charset="-122"/>
                <a:ea typeface="微软雅黑" panose="020B0503020204020204" pitchFamily="34" charset="-122"/>
              </a:rPr>
              <a:t>资产分析</a:t>
            </a:r>
          </a:p>
        </p:txBody>
      </p:sp>
      <p:graphicFrame>
        <p:nvGraphicFramePr>
          <p:cNvPr id="17" name="内容占位符 3"/>
          <p:cNvGraphicFramePr/>
          <p:nvPr/>
        </p:nvGraphicFramePr>
        <p:xfrm>
          <a:off x="1475656" y="1403334"/>
          <a:ext cx="6172200" cy="1409700"/>
        </p:xfrm>
        <a:graphic>
          <a:graphicData uri="http://schemas.openxmlformats.org/drawingml/2006/table">
            <a:tbl>
              <a:tblPr firstRow="1" bandRow="1">
                <a:tableStyleId>{16D9F66E-5EB9-4882-86FB-DCBF35E3C3E4}</a:tableStyleId>
              </a:tblPr>
              <a:tblGrid>
                <a:gridCol w="1234440"/>
                <a:gridCol w="1234440"/>
                <a:gridCol w="1234440"/>
                <a:gridCol w="1234440"/>
                <a:gridCol w="1234440"/>
              </a:tblGrid>
              <a:tr h="278130">
                <a:tc>
                  <a:txBody>
                    <a:bodyPr/>
                    <a:lstStyle/>
                    <a:p>
                      <a:pPr algn="ctr"/>
                      <a:r>
                        <a:rPr lang="zh-CN" altLang="en-US" sz="1400" dirty="0"/>
                        <a:t>年份</a:t>
                      </a:r>
                    </a:p>
                  </a:txBody>
                  <a:tcPr marL="68580" marR="68580" marT="34290" marB="34290"/>
                </a:tc>
                <a:tc>
                  <a:txBody>
                    <a:bodyPr/>
                    <a:lstStyle/>
                    <a:p>
                      <a:pPr algn="ctr"/>
                      <a:r>
                        <a:rPr lang="en-US" altLang="zh-CN" sz="1400" dirty="0"/>
                        <a:t>2014</a:t>
                      </a:r>
                      <a:r>
                        <a:rPr lang="zh-CN" altLang="en-US" sz="1400" dirty="0"/>
                        <a:t>年</a:t>
                      </a:r>
                    </a:p>
                  </a:txBody>
                  <a:tcPr marL="68580" marR="68580" marT="34290" marB="34290"/>
                </a:tc>
                <a:tc>
                  <a:txBody>
                    <a:bodyPr/>
                    <a:lstStyle/>
                    <a:p>
                      <a:pPr algn="ctr"/>
                      <a:r>
                        <a:rPr lang="en-US" altLang="zh-CN" sz="1400" dirty="0"/>
                        <a:t>2015</a:t>
                      </a:r>
                      <a:r>
                        <a:rPr lang="zh-CN" altLang="en-US" sz="1400" dirty="0"/>
                        <a:t>年</a:t>
                      </a:r>
                    </a:p>
                  </a:txBody>
                  <a:tcPr marL="68580" marR="68580" marT="34290" marB="34290"/>
                </a:tc>
                <a:tc>
                  <a:txBody>
                    <a:bodyPr/>
                    <a:lstStyle/>
                    <a:p>
                      <a:pPr algn="ctr"/>
                      <a:r>
                        <a:rPr lang="en-US" altLang="zh-CN" sz="1400" dirty="0"/>
                        <a:t>2016</a:t>
                      </a:r>
                      <a:r>
                        <a:rPr lang="zh-CN" altLang="en-US" sz="1400" dirty="0"/>
                        <a:t>年</a:t>
                      </a:r>
                    </a:p>
                  </a:txBody>
                  <a:tcPr marL="68580" marR="68580" marT="34290" marB="34290"/>
                </a:tc>
                <a:tc>
                  <a:txBody>
                    <a:bodyPr/>
                    <a:lstStyle/>
                    <a:p>
                      <a:pPr algn="ctr"/>
                      <a:r>
                        <a:rPr lang="en-US" altLang="zh-CN" sz="1400" dirty="0"/>
                        <a:t>2017</a:t>
                      </a:r>
                      <a:r>
                        <a:rPr lang="zh-CN" altLang="en-US" sz="1400" dirty="0"/>
                        <a:t>年</a:t>
                      </a:r>
                    </a:p>
                  </a:txBody>
                  <a:tcPr marL="68580" marR="68580" marT="34290" marB="34290"/>
                </a:tc>
              </a:tr>
              <a:tr h="278130">
                <a:tc>
                  <a:txBody>
                    <a:bodyPr/>
                    <a:lstStyle/>
                    <a:p>
                      <a:pPr algn="ctr"/>
                      <a:r>
                        <a:rPr lang="zh-CN" altLang="en-US" sz="1400" dirty="0"/>
                        <a:t>流动资产</a:t>
                      </a:r>
                    </a:p>
                  </a:txBody>
                  <a:tcPr marL="68580" marR="68580" marT="34290" marB="34290"/>
                </a:tc>
                <a:tc>
                  <a:txBody>
                    <a:bodyPr/>
                    <a:lstStyle/>
                    <a:p>
                      <a:pPr algn="ctr" rtl="0" fontAlgn="t"/>
                      <a:endParaRPr lang="en-US" altLang="zh-CN" sz="1400" b="0" i="0" u="none" strike="noStrike" dirty="0">
                        <a:solidFill>
                          <a:srgbClr val="000000"/>
                        </a:solidFill>
                        <a:latin typeface="Calibri" panose="020F0502020204030204"/>
                      </a:endParaRPr>
                    </a:p>
                  </a:txBody>
                  <a:tcPr marL="7144" marR="7144" marT="7144" marB="0"/>
                </a:tc>
                <a:tc>
                  <a:txBody>
                    <a:bodyPr/>
                    <a:lstStyle/>
                    <a:p>
                      <a:pPr algn="ctr" rtl="0" fontAlgn="t"/>
                      <a:endParaRPr lang="en-US" altLang="zh-CN" sz="1400" b="0" i="0" u="none" strike="noStrike" dirty="0">
                        <a:solidFill>
                          <a:srgbClr val="000000"/>
                        </a:solidFill>
                        <a:latin typeface="Calibri" panose="020F0502020204030204"/>
                      </a:endParaRPr>
                    </a:p>
                  </a:txBody>
                  <a:tcPr marL="7144" marR="7144" marT="7144" marB="0"/>
                </a:tc>
                <a:tc>
                  <a:txBody>
                    <a:bodyPr/>
                    <a:lstStyle/>
                    <a:p>
                      <a:pPr algn="ctr" rtl="0" fontAlgn="t"/>
                      <a:endParaRPr lang="en-US" altLang="zh-CN" sz="1400" b="0" i="0" u="none" strike="noStrike" dirty="0">
                        <a:solidFill>
                          <a:srgbClr val="000000"/>
                        </a:solidFill>
                        <a:latin typeface="Calibri" panose="020F0502020204030204"/>
                      </a:endParaRPr>
                    </a:p>
                  </a:txBody>
                  <a:tcPr marL="7144" marR="7144" marT="7144" marB="0"/>
                </a:tc>
                <a:tc>
                  <a:txBody>
                    <a:bodyPr/>
                    <a:lstStyle/>
                    <a:p>
                      <a:pPr algn="ctr" rtl="0" fontAlgn="t"/>
                      <a:endParaRPr lang="en-US" altLang="zh-CN" sz="1400" b="0" i="0" u="none" strike="noStrike" dirty="0">
                        <a:solidFill>
                          <a:srgbClr val="000000"/>
                        </a:solidFill>
                        <a:latin typeface="Calibri" panose="020F0502020204030204"/>
                      </a:endParaRPr>
                    </a:p>
                  </a:txBody>
                  <a:tcPr marL="7144" marR="7144" marT="7144" marB="0"/>
                </a:tc>
              </a:tr>
              <a:tr h="278130">
                <a:tc>
                  <a:txBody>
                    <a:bodyPr/>
                    <a:lstStyle/>
                    <a:p>
                      <a:pPr algn="ctr"/>
                      <a:r>
                        <a:rPr lang="zh-CN" altLang="en-US" sz="1400" dirty="0"/>
                        <a:t>非流动资产</a:t>
                      </a:r>
                    </a:p>
                  </a:txBody>
                  <a:tcPr marL="68580" marR="68580" marT="34290" marB="34290"/>
                </a:tc>
                <a:tc>
                  <a:txBody>
                    <a:bodyPr/>
                    <a:lstStyle/>
                    <a:p>
                      <a:pPr algn="ctr" rtl="0" fontAlgn="t"/>
                      <a:endParaRPr lang="en-US" altLang="zh-CN" sz="1400" b="0" i="0" u="none" strike="noStrike" dirty="0">
                        <a:solidFill>
                          <a:srgbClr val="000000"/>
                        </a:solidFill>
                        <a:latin typeface="Calibri" panose="020F0502020204030204"/>
                      </a:endParaRPr>
                    </a:p>
                  </a:txBody>
                  <a:tcPr marL="7144" marR="7144" marT="7144" marB="0"/>
                </a:tc>
                <a:tc>
                  <a:txBody>
                    <a:bodyPr/>
                    <a:lstStyle/>
                    <a:p>
                      <a:pPr algn="ctr" rtl="0" fontAlgn="t"/>
                      <a:endParaRPr lang="en-US" altLang="zh-CN" sz="1400" b="0" i="0" u="none" strike="noStrike" dirty="0">
                        <a:solidFill>
                          <a:srgbClr val="000000"/>
                        </a:solidFill>
                        <a:latin typeface="Calibri" panose="020F0502020204030204"/>
                      </a:endParaRPr>
                    </a:p>
                  </a:txBody>
                  <a:tcPr marL="7144" marR="7144" marT="7144" marB="0"/>
                </a:tc>
                <a:tc>
                  <a:txBody>
                    <a:bodyPr/>
                    <a:lstStyle/>
                    <a:p>
                      <a:pPr algn="ctr" rtl="0" fontAlgn="t"/>
                      <a:endParaRPr lang="en-US" altLang="zh-CN" sz="1400" b="0" i="0" u="none" strike="noStrike" dirty="0">
                        <a:solidFill>
                          <a:srgbClr val="000000"/>
                        </a:solidFill>
                        <a:latin typeface="Calibri" panose="020F0502020204030204"/>
                      </a:endParaRPr>
                    </a:p>
                  </a:txBody>
                  <a:tcPr marL="7144" marR="7144" marT="7144" marB="0"/>
                </a:tc>
                <a:tc>
                  <a:txBody>
                    <a:bodyPr/>
                    <a:lstStyle/>
                    <a:p>
                      <a:pPr algn="ctr" rtl="0" fontAlgn="t"/>
                      <a:endParaRPr lang="en-US" altLang="zh-CN" sz="1400" b="0" i="0" u="none" strike="noStrike" dirty="0">
                        <a:solidFill>
                          <a:srgbClr val="000000"/>
                        </a:solidFill>
                        <a:latin typeface="Calibri" panose="020F0502020204030204"/>
                      </a:endParaRPr>
                    </a:p>
                  </a:txBody>
                  <a:tcPr marL="7144" marR="7144" marT="7144" marB="0"/>
                </a:tc>
              </a:tr>
              <a:tr h="278130">
                <a:tc>
                  <a:txBody>
                    <a:bodyPr/>
                    <a:lstStyle/>
                    <a:p>
                      <a:pPr algn="ctr"/>
                      <a:r>
                        <a:rPr lang="zh-CN" altLang="en-US" sz="1400" dirty="0"/>
                        <a:t>总资产</a:t>
                      </a:r>
                    </a:p>
                  </a:txBody>
                  <a:tcPr marL="68580" marR="68580" marT="34290" marB="34290"/>
                </a:tc>
                <a:tc>
                  <a:txBody>
                    <a:bodyPr/>
                    <a:lstStyle/>
                    <a:p>
                      <a:pPr algn="ctr" rtl="0" fontAlgn="t"/>
                      <a:endParaRPr lang="en-US" altLang="zh-CN" sz="1400" b="0" i="0" u="none" strike="noStrike" dirty="0">
                        <a:solidFill>
                          <a:srgbClr val="000000"/>
                        </a:solidFill>
                        <a:latin typeface="Calibri" panose="020F0502020204030204"/>
                      </a:endParaRPr>
                    </a:p>
                  </a:txBody>
                  <a:tcPr marL="7144" marR="7144" marT="7144" marB="0"/>
                </a:tc>
                <a:tc>
                  <a:txBody>
                    <a:bodyPr/>
                    <a:lstStyle/>
                    <a:p>
                      <a:pPr algn="ctr" rtl="0" fontAlgn="t"/>
                      <a:endParaRPr lang="en-US" altLang="zh-CN" sz="1400" b="0" i="0" u="none" strike="noStrike" dirty="0">
                        <a:solidFill>
                          <a:srgbClr val="000000"/>
                        </a:solidFill>
                        <a:latin typeface="Calibri" panose="020F0502020204030204"/>
                      </a:endParaRPr>
                    </a:p>
                  </a:txBody>
                  <a:tcPr marL="7144" marR="7144" marT="7144" marB="0"/>
                </a:tc>
                <a:tc>
                  <a:txBody>
                    <a:bodyPr/>
                    <a:lstStyle/>
                    <a:p>
                      <a:pPr algn="ctr" rtl="0" fontAlgn="t"/>
                      <a:endParaRPr lang="en-US" altLang="zh-CN" sz="1400" b="0" i="0" u="none" strike="noStrike" dirty="0">
                        <a:solidFill>
                          <a:srgbClr val="000000"/>
                        </a:solidFill>
                        <a:latin typeface="Calibri" panose="020F0502020204030204"/>
                      </a:endParaRPr>
                    </a:p>
                  </a:txBody>
                  <a:tcPr marL="7144" marR="7144" marT="7144" marB="0"/>
                </a:tc>
                <a:tc>
                  <a:txBody>
                    <a:bodyPr/>
                    <a:lstStyle/>
                    <a:p>
                      <a:pPr algn="ctr" rtl="0" fontAlgn="t"/>
                      <a:endParaRPr lang="en-US" altLang="zh-CN" sz="1400" b="0" i="0" u="none" strike="noStrike" dirty="0">
                        <a:solidFill>
                          <a:srgbClr val="000000"/>
                        </a:solidFill>
                        <a:latin typeface="Calibri" panose="020F0502020204030204"/>
                      </a:endParaRPr>
                    </a:p>
                  </a:txBody>
                  <a:tcPr marL="7144" marR="7144" marT="7144" marB="0"/>
                </a:tc>
              </a:tr>
              <a:tr h="278130">
                <a:tc>
                  <a:txBody>
                    <a:bodyPr/>
                    <a:lstStyle/>
                    <a:p>
                      <a:pPr algn="ctr"/>
                      <a:r>
                        <a:rPr lang="zh-CN" altLang="en-US" sz="1400" dirty="0"/>
                        <a:t>资产收益率</a:t>
                      </a:r>
                    </a:p>
                  </a:txBody>
                  <a:tcPr marL="68580" marR="68580" marT="34290" marB="34290"/>
                </a:tc>
                <a:tc>
                  <a:txBody>
                    <a:bodyPr/>
                    <a:lstStyle/>
                    <a:p>
                      <a:pPr marL="0" algn="ctr" defTabSz="914400" rtl="0" eaLnBrk="1" fontAlgn="t" latinLnBrk="0" hangingPunct="1"/>
                      <a:endParaRPr lang="en-US" altLang="zh-CN" sz="1400" b="0" i="0" u="none" strike="noStrike" kern="1200" dirty="0">
                        <a:solidFill>
                          <a:srgbClr val="000000"/>
                        </a:solidFill>
                        <a:latin typeface="Calibri" panose="020F0502020204030204"/>
                        <a:ea typeface="+mn-ea"/>
                        <a:cs typeface="+mn-cs"/>
                      </a:endParaRPr>
                    </a:p>
                  </a:txBody>
                  <a:tcPr marL="7144" marR="7144" marT="7144" marB="0" anchor="ctr"/>
                </a:tc>
                <a:tc>
                  <a:txBody>
                    <a:bodyPr/>
                    <a:lstStyle/>
                    <a:p>
                      <a:pPr marL="0" algn="ctr" defTabSz="914400" rtl="0" eaLnBrk="1" fontAlgn="t" latinLnBrk="0" hangingPunct="1"/>
                      <a:endParaRPr lang="en-US" altLang="zh-CN" sz="1400" b="0" i="0" u="none" strike="noStrike" kern="1200" dirty="0">
                        <a:solidFill>
                          <a:srgbClr val="000000"/>
                        </a:solidFill>
                        <a:latin typeface="Calibri" panose="020F0502020204030204"/>
                        <a:ea typeface="+mn-ea"/>
                        <a:cs typeface="+mn-cs"/>
                      </a:endParaRPr>
                    </a:p>
                  </a:txBody>
                  <a:tcPr marL="7144" marR="7144" marT="7144" marB="0" anchor="ctr"/>
                </a:tc>
                <a:tc>
                  <a:txBody>
                    <a:bodyPr/>
                    <a:lstStyle/>
                    <a:p>
                      <a:pPr marL="0" algn="ctr" defTabSz="914400" rtl="0" eaLnBrk="1" fontAlgn="t" latinLnBrk="0" hangingPunct="1"/>
                      <a:endParaRPr lang="en-US" altLang="zh-CN" sz="1400" b="0" i="0" u="none" strike="noStrike" kern="1200" dirty="0">
                        <a:solidFill>
                          <a:srgbClr val="000000"/>
                        </a:solidFill>
                        <a:latin typeface="Calibri" panose="020F0502020204030204"/>
                        <a:ea typeface="+mn-ea"/>
                        <a:cs typeface="+mn-cs"/>
                      </a:endParaRPr>
                    </a:p>
                  </a:txBody>
                  <a:tcPr marL="7144" marR="7144" marT="7144" marB="0" anchor="ctr"/>
                </a:tc>
                <a:tc>
                  <a:txBody>
                    <a:bodyPr/>
                    <a:lstStyle/>
                    <a:p>
                      <a:pPr marL="0" algn="ctr" defTabSz="914400" rtl="0" eaLnBrk="1" fontAlgn="t" latinLnBrk="0" hangingPunct="1"/>
                      <a:endParaRPr lang="en-US" altLang="zh-CN" sz="1400" b="0" i="0" u="none" strike="noStrike" kern="1200" dirty="0">
                        <a:solidFill>
                          <a:srgbClr val="000000"/>
                        </a:solidFill>
                        <a:latin typeface="Calibri" panose="020F0502020204030204"/>
                        <a:ea typeface="+mn-ea"/>
                        <a:cs typeface="+mn-cs"/>
                      </a:endParaRPr>
                    </a:p>
                  </a:txBody>
                  <a:tcPr marL="7144" marR="7144" marT="7144" marB="0" anchor="ctr"/>
                </a:tc>
              </a:tr>
            </a:tbl>
          </a:graphicData>
        </a:graphic>
      </p:graphicFrame>
      <p:sp>
        <p:nvSpPr>
          <p:cNvPr id="18" name="TextBox 4"/>
          <p:cNvSpPr txBox="1"/>
          <p:nvPr/>
        </p:nvSpPr>
        <p:spPr>
          <a:xfrm>
            <a:off x="755576" y="843558"/>
            <a:ext cx="3078342" cy="323165"/>
          </a:xfrm>
          <a:prstGeom prst="rect">
            <a:avLst/>
          </a:prstGeom>
          <a:noFill/>
        </p:spPr>
        <p:txBody>
          <a:bodyPr wrap="square" rtlCol="0">
            <a:spAutoFit/>
          </a:bodyPr>
          <a:lstStyle/>
          <a:p>
            <a:r>
              <a:rPr lang="en-US" altLang="zh-CN" sz="1500" b="1" dirty="0">
                <a:latin typeface="微软雅黑" panose="020B0503020204020204" pitchFamily="34" charset="-122"/>
                <a:ea typeface="微软雅黑" panose="020B0503020204020204" pitchFamily="34" charset="-122"/>
              </a:rPr>
              <a:t>1.1 </a:t>
            </a:r>
            <a:r>
              <a:rPr lang="zh-CN" altLang="en-US" sz="1500" b="1" dirty="0">
                <a:latin typeface="微软雅黑" panose="020B0503020204020204" pitchFamily="34" charset="-122"/>
                <a:ea typeface="微软雅黑" panose="020B0503020204020204" pitchFamily="34" charset="-122"/>
              </a:rPr>
              <a:t>资产规模分析</a:t>
            </a:r>
          </a:p>
        </p:txBody>
      </p:sp>
      <p:graphicFrame>
        <p:nvGraphicFramePr>
          <p:cNvPr id="19" name="图表 18"/>
          <p:cNvGraphicFramePr/>
          <p:nvPr/>
        </p:nvGraphicFramePr>
        <p:xfrm>
          <a:off x="1364219" y="2871524"/>
          <a:ext cx="3240360" cy="2268252"/>
        </p:xfrm>
        <a:graphic>
          <a:graphicData uri="http://schemas.openxmlformats.org/drawingml/2006/chart">
            <c:chart xmlns:c="http://schemas.openxmlformats.org/drawingml/2006/chart" xmlns:r="http://schemas.openxmlformats.org/officeDocument/2006/relationships" r:id="rId3"/>
          </a:graphicData>
        </a:graphic>
      </p:graphicFrame>
      <p:sp>
        <p:nvSpPr>
          <p:cNvPr id="20" name="TextBox 8"/>
          <p:cNvSpPr txBox="1"/>
          <p:nvPr/>
        </p:nvSpPr>
        <p:spPr>
          <a:xfrm>
            <a:off x="4748595" y="3291830"/>
            <a:ext cx="2970330" cy="1384995"/>
          </a:xfrm>
          <a:prstGeom prst="rect">
            <a:avLst/>
          </a:prstGeom>
          <a:noFill/>
        </p:spPr>
        <p:txBody>
          <a:bodyPr wrap="square" rtlCol="0">
            <a:spAutoFit/>
          </a:bodyPr>
          <a:lstStyle/>
          <a:p>
            <a:r>
              <a:rPr lang="zh-CN" altLang="en-US" sz="1200" b="1" dirty="0">
                <a:latin typeface="微软雅黑" panose="020B0503020204020204" pitchFamily="34" charset="-122"/>
                <a:ea typeface="微软雅黑" panose="020B0503020204020204" pitchFamily="34" charset="-122"/>
              </a:rPr>
              <a:t>分析如下：</a:t>
            </a:r>
            <a:r>
              <a:rPr lang="zh-CN" altLang="en-US" sz="1200" dirty="0">
                <a:latin typeface="微软雅黑" panose="020B0503020204020204" pitchFamily="34" charset="-122"/>
                <a:ea typeface="微软雅黑" panose="020B0503020204020204" pitchFamily="34" charset="-122"/>
              </a:rPr>
              <a:t>由上表和图的数据所示，可以看出在201</a:t>
            </a:r>
            <a:r>
              <a:rPr lang="en-US" altLang="zh-CN" sz="1200" dirty="0">
                <a:latin typeface="微软雅黑" panose="020B0503020204020204" pitchFamily="34" charset="-122"/>
                <a:ea typeface="微软雅黑" panose="020B0503020204020204" pitchFamily="34" charset="-122"/>
              </a:rPr>
              <a:t>4</a:t>
            </a:r>
            <a:r>
              <a:rPr lang="zh-CN" altLang="en-US" sz="1200" dirty="0">
                <a:latin typeface="微软雅黑" panose="020B0503020204020204" pitchFamily="34" charset="-122"/>
                <a:ea typeface="微软雅黑" panose="020B0503020204020204" pitchFamily="34" charset="-122"/>
              </a:rPr>
              <a:t>-201</a:t>
            </a:r>
            <a:r>
              <a:rPr lang="en-US" altLang="zh-CN" sz="1200" dirty="0">
                <a:latin typeface="微软雅黑" panose="020B0503020204020204" pitchFamily="34" charset="-122"/>
                <a:ea typeface="微软雅黑" panose="020B0503020204020204" pitchFamily="34" charset="-122"/>
              </a:rPr>
              <a:t>7</a:t>
            </a:r>
            <a:r>
              <a:rPr lang="zh-CN" altLang="en-US" sz="1200" dirty="0">
                <a:latin typeface="微软雅黑" panose="020B0503020204020204" pitchFamily="34" charset="-122"/>
                <a:ea typeface="微软雅黑" panose="020B0503020204020204" pitchFamily="34" charset="-122"/>
              </a:rPr>
              <a:t>年上无论是流动资产还是非流动资产都是在逐年增加的。尤其是在201</a:t>
            </a:r>
            <a:r>
              <a:rPr lang="en-US" altLang="zh-CN" sz="1200" dirty="0">
                <a:latin typeface="微软雅黑" panose="020B0503020204020204" pitchFamily="34" charset="-122"/>
                <a:ea typeface="微软雅黑" panose="020B0503020204020204" pitchFamily="34" charset="-122"/>
              </a:rPr>
              <a:t>6</a:t>
            </a:r>
            <a:r>
              <a:rPr lang="zh-CN" altLang="en-US" sz="1200" dirty="0">
                <a:latin typeface="微软雅黑" panose="020B0503020204020204" pitchFamily="34" charset="-122"/>
                <a:ea typeface="微软雅黑" panose="020B0503020204020204" pitchFamily="34" charset="-122"/>
              </a:rPr>
              <a:t>年流动资产和非流动资产都有了大幅度的增加企业资产规模体现企业拥有的实力，这说明该</a:t>
            </a:r>
            <a:r>
              <a:rPr lang="zh-CN" altLang="en-US" sz="1200" u="sng" dirty="0">
                <a:solidFill>
                  <a:schemeClr val="tx1">
                    <a:lumMod val="85000"/>
                    <a:lumOff val="15000"/>
                  </a:schemeClr>
                </a:solidFill>
                <a:latin typeface="微软雅黑" panose="020B0503020204020204" pitchFamily="34" charset="-122"/>
                <a:ea typeface="微软雅黑" panose="020B0503020204020204" pitchFamily="34" charset="-122"/>
              </a:rPr>
              <a:t>企业在这年内的实力不断的增强</a:t>
            </a:r>
            <a:r>
              <a:rPr lang="zh-CN" altLang="en-US" sz="1200" dirty="0">
                <a:solidFill>
                  <a:schemeClr val="tx1">
                    <a:lumMod val="85000"/>
                    <a:lumOff val="15000"/>
                  </a:schemeClr>
                </a:solidFill>
                <a:latin typeface="微软雅黑" panose="020B0503020204020204" pitchFamily="34" charset="-122"/>
                <a:ea typeface="微软雅黑" panose="020B0503020204020204" pitchFamily="34" charset="-122"/>
              </a:rPr>
              <a:t>！</a:t>
            </a:r>
          </a:p>
        </p:txBody>
      </p:sp>
      <p:sp>
        <p:nvSpPr>
          <p:cNvPr id="21" name="TextBox 6"/>
          <p:cNvSpPr txBox="1"/>
          <p:nvPr/>
        </p:nvSpPr>
        <p:spPr>
          <a:xfrm>
            <a:off x="6606226" y="1187311"/>
            <a:ext cx="972108" cy="219291"/>
          </a:xfrm>
          <a:prstGeom prst="rect">
            <a:avLst/>
          </a:prstGeom>
          <a:noFill/>
        </p:spPr>
        <p:txBody>
          <a:bodyPr wrap="square" rtlCol="0">
            <a:spAutoFit/>
          </a:bodyPr>
          <a:lstStyle/>
          <a:p>
            <a:r>
              <a:rPr lang="zh-CN" altLang="en-US" sz="825" b="1" dirty="0"/>
              <a:t>单位：万元</a:t>
            </a:r>
          </a:p>
        </p:txBody>
      </p:sp>
    </p:spTree>
  </p:cSld>
  <p:clrMapOvr>
    <a:masterClrMapping/>
  </p:clrMapOvr>
  <p:transition spd="slow" advClick="0" advTm="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1000"/>
                                        <p:tgtEl>
                                          <p:spTgt spid="31"/>
                                        </p:tgtEl>
                                      </p:cBhvr>
                                    </p:animEffect>
                                    <p:anim calcmode="lin" valueType="num">
                                      <p:cBhvr>
                                        <p:cTn id="8" dur="1000" fill="hold"/>
                                        <p:tgtEl>
                                          <p:spTgt spid="31"/>
                                        </p:tgtEl>
                                        <p:attrNameLst>
                                          <p:attrName>ppt_x</p:attrName>
                                        </p:attrNameLst>
                                      </p:cBhvr>
                                      <p:tavLst>
                                        <p:tav tm="0">
                                          <p:val>
                                            <p:strVal val="#ppt_x"/>
                                          </p:val>
                                        </p:tav>
                                        <p:tav tm="100000">
                                          <p:val>
                                            <p:strVal val="#ppt_x"/>
                                          </p:val>
                                        </p:tav>
                                      </p:tavLst>
                                    </p:anim>
                                    <p:anim calcmode="lin" valueType="num">
                                      <p:cBhvr>
                                        <p:cTn id="9" dur="1000" fill="hold"/>
                                        <p:tgtEl>
                                          <p:spTgt spid="31"/>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 presetClass="entr" presetSubtype="4" fill="hold" grpId="0" nodeType="afterEffect">
                                  <p:stCondLst>
                                    <p:cond delay="0"/>
                                  </p:stCondLst>
                                  <p:childTnLst>
                                    <p:set>
                                      <p:cBhvr>
                                        <p:cTn id="12" dur="1" fill="hold">
                                          <p:stCondLst>
                                            <p:cond delay="0"/>
                                          </p:stCondLst>
                                        </p:cTn>
                                        <p:tgtEl>
                                          <p:spTgt spid="18"/>
                                        </p:tgtEl>
                                        <p:attrNameLst>
                                          <p:attrName>style.visibility</p:attrName>
                                        </p:attrNameLst>
                                      </p:cBhvr>
                                      <p:to>
                                        <p:strVal val="visible"/>
                                      </p:to>
                                    </p:set>
                                    <p:anim calcmode="lin" valueType="num">
                                      <p:cBhvr additive="base">
                                        <p:cTn id="13" dur="500" fill="hold"/>
                                        <p:tgtEl>
                                          <p:spTgt spid="18"/>
                                        </p:tgtEl>
                                        <p:attrNameLst>
                                          <p:attrName>ppt_x</p:attrName>
                                        </p:attrNameLst>
                                      </p:cBhvr>
                                      <p:tavLst>
                                        <p:tav tm="0">
                                          <p:val>
                                            <p:strVal val="#ppt_x"/>
                                          </p:val>
                                        </p:tav>
                                        <p:tav tm="100000">
                                          <p:val>
                                            <p:strVal val="#ppt_x"/>
                                          </p:val>
                                        </p:tav>
                                      </p:tavLst>
                                    </p:anim>
                                    <p:anim calcmode="lin" valueType="num">
                                      <p:cBhvr additive="base">
                                        <p:cTn id="14" dur="500" fill="hold"/>
                                        <p:tgtEl>
                                          <p:spTgt spid="18"/>
                                        </p:tgtEl>
                                        <p:attrNameLst>
                                          <p:attrName>ppt_y</p:attrName>
                                        </p:attrNameLst>
                                      </p:cBhvr>
                                      <p:tavLst>
                                        <p:tav tm="0">
                                          <p:val>
                                            <p:strVal val="1+#ppt_h/2"/>
                                          </p:val>
                                        </p:tav>
                                        <p:tav tm="100000">
                                          <p:val>
                                            <p:strVal val="#ppt_y"/>
                                          </p:val>
                                        </p:tav>
                                      </p:tavLst>
                                    </p:anim>
                                  </p:childTnLst>
                                </p:cTn>
                              </p:par>
                            </p:childTnLst>
                          </p:cTn>
                        </p:par>
                        <p:par>
                          <p:cTn id="15" fill="hold">
                            <p:stCondLst>
                              <p:cond delay="1500"/>
                            </p:stCondLst>
                            <p:childTnLst>
                              <p:par>
                                <p:cTn id="16" presetID="42" presetClass="entr" presetSubtype="0" fill="hold" nodeType="after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1000"/>
                                        <p:tgtEl>
                                          <p:spTgt spid="17"/>
                                        </p:tgtEl>
                                      </p:cBhvr>
                                    </p:animEffect>
                                    <p:anim calcmode="lin" valueType="num">
                                      <p:cBhvr>
                                        <p:cTn id="19" dur="1000" fill="hold"/>
                                        <p:tgtEl>
                                          <p:spTgt spid="17"/>
                                        </p:tgtEl>
                                        <p:attrNameLst>
                                          <p:attrName>ppt_x</p:attrName>
                                        </p:attrNameLst>
                                      </p:cBhvr>
                                      <p:tavLst>
                                        <p:tav tm="0">
                                          <p:val>
                                            <p:strVal val="#ppt_x"/>
                                          </p:val>
                                        </p:tav>
                                        <p:tav tm="100000">
                                          <p:val>
                                            <p:strVal val="#ppt_x"/>
                                          </p:val>
                                        </p:tav>
                                      </p:tavLst>
                                    </p:anim>
                                    <p:anim calcmode="lin" valueType="num">
                                      <p:cBhvr>
                                        <p:cTn id="20" dur="1000" fill="hold"/>
                                        <p:tgtEl>
                                          <p:spTgt spid="17"/>
                                        </p:tgtEl>
                                        <p:attrNameLst>
                                          <p:attrName>ppt_y</p:attrName>
                                        </p:attrNameLst>
                                      </p:cBhvr>
                                      <p:tavLst>
                                        <p:tav tm="0">
                                          <p:val>
                                            <p:strVal val="#ppt_y+.1"/>
                                          </p:val>
                                        </p:tav>
                                        <p:tav tm="100000">
                                          <p:val>
                                            <p:strVal val="#ppt_y"/>
                                          </p:val>
                                        </p:tav>
                                      </p:tavLst>
                                    </p:anim>
                                  </p:childTnLst>
                                </p:cTn>
                              </p:par>
                            </p:childTnLst>
                          </p:cTn>
                        </p:par>
                        <p:par>
                          <p:cTn id="21" fill="hold">
                            <p:stCondLst>
                              <p:cond delay="2500"/>
                            </p:stCondLst>
                            <p:childTnLst>
                              <p:par>
                                <p:cTn id="22" presetID="42" presetClass="entr" presetSubtype="0" fill="hold" grpId="0" nodeType="afterEffect">
                                  <p:stCondLst>
                                    <p:cond delay="0"/>
                                  </p:stCondLst>
                                  <p:childTnLst>
                                    <p:set>
                                      <p:cBhvr>
                                        <p:cTn id="23" dur="1" fill="hold">
                                          <p:stCondLst>
                                            <p:cond delay="0"/>
                                          </p:stCondLst>
                                        </p:cTn>
                                        <p:tgtEl>
                                          <p:spTgt spid="19"/>
                                        </p:tgtEl>
                                        <p:attrNameLst>
                                          <p:attrName>style.visibility</p:attrName>
                                        </p:attrNameLst>
                                      </p:cBhvr>
                                      <p:to>
                                        <p:strVal val="visible"/>
                                      </p:to>
                                    </p:set>
                                    <p:animEffect transition="in" filter="fade">
                                      <p:cBhvr>
                                        <p:cTn id="24" dur="1000"/>
                                        <p:tgtEl>
                                          <p:spTgt spid="19"/>
                                        </p:tgtEl>
                                      </p:cBhvr>
                                    </p:animEffect>
                                    <p:anim calcmode="lin" valueType="num">
                                      <p:cBhvr>
                                        <p:cTn id="25" dur="1000" fill="hold"/>
                                        <p:tgtEl>
                                          <p:spTgt spid="19"/>
                                        </p:tgtEl>
                                        <p:attrNameLst>
                                          <p:attrName>ppt_x</p:attrName>
                                        </p:attrNameLst>
                                      </p:cBhvr>
                                      <p:tavLst>
                                        <p:tav tm="0">
                                          <p:val>
                                            <p:strVal val="#ppt_x"/>
                                          </p:val>
                                        </p:tav>
                                        <p:tav tm="100000">
                                          <p:val>
                                            <p:strVal val="#ppt_x"/>
                                          </p:val>
                                        </p:tav>
                                      </p:tavLst>
                                    </p:anim>
                                    <p:anim calcmode="lin" valueType="num">
                                      <p:cBhvr>
                                        <p:cTn id="26" dur="1000" fill="hold"/>
                                        <p:tgtEl>
                                          <p:spTgt spid="19"/>
                                        </p:tgtEl>
                                        <p:attrNameLst>
                                          <p:attrName>ppt_y</p:attrName>
                                        </p:attrNameLst>
                                      </p:cBhvr>
                                      <p:tavLst>
                                        <p:tav tm="0">
                                          <p:val>
                                            <p:strVal val="#ppt_y+.1"/>
                                          </p:val>
                                        </p:tav>
                                        <p:tav tm="100000">
                                          <p:val>
                                            <p:strVal val="#ppt_y"/>
                                          </p:val>
                                        </p:tav>
                                      </p:tavLst>
                                    </p:anim>
                                  </p:childTnLst>
                                </p:cTn>
                              </p:par>
                            </p:childTnLst>
                          </p:cTn>
                        </p:par>
                        <p:par>
                          <p:cTn id="27" fill="hold">
                            <p:stCondLst>
                              <p:cond delay="3500"/>
                            </p:stCondLst>
                            <p:childTnLst>
                              <p:par>
                                <p:cTn id="28" presetID="42" presetClass="entr" presetSubtype="0" fill="hold" grpId="0" nodeType="after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1000"/>
                                        <p:tgtEl>
                                          <p:spTgt spid="20"/>
                                        </p:tgtEl>
                                      </p:cBhvr>
                                    </p:animEffect>
                                    <p:anim calcmode="lin" valueType="num">
                                      <p:cBhvr>
                                        <p:cTn id="31" dur="1000" fill="hold"/>
                                        <p:tgtEl>
                                          <p:spTgt spid="20"/>
                                        </p:tgtEl>
                                        <p:attrNameLst>
                                          <p:attrName>ppt_x</p:attrName>
                                        </p:attrNameLst>
                                      </p:cBhvr>
                                      <p:tavLst>
                                        <p:tav tm="0">
                                          <p:val>
                                            <p:strVal val="#ppt_x"/>
                                          </p:val>
                                        </p:tav>
                                        <p:tav tm="100000">
                                          <p:val>
                                            <p:strVal val="#ppt_x"/>
                                          </p:val>
                                        </p:tav>
                                      </p:tavLst>
                                    </p:anim>
                                    <p:anim calcmode="lin" valueType="num">
                                      <p:cBhvr>
                                        <p:cTn id="32" dur="1000" fill="hold"/>
                                        <p:tgtEl>
                                          <p:spTgt spid="20"/>
                                        </p:tgtEl>
                                        <p:attrNameLst>
                                          <p:attrName>ppt_y</p:attrName>
                                        </p:attrNameLst>
                                      </p:cBhvr>
                                      <p:tavLst>
                                        <p:tav tm="0">
                                          <p:val>
                                            <p:strVal val="#ppt_y+.1"/>
                                          </p:val>
                                        </p:tav>
                                        <p:tav tm="100000">
                                          <p:val>
                                            <p:strVal val="#ppt_y"/>
                                          </p:val>
                                        </p:tav>
                                      </p:tavLst>
                                    </p:anim>
                                  </p:childTnLst>
                                </p:cTn>
                              </p:par>
                            </p:childTnLst>
                          </p:cTn>
                        </p:par>
                        <p:par>
                          <p:cTn id="33" fill="hold">
                            <p:stCondLst>
                              <p:cond delay="4500"/>
                            </p:stCondLst>
                            <p:childTnLst>
                              <p:par>
                                <p:cTn id="34" presetID="2" presetClass="entr" presetSubtype="4" fill="hold" grpId="0" nodeType="afterEffect">
                                  <p:stCondLst>
                                    <p:cond delay="0"/>
                                  </p:stCondLst>
                                  <p:childTnLst>
                                    <p:set>
                                      <p:cBhvr>
                                        <p:cTn id="35" dur="1" fill="hold">
                                          <p:stCondLst>
                                            <p:cond delay="0"/>
                                          </p:stCondLst>
                                        </p:cTn>
                                        <p:tgtEl>
                                          <p:spTgt spid="21"/>
                                        </p:tgtEl>
                                        <p:attrNameLst>
                                          <p:attrName>style.visibility</p:attrName>
                                        </p:attrNameLst>
                                      </p:cBhvr>
                                      <p:to>
                                        <p:strVal val="visible"/>
                                      </p:to>
                                    </p:set>
                                    <p:anim calcmode="lin" valueType="num">
                                      <p:cBhvr additive="base">
                                        <p:cTn id="36" dur="500" fill="hold"/>
                                        <p:tgtEl>
                                          <p:spTgt spid="21"/>
                                        </p:tgtEl>
                                        <p:attrNameLst>
                                          <p:attrName>ppt_x</p:attrName>
                                        </p:attrNameLst>
                                      </p:cBhvr>
                                      <p:tavLst>
                                        <p:tav tm="0">
                                          <p:val>
                                            <p:strVal val="#ppt_x"/>
                                          </p:val>
                                        </p:tav>
                                        <p:tav tm="100000">
                                          <p:val>
                                            <p:strVal val="#ppt_x"/>
                                          </p:val>
                                        </p:tav>
                                      </p:tavLst>
                                    </p:anim>
                                    <p:anim calcmode="lin" valueType="num">
                                      <p:cBhvr additive="base">
                                        <p:cTn id="37"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18" grpId="0"/>
      <p:bldGraphic spid="19" grpId="0">
        <p:bldAsOne/>
      </p:bldGraphic>
      <p:bldP spid="20" grpId="0"/>
      <p:bldP spid="2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txBox="1"/>
          <p:nvPr/>
        </p:nvSpPr>
        <p:spPr>
          <a:xfrm>
            <a:off x="857885" y="195109"/>
            <a:ext cx="2600960" cy="379730"/>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000" b="1" dirty="0">
                <a:solidFill>
                  <a:schemeClr val="tx1"/>
                </a:solidFill>
                <a:latin typeface="微软雅黑" panose="020B0503020204020204" pitchFamily="34" charset="-122"/>
                <a:ea typeface="微软雅黑" panose="020B0503020204020204" pitchFamily="34" charset="-122"/>
              </a:rPr>
              <a:t>1.2</a:t>
            </a:r>
            <a:r>
              <a:rPr lang="zh-CN" altLang="en-US" sz="2000" b="1" dirty="0">
                <a:solidFill>
                  <a:schemeClr val="tx1"/>
                </a:solidFill>
                <a:latin typeface="微软雅黑" panose="020B0503020204020204" pitchFamily="34" charset="-122"/>
                <a:ea typeface="微软雅黑" panose="020B0503020204020204" pitchFamily="34" charset="-122"/>
              </a:rPr>
              <a:t>资产结构</a:t>
            </a:r>
          </a:p>
        </p:txBody>
      </p:sp>
      <p:graphicFrame>
        <p:nvGraphicFramePr>
          <p:cNvPr id="10" name="内容占位符 3"/>
          <p:cNvGraphicFramePr/>
          <p:nvPr/>
        </p:nvGraphicFramePr>
        <p:xfrm>
          <a:off x="1097614" y="1059583"/>
          <a:ext cx="3510390" cy="2700299"/>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1" name="表格 10"/>
          <p:cNvGraphicFramePr>
            <a:graphicFrameLocks noGrp="1"/>
          </p:cNvGraphicFramePr>
          <p:nvPr/>
        </p:nvGraphicFramePr>
        <p:xfrm>
          <a:off x="4932040" y="1059582"/>
          <a:ext cx="2376264" cy="2754308"/>
        </p:xfrm>
        <a:graphic>
          <a:graphicData uri="http://schemas.openxmlformats.org/drawingml/2006/table">
            <a:tbl>
              <a:tblPr firstRow="1" bandRow="1">
                <a:tableStyleId>{C083E6E3-FA7D-4D7B-A595-EF9225AFEA82}</a:tableStyleId>
              </a:tblPr>
              <a:tblGrid>
                <a:gridCol w="594066"/>
                <a:gridCol w="432048"/>
                <a:gridCol w="432048"/>
                <a:gridCol w="378042"/>
                <a:gridCol w="540060"/>
              </a:tblGrid>
              <a:tr h="549061">
                <a:tc>
                  <a:txBody>
                    <a:bodyPr/>
                    <a:lstStyle/>
                    <a:p>
                      <a:pPr algn="ctr" fontAlgn="ctr"/>
                      <a:r>
                        <a:rPr lang="zh-CN" altLang="en-US" sz="800" b="1" i="0" u="none" strike="noStrike" dirty="0">
                          <a:solidFill>
                            <a:srgbClr val="000000"/>
                          </a:solidFill>
                          <a:latin typeface="宋体" panose="02010600030101010101" pitchFamily="2" charset="-122"/>
                        </a:rPr>
                        <a:t>资  产</a:t>
                      </a:r>
                    </a:p>
                  </a:txBody>
                  <a:tcPr marL="7144" marR="7144" marT="7144" marB="0" anchor="ctr"/>
                </a:tc>
                <a:tc>
                  <a:txBody>
                    <a:bodyPr/>
                    <a:lstStyle/>
                    <a:p>
                      <a:pPr algn="ctr" fontAlgn="ctr"/>
                      <a:r>
                        <a:rPr lang="en-US" altLang="zh-CN" sz="800" b="1" i="0" u="none" strike="noStrike" dirty="0">
                          <a:solidFill>
                            <a:srgbClr val="000000"/>
                          </a:solidFill>
                          <a:latin typeface="宋体" panose="02010600030101010101" pitchFamily="2" charset="-122"/>
                        </a:rPr>
                        <a:t>2014</a:t>
                      </a:r>
                      <a:r>
                        <a:rPr lang="zh-CN" altLang="en-US" sz="800" b="1" i="0" u="none" strike="noStrike" dirty="0">
                          <a:solidFill>
                            <a:srgbClr val="000000"/>
                          </a:solidFill>
                          <a:latin typeface="宋体" panose="02010600030101010101" pitchFamily="2" charset="-122"/>
                        </a:rPr>
                        <a:t>年</a:t>
                      </a:r>
                    </a:p>
                  </a:txBody>
                  <a:tcPr marL="7144" marR="7144" marT="7144" marB="0" anchor="ctr"/>
                </a:tc>
                <a:tc>
                  <a:txBody>
                    <a:bodyPr/>
                    <a:lstStyle/>
                    <a:p>
                      <a:pPr algn="ctr" fontAlgn="ctr"/>
                      <a:r>
                        <a:rPr lang="en-US" altLang="zh-CN" sz="800" b="1" i="0" u="none" strike="noStrike" dirty="0">
                          <a:solidFill>
                            <a:srgbClr val="000000"/>
                          </a:solidFill>
                          <a:latin typeface="宋体" panose="02010600030101010101" pitchFamily="2" charset="-122"/>
                        </a:rPr>
                        <a:t>2015</a:t>
                      </a:r>
                      <a:r>
                        <a:rPr lang="zh-CN" altLang="en-US" sz="800" b="1" i="0" u="none" strike="noStrike" dirty="0">
                          <a:solidFill>
                            <a:srgbClr val="000000"/>
                          </a:solidFill>
                          <a:latin typeface="宋体" panose="02010600030101010101" pitchFamily="2" charset="-122"/>
                        </a:rPr>
                        <a:t>年</a:t>
                      </a:r>
                    </a:p>
                  </a:txBody>
                  <a:tcPr marL="7144" marR="7144" marT="7144" marB="0" anchor="ctr"/>
                </a:tc>
                <a:tc>
                  <a:txBody>
                    <a:bodyPr/>
                    <a:lstStyle/>
                    <a:p>
                      <a:pPr algn="ctr" fontAlgn="ctr"/>
                      <a:r>
                        <a:rPr lang="en-US" altLang="zh-CN" sz="800" b="1" i="0" u="none" strike="noStrike" dirty="0">
                          <a:solidFill>
                            <a:srgbClr val="000000"/>
                          </a:solidFill>
                          <a:latin typeface="宋体" panose="02010600030101010101" pitchFamily="2" charset="-122"/>
                        </a:rPr>
                        <a:t>2016</a:t>
                      </a:r>
                      <a:r>
                        <a:rPr lang="zh-CN" altLang="en-US" sz="800" b="1" i="0" u="none" strike="noStrike" dirty="0">
                          <a:solidFill>
                            <a:srgbClr val="000000"/>
                          </a:solidFill>
                          <a:latin typeface="宋体" panose="02010600030101010101" pitchFamily="2" charset="-122"/>
                        </a:rPr>
                        <a:t>年</a:t>
                      </a:r>
                    </a:p>
                  </a:txBody>
                  <a:tcPr marL="7144" marR="7144" marT="7144" marB="0" anchor="ctr"/>
                </a:tc>
                <a:tc>
                  <a:txBody>
                    <a:bodyPr/>
                    <a:lstStyle/>
                    <a:p>
                      <a:pPr algn="ctr" fontAlgn="ctr"/>
                      <a:r>
                        <a:rPr lang="en-US" altLang="zh-CN" sz="800" b="1" i="0" u="none" strike="noStrike" dirty="0">
                          <a:solidFill>
                            <a:srgbClr val="000000"/>
                          </a:solidFill>
                          <a:latin typeface="宋体" panose="02010600030101010101" pitchFamily="2" charset="-122"/>
                        </a:rPr>
                        <a:t>2017</a:t>
                      </a:r>
                      <a:r>
                        <a:rPr lang="zh-CN" altLang="en-US" sz="800" b="1" i="0" u="none" strike="noStrike" dirty="0">
                          <a:solidFill>
                            <a:srgbClr val="000000"/>
                          </a:solidFill>
                          <a:latin typeface="宋体" panose="02010600030101010101" pitchFamily="2" charset="-122"/>
                        </a:rPr>
                        <a:t>年</a:t>
                      </a:r>
                    </a:p>
                  </a:txBody>
                  <a:tcPr marL="7144" marR="7144" marT="7144" marB="0" anchor="ctr"/>
                </a:tc>
              </a:tr>
              <a:tr h="315035">
                <a:tc>
                  <a:txBody>
                    <a:bodyPr/>
                    <a:lstStyle/>
                    <a:p>
                      <a:pPr algn="ctr" fontAlgn="ctr"/>
                      <a:r>
                        <a:rPr lang="zh-CN" altLang="en-US" sz="800" b="0" i="0" u="none" strike="noStrike">
                          <a:solidFill>
                            <a:srgbClr val="000000"/>
                          </a:solidFill>
                          <a:latin typeface="宋体" panose="02010600030101010101" pitchFamily="2" charset="-122"/>
                        </a:rPr>
                        <a:t>货币资金</a:t>
                      </a:r>
                    </a:p>
                  </a:txBody>
                  <a:tcPr marL="7144" marR="7144" marT="7144" marB="0" anchor="ctr"/>
                </a:tc>
                <a:tc>
                  <a:txBody>
                    <a:bodyPr/>
                    <a:lstStyle/>
                    <a:p>
                      <a:pPr algn="ctr" fontAlgn="ctr"/>
                      <a:endParaRPr lang="en-US" altLang="zh-CN" sz="800" b="0" i="0" u="none" strike="noStrike" dirty="0">
                        <a:solidFill>
                          <a:srgbClr val="000000"/>
                        </a:solidFill>
                        <a:latin typeface="宋体" panose="02010600030101010101" pitchFamily="2" charset="-122"/>
                      </a:endParaRPr>
                    </a:p>
                  </a:txBody>
                  <a:tcPr marL="7144" marR="7144" marT="7144" marB="0" anchor="ctr"/>
                </a:tc>
                <a:tc>
                  <a:txBody>
                    <a:bodyPr/>
                    <a:lstStyle/>
                    <a:p>
                      <a:pPr algn="ctr" fontAlgn="ctr"/>
                      <a:endParaRPr lang="en-US" altLang="zh-CN" sz="800" b="0" i="0" u="none" strike="noStrike">
                        <a:solidFill>
                          <a:srgbClr val="000000"/>
                        </a:solidFill>
                        <a:latin typeface="宋体" panose="02010600030101010101" pitchFamily="2" charset="-122"/>
                      </a:endParaRPr>
                    </a:p>
                  </a:txBody>
                  <a:tcPr marL="7144" marR="7144" marT="7144" marB="0" anchor="ctr"/>
                </a:tc>
                <a:tc>
                  <a:txBody>
                    <a:bodyPr/>
                    <a:lstStyle/>
                    <a:p>
                      <a:pPr algn="ctr" fontAlgn="ctr"/>
                      <a:endParaRPr lang="en-US" altLang="zh-CN" sz="800" b="0" i="0" u="none" strike="noStrike">
                        <a:solidFill>
                          <a:srgbClr val="000000"/>
                        </a:solidFill>
                        <a:latin typeface="宋体" panose="02010600030101010101" pitchFamily="2" charset="-122"/>
                      </a:endParaRPr>
                    </a:p>
                  </a:txBody>
                  <a:tcPr marL="7144" marR="7144" marT="7144" marB="0" anchor="ctr"/>
                </a:tc>
                <a:tc>
                  <a:txBody>
                    <a:bodyPr/>
                    <a:lstStyle/>
                    <a:p>
                      <a:pPr algn="ctr" fontAlgn="ctr"/>
                      <a:endParaRPr lang="en-US" altLang="zh-CN" sz="800" b="0" i="0" u="none" strike="noStrike">
                        <a:solidFill>
                          <a:srgbClr val="000000"/>
                        </a:solidFill>
                        <a:latin typeface="宋体" panose="02010600030101010101" pitchFamily="2" charset="-122"/>
                      </a:endParaRPr>
                    </a:p>
                  </a:txBody>
                  <a:tcPr marL="7144" marR="7144" marT="7144" marB="0" anchor="ctr"/>
                </a:tc>
              </a:tr>
              <a:tr h="324038">
                <a:tc>
                  <a:txBody>
                    <a:bodyPr/>
                    <a:lstStyle/>
                    <a:p>
                      <a:pPr algn="ctr" fontAlgn="ctr"/>
                      <a:r>
                        <a:rPr lang="zh-CN" altLang="en-US" sz="800" b="0" i="0" u="none" strike="noStrike" dirty="0">
                          <a:solidFill>
                            <a:srgbClr val="000000"/>
                          </a:solidFill>
                          <a:latin typeface="宋体" panose="02010600030101010101" pitchFamily="2" charset="-122"/>
                        </a:rPr>
                        <a:t> 其他应收款</a:t>
                      </a:r>
                    </a:p>
                  </a:txBody>
                  <a:tcPr marL="7144" marR="7144" marT="7144" marB="0" anchor="ctr"/>
                </a:tc>
                <a:tc>
                  <a:txBody>
                    <a:bodyPr/>
                    <a:lstStyle/>
                    <a:p>
                      <a:pPr algn="ctr" fontAlgn="ctr"/>
                      <a:endParaRPr lang="en-US" altLang="zh-CN" sz="800" b="0" i="0" u="none" strike="noStrike" dirty="0">
                        <a:solidFill>
                          <a:srgbClr val="000000"/>
                        </a:solidFill>
                        <a:latin typeface="宋体" panose="02010600030101010101" pitchFamily="2" charset="-122"/>
                      </a:endParaRPr>
                    </a:p>
                  </a:txBody>
                  <a:tcPr marL="7144" marR="7144" marT="7144" marB="0" anchor="ctr"/>
                </a:tc>
                <a:tc>
                  <a:txBody>
                    <a:bodyPr/>
                    <a:lstStyle/>
                    <a:p>
                      <a:pPr algn="ctr" fontAlgn="ctr"/>
                      <a:endParaRPr lang="en-US" altLang="zh-CN" sz="800" b="0" i="0" u="none" strike="noStrike" dirty="0">
                        <a:solidFill>
                          <a:srgbClr val="000000"/>
                        </a:solidFill>
                        <a:latin typeface="宋体" panose="02010600030101010101" pitchFamily="2" charset="-122"/>
                      </a:endParaRPr>
                    </a:p>
                  </a:txBody>
                  <a:tcPr marL="7144" marR="7144" marT="7144" marB="0" anchor="ctr"/>
                </a:tc>
                <a:tc>
                  <a:txBody>
                    <a:bodyPr/>
                    <a:lstStyle/>
                    <a:p>
                      <a:pPr algn="ctr" fontAlgn="ctr"/>
                      <a:endParaRPr lang="en-US" altLang="zh-CN" sz="800" b="0" i="0" u="none" strike="noStrike" dirty="0">
                        <a:solidFill>
                          <a:srgbClr val="000000"/>
                        </a:solidFill>
                        <a:latin typeface="宋体" panose="02010600030101010101" pitchFamily="2" charset="-122"/>
                      </a:endParaRPr>
                    </a:p>
                  </a:txBody>
                  <a:tcPr marL="7144" marR="7144" marT="7144" marB="0" anchor="ctr"/>
                </a:tc>
                <a:tc>
                  <a:txBody>
                    <a:bodyPr/>
                    <a:lstStyle/>
                    <a:p>
                      <a:pPr algn="ctr" fontAlgn="ctr"/>
                      <a:endParaRPr lang="en-US" altLang="zh-CN" sz="800" b="1" i="0" u="none" strike="noStrike" dirty="0">
                        <a:solidFill>
                          <a:srgbClr val="FF0000"/>
                        </a:solidFill>
                        <a:latin typeface="宋体" panose="02010600030101010101" pitchFamily="2" charset="-122"/>
                      </a:endParaRPr>
                    </a:p>
                  </a:txBody>
                  <a:tcPr marL="7144" marR="7144" marT="7144" marB="0" anchor="ctr"/>
                </a:tc>
              </a:tr>
              <a:tr h="324038">
                <a:tc>
                  <a:txBody>
                    <a:bodyPr/>
                    <a:lstStyle/>
                    <a:p>
                      <a:pPr algn="ctr" fontAlgn="ctr"/>
                      <a:r>
                        <a:rPr lang="zh-CN" altLang="en-US" sz="800" b="0" i="0" u="none" strike="noStrike" dirty="0">
                          <a:solidFill>
                            <a:srgbClr val="000000"/>
                          </a:solidFill>
                          <a:latin typeface="宋体" panose="02010600030101010101" pitchFamily="2" charset="-122"/>
                        </a:rPr>
                        <a:t>应收账款</a:t>
                      </a:r>
                    </a:p>
                  </a:txBody>
                  <a:tcPr marL="7144" marR="7144" marT="7144" marB="0" anchor="ctr"/>
                </a:tc>
                <a:tc>
                  <a:txBody>
                    <a:bodyPr/>
                    <a:lstStyle/>
                    <a:p>
                      <a:pPr algn="ctr" fontAlgn="ctr"/>
                      <a:endParaRPr lang="en-US" altLang="zh-CN" sz="800" b="0" i="0" u="none" strike="noStrike" dirty="0">
                        <a:solidFill>
                          <a:srgbClr val="000000"/>
                        </a:solidFill>
                        <a:latin typeface="宋体" panose="02010600030101010101" pitchFamily="2" charset="-122"/>
                      </a:endParaRPr>
                    </a:p>
                  </a:txBody>
                  <a:tcPr marL="7144" marR="7144" marT="7144" marB="0" anchor="ctr"/>
                </a:tc>
                <a:tc>
                  <a:txBody>
                    <a:bodyPr/>
                    <a:lstStyle/>
                    <a:p>
                      <a:pPr algn="ctr" fontAlgn="ctr"/>
                      <a:endParaRPr lang="en-US" altLang="zh-CN" sz="800" b="0" i="0" u="none" strike="noStrike" dirty="0">
                        <a:solidFill>
                          <a:srgbClr val="000000"/>
                        </a:solidFill>
                        <a:latin typeface="宋体" panose="02010600030101010101" pitchFamily="2" charset="-122"/>
                      </a:endParaRPr>
                    </a:p>
                  </a:txBody>
                  <a:tcPr marL="7144" marR="7144" marT="7144" marB="0" anchor="ctr"/>
                </a:tc>
                <a:tc>
                  <a:txBody>
                    <a:bodyPr/>
                    <a:lstStyle/>
                    <a:p>
                      <a:pPr algn="ctr" fontAlgn="ctr"/>
                      <a:endParaRPr lang="en-US" altLang="zh-CN" sz="800" b="0" i="0" u="none" strike="noStrike" dirty="0">
                        <a:solidFill>
                          <a:srgbClr val="000000"/>
                        </a:solidFill>
                        <a:latin typeface="宋体" panose="02010600030101010101" pitchFamily="2" charset="-122"/>
                      </a:endParaRPr>
                    </a:p>
                  </a:txBody>
                  <a:tcPr marL="7144" marR="7144" marT="7144" marB="0" anchor="ctr"/>
                </a:tc>
                <a:tc>
                  <a:txBody>
                    <a:bodyPr/>
                    <a:lstStyle/>
                    <a:p>
                      <a:pPr algn="ctr" fontAlgn="ctr"/>
                      <a:endParaRPr lang="en-US" altLang="zh-CN" sz="800" b="0" i="0" u="none" strike="noStrike" dirty="0">
                        <a:solidFill>
                          <a:srgbClr val="000000"/>
                        </a:solidFill>
                        <a:latin typeface="宋体" panose="02010600030101010101" pitchFamily="2" charset="-122"/>
                      </a:endParaRPr>
                    </a:p>
                  </a:txBody>
                  <a:tcPr marL="7144" marR="7144" marT="7144" marB="0" anchor="ctr"/>
                </a:tc>
              </a:tr>
              <a:tr h="324038">
                <a:tc>
                  <a:txBody>
                    <a:bodyPr/>
                    <a:lstStyle/>
                    <a:p>
                      <a:pPr marL="0" marR="0" indent="0" algn="ctr" defTabSz="914400" rtl="0" eaLnBrk="1" fontAlgn="ctr" latinLnBrk="0" hangingPunct="1">
                        <a:lnSpc>
                          <a:spcPct val="100000"/>
                        </a:lnSpc>
                        <a:spcBef>
                          <a:spcPts val="0"/>
                        </a:spcBef>
                        <a:spcAft>
                          <a:spcPts val="0"/>
                        </a:spcAft>
                        <a:buClrTx/>
                        <a:buSzTx/>
                        <a:buFontTx/>
                        <a:buNone/>
                        <a:defRPr/>
                      </a:pPr>
                      <a:r>
                        <a:rPr lang="zh-CN" altLang="en-US" sz="800" b="0" i="0" u="none" strike="noStrike" dirty="0">
                          <a:solidFill>
                            <a:srgbClr val="000000"/>
                          </a:solidFill>
                          <a:latin typeface="宋体" panose="02010600030101010101" pitchFamily="2" charset="-122"/>
                        </a:rPr>
                        <a:t>应收账款</a:t>
                      </a:r>
                    </a:p>
                  </a:txBody>
                  <a:tcPr marL="7144" marR="7144" marT="7144" marB="0" anchor="ctr"/>
                </a:tc>
                <a:tc>
                  <a:txBody>
                    <a:bodyPr/>
                    <a:lstStyle/>
                    <a:p>
                      <a:pPr algn="ctr" fontAlgn="ctr"/>
                      <a:endParaRPr lang="en-US" altLang="zh-CN" sz="800" b="0" i="0" u="none" strike="noStrike" dirty="0">
                        <a:solidFill>
                          <a:srgbClr val="000000"/>
                        </a:solidFill>
                        <a:latin typeface="宋体" panose="02010600030101010101" pitchFamily="2" charset="-122"/>
                      </a:endParaRPr>
                    </a:p>
                  </a:txBody>
                  <a:tcPr marL="7144" marR="7144" marT="7144" marB="0" anchor="ctr"/>
                </a:tc>
                <a:tc>
                  <a:txBody>
                    <a:bodyPr/>
                    <a:lstStyle/>
                    <a:p>
                      <a:pPr algn="ctr" fontAlgn="ctr"/>
                      <a:endParaRPr lang="en-US" altLang="zh-CN" sz="800" b="0" i="0" u="none" strike="noStrike" dirty="0">
                        <a:solidFill>
                          <a:srgbClr val="000000"/>
                        </a:solidFill>
                        <a:latin typeface="宋体" panose="02010600030101010101" pitchFamily="2" charset="-122"/>
                      </a:endParaRPr>
                    </a:p>
                  </a:txBody>
                  <a:tcPr marL="7144" marR="7144" marT="7144" marB="0" anchor="ctr"/>
                </a:tc>
                <a:tc>
                  <a:txBody>
                    <a:bodyPr/>
                    <a:lstStyle/>
                    <a:p>
                      <a:pPr algn="ctr" fontAlgn="ctr"/>
                      <a:endParaRPr lang="en-US" altLang="zh-CN" sz="800" b="0" i="0" u="none" strike="noStrike" dirty="0">
                        <a:solidFill>
                          <a:srgbClr val="000000"/>
                        </a:solidFill>
                        <a:latin typeface="宋体" panose="02010600030101010101" pitchFamily="2" charset="-122"/>
                      </a:endParaRPr>
                    </a:p>
                  </a:txBody>
                  <a:tcPr marL="7144" marR="7144" marT="7144" marB="0" anchor="ctr"/>
                </a:tc>
                <a:tc>
                  <a:txBody>
                    <a:bodyPr/>
                    <a:lstStyle/>
                    <a:p>
                      <a:pPr algn="ctr" fontAlgn="ctr"/>
                      <a:endParaRPr lang="en-US" altLang="zh-CN" sz="800" b="0" i="0" u="none" strike="noStrike" dirty="0">
                        <a:solidFill>
                          <a:srgbClr val="000000"/>
                        </a:solidFill>
                        <a:latin typeface="宋体" panose="02010600030101010101" pitchFamily="2" charset="-122"/>
                      </a:endParaRPr>
                    </a:p>
                  </a:txBody>
                  <a:tcPr marL="7144" marR="7144" marT="7144" marB="0" anchor="ctr"/>
                </a:tc>
              </a:tr>
              <a:tr h="324032">
                <a:tc>
                  <a:txBody>
                    <a:bodyPr/>
                    <a:lstStyle/>
                    <a:p>
                      <a:pPr algn="ctr" fontAlgn="ctr"/>
                      <a:r>
                        <a:rPr lang="zh-CN" altLang="en-US" sz="800" b="0" i="0" u="none" strike="noStrike" dirty="0">
                          <a:solidFill>
                            <a:srgbClr val="000000"/>
                          </a:solidFill>
                          <a:latin typeface="宋体" panose="02010600030101010101" pitchFamily="2" charset="-122"/>
                        </a:rPr>
                        <a:t>预付账款</a:t>
                      </a:r>
                    </a:p>
                  </a:txBody>
                  <a:tcPr marL="7144" marR="7144" marT="7144" marB="0" anchor="ctr"/>
                </a:tc>
                <a:tc>
                  <a:txBody>
                    <a:bodyPr/>
                    <a:lstStyle/>
                    <a:p>
                      <a:pPr algn="ctr" fontAlgn="ctr"/>
                      <a:endParaRPr lang="en-US" altLang="zh-CN" sz="800" b="0" i="0" u="none" strike="noStrike">
                        <a:solidFill>
                          <a:srgbClr val="000000"/>
                        </a:solidFill>
                        <a:latin typeface="宋体" panose="02010600030101010101" pitchFamily="2" charset="-122"/>
                      </a:endParaRPr>
                    </a:p>
                  </a:txBody>
                  <a:tcPr marL="7144" marR="7144" marT="7144" marB="0" anchor="ctr"/>
                </a:tc>
                <a:tc>
                  <a:txBody>
                    <a:bodyPr/>
                    <a:lstStyle/>
                    <a:p>
                      <a:pPr algn="ctr" fontAlgn="ctr"/>
                      <a:endParaRPr lang="en-US" altLang="zh-CN" sz="800" b="0" i="0" u="none" strike="noStrike">
                        <a:solidFill>
                          <a:srgbClr val="000000"/>
                        </a:solidFill>
                        <a:latin typeface="宋体" panose="02010600030101010101" pitchFamily="2" charset="-122"/>
                      </a:endParaRPr>
                    </a:p>
                  </a:txBody>
                  <a:tcPr marL="7144" marR="7144" marT="7144" marB="0" anchor="ctr"/>
                </a:tc>
                <a:tc>
                  <a:txBody>
                    <a:bodyPr/>
                    <a:lstStyle/>
                    <a:p>
                      <a:pPr algn="ctr" fontAlgn="ctr"/>
                      <a:endParaRPr lang="en-US" altLang="zh-CN" sz="800" b="0" i="0" u="none" strike="noStrike" dirty="0">
                        <a:solidFill>
                          <a:srgbClr val="000000"/>
                        </a:solidFill>
                        <a:latin typeface="宋体" panose="02010600030101010101" pitchFamily="2" charset="-122"/>
                      </a:endParaRPr>
                    </a:p>
                  </a:txBody>
                  <a:tcPr marL="7144" marR="7144" marT="7144" marB="0" anchor="ctr"/>
                </a:tc>
                <a:tc>
                  <a:txBody>
                    <a:bodyPr/>
                    <a:lstStyle/>
                    <a:p>
                      <a:pPr algn="ctr" fontAlgn="ctr"/>
                      <a:endParaRPr lang="en-US" altLang="zh-CN" sz="800" b="0" i="0" u="none" strike="noStrike" dirty="0">
                        <a:solidFill>
                          <a:srgbClr val="000000"/>
                        </a:solidFill>
                        <a:latin typeface="宋体" panose="02010600030101010101" pitchFamily="2" charset="-122"/>
                      </a:endParaRPr>
                    </a:p>
                  </a:txBody>
                  <a:tcPr marL="7144" marR="7144" marT="7144" marB="0" anchor="ctr"/>
                </a:tc>
              </a:tr>
              <a:tr h="270030">
                <a:tc>
                  <a:txBody>
                    <a:bodyPr/>
                    <a:lstStyle/>
                    <a:p>
                      <a:pPr algn="ctr" fontAlgn="ctr"/>
                      <a:r>
                        <a:rPr lang="zh-CN" altLang="en-US" sz="800" b="0" i="0" u="none" strike="noStrike" dirty="0">
                          <a:solidFill>
                            <a:srgbClr val="000000"/>
                          </a:solidFill>
                          <a:latin typeface="宋体" panose="02010600030101010101" pitchFamily="2" charset="-122"/>
                        </a:rPr>
                        <a:t>存货</a:t>
                      </a:r>
                    </a:p>
                  </a:txBody>
                  <a:tcPr marL="7144" marR="7144" marT="7144" marB="0" anchor="ctr"/>
                </a:tc>
                <a:tc>
                  <a:txBody>
                    <a:bodyPr/>
                    <a:lstStyle/>
                    <a:p>
                      <a:pPr algn="ctr" fontAlgn="ctr"/>
                      <a:endParaRPr lang="en-US" altLang="zh-CN" sz="800" b="0" i="0" u="none" strike="noStrike">
                        <a:solidFill>
                          <a:srgbClr val="000000"/>
                        </a:solidFill>
                        <a:latin typeface="宋体" panose="02010600030101010101" pitchFamily="2" charset="-122"/>
                      </a:endParaRPr>
                    </a:p>
                  </a:txBody>
                  <a:tcPr marL="7144" marR="7144" marT="7144" marB="0" anchor="ctr"/>
                </a:tc>
                <a:tc>
                  <a:txBody>
                    <a:bodyPr/>
                    <a:lstStyle/>
                    <a:p>
                      <a:pPr algn="ctr" fontAlgn="ctr"/>
                      <a:endParaRPr lang="en-US" altLang="zh-CN" sz="800" b="0" i="0" u="none" strike="noStrike">
                        <a:solidFill>
                          <a:srgbClr val="000000"/>
                        </a:solidFill>
                        <a:latin typeface="宋体" panose="02010600030101010101" pitchFamily="2" charset="-122"/>
                      </a:endParaRPr>
                    </a:p>
                  </a:txBody>
                  <a:tcPr marL="7144" marR="7144" marT="7144" marB="0" anchor="ctr"/>
                </a:tc>
                <a:tc>
                  <a:txBody>
                    <a:bodyPr/>
                    <a:lstStyle/>
                    <a:p>
                      <a:pPr algn="ctr" fontAlgn="ctr"/>
                      <a:endParaRPr lang="en-US" altLang="zh-CN" sz="800" b="0" i="0" u="none" strike="noStrike" dirty="0">
                        <a:solidFill>
                          <a:srgbClr val="000000"/>
                        </a:solidFill>
                        <a:latin typeface="宋体" panose="02010600030101010101" pitchFamily="2" charset="-122"/>
                      </a:endParaRPr>
                    </a:p>
                  </a:txBody>
                  <a:tcPr marL="7144" marR="7144" marT="7144" marB="0" anchor="ctr"/>
                </a:tc>
                <a:tc>
                  <a:txBody>
                    <a:bodyPr/>
                    <a:lstStyle/>
                    <a:p>
                      <a:pPr algn="ctr" fontAlgn="ctr"/>
                      <a:endParaRPr lang="en-US" altLang="zh-CN" sz="800" b="0" i="0" u="none" strike="noStrike">
                        <a:solidFill>
                          <a:srgbClr val="000000"/>
                        </a:solidFill>
                        <a:latin typeface="宋体" panose="02010600030101010101" pitchFamily="2" charset="-122"/>
                      </a:endParaRPr>
                    </a:p>
                  </a:txBody>
                  <a:tcPr marL="7144" marR="7144" marT="7144" marB="0" anchor="ctr"/>
                </a:tc>
              </a:tr>
              <a:tr h="324036">
                <a:tc>
                  <a:txBody>
                    <a:bodyPr/>
                    <a:lstStyle/>
                    <a:p>
                      <a:pPr algn="ctr" fontAlgn="ctr"/>
                      <a:r>
                        <a:rPr lang="zh-CN" altLang="en-US" sz="800" b="0" i="0" u="none" strike="noStrike" dirty="0">
                          <a:solidFill>
                            <a:srgbClr val="000000"/>
                          </a:solidFill>
                          <a:latin typeface="宋体" panose="02010600030101010101" pitchFamily="2" charset="-122"/>
                        </a:rPr>
                        <a:t>固定资产</a:t>
                      </a:r>
                    </a:p>
                  </a:txBody>
                  <a:tcPr marL="7144" marR="7144" marT="7144" marB="0" anchor="ctr"/>
                </a:tc>
                <a:tc>
                  <a:txBody>
                    <a:bodyPr/>
                    <a:lstStyle/>
                    <a:p>
                      <a:pPr algn="ctr" fontAlgn="ctr"/>
                      <a:endParaRPr lang="en-US" altLang="zh-CN" sz="800" b="0" i="0" u="none" strike="noStrike" dirty="0">
                        <a:solidFill>
                          <a:srgbClr val="000000"/>
                        </a:solidFill>
                        <a:latin typeface="宋体" panose="02010600030101010101" pitchFamily="2" charset="-122"/>
                      </a:endParaRPr>
                    </a:p>
                  </a:txBody>
                  <a:tcPr marL="7144" marR="7144" marT="7144" marB="0" anchor="ctr"/>
                </a:tc>
                <a:tc>
                  <a:txBody>
                    <a:bodyPr/>
                    <a:lstStyle/>
                    <a:p>
                      <a:pPr algn="ctr" fontAlgn="ctr"/>
                      <a:endParaRPr lang="en-US" altLang="zh-CN" sz="800" b="0" i="0" u="none" strike="noStrike">
                        <a:solidFill>
                          <a:srgbClr val="000000"/>
                        </a:solidFill>
                        <a:latin typeface="宋体" panose="02010600030101010101" pitchFamily="2" charset="-122"/>
                      </a:endParaRPr>
                    </a:p>
                  </a:txBody>
                  <a:tcPr marL="7144" marR="7144" marT="7144" marB="0" anchor="ctr"/>
                </a:tc>
                <a:tc>
                  <a:txBody>
                    <a:bodyPr/>
                    <a:lstStyle/>
                    <a:p>
                      <a:pPr algn="ctr" fontAlgn="ctr"/>
                      <a:endParaRPr lang="en-US" altLang="zh-CN" sz="800" b="0" i="0" u="none" strike="noStrike" dirty="0">
                        <a:solidFill>
                          <a:srgbClr val="000000"/>
                        </a:solidFill>
                        <a:latin typeface="宋体" panose="02010600030101010101" pitchFamily="2" charset="-122"/>
                      </a:endParaRPr>
                    </a:p>
                  </a:txBody>
                  <a:tcPr marL="7144" marR="7144" marT="7144" marB="0" anchor="ctr"/>
                </a:tc>
                <a:tc>
                  <a:txBody>
                    <a:bodyPr/>
                    <a:lstStyle/>
                    <a:p>
                      <a:pPr algn="ctr" fontAlgn="ctr"/>
                      <a:endParaRPr lang="en-US" altLang="zh-CN" sz="800" b="0" i="0" u="none" strike="noStrike" dirty="0">
                        <a:solidFill>
                          <a:srgbClr val="000000"/>
                        </a:solidFill>
                        <a:latin typeface="宋体" panose="02010600030101010101" pitchFamily="2" charset="-122"/>
                      </a:endParaRPr>
                    </a:p>
                  </a:txBody>
                  <a:tcPr marL="7144" marR="7144" marT="7144" marB="0" anchor="ctr"/>
                </a:tc>
              </a:tr>
            </a:tbl>
          </a:graphicData>
        </a:graphic>
      </p:graphicFrame>
      <p:sp>
        <p:nvSpPr>
          <p:cNvPr id="12" name="TextBox 11"/>
          <p:cNvSpPr txBox="1"/>
          <p:nvPr/>
        </p:nvSpPr>
        <p:spPr>
          <a:xfrm>
            <a:off x="1259632" y="3867894"/>
            <a:ext cx="6210690" cy="1061829"/>
          </a:xfrm>
          <a:prstGeom prst="rect">
            <a:avLst/>
          </a:prstGeom>
          <a:noFill/>
        </p:spPr>
        <p:txBody>
          <a:bodyPr wrap="square" rtlCol="0">
            <a:spAutoFit/>
          </a:bodyPr>
          <a:lstStyle/>
          <a:p>
            <a:r>
              <a:rPr lang="zh-CN" altLang="en-US" sz="1050" dirty="0">
                <a:solidFill>
                  <a:schemeClr val="tx1">
                    <a:lumMod val="85000"/>
                    <a:lumOff val="15000"/>
                  </a:schemeClr>
                </a:solidFill>
                <a:latin typeface="微软雅黑" panose="020B0503020204020204" pitchFamily="34" charset="-122"/>
                <a:ea typeface="微软雅黑" panose="020B0503020204020204" pitchFamily="34" charset="-122"/>
              </a:rPr>
              <a:t>分析：</a:t>
            </a:r>
            <a:r>
              <a:rPr lang="en-US" altLang="zh-CN" sz="1050" dirty="0">
                <a:solidFill>
                  <a:schemeClr val="tx1">
                    <a:lumMod val="85000"/>
                    <a:lumOff val="15000"/>
                  </a:schemeClr>
                </a:solidFill>
                <a:latin typeface="微软雅黑" panose="020B0503020204020204" pitchFamily="34" charset="-122"/>
                <a:ea typeface="微软雅黑" panose="020B0503020204020204" pitchFamily="34" charset="-122"/>
              </a:rPr>
              <a:t>1</a:t>
            </a:r>
            <a:r>
              <a:rPr lang="zh-CN" altLang="en-US" sz="1050" dirty="0">
                <a:solidFill>
                  <a:schemeClr val="tx1">
                    <a:lumMod val="85000"/>
                    <a:lumOff val="15000"/>
                  </a:schemeClr>
                </a:solidFill>
                <a:latin typeface="微软雅黑" panose="020B0503020204020204" pitchFamily="34" charset="-122"/>
                <a:ea typeface="微软雅黑" panose="020B0503020204020204" pitchFamily="34" charset="-122"/>
              </a:rPr>
              <a:t>、在</a:t>
            </a:r>
            <a:r>
              <a:rPr lang="en-US" altLang="zh-CN" sz="1050" dirty="0">
                <a:solidFill>
                  <a:schemeClr val="tx1">
                    <a:lumMod val="85000"/>
                    <a:lumOff val="15000"/>
                  </a:schemeClr>
                </a:solidFill>
                <a:latin typeface="微软雅黑" panose="020B0503020204020204" pitchFamily="34" charset="-122"/>
                <a:ea typeface="微软雅黑" panose="020B0503020204020204" pitchFamily="34" charset="-122"/>
              </a:rPr>
              <a:t>2017</a:t>
            </a:r>
            <a:r>
              <a:rPr lang="zh-CN" altLang="en-US" sz="1050" dirty="0">
                <a:solidFill>
                  <a:schemeClr val="tx1">
                    <a:lumMod val="85000"/>
                    <a:lumOff val="15000"/>
                  </a:schemeClr>
                </a:solidFill>
                <a:latin typeface="微软雅黑" panose="020B0503020204020204" pitchFamily="34" charset="-122"/>
                <a:ea typeface="微软雅黑" panose="020B0503020204020204" pitchFamily="34" charset="-122"/>
              </a:rPr>
              <a:t>年的存货存货存货存货存货存货存货存货存货存货存货存货存货存货存货存货存货存货存货存货中有元实为待确认的应收账款，资产总额的</a:t>
            </a:r>
            <a:r>
              <a:rPr lang="en-US" altLang="zh-CN" sz="1050" dirty="0">
                <a:solidFill>
                  <a:schemeClr val="tx1">
                    <a:lumMod val="85000"/>
                    <a:lumOff val="15000"/>
                  </a:schemeClr>
                </a:solidFill>
                <a:latin typeface="微软雅黑" panose="020B0503020204020204" pitchFamily="34" charset="-122"/>
                <a:ea typeface="微软雅黑" panose="020B0503020204020204" pitchFamily="34" charset="-122"/>
              </a:rPr>
              <a:t>%</a:t>
            </a:r>
            <a:r>
              <a:rPr lang="zh-CN" altLang="en-US" sz="1050" dirty="0">
                <a:solidFill>
                  <a:schemeClr val="tx1">
                    <a:lumMod val="85000"/>
                    <a:lumOff val="15000"/>
                  </a:schemeClr>
                </a:solidFill>
                <a:latin typeface="微软雅黑" panose="020B0503020204020204" pitchFamily="34" charset="-122"/>
                <a:ea typeface="微软雅黑" panose="020B0503020204020204" pitchFamily="34" charset="-122"/>
              </a:rPr>
              <a:t>，存货占资产总额的</a:t>
            </a:r>
            <a:r>
              <a:rPr lang="en-US" altLang="zh-CN" sz="1050" dirty="0">
                <a:solidFill>
                  <a:schemeClr val="tx1">
                    <a:lumMod val="85000"/>
                    <a:lumOff val="15000"/>
                  </a:schemeClr>
                </a:solidFill>
                <a:latin typeface="微软雅黑" panose="020B0503020204020204" pitchFamily="34" charset="-122"/>
                <a:ea typeface="微软雅黑" panose="020B0503020204020204" pitchFamily="34" charset="-122"/>
              </a:rPr>
              <a:t>%</a:t>
            </a:r>
            <a:r>
              <a:rPr lang="zh-CN" altLang="en-US" sz="1050" dirty="0">
                <a:solidFill>
                  <a:schemeClr val="tx1">
                    <a:lumMod val="85000"/>
                    <a:lumOff val="15000"/>
                  </a:schemeClr>
                </a:solidFill>
                <a:latin typeface="微软雅黑" panose="020B0503020204020204" pitchFamily="34" charset="-122"/>
                <a:ea typeface="微软雅黑" panose="020B0503020204020204" pitchFamily="34" charset="-122"/>
              </a:rPr>
              <a:t>，已成为资产总额的总大占比，应收压力巨大，已严重影响我司资金流。</a:t>
            </a:r>
            <a:endParaRPr lang="en-US" altLang="zh-CN" sz="1050" dirty="0">
              <a:solidFill>
                <a:schemeClr val="tx1">
                  <a:lumMod val="85000"/>
                  <a:lumOff val="15000"/>
                </a:schemeClr>
              </a:solidFill>
              <a:latin typeface="微软雅黑" panose="020B0503020204020204" pitchFamily="34" charset="-122"/>
              <a:ea typeface="微软雅黑" panose="020B0503020204020204" pitchFamily="34" charset="-122"/>
            </a:endParaRPr>
          </a:p>
          <a:p>
            <a:r>
              <a:rPr lang="en-US" altLang="zh-CN" sz="1050" dirty="0">
                <a:solidFill>
                  <a:schemeClr val="tx1">
                    <a:lumMod val="85000"/>
                    <a:lumOff val="15000"/>
                  </a:schemeClr>
                </a:solidFill>
                <a:latin typeface="微软雅黑" panose="020B0503020204020204" pitchFamily="34" charset="-122"/>
                <a:ea typeface="微软雅黑" panose="020B0503020204020204" pitchFamily="34" charset="-122"/>
              </a:rPr>
              <a:t>      2</a:t>
            </a:r>
            <a:r>
              <a:rPr lang="zh-CN" altLang="en-US" sz="1050" dirty="0">
                <a:solidFill>
                  <a:schemeClr val="tx1">
                    <a:lumMod val="85000"/>
                    <a:lumOff val="15000"/>
                  </a:schemeClr>
                </a:solidFill>
                <a:latin typeface="微软雅黑" panose="020B0503020204020204" pitchFamily="34" charset="-122"/>
                <a:ea typeface="微软雅黑" panose="020B0503020204020204" pitchFamily="34" charset="-122"/>
              </a:rPr>
              <a:t>、</a:t>
            </a:r>
            <a:r>
              <a:rPr lang="en-US" altLang="zh-CN" sz="1050" dirty="0">
                <a:solidFill>
                  <a:schemeClr val="tx1">
                    <a:lumMod val="85000"/>
                    <a:lumOff val="15000"/>
                  </a:schemeClr>
                </a:solidFill>
                <a:latin typeface="微软雅黑" panose="020B0503020204020204" pitchFamily="34" charset="-122"/>
                <a:ea typeface="微软雅黑" panose="020B0503020204020204" pitchFamily="34" charset="-122"/>
              </a:rPr>
              <a:t>2014-2017</a:t>
            </a:r>
            <a:r>
              <a:rPr lang="zh-CN" altLang="en-US" sz="1050" dirty="0">
                <a:solidFill>
                  <a:schemeClr val="tx1">
                    <a:lumMod val="85000"/>
                    <a:lumOff val="15000"/>
                  </a:schemeClr>
                </a:solidFill>
                <a:latin typeface="微软雅黑" panose="020B0503020204020204" pitchFamily="34" charset="-122"/>
                <a:ea typeface="微软雅黑" panose="020B0503020204020204" pitchFamily="34" charset="-122"/>
              </a:rPr>
              <a:t>年货币资金占资产总额的平均比重约为</a:t>
            </a:r>
            <a:r>
              <a:rPr lang="en-US" altLang="zh-CN" sz="1050" dirty="0">
                <a:solidFill>
                  <a:schemeClr val="tx1">
                    <a:lumMod val="85000"/>
                    <a:lumOff val="15000"/>
                  </a:schemeClr>
                </a:solidFill>
                <a:latin typeface="微软雅黑" panose="020B0503020204020204" pitchFamily="34" charset="-122"/>
                <a:ea typeface="微软雅黑" panose="020B0503020204020204" pitchFamily="34" charset="-122"/>
              </a:rPr>
              <a:t>%</a:t>
            </a:r>
            <a:r>
              <a:rPr lang="zh-CN" altLang="en-US" sz="1050" dirty="0">
                <a:solidFill>
                  <a:schemeClr val="tx1">
                    <a:lumMod val="85000"/>
                    <a:lumOff val="15000"/>
                  </a:schemeClr>
                </a:solidFill>
                <a:latin typeface="微软雅黑" panose="020B0503020204020204" pitchFamily="34" charset="-122"/>
                <a:ea typeface="微软雅黑" panose="020B0503020204020204" pitchFamily="34" charset="-122"/>
              </a:rPr>
              <a:t>，在做好资金计划的情况下，可考虑做部份理财，赚取额外收益。</a:t>
            </a:r>
            <a:endParaRPr lang="en-US" altLang="zh-CN" sz="1050" dirty="0">
              <a:solidFill>
                <a:schemeClr val="tx1">
                  <a:lumMod val="85000"/>
                  <a:lumOff val="15000"/>
                </a:schemeClr>
              </a:solidFill>
              <a:latin typeface="微软雅黑" panose="020B0503020204020204" pitchFamily="34" charset="-122"/>
              <a:ea typeface="微软雅黑" panose="020B0503020204020204" pitchFamily="34" charset="-122"/>
            </a:endParaRPr>
          </a:p>
          <a:p>
            <a:r>
              <a:rPr lang="en-US" altLang="zh-CN" sz="1050" dirty="0">
                <a:solidFill>
                  <a:schemeClr val="tx1">
                    <a:lumMod val="85000"/>
                    <a:lumOff val="15000"/>
                  </a:schemeClr>
                </a:solidFill>
                <a:latin typeface="微软雅黑" panose="020B0503020204020204" pitchFamily="34" charset="-122"/>
                <a:ea typeface="微软雅黑" panose="020B0503020204020204" pitchFamily="34" charset="-122"/>
              </a:rPr>
              <a:t>      3</a:t>
            </a:r>
            <a:r>
              <a:rPr lang="zh-CN" altLang="en-US" sz="1050" dirty="0">
                <a:solidFill>
                  <a:schemeClr val="tx1">
                    <a:lumMod val="85000"/>
                    <a:lumOff val="15000"/>
                  </a:schemeClr>
                </a:solidFill>
                <a:latin typeface="微软雅黑" panose="020B0503020204020204" pitchFamily="34" charset="-122"/>
                <a:ea typeface="微软雅黑" panose="020B0503020204020204" pitchFamily="34" charset="-122"/>
              </a:rPr>
              <a:t> 、其他应收款</a:t>
            </a:r>
          </a:p>
        </p:txBody>
      </p:sp>
      <p:sp>
        <p:nvSpPr>
          <p:cNvPr id="13" name="TextBox 6"/>
          <p:cNvSpPr txBox="1"/>
          <p:nvPr/>
        </p:nvSpPr>
        <p:spPr>
          <a:xfrm>
            <a:off x="6336196" y="843559"/>
            <a:ext cx="972108" cy="219291"/>
          </a:xfrm>
          <a:prstGeom prst="rect">
            <a:avLst/>
          </a:prstGeom>
          <a:noFill/>
        </p:spPr>
        <p:txBody>
          <a:bodyPr wrap="square" rtlCol="0">
            <a:spAutoFit/>
          </a:bodyPr>
          <a:lstStyle/>
          <a:p>
            <a:r>
              <a:rPr lang="zh-CN" altLang="en-US" sz="825" b="1" dirty="0"/>
              <a:t>单位：万元</a:t>
            </a:r>
          </a:p>
        </p:txBody>
      </p:sp>
    </p:spTree>
  </p:cSld>
  <p:clrMapOvr>
    <a:masterClrMapping/>
  </p:clrMapOvr>
  <p:transition spd="slow" advClick="0" advTm="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1000"/>
                                        <p:tgtEl>
                                          <p:spTgt spid="10"/>
                                        </p:tgtEl>
                                      </p:cBhvr>
                                    </p:animEffect>
                                    <p:anim calcmode="lin" valueType="num">
                                      <p:cBhvr>
                                        <p:cTn id="14" dur="1000" fill="hold"/>
                                        <p:tgtEl>
                                          <p:spTgt spid="10"/>
                                        </p:tgtEl>
                                        <p:attrNameLst>
                                          <p:attrName>ppt_x</p:attrName>
                                        </p:attrNameLst>
                                      </p:cBhvr>
                                      <p:tavLst>
                                        <p:tav tm="0">
                                          <p:val>
                                            <p:strVal val="#ppt_x"/>
                                          </p:val>
                                        </p:tav>
                                        <p:tav tm="100000">
                                          <p:val>
                                            <p:strVal val="#ppt_x"/>
                                          </p:val>
                                        </p:tav>
                                      </p:tavLst>
                                    </p:anim>
                                    <p:anim calcmode="lin" valueType="num">
                                      <p:cBhvr>
                                        <p:cTn id="15" dur="1000" fill="hold"/>
                                        <p:tgtEl>
                                          <p:spTgt spid="10"/>
                                        </p:tgtEl>
                                        <p:attrNameLst>
                                          <p:attrName>ppt_y</p:attrName>
                                        </p:attrNameLst>
                                      </p:cBhvr>
                                      <p:tavLst>
                                        <p:tav tm="0">
                                          <p:val>
                                            <p:strVal val="#ppt_y+.1"/>
                                          </p:val>
                                        </p:tav>
                                        <p:tav tm="100000">
                                          <p:val>
                                            <p:strVal val="#ppt_y"/>
                                          </p:val>
                                        </p:tav>
                                      </p:tavLst>
                                    </p:anim>
                                  </p:childTnLst>
                                </p:cTn>
                              </p:par>
                              <p:par>
                                <p:cTn id="16" presetID="42" presetClass="entr" presetSubtype="0" fill="hold"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1000"/>
                                        <p:tgtEl>
                                          <p:spTgt spid="11"/>
                                        </p:tgtEl>
                                      </p:cBhvr>
                                    </p:animEffect>
                                    <p:anim calcmode="lin" valueType="num">
                                      <p:cBhvr>
                                        <p:cTn id="19" dur="1000" fill="hold"/>
                                        <p:tgtEl>
                                          <p:spTgt spid="11"/>
                                        </p:tgtEl>
                                        <p:attrNameLst>
                                          <p:attrName>ppt_x</p:attrName>
                                        </p:attrNameLst>
                                      </p:cBhvr>
                                      <p:tavLst>
                                        <p:tav tm="0">
                                          <p:val>
                                            <p:strVal val="#ppt_x"/>
                                          </p:val>
                                        </p:tav>
                                        <p:tav tm="100000">
                                          <p:val>
                                            <p:strVal val="#ppt_x"/>
                                          </p:val>
                                        </p:tav>
                                      </p:tavLst>
                                    </p:anim>
                                    <p:anim calcmode="lin" valueType="num">
                                      <p:cBhvr>
                                        <p:cTn id="20" dur="1000" fill="hold"/>
                                        <p:tgtEl>
                                          <p:spTgt spid="11"/>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1000"/>
                                        <p:tgtEl>
                                          <p:spTgt spid="12"/>
                                        </p:tgtEl>
                                      </p:cBhvr>
                                    </p:animEffect>
                                    <p:anim calcmode="lin" valueType="num">
                                      <p:cBhvr>
                                        <p:cTn id="24" dur="1000" fill="hold"/>
                                        <p:tgtEl>
                                          <p:spTgt spid="12"/>
                                        </p:tgtEl>
                                        <p:attrNameLst>
                                          <p:attrName>ppt_x</p:attrName>
                                        </p:attrNameLst>
                                      </p:cBhvr>
                                      <p:tavLst>
                                        <p:tav tm="0">
                                          <p:val>
                                            <p:strVal val="#ppt_x"/>
                                          </p:val>
                                        </p:tav>
                                        <p:tav tm="100000">
                                          <p:val>
                                            <p:strVal val="#ppt_x"/>
                                          </p:val>
                                        </p:tav>
                                      </p:tavLst>
                                    </p:anim>
                                    <p:anim calcmode="lin" valueType="num">
                                      <p:cBhvr>
                                        <p:cTn id="25" dur="1000" fill="hold"/>
                                        <p:tgtEl>
                                          <p:spTgt spid="12"/>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1000"/>
                                        <p:tgtEl>
                                          <p:spTgt spid="13"/>
                                        </p:tgtEl>
                                      </p:cBhvr>
                                    </p:animEffect>
                                    <p:anim calcmode="lin" valueType="num">
                                      <p:cBhvr>
                                        <p:cTn id="29" dur="1000" fill="hold"/>
                                        <p:tgtEl>
                                          <p:spTgt spid="13"/>
                                        </p:tgtEl>
                                        <p:attrNameLst>
                                          <p:attrName>ppt_x</p:attrName>
                                        </p:attrNameLst>
                                      </p:cBhvr>
                                      <p:tavLst>
                                        <p:tav tm="0">
                                          <p:val>
                                            <p:strVal val="#ppt_x"/>
                                          </p:val>
                                        </p:tav>
                                        <p:tav tm="100000">
                                          <p:val>
                                            <p:strVal val="#ppt_x"/>
                                          </p:val>
                                        </p:tav>
                                      </p:tavLst>
                                    </p:anim>
                                    <p:anim calcmode="lin" valueType="num">
                                      <p:cBhvr>
                                        <p:cTn id="30"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Graphic spid="10" grpId="0">
        <p:bldAsOne/>
      </p:bldGraphic>
      <p:bldP spid="12" grpId="0"/>
      <p:bldP spid="1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txBox="1"/>
          <p:nvPr/>
        </p:nvSpPr>
        <p:spPr>
          <a:xfrm>
            <a:off x="857885" y="195109"/>
            <a:ext cx="2600960" cy="379730"/>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000" b="1" dirty="0">
                <a:solidFill>
                  <a:schemeClr val="tx1"/>
                </a:solidFill>
                <a:latin typeface="微软雅黑" panose="020B0503020204020204" pitchFamily="34" charset="-122"/>
                <a:ea typeface="微软雅黑" panose="020B0503020204020204" pitchFamily="34" charset="-122"/>
              </a:rPr>
              <a:t>2.</a:t>
            </a:r>
            <a:r>
              <a:rPr lang="zh-CN" altLang="en-US" sz="2000" b="1" dirty="0">
                <a:solidFill>
                  <a:schemeClr val="tx1"/>
                </a:solidFill>
                <a:latin typeface="微软雅黑" panose="020B0503020204020204" pitchFamily="34" charset="-122"/>
                <a:ea typeface="微软雅黑" panose="020B0503020204020204" pitchFamily="34" charset="-122"/>
              </a:rPr>
              <a:t>负债分析</a:t>
            </a:r>
          </a:p>
        </p:txBody>
      </p:sp>
      <p:graphicFrame>
        <p:nvGraphicFramePr>
          <p:cNvPr id="7" name="内容占位符 3"/>
          <p:cNvGraphicFramePr/>
          <p:nvPr/>
        </p:nvGraphicFramePr>
        <p:xfrm>
          <a:off x="1835696" y="988694"/>
          <a:ext cx="6172200" cy="1127760"/>
        </p:xfrm>
        <a:graphic>
          <a:graphicData uri="http://schemas.openxmlformats.org/drawingml/2006/table">
            <a:tbl>
              <a:tblPr firstRow="1" bandRow="1">
                <a:tableStyleId>{69CF1AB2-1976-4502-BF36-3FF5EA218861}</a:tableStyleId>
              </a:tblPr>
              <a:tblGrid>
                <a:gridCol w="1234440"/>
                <a:gridCol w="1234440"/>
                <a:gridCol w="1234440"/>
                <a:gridCol w="1234440"/>
                <a:gridCol w="1234440"/>
              </a:tblGrid>
              <a:tr h="278130">
                <a:tc>
                  <a:txBody>
                    <a:bodyPr/>
                    <a:lstStyle/>
                    <a:p>
                      <a:pPr algn="ctr"/>
                      <a:r>
                        <a:rPr lang="zh-CN" altLang="en-US" sz="1400" dirty="0"/>
                        <a:t>年份</a:t>
                      </a:r>
                    </a:p>
                  </a:txBody>
                  <a:tcPr marL="68580" marR="68580" marT="34290" marB="34290"/>
                </a:tc>
                <a:tc>
                  <a:txBody>
                    <a:bodyPr/>
                    <a:lstStyle/>
                    <a:p>
                      <a:pPr algn="ctr"/>
                      <a:r>
                        <a:rPr lang="en-US" altLang="zh-CN" sz="1400" dirty="0"/>
                        <a:t>2014</a:t>
                      </a:r>
                      <a:r>
                        <a:rPr lang="zh-CN" altLang="en-US" sz="1400" dirty="0"/>
                        <a:t>年</a:t>
                      </a:r>
                    </a:p>
                  </a:txBody>
                  <a:tcPr marL="68580" marR="68580" marT="34290" marB="34290"/>
                </a:tc>
                <a:tc>
                  <a:txBody>
                    <a:bodyPr/>
                    <a:lstStyle/>
                    <a:p>
                      <a:pPr algn="ctr"/>
                      <a:r>
                        <a:rPr lang="en-US" altLang="zh-CN" sz="1400" dirty="0"/>
                        <a:t>2015</a:t>
                      </a:r>
                      <a:r>
                        <a:rPr lang="zh-CN" altLang="en-US" sz="1400" dirty="0"/>
                        <a:t>年</a:t>
                      </a:r>
                    </a:p>
                  </a:txBody>
                  <a:tcPr marL="68580" marR="68580" marT="34290" marB="34290"/>
                </a:tc>
                <a:tc>
                  <a:txBody>
                    <a:bodyPr/>
                    <a:lstStyle/>
                    <a:p>
                      <a:pPr algn="ctr"/>
                      <a:r>
                        <a:rPr lang="en-US" altLang="zh-CN" sz="1400" dirty="0"/>
                        <a:t>2016</a:t>
                      </a:r>
                      <a:r>
                        <a:rPr lang="zh-CN" altLang="en-US" sz="1400" dirty="0"/>
                        <a:t>年</a:t>
                      </a:r>
                    </a:p>
                  </a:txBody>
                  <a:tcPr marL="68580" marR="68580" marT="34290" marB="34290"/>
                </a:tc>
                <a:tc>
                  <a:txBody>
                    <a:bodyPr/>
                    <a:lstStyle/>
                    <a:p>
                      <a:pPr algn="ctr"/>
                      <a:r>
                        <a:rPr lang="en-US" altLang="zh-CN" sz="1400" dirty="0"/>
                        <a:t>2017</a:t>
                      </a:r>
                      <a:r>
                        <a:rPr lang="zh-CN" altLang="en-US" sz="1400" dirty="0"/>
                        <a:t>年上半年</a:t>
                      </a:r>
                    </a:p>
                  </a:txBody>
                  <a:tcPr marL="68580" marR="68580" marT="34290" marB="34290"/>
                </a:tc>
              </a:tr>
              <a:tr h="278130">
                <a:tc>
                  <a:txBody>
                    <a:bodyPr/>
                    <a:lstStyle/>
                    <a:p>
                      <a:pPr algn="ctr"/>
                      <a:r>
                        <a:rPr lang="zh-CN" altLang="en-US" sz="1400" dirty="0"/>
                        <a:t>流动负债</a:t>
                      </a:r>
                    </a:p>
                  </a:txBody>
                  <a:tcPr marL="68580" marR="68580" marT="34290" marB="34290"/>
                </a:tc>
                <a:tc>
                  <a:txBody>
                    <a:bodyPr/>
                    <a:lstStyle/>
                    <a:p>
                      <a:pPr algn="ctr" rtl="0" fontAlgn="t"/>
                      <a:endParaRPr lang="en-US" altLang="zh-CN" sz="1400" b="0" i="0" u="none" strike="noStrike" dirty="0">
                        <a:solidFill>
                          <a:srgbClr val="000000"/>
                        </a:solidFill>
                        <a:latin typeface="Calibri" panose="020F0502020204030204"/>
                      </a:endParaRPr>
                    </a:p>
                  </a:txBody>
                  <a:tcPr marL="7144" marR="7144" marT="7144" marB="0"/>
                </a:tc>
                <a:tc>
                  <a:txBody>
                    <a:bodyPr/>
                    <a:lstStyle/>
                    <a:p>
                      <a:pPr algn="ctr" rtl="0" fontAlgn="t"/>
                      <a:endParaRPr lang="en-US" altLang="zh-CN" sz="1400" b="0" i="0" u="none" strike="noStrike" dirty="0">
                        <a:solidFill>
                          <a:srgbClr val="000000"/>
                        </a:solidFill>
                        <a:latin typeface="Calibri" panose="020F0502020204030204"/>
                      </a:endParaRPr>
                    </a:p>
                  </a:txBody>
                  <a:tcPr marL="7144" marR="7144" marT="7144" marB="0"/>
                </a:tc>
                <a:tc>
                  <a:txBody>
                    <a:bodyPr/>
                    <a:lstStyle/>
                    <a:p>
                      <a:pPr algn="ctr" rtl="0" fontAlgn="t"/>
                      <a:endParaRPr lang="en-US" altLang="zh-CN" sz="1400" b="0" i="0" u="none" strike="noStrike" dirty="0">
                        <a:solidFill>
                          <a:srgbClr val="000000"/>
                        </a:solidFill>
                        <a:latin typeface="Calibri" panose="020F0502020204030204"/>
                      </a:endParaRPr>
                    </a:p>
                  </a:txBody>
                  <a:tcPr marL="7144" marR="7144" marT="7144" marB="0"/>
                </a:tc>
                <a:tc>
                  <a:txBody>
                    <a:bodyPr/>
                    <a:lstStyle/>
                    <a:p>
                      <a:pPr algn="ctr" rtl="0" fontAlgn="t"/>
                      <a:endParaRPr lang="en-US" altLang="zh-CN" sz="1400" b="0" i="0" u="none" strike="noStrike" dirty="0">
                        <a:solidFill>
                          <a:srgbClr val="000000"/>
                        </a:solidFill>
                        <a:latin typeface="Calibri" panose="020F0502020204030204"/>
                      </a:endParaRPr>
                    </a:p>
                  </a:txBody>
                  <a:tcPr marL="7144" marR="7144" marT="7144" marB="0"/>
                </a:tc>
              </a:tr>
              <a:tr h="278130">
                <a:tc>
                  <a:txBody>
                    <a:bodyPr/>
                    <a:lstStyle/>
                    <a:p>
                      <a:pPr algn="ctr"/>
                      <a:r>
                        <a:rPr lang="zh-CN" altLang="en-US" sz="1400" dirty="0"/>
                        <a:t>总负债</a:t>
                      </a:r>
                    </a:p>
                  </a:txBody>
                  <a:tcPr marL="68580" marR="68580" marT="34290" marB="34290"/>
                </a:tc>
                <a:tc>
                  <a:txBody>
                    <a:bodyPr/>
                    <a:lstStyle/>
                    <a:p>
                      <a:pPr algn="ctr" rtl="0" fontAlgn="t"/>
                      <a:endParaRPr lang="en-US" altLang="zh-CN" sz="1400" b="0" i="0" u="none" strike="noStrike" dirty="0">
                        <a:solidFill>
                          <a:srgbClr val="000000"/>
                        </a:solidFill>
                        <a:latin typeface="Calibri" panose="020F0502020204030204"/>
                      </a:endParaRPr>
                    </a:p>
                  </a:txBody>
                  <a:tcPr marL="7144" marR="7144" marT="7144" marB="0"/>
                </a:tc>
                <a:tc>
                  <a:txBody>
                    <a:bodyPr/>
                    <a:lstStyle/>
                    <a:p>
                      <a:pPr algn="ctr" rtl="0" fontAlgn="t"/>
                      <a:endParaRPr lang="en-US" altLang="zh-CN" sz="1400" b="0" i="0" u="none" strike="noStrike" dirty="0">
                        <a:solidFill>
                          <a:srgbClr val="000000"/>
                        </a:solidFill>
                        <a:latin typeface="Calibri" panose="020F0502020204030204"/>
                      </a:endParaRPr>
                    </a:p>
                  </a:txBody>
                  <a:tcPr marL="7144" marR="7144" marT="7144" marB="0"/>
                </a:tc>
                <a:tc>
                  <a:txBody>
                    <a:bodyPr/>
                    <a:lstStyle/>
                    <a:p>
                      <a:pPr algn="ctr" rtl="0" fontAlgn="t"/>
                      <a:endParaRPr lang="en-US" altLang="zh-CN" sz="1400" b="0" i="0" u="none" strike="noStrike" dirty="0">
                        <a:solidFill>
                          <a:srgbClr val="000000"/>
                        </a:solidFill>
                        <a:latin typeface="Calibri" panose="020F0502020204030204"/>
                      </a:endParaRPr>
                    </a:p>
                  </a:txBody>
                  <a:tcPr marL="7144" marR="7144" marT="7144" marB="0"/>
                </a:tc>
                <a:tc>
                  <a:txBody>
                    <a:bodyPr/>
                    <a:lstStyle/>
                    <a:p>
                      <a:pPr algn="ctr" rtl="0" fontAlgn="t"/>
                      <a:endParaRPr lang="en-US" altLang="zh-CN" sz="1400" b="0" i="0" u="none" strike="noStrike" dirty="0">
                        <a:solidFill>
                          <a:srgbClr val="000000"/>
                        </a:solidFill>
                        <a:latin typeface="Calibri" panose="020F0502020204030204"/>
                      </a:endParaRPr>
                    </a:p>
                  </a:txBody>
                  <a:tcPr marL="7144" marR="7144" marT="7144" marB="0"/>
                </a:tc>
              </a:tr>
              <a:tr h="278130">
                <a:tc>
                  <a:txBody>
                    <a:bodyPr/>
                    <a:lstStyle/>
                    <a:p>
                      <a:pPr algn="ctr"/>
                      <a:r>
                        <a:rPr lang="zh-CN" altLang="en-US" sz="1400" dirty="0"/>
                        <a:t>资产负债率</a:t>
                      </a:r>
                    </a:p>
                  </a:txBody>
                  <a:tcPr marL="68580" marR="68580" marT="34290" marB="34290"/>
                </a:tc>
                <a:tc>
                  <a:txBody>
                    <a:bodyPr/>
                    <a:lstStyle/>
                    <a:p>
                      <a:pPr marL="0" algn="ctr" defTabSz="914400" rtl="0" eaLnBrk="1" fontAlgn="t" latinLnBrk="0" hangingPunct="1"/>
                      <a:endParaRPr lang="en-US" altLang="zh-CN" sz="1400" b="0" i="0" u="none" strike="noStrike" kern="1200" dirty="0">
                        <a:solidFill>
                          <a:srgbClr val="000000"/>
                        </a:solidFill>
                        <a:latin typeface="Calibri" panose="020F0502020204030204"/>
                        <a:ea typeface="+mn-ea"/>
                        <a:cs typeface="+mn-cs"/>
                      </a:endParaRPr>
                    </a:p>
                  </a:txBody>
                  <a:tcPr marL="7144" marR="7144" marT="7144" marB="0" anchor="ctr"/>
                </a:tc>
                <a:tc>
                  <a:txBody>
                    <a:bodyPr/>
                    <a:lstStyle/>
                    <a:p>
                      <a:pPr marL="0" algn="ctr" defTabSz="914400" rtl="0" eaLnBrk="1" fontAlgn="t" latinLnBrk="0" hangingPunct="1"/>
                      <a:endParaRPr lang="en-US" altLang="zh-CN" sz="1400" b="0" i="0" u="none" strike="noStrike" kern="1200" dirty="0">
                        <a:solidFill>
                          <a:srgbClr val="000000"/>
                        </a:solidFill>
                        <a:latin typeface="Calibri" panose="020F0502020204030204"/>
                        <a:ea typeface="+mn-ea"/>
                        <a:cs typeface="+mn-cs"/>
                      </a:endParaRPr>
                    </a:p>
                  </a:txBody>
                  <a:tcPr marL="7144" marR="7144" marT="7144" marB="0" anchor="ctr"/>
                </a:tc>
                <a:tc>
                  <a:txBody>
                    <a:bodyPr/>
                    <a:lstStyle/>
                    <a:p>
                      <a:pPr marL="0" algn="ctr" defTabSz="914400" rtl="0" eaLnBrk="1" fontAlgn="t" latinLnBrk="0" hangingPunct="1"/>
                      <a:endParaRPr lang="en-US" altLang="zh-CN" sz="1400" b="0" i="0" u="none" strike="noStrike" kern="1200" dirty="0">
                        <a:solidFill>
                          <a:srgbClr val="000000"/>
                        </a:solidFill>
                        <a:latin typeface="Calibri" panose="020F0502020204030204"/>
                        <a:ea typeface="+mn-ea"/>
                        <a:cs typeface="+mn-cs"/>
                      </a:endParaRPr>
                    </a:p>
                  </a:txBody>
                  <a:tcPr marL="7144" marR="7144" marT="7144" marB="0" anchor="ctr"/>
                </a:tc>
                <a:tc>
                  <a:txBody>
                    <a:bodyPr/>
                    <a:lstStyle/>
                    <a:p>
                      <a:pPr algn="ctr" rtl="0" fontAlgn="t"/>
                      <a:endParaRPr lang="en-US" altLang="zh-CN" sz="1400" b="0" i="0" u="none" strike="noStrike" dirty="0">
                        <a:solidFill>
                          <a:srgbClr val="000000"/>
                        </a:solidFill>
                        <a:latin typeface="Calibri" panose="020F0502020204030204"/>
                      </a:endParaRPr>
                    </a:p>
                  </a:txBody>
                  <a:tcPr marL="7144" marR="7144" marT="7144" marB="0"/>
                </a:tc>
              </a:tr>
            </a:tbl>
          </a:graphicData>
        </a:graphic>
      </p:graphicFrame>
      <p:sp>
        <p:nvSpPr>
          <p:cNvPr id="8" name="TextBox 4"/>
          <p:cNvSpPr txBox="1"/>
          <p:nvPr/>
        </p:nvSpPr>
        <p:spPr>
          <a:xfrm>
            <a:off x="619194" y="827112"/>
            <a:ext cx="3078342" cy="323165"/>
          </a:xfrm>
          <a:prstGeom prst="rect">
            <a:avLst/>
          </a:prstGeom>
          <a:noFill/>
        </p:spPr>
        <p:txBody>
          <a:bodyPr wrap="square" rtlCol="0">
            <a:spAutoFit/>
          </a:bodyPr>
          <a:lstStyle/>
          <a:p>
            <a:r>
              <a:rPr lang="en-US" altLang="zh-CN" sz="1500" b="1" dirty="0">
                <a:latin typeface="+mj-ea"/>
                <a:ea typeface="+mj-ea"/>
              </a:rPr>
              <a:t>2.1</a:t>
            </a:r>
            <a:r>
              <a:rPr lang="zh-CN" altLang="en-US" sz="1500" b="1" dirty="0">
                <a:latin typeface="+mj-ea"/>
                <a:ea typeface="+mj-ea"/>
              </a:rPr>
              <a:t>负债规模</a:t>
            </a:r>
          </a:p>
        </p:txBody>
      </p:sp>
      <p:sp>
        <p:nvSpPr>
          <p:cNvPr id="15" name="TextBox 8"/>
          <p:cNvSpPr txBox="1"/>
          <p:nvPr/>
        </p:nvSpPr>
        <p:spPr>
          <a:xfrm>
            <a:off x="5436096" y="2662038"/>
            <a:ext cx="2970330" cy="1962076"/>
          </a:xfrm>
          <a:prstGeom prst="rect">
            <a:avLst/>
          </a:prstGeom>
          <a:noFill/>
        </p:spPr>
        <p:txBody>
          <a:bodyPr wrap="square" rtlCol="0">
            <a:spAutoFit/>
          </a:bodyPr>
          <a:lstStyle/>
          <a:p>
            <a:r>
              <a:rPr lang="zh-CN" altLang="en-US" sz="1200" b="1" dirty="0">
                <a:solidFill>
                  <a:schemeClr val="tx1">
                    <a:lumMod val="85000"/>
                    <a:lumOff val="15000"/>
                  </a:schemeClr>
                </a:solidFill>
                <a:latin typeface="微软雅黑" panose="020B0503020204020204" pitchFamily="34" charset="-122"/>
                <a:ea typeface="微软雅黑" panose="020B0503020204020204" pitchFamily="34" charset="-122"/>
              </a:rPr>
              <a:t>分析如下：</a:t>
            </a:r>
            <a:r>
              <a:rPr lang="zh-CN" altLang="en-US" sz="1200" dirty="0">
                <a:solidFill>
                  <a:schemeClr val="tx1">
                    <a:lumMod val="85000"/>
                    <a:lumOff val="15000"/>
                  </a:schemeClr>
                </a:solidFill>
                <a:latin typeface="微软雅黑" panose="020B0503020204020204" pitchFamily="34" charset="-122"/>
                <a:ea typeface="微软雅黑" panose="020B0503020204020204" pitchFamily="34" charset="-122"/>
              </a:rPr>
              <a:t>由上表和图所示的数据可以看出，公司在201</a:t>
            </a:r>
            <a:r>
              <a:rPr lang="en-US" altLang="zh-CN" sz="1200" dirty="0">
                <a:solidFill>
                  <a:schemeClr val="tx1">
                    <a:lumMod val="85000"/>
                    <a:lumOff val="15000"/>
                  </a:schemeClr>
                </a:solidFill>
                <a:latin typeface="微软雅黑" panose="020B0503020204020204" pitchFamily="34" charset="-122"/>
                <a:ea typeface="微软雅黑" panose="020B0503020204020204" pitchFamily="34" charset="-122"/>
              </a:rPr>
              <a:t>4</a:t>
            </a:r>
            <a:r>
              <a:rPr lang="zh-CN" altLang="en-US" sz="1200" dirty="0">
                <a:solidFill>
                  <a:schemeClr val="tx1">
                    <a:lumMod val="85000"/>
                    <a:lumOff val="15000"/>
                  </a:schemeClr>
                </a:solidFill>
                <a:latin typeface="微软雅黑" panose="020B0503020204020204" pitchFamily="34" charset="-122"/>
                <a:ea typeface="微软雅黑" panose="020B0503020204020204" pitchFamily="34" charset="-122"/>
              </a:rPr>
              <a:t>-201</a:t>
            </a:r>
            <a:r>
              <a:rPr lang="en-US" altLang="zh-CN" sz="1200" dirty="0">
                <a:solidFill>
                  <a:schemeClr val="tx1">
                    <a:lumMod val="85000"/>
                    <a:lumOff val="15000"/>
                  </a:schemeClr>
                </a:solidFill>
                <a:latin typeface="微软雅黑" panose="020B0503020204020204" pitchFamily="34" charset="-122"/>
                <a:ea typeface="微软雅黑" panose="020B0503020204020204" pitchFamily="34" charset="-122"/>
              </a:rPr>
              <a:t>7</a:t>
            </a:r>
            <a:r>
              <a:rPr lang="zh-CN" altLang="en-US" sz="1200" dirty="0">
                <a:solidFill>
                  <a:schemeClr val="tx1">
                    <a:lumMod val="85000"/>
                    <a:lumOff val="15000"/>
                  </a:schemeClr>
                </a:solidFill>
                <a:latin typeface="微软雅黑" panose="020B0503020204020204" pitchFamily="34" charset="-122"/>
                <a:ea typeface="微软雅黑" panose="020B0503020204020204" pitchFamily="34" charset="-122"/>
              </a:rPr>
              <a:t>年上的负债规模呈逐年上升的趋势，说明该企业在</a:t>
            </a:r>
            <a:r>
              <a:rPr lang="zh-CN" altLang="en-US" sz="1200" u="sng" dirty="0">
                <a:solidFill>
                  <a:schemeClr val="tx1">
                    <a:lumMod val="85000"/>
                    <a:lumOff val="15000"/>
                  </a:schemeClr>
                </a:solidFill>
                <a:latin typeface="微软雅黑" panose="020B0503020204020204" pitchFamily="34" charset="-122"/>
                <a:ea typeface="微软雅黑" panose="020B0503020204020204" pitchFamily="34" charset="-122"/>
              </a:rPr>
              <a:t>这四年内总负债规模不断变大</a:t>
            </a:r>
            <a:r>
              <a:rPr lang="zh-CN" altLang="en-US" sz="1200" dirty="0">
                <a:solidFill>
                  <a:schemeClr val="tx1">
                    <a:lumMod val="85000"/>
                    <a:lumOff val="15000"/>
                  </a:schemeClr>
                </a:solidFill>
                <a:latin typeface="微软雅黑" panose="020B0503020204020204" pitchFamily="34" charset="-122"/>
                <a:ea typeface="微软雅黑" panose="020B0503020204020204" pitchFamily="34" charset="-122"/>
              </a:rPr>
              <a:t>。主要是由于流动负债规模的逐年变大，非流动负债规模基本保持不变，这主要是该企业主要需要通过增加流动负债来扩大公司的规模。该企业主要通过扩大流动负债来扩大经营，</a:t>
            </a:r>
            <a:r>
              <a:rPr lang="zh-CN" altLang="en-US" sz="1200" u="sng" dirty="0">
                <a:solidFill>
                  <a:schemeClr val="tx1">
                    <a:lumMod val="85000"/>
                    <a:lumOff val="15000"/>
                  </a:schemeClr>
                </a:solidFill>
                <a:latin typeface="微软雅黑" panose="020B0503020204020204" pitchFamily="34" charset="-122"/>
                <a:ea typeface="微软雅黑" panose="020B0503020204020204" pitchFamily="34" charset="-122"/>
              </a:rPr>
              <a:t>说明企业的债务流动性还是乐观的</a:t>
            </a:r>
            <a:r>
              <a:rPr lang="zh-CN" altLang="en-US" sz="1200" dirty="0">
                <a:solidFill>
                  <a:schemeClr val="tx1">
                    <a:lumMod val="85000"/>
                    <a:lumOff val="15000"/>
                  </a:schemeClr>
                </a:solidFill>
                <a:latin typeface="微软雅黑" panose="020B0503020204020204" pitchFamily="34" charset="-122"/>
                <a:ea typeface="微软雅黑" panose="020B0503020204020204" pitchFamily="34" charset="-122"/>
              </a:rPr>
              <a:t>。</a:t>
            </a:r>
          </a:p>
          <a:p>
            <a:endParaRPr lang="zh-CN" altLang="en-US" sz="1350" dirty="0">
              <a:solidFill>
                <a:schemeClr val="tx1">
                  <a:lumMod val="85000"/>
                  <a:lumOff val="15000"/>
                </a:schemeClr>
              </a:solidFill>
            </a:endParaRPr>
          </a:p>
        </p:txBody>
      </p:sp>
      <p:sp>
        <p:nvSpPr>
          <p:cNvPr id="16" name="标题 1"/>
          <p:cNvSpPr txBox="1"/>
          <p:nvPr/>
        </p:nvSpPr>
        <p:spPr>
          <a:xfrm>
            <a:off x="4067944" y="66503"/>
            <a:ext cx="6172200" cy="486054"/>
          </a:xfrm>
          <a:prstGeom prst="rect">
            <a:avLst/>
          </a:prstGeom>
        </p:spPr>
        <p:txBody>
          <a:bodyPr vert="horz" lIns="68580" tIns="34290" rIns="68580" bIns="34290" rtlCol="0" anchor="ctr">
            <a:noAutofit/>
          </a:bodyPr>
          <a:lstStyle/>
          <a:p>
            <a:pPr defTabSz="685800">
              <a:spcBef>
                <a:spcPct val="0"/>
              </a:spcBef>
              <a:defRPr/>
            </a:pPr>
            <a:r>
              <a:rPr lang="en-US" altLang="zh-CN" sz="2400" b="1" dirty="0">
                <a:solidFill>
                  <a:schemeClr val="tx1">
                    <a:lumMod val="85000"/>
                    <a:lumOff val="15000"/>
                  </a:schemeClr>
                </a:solidFill>
                <a:latin typeface="楷体" panose="02010609060101010101" pitchFamily="49" charset="-122"/>
                <a:ea typeface="楷体" panose="02010609060101010101" pitchFamily="49" charset="-122"/>
                <a:cs typeface="+mj-cs"/>
              </a:rPr>
              <a:t>(</a:t>
            </a:r>
            <a:r>
              <a:rPr lang="zh-CN" altLang="en-US" sz="2400" b="1" dirty="0">
                <a:solidFill>
                  <a:schemeClr val="tx1">
                    <a:lumMod val="85000"/>
                    <a:lumOff val="15000"/>
                  </a:schemeClr>
                </a:solidFill>
                <a:latin typeface="楷体" panose="02010609060101010101" pitchFamily="49" charset="-122"/>
                <a:ea typeface="楷体" panose="02010609060101010101" pitchFamily="49" charset="-122"/>
                <a:cs typeface="+mj-cs"/>
              </a:rPr>
              <a:t>一</a:t>
            </a:r>
            <a:r>
              <a:rPr lang="en-US" altLang="zh-CN" sz="2400" b="1" dirty="0">
                <a:solidFill>
                  <a:schemeClr val="tx1">
                    <a:lumMod val="85000"/>
                    <a:lumOff val="15000"/>
                  </a:schemeClr>
                </a:solidFill>
                <a:latin typeface="楷体" panose="02010609060101010101" pitchFamily="49" charset="-122"/>
                <a:ea typeface="楷体" panose="02010609060101010101" pitchFamily="49" charset="-122"/>
                <a:cs typeface="+mj-cs"/>
              </a:rPr>
              <a:t>)</a:t>
            </a:r>
            <a:r>
              <a:rPr lang="zh-CN" altLang="en-US" sz="2400" b="1" dirty="0">
                <a:solidFill>
                  <a:schemeClr val="tx1">
                    <a:lumMod val="85000"/>
                    <a:lumOff val="15000"/>
                  </a:schemeClr>
                </a:solidFill>
                <a:latin typeface="楷体" panose="02010609060101010101" pitchFamily="49" charset="-122"/>
                <a:ea typeface="楷体" panose="02010609060101010101" pitchFamily="49" charset="-122"/>
                <a:cs typeface="+mj-cs"/>
              </a:rPr>
              <a:t>资产负债表</a:t>
            </a:r>
            <a:r>
              <a:rPr lang="en-US" altLang="zh-CN" sz="2400" b="1" dirty="0">
                <a:solidFill>
                  <a:schemeClr val="tx1">
                    <a:lumMod val="85000"/>
                    <a:lumOff val="15000"/>
                  </a:schemeClr>
                </a:solidFill>
                <a:latin typeface="楷体" panose="02010609060101010101" pitchFamily="49" charset="-122"/>
                <a:ea typeface="楷体" panose="02010609060101010101" pitchFamily="49" charset="-122"/>
                <a:cs typeface="+mj-cs"/>
              </a:rPr>
              <a:t>-</a:t>
            </a:r>
            <a:r>
              <a:rPr lang="zh-CN" altLang="en-US" sz="2400" b="1" dirty="0">
                <a:solidFill>
                  <a:schemeClr val="tx1">
                    <a:lumMod val="85000"/>
                    <a:lumOff val="15000"/>
                  </a:schemeClr>
                </a:solidFill>
                <a:latin typeface="楷体" panose="02010609060101010101" pitchFamily="49" charset="-122"/>
                <a:ea typeface="楷体" panose="02010609060101010101" pitchFamily="49" charset="-122"/>
                <a:cs typeface="+mj-cs"/>
              </a:rPr>
              <a:t>规模及结构分析</a:t>
            </a:r>
          </a:p>
        </p:txBody>
      </p:sp>
      <p:graphicFrame>
        <p:nvGraphicFramePr>
          <p:cNvPr id="17" name="图表 16"/>
          <p:cNvGraphicFramePr/>
          <p:nvPr/>
        </p:nvGraphicFramePr>
        <p:xfrm>
          <a:off x="857885" y="1995686"/>
          <a:ext cx="4320480" cy="324036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transition spd="slow" advClick="0" advTm="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14" presetClass="entr" presetSubtype="10" fill="hold" grpId="0" nodeType="after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randombar(horizontal)">
                                      <p:cBhvr>
                                        <p:cTn id="13" dur="500"/>
                                        <p:tgtEl>
                                          <p:spTgt spid="16"/>
                                        </p:tgtEl>
                                      </p:cBhvr>
                                    </p:animEffect>
                                  </p:childTnLst>
                                </p:cTn>
                              </p:par>
                            </p:childTnLst>
                          </p:cTn>
                        </p:par>
                        <p:par>
                          <p:cTn id="14" fill="hold">
                            <p:stCondLst>
                              <p:cond delay="1500"/>
                            </p:stCondLst>
                            <p:childTnLst>
                              <p:par>
                                <p:cTn id="15" presetID="42" presetClass="entr" presetSubtype="0" fill="hold" nodeType="after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1000"/>
                                        <p:tgtEl>
                                          <p:spTgt spid="7"/>
                                        </p:tgtEl>
                                      </p:cBhvr>
                                    </p:animEffect>
                                    <p:anim calcmode="lin" valueType="num">
                                      <p:cBhvr>
                                        <p:cTn id="18" dur="1000" fill="hold"/>
                                        <p:tgtEl>
                                          <p:spTgt spid="7"/>
                                        </p:tgtEl>
                                        <p:attrNameLst>
                                          <p:attrName>ppt_x</p:attrName>
                                        </p:attrNameLst>
                                      </p:cBhvr>
                                      <p:tavLst>
                                        <p:tav tm="0">
                                          <p:val>
                                            <p:strVal val="#ppt_x"/>
                                          </p:val>
                                        </p:tav>
                                        <p:tav tm="100000">
                                          <p:val>
                                            <p:strVal val="#ppt_x"/>
                                          </p:val>
                                        </p:tav>
                                      </p:tavLst>
                                    </p:anim>
                                    <p:anim calcmode="lin" valueType="num">
                                      <p:cBhvr>
                                        <p:cTn id="19" dur="1000" fill="hold"/>
                                        <p:tgtEl>
                                          <p:spTgt spid="7"/>
                                        </p:tgtEl>
                                        <p:attrNameLst>
                                          <p:attrName>ppt_y</p:attrName>
                                        </p:attrNameLst>
                                      </p:cBhvr>
                                      <p:tavLst>
                                        <p:tav tm="0">
                                          <p:val>
                                            <p:strVal val="#ppt_y+.1"/>
                                          </p:val>
                                        </p:tav>
                                        <p:tav tm="100000">
                                          <p:val>
                                            <p:strVal val="#ppt_y"/>
                                          </p:val>
                                        </p:tav>
                                      </p:tavLst>
                                    </p:anim>
                                  </p:childTnLst>
                                </p:cTn>
                              </p:par>
                            </p:childTnLst>
                          </p:cTn>
                        </p:par>
                        <p:par>
                          <p:cTn id="20" fill="hold">
                            <p:stCondLst>
                              <p:cond delay="2500"/>
                            </p:stCondLst>
                            <p:childTnLst>
                              <p:par>
                                <p:cTn id="21" presetID="42" presetClass="entr" presetSubtype="0" fill="hold" grpId="0"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1000"/>
                                        <p:tgtEl>
                                          <p:spTgt spid="8"/>
                                        </p:tgtEl>
                                      </p:cBhvr>
                                    </p:animEffect>
                                    <p:anim calcmode="lin" valueType="num">
                                      <p:cBhvr>
                                        <p:cTn id="24" dur="1000" fill="hold"/>
                                        <p:tgtEl>
                                          <p:spTgt spid="8"/>
                                        </p:tgtEl>
                                        <p:attrNameLst>
                                          <p:attrName>ppt_x</p:attrName>
                                        </p:attrNameLst>
                                      </p:cBhvr>
                                      <p:tavLst>
                                        <p:tav tm="0">
                                          <p:val>
                                            <p:strVal val="#ppt_x"/>
                                          </p:val>
                                        </p:tav>
                                        <p:tav tm="100000">
                                          <p:val>
                                            <p:strVal val="#ppt_x"/>
                                          </p:val>
                                        </p:tav>
                                      </p:tavLst>
                                    </p:anim>
                                    <p:anim calcmode="lin" valueType="num">
                                      <p:cBhvr>
                                        <p:cTn id="25" dur="1000" fill="hold"/>
                                        <p:tgtEl>
                                          <p:spTgt spid="8"/>
                                        </p:tgtEl>
                                        <p:attrNameLst>
                                          <p:attrName>ppt_y</p:attrName>
                                        </p:attrNameLst>
                                      </p:cBhvr>
                                      <p:tavLst>
                                        <p:tav tm="0">
                                          <p:val>
                                            <p:strVal val="#ppt_y+.1"/>
                                          </p:val>
                                        </p:tav>
                                        <p:tav tm="100000">
                                          <p:val>
                                            <p:strVal val="#ppt_y"/>
                                          </p:val>
                                        </p:tav>
                                      </p:tavLst>
                                    </p:anim>
                                  </p:childTnLst>
                                </p:cTn>
                              </p:par>
                            </p:childTnLst>
                          </p:cTn>
                        </p:par>
                        <p:par>
                          <p:cTn id="26" fill="hold">
                            <p:stCondLst>
                              <p:cond delay="3500"/>
                            </p:stCondLst>
                            <p:childTnLst>
                              <p:par>
                                <p:cTn id="27" presetID="42" presetClass="entr" presetSubtype="0" fill="hold" grpId="0" nodeType="after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1000"/>
                                        <p:tgtEl>
                                          <p:spTgt spid="15"/>
                                        </p:tgtEl>
                                      </p:cBhvr>
                                    </p:animEffect>
                                    <p:anim calcmode="lin" valueType="num">
                                      <p:cBhvr>
                                        <p:cTn id="30" dur="1000" fill="hold"/>
                                        <p:tgtEl>
                                          <p:spTgt spid="15"/>
                                        </p:tgtEl>
                                        <p:attrNameLst>
                                          <p:attrName>ppt_x</p:attrName>
                                        </p:attrNameLst>
                                      </p:cBhvr>
                                      <p:tavLst>
                                        <p:tav tm="0">
                                          <p:val>
                                            <p:strVal val="#ppt_x"/>
                                          </p:val>
                                        </p:tav>
                                        <p:tav tm="100000">
                                          <p:val>
                                            <p:strVal val="#ppt_x"/>
                                          </p:val>
                                        </p:tav>
                                      </p:tavLst>
                                    </p:anim>
                                    <p:anim calcmode="lin" valueType="num">
                                      <p:cBhvr>
                                        <p:cTn id="31" dur="1000" fill="hold"/>
                                        <p:tgtEl>
                                          <p:spTgt spid="15"/>
                                        </p:tgtEl>
                                        <p:attrNameLst>
                                          <p:attrName>ppt_y</p:attrName>
                                        </p:attrNameLst>
                                      </p:cBhvr>
                                      <p:tavLst>
                                        <p:tav tm="0">
                                          <p:val>
                                            <p:strVal val="#ppt_y+.1"/>
                                          </p:val>
                                        </p:tav>
                                        <p:tav tm="100000">
                                          <p:val>
                                            <p:strVal val="#ppt_y"/>
                                          </p:val>
                                        </p:tav>
                                      </p:tavLst>
                                    </p:anim>
                                  </p:childTnLst>
                                </p:cTn>
                              </p:par>
                            </p:childTnLst>
                          </p:cTn>
                        </p:par>
                        <p:par>
                          <p:cTn id="32" fill="hold">
                            <p:stCondLst>
                              <p:cond delay="4500"/>
                            </p:stCondLst>
                            <p:childTnLst>
                              <p:par>
                                <p:cTn id="33" presetID="42" presetClass="entr" presetSubtype="0" fill="hold" grpId="0" nodeType="after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1000"/>
                                        <p:tgtEl>
                                          <p:spTgt spid="17"/>
                                        </p:tgtEl>
                                      </p:cBhvr>
                                    </p:animEffect>
                                    <p:anim calcmode="lin" valueType="num">
                                      <p:cBhvr>
                                        <p:cTn id="36" dur="1000" fill="hold"/>
                                        <p:tgtEl>
                                          <p:spTgt spid="17"/>
                                        </p:tgtEl>
                                        <p:attrNameLst>
                                          <p:attrName>ppt_x</p:attrName>
                                        </p:attrNameLst>
                                      </p:cBhvr>
                                      <p:tavLst>
                                        <p:tav tm="0">
                                          <p:val>
                                            <p:strVal val="#ppt_x"/>
                                          </p:val>
                                        </p:tav>
                                        <p:tav tm="100000">
                                          <p:val>
                                            <p:strVal val="#ppt_x"/>
                                          </p:val>
                                        </p:tav>
                                      </p:tavLst>
                                    </p:anim>
                                    <p:anim calcmode="lin" valueType="num">
                                      <p:cBhvr>
                                        <p:cTn id="37"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8" grpId="0"/>
      <p:bldP spid="15" grpId="0"/>
      <p:bldP spid="16" grpId="0"/>
      <p:bldGraphic spid="17" grpId="0">
        <p:bldAsOne/>
      </p:bldGraphic>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txBox="1"/>
          <p:nvPr/>
        </p:nvSpPr>
        <p:spPr>
          <a:xfrm>
            <a:off x="857885" y="195109"/>
            <a:ext cx="2600960" cy="379730"/>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2000" b="1" dirty="0">
                <a:solidFill>
                  <a:schemeClr val="tx1"/>
                </a:solidFill>
                <a:latin typeface="Arial" panose="020B0604020202020204" pitchFamily="34" charset="0"/>
                <a:ea typeface="微软雅黑" panose="020B0503020204020204" pitchFamily="34" charset="-122"/>
                <a:sym typeface="Arial" panose="020B0604020202020204" pitchFamily="34" charset="0"/>
              </a:rPr>
              <a:t> </a:t>
            </a:r>
            <a:r>
              <a:rPr lang="en-US" altLang="zh-CN" sz="2000" b="1" dirty="0">
                <a:solidFill>
                  <a:schemeClr val="tx1"/>
                </a:solidFill>
                <a:latin typeface="Arial" panose="020B0604020202020204" pitchFamily="34" charset="0"/>
                <a:ea typeface="微软雅黑" panose="020B0503020204020204" pitchFamily="34" charset="-122"/>
                <a:sym typeface="Arial" panose="020B0604020202020204" pitchFamily="34" charset="0"/>
              </a:rPr>
              <a:t>2.2</a:t>
            </a:r>
            <a:r>
              <a:rPr lang="zh-CN" altLang="en-US" sz="2000" b="1" dirty="0">
                <a:solidFill>
                  <a:schemeClr val="tx1"/>
                </a:solidFill>
                <a:latin typeface="Arial" panose="020B0604020202020204" pitchFamily="34" charset="0"/>
                <a:ea typeface="微软雅黑" panose="020B0503020204020204" pitchFamily="34" charset="-122"/>
                <a:sym typeface="Arial" panose="020B0604020202020204" pitchFamily="34" charset="0"/>
              </a:rPr>
              <a:t>负债结构</a:t>
            </a:r>
          </a:p>
        </p:txBody>
      </p:sp>
      <p:graphicFrame>
        <p:nvGraphicFramePr>
          <p:cNvPr id="11" name="内容占位符 3"/>
          <p:cNvGraphicFramePr/>
          <p:nvPr/>
        </p:nvGraphicFramePr>
        <p:xfrm>
          <a:off x="746956" y="897304"/>
          <a:ext cx="3511154" cy="270033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2" name="表格 11"/>
          <p:cNvGraphicFramePr>
            <a:graphicFrameLocks noGrp="1"/>
          </p:cNvGraphicFramePr>
          <p:nvPr/>
        </p:nvGraphicFramePr>
        <p:xfrm>
          <a:off x="4716016" y="843558"/>
          <a:ext cx="2376264" cy="2700302"/>
        </p:xfrm>
        <a:graphic>
          <a:graphicData uri="http://schemas.openxmlformats.org/drawingml/2006/table">
            <a:tbl>
              <a:tblPr firstRow="1" bandRow="1">
                <a:tableStyleId>{8799B23B-EC83-4686-B30A-512413B5E67A}</a:tableStyleId>
              </a:tblPr>
              <a:tblGrid>
                <a:gridCol w="594066"/>
                <a:gridCol w="432048"/>
                <a:gridCol w="432048"/>
                <a:gridCol w="378042"/>
                <a:gridCol w="540060"/>
              </a:tblGrid>
              <a:tr h="549061">
                <a:tc>
                  <a:txBody>
                    <a:bodyPr/>
                    <a:lstStyle/>
                    <a:p>
                      <a:pPr algn="ctr" fontAlgn="ctr"/>
                      <a:r>
                        <a:rPr lang="zh-CN" altLang="en-US" sz="800" u="none" strike="noStrike" dirty="0">
                          <a:latin typeface="Arial" panose="020B0604020202020204" pitchFamily="34" charset="0"/>
                          <a:ea typeface="微软雅黑" panose="020B0503020204020204" pitchFamily="34" charset="-122"/>
                          <a:sym typeface="Arial" panose="020B0604020202020204" pitchFamily="34" charset="0"/>
                        </a:rPr>
                        <a:t>资  产</a:t>
                      </a:r>
                      <a:endParaRPr lang="zh-CN" altLang="en-US" sz="800" b="1"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c>
                  <a:txBody>
                    <a:bodyPr/>
                    <a:lstStyle/>
                    <a:p>
                      <a:pPr algn="ctr" fontAlgn="ctr"/>
                      <a:r>
                        <a:rPr lang="en-US" altLang="zh-CN" sz="800" u="none" strike="noStrike" dirty="0">
                          <a:latin typeface="Arial" panose="020B0604020202020204" pitchFamily="34" charset="0"/>
                          <a:ea typeface="微软雅黑" panose="020B0503020204020204" pitchFamily="34" charset="-122"/>
                          <a:sym typeface="Arial" panose="020B0604020202020204" pitchFamily="34" charset="0"/>
                        </a:rPr>
                        <a:t>2014</a:t>
                      </a:r>
                      <a:r>
                        <a:rPr lang="zh-CN" altLang="en-US" sz="800" u="none" strike="noStrike" dirty="0">
                          <a:latin typeface="Arial" panose="020B0604020202020204" pitchFamily="34" charset="0"/>
                          <a:ea typeface="微软雅黑" panose="020B0503020204020204" pitchFamily="34" charset="-122"/>
                          <a:sym typeface="Arial" panose="020B0604020202020204" pitchFamily="34" charset="0"/>
                        </a:rPr>
                        <a:t>年</a:t>
                      </a:r>
                      <a:endParaRPr lang="zh-CN" altLang="en-US" sz="800" b="1"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c>
                  <a:txBody>
                    <a:bodyPr/>
                    <a:lstStyle/>
                    <a:p>
                      <a:pPr algn="ctr" fontAlgn="ctr"/>
                      <a:r>
                        <a:rPr lang="en-US" altLang="zh-CN" sz="800" u="none" strike="noStrike" dirty="0">
                          <a:latin typeface="Arial" panose="020B0604020202020204" pitchFamily="34" charset="0"/>
                          <a:ea typeface="微软雅黑" panose="020B0503020204020204" pitchFamily="34" charset="-122"/>
                          <a:sym typeface="Arial" panose="020B0604020202020204" pitchFamily="34" charset="0"/>
                        </a:rPr>
                        <a:t>2015</a:t>
                      </a:r>
                      <a:r>
                        <a:rPr lang="zh-CN" altLang="en-US" sz="800" u="none" strike="noStrike" dirty="0">
                          <a:latin typeface="Arial" panose="020B0604020202020204" pitchFamily="34" charset="0"/>
                          <a:ea typeface="微软雅黑" panose="020B0503020204020204" pitchFamily="34" charset="-122"/>
                          <a:sym typeface="Arial" panose="020B0604020202020204" pitchFamily="34" charset="0"/>
                        </a:rPr>
                        <a:t>年</a:t>
                      </a:r>
                      <a:endParaRPr lang="zh-CN" altLang="en-US" sz="800" b="1"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c>
                  <a:txBody>
                    <a:bodyPr/>
                    <a:lstStyle/>
                    <a:p>
                      <a:pPr algn="ctr" fontAlgn="ctr"/>
                      <a:r>
                        <a:rPr lang="en-US" altLang="zh-CN" sz="800" u="none" strike="noStrike" dirty="0">
                          <a:latin typeface="Arial" panose="020B0604020202020204" pitchFamily="34" charset="0"/>
                          <a:ea typeface="微软雅黑" panose="020B0503020204020204" pitchFamily="34" charset="-122"/>
                          <a:sym typeface="Arial" panose="020B0604020202020204" pitchFamily="34" charset="0"/>
                        </a:rPr>
                        <a:t>2016</a:t>
                      </a:r>
                      <a:r>
                        <a:rPr lang="zh-CN" altLang="en-US" sz="800" u="none" strike="noStrike" dirty="0">
                          <a:latin typeface="Arial" panose="020B0604020202020204" pitchFamily="34" charset="0"/>
                          <a:ea typeface="微软雅黑" panose="020B0503020204020204" pitchFamily="34" charset="-122"/>
                          <a:sym typeface="Arial" panose="020B0604020202020204" pitchFamily="34" charset="0"/>
                        </a:rPr>
                        <a:t>年</a:t>
                      </a:r>
                      <a:endParaRPr lang="zh-CN" altLang="en-US" sz="800" b="1"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c>
                  <a:txBody>
                    <a:bodyPr/>
                    <a:lstStyle/>
                    <a:p>
                      <a:pPr algn="ctr" fontAlgn="ctr"/>
                      <a:r>
                        <a:rPr lang="en-US" altLang="zh-CN" sz="800" u="none" strike="noStrike" dirty="0">
                          <a:latin typeface="Arial" panose="020B0604020202020204" pitchFamily="34" charset="0"/>
                          <a:ea typeface="微软雅黑" panose="020B0503020204020204" pitchFamily="34" charset="-122"/>
                          <a:sym typeface="Arial" panose="020B0604020202020204" pitchFamily="34" charset="0"/>
                        </a:rPr>
                        <a:t>2017</a:t>
                      </a:r>
                      <a:r>
                        <a:rPr lang="zh-CN" altLang="en-US" sz="800" u="none" strike="noStrike" dirty="0">
                          <a:latin typeface="Arial" panose="020B0604020202020204" pitchFamily="34" charset="0"/>
                          <a:ea typeface="微软雅黑" panose="020B0503020204020204" pitchFamily="34" charset="-122"/>
                          <a:sym typeface="Arial" panose="020B0604020202020204" pitchFamily="34" charset="0"/>
                        </a:rPr>
                        <a:t>年上</a:t>
                      </a:r>
                      <a:endParaRPr lang="zh-CN" altLang="en-US" sz="800" b="1"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r>
              <a:tr h="315035">
                <a:tc>
                  <a:txBody>
                    <a:bodyPr/>
                    <a:lstStyle/>
                    <a:p>
                      <a:pPr algn="ctr" fontAlgn="ctr"/>
                      <a:r>
                        <a:rPr lang="zh-CN" altLang="en-US" sz="800" u="none" strike="noStrike">
                          <a:latin typeface="Arial" panose="020B0604020202020204" pitchFamily="34" charset="0"/>
                          <a:ea typeface="微软雅黑" panose="020B0503020204020204" pitchFamily="34" charset="-122"/>
                          <a:sym typeface="Arial" panose="020B0604020202020204" pitchFamily="34" charset="0"/>
                        </a:rPr>
                        <a:t>  短期借款</a:t>
                      </a:r>
                      <a:endParaRPr lang="zh-CN" altLang="en-US" sz="800" b="0" i="0" u="none" strike="noStrike">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c>
                  <a:txBody>
                    <a:bodyPr/>
                    <a:lstStyle/>
                    <a:p>
                      <a:pPr algn="ctr" fontAlgn="ctr"/>
                      <a:endParaRPr lang="en-US" altLang="zh-CN" sz="8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c>
                  <a:txBody>
                    <a:bodyPr/>
                    <a:lstStyle/>
                    <a:p>
                      <a:pPr algn="ctr" fontAlgn="ctr"/>
                      <a:endParaRPr lang="en-US" altLang="zh-CN" sz="8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c>
                  <a:txBody>
                    <a:bodyPr/>
                    <a:lstStyle/>
                    <a:p>
                      <a:pPr algn="ctr" fontAlgn="ctr"/>
                      <a:endParaRPr lang="en-US" altLang="zh-CN" sz="800" b="0" i="0" u="none" strike="noStrike">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c>
                  <a:txBody>
                    <a:bodyPr/>
                    <a:lstStyle/>
                    <a:p>
                      <a:pPr algn="ctr" fontAlgn="ctr"/>
                      <a:endParaRPr lang="en-US" altLang="zh-CN" sz="800" b="0" i="0" u="none" strike="noStrike">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r>
              <a:tr h="324038">
                <a:tc>
                  <a:txBody>
                    <a:bodyPr/>
                    <a:lstStyle/>
                    <a:p>
                      <a:pPr algn="ctr" fontAlgn="ctr"/>
                      <a:r>
                        <a:rPr lang="zh-CN" altLang="en-US" sz="800" u="none" strike="noStrike">
                          <a:latin typeface="Arial" panose="020B0604020202020204" pitchFamily="34" charset="0"/>
                          <a:ea typeface="微软雅黑" panose="020B0503020204020204" pitchFamily="34" charset="-122"/>
                          <a:sym typeface="Arial" panose="020B0604020202020204" pitchFamily="34" charset="0"/>
                        </a:rPr>
                        <a:t>  应付账款</a:t>
                      </a:r>
                      <a:endParaRPr lang="zh-CN" altLang="en-US" sz="800" b="0" i="0" u="none" strike="noStrike">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c>
                  <a:txBody>
                    <a:bodyPr/>
                    <a:lstStyle/>
                    <a:p>
                      <a:pPr algn="ctr" fontAlgn="ctr"/>
                      <a:endParaRPr lang="en-US" altLang="zh-CN" sz="8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c>
                  <a:txBody>
                    <a:bodyPr/>
                    <a:lstStyle/>
                    <a:p>
                      <a:pPr algn="ctr" fontAlgn="ctr"/>
                      <a:endParaRPr lang="en-US" altLang="zh-CN" sz="8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c>
                  <a:txBody>
                    <a:bodyPr/>
                    <a:lstStyle/>
                    <a:p>
                      <a:pPr algn="ctr" fontAlgn="ctr"/>
                      <a:endParaRPr lang="en-US" altLang="zh-CN" sz="800" b="0" i="0" u="none" strike="noStrike">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c>
                  <a:txBody>
                    <a:bodyPr/>
                    <a:lstStyle/>
                    <a:p>
                      <a:pPr algn="ctr" fontAlgn="ctr"/>
                      <a:endParaRPr lang="en-US" altLang="zh-CN" sz="800" b="0" i="0" u="none" strike="noStrike">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r>
              <a:tr h="324038">
                <a:tc>
                  <a:txBody>
                    <a:bodyPr/>
                    <a:lstStyle/>
                    <a:p>
                      <a:pPr algn="ctr" fontAlgn="ctr"/>
                      <a:r>
                        <a:rPr lang="zh-CN" altLang="en-US" sz="800" u="none" strike="noStrike">
                          <a:latin typeface="Arial" panose="020B0604020202020204" pitchFamily="34" charset="0"/>
                          <a:ea typeface="微软雅黑" panose="020B0503020204020204" pitchFamily="34" charset="-122"/>
                          <a:sym typeface="Arial" panose="020B0604020202020204" pitchFamily="34" charset="0"/>
                        </a:rPr>
                        <a:t>  预收账款</a:t>
                      </a:r>
                      <a:endParaRPr lang="zh-CN" altLang="en-US" sz="800" b="0" i="0" u="none" strike="noStrike">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c>
                  <a:txBody>
                    <a:bodyPr/>
                    <a:lstStyle/>
                    <a:p>
                      <a:pPr algn="ctr" fontAlgn="ctr"/>
                      <a:endParaRPr lang="en-US" altLang="zh-CN" sz="800" b="0" i="0" u="none" strike="noStrike">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c>
                  <a:txBody>
                    <a:bodyPr/>
                    <a:lstStyle/>
                    <a:p>
                      <a:pPr algn="ctr" fontAlgn="ctr"/>
                      <a:endParaRPr lang="en-US" altLang="zh-CN" sz="8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c>
                  <a:txBody>
                    <a:bodyPr/>
                    <a:lstStyle/>
                    <a:p>
                      <a:pPr algn="ctr" fontAlgn="ctr"/>
                      <a:endParaRPr lang="en-US" altLang="zh-CN" sz="800" b="0" i="0" u="none" strike="noStrike">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c>
                  <a:txBody>
                    <a:bodyPr/>
                    <a:lstStyle/>
                    <a:p>
                      <a:pPr algn="ctr" fontAlgn="ctr"/>
                      <a:endParaRPr lang="en-US" altLang="zh-CN" sz="800" b="0" i="0" u="none" strike="noStrike">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r>
              <a:tr h="324038">
                <a:tc>
                  <a:txBody>
                    <a:bodyPr/>
                    <a:lstStyle/>
                    <a:p>
                      <a:pPr algn="ctr" fontAlgn="ctr"/>
                      <a:r>
                        <a:rPr lang="zh-CN" altLang="en-US" sz="800" u="none" strike="noStrike">
                          <a:latin typeface="Arial" panose="020B0604020202020204" pitchFamily="34" charset="0"/>
                          <a:ea typeface="微软雅黑" panose="020B0503020204020204" pitchFamily="34" charset="-122"/>
                          <a:sym typeface="Arial" panose="020B0604020202020204" pitchFamily="34" charset="0"/>
                        </a:rPr>
                        <a:t>  应付职工薪酬</a:t>
                      </a:r>
                      <a:endParaRPr lang="zh-CN" altLang="en-US" sz="800" b="0" i="0" u="none" strike="noStrike">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c>
                  <a:txBody>
                    <a:bodyPr/>
                    <a:lstStyle/>
                    <a:p>
                      <a:pPr algn="ctr" fontAlgn="ctr"/>
                      <a:endParaRPr lang="en-US" altLang="zh-CN" sz="800" b="0" i="0" u="none" strike="noStrike">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c>
                  <a:txBody>
                    <a:bodyPr/>
                    <a:lstStyle/>
                    <a:p>
                      <a:pPr algn="ctr" fontAlgn="ctr"/>
                      <a:endParaRPr lang="en-US" altLang="zh-CN" sz="8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c>
                  <a:txBody>
                    <a:bodyPr/>
                    <a:lstStyle/>
                    <a:p>
                      <a:pPr algn="ctr" fontAlgn="ctr"/>
                      <a:endParaRPr lang="en-US" altLang="zh-CN" sz="800" b="0" i="0" u="none" strike="noStrike">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c>
                  <a:txBody>
                    <a:bodyPr/>
                    <a:lstStyle/>
                    <a:p>
                      <a:pPr algn="ctr" fontAlgn="ctr"/>
                      <a:endParaRPr lang="en-US" altLang="zh-CN" sz="800" b="0" i="0" u="none" strike="noStrike">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r>
              <a:tr h="324032">
                <a:tc>
                  <a:txBody>
                    <a:bodyPr/>
                    <a:lstStyle/>
                    <a:p>
                      <a:pPr algn="ctr" fontAlgn="ctr"/>
                      <a:r>
                        <a:rPr lang="zh-CN" altLang="en-US" sz="800" u="none" strike="noStrike">
                          <a:latin typeface="Arial" panose="020B0604020202020204" pitchFamily="34" charset="0"/>
                          <a:ea typeface="微软雅黑" panose="020B0503020204020204" pitchFamily="34" charset="-122"/>
                          <a:sym typeface="Arial" panose="020B0604020202020204" pitchFamily="34" charset="0"/>
                        </a:rPr>
                        <a:t>  应交税费</a:t>
                      </a:r>
                      <a:endParaRPr lang="zh-CN" altLang="en-US" sz="800" b="0" i="0" u="none" strike="noStrike">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c>
                  <a:txBody>
                    <a:bodyPr/>
                    <a:lstStyle/>
                    <a:p>
                      <a:pPr algn="ctr" fontAlgn="ctr"/>
                      <a:endParaRPr lang="en-US" altLang="zh-CN" sz="800" b="0" i="0" u="none" strike="noStrike">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c>
                  <a:txBody>
                    <a:bodyPr/>
                    <a:lstStyle/>
                    <a:p>
                      <a:pPr algn="ctr" fontAlgn="ctr"/>
                      <a:endParaRPr lang="en-US" altLang="zh-CN" sz="8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c>
                  <a:txBody>
                    <a:bodyPr/>
                    <a:lstStyle/>
                    <a:p>
                      <a:pPr algn="ctr" fontAlgn="ctr"/>
                      <a:endParaRPr lang="en-US" altLang="zh-CN" sz="8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c>
                  <a:txBody>
                    <a:bodyPr/>
                    <a:lstStyle/>
                    <a:p>
                      <a:pPr algn="ctr" fontAlgn="ctr"/>
                      <a:endParaRPr lang="en-US" altLang="zh-CN" sz="800" b="0" i="0" u="none" strike="noStrike">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r>
              <a:tr h="270030">
                <a:tc>
                  <a:txBody>
                    <a:bodyPr/>
                    <a:lstStyle/>
                    <a:p>
                      <a:pPr algn="ctr" fontAlgn="ctr"/>
                      <a:r>
                        <a:rPr lang="zh-CN" altLang="en-US" sz="800" u="none" strike="noStrike">
                          <a:latin typeface="Arial" panose="020B0604020202020204" pitchFamily="34" charset="0"/>
                          <a:ea typeface="微软雅黑" panose="020B0503020204020204" pitchFamily="34" charset="-122"/>
                          <a:sym typeface="Arial" panose="020B0604020202020204" pitchFamily="34" charset="0"/>
                        </a:rPr>
                        <a:t>  应付利息</a:t>
                      </a:r>
                      <a:endParaRPr lang="zh-CN" altLang="en-US" sz="800" b="0" i="0" u="none" strike="noStrike">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c>
                  <a:txBody>
                    <a:bodyPr/>
                    <a:lstStyle/>
                    <a:p>
                      <a:pPr algn="ctr" fontAlgn="ctr"/>
                      <a:endParaRPr lang="en-US" altLang="zh-CN" sz="800" b="0" i="0" u="none" strike="noStrike">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c>
                  <a:txBody>
                    <a:bodyPr/>
                    <a:lstStyle/>
                    <a:p>
                      <a:pPr algn="ctr" fontAlgn="ctr"/>
                      <a:endParaRPr lang="en-US" altLang="zh-CN" sz="800" b="0" i="0" u="none" strike="noStrike">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c>
                  <a:txBody>
                    <a:bodyPr/>
                    <a:lstStyle/>
                    <a:p>
                      <a:pPr algn="ctr" fontAlgn="ctr"/>
                      <a:endParaRPr lang="en-US" altLang="zh-CN" sz="8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c>
                  <a:txBody>
                    <a:bodyPr/>
                    <a:lstStyle/>
                    <a:p>
                      <a:pPr algn="ctr" fontAlgn="ctr"/>
                      <a:endParaRPr lang="en-US" altLang="zh-CN" sz="8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r>
              <a:tr h="270030">
                <a:tc>
                  <a:txBody>
                    <a:bodyPr/>
                    <a:lstStyle/>
                    <a:p>
                      <a:pPr algn="ctr" fontAlgn="ctr"/>
                      <a:r>
                        <a:rPr lang="zh-CN" altLang="en-US" sz="800" u="none" strike="noStrike">
                          <a:latin typeface="Arial" panose="020B0604020202020204" pitchFamily="34" charset="0"/>
                          <a:ea typeface="微软雅黑" panose="020B0503020204020204" pitchFamily="34" charset="-122"/>
                          <a:sym typeface="Arial" panose="020B0604020202020204" pitchFamily="34" charset="0"/>
                        </a:rPr>
                        <a:t>  其他应付款</a:t>
                      </a:r>
                      <a:endParaRPr lang="zh-CN" altLang="en-US" sz="800" b="0" i="0" u="none" strike="noStrike">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c>
                  <a:txBody>
                    <a:bodyPr/>
                    <a:lstStyle/>
                    <a:p>
                      <a:pPr algn="ctr" fontAlgn="ctr"/>
                      <a:endParaRPr lang="en-US" altLang="zh-CN" sz="800" b="0" i="0" u="none" strike="noStrike">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c>
                  <a:txBody>
                    <a:bodyPr/>
                    <a:lstStyle/>
                    <a:p>
                      <a:pPr algn="ctr" fontAlgn="ctr"/>
                      <a:endParaRPr lang="en-US" altLang="zh-CN" sz="800" b="0" i="0" u="none" strike="noStrike">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c>
                  <a:txBody>
                    <a:bodyPr/>
                    <a:lstStyle/>
                    <a:p>
                      <a:pPr algn="ctr" fontAlgn="ctr"/>
                      <a:endParaRPr lang="en-US" altLang="zh-CN" sz="800" b="0" i="0" u="none" strike="noStrike">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c>
                  <a:txBody>
                    <a:bodyPr/>
                    <a:lstStyle/>
                    <a:p>
                      <a:pPr algn="ctr" fontAlgn="ctr"/>
                      <a:endParaRPr lang="en-US" altLang="zh-CN" sz="8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r>
            </a:tbl>
          </a:graphicData>
        </a:graphic>
      </p:graphicFrame>
      <p:sp>
        <p:nvSpPr>
          <p:cNvPr id="13" name="TextBox 11"/>
          <p:cNvSpPr txBox="1"/>
          <p:nvPr/>
        </p:nvSpPr>
        <p:spPr>
          <a:xfrm>
            <a:off x="1043608" y="3651870"/>
            <a:ext cx="6210690" cy="1131079"/>
          </a:xfrm>
          <a:prstGeom prst="rect">
            <a:avLst/>
          </a:prstGeom>
          <a:noFill/>
        </p:spPr>
        <p:txBody>
          <a:bodyPr wrap="square" rtlCol="0">
            <a:spAutoFit/>
          </a:bodyPr>
          <a:lstStyle/>
          <a:p>
            <a:r>
              <a:rPr lang="zh-CN" altLang="en-US" sz="1350" dirty="0">
                <a:solidFill>
                  <a:schemeClr val="tx1">
                    <a:lumMod val="85000"/>
                    <a:lumOff val="15000"/>
                  </a:schemeClr>
                </a:solidFill>
                <a:latin typeface="Arial" panose="020B0604020202020204" pitchFamily="34" charset="0"/>
                <a:ea typeface="微软雅黑" panose="020B0503020204020204" pitchFamily="34" charset="-122"/>
                <a:sym typeface="Arial" panose="020B0604020202020204" pitchFamily="34" charset="0"/>
              </a:rPr>
              <a:t>分析：</a:t>
            </a:r>
            <a:r>
              <a:rPr lang="en-US" altLang="zh-CN" sz="1350" dirty="0">
                <a:solidFill>
                  <a:schemeClr val="tx1">
                    <a:lumMod val="85000"/>
                    <a:lumOff val="15000"/>
                  </a:schemeClr>
                </a:solidFill>
                <a:latin typeface="Arial" panose="020B0604020202020204" pitchFamily="34" charset="0"/>
                <a:ea typeface="微软雅黑" panose="020B0503020204020204" pitchFamily="34" charset="-122"/>
                <a:sym typeface="Arial" panose="020B0604020202020204" pitchFamily="34" charset="0"/>
              </a:rPr>
              <a:t>1</a:t>
            </a:r>
            <a:r>
              <a:rPr lang="zh-CN" altLang="en-US" sz="1350" dirty="0">
                <a:solidFill>
                  <a:schemeClr val="tx1">
                    <a:lumMod val="85000"/>
                    <a:lumOff val="15000"/>
                  </a:schemeClr>
                </a:solidFill>
                <a:latin typeface="Arial" panose="020B0604020202020204" pitchFamily="34" charset="0"/>
                <a:ea typeface="微软雅黑" panose="020B0503020204020204" pitchFamily="34" charset="-122"/>
                <a:sym typeface="Arial" panose="020B0604020202020204" pitchFamily="34" charset="0"/>
              </a:rPr>
              <a:t>、在</a:t>
            </a:r>
            <a:r>
              <a:rPr lang="en-US" altLang="zh-CN" sz="1350" dirty="0">
                <a:solidFill>
                  <a:schemeClr val="tx1">
                    <a:lumMod val="85000"/>
                    <a:lumOff val="15000"/>
                  </a:schemeClr>
                </a:solidFill>
                <a:latin typeface="Arial" panose="020B0604020202020204" pitchFamily="34" charset="0"/>
                <a:ea typeface="微软雅黑" panose="020B0503020204020204" pitchFamily="34" charset="-122"/>
                <a:sym typeface="Arial" panose="020B0604020202020204" pitchFamily="34" charset="0"/>
              </a:rPr>
              <a:t>2017</a:t>
            </a:r>
            <a:r>
              <a:rPr lang="zh-CN" altLang="en-US" sz="1350" dirty="0">
                <a:solidFill>
                  <a:schemeClr val="tx1">
                    <a:lumMod val="85000"/>
                    <a:lumOff val="15000"/>
                  </a:schemeClr>
                </a:solidFill>
                <a:latin typeface="Arial" panose="020B0604020202020204" pitchFamily="34" charset="0"/>
                <a:ea typeface="微软雅黑" panose="020B0503020204020204" pitchFamily="34" charset="-122"/>
                <a:sym typeface="Arial" panose="020B0604020202020204" pitchFamily="34" charset="0"/>
              </a:rPr>
              <a:t>年上的中有万元实为待确认的应收账款占资产总额的</a:t>
            </a:r>
            <a:r>
              <a:rPr lang="en-US" altLang="zh-CN" sz="1350" dirty="0">
                <a:solidFill>
                  <a:schemeClr val="tx1">
                    <a:lumMod val="85000"/>
                    <a:lumOff val="15000"/>
                  </a:schemeClr>
                </a:solidFill>
                <a:latin typeface="Arial" panose="020B0604020202020204" pitchFamily="34" charset="0"/>
                <a:ea typeface="微软雅黑" panose="020B0503020204020204" pitchFamily="34" charset="-122"/>
                <a:sym typeface="Arial" panose="020B0604020202020204" pitchFamily="34" charset="0"/>
              </a:rPr>
              <a:t>%</a:t>
            </a:r>
            <a:r>
              <a:rPr lang="zh-CN" altLang="en-US" sz="1350" dirty="0">
                <a:solidFill>
                  <a:schemeClr val="tx1">
                    <a:lumMod val="85000"/>
                    <a:lumOff val="15000"/>
                  </a:schemeClr>
                </a:solidFill>
                <a:latin typeface="Arial" panose="020B0604020202020204" pitchFamily="34" charset="0"/>
                <a:ea typeface="微软雅黑" panose="020B0503020204020204" pitchFamily="34" charset="-122"/>
                <a:sym typeface="Arial" panose="020B0604020202020204" pitchFamily="34" charset="0"/>
              </a:rPr>
              <a:t>，存货占资产总额</a:t>
            </a:r>
            <a:r>
              <a:rPr lang="en-US" altLang="zh-CN" sz="1350" dirty="0">
                <a:solidFill>
                  <a:schemeClr val="tx1">
                    <a:lumMod val="85000"/>
                    <a:lumOff val="15000"/>
                  </a:schemeClr>
                </a:solidFill>
                <a:latin typeface="Arial" panose="020B0604020202020204" pitchFamily="34" charset="0"/>
                <a:ea typeface="微软雅黑" panose="020B0503020204020204" pitchFamily="34" charset="-122"/>
                <a:sym typeface="Arial" panose="020B0604020202020204" pitchFamily="34" charset="0"/>
              </a:rPr>
              <a:t>1%</a:t>
            </a:r>
            <a:r>
              <a:rPr lang="zh-CN" altLang="en-US" sz="1350" dirty="0">
                <a:solidFill>
                  <a:schemeClr val="tx1">
                    <a:lumMod val="85000"/>
                    <a:lumOff val="15000"/>
                  </a:schemeClr>
                </a:solidFill>
                <a:latin typeface="Arial" panose="020B0604020202020204" pitchFamily="34" charset="0"/>
                <a:ea typeface="微软雅黑" panose="020B0503020204020204" pitchFamily="34" charset="-122"/>
                <a:sym typeface="Arial" panose="020B0604020202020204" pitchFamily="34" charset="0"/>
              </a:rPr>
              <a:t>，应收已成为资产总额的总大占比，应收压力大，影响我司资金流。</a:t>
            </a:r>
            <a:endParaRPr lang="en-US" altLang="zh-CN" sz="1350" dirty="0">
              <a:solidFill>
                <a:schemeClr val="tx1">
                  <a:lumMod val="85000"/>
                  <a:lumOff val="15000"/>
                </a:schemeClr>
              </a:solidFill>
              <a:latin typeface="Arial" panose="020B0604020202020204" pitchFamily="34" charset="0"/>
              <a:ea typeface="微软雅黑" panose="020B0503020204020204" pitchFamily="34" charset="-122"/>
              <a:sym typeface="Arial" panose="020B0604020202020204" pitchFamily="34" charset="0"/>
            </a:endParaRPr>
          </a:p>
          <a:p>
            <a:r>
              <a:rPr lang="en-US" altLang="zh-CN" sz="1350" dirty="0">
                <a:solidFill>
                  <a:schemeClr val="tx1">
                    <a:lumMod val="85000"/>
                    <a:lumOff val="15000"/>
                  </a:schemeClr>
                </a:solidFill>
                <a:latin typeface="Arial" panose="020B0604020202020204" pitchFamily="34" charset="0"/>
                <a:ea typeface="微软雅黑" panose="020B0503020204020204" pitchFamily="34" charset="-122"/>
                <a:sym typeface="Arial" panose="020B0604020202020204" pitchFamily="34" charset="0"/>
              </a:rPr>
              <a:t>      2</a:t>
            </a:r>
            <a:r>
              <a:rPr lang="zh-CN" altLang="en-US" sz="1350" dirty="0">
                <a:solidFill>
                  <a:schemeClr val="tx1">
                    <a:lumMod val="85000"/>
                    <a:lumOff val="15000"/>
                  </a:schemeClr>
                </a:solidFill>
                <a:latin typeface="Arial" panose="020B0604020202020204" pitchFamily="34" charset="0"/>
                <a:ea typeface="微软雅黑" panose="020B0503020204020204" pitchFamily="34" charset="-122"/>
                <a:sym typeface="Arial" panose="020B0604020202020204" pitchFamily="34" charset="0"/>
              </a:rPr>
              <a:t>、</a:t>
            </a:r>
            <a:r>
              <a:rPr lang="en-US" altLang="zh-CN" sz="1350" dirty="0">
                <a:solidFill>
                  <a:schemeClr val="tx1">
                    <a:lumMod val="85000"/>
                    <a:lumOff val="15000"/>
                  </a:schemeClr>
                </a:solidFill>
                <a:latin typeface="Arial" panose="020B0604020202020204" pitchFamily="34" charset="0"/>
                <a:ea typeface="微软雅黑" panose="020B0503020204020204" pitchFamily="34" charset="-122"/>
                <a:sym typeface="Arial" panose="020B0604020202020204" pitchFamily="34" charset="0"/>
              </a:rPr>
              <a:t>2014-2017</a:t>
            </a:r>
            <a:r>
              <a:rPr lang="zh-CN" altLang="en-US" sz="1350" dirty="0">
                <a:solidFill>
                  <a:schemeClr val="tx1">
                    <a:lumMod val="85000"/>
                    <a:lumOff val="15000"/>
                  </a:schemeClr>
                </a:solidFill>
                <a:latin typeface="Arial" panose="020B0604020202020204" pitchFamily="34" charset="0"/>
                <a:ea typeface="微软雅黑" panose="020B0503020204020204" pitchFamily="34" charset="-122"/>
                <a:sym typeface="Arial" panose="020B0604020202020204" pitchFamily="34" charset="0"/>
              </a:rPr>
              <a:t>年占资产总额的平均比重约为</a:t>
            </a:r>
            <a:r>
              <a:rPr lang="en-US" altLang="zh-CN" sz="1350" dirty="0">
                <a:solidFill>
                  <a:schemeClr val="tx1">
                    <a:lumMod val="85000"/>
                    <a:lumOff val="15000"/>
                  </a:schemeClr>
                </a:solidFill>
                <a:latin typeface="Arial" panose="020B0604020202020204" pitchFamily="34" charset="0"/>
                <a:ea typeface="微软雅黑" panose="020B0503020204020204" pitchFamily="34" charset="-122"/>
                <a:sym typeface="Arial" panose="020B0604020202020204" pitchFamily="34" charset="0"/>
              </a:rPr>
              <a:t>%</a:t>
            </a:r>
            <a:r>
              <a:rPr lang="zh-CN" altLang="en-US" sz="1350" dirty="0">
                <a:solidFill>
                  <a:schemeClr val="tx1">
                    <a:lumMod val="85000"/>
                    <a:lumOff val="15000"/>
                  </a:schemeClr>
                </a:solidFill>
                <a:latin typeface="Arial" panose="020B0604020202020204" pitchFamily="34" charset="0"/>
                <a:ea typeface="微软雅黑" panose="020B0503020204020204" pitchFamily="34" charset="-122"/>
                <a:sym typeface="Arial" panose="020B0604020202020204" pitchFamily="34" charset="0"/>
              </a:rPr>
              <a:t>，在做好资金计划的情况下，可考虑做部份理财，赚取额外收益。</a:t>
            </a:r>
          </a:p>
        </p:txBody>
      </p:sp>
    </p:spTree>
  </p:cSld>
  <p:clrMapOvr>
    <a:masterClrMapping/>
  </p:clrMapOvr>
  <p:transition spd="slow" advClick="0" advTm="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1000"/>
                                        <p:tgtEl>
                                          <p:spTgt spid="11"/>
                                        </p:tgtEl>
                                      </p:cBhvr>
                                    </p:animEffect>
                                    <p:anim calcmode="lin" valueType="num">
                                      <p:cBhvr>
                                        <p:cTn id="14" dur="1000" fill="hold"/>
                                        <p:tgtEl>
                                          <p:spTgt spid="11"/>
                                        </p:tgtEl>
                                        <p:attrNameLst>
                                          <p:attrName>ppt_x</p:attrName>
                                        </p:attrNameLst>
                                      </p:cBhvr>
                                      <p:tavLst>
                                        <p:tav tm="0">
                                          <p:val>
                                            <p:strVal val="#ppt_x"/>
                                          </p:val>
                                        </p:tav>
                                        <p:tav tm="100000">
                                          <p:val>
                                            <p:strVal val="#ppt_x"/>
                                          </p:val>
                                        </p:tav>
                                      </p:tavLst>
                                    </p:anim>
                                    <p:anim calcmode="lin" valueType="num">
                                      <p:cBhvr>
                                        <p:cTn id="15" dur="1000" fill="hold"/>
                                        <p:tgtEl>
                                          <p:spTgt spid="11"/>
                                        </p:tgtEl>
                                        <p:attrNameLst>
                                          <p:attrName>ppt_y</p:attrName>
                                        </p:attrNameLst>
                                      </p:cBhvr>
                                      <p:tavLst>
                                        <p:tav tm="0">
                                          <p:val>
                                            <p:strVal val="#ppt_y+.1"/>
                                          </p:val>
                                        </p:tav>
                                        <p:tav tm="100000">
                                          <p:val>
                                            <p:strVal val="#ppt_y"/>
                                          </p:val>
                                        </p:tav>
                                      </p:tavLst>
                                    </p:anim>
                                  </p:childTnLst>
                                </p:cTn>
                              </p:par>
                              <p:par>
                                <p:cTn id="16" presetID="42" presetClass="entr" presetSubtype="0" fill="hold"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1000"/>
                                        <p:tgtEl>
                                          <p:spTgt spid="12"/>
                                        </p:tgtEl>
                                      </p:cBhvr>
                                    </p:animEffect>
                                    <p:anim calcmode="lin" valueType="num">
                                      <p:cBhvr>
                                        <p:cTn id="19" dur="1000" fill="hold"/>
                                        <p:tgtEl>
                                          <p:spTgt spid="12"/>
                                        </p:tgtEl>
                                        <p:attrNameLst>
                                          <p:attrName>ppt_x</p:attrName>
                                        </p:attrNameLst>
                                      </p:cBhvr>
                                      <p:tavLst>
                                        <p:tav tm="0">
                                          <p:val>
                                            <p:strVal val="#ppt_x"/>
                                          </p:val>
                                        </p:tav>
                                        <p:tav tm="100000">
                                          <p:val>
                                            <p:strVal val="#ppt_x"/>
                                          </p:val>
                                        </p:tav>
                                      </p:tavLst>
                                    </p:anim>
                                    <p:anim calcmode="lin" valueType="num">
                                      <p:cBhvr>
                                        <p:cTn id="20" dur="1000" fill="hold"/>
                                        <p:tgtEl>
                                          <p:spTgt spid="12"/>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1000"/>
                                        <p:tgtEl>
                                          <p:spTgt spid="13"/>
                                        </p:tgtEl>
                                      </p:cBhvr>
                                    </p:animEffect>
                                    <p:anim calcmode="lin" valueType="num">
                                      <p:cBhvr>
                                        <p:cTn id="24" dur="1000" fill="hold"/>
                                        <p:tgtEl>
                                          <p:spTgt spid="13"/>
                                        </p:tgtEl>
                                        <p:attrNameLst>
                                          <p:attrName>ppt_x</p:attrName>
                                        </p:attrNameLst>
                                      </p:cBhvr>
                                      <p:tavLst>
                                        <p:tav tm="0">
                                          <p:val>
                                            <p:strVal val="#ppt_x"/>
                                          </p:val>
                                        </p:tav>
                                        <p:tav tm="100000">
                                          <p:val>
                                            <p:strVal val="#ppt_x"/>
                                          </p:val>
                                        </p:tav>
                                      </p:tavLst>
                                    </p:anim>
                                    <p:anim calcmode="lin" valueType="num">
                                      <p:cBhvr>
                                        <p:cTn id="25"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Graphic spid="11" grpId="0">
        <p:bldAsOne/>
      </p:bldGraphic>
      <p:bldP spid="1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txBox="1"/>
          <p:nvPr/>
        </p:nvSpPr>
        <p:spPr>
          <a:xfrm>
            <a:off x="857885" y="195109"/>
            <a:ext cx="2600960" cy="379730"/>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000" b="1" dirty="0">
                <a:solidFill>
                  <a:schemeClr val="tx1"/>
                </a:solidFill>
                <a:latin typeface="Arial" panose="020B0604020202020204" pitchFamily="34" charset="0"/>
                <a:ea typeface="微软雅黑" panose="020B0503020204020204" pitchFamily="34" charset="-122"/>
                <a:sym typeface="Arial" panose="020B0604020202020204" pitchFamily="34" charset="0"/>
              </a:rPr>
              <a:t>3.</a:t>
            </a:r>
            <a:r>
              <a:rPr lang="zh-CN" altLang="en-US" sz="2000" b="1" dirty="0">
                <a:solidFill>
                  <a:schemeClr val="tx1"/>
                </a:solidFill>
                <a:latin typeface="Arial" panose="020B0604020202020204" pitchFamily="34" charset="0"/>
                <a:ea typeface="微软雅黑" panose="020B0503020204020204" pitchFamily="34" charset="-122"/>
                <a:sym typeface="Arial" panose="020B0604020202020204" pitchFamily="34" charset="0"/>
              </a:rPr>
              <a:t>股东权益变动规模</a:t>
            </a:r>
          </a:p>
        </p:txBody>
      </p:sp>
      <p:graphicFrame>
        <p:nvGraphicFramePr>
          <p:cNvPr id="7" name="内容占位符 3"/>
          <p:cNvGraphicFramePr/>
          <p:nvPr/>
        </p:nvGraphicFramePr>
        <p:xfrm>
          <a:off x="1259632" y="1160071"/>
          <a:ext cx="6172200" cy="1691640"/>
        </p:xfrm>
        <a:graphic>
          <a:graphicData uri="http://schemas.openxmlformats.org/drawingml/2006/table">
            <a:tbl>
              <a:tblPr firstRow="1" bandRow="1">
                <a:tableStyleId>{0505E3EF-67EA-436B-97B2-0124C06EBD24}</a:tableStyleId>
              </a:tblPr>
              <a:tblGrid>
                <a:gridCol w="1234440"/>
                <a:gridCol w="1234440"/>
                <a:gridCol w="1234440"/>
                <a:gridCol w="1234440"/>
                <a:gridCol w="1234440"/>
              </a:tblGrid>
              <a:tr h="278130">
                <a:tc>
                  <a:txBody>
                    <a:bodyPr/>
                    <a:lstStyle/>
                    <a:p>
                      <a:pPr algn="ctr"/>
                      <a:r>
                        <a:rPr lang="zh-CN" altLang="en-US" sz="1400" dirty="0">
                          <a:latin typeface="Arial" panose="020B0604020202020204" pitchFamily="34" charset="0"/>
                          <a:ea typeface="微软雅黑" panose="020B0503020204020204" pitchFamily="34" charset="-122"/>
                          <a:sym typeface="Arial" panose="020B0604020202020204" pitchFamily="34" charset="0"/>
                        </a:rPr>
                        <a:t>年份</a:t>
                      </a:r>
                    </a:p>
                  </a:txBody>
                  <a:tcPr marL="68580" marR="68580" marT="34290" marB="34290"/>
                </a:tc>
                <a:tc>
                  <a:txBody>
                    <a:bodyPr/>
                    <a:lstStyle/>
                    <a:p>
                      <a:pPr algn="ctr"/>
                      <a:r>
                        <a:rPr lang="en-US" altLang="zh-CN" sz="1400" dirty="0">
                          <a:latin typeface="Arial" panose="020B0604020202020204" pitchFamily="34" charset="0"/>
                          <a:ea typeface="微软雅黑" panose="020B0503020204020204" pitchFamily="34" charset="-122"/>
                          <a:sym typeface="Arial" panose="020B0604020202020204" pitchFamily="34" charset="0"/>
                        </a:rPr>
                        <a:t>2014</a:t>
                      </a:r>
                      <a:r>
                        <a:rPr lang="zh-CN" altLang="en-US" sz="1400" dirty="0">
                          <a:latin typeface="Arial" panose="020B0604020202020204" pitchFamily="34" charset="0"/>
                          <a:ea typeface="微软雅黑" panose="020B0503020204020204" pitchFamily="34" charset="-122"/>
                          <a:sym typeface="Arial" panose="020B0604020202020204" pitchFamily="34" charset="0"/>
                        </a:rPr>
                        <a:t>年</a:t>
                      </a:r>
                    </a:p>
                  </a:txBody>
                  <a:tcPr marL="68580" marR="68580" marT="34290" marB="34290"/>
                </a:tc>
                <a:tc>
                  <a:txBody>
                    <a:bodyPr/>
                    <a:lstStyle/>
                    <a:p>
                      <a:pPr algn="ctr"/>
                      <a:r>
                        <a:rPr lang="en-US" altLang="zh-CN" sz="1400" dirty="0">
                          <a:latin typeface="Arial" panose="020B0604020202020204" pitchFamily="34" charset="0"/>
                          <a:ea typeface="微软雅黑" panose="020B0503020204020204" pitchFamily="34" charset="-122"/>
                          <a:sym typeface="Arial" panose="020B0604020202020204" pitchFamily="34" charset="0"/>
                        </a:rPr>
                        <a:t>2015</a:t>
                      </a:r>
                      <a:r>
                        <a:rPr lang="zh-CN" altLang="en-US" sz="1400" dirty="0">
                          <a:latin typeface="Arial" panose="020B0604020202020204" pitchFamily="34" charset="0"/>
                          <a:ea typeface="微软雅黑" panose="020B0503020204020204" pitchFamily="34" charset="-122"/>
                          <a:sym typeface="Arial" panose="020B0604020202020204" pitchFamily="34" charset="0"/>
                        </a:rPr>
                        <a:t>年</a:t>
                      </a:r>
                    </a:p>
                  </a:txBody>
                  <a:tcPr marL="68580" marR="68580" marT="34290" marB="34290"/>
                </a:tc>
                <a:tc>
                  <a:txBody>
                    <a:bodyPr/>
                    <a:lstStyle/>
                    <a:p>
                      <a:pPr algn="ctr"/>
                      <a:r>
                        <a:rPr lang="en-US" altLang="zh-CN" sz="1400" dirty="0">
                          <a:latin typeface="Arial" panose="020B0604020202020204" pitchFamily="34" charset="0"/>
                          <a:ea typeface="微软雅黑" panose="020B0503020204020204" pitchFamily="34" charset="-122"/>
                          <a:sym typeface="Arial" panose="020B0604020202020204" pitchFamily="34" charset="0"/>
                        </a:rPr>
                        <a:t>2016</a:t>
                      </a:r>
                      <a:r>
                        <a:rPr lang="zh-CN" altLang="en-US" sz="1400" dirty="0">
                          <a:latin typeface="Arial" panose="020B0604020202020204" pitchFamily="34" charset="0"/>
                          <a:ea typeface="微软雅黑" panose="020B0503020204020204" pitchFamily="34" charset="-122"/>
                          <a:sym typeface="Arial" panose="020B0604020202020204" pitchFamily="34" charset="0"/>
                        </a:rPr>
                        <a:t>年</a:t>
                      </a:r>
                    </a:p>
                  </a:txBody>
                  <a:tcPr marL="68580" marR="68580" marT="34290" marB="34290"/>
                </a:tc>
                <a:tc>
                  <a:txBody>
                    <a:bodyPr/>
                    <a:lstStyle/>
                    <a:p>
                      <a:pPr algn="ctr"/>
                      <a:r>
                        <a:rPr lang="en-US" altLang="zh-CN" sz="1400" dirty="0">
                          <a:latin typeface="Arial" panose="020B0604020202020204" pitchFamily="34" charset="0"/>
                          <a:ea typeface="微软雅黑" panose="020B0503020204020204" pitchFamily="34" charset="-122"/>
                          <a:sym typeface="Arial" panose="020B0604020202020204" pitchFamily="34" charset="0"/>
                        </a:rPr>
                        <a:t>2017</a:t>
                      </a:r>
                      <a:r>
                        <a:rPr lang="zh-CN" altLang="en-US" sz="1400" dirty="0">
                          <a:latin typeface="Arial" panose="020B0604020202020204" pitchFamily="34" charset="0"/>
                          <a:ea typeface="微软雅黑" panose="020B0503020204020204" pitchFamily="34" charset="-122"/>
                          <a:sym typeface="Arial" panose="020B0604020202020204" pitchFamily="34" charset="0"/>
                        </a:rPr>
                        <a:t>年</a:t>
                      </a:r>
                    </a:p>
                  </a:txBody>
                  <a:tcPr marL="68580" marR="68580" marT="34290" marB="34290"/>
                </a:tc>
              </a:tr>
              <a:tr h="278130">
                <a:tc>
                  <a:txBody>
                    <a:bodyPr/>
                    <a:lstStyle/>
                    <a:p>
                      <a:pPr marL="0" algn="ctr" defTabSz="914400" rtl="0" eaLnBrk="1" latinLnBrk="0" hangingPunct="1"/>
                      <a:r>
                        <a:rPr lang="zh-CN" altLang="en-US" sz="1400" kern="1200" dirty="0">
                          <a:solidFill>
                            <a:schemeClr val="dk1"/>
                          </a:solidFill>
                          <a:latin typeface="Arial" panose="020B0604020202020204" pitchFamily="34" charset="0"/>
                          <a:ea typeface="微软雅黑" panose="020B0503020204020204" pitchFamily="34" charset="-122"/>
                          <a:cs typeface="+mn-cs"/>
                          <a:sym typeface="Arial" panose="020B0604020202020204" pitchFamily="34" charset="0"/>
                        </a:rPr>
                        <a:t> 实收资本</a:t>
                      </a:r>
                    </a:p>
                  </a:txBody>
                  <a:tcPr marL="68580" marR="68580" marT="34290" marB="34290"/>
                </a:tc>
                <a:tc>
                  <a:txBody>
                    <a:bodyPr/>
                    <a:lstStyle/>
                    <a:p>
                      <a:pPr algn="ctr" fontAlgn="ctr"/>
                      <a:endParaRPr lang="en-US" altLang="zh-CN" sz="11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c>
                  <a:txBody>
                    <a:bodyPr/>
                    <a:lstStyle/>
                    <a:p>
                      <a:pPr algn="ctr" fontAlgn="ctr"/>
                      <a:endParaRPr lang="en-US" altLang="zh-CN" sz="11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c>
                  <a:txBody>
                    <a:bodyPr/>
                    <a:lstStyle/>
                    <a:p>
                      <a:pPr algn="ctr" fontAlgn="ctr"/>
                      <a:endParaRPr lang="en-US" altLang="zh-CN" sz="11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c>
                  <a:txBody>
                    <a:bodyPr/>
                    <a:lstStyle/>
                    <a:p>
                      <a:pPr algn="ctr" fontAlgn="ctr"/>
                      <a:endParaRPr lang="en-US" altLang="zh-CN" sz="11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r>
              <a:tr h="278130">
                <a:tc>
                  <a:txBody>
                    <a:bodyPr/>
                    <a:lstStyle/>
                    <a:p>
                      <a:pPr marL="0" algn="ctr" defTabSz="914400" rtl="0" eaLnBrk="1" latinLnBrk="0" hangingPunct="1"/>
                      <a:r>
                        <a:rPr lang="zh-CN" altLang="en-US" sz="1400" kern="1200" dirty="0">
                          <a:solidFill>
                            <a:schemeClr val="dk1"/>
                          </a:solidFill>
                          <a:latin typeface="Arial" panose="020B0604020202020204" pitchFamily="34" charset="0"/>
                          <a:ea typeface="微软雅黑" panose="020B0503020204020204" pitchFamily="34" charset="-122"/>
                          <a:cs typeface="+mn-cs"/>
                          <a:sym typeface="Arial" panose="020B0604020202020204" pitchFamily="34" charset="0"/>
                        </a:rPr>
                        <a:t> 资本公积</a:t>
                      </a:r>
                    </a:p>
                  </a:txBody>
                  <a:tcPr marL="68580" marR="68580" marT="34290" marB="34290"/>
                </a:tc>
                <a:tc>
                  <a:txBody>
                    <a:bodyPr/>
                    <a:lstStyle/>
                    <a:p>
                      <a:pPr algn="ctr" fontAlgn="ctr"/>
                      <a:endParaRPr lang="en-US" altLang="zh-CN" sz="11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c>
                  <a:txBody>
                    <a:bodyPr/>
                    <a:lstStyle/>
                    <a:p>
                      <a:pPr algn="ctr" fontAlgn="ctr"/>
                      <a:endParaRPr lang="en-US" altLang="zh-CN" sz="11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c>
                  <a:txBody>
                    <a:bodyPr/>
                    <a:lstStyle/>
                    <a:p>
                      <a:pPr algn="ctr" fontAlgn="ctr"/>
                      <a:endParaRPr lang="en-US" altLang="zh-CN" sz="11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c>
                  <a:txBody>
                    <a:bodyPr/>
                    <a:lstStyle/>
                    <a:p>
                      <a:pPr algn="ctr" fontAlgn="ctr"/>
                      <a:endParaRPr lang="en-US" altLang="zh-CN" sz="11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r>
              <a:tr h="278130">
                <a:tc>
                  <a:txBody>
                    <a:bodyPr/>
                    <a:lstStyle/>
                    <a:p>
                      <a:pPr marL="0" algn="ctr" defTabSz="914400" rtl="0" eaLnBrk="1" latinLnBrk="0" hangingPunct="1"/>
                      <a:r>
                        <a:rPr lang="zh-CN" altLang="en-US" sz="1400" kern="1200" dirty="0">
                          <a:solidFill>
                            <a:schemeClr val="dk1"/>
                          </a:solidFill>
                          <a:latin typeface="Arial" panose="020B0604020202020204" pitchFamily="34" charset="0"/>
                          <a:ea typeface="微软雅黑" panose="020B0503020204020204" pitchFamily="34" charset="-122"/>
                          <a:cs typeface="+mn-cs"/>
                          <a:sym typeface="Arial" panose="020B0604020202020204" pitchFamily="34" charset="0"/>
                        </a:rPr>
                        <a:t> 盈余公积</a:t>
                      </a:r>
                    </a:p>
                  </a:txBody>
                  <a:tcPr marL="68580" marR="68580" marT="34290" marB="34290"/>
                </a:tc>
                <a:tc>
                  <a:txBody>
                    <a:bodyPr/>
                    <a:lstStyle/>
                    <a:p>
                      <a:pPr algn="ctr" fontAlgn="ctr"/>
                      <a:endParaRPr lang="en-US" altLang="zh-CN" sz="11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c>
                  <a:txBody>
                    <a:bodyPr/>
                    <a:lstStyle/>
                    <a:p>
                      <a:pPr algn="ctr" fontAlgn="ctr"/>
                      <a:endParaRPr lang="en-US" altLang="zh-CN" sz="11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c>
                  <a:txBody>
                    <a:bodyPr/>
                    <a:lstStyle/>
                    <a:p>
                      <a:pPr algn="ctr" fontAlgn="ctr"/>
                      <a:endParaRPr lang="en-US" altLang="zh-CN" sz="11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c>
                  <a:txBody>
                    <a:bodyPr/>
                    <a:lstStyle/>
                    <a:p>
                      <a:pPr algn="l" fontAlgn="ctr"/>
                      <a:endParaRPr lang="en-US" altLang="zh-CN" sz="11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r>
              <a:tr h="278130">
                <a:tc>
                  <a:txBody>
                    <a:bodyPr/>
                    <a:lstStyle/>
                    <a:p>
                      <a:pPr marL="0" algn="ctr" defTabSz="914400" rtl="0" eaLnBrk="1" latinLnBrk="0" hangingPunct="1"/>
                      <a:r>
                        <a:rPr lang="zh-CN" altLang="en-US" sz="1400" kern="1200" dirty="0">
                          <a:solidFill>
                            <a:schemeClr val="dk1"/>
                          </a:solidFill>
                          <a:latin typeface="Arial" panose="020B0604020202020204" pitchFamily="34" charset="0"/>
                          <a:ea typeface="微软雅黑" panose="020B0503020204020204" pitchFamily="34" charset="-122"/>
                          <a:cs typeface="+mn-cs"/>
                          <a:sym typeface="Arial" panose="020B0604020202020204" pitchFamily="34" charset="0"/>
                        </a:rPr>
                        <a:t> 未分配利润</a:t>
                      </a:r>
                    </a:p>
                  </a:txBody>
                  <a:tcPr marL="68580" marR="68580" marT="34290" marB="34290"/>
                </a:tc>
                <a:tc>
                  <a:txBody>
                    <a:bodyPr/>
                    <a:lstStyle/>
                    <a:p>
                      <a:pPr algn="ctr" fontAlgn="ctr"/>
                      <a:endParaRPr lang="en-US" altLang="zh-CN" sz="11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c>
                  <a:txBody>
                    <a:bodyPr/>
                    <a:lstStyle/>
                    <a:p>
                      <a:pPr algn="ctr" fontAlgn="ctr"/>
                      <a:endParaRPr lang="en-US" altLang="zh-CN" sz="11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c>
                  <a:txBody>
                    <a:bodyPr/>
                    <a:lstStyle/>
                    <a:p>
                      <a:pPr algn="ctr" fontAlgn="ctr"/>
                      <a:endParaRPr lang="en-US" altLang="zh-CN" sz="11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c>
                  <a:txBody>
                    <a:bodyPr/>
                    <a:lstStyle/>
                    <a:p>
                      <a:pPr algn="l" fontAlgn="ctr"/>
                      <a:endParaRPr lang="en-US" altLang="zh-CN" sz="11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r>
              <a:tr h="278130">
                <a:tc>
                  <a:txBody>
                    <a:bodyPr/>
                    <a:lstStyle/>
                    <a:p>
                      <a:pPr algn="ctr"/>
                      <a:r>
                        <a:rPr lang="zh-CN" altLang="en-US" sz="1400" dirty="0">
                          <a:latin typeface="Arial" panose="020B0604020202020204" pitchFamily="34" charset="0"/>
                          <a:ea typeface="微软雅黑" panose="020B0503020204020204" pitchFamily="34" charset="-122"/>
                          <a:sym typeface="Arial" panose="020B0604020202020204" pitchFamily="34" charset="0"/>
                        </a:rPr>
                        <a:t>权益总额</a:t>
                      </a:r>
                    </a:p>
                  </a:txBody>
                  <a:tcPr marL="68580" marR="68580" marT="34290" marB="34290"/>
                </a:tc>
                <a:tc>
                  <a:txBody>
                    <a:bodyPr/>
                    <a:lstStyle/>
                    <a:p>
                      <a:pPr marL="0" algn="ctr" defTabSz="914400" rtl="0" eaLnBrk="1" fontAlgn="ctr" latinLnBrk="0" hangingPunct="1"/>
                      <a:endParaRPr lang="en-US" altLang="zh-CN" sz="1100" b="0" i="0" u="none" strike="noStrike" kern="1200" dirty="0">
                        <a:solidFill>
                          <a:srgbClr val="000000"/>
                        </a:solidFill>
                        <a:latin typeface="Arial" panose="020B0604020202020204" pitchFamily="34" charset="0"/>
                        <a:ea typeface="微软雅黑" panose="020B0503020204020204" pitchFamily="34" charset="-122"/>
                        <a:cs typeface="+mn-cs"/>
                        <a:sym typeface="Arial" panose="020B0604020202020204" pitchFamily="34" charset="0"/>
                      </a:endParaRPr>
                    </a:p>
                  </a:txBody>
                  <a:tcPr marL="7144" marR="7144" marT="7144" marB="0"/>
                </a:tc>
                <a:tc>
                  <a:txBody>
                    <a:bodyPr/>
                    <a:lstStyle/>
                    <a:p>
                      <a:pPr marL="0" algn="ctr" defTabSz="914400" rtl="0" eaLnBrk="1" fontAlgn="ctr" latinLnBrk="0" hangingPunct="1"/>
                      <a:endParaRPr lang="en-US" altLang="zh-CN" sz="1100" b="0" i="0" u="none" strike="noStrike" kern="1200" dirty="0">
                        <a:solidFill>
                          <a:srgbClr val="000000"/>
                        </a:solidFill>
                        <a:latin typeface="Arial" panose="020B0604020202020204" pitchFamily="34" charset="0"/>
                        <a:ea typeface="微软雅黑" panose="020B0503020204020204" pitchFamily="34" charset="-122"/>
                        <a:cs typeface="+mn-cs"/>
                        <a:sym typeface="Arial" panose="020B0604020202020204" pitchFamily="34" charset="0"/>
                      </a:endParaRPr>
                    </a:p>
                  </a:txBody>
                  <a:tcPr marL="7144" marR="7144" marT="7144" marB="0"/>
                </a:tc>
                <a:tc>
                  <a:txBody>
                    <a:bodyPr/>
                    <a:lstStyle/>
                    <a:p>
                      <a:pPr marL="0" algn="ctr" defTabSz="914400" rtl="0" eaLnBrk="1" fontAlgn="ctr" latinLnBrk="0" hangingPunct="1"/>
                      <a:endParaRPr lang="en-US" altLang="zh-CN" sz="1100" b="0" i="0" u="none" strike="noStrike" kern="1200" dirty="0">
                        <a:solidFill>
                          <a:srgbClr val="000000"/>
                        </a:solidFill>
                        <a:latin typeface="Arial" panose="020B0604020202020204" pitchFamily="34" charset="0"/>
                        <a:ea typeface="微软雅黑" panose="020B0503020204020204" pitchFamily="34" charset="-122"/>
                        <a:cs typeface="+mn-cs"/>
                        <a:sym typeface="Arial" panose="020B0604020202020204" pitchFamily="34" charset="0"/>
                      </a:endParaRPr>
                    </a:p>
                  </a:txBody>
                  <a:tcPr marL="7144" marR="7144" marT="7144" marB="0"/>
                </a:tc>
                <a:tc>
                  <a:txBody>
                    <a:bodyPr/>
                    <a:lstStyle/>
                    <a:p>
                      <a:pPr marL="0" algn="ctr" defTabSz="914400" rtl="0" eaLnBrk="1" fontAlgn="ctr" latinLnBrk="0" hangingPunct="1"/>
                      <a:endParaRPr lang="en-US" altLang="zh-CN" sz="1100" b="0" i="0" u="none" strike="noStrike" kern="1200" dirty="0">
                        <a:solidFill>
                          <a:srgbClr val="000000"/>
                        </a:solidFill>
                        <a:latin typeface="Arial" panose="020B0604020202020204" pitchFamily="34" charset="0"/>
                        <a:ea typeface="微软雅黑" panose="020B0503020204020204" pitchFamily="34" charset="-122"/>
                        <a:cs typeface="+mn-cs"/>
                        <a:sym typeface="Arial" panose="020B0604020202020204" pitchFamily="34" charset="0"/>
                      </a:endParaRPr>
                    </a:p>
                  </a:txBody>
                  <a:tcPr marL="7144" marR="7144" marT="7144" marB="0"/>
                </a:tc>
              </a:tr>
            </a:tbl>
          </a:graphicData>
        </a:graphic>
      </p:graphicFrame>
      <p:sp>
        <p:nvSpPr>
          <p:cNvPr id="10" name="TextBox 8"/>
          <p:cNvSpPr txBox="1"/>
          <p:nvPr/>
        </p:nvSpPr>
        <p:spPr>
          <a:xfrm>
            <a:off x="4958662" y="3050541"/>
            <a:ext cx="2970330" cy="1546577"/>
          </a:xfrm>
          <a:prstGeom prst="rect">
            <a:avLst/>
          </a:prstGeom>
          <a:noFill/>
        </p:spPr>
        <p:txBody>
          <a:bodyPr wrap="square" rtlCol="0">
            <a:spAutoFit/>
          </a:bodyPr>
          <a:lstStyle/>
          <a:p>
            <a:r>
              <a:rPr lang="zh-CN" altLang="en-US" sz="1350" b="1" dirty="0">
                <a:latin typeface="Arial" panose="020B0604020202020204" pitchFamily="34" charset="0"/>
                <a:ea typeface="微软雅黑" panose="020B0503020204020204" pitchFamily="34" charset="-122"/>
                <a:sym typeface="Arial" panose="020B0604020202020204" pitchFamily="34" charset="0"/>
              </a:rPr>
              <a:t>分析如下</a:t>
            </a:r>
            <a:r>
              <a:rPr lang="zh-CN" altLang="en-US" sz="1350" dirty="0">
                <a:latin typeface="Arial" panose="020B0604020202020204" pitchFamily="34" charset="0"/>
                <a:ea typeface="微软雅黑" panose="020B0503020204020204" pitchFamily="34" charset="-122"/>
                <a:sym typeface="Arial" panose="020B0604020202020204" pitchFamily="34" charset="0"/>
              </a:rPr>
              <a:t>：由上表和图所示的数据可以看出，公司在年上的股东权益是逐年增长的，尤其是年增长的幅度最大，主要是由于企业的资本增加的幅度大，说明该企业的自有资本是雄厚的，利用自有资本来还债的能力也是很强的。</a:t>
            </a:r>
          </a:p>
          <a:p>
            <a:endParaRPr lang="zh-CN" altLang="en-US" sz="1350" dirty="0">
              <a:latin typeface="Arial" panose="020B0604020202020204" pitchFamily="34" charset="0"/>
              <a:ea typeface="微软雅黑" panose="020B0503020204020204" pitchFamily="34" charset="-122"/>
              <a:sym typeface="Arial" panose="020B0604020202020204" pitchFamily="34" charset="0"/>
            </a:endParaRPr>
          </a:p>
        </p:txBody>
      </p:sp>
      <p:graphicFrame>
        <p:nvGraphicFramePr>
          <p:cNvPr id="14" name="图表 13"/>
          <p:cNvGraphicFramePr/>
          <p:nvPr/>
        </p:nvGraphicFramePr>
        <p:xfrm>
          <a:off x="1448272" y="3050541"/>
          <a:ext cx="3320988" cy="1913874"/>
        </p:xfrm>
        <a:graphic>
          <a:graphicData uri="http://schemas.openxmlformats.org/drawingml/2006/chart">
            <c:chart xmlns:c="http://schemas.openxmlformats.org/drawingml/2006/chart" xmlns:r="http://schemas.openxmlformats.org/officeDocument/2006/relationships" r:id="rId3"/>
          </a:graphicData>
        </a:graphic>
      </p:graphicFrame>
      <p:sp>
        <p:nvSpPr>
          <p:cNvPr id="15" name="TextBox 7"/>
          <p:cNvSpPr txBox="1"/>
          <p:nvPr/>
        </p:nvSpPr>
        <p:spPr>
          <a:xfrm>
            <a:off x="6632848" y="944308"/>
            <a:ext cx="972108" cy="219291"/>
          </a:xfrm>
          <a:prstGeom prst="rect">
            <a:avLst/>
          </a:prstGeom>
          <a:noFill/>
        </p:spPr>
        <p:txBody>
          <a:bodyPr wrap="square" rtlCol="0">
            <a:spAutoFit/>
          </a:bodyPr>
          <a:lstStyle/>
          <a:p>
            <a:r>
              <a:rPr lang="zh-CN" altLang="en-US" sz="825" b="1" dirty="0">
                <a:latin typeface="Arial" panose="020B0604020202020204" pitchFamily="34" charset="0"/>
                <a:ea typeface="微软雅黑" panose="020B0503020204020204" pitchFamily="34" charset="-122"/>
                <a:sym typeface="Arial" panose="020B0604020202020204" pitchFamily="34" charset="0"/>
              </a:rPr>
              <a:t>单位：万元</a:t>
            </a:r>
          </a:p>
        </p:txBody>
      </p:sp>
    </p:spTree>
  </p:cSld>
  <p:clrMapOvr>
    <a:masterClrMapping/>
  </p:clrMapOvr>
  <p:transition spd="slow" advClick="0" advTm="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1000"/>
                                        <p:tgtEl>
                                          <p:spTgt spid="7"/>
                                        </p:tgtEl>
                                      </p:cBhvr>
                                    </p:animEffect>
                                    <p:anim calcmode="lin" valueType="num">
                                      <p:cBhvr>
                                        <p:cTn id="14" dur="1000" fill="hold"/>
                                        <p:tgtEl>
                                          <p:spTgt spid="7"/>
                                        </p:tgtEl>
                                        <p:attrNameLst>
                                          <p:attrName>ppt_x</p:attrName>
                                        </p:attrNameLst>
                                      </p:cBhvr>
                                      <p:tavLst>
                                        <p:tav tm="0">
                                          <p:val>
                                            <p:strVal val="#ppt_x"/>
                                          </p:val>
                                        </p:tav>
                                        <p:tav tm="100000">
                                          <p:val>
                                            <p:strVal val="#ppt_x"/>
                                          </p:val>
                                        </p:tav>
                                      </p:tavLst>
                                    </p:anim>
                                    <p:anim calcmode="lin" valueType="num">
                                      <p:cBhvr>
                                        <p:cTn id="15" dur="1000" fill="hold"/>
                                        <p:tgtEl>
                                          <p:spTgt spid="7"/>
                                        </p:tgtEl>
                                        <p:attrNameLst>
                                          <p:attrName>ppt_y</p:attrName>
                                        </p:attrNameLst>
                                      </p:cBhvr>
                                      <p:tavLst>
                                        <p:tav tm="0">
                                          <p:val>
                                            <p:strVal val="#ppt_y+.1"/>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1000"/>
                                        <p:tgtEl>
                                          <p:spTgt spid="10"/>
                                        </p:tgtEl>
                                      </p:cBhvr>
                                    </p:animEffect>
                                    <p:anim calcmode="lin" valueType="num">
                                      <p:cBhvr>
                                        <p:cTn id="19" dur="1000" fill="hold"/>
                                        <p:tgtEl>
                                          <p:spTgt spid="10"/>
                                        </p:tgtEl>
                                        <p:attrNameLst>
                                          <p:attrName>ppt_x</p:attrName>
                                        </p:attrNameLst>
                                      </p:cBhvr>
                                      <p:tavLst>
                                        <p:tav tm="0">
                                          <p:val>
                                            <p:strVal val="#ppt_x"/>
                                          </p:val>
                                        </p:tav>
                                        <p:tav tm="100000">
                                          <p:val>
                                            <p:strVal val="#ppt_x"/>
                                          </p:val>
                                        </p:tav>
                                      </p:tavLst>
                                    </p:anim>
                                    <p:anim calcmode="lin" valueType="num">
                                      <p:cBhvr>
                                        <p:cTn id="20" dur="1000" fill="hold"/>
                                        <p:tgtEl>
                                          <p:spTgt spid="10"/>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1000"/>
                                        <p:tgtEl>
                                          <p:spTgt spid="14"/>
                                        </p:tgtEl>
                                      </p:cBhvr>
                                    </p:animEffect>
                                    <p:anim calcmode="lin" valueType="num">
                                      <p:cBhvr>
                                        <p:cTn id="24" dur="1000" fill="hold"/>
                                        <p:tgtEl>
                                          <p:spTgt spid="14"/>
                                        </p:tgtEl>
                                        <p:attrNameLst>
                                          <p:attrName>ppt_x</p:attrName>
                                        </p:attrNameLst>
                                      </p:cBhvr>
                                      <p:tavLst>
                                        <p:tav tm="0">
                                          <p:val>
                                            <p:strVal val="#ppt_x"/>
                                          </p:val>
                                        </p:tav>
                                        <p:tav tm="100000">
                                          <p:val>
                                            <p:strVal val="#ppt_x"/>
                                          </p:val>
                                        </p:tav>
                                      </p:tavLst>
                                    </p:anim>
                                    <p:anim calcmode="lin" valueType="num">
                                      <p:cBhvr>
                                        <p:cTn id="25" dur="1000" fill="hold"/>
                                        <p:tgtEl>
                                          <p:spTgt spid="14"/>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1000"/>
                                        <p:tgtEl>
                                          <p:spTgt spid="15"/>
                                        </p:tgtEl>
                                      </p:cBhvr>
                                    </p:animEffect>
                                    <p:anim calcmode="lin" valueType="num">
                                      <p:cBhvr>
                                        <p:cTn id="29" dur="1000" fill="hold"/>
                                        <p:tgtEl>
                                          <p:spTgt spid="15"/>
                                        </p:tgtEl>
                                        <p:attrNameLst>
                                          <p:attrName>ppt_x</p:attrName>
                                        </p:attrNameLst>
                                      </p:cBhvr>
                                      <p:tavLst>
                                        <p:tav tm="0">
                                          <p:val>
                                            <p:strVal val="#ppt_x"/>
                                          </p:val>
                                        </p:tav>
                                        <p:tav tm="100000">
                                          <p:val>
                                            <p:strVal val="#ppt_x"/>
                                          </p:val>
                                        </p:tav>
                                      </p:tavLst>
                                    </p:anim>
                                    <p:anim calcmode="lin" valueType="num">
                                      <p:cBhvr>
                                        <p:cTn id="30"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Graphic spid="14" grpId="0">
        <p:bldAsOne/>
      </p:bldGraphic>
      <p:bldP spid="1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txBox="1"/>
          <p:nvPr/>
        </p:nvSpPr>
        <p:spPr>
          <a:xfrm>
            <a:off x="857885" y="195109"/>
            <a:ext cx="2600960" cy="379730"/>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000" b="1" dirty="0">
                <a:solidFill>
                  <a:schemeClr val="tx1"/>
                </a:solidFill>
                <a:latin typeface="微软雅黑" panose="020B0503020204020204" pitchFamily="34" charset="-122"/>
                <a:ea typeface="微软雅黑" panose="020B0503020204020204" pitchFamily="34" charset="-122"/>
              </a:rPr>
              <a:t>4.</a:t>
            </a:r>
            <a:r>
              <a:rPr lang="zh-CN" altLang="en-US" sz="2000" b="1" dirty="0">
                <a:solidFill>
                  <a:schemeClr val="tx1"/>
                </a:solidFill>
                <a:latin typeface="微软雅黑" panose="020B0503020204020204" pitchFamily="34" charset="-122"/>
                <a:ea typeface="微软雅黑" panose="020B0503020204020204" pitchFamily="34" charset="-122"/>
              </a:rPr>
              <a:t>资产负债表总体分析</a:t>
            </a:r>
          </a:p>
        </p:txBody>
      </p:sp>
      <p:sp>
        <p:nvSpPr>
          <p:cNvPr id="21" name="灯片编号占位符 12"/>
          <p:cNvSpPr txBox="1"/>
          <p:nvPr/>
        </p:nvSpPr>
        <p:spPr>
          <a:xfrm>
            <a:off x="6553200" y="6356350"/>
            <a:ext cx="21336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4D9ECC3-A7F1-43C5-B903-C9E27D8D97C3}" type="slidenum">
              <a:rPr lang="zh-CN" altLang="en-US" smtClean="0"/>
              <a:t>9</a:t>
            </a:fld>
            <a:endParaRPr lang="zh-CN" altLang="en-US"/>
          </a:p>
        </p:txBody>
      </p:sp>
      <p:graphicFrame>
        <p:nvGraphicFramePr>
          <p:cNvPr id="22" name="图表 21"/>
          <p:cNvGraphicFramePr/>
          <p:nvPr/>
        </p:nvGraphicFramePr>
        <p:xfrm>
          <a:off x="243528" y="921799"/>
          <a:ext cx="4176464" cy="295232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3" name="图表 22"/>
          <p:cNvGraphicFramePr/>
          <p:nvPr/>
        </p:nvGraphicFramePr>
        <p:xfrm>
          <a:off x="4168532" y="764704"/>
          <a:ext cx="2592288" cy="2232248"/>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4" name="图表 23"/>
          <p:cNvGraphicFramePr/>
          <p:nvPr/>
        </p:nvGraphicFramePr>
        <p:xfrm>
          <a:off x="6444208" y="1173237"/>
          <a:ext cx="2592288" cy="2232248"/>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5" name="图表 24"/>
          <p:cNvGraphicFramePr/>
          <p:nvPr/>
        </p:nvGraphicFramePr>
        <p:xfrm>
          <a:off x="4211960" y="4149080"/>
          <a:ext cx="2592288" cy="2232248"/>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26" name="图表 25"/>
          <p:cNvGraphicFramePr/>
          <p:nvPr/>
        </p:nvGraphicFramePr>
        <p:xfrm>
          <a:off x="6551712" y="4293096"/>
          <a:ext cx="2592288" cy="2232248"/>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27" name="图表 26"/>
          <p:cNvGraphicFramePr/>
          <p:nvPr/>
        </p:nvGraphicFramePr>
        <p:xfrm>
          <a:off x="6405952" y="2833658"/>
          <a:ext cx="2592288" cy="2232248"/>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28" name="图表 27"/>
          <p:cNvGraphicFramePr/>
          <p:nvPr/>
        </p:nvGraphicFramePr>
        <p:xfrm>
          <a:off x="4211960" y="2836825"/>
          <a:ext cx="2592288" cy="2232248"/>
        </p:xfrm>
        <a:graphic>
          <a:graphicData uri="http://schemas.openxmlformats.org/drawingml/2006/chart">
            <c:chart xmlns:c="http://schemas.openxmlformats.org/drawingml/2006/chart" xmlns:r="http://schemas.openxmlformats.org/officeDocument/2006/relationships" r:id="rId9"/>
          </a:graphicData>
        </a:graphic>
      </p:graphicFrame>
      <p:graphicFrame>
        <p:nvGraphicFramePr>
          <p:cNvPr id="29" name="图表 28"/>
          <p:cNvGraphicFramePr/>
          <p:nvPr/>
        </p:nvGraphicFramePr>
        <p:xfrm>
          <a:off x="6444208" y="764704"/>
          <a:ext cx="2592288" cy="2232248"/>
        </p:xfrm>
        <a:graphic>
          <a:graphicData uri="http://schemas.openxmlformats.org/drawingml/2006/chart">
            <c:chart xmlns:c="http://schemas.openxmlformats.org/drawingml/2006/chart" xmlns:r="http://schemas.openxmlformats.org/officeDocument/2006/relationships" r:id="rId10"/>
          </a:graphicData>
        </a:graphic>
      </p:graphicFrame>
      <p:sp>
        <p:nvSpPr>
          <p:cNvPr id="30" name="TextBox 11"/>
          <p:cNvSpPr txBox="1"/>
          <p:nvPr/>
        </p:nvSpPr>
        <p:spPr>
          <a:xfrm>
            <a:off x="346418" y="3897476"/>
            <a:ext cx="4104456" cy="1446550"/>
          </a:xfrm>
          <a:prstGeom prst="rect">
            <a:avLst/>
          </a:prstGeom>
          <a:noFill/>
        </p:spPr>
        <p:txBody>
          <a:bodyPr wrap="square" rtlCol="0">
            <a:spAutoFit/>
          </a:bodyPr>
          <a:lstStyle/>
          <a:p>
            <a:r>
              <a:rPr lang="zh-CN" altLang="en-US" sz="1400" dirty="0">
                <a:latin typeface="微软雅黑" panose="020B0503020204020204" pitchFamily="34" charset="-122"/>
                <a:ea typeface="微软雅黑" panose="020B0503020204020204" pitchFamily="34" charset="-122"/>
              </a:rPr>
              <a:t>综上所述，公司在</a:t>
            </a:r>
            <a:r>
              <a:rPr lang="en-US" altLang="zh-CN" sz="1400" dirty="0">
                <a:latin typeface="微软雅黑" panose="020B0503020204020204" pitchFamily="34" charset="-122"/>
                <a:ea typeface="微软雅黑" panose="020B0503020204020204" pitchFamily="34" charset="-122"/>
              </a:rPr>
              <a:t>2014-2017</a:t>
            </a:r>
            <a:r>
              <a:rPr lang="zh-CN" altLang="en-US" sz="1400" dirty="0">
                <a:latin typeface="微软雅黑" panose="020B0503020204020204" pitchFamily="34" charset="-122"/>
                <a:ea typeface="微软雅黑" panose="020B0503020204020204" pitchFamily="34" charset="-122"/>
              </a:rPr>
              <a:t>年上无论是资产规模、负债规模还是所有者权益规模都是逐年增加的，这说明该企业的资金实力是较强的。但应收账款、应付账款的大比例占据，说明我司存在不良资金流动性隐患，也存在偿账压力和偿账风险！</a:t>
            </a:r>
            <a:endParaRPr lang="zh-CN" altLang="en-US" sz="1400" dirty="0">
              <a:solidFill>
                <a:srgbClr val="FF0000"/>
              </a:solidFill>
              <a:latin typeface="微软雅黑" panose="020B0503020204020204" pitchFamily="34" charset="-122"/>
              <a:ea typeface="微软雅黑" panose="020B0503020204020204" pitchFamily="34" charset="-122"/>
            </a:endParaRPr>
          </a:p>
          <a:p>
            <a:endParaRPr lang="zh-CN" altLang="en-US" dirty="0"/>
          </a:p>
        </p:txBody>
      </p:sp>
    </p:spTree>
  </p:cSld>
  <p:clrMapOvr>
    <a:masterClrMapping/>
  </p:clrMapOvr>
  <p:transition spd="slow" advClick="0" advTm="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1000"/>
                                        <p:tgtEl>
                                          <p:spTgt spid="22"/>
                                        </p:tgtEl>
                                      </p:cBhvr>
                                    </p:animEffect>
                                    <p:anim calcmode="lin" valueType="num">
                                      <p:cBhvr>
                                        <p:cTn id="14" dur="1000" fill="hold"/>
                                        <p:tgtEl>
                                          <p:spTgt spid="22"/>
                                        </p:tgtEl>
                                        <p:attrNameLst>
                                          <p:attrName>ppt_x</p:attrName>
                                        </p:attrNameLst>
                                      </p:cBhvr>
                                      <p:tavLst>
                                        <p:tav tm="0">
                                          <p:val>
                                            <p:strVal val="#ppt_x"/>
                                          </p:val>
                                        </p:tav>
                                        <p:tav tm="100000">
                                          <p:val>
                                            <p:strVal val="#ppt_x"/>
                                          </p:val>
                                        </p:tav>
                                      </p:tavLst>
                                    </p:anim>
                                    <p:anim calcmode="lin" valueType="num">
                                      <p:cBhvr>
                                        <p:cTn id="15" dur="1000" fill="hold"/>
                                        <p:tgtEl>
                                          <p:spTgt spid="22"/>
                                        </p:tgtEl>
                                        <p:attrNameLst>
                                          <p:attrName>ppt_y</p:attrName>
                                        </p:attrNameLst>
                                      </p:cBhvr>
                                      <p:tavLst>
                                        <p:tav tm="0">
                                          <p:val>
                                            <p:strVal val="#ppt_y+.1"/>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24"/>
                                        </p:tgtEl>
                                        <p:attrNameLst>
                                          <p:attrName>style.visibility</p:attrName>
                                        </p:attrNameLst>
                                      </p:cBhvr>
                                      <p:to>
                                        <p:strVal val="visible"/>
                                      </p:to>
                                    </p:set>
                                    <p:animEffect transition="in" filter="fade">
                                      <p:cBhvr>
                                        <p:cTn id="18" dur="1000"/>
                                        <p:tgtEl>
                                          <p:spTgt spid="24"/>
                                        </p:tgtEl>
                                      </p:cBhvr>
                                    </p:animEffect>
                                    <p:anim calcmode="lin" valueType="num">
                                      <p:cBhvr>
                                        <p:cTn id="19" dur="1000" fill="hold"/>
                                        <p:tgtEl>
                                          <p:spTgt spid="24"/>
                                        </p:tgtEl>
                                        <p:attrNameLst>
                                          <p:attrName>ppt_x</p:attrName>
                                        </p:attrNameLst>
                                      </p:cBhvr>
                                      <p:tavLst>
                                        <p:tav tm="0">
                                          <p:val>
                                            <p:strVal val="#ppt_x"/>
                                          </p:val>
                                        </p:tav>
                                        <p:tav tm="100000">
                                          <p:val>
                                            <p:strVal val="#ppt_x"/>
                                          </p:val>
                                        </p:tav>
                                      </p:tavLst>
                                    </p:anim>
                                    <p:anim calcmode="lin" valueType="num">
                                      <p:cBhvr>
                                        <p:cTn id="20" dur="1000" fill="hold"/>
                                        <p:tgtEl>
                                          <p:spTgt spid="24"/>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animEffect transition="in" filter="fade">
                                      <p:cBhvr>
                                        <p:cTn id="23" dur="1000"/>
                                        <p:tgtEl>
                                          <p:spTgt spid="27"/>
                                        </p:tgtEl>
                                      </p:cBhvr>
                                    </p:animEffect>
                                    <p:anim calcmode="lin" valueType="num">
                                      <p:cBhvr>
                                        <p:cTn id="24" dur="1000" fill="hold"/>
                                        <p:tgtEl>
                                          <p:spTgt spid="27"/>
                                        </p:tgtEl>
                                        <p:attrNameLst>
                                          <p:attrName>ppt_x</p:attrName>
                                        </p:attrNameLst>
                                      </p:cBhvr>
                                      <p:tavLst>
                                        <p:tav tm="0">
                                          <p:val>
                                            <p:strVal val="#ppt_x"/>
                                          </p:val>
                                        </p:tav>
                                        <p:tav tm="100000">
                                          <p:val>
                                            <p:strVal val="#ppt_x"/>
                                          </p:val>
                                        </p:tav>
                                      </p:tavLst>
                                    </p:anim>
                                    <p:anim calcmode="lin" valueType="num">
                                      <p:cBhvr>
                                        <p:cTn id="25" dur="1000" fill="hold"/>
                                        <p:tgtEl>
                                          <p:spTgt spid="27"/>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28"/>
                                        </p:tgtEl>
                                        <p:attrNameLst>
                                          <p:attrName>style.visibility</p:attrName>
                                        </p:attrNameLst>
                                      </p:cBhvr>
                                      <p:to>
                                        <p:strVal val="visible"/>
                                      </p:to>
                                    </p:set>
                                    <p:animEffect transition="in" filter="fade">
                                      <p:cBhvr>
                                        <p:cTn id="28" dur="1000"/>
                                        <p:tgtEl>
                                          <p:spTgt spid="28"/>
                                        </p:tgtEl>
                                      </p:cBhvr>
                                    </p:animEffect>
                                    <p:anim calcmode="lin" valueType="num">
                                      <p:cBhvr>
                                        <p:cTn id="29" dur="1000" fill="hold"/>
                                        <p:tgtEl>
                                          <p:spTgt spid="28"/>
                                        </p:tgtEl>
                                        <p:attrNameLst>
                                          <p:attrName>ppt_x</p:attrName>
                                        </p:attrNameLst>
                                      </p:cBhvr>
                                      <p:tavLst>
                                        <p:tav tm="0">
                                          <p:val>
                                            <p:strVal val="#ppt_x"/>
                                          </p:val>
                                        </p:tav>
                                        <p:tav tm="100000">
                                          <p:val>
                                            <p:strVal val="#ppt_x"/>
                                          </p:val>
                                        </p:tav>
                                      </p:tavLst>
                                    </p:anim>
                                    <p:anim calcmode="lin" valueType="num">
                                      <p:cBhvr>
                                        <p:cTn id="30" dur="1000" fill="hold"/>
                                        <p:tgtEl>
                                          <p:spTgt spid="28"/>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30"/>
                                        </p:tgtEl>
                                        <p:attrNameLst>
                                          <p:attrName>style.visibility</p:attrName>
                                        </p:attrNameLst>
                                      </p:cBhvr>
                                      <p:to>
                                        <p:strVal val="visible"/>
                                      </p:to>
                                    </p:set>
                                    <p:animEffect transition="in" filter="fade">
                                      <p:cBhvr>
                                        <p:cTn id="33" dur="1000"/>
                                        <p:tgtEl>
                                          <p:spTgt spid="30"/>
                                        </p:tgtEl>
                                      </p:cBhvr>
                                    </p:animEffect>
                                    <p:anim calcmode="lin" valueType="num">
                                      <p:cBhvr>
                                        <p:cTn id="34" dur="1000" fill="hold"/>
                                        <p:tgtEl>
                                          <p:spTgt spid="30"/>
                                        </p:tgtEl>
                                        <p:attrNameLst>
                                          <p:attrName>ppt_x</p:attrName>
                                        </p:attrNameLst>
                                      </p:cBhvr>
                                      <p:tavLst>
                                        <p:tav tm="0">
                                          <p:val>
                                            <p:strVal val="#ppt_x"/>
                                          </p:val>
                                        </p:tav>
                                        <p:tav tm="100000">
                                          <p:val>
                                            <p:strVal val="#ppt_x"/>
                                          </p:val>
                                        </p:tav>
                                      </p:tavLst>
                                    </p:anim>
                                    <p:anim calcmode="lin" valueType="num">
                                      <p:cBhvr>
                                        <p:cTn id="35" dur="1000" fill="hold"/>
                                        <p:tgtEl>
                                          <p:spTgt spid="30"/>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23"/>
                                        </p:tgtEl>
                                        <p:attrNameLst>
                                          <p:attrName>style.visibility</p:attrName>
                                        </p:attrNameLst>
                                      </p:cBhvr>
                                      <p:to>
                                        <p:strVal val="visible"/>
                                      </p:to>
                                    </p:set>
                                    <p:animEffect transition="in" filter="fade">
                                      <p:cBhvr>
                                        <p:cTn id="38" dur="1000"/>
                                        <p:tgtEl>
                                          <p:spTgt spid="23"/>
                                        </p:tgtEl>
                                      </p:cBhvr>
                                    </p:animEffect>
                                    <p:anim calcmode="lin" valueType="num">
                                      <p:cBhvr>
                                        <p:cTn id="39" dur="1000" fill="hold"/>
                                        <p:tgtEl>
                                          <p:spTgt spid="23"/>
                                        </p:tgtEl>
                                        <p:attrNameLst>
                                          <p:attrName>ppt_x</p:attrName>
                                        </p:attrNameLst>
                                      </p:cBhvr>
                                      <p:tavLst>
                                        <p:tav tm="0">
                                          <p:val>
                                            <p:strVal val="#ppt_x"/>
                                          </p:val>
                                        </p:tav>
                                        <p:tav tm="100000">
                                          <p:val>
                                            <p:strVal val="#ppt_x"/>
                                          </p:val>
                                        </p:tav>
                                      </p:tavLst>
                                    </p:anim>
                                    <p:anim calcmode="lin" valueType="num">
                                      <p:cBhvr>
                                        <p:cTn id="40" dur="1000" fill="hold"/>
                                        <p:tgtEl>
                                          <p:spTgt spid="23"/>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1000"/>
                                        <p:tgtEl>
                                          <p:spTgt spid="29"/>
                                        </p:tgtEl>
                                      </p:cBhvr>
                                    </p:animEffect>
                                    <p:anim calcmode="lin" valueType="num">
                                      <p:cBhvr>
                                        <p:cTn id="44" dur="1000" fill="hold"/>
                                        <p:tgtEl>
                                          <p:spTgt spid="29"/>
                                        </p:tgtEl>
                                        <p:attrNameLst>
                                          <p:attrName>ppt_x</p:attrName>
                                        </p:attrNameLst>
                                      </p:cBhvr>
                                      <p:tavLst>
                                        <p:tav tm="0">
                                          <p:val>
                                            <p:strVal val="#ppt_x"/>
                                          </p:val>
                                        </p:tav>
                                        <p:tav tm="100000">
                                          <p:val>
                                            <p:strVal val="#ppt_x"/>
                                          </p:val>
                                        </p:tav>
                                      </p:tavLst>
                                    </p:anim>
                                    <p:anim calcmode="lin" valueType="num">
                                      <p:cBhvr>
                                        <p:cTn id="45"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Graphic spid="22" grpId="0">
        <p:bldAsOne/>
      </p:bldGraphic>
      <p:bldGraphic spid="23" grpId="0">
        <p:bldAsOne/>
      </p:bldGraphic>
      <p:bldGraphic spid="24" grpId="0">
        <p:bldAsOne/>
      </p:bldGraphic>
      <p:bldGraphic spid="27" grpId="0">
        <p:bldAsOne/>
      </p:bldGraphic>
      <p:bldGraphic spid="28" grpId="0">
        <p:bldAsOne/>
      </p:bldGraphic>
      <p:bldGraphic spid="29" grpId="0">
        <p:bldAsOne/>
      </p:bldGraphic>
      <p:bldP spid="3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txBox="1"/>
          <p:nvPr/>
        </p:nvSpPr>
        <p:spPr>
          <a:xfrm>
            <a:off x="857885" y="195109"/>
            <a:ext cx="2600960" cy="379730"/>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000" b="1" dirty="0">
                <a:solidFill>
                  <a:schemeClr val="tx1"/>
                </a:solidFill>
                <a:latin typeface="Arial" panose="020B0604020202020204" pitchFamily="34" charset="0"/>
                <a:ea typeface="微软雅黑" panose="020B0503020204020204" pitchFamily="34" charset="-122"/>
                <a:sym typeface="Arial" panose="020B0604020202020204" pitchFamily="34" charset="0"/>
              </a:rPr>
              <a:t>5.</a:t>
            </a:r>
            <a:r>
              <a:rPr lang="zh-CN" altLang="en-US" sz="2000" b="1" dirty="0">
                <a:solidFill>
                  <a:schemeClr val="tx1"/>
                </a:solidFill>
                <a:latin typeface="Arial" panose="020B0604020202020204" pitchFamily="34" charset="0"/>
                <a:ea typeface="微软雅黑" panose="020B0503020204020204" pitchFamily="34" charset="-122"/>
                <a:sym typeface="Arial" panose="020B0604020202020204" pitchFamily="34" charset="0"/>
              </a:rPr>
              <a:t>资产负债表财务指标</a:t>
            </a:r>
          </a:p>
        </p:txBody>
      </p:sp>
      <p:graphicFrame>
        <p:nvGraphicFramePr>
          <p:cNvPr id="25" name="图表 24"/>
          <p:cNvGraphicFramePr/>
          <p:nvPr/>
        </p:nvGraphicFramePr>
        <p:xfrm>
          <a:off x="4211960" y="4149080"/>
          <a:ext cx="2592288" cy="223224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6" name="表格 15"/>
          <p:cNvGraphicFramePr>
            <a:graphicFrameLocks noGrp="1"/>
          </p:cNvGraphicFramePr>
          <p:nvPr/>
        </p:nvGraphicFramePr>
        <p:xfrm>
          <a:off x="395536" y="668769"/>
          <a:ext cx="8352928" cy="3931920"/>
        </p:xfrm>
        <a:graphic>
          <a:graphicData uri="http://schemas.openxmlformats.org/drawingml/2006/table">
            <a:tbl>
              <a:tblPr firstRow="1" bandRow="1">
                <a:tableStyleId>{EB344D84-9AFB-497E-A393-DC336BA19D2E}</a:tableStyleId>
              </a:tblPr>
              <a:tblGrid>
                <a:gridCol w="1512168"/>
                <a:gridCol w="1008112"/>
                <a:gridCol w="882765"/>
                <a:gridCol w="1082787"/>
                <a:gridCol w="1082787"/>
                <a:gridCol w="1005445"/>
                <a:gridCol w="1778864"/>
              </a:tblGrid>
              <a:tr h="370840">
                <a:tc>
                  <a:txBody>
                    <a:bodyPr/>
                    <a:lstStyle/>
                    <a:p>
                      <a:pPr algn="ctr"/>
                      <a:r>
                        <a:rPr lang="zh-CN" altLang="en-US" sz="1800" b="1" kern="1200" baseline="0" dirty="0">
                          <a:solidFill>
                            <a:schemeClr val="lt1"/>
                          </a:solidFill>
                          <a:latin typeface="Arial" panose="020B0604020202020204" pitchFamily="34" charset="0"/>
                          <a:ea typeface="微软雅黑" panose="020B0503020204020204" pitchFamily="34" charset="-122"/>
                          <a:cs typeface="+mn-cs"/>
                          <a:sym typeface="Arial" panose="020B0604020202020204" pitchFamily="34" charset="0"/>
                        </a:rPr>
                        <a:t>项目 	</a:t>
                      </a:r>
                    </a:p>
                  </a:txBody>
                  <a:tcPr>
                    <a:solidFill>
                      <a:schemeClr val="bg2">
                        <a:lumMod val="75000"/>
                      </a:schemeClr>
                    </a:solidFill>
                  </a:tcPr>
                </a:tc>
                <a:tc>
                  <a:txBody>
                    <a:bodyPr/>
                    <a:lstStyle/>
                    <a:p>
                      <a:pPr algn="ctr"/>
                      <a:r>
                        <a:rPr lang="en-US" altLang="zh-CN" b="1" dirty="0">
                          <a:latin typeface="Arial" panose="020B0604020202020204" pitchFamily="34" charset="0"/>
                          <a:ea typeface="微软雅黑" panose="020B0503020204020204" pitchFamily="34" charset="-122"/>
                          <a:sym typeface="Arial" panose="020B0604020202020204" pitchFamily="34" charset="0"/>
                        </a:rPr>
                        <a:t>2014</a:t>
                      </a:r>
                      <a:r>
                        <a:rPr lang="zh-CN" altLang="en-US" b="1" dirty="0">
                          <a:latin typeface="Arial" panose="020B0604020202020204" pitchFamily="34" charset="0"/>
                          <a:ea typeface="微软雅黑" panose="020B0503020204020204" pitchFamily="34" charset="-122"/>
                          <a:sym typeface="Arial" panose="020B0604020202020204" pitchFamily="34" charset="0"/>
                        </a:rPr>
                        <a:t>年</a:t>
                      </a:r>
                    </a:p>
                  </a:txBody>
                  <a:tcPr>
                    <a:solidFill>
                      <a:schemeClr val="bg2">
                        <a:lumMod val="75000"/>
                      </a:schemeClr>
                    </a:solidFill>
                  </a:tcPr>
                </a:tc>
                <a:tc>
                  <a:txBody>
                    <a:bodyPr/>
                    <a:lstStyle/>
                    <a:p>
                      <a:pPr algn="ctr"/>
                      <a:r>
                        <a:rPr lang="en-US" altLang="zh-CN" b="1" dirty="0">
                          <a:latin typeface="Arial" panose="020B0604020202020204" pitchFamily="34" charset="0"/>
                          <a:ea typeface="微软雅黑" panose="020B0503020204020204" pitchFamily="34" charset="-122"/>
                          <a:sym typeface="Arial" panose="020B0604020202020204" pitchFamily="34" charset="0"/>
                        </a:rPr>
                        <a:t>2015</a:t>
                      </a:r>
                      <a:r>
                        <a:rPr lang="zh-CN" altLang="en-US" b="1" dirty="0">
                          <a:latin typeface="Arial" panose="020B0604020202020204" pitchFamily="34" charset="0"/>
                          <a:ea typeface="微软雅黑" panose="020B0503020204020204" pitchFamily="34" charset="-122"/>
                          <a:sym typeface="Arial" panose="020B0604020202020204" pitchFamily="34" charset="0"/>
                        </a:rPr>
                        <a:t>年</a:t>
                      </a:r>
                    </a:p>
                  </a:txBody>
                  <a:tcPr>
                    <a:solidFill>
                      <a:schemeClr val="bg2">
                        <a:lumMod val="75000"/>
                      </a:schemeClr>
                    </a:solidFill>
                  </a:tcPr>
                </a:tc>
                <a:tc>
                  <a:txBody>
                    <a:bodyPr/>
                    <a:lstStyle/>
                    <a:p>
                      <a:pPr algn="ctr"/>
                      <a:r>
                        <a:rPr lang="en-US" altLang="zh-CN" b="1" dirty="0">
                          <a:latin typeface="Arial" panose="020B0604020202020204" pitchFamily="34" charset="0"/>
                          <a:ea typeface="微软雅黑" panose="020B0503020204020204" pitchFamily="34" charset="-122"/>
                          <a:sym typeface="Arial" panose="020B0604020202020204" pitchFamily="34" charset="0"/>
                        </a:rPr>
                        <a:t>2016</a:t>
                      </a:r>
                      <a:r>
                        <a:rPr lang="zh-CN" altLang="en-US" b="1" dirty="0">
                          <a:latin typeface="Arial" panose="020B0604020202020204" pitchFamily="34" charset="0"/>
                          <a:ea typeface="微软雅黑" panose="020B0503020204020204" pitchFamily="34" charset="-122"/>
                          <a:sym typeface="Arial" panose="020B0604020202020204" pitchFamily="34" charset="0"/>
                        </a:rPr>
                        <a:t>年</a:t>
                      </a:r>
                    </a:p>
                  </a:txBody>
                  <a:tcPr>
                    <a:solidFill>
                      <a:schemeClr val="bg2">
                        <a:lumMod val="75000"/>
                      </a:schemeClr>
                    </a:solidFill>
                  </a:tcPr>
                </a:tc>
                <a:tc>
                  <a:txBody>
                    <a:bodyPr/>
                    <a:lstStyle/>
                    <a:p>
                      <a:pPr algn="ctr"/>
                      <a:r>
                        <a:rPr lang="en-US" altLang="zh-CN" b="1" dirty="0">
                          <a:latin typeface="Arial" panose="020B0604020202020204" pitchFamily="34" charset="0"/>
                          <a:ea typeface="微软雅黑" panose="020B0503020204020204" pitchFamily="34" charset="-122"/>
                          <a:sym typeface="Arial" panose="020B0604020202020204" pitchFamily="34" charset="0"/>
                        </a:rPr>
                        <a:t>2017</a:t>
                      </a:r>
                      <a:r>
                        <a:rPr lang="zh-CN" altLang="en-US" b="1" dirty="0">
                          <a:latin typeface="Arial" panose="020B0604020202020204" pitchFamily="34" charset="0"/>
                          <a:ea typeface="微软雅黑" panose="020B0503020204020204" pitchFamily="34" charset="-122"/>
                          <a:sym typeface="Arial" panose="020B0604020202020204" pitchFamily="34" charset="0"/>
                        </a:rPr>
                        <a:t>年</a:t>
                      </a:r>
                    </a:p>
                  </a:txBody>
                  <a:tcPr>
                    <a:solidFill>
                      <a:schemeClr val="bg2">
                        <a:lumMod val="75000"/>
                      </a:schemeClr>
                    </a:solidFill>
                  </a:tcPr>
                </a:tc>
                <a:tc>
                  <a:txBody>
                    <a:bodyPr/>
                    <a:lstStyle/>
                    <a:p>
                      <a:pPr algn="ctr"/>
                      <a:r>
                        <a:rPr lang="zh-CN" altLang="en-US" b="1" dirty="0">
                          <a:latin typeface="Arial" panose="020B0604020202020204" pitchFamily="34" charset="0"/>
                          <a:ea typeface="微软雅黑" panose="020B0503020204020204" pitchFamily="34" charset="-122"/>
                          <a:sym typeface="Arial" panose="020B0604020202020204" pitchFamily="34" charset="0"/>
                        </a:rPr>
                        <a:t>平均值</a:t>
                      </a:r>
                    </a:p>
                  </a:txBody>
                  <a:tcPr>
                    <a:solidFill>
                      <a:schemeClr val="bg2">
                        <a:lumMod val="75000"/>
                      </a:schemeClr>
                    </a:solidFill>
                  </a:tcPr>
                </a:tc>
                <a:tc>
                  <a:txBody>
                    <a:bodyPr/>
                    <a:lstStyle/>
                    <a:p>
                      <a:pPr algn="ctr"/>
                      <a:r>
                        <a:rPr lang="zh-CN" altLang="en-US" b="1" dirty="0">
                          <a:latin typeface="Arial" panose="020B0604020202020204" pitchFamily="34" charset="0"/>
                          <a:ea typeface="微软雅黑" panose="020B0503020204020204" pitchFamily="34" charset="-122"/>
                          <a:sym typeface="Arial" panose="020B0604020202020204" pitchFamily="34" charset="0"/>
                        </a:rPr>
                        <a:t>公式</a:t>
                      </a:r>
                    </a:p>
                  </a:txBody>
                  <a:tcPr>
                    <a:solidFill>
                      <a:schemeClr val="bg2">
                        <a:lumMod val="75000"/>
                      </a:schemeClr>
                    </a:solidFill>
                  </a:tcPr>
                </a:tc>
              </a:tr>
              <a:tr h="370840">
                <a:tc>
                  <a:txBody>
                    <a:bodyPr/>
                    <a:lstStyle/>
                    <a:p>
                      <a:r>
                        <a:rPr lang="zh-CN" altLang="en-US" sz="1400" b="1" dirty="0">
                          <a:latin typeface="Arial" panose="020B0604020202020204" pitchFamily="34" charset="0"/>
                          <a:ea typeface="微软雅黑" panose="020B0503020204020204" pitchFamily="34" charset="-122"/>
                          <a:sym typeface="Arial" panose="020B0604020202020204" pitchFamily="34" charset="0"/>
                        </a:rPr>
                        <a:t>资产收益率</a:t>
                      </a:r>
                    </a:p>
                  </a:txBody>
                  <a:tcPr>
                    <a:solidFill>
                      <a:schemeClr val="tx2">
                        <a:lumMod val="20000"/>
                        <a:lumOff val="80000"/>
                      </a:schemeClr>
                    </a:solidFill>
                  </a:tcPr>
                </a:tc>
                <a:tc>
                  <a:txBody>
                    <a:bodyPr/>
                    <a:lstStyle/>
                    <a:p>
                      <a:pPr algn="ctr" fontAlgn="ctr"/>
                      <a:endParaRPr lang="en-US" altLang="zh-CN" sz="11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9525" marR="9525" marT="9525" marB="0" anchor="ctr">
                    <a:solidFill>
                      <a:schemeClr val="tx2">
                        <a:lumMod val="20000"/>
                        <a:lumOff val="80000"/>
                      </a:schemeClr>
                    </a:solidFill>
                  </a:tcPr>
                </a:tc>
                <a:tc>
                  <a:txBody>
                    <a:bodyPr/>
                    <a:lstStyle/>
                    <a:p>
                      <a:pPr algn="ctr" fontAlgn="ctr"/>
                      <a:endParaRPr lang="en-US" altLang="zh-CN" sz="1100" b="0" i="0" u="none" strike="noStrike">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9525" marR="9525" marT="9525" marB="0" anchor="ctr">
                    <a:solidFill>
                      <a:schemeClr val="tx2">
                        <a:lumMod val="20000"/>
                        <a:lumOff val="80000"/>
                      </a:schemeClr>
                    </a:solidFill>
                  </a:tcPr>
                </a:tc>
                <a:tc>
                  <a:txBody>
                    <a:bodyPr/>
                    <a:lstStyle/>
                    <a:p>
                      <a:pPr algn="ctr" fontAlgn="ctr"/>
                      <a:endParaRPr lang="en-US" altLang="zh-CN" sz="1100" b="0" i="0" u="none" strike="noStrike">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9525" marR="9525" marT="9525" marB="0" anchor="ctr">
                    <a:solidFill>
                      <a:schemeClr val="tx2">
                        <a:lumMod val="20000"/>
                        <a:lumOff val="80000"/>
                      </a:schemeClr>
                    </a:solidFill>
                  </a:tcPr>
                </a:tc>
                <a:tc>
                  <a:txBody>
                    <a:bodyPr/>
                    <a:lstStyle/>
                    <a:p>
                      <a:pPr algn="ctr" fontAlgn="ctr"/>
                      <a:endParaRPr lang="en-US" altLang="zh-CN" sz="1100" b="0" i="0" u="none" strike="noStrike">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9525" marR="9525" marT="9525" marB="0" anchor="ctr">
                    <a:solidFill>
                      <a:schemeClr val="tx2">
                        <a:lumMod val="20000"/>
                        <a:lumOff val="80000"/>
                      </a:schemeClr>
                    </a:solidFill>
                  </a:tcPr>
                </a:tc>
                <a:tc>
                  <a:txBody>
                    <a:bodyPr/>
                    <a:lstStyle/>
                    <a:p>
                      <a:pPr algn="ctr" fontAlgn="ctr"/>
                      <a:endParaRPr lang="en-US" altLang="zh-CN" sz="11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9525" marR="9525" marT="9525" marB="0" anchor="ctr">
                    <a:solidFill>
                      <a:schemeClr val="tx2">
                        <a:lumMod val="20000"/>
                        <a:lumOff val="80000"/>
                      </a:schemeClr>
                    </a:solidFill>
                  </a:tcPr>
                </a:tc>
                <a:tc>
                  <a:txBody>
                    <a:bodyPr/>
                    <a:lstStyle/>
                    <a:p>
                      <a:r>
                        <a:rPr lang="zh-CN" altLang="en-US" sz="1200" kern="1200" dirty="0">
                          <a:solidFill>
                            <a:schemeClr val="dk1"/>
                          </a:solidFill>
                          <a:latin typeface="Arial" panose="020B0604020202020204" pitchFamily="34" charset="0"/>
                          <a:ea typeface="微软雅黑" panose="020B0503020204020204" pitchFamily="34" charset="-122"/>
                          <a:cs typeface="+mn-cs"/>
                          <a:sym typeface="Arial" panose="020B0604020202020204" pitchFamily="34" charset="0"/>
                        </a:rPr>
                        <a:t>资产收益率</a:t>
                      </a:r>
                      <a:r>
                        <a:rPr lang="en-US" altLang="zh-CN" sz="1200" kern="1200" dirty="0">
                          <a:solidFill>
                            <a:schemeClr val="dk1"/>
                          </a:solidFill>
                          <a:latin typeface="Arial" panose="020B0604020202020204" pitchFamily="34" charset="0"/>
                          <a:ea typeface="微软雅黑" panose="020B0503020204020204" pitchFamily="34" charset="-122"/>
                          <a:cs typeface="+mn-cs"/>
                          <a:sym typeface="Arial" panose="020B0604020202020204" pitchFamily="34" charset="0"/>
                        </a:rPr>
                        <a:t>=</a:t>
                      </a:r>
                      <a:r>
                        <a:rPr lang="zh-CN" altLang="en-US" sz="1200" kern="1200" dirty="0">
                          <a:solidFill>
                            <a:schemeClr val="dk1"/>
                          </a:solidFill>
                          <a:latin typeface="Arial" panose="020B0604020202020204" pitchFamily="34" charset="0"/>
                          <a:ea typeface="微软雅黑" panose="020B0503020204020204" pitchFamily="34" charset="-122"/>
                          <a:cs typeface="+mn-cs"/>
                          <a:sym typeface="Arial" panose="020B0604020202020204" pitchFamily="34" charset="0"/>
                        </a:rPr>
                        <a:t>净利润</a:t>
                      </a:r>
                      <a:r>
                        <a:rPr lang="en-US" altLang="zh-CN" sz="1200" kern="1200" dirty="0">
                          <a:solidFill>
                            <a:schemeClr val="dk1"/>
                          </a:solidFill>
                          <a:latin typeface="Arial" panose="020B0604020202020204" pitchFamily="34" charset="0"/>
                          <a:ea typeface="微软雅黑" panose="020B0503020204020204" pitchFamily="34" charset="-122"/>
                          <a:cs typeface="+mn-cs"/>
                          <a:sym typeface="Arial" panose="020B0604020202020204" pitchFamily="34" charset="0"/>
                        </a:rPr>
                        <a:t>/</a:t>
                      </a:r>
                      <a:r>
                        <a:rPr lang="zh-CN" altLang="en-US" sz="1200" kern="1200" dirty="0">
                          <a:solidFill>
                            <a:schemeClr val="dk1"/>
                          </a:solidFill>
                          <a:latin typeface="Arial" panose="020B0604020202020204" pitchFamily="34" charset="0"/>
                          <a:ea typeface="微软雅黑" panose="020B0503020204020204" pitchFamily="34" charset="-122"/>
                          <a:cs typeface="+mn-cs"/>
                          <a:sym typeface="Arial" panose="020B0604020202020204" pitchFamily="34" charset="0"/>
                        </a:rPr>
                        <a:t>平均资产总额*</a:t>
                      </a:r>
                      <a:r>
                        <a:rPr lang="en-US" altLang="zh-CN" sz="1200" kern="1200" dirty="0">
                          <a:solidFill>
                            <a:schemeClr val="dk1"/>
                          </a:solidFill>
                          <a:latin typeface="Arial" panose="020B0604020202020204" pitchFamily="34" charset="0"/>
                          <a:ea typeface="微软雅黑" panose="020B0503020204020204" pitchFamily="34" charset="-122"/>
                          <a:cs typeface="+mn-cs"/>
                          <a:sym typeface="Arial" panose="020B0604020202020204" pitchFamily="34" charset="0"/>
                        </a:rPr>
                        <a:t>100% </a:t>
                      </a:r>
                      <a:endParaRPr lang="zh-CN" altLang="en-US" sz="1200" dirty="0">
                        <a:latin typeface="Arial" panose="020B0604020202020204" pitchFamily="34" charset="0"/>
                        <a:ea typeface="微软雅黑" panose="020B0503020204020204" pitchFamily="34" charset="-122"/>
                        <a:sym typeface="Arial" panose="020B0604020202020204" pitchFamily="34" charset="0"/>
                      </a:endParaRPr>
                    </a:p>
                  </a:txBody>
                  <a:tcPr>
                    <a:solidFill>
                      <a:schemeClr val="tx2">
                        <a:lumMod val="20000"/>
                        <a:lumOff val="80000"/>
                      </a:schemeClr>
                    </a:solidFill>
                  </a:tcPr>
                </a:tc>
              </a:tr>
              <a:tr h="370840">
                <a:tc>
                  <a:txBody>
                    <a:bodyPr/>
                    <a:lstStyle/>
                    <a:p>
                      <a:r>
                        <a:rPr lang="zh-CN" altLang="en-US" sz="1400" b="1" dirty="0">
                          <a:latin typeface="Arial" panose="020B0604020202020204" pitchFamily="34" charset="0"/>
                          <a:ea typeface="微软雅黑" panose="020B0503020204020204" pitchFamily="34" charset="-122"/>
                          <a:sym typeface="Arial" panose="020B0604020202020204" pitchFamily="34" charset="0"/>
                        </a:rPr>
                        <a:t>净资产收益率</a:t>
                      </a:r>
                    </a:p>
                  </a:txBody>
                  <a:tcPr>
                    <a:solidFill>
                      <a:schemeClr val="tx2">
                        <a:lumMod val="20000"/>
                        <a:lumOff val="80000"/>
                      </a:schemeClr>
                    </a:solidFill>
                  </a:tcPr>
                </a:tc>
                <a:tc>
                  <a:txBody>
                    <a:bodyPr/>
                    <a:lstStyle/>
                    <a:p>
                      <a:pPr algn="ctr" fontAlgn="ctr"/>
                      <a:endParaRPr lang="en-US" altLang="zh-CN" sz="11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9525" marR="9525" marT="9525" marB="0" anchor="ctr">
                    <a:solidFill>
                      <a:schemeClr val="tx2">
                        <a:lumMod val="20000"/>
                        <a:lumOff val="80000"/>
                      </a:schemeClr>
                    </a:solidFill>
                  </a:tcPr>
                </a:tc>
                <a:tc>
                  <a:txBody>
                    <a:bodyPr/>
                    <a:lstStyle/>
                    <a:p>
                      <a:pPr algn="ctr" fontAlgn="ctr"/>
                      <a:endParaRPr lang="en-US" altLang="zh-CN" sz="11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9525" marR="9525" marT="9525" marB="0" anchor="ctr">
                    <a:solidFill>
                      <a:schemeClr val="tx2">
                        <a:lumMod val="20000"/>
                        <a:lumOff val="80000"/>
                      </a:schemeClr>
                    </a:solidFill>
                  </a:tcPr>
                </a:tc>
                <a:tc>
                  <a:txBody>
                    <a:bodyPr/>
                    <a:lstStyle/>
                    <a:p>
                      <a:pPr algn="ctr" fontAlgn="ctr"/>
                      <a:endParaRPr lang="en-US" altLang="zh-CN" sz="1100" b="0" i="0" u="none" strike="noStrike">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9525" marR="9525" marT="9525" marB="0" anchor="ctr">
                    <a:solidFill>
                      <a:schemeClr val="tx2">
                        <a:lumMod val="20000"/>
                        <a:lumOff val="80000"/>
                      </a:schemeClr>
                    </a:solidFill>
                  </a:tcPr>
                </a:tc>
                <a:tc>
                  <a:txBody>
                    <a:bodyPr/>
                    <a:lstStyle/>
                    <a:p>
                      <a:pPr algn="ctr" fontAlgn="ctr"/>
                      <a:endParaRPr lang="en-US" altLang="zh-CN" sz="1100" b="0" i="0" u="none" strike="noStrike">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9525" marR="9525" marT="9525" marB="0" anchor="ctr">
                    <a:solidFill>
                      <a:schemeClr val="tx2">
                        <a:lumMod val="20000"/>
                        <a:lumOff val="80000"/>
                      </a:schemeClr>
                    </a:solidFill>
                  </a:tcPr>
                </a:tc>
                <a:tc>
                  <a:txBody>
                    <a:bodyPr/>
                    <a:lstStyle/>
                    <a:p>
                      <a:pPr algn="ctr" fontAlgn="ctr"/>
                      <a:endParaRPr lang="en-US" altLang="zh-CN" sz="11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9525" marR="9525" marT="9525" marB="0" anchor="ctr">
                    <a:solidFill>
                      <a:schemeClr val="tx2">
                        <a:lumMod val="20000"/>
                        <a:lumOff val="80000"/>
                      </a:schemeClr>
                    </a:solidFill>
                  </a:tcPr>
                </a:tc>
                <a:tc>
                  <a:txBody>
                    <a:bodyPr/>
                    <a:lstStyle/>
                    <a:p>
                      <a:r>
                        <a:rPr lang="zh-CN" altLang="en-US" sz="1200" dirty="0">
                          <a:latin typeface="Arial" panose="020B0604020202020204" pitchFamily="34" charset="0"/>
                          <a:ea typeface="微软雅黑" panose="020B0503020204020204" pitchFamily="34" charset="-122"/>
                          <a:sym typeface="Arial" panose="020B0604020202020204" pitchFamily="34" charset="0"/>
                        </a:rPr>
                        <a:t>净资产收益率</a:t>
                      </a:r>
                      <a:r>
                        <a:rPr lang="en-US" altLang="zh-CN" sz="1200" dirty="0">
                          <a:latin typeface="Arial" panose="020B0604020202020204" pitchFamily="34" charset="0"/>
                          <a:ea typeface="微软雅黑" panose="020B0503020204020204" pitchFamily="34" charset="-122"/>
                          <a:sym typeface="Arial" panose="020B0604020202020204" pitchFamily="34" charset="0"/>
                        </a:rPr>
                        <a:t>=</a:t>
                      </a:r>
                      <a:r>
                        <a:rPr lang="zh-CN" altLang="en-US" sz="1200" dirty="0">
                          <a:latin typeface="Arial" panose="020B0604020202020204" pitchFamily="34" charset="0"/>
                          <a:ea typeface="微软雅黑" panose="020B0503020204020204" pitchFamily="34" charset="-122"/>
                          <a:sym typeface="Arial" panose="020B0604020202020204" pitchFamily="34" charset="0"/>
                        </a:rPr>
                        <a:t>税后净利润</a:t>
                      </a:r>
                      <a:r>
                        <a:rPr lang="en-US" altLang="zh-CN" sz="1200" dirty="0">
                          <a:latin typeface="Arial" panose="020B0604020202020204" pitchFamily="34" charset="0"/>
                          <a:ea typeface="微软雅黑" panose="020B0503020204020204" pitchFamily="34" charset="-122"/>
                          <a:sym typeface="Arial" panose="020B0604020202020204" pitchFamily="34" charset="0"/>
                        </a:rPr>
                        <a:t>/</a:t>
                      </a:r>
                      <a:r>
                        <a:rPr lang="zh-CN" altLang="en-US" sz="1200" dirty="0">
                          <a:latin typeface="Arial" panose="020B0604020202020204" pitchFamily="34" charset="0"/>
                          <a:ea typeface="微软雅黑" panose="020B0503020204020204" pitchFamily="34" charset="-122"/>
                          <a:sym typeface="Arial" panose="020B0604020202020204" pitchFamily="34" charset="0"/>
                        </a:rPr>
                        <a:t>净资产 *</a:t>
                      </a:r>
                      <a:r>
                        <a:rPr lang="en-US" altLang="zh-CN" sz="1200" dirty="0">
                          <a:latin typeface="Arial" panose="020B0604020202020204" pitchFamily="34" charset="0"/>
                          <a:ea typeface="微软雅黑" panose="020B0503020204020204" pitchFamily="34" charset="-122"/>
                          <a:sym typeface="Arial" panose="020B0604020202020204" pitchFamily="34" charset="0"/>
                        </a:rPr>
                        <a:t>100%</a:t>
                      </a:r>
                      <a:endParaRPr lang="zh-CN" altLang="en-US" sz="1200" dirty="0">
                        <a:latin typeface="Arial" panose="020B0604020202020204" pitchFamily="34" charset="0"/>
                        <a:ea typeface="微软雅黑" panose="020B0503020204020204" pitchFamily="34" charset="-122"/>
                        <a:sym typeface="Arial" panose="020B0604020202020204" pitchFamily="34" charset="0"/>
                      </a:endParaRPr>
                    </a:p>
                  </a:txBody>
                  <a:tcPr>
                    <a:solidFill>
                      <a:schemeClr val="tx2">
                        <a:lumMod val="20000"/>
                        <a:lumOff val="80000"/>
                      </a:schemeClr>
                    </a:solidFill>
                  </a:tcPr>
                </a:tc>
              </a:tr>
              <a:tr h="533752">
                <a:tc>
                  <a:txBody>
                    <a:bodyPr/>
                    <a:lstStyle/>
                    <a:p>
                      <a:r>
                        <a:rPr lang="zh-CN" altLang="en-US" sz="1400" b="1" dirty="0">
                          <a:latin typeface="Arial" panose="020B0604020202020204" pitchFamily="34" charset="0"/>
                          <a:ea typeface="微软雅黑" panose="020B0503020204020204" pitchFamily="34" charset="-122"/>
                          <a:sym typeface="Arial" panose="020B0604020202020204" pitchFamily="34" charset="0"/>
                        </a:rPr>
                        <a:t>总资产周转率</a:t>
                      </a:r>
                    </a:p>
                  </a:txBody>
                  <a:tcPr>
                    <a:solidFill>
                      <a:schemeClr val="accent2">
                        <a:lumMod val="20000"/>
                        <a:lumOff val="80000"/>
                      </a:schemeClr>
                    </a:solidFill>
                  </a:tcPr>
                </a:tc>
                <a:tc>
                  <a:txBody>
                    <a:bodyPr/>
                    <a:lstStyle/>
                    <a:p>
                      <a:pPr algn="ctr" fontAlgn="ctr"/>
                      <a:endParaRPr lang="en-US" altLang="zh-CN" sz="11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9525" marR="9525" marT="9525" marB="0" anchor="ctr">
                    <a:solidFill>
                      <a:schemeClr val="accent2">
                        <a:lumMod val="20000"/>
                        <a:lumOff val="80000"/>
                      </a:schemeClr>
                    </a:solidFill>
                  </a:tcPr>
                </a:tc>
                <a:tc>
                  <a:txBody>
                    <a:bodyPr/>
                    <a:lstStyle/>
                    <a:p>
                      <a:pPr algn="ctr" fontAlgn="ctr"/>
                      <a:endParaRPr lang="en-US" altLang="zh-CN" sz="11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9525" marR="9525" marT="9525" marB="0" anchor="ctr">
                    <a:solidFill>
                      <a:schemeClr val="accent2">
                        <a:lumMod val="20000"/>
                        <a:lumOff val="80000"/>
                      </a:schemeClr>
                    </a:solidFill>
                  </a:tcPr>
                </a:tc>
                <a:tc>
                  <a:txBody>
                    <a:bodyPr/>
                    <a:lstStyle/>
                    <a:p>
                      <a:pPr algn="ctr" fontAlgn="ctr"/>
                      <a:endParaRPr lang="en-US" altLang="zh-CN" sz="11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9525" marR="9525" marT="9525" marB="0" anchor="ctr">
                    <a:solidFill>
                      <a:schemeClr val="accent2">
                        <a:lumMod val="20000"/>
                        <a:lumOff val="80000"/>
                      </a:schemeClr>
                    </a:solidFill>
                  </a:tcPr>
                </a:tc>
                <a:tc>
                  <a:txBody>
                    <a:bodyPr/>
                    <a:lstStyle/>
                    <a:p>
                      <a:pPr algn="ctr" fontAlgn="ctr"/>
                      <a:endParaRPr lang="en-US" altLang="zh-CN" sz="11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9525" marR="9525" marT="9525" marB="0" anchor="ctr">
                    <a:solidFill>
                      <a:schemeClr val="accent2">
                        <a:lumMod val="20000"/>
                        <a:lumOff val="80000"/>
                      </a:schemeClr>
                    </a:solidFill>
                  </a:tcPr>
                </a:tc>
                <a:tc>
                  <a:txBody>
                    <a:bodyPr/>
                    <a:lstStyle/>
                    <a:p>
                      <a:pPr algn="ctr" fontAlgn="ctr"/>
                      <a:endParaRPr lang="en-US" altLang="zh-CN" sz="1100" b="0" i="0" u="none" strike="noStrike">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9525" marR="9525" marT="9525" marB="0" anchor="ctr">
                    <a:solidFill>
                      <a:schemeClr val="accent2">
                        <a:lumMod val="20000"/>
                        <a:lumOff val="8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200" kern="1200" dirty="0">
                          <a:solidFill>
                            <a:schemeClr val="dk1"/>
                          </a:solidFill>
                          <a:latin typeface="Arial" panose="020B0604020202020204" pitchFamily="34" charset="0"/>
                          <a:ea typeface="微软雅黑" panose="020B0503020204020204" pitchFamily="34" charset="-122"/>
                          <a:cs typeface="+mn-cs"/>
                          <a:sym typeface="Arial" panose="020B0604020202020204" pitchFamily="34" charset="0"/>
                        </a:rPr>
                        <a:t>总资产周转率</a:t>
                      </a:r>
                      <a:r>
                        <a:rPr lang="en-US" altLang="zh-CN" sz="1200" kern="1200" dirty="0">
                          <a:solidFill>
                            <a:schemeClr val="dk1"/>
                          </a:solidFill>
                          <a:latin typeface="Arial" panose="020B0604020202020204" pitchFamily="34" charset="0"/>
                          <a:ea typeface="微软雅黑" panose="020B0503020204020204" pitchFamily="34" charset="-122"/>
                          <a:cs typeface="+mn-cs"/>
                          <a:sym typeface="Arial" panose="020B0604020202020204" pitchFamily="34" charset="0"/>
                        </a:rPr>
                        <a:t>=</a:t>
                      </a:r>
                      <a:r>
                        <a:rPr lang="zh-CN" altLang="en-US" sz="1200" kern="1200" dirty="0">
                          <a:solidFill>
                            <a:schemeClr val="dk1"/>
                          </a:solidFill>
                          <a:latin typeface="Arial" panose="020B0604020202020204" pitchFamily="34" charset="0"/>
                          <a:ea typeface="微软雅黑" panose="020B0503020204020204" pitchFamily="34" charset="-122"/>
                          <a:cs typeface="+mn-cs"/>
                          <a:sym typeface="Arial" panose="020B0604020202020204" pitchFamily="34" charset="0"/>
                        </a:rPr>
                        <a:t>营业收入净额</a:t>
                      </a:r>
                      <a:r>
                        <a:rPr lang="en-US" altLang="zh-CN" sz="1200" kern="1200" dirty="0">
                          <a:solidFill>
                            <a:schemeClr val="dk1"/>
                          </a:solidFill>
                          <a:latin typeface="Arial" panose="020B0604020202020204" pitchFamily="34" charset="0"/>
                          <a:ea typeface="微软雅黑" panose="020B0503020204020204" pitchFamily="34" charset="-122"/>
                          <a:cs typeface="+mn-cs"/>
                          <a:sym typeface="Arial" panose="020B0604020202020204" pitchFamily="34" charset="0"/>
                        </a:rPr>
                        <a:t>/</a:t>
                      </a:r>
                      <a:r>
                        <a:rPr lang="zh-CN" altLang="en-US" sz="1200" kern="1200" dirty="0">
                          <a:solidFill>
                            <a:schemeClr val="dk1"/>
                          </a:solidFill>
                          <a:latin typeface="Arial" panose="020B0604020202020204" pitchFamily="34" charset="0"/>
                          <a:ea typeface="微软雅黑" panose="020B0503020204020204" pitchFamily="34" charset="-122"/>
                          <a:cs typeface="+mn-cs"/>
                          <a:sym typeface="Arial" panose="020B0604020202020204" pitchFamily="34" charset="0"/>
                        </a:rPr>
                        <a:t>平均资产总额*</a:t>
                      </a:r>
                      <a:r>
                        <a:rPr lang="en-US" altLang="zh-CN" sz="1200" kern="1200" dirty="0">
                          <a:solidFill>
                            <a:schemeClr val="dk1"/>
                          </a:solidFill>
                          <a:latin typeface="Arial" panose="020B0604020202020204" pitchFamily="34" charset="0"/>
                          <a:ea typeface="微软雅黑" panose="020B0503020204020204" pitchFamily="34" charset="-122"/>
                          <a:cs typeface="+mn-cs"/>
                          <a:sym typeface="Arial" panose="020B0604020202020204" pitchFamily="34" charset="0"/>
                        </a:rPr>
                        <a:t>100% </a:t>
                      </a:r>
                      <a:endParaRPr lang="zh-CN" altLang="en-US" sz="1200" dirty="0">
                        <a:latin typeface="Arial" panose="020B0604020202020204" pitchFamily="34" charset="0"/>
                        <a:ea typeface="微软雅黑" panose="020B0503020204020204" pitchFamily="34" charset="-122"/>
                        <a:sym typeface="Arial" panose="020B0604020202020204" pitchFamily="34" charset="0"/>
                      </a:endParaRPr>
                    </a:p>
                  </a:txBody>
                  <a:tcPr>
                    <a:solidFill>
                      <a:schemeClr val="accent2">
                        <a:lumMod val="20000"/>
                        <a:lumOff val="80000"/>
                      </a:schemeClr>
                    </a:solidFill>
                  </a:tcPr>
                </a:tc>
              </a:tr>
              <a:tr h="370840">
                <a:tc>
                  <a:txBody>
                    <a:bodyPr/>
                    <a:lstStyle/>
                    <a:p>
                      <a:r>
                        <a:rPr lang="zh-CN" altLang="en-US" sz="1400" b="1" dirty="0">
                          <a:latin typeface="Arial" panose="020B0604020202020204" pitchFamily="34" charset="0"/>
                          <a:ea typeface="微软雅黑" panose="020B0503020204020204" pitchFamily="34" charset="-122"/>
                          <a:sym typeface="Arial" panose="020B0604020202020204" pitchFamily="34" charset="0"/>
                        </a:rPr>
                        <a:t>应收账款周转率</a:t>
                      </a:r>
                    </a:p>
                  </a:txBody>
                  <a:tcPr>
                    <a:solidFill>
                      <a:schemeClr val="accent2">
                        <a:lumMod val="20000"/>
                        <a:lumOff val="80000"/>
                      </a:schemeClr>
                    </a:solidFill>
                  </a:tcPr>
                </a:tc>
                <a:tc>
                  <a:txBody>
                    <a:bodyPr/>
                    <a:lstStyle/>
                    <a:p>
                      <a:pPr algn="ctr" fontAlgn="ctr"/>
                      <a:endParaRPr lang="en-US" altLang="zh-CN" sz="1100" b="0" i="0" u="none" strike="noStrike">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9525" marR="9525" marT="9525" marB="0" anchor="ctr">
                    <a:solidFill>
                      <a:schemeClr val="accent2">
                        <a:lumMod val="20000"/>
                        <a:lumOff val="80000"/>
                      </a:schemeClr>
                    </a:solidFill>
                  </a:tcPr>
                </a:tc>
                <a:tc>
                  <a:txBody>
                    <a:bodyPr/>
                    <a:lstStyle/>
                    <a:p>
                      <a:pPr algn="ctr" fontAlgn="ctr"/>
                      <a:endParaRPr lang="en-US" altLang="zh-CN" sz="1100" b="0" i="0" u="none" strike="noStrike">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9525" marR="9525" marT="9525" marB="0" anchor="ctr">
                    <a:solidFill>
                      <a:schemeClr val="accent2">
                        <a:lumMod val="20000"/>
                        <a:lumOff val="80000"/>
                      </a:schemeClr>
                    </a:solidFill>
                  </a:tcPr>
                </a:tc>
                <a:tc>
                  <a:txBody>
                    <a:bodyPr/>
                    <a:lstStyle/>
                    <a:p>
                      <a:pPr algn="ctr" fontAlgn="ctr"/>
                      <a:endParaRPr lang="en-US" altLang="zh-CN" sz="11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9525" marR="9525" marT="9525" marB="0" anchor="ctr">
                    <a:solidFill>
                      <a:schemeClr val="accent2">
                        <a:lumMod val="20000"/>
                        <a:lumOff val="80000"/>
                      </a:schemeClr>
                    </a:solidFill>
                  </a:tcPr>
                </a:tc>
                <a:tc>
                  <a:txBody>
                    <a:bodyPr/>
                    <a:lstStyle/>
                    <a:p>
                      <a:pPr algn="ctr" fontAlgn="ctr"/>
                      <a:endParaRPr lang="en-US" altLang="zh-CN" sz="11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9525" marR="9525" marT="9525" marB="0" anchor="ctr">
                    <a:solidFill>
                      <a:schemeClr val="accent2">
                        <a:lumMod val="20000"/>
                        <a:lumOff val="80000"/>
                      </a:schemeClr>
                    </a:solidFill>
                  </a:tcPr>
                </a:tc>
                <a:tc>
                  <a:txBody>
                    <a:bodyPr/>
                    <a:lstStyle/>
                    <a:p>
                      <a:pPr algn="ctr" fontAlgn="ctr"/>
                      <a:endParaRPr lang="en-US" altLang="zh-CN" sz="1100" b="0" i="0" u="none" strike="noStrike">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9525" marR="9525" marT="9525" marB="0" anchor="ctr">
                    <a:solidFill>
                      <a:schemeClr val="accent2">
                        <a:lumMod val="20000"/>
                        <a:lumOff val="80000"/>
                      </a:schemeClr>
                    </a:solidFill>
                  </a:tcPr>
                </a:tc>
                <a:tc>
                  <a:txBody>
                    <a:bodyPr/>
                    <a:lstStyle/>
                    <a:p>
                      <a:r>
                        <a:rPr lang="zh-CN" altLang="en-US" sz="1200" dirty="0">
                          <a:latin typeface="Arial" panose="020B0604020202020204" pitchFamily="34" charset="0"/>
                          <a:ea typeface="微软雅黑" panose="020B0503020204020204" pitchFamily="34" charset="-122"/>
                          <a:sym typeface="Arial" panose="020B0604020202020204" pitchFamily="34" charset="0"/>
                        </a:rPr>
                        <a:t>应收账款周转率</a:t>
                      </a:r>
                      <a:r>
                        <a:rPr lang="en-US" altLang="zh-CN" sz="1200" dirty="0">
                          <a:latin typeface="Arial" panose="020B0604020202020204" pitchFamily="34" charset="0"/>
                          <a:ea typeface="微软雅黑" panose="020B0503020204020204" pitchFamily="34" charset="-122"/>
                          <a:sym typeface="Arial" panose="020B0604020202020204" pitchFamily="34" charset="0"/>
                        </a:rPr>
                        <a:t>=</a:t>
                      </a:r>
                      <a:r>
                        <a:rPr lang="zh-CN" altLang="en-US" sz="1200" dirty="0">
                          <a:latin typeface="Arial" panose="020B0604020202020204" pitchFamily="34" charset="0"/>
                          <a:ea typeface="微软雅黑" panose="020B0503020204020204" pitchFamily="34" charset="-122"/>
                          <a:sym typeface="Arial" panose="020B0604020202020204" pitchFamily="34" charset="0"/>
                        </a:rPr>
                        <a:t>销售收入</a:t>
                      </a:r>
                      <a:r>
                        <a:rPr lang="en-US" altLang="zh-CN" sz="1200" dirty="0">
                          <a:latin typeface="Arial" panose="020B0604020202020204" pitchFamily="34" charset="0"/>
                          <a:ea typeface="微软雅黑" panose="020B0503020204020204" pitchFamily="34" charset="-122"/>
                          <a:sym typeface="Arial" panose="020B0604020202020204" pitchFamily="34" charset="0"/>
                        </a:rPr>
                        <a:t>÷</a:t>
                      </a:r>
                      <a:r>
                        <a:rPr lang="zh-CN" altLang="en-US" sz="1200" dirty="0">
                          <a:latin typeface="Arial" panose="020B0604020202020204" pitchFamily="34" charset="0"/>
                          <a:ea typeface="微软雅黑" panose="020B0503020204020204" pitchFamily="34" charset="-122"/>
                          <a:sym typeface="Arial" panose="020B0604020202020204" pitchFamily="34" charset="0"/>
                        </a:rPr>
                        <a:t>平均应收账款</a:t>
                      </a:r>
                      <a:r>
                        <a:rPr lang="en-US" altLang="zh-CN" sz="1200" dirty="0">
                          <a:latin typeface="Arial" panose="020B0604020202020204" pitchFamily="34" charset="0"/>
                          <a:ea typeface="微软雅黑" panose="020B0503020204020204" pitchFamily="34" charset="-122"/>
                          <a:sym typeface="Arial" panose="020B0604020202020204" pitchFamily="34" charset="0"/>
                        </a:rPr>
                        <a:t>*100%</a:t>
                      </a:r>
                      <a:endParaRPr lang="zh-CN" altLang="en-US" sz="1200" dirty="0">
                        <a:latin typeface="Arial" panose="020B0604020202020204" pitchFamily="34" charset="0"/>
                        <a:ea typeface="微软雅黑" panose="020B0503020204020204" pitchFamily="34" charset="-122"/>
                        <a:sym typeface="Arial" panose="020B0604020202020204" pitchFamily="34" charset="0"/>
                      </a:endParaRPr>
                    </a:p>
                  </a:txBody>
                  <a:tcPr>
                    <a:solidFill>
                      <a:schemeClr val="accent2">
                        <a:lumMod val="20000"/>
                        <a:lumOff val="80000"/>
                      </a:schemeClr>
                    </a:solidFill>
                  </a:tcPr>
                </a:tc>
              </a:tr>
              <a:tr h="370840">
                <a:tc>
                  <a:txBody>
                    <a:bodyPr/>
                    <a:lstStyle/>
                    <a:p>
                      <a:r>
                        <a:rPr lang="zh-CN" altLang="en-US" sz="1400" b="1" dirty="0">
                          <a:latin typeface="Arial" panose="020B0604020202020204" pitchFamily="34" charset="0"/>
                          <a:ea typeface="微软雅黑" panose="020B0503020204020204" pitchFamily="34" charset="-122"/>
                          <a:sym typeface="Arial" panose="020B0604020202020204" pitchFamily="34" charset="0"/>
                        </a:rPr>
                        <a:t>存货周转率</a:t>
                      </a:r>
                    </a:p>
                  </a:txBody>
                  <a:tcPr>
                    <a:solidFill>
                      <a:schemeClr val="accent2">
                        <a:lumMod val="20000"/>
                        <a:lumOff val="80000"/>
                      </a:schemeClr>
                    </a:solidFill>
                  </a:tcPr>
                </a:tc>
                <a:tc>
                  <a:txBody>
                    <a:bodyPr/>
                    <a:lstStyle/>
                    <a:p>
                      <a:pPr algn="ctr" fontAlgn="ctr"/>
                      <a:endParaRPr lang="en-US" altLang="zh-CN" sz="1100" b="0" i="0" u="none" strike="noStrike">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9525" marR="9525" marT="9525" marB="0" anchor="ctr">
                    <a:solidFill>
                      <a:schemeClr val="accent2">
                        <a:lumMod val="20000"/>
                        <a:lumOff val="80000"/>
                      </a:schemeClr>
                    </a:solidFill>
                  </a:tcPr>
                </a:tc>
                <a:tc>
                  <a:txBody>
                    <a:bodyPr/>
                    <a:lstStyle/>
                    <a:p>
                      <a:pPr algn="ctr" fontAlgn="ctr"/>
                      <a:endParaRPr lang="en-US" altLang="zh-CN" sz="1100" b="0" i="0" u="none" strike="noStrike">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9525" marR="9525" marT="9525" marB="0" anchor="ctr">
                    <a:solidFill>
                      <a:schemeClr val="accent2">
                        <a:lumMod val="20000"/>
                        <a:lumOff val="80000"/>
                      </a:schemeClr>
                    </a:solidFill>
                  </a:tcPr>
                </a:tc>
                <a:tc>
                  <a:txBody>
                    <a:bodyPr/>
                    <a:lstStyle/>
                    <a:p>
                      <a:pPr algn="ctr" fontAlgn="ctr"/>
                      <a:endParaRPr lang="en-US" altLang="zh-CN" sz="11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9525" marR="9525" marT="9525" marB="0" anchor="ctr">
                    <a:solidFill>
                      <a:schemeClr val="accent2">
                        <a:lumMod val="20000"/>
                        <a:lumOff val="80000"/>
                      </a:schemeClr>
                    </a:solidFill>
                  </a:tcPr>
                </a:tc>
                <a:tc>
                  <a:txBody>
                    <a:bodyPr/>
                    <a:lstStyle/>
                    <a:p>
                      <a:pPr algn="ctr" fontAlgn="ctr"/>
                      <a:endParaRPr lang="en-US" altLang="zh-CN" sz="11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9525" marR="9525" marT="9525" marB="0" anchor="ctr">
                    <a:solidFill>
                      <a:schemeClr val="accent2">
                        <a:lumMod val="20000"/>
                        <a:lumOff val="80000"/>
                      </a:schemeClr>
                    </a:solidFill>
                  </a:tcPr>
                </a:tc>
                <a:tc>
                  <a:txBody>
                    <a:bodyPr/>
                    <a:lstStyle/>
                    <a:p>
                      <a:pPr algn="ctr" fontAlgn="ctr"/>
                      <a:endParaRPr lang="en-US" altLang="zh-CN" sz="1100" b="0" i="0" u="none" strike="noStrike">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9525" marR="9525" marT="9525" marB="0" anchor="ctr">
                    <a:solidFill>
                      <a:schemeClr val="accent2">
                        <a:lumMod val="20000"/>
                        <a:lumOff val="80000"/>
                      </a:schemeClr>
                    </a:solidFill>
                  </a:tcPr>
                </a:tc>
                <a:tc>
                  <a:txBody>
                    <a:bodyPr/>
                    <a:lstStyle/>
                    <a:p>
                      <a:r>
                        <a:rPr lang="zh-CN" altLang="en-US" sz="1200" kern="1200" dirty="0">
                          <a:solidFill>
                            <a:schemeClr val="dk1"/>
                          </a:solidFill>
                          <a:latin typeface="Arial" panose="020B0604020202020204" pitchFamily="34" charset="0"/>
                          <a:ea typeface="微软雅黑" panose="020B0503020204020204" pitchFamily="34" charset="-122"/>
                          <a:cs typeface="+mn-cs"/>
                          <a:sym typeface="Arial" panose="020B0604020202020204" pitchFamily="34" charset="0"/>
                        </a:rPr>
                        <a:t>存货周转率（次）＝销售（营业）成本</a:t>
                      </a:r>
                      <a:r>
                        <a:rPr lang="en-US" altLang="zh-CN" sz="1200" kern="1200" dirty="0">
                          <a:solidFill>
                            <a:schemeClr val="dk1"/>
                          </a:solidFill>
                          <a:latin typeface="Arial" panose="020B0604020202020204" pitchFamily="34" charset="0"/>
                          <a:ea typeface="微软雅黑" panose="020B0503020204020204" pitchFamily="34" charset="-122"/>
                          <a:cs typeface="+mn-cs"/>
                          <a:sym typeface="Arial" panose="020B0604020202020204" pitchFamily="34" charset="0"/>
                        </a:rPr>
                        <a:t>÷</a:t>
                      </a:r>
                      <a:r>
                        <a:rPr lang="zh-CN" altLang="en-US" sz="1200" kern="1200" dirty="0">
                          <a:solidFill>
                            <a:schemeClr val="dk1"/>
                          </a:solidFill>
                          <a:latin typeface="Arial" panose="020B0604020202020204" pitchFamily="34" charset="0"/>
                          <a:ea typeface="微软雅黑" panose="020B0503020204020204" pitchFamily="34" charset="-122"/>
                          <a:cs typeface="+mn-cs"/>
                          <a:sym typeface="Arial" panose="020B0604020202020204" pitchFamily="34" charset="0"/>
                        </a:rPr>
                        <a:t>平均存货 </a:t>
                      </a:r>
                    </a:p>
                  </a:txBody>
                  <a:tcPr>
                    <a:solidFill>
                      <a:schemeClr val="accent2">
                        <a:lumMod val="20000"/>
                        <a:lumOff val="80000"/>
                      </a:schemeClr>
                    </a:solidFill>
                  </a:tcPr>
                </a:tc>
              </a:tr>
              <a:tr h="370840">
                <a:tc>
                  <a:txBody>
                    <a:bodyPr/>
                    <a:lstStyle/>
                    <a:p>
                      <a:r>
                        <a:rPr lang="zh-CN" altLang="en-US" sz="1400" b="1" dirty="0">
                          <a:latin typeface="Arial" panose="020B0604020202020204" pitchFamily="34" charset="0"/>
                          <a:ea typeface="微软雅黑" panose="020B0503020204020204" pitchFamily="34" charset="-122"/>
                          <a:sym typeface="Arial" panose="020B0604020202020204" pitchFamily="34" charset="0"/>
                        </a:rPr>
                        <a:t>资产负债率</a:t>
                      </a:r>
                    </a:p>
                  </a:txBody>
                  <a:tcPr>
                    <a:solidFill>
                      <a:schemeClr val="accent3">
                        <a:lumMod val="40000"/>
                        <a:lumOff val="60000"/>
                      </a:schemeClr>
                    </a:solidFill>
                  </a:tcPr>
                </a:tc>
                <a:tc>
                  <a:txBody>
                    <a:bodyPr/>
                    <a:lstStyle/>
                    <a:p>
                      <a:pPr algn="ctr" fontAlgn="ctr"/>
                      <a:endParaRPr lang="en-US" altLang="zh-CN" sz="1100" b="0" i="0" u="none" strike="noStrike">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9525" marR="9525" marT="9525" marB="0" anchor="ctr">
                    <a:solidFill>
                      <a:schemeClr val="accent3">
                        <a:lumMod val="40000"/>
                        <a:lumOff val="60000"/>
                      </a:schemeClr>
                    </a:solidFill>
                  </a:tcPr>
                </a:tc>
                <a:tc>
                  <a:txBody>
                    <a:bodyPr/>
                    <a:lstStyle/>
                    <a:p>
                      <a:pPr algn="ctr" fontAlgn="ctr"/>
                      <a:endParaRPr lang="en-US" altLang="zh-CN" sz="1100" b="0" i="0" u="none" strike="noStrike">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9525" marR="9525" marT="9525" marB="0" anchor="ctr">
                    <a:solidFill>
                      <a:schemeClr val="accent3">
                        <a:lumMod val="40000"/>
                        <a:lumOff val="60000"/>
                      </a:schemeClr>
                    </a:solidFill>
                  </a:tcPr>
                </a:tc>
                <a:tc>
                  <a:txBody>
                    <a:bodyPr/>
                    <a:lstStyle/>
                    <a:p>
                      <a:pPr algn="ctr" fontAlgn="ctr"/>
                      <a:endParaRPr lang="en-US" altLang="zh-CN" sz="11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9525" marR="9525" marT="9525" marB="0" anchor="ctr">
                    <a:solidFill>
                      <a:schemeClr val="accent3">
                        <a:lumMod val="40000"/>
                        <a:lumOff val="60000"/>
                      </a:schemeClr>
                    </a:solidFill>
                  </a:tcPr>
                </a:tc>
                <a:tc>
                  <a:txBody>
                    <a:bodyPr/>
                    <a:lstStyle/>
                    <a:p>
                      <a:pPr algn="ctr" fontAlgn="ctr"/>
                      <a:endParaRPr lang="en-US" altLang="zh-CN" sz="11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9525" marR="9525" marT="9525" marB="0" anchor="ctr">
                    <a:solidFill>
                      <a:schemeClr val="accent3">
                        <a:lumMod val="40000"/>
                        <a:lumOff val="60000"/>
                      </a:schemeClr>
                    </a:solidFill>
                  </a:tcPr>
                </a:tc>
                <a:tc>
                  <a:txBody>
                    <a:bodyPr/>
                    <a:lstStyle/>
                    <a:p>
                      <a:pPr algn="ctr" fontAlgn="ctr"/>
                      <a:endParaRPr lang="en-US" altLang="zh-CN" sz="11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9525" marR="9525" marT="9525" marB="0" anchor="ctr">
                    <a:solidFill>
                      <a:schemeClr val="accent3">
                        <a:lumMod val="40000"/>
                        <a:lumOff val="60000"/>
                      </a:schemeClr>
                    </a:solidFill>
                  </a:tcPr>
                </a:tc>
                <a:tc>
                  <a:txBody>
                    <a:bodyPr/>
                    <a:lstStyle/>
                    <a:p>
                      <a:r>
                        <a:rPr lang="zh-CN" altLang="en-US" sz="1200" kern="1200" dirty="0">
                          <a:solidFill>
                            <a:schemeClr val="dk1"/>
                          </a:solidFill>
                          <a:latin typeface="Arial" panose="020B0604020202020204" pitchFamily="34" charset="0"/>
                          <a:ea typeface="微软雅黑" panose="020B0503020204020204" pitchFamily="34" charset="-122"/>
                          <a:cs typeface="+mn-cs"/>
                          <a:sym typeface="Arial" panose="020B0604020202020204" pitchFamily="34" charset="0"/>
                        </a:rPr>
                        <a:t>资产负债率</a:t>
                      </a:r>
                      <a:r>
                        <a:rPr lang="en-US" altLang="zh-CN" sz="1200" kern="1200" dirty="0">
                          <a:solidFill>
                            <a:schemeClr val="dk1"/>
                          </a:solidFill>
                          <a:latin typeface="Arial" panose="020B0604020202020204" pitchFamily="34" charset="0"/>
                          <a:ea typeface="微软雅黑" panose="020B0503020204020204" pitchFamily="34" charset="-122"/>
                          <a:cs typeface="+mn-cs"/>
                          <a:sym typeface="Arial" panose="020B0604020202020204" pitchFamily="34" charset="0"/>
                        </a:rPr>
                        <a:t>=</a:t>
                      </a:r>
                      <a:r>
                        <a:rPr lang="zh-CN" altLang="en-US" sz="1200" kern="1200" dirty="0">
                          <a:solidFill>
                            <a:schemeClr val="dk1"/>
                          </a:solidFill>
                          <a:latin typeface="Arial" panose="020B0604020202020204" pitchFamily="34" charset="0"/>
                          <a:ea typeface="微软雅黑" panose="020B0503020204020204" pitchFamily="34" charset="-122"/>
                          <a:cs typeface="+mn-cs"/>
                          <a:sym typeface="Arial" panose="020B0604020202020204" pitchFamily="34" charset="0"/>
                        </a:rPr>
                        <a:t>负债总额</a:t>
                      </a:r>
                      <a:r>
                        <a:rPr lang="en-US" altLang="zh-CN" sz="1200" kern="1200" dirty="0">
                          <a:solidFill>
                            <a:schemeClr val="dk1"/>
                          </a:solidFill>
                          <a:latin typeface="Arial" panose="020B0604020202020204" pitchFamily="34" charset="0"/>
                          <a:ea typeface="微软雅黑" panose="020B0503020204020204" pitchFamily="34" charset="-122"/>
                          <a:cs typeface="+mn-cs"/>
                          <a:sym typeface="Arial" panose="020B0604020202020204" pitchFamily="34" charset="0"/>
                        </a:rPr>
                        <a:t>/</a:t>
                      </a:r>
                      <a:r>
                        <a:rPr lang="zh-CN" altLang="en-US" sz="1200" kern="1200" dirty="0">
                          <a:solidFill>
                            <a:schemeClr val="dk1"/>
                          </a:solidFill>
                          <a:latin typeface="Arial" panose="020B0604020202020204" pitchFamily="34" charset="0"/>
                          <a:ea typeface="微软雅黑" panose="020B0503020204020204" pitchFamily="34" charset="-122"/>
                          <a:cs typeface="+mn-cs"/>
                          <a:sym typeface="Arial" panose="020B0604020202020204" pitchFamily="34" charset="0"/>
                        </a:rPr>
                        <a:t>资产总额</a:t>
                      </a:r>
                      <a:r>
                        <a:rPr lang="en-US" altLang="zh-CN" sz="1200" kern="1200" dirty="0">
                          <a:solidFill>
                            <a:schemeClr val="dk1"/>
                          </a:solidFill>
                          <a:latin typeface="Arial" panose="020B0604020202020204" pitchFamily="34" charset="0"/>
                          <a:ea typeface="微软雅黑" panose="020B0503020204020204" pitchFamily="34" charset="-122"/>
                          <a:cs typeface="+mn-cs"/>
                          <a:sym typeface="Arial" panose="020B0604020202020204" pitchFamily="34" charset="0"/>
                        </a:rPr>
                        <a:t>×100%</a:t>
                      </a:r>
                      <a:endParaRPr lang="zh-CN" altLang="en-US" sz="1200" kern="1200" dirty="0">
                        <a:solidFill>
                          <a:schemeClr val="dk1"/>
                        </a:solidFill>
                        <a:latin typeface="Arial" panose="020B0604020202020204" pitchFamily="34" charset="0"/>
                        <a:ea typeface="微软雅黑" panose="020B0503020204020204" pitchFamily="34" charset="-122"/>
                        <a:cs typeface="+mn-cs"/>
                        <a:sym typeface="Arial" panose="020B0604020202020204" pitchFamily="34" charset="0"/>
                      </a:endParaRPr>
                    </a:p>
                  </a:txBody>
                  <a:tcPr>
                    <a:solidFill>
                      <a:schemeClr val="accent3">
                        <a:lumMod val="40000"/>
                        <a:lumOff val="60000"/>
                      </a:schemeClr>
                    </a:solidFill>
                  </a:tcPr>
                </a:tc>
              </a:tr>
            </a:tbl>
          </a:graphicData>
        </a:graphic>
      </p:graphicFrame>
      <p:sp>
        <p:nvSpPr>
          <p:cNvPr id="17" name="TextBox 6"/>
          <p:cNvSpPr txBox="1"/>
          <p:nvPr/>
        </p:nvSpPr>
        <p:spPr>
          <a:xfrm>
            <a:off x="323528" y="4662581"/>
            <a:ext cx="8280920" cy="523220"/>
          </a:xfrm>
          <a:prstGeom prst="rect">
            <a:avLst/>
          </a:prstGeom>
          <a:noFill/>
        </p:spPr>
        <p:txBody>
          <a:bodyPr wrap="square" rtlCol="0">
            <a:spAutoFit/>
          </a:bodyPr>
          <a:lstStyle/>
          <a:p>
            <a:r>
              <a:rPr lang="zh-CN" altLang="en-US" sz="1400" dirty="0">
                <a:latin typeface="Arial" panose="020B0604020202020204" pitchFamily="34" charset="0"/>
                <a:ea typeface="微软雅黑" panose="020B0503020204020204" pitchFamily="34" charset="-122"/>
                <a:sym typeface="Arial" panose="020B0604020202020204" pitchFamily="34" charset="0"/>
              </a:rPr>
              <a:t>分析：资产收益率和净资产收益率从</a:t>
            </a:r>
            <a:r>
              <a:rPr lang="en-US" altLang="zh-CN" sz="1400" dirty="0">
                <a:latin typeface="Arial" panose="020B0604020202020204" pitchFamily="34" charset="0"/>
                <a:ea typeface="微软雅黑" panose="020B0503020204020204" pitchFamily="34" charset="-122"/>
                <a:sym typeface="Arial" panose="020B0604020202020204" pitchFamily="34" charset="0"/>
              </a:rPr>
              <a:t>2014</a:t>
            </a:r>
            <a:r>
              <a:rPr lang="zh-CN" altLang="en-US" sz="1400" dirty="0">
                <a:latin typeface="Arial" panose="020B0604020202020204" pitchFamily="34" charset="0"/>
                <a:ea typeface="微软雅黑" panose="020B0503020204020204" pitchFamily="34" charset="-122"/>
                <a:sym typeface="Arial" panose="020B0604020202020204" pitchFamily="34" charset="0"/>
              </a:rPr>
              <a:t>年到</a:t>
            </a:r>
            <a:r>
              <a:rPr lang="en-US" altLang="zh-CN" sz="1400" dirty="0">
                <a:latin typeface="Arial" panose="020B0604020202020204" pitchFamily="34" charset="0"/>
                <a:ea typeface="微软雅黑" panose="020B0503020204020204" pitchFamily="34" charset="-122"/>
                <a:sym typeface="Arial" panose="020B0604020202020204" pitchFamily="34" charset="0"/>
              </a:rPr>
              <a:t>2017</a:t>
            </a:r>
            <a:r>
              <a:rPr lang="zh-CN" altLang="en-US" sz="1400" dirty="0">
                <a:latin typeface="Arial" panose="020B0604020202020204" pitchFamily="34" charset="0"/>
                <a:ea typeface="微软雅黑" panose="020B0503020204020204" pitchFamily="34" charset="-122"/>
                <a:sym typeface="Arial" panose="020B0604020202020204" pitchFamily="34" charset="0"/>
              </a:rPr>
              <a:t>年上半年处于的趋势；总资产周转率、应收账款周转率、存货周转率，资金和存货；资产负债率方面，稳定保持在左右。</a:t>
            </a:r>
          </a:p>
        </p:txBody>
      </p:sp>
      <p:sp>
        <p:nvSpPr>
          <p:cNvPr id="18" name="TextBox 7"/>
          <p:cNvSpPr txBox="1"/>
          <p:nvPr/>
        </p:nvSpPr>
        <p:spPr>
          <a:xfrm>
            <a:off x="7782674" y="330746"/>
            <a:ext cx="1296144" cy="261610"/>
          </a:xfrm>
          <a:prstGeom prst="rect">
            <a:avLst/>
          </a:prstGeom>
          <a:noFill/>
        </p:spPr>
        <p:txBody>
          <a:bodyPr wrap="square" rtlCol="0">
            <a:spAutoFit/>
          </a:bodyPr>
          <a:lstStyle/>
          <a:p>
            <a:r>
              <a:rPr lang="zh-CN" altLang="en-US" sz="1100" b="1" dirty="0">
                <a:latin typeface="Arial" panose="020B0604020202020204" pitchFamily="34" charset="0"/>
                <a:ea typeface="微软雅黑" panose="020B0503020204020204" pitchFamily="34" charset="-122"/>
                <a:sym typeface="Arial" panose="020B0604020202020204" pitchFamily="34" charset="0"/>
              </a:rPr>
              <a:t>单位：万元</a:t>
            </a:r>
          </a:p>
        </p:txBody>
      </p:sp>
    </p:spTree>
  </p:cSld>
  <p:clrMapOvr>
    <a:masterClrMapping/>
  </p:clrMapOvr>
  <p:transition spd="slow" advClick="0" advTm="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1000"/>
                                        <p:tgtEl>
                                          <p:spTgt spid="16"/>
                                        </p:tgtEl>
                                      </p:cBhvr>
                                    </p:animEffect>
                                    <p:anim calcmode="lin" valueType="num">
                                      <p:cBhvr>
                                        <p:cTn id="14" dur="1000" fill="hold"/>
                                        <p:tgtEl>
                                          <p:spTgt spid="16"/>
                                        </p:tgtEl>
                                        <p:attrNameLst>
                                          <p:attrName>ppt_x</p:attrName>
                                        </p:attrNameLst>
                                      </p:cBhvr>
                                      <p:tavLst>
                                        <p:tav tm="0">
                                          <p:val>
                                            <p:strVal val="#ppt_x"/>
                                          </p:val>
                                        </p:tav>
                                        <p:tav tm="100000">
                                          <p:val>
                                            <p:strVal val="#ppt_x"/>
                                          </p:val>
                                        </p:tav>
                                      </p:tavLst>
                                    </p:anim>
                                    <p:anim calcmode="lin" valueType="num">
                                      <p:cBhvr>
                                        <p:cTn id="15" dur="1000" fill="hold"/>
                                        <p:tgtEl>
                                          <p:spTgt spid="16"/>
                                        </p:tgtEl>
                                        <p:attrNameLst>
                                          <p:attrName>ppt_y</p:attrName>
                                        </p:attrNameLst>
                                      </p:cBhvr>
                                      <p:tavLst>
                                        <p:tav tm="0">
                                          <p:val>
                                            <p:strVal val="#ppt_y+.1"/>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1000"/>
                                        <p:tgtEl>
                                          <p:spTgt spid="17"/>
                                        </p:tgtEl>
                                      </p:cBhvr>
                                    </p:animEffect>
                                    <p:anim calcmode="lin" valueType="num">
                                      <p:cBhvr>
                                        <p:cTn id="19" dur="1000" fill="hold"/>
                                        <p:tgtEl>
                                          <p:spTgt spid="17"/>
                                        </p:tgtEl>
                                        <p:attrNameLst>
                                          <p:attrName>ppt_x</p:attrName>
                                        </p:attrNameLst>
                                      </p:cBhvr>
                                      <p:tavLst>
                                        <p:tav tm="0">
                                          <p:val>
                                            <p:strVal val="#ppt_x"/>
                                          </p:val>
                                        </p:tav>
                                        <p:tav tm="100000">
                                          <p:val>
                                            <p:strVal val="#ppt_x"/>
                                          </p:val>
                                        </p:tav>
                                      </p:tavLst>
                                    </p:anim>
                                    <p:anim calcmode="lin" valueType="num">
                                      <p:cBhvr>
                                        <p:cTn id="20"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1203598"/>
            <a:ext cx="9144000" cy="1814777"/>
            <a:chOff x="0" y="1651830"/>
            <a:chExt cx="9144000" cy="1814777"/>
          </a:xfrm>
        </p:grpSpPr>
        <p:sp>
          <p:nvSpPr>
            <p:cNvPr id="44" name="等腰三角形 43"/>
            <p:cNvSpPr/>
            <p:nvPr/>
          </p:nvSpPr>
          <p:spPr>
            <a:xfrm>
              <a:off x="2469921" y="1651830"/>
              <a:ext cx="825385" cy="828242"/>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100">
                <a:latin typeface="Arial" panose="020B0604020202020204" pitchFamily="34" charset="0"/>
                <a:ea typeface="微软雅黑" panose="020B0503020204020204" pitchFamily="34" charset="-122"/>
                <a:sym typeface="Arial" panose="020B0604020202020204" pitchFamily="34" charset="0"/>
              </a:endParaRPr>
            </a:p>
          </p:txBody>
        </p:sp>
        <p:sp>
          <p:nvSpPr>
            <p:cNvPr id="45" name="等腰三角形 44"/>
            <p:cNvSpPr/>
            <p:nvPr/>
          </p:nvSpPr>
          <p:spPr>
            <a:xfrm flipV="1">
              <a:off x="68682" y="2638365"/>
              <a:ext cx="825385" cy="828242"/>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100">
                <a:latin typeface="Arial" panose="020B0604020202020204" pitchFamily="34" charset="0"/>
                <a:ea typeface="微软雅黑" panose="020B0503020204020204" pitchFamily="34" charset="-122"/>
                <a:sym typeface="Arial" panose="020B0604020202020204" pitchFamily="34" charset="0"/>
              </a:endParaRPr>
            </a:p>
          </p:txBody>
        </p:sp>
        <p:sp>
          <p:nvSpPr>
            <p:cNvPr id="46" name="矩形 45"/>
            <p:cNvSpPr/>
            <p:nvPr/>
          </p:nvSpPr>
          <p:spPr>
            <a:xfrm>
              <a:off x="0" y="1846479"/>
              <a:ext cx="9144000" cy="142173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100">
                <a:latin typeface="Arial" panose="020B0604020202020204" pitchFamily="34" charset="0"/>
                <a:ea typeface="微软雅黑" panose="020B0503020204020204" pitchFamily="34" charset="-122"/>
                <a:sym typeface="Arial" panose="020B0604020202020204" pitchFamily="34" charset="0"/>
              </a:endParaRPr>
            </a:p>
          </p:txBody>
        </p:sp>
        <p:sp>
          <p:nvSpPr>
            <p:cNvPr id="47" name="平行四边形 46"/>
            <p:cNvSpPr/>
            <p:nvPr/>
          </p:nvSpPr>
          <p:spPr>
            <a:xfrm>
              <a:off x="479202" y="1652469"/>
              <a:ext cx="2406979" cy="1809759"/>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100">
                <a:latin typeface="Arial" panose="020B0604020202020204" pitchFamily="34" charset="0"/>
                <a:ea typeface="微软雅黑" panose="020B0503020204020204" pitchFamily="34" charset="-122"/>
                <a:sym typeface="Arial" panose="020B0604020202020204" pitchFamily="34" charset="0"/>
              </a:endParaRPr>
            </a:p>
          </p:txBody>
        </p:sp>
      </p:grpSp>
      <p:sp>
        <p:nvSpPr>
          <p:cNvPr id="48" name="文本框 6"/>
          <p:cNvSpPr txBox="1"/>
          <p:nvPr/>
        </p:nvSpPr>
        <p:spPr>
          <a:xfrm>
            <a:off x="1115616" y="1450309"/>
            <a:ext cx="1322150" cy="1299210"/>
          </a:xfrm>
          <a:prstGeom prst="rect">
            <a:avLst/>
          </a:prstGeom>
          <a:noFill/>
        </p:spPr>
        <p:txBody>
          <a:bodyPr wrap="square" lIns="68580" tIns="34290" rIns="68580" bIns="34290" rtlCol="0">
            <a:spAutoFit/>
          </a:bodyPr>
          <a:lstStyle/>
          <a:p>
            <a:r>
              <a:rPr lang="en-US" altLang="zh-CN" sz="8000" dirty="0">
                <a:solidFill>
                  <a:schemeClr val="bg1">
                    <a:lumMod val="95000"/>
                  </a:schemeClr>
                </a:solidFill>
                <a:latin typeface="Arial" panose="020B0604020202020204" pitchFamily="34" charset="0"/>
                <a:ea typeface="微软雅黑" panose="020B0503020204020204" pitchFamily="34" charset="-122"/>
                <a:sym typeface="Arial" panose="020B0604020202020204" pitchFamily="34" charset="0"/>
              </a:rPr>
              <a:t>02</a:t>
            </a:r>
            <a:endParaRPr lang="zh-CN" altLang="en-US" sz="8000" dirty="0">
              <a:solidFill>
                <a:schemeClr val="bg1">
                  <a:lumMod val="9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49" name="TextBox 48"/>
          <p:cNvSpPr txBox="1"/>
          <p:nvPr/>
        </p:nvSpPr>
        <p:spPr>
          <a:xfrm>
            <a:off x="2977966" y="1831998"/>
            <a:ext cx="5050408" cy="561692"/>
          </a:xfrm>
          <a:prstGeom prst="rect">
            <a:avLst/>
          </a:prstGeom>
          <a:noFill/>
        </p:spPr>
        <p:txBody>
          <a:bodyPr wrap="square" lIns="68583" tIns="34290" rIns="68583" bIns="34290" rtlCol="0">
            <a:spAutoFit/>
          </a:bodyPr>
          <a:lstStyle/>
          <a:p>
            <a:r>
              <a:rPr lang="zh-CN" altLang="en-US" sz="3200" b="1"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三大报表分析</a:t>
            </a:r>
            <a:r>
              <a:rPr lang="en-US" altLang="zh-CN" sz="3200" b="1"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a:t>
            </a:r>
            <a:r>
              <a:rPr lang="zh-CN" altLang="en-US" sz="3200" b="1"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利润表</a:t>
            </a:r>
          </a:p>
        </p:txBody>
      </p:sp>
      <p:grpSp>
        <p:nvGrpSpPr>
          <p:cNvPr id="7" name="PA-组合 6"/>
          <p:cNvGrpSpPr/>
          <p:nvPr>
            <p:custDataLst>
              <p:tags r:id="rId1"/>
            </p:custDataLst>
          </p:nvPr>
        </p:nvGrpSpPr>
        <p:grpSpPr>
          <a:xfrm>
            <a:off x="5940152" y="826588"/>
            <a:ext cx="432048" cy="432834"/>
            <a:chOff x="6084168" y="1274820"/>
            <a:chExt cx="432048" cy="432834"/>
          </a:xfrm>
        </p:grpSpPr>
        <p:sp>
          <p:nvSpPr>
            <p:cNvPr id="14" name="PA-椭圆 22"/>
            <p:cNvSpPr>
              <a:spLocks noChangeArrowheads="1"/>
            </p:cNvSpPr>
            <p:nvPr>
              <p:custDataLst>
                <p:tags r:id="rId14"/>
              </p:custDataLst>
            </p:nvPr>
          </p:nvSpPr>
          <p:spPr bwMode="auto">
            <a:xfrm>
              <a:off x="6084168" y="1274820"/>
              <a:ext cx="432048" cy="432834"/>
            </a:xfrm>
            <a:prstGeom prst="ellipse">
              <a:avLst/>
            </a:prstGeom>
            <a:solidFill>
              <a:schemeClr val="accent1"/>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00">
                <a:solidFill>
                  <a:srgbClr val="FFFFFF"/>
                </a:solidFill>
                <a:ea typeface="微软雅黑" panose="020B0503020204020204" pitchFamily="34" charset="-122"/>
                <a:sym typeface="Arial" panose="020B0604020202020204" pitchFamily="34" charset="0"/>
              </a:endParaRPr>
            </a:p>
          </p:txBody>
        </p:sp>
        <p:sp>
          <p:nvSpPr>
            <p:cNvPr id="19" name="PA-任意多边形 59"/>
            <p:cNvSpPr>
              <a:spLocks noChangeArrowheads="1"/>
            </p:cNvSpPr>
            <p:nvPr>
              <p:custDataLst>
                <p:tags r:id="rId15"/>
              </p:custDataLst>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sz="100">
                <a:latin typeface="Arial" panose="020B0604020202020204" pitchFamily="34" charset="0"/>
                <a:ea typeface="微软雅黑" panose="020B0503020204020204" pitchFamily="34" charset="-122"/>
                <a:sym typeface="Arial" panose="020B0604020202020204" pitchFamily="34" charset="0"/>
              </a:endParaRPr>
            </a:p>
          </p:txBody>
        </p:sp>
      </p:grpSp>
      <p:grpSp>
        <p:nvGrpSpPr>
          <p:cNvPr id="6" name="PA-组合 5"/>
          <p:cNvGrpSpPr/>
          <p:nvPr>
            <p:custDataLst>
              <p:tags r:id="rId2"/>
            </p:custDataLst>
          </p:nvPr>
        </p:nvGrpSpPr>
        <p:grpSpPr>
          <a:xfrm>
            <a:off x="4644008" y="826981"/>
            <a:ext cx="432048" cy="432048"/>
            <a:chOff x="4788024" y="1275213"/>
            <a:chExt cx="432048" cy="432048"/>
          </a:xfrm>
        </p:grpSpPr>
        <p:sp>
          <p:nvSpPr>
            <p:cNvPr id="17" name="PA-椭圆 65"/>
            <p:cNvSpPr>
              <a:spLocks noChangeArrowheads="1"/>
            </p:cNvSpPr>
            <p:nvPr>
              <p:custDataLst>
                <p:tags r:id="rId12"/>
              </p:custDataLst>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00">
                <a:solidFill>
                  <a:srgbClr val="FFFFFF"/>
                </a:solidFill>
                <a:ea typeface="微软雅黑" panose="020B0503020204020204" pitchFamily="34" charset="-122"/>
                <a:sym typeface="Arial" panose="020B0604020202020204" pitchFamily="34" charset="0"/>
              </a:endParaRPr>
            </a:p>
          </p:txBody>
        </p:sp>
        <p:sp>
          <p:nvSpPr>
            <p:cNvPr id="20" name="PA-任意多边形 110"/>
            <p:cNvSpPr>
              <a:spLocks noChangeArrowheads="1"/>
            </p:cNvSpPr>
            <p:nvPr>
              <p:custDataLst>
                <p:tags r:id="rId13"/>
              </p:custDataLst>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sz="100">
                <a:latin typeface="Arial" panose="020B0604020202020204" pitchFamily="34" charset="0"/>
                <a:ea typeface="微软雅黑" panose="020B0503020204020204" pitchFamily="34" charset="-122"/>
                <a:sym typeface="Arial" panose="020B0604020202020204" pitchFamily="34" charset="0"/>
              </a:endParaRPr>
            </a:p>
          </p:txBody>
        </p:sp>
      </p:grpSp>
      <p:grpSp>
        <p:nvGrpSpPr>
          <p:cNvPr id="9" name="PA-组合 8"/>
          <p:cNvGrpSpPr/>
          <p:nvPr>
            <p:custDataLst>
              <p:tags r:id="rId3"/>
            </p:custDataLst>
          </p:nvPr>
        </p:nvGrpSpPr>
        <p:grpSpPr>
          <a:xfrm>
            <a:off x="5292080" y="826588"/>
            <a:ext cx="432833" cy="432834"/>
            <a:chOff x="5436096" y="1274820"/>
            <a:chExt cx="432833" cy="432834"/>
          </a:xfrm>
        </p:grpSpPr>
        <p:sp>
          <p:nvSpPr>
            <p:cNvPr id="25" name="PA-椭圆 16"/>
            <p:cNvSpPr>
              <a:spLocks noChangeArrowheads="1"/>
            </p:cNvSpPr>
            <p:nvPr>
              <p:custDataLst>
                <p:tags r:id="rId10"/>
              </p:custDataLst>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00">
                <a:solidFill>
                  <a:srgbClr val="FFFFFF"/>
                </a:solidFill>
                <a:ea typeface="微软雅黑" panose="020B0503020204020204" pitchFamily="34" charset="-122"/>
                <a:sym typeface="Arial" panose="020B0604020202020204" pitchFamily="34" charset="0"/>
              </a:endParaRPr>
            </a:p>
          </p:txBody>
        </p:sp>
        <p:sp>
          <p:nvSpPr>
            <p:cNvPr id="21" name="PA-任意多边形 16"/>
            <p:cNvSpPr>
              <a:spLocks noChangeArrowheads="1"/>
            </p:cNvSpPr>
            <p:nvPr>
              <p:custDataLst>
                <p:tags r:id="rId11"/>
              </p:custDataLst>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sz="100">
                <a:latin typeface="Arial" panose="020B0604020202020204" pitchFamily="34" charset="0"/>
                <a:ea typeface="微软雅黑" panose="020B0503020204020204" pitchFamily="34" charset="-122"/>
                <a:sym typeface="Arial" panose="020B0604020202020204" pitchFamily="34" charset="0"/>
              </a:endParaRPr>
            </a:p>
          </p:txBody>
        </p:sp>
      </p:grpSp>
      <p:grpSp>
        <p:nvGrpSpPr>
          <p:cNvPr id="4" name="PA-组合 3"/>
          <p:cNvGrpSpPr/>
          <p:nvPr>
            <p:custDataLst>
              <p:tags r:id="rId4"/>
            </p:custDataLst>
          </p:nvPr>
        </p:nvGrpSpPr>
        <p:grpSpPr>
          <a:xfrm>
            <a:off x="3347864" y="826588"/>
            <a:ext cx="432833" cy="432834"/>
            <a:chOff x="3491880" y="1274820"/>
            <a:chExt cx="432833" cy="432834"/>
          </a:xfrm>
        </p:grpSpPr>
        <p:sp>
          <p:nvSpPr>
            <p:cNvPr id="11" name="PA-椭圆 16"/>
            <p:cNvSpPr>
              <a:spLocks noChangeArrowheads="1"/>
            </p:cNvSpPr>
            <p:nvPr>
              <p:custDataLst>
                <p:tags r:id="rId8"/>
              </p:custDataLst>
            </p:nvPr>
          </p:nvSpPr>
          <p:spPr bwMode="auto">
            <a:xfrm>
              <a:off x="3491880" y="1274820"/>
              <a:ext cx="432833" cy="432834"/>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00">
                <a:solidFill>
                  <a:srgbClr val="FFFFFF"/>
                </a:solidFill>
                <a:ea typeface="微软雅黑" panose="020B0503020204020204" pitchFamily="34" charset="-122"/>
                <a:sym typeface="Arial" panose="020B0604020202020204" pitchFamily="34" charset="0"/>
              </a:endParaRPr>
            </a:p>
          </p:txBody>
        </p:sp>
        <p:sp>
          <p:nvSpPr>
            <p:cNvPr id="22" name="PA-任意多边形 75"/>
            <p:cNvSpPr>
              <a:spLocks noChangeArrowheads="1"/>
            </p:cNvSpPr>
            <p:nvPr>
              <p:custDataLst>
                <p:tags r:id="rId9"/>
              </p:custDataLst>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sz="100">
                <a:latin typeface="Arial" panose="020B0604020202020204" pitchFamily="34" charset="0"/>
                <a:ea typeface="微软雅黑" panose="020B0503020204020204" pitchFamily="34" charset="-122"/>
                <a:sym typeface="Arial" panose="020B0604020202020204" pitchFamily="34" charset="0"/>
              </a:endParaRPr>
            </a:p>
          </p:txBody>
        </p:sp>
      </p:grpSp>
      <p:grpSp>
        <p:nvGrpSpPr>
          <p:cNvPr id="5" name="PA-组合 4"/>
          <p:cNvGrpSpPr/>
          <p:nvPr>
            <p:custDataLst>
              <p:tags r:id="rId5"/>
            </p:custDataLst>
          </p:nvPr>
        </p:nvGrpSpPr>
        <p:grpSpPr>
          <a:xfrm>
            <a:off x="3995936" y="826588"/>
            <a:ext cx="432833" cy="432834"/>
            <a:chOff x="4139952" y="1274820"/>
            <a:chExt cx="432833" cy="432834"/>
          </a:xfrm>
        </p:grpSpPr>
        <p:sp>
          <p:nvSpPr>
            <p:cNvPr id="24" name="PA-椭圆 16"/>
            <p:cNvSpPr>
              <a:spLocks noChangeArrowheads="1"/>
            </p:cNvSpPr>
            <p:nvPr>
              <p:custDataLst>
                <p:tags r:id="rId6"/>
              </p:custDataLst>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00">
                <a:solidFill>
                  <a:srgbClr val="FFFFFF"/>
                </a:solidFill>
                <a:ea typeface="微软雅黑" panose="020B0503020204020204" pitchFamily="34" charset="-122"/>
                <a:sym typeface="Arial" panose="020B0604020202020204" pitchFamily="34" charset="0"/>
              </a:endParaRPr>
            </a:p>
          </p:txBody>
        </p:sp>
        <p:sp>
          <p:nvSpPr>
            <p:cNvPr id="23" name="PA-任意多边形 84"/>
            <p:cNvSpPr>
              <a:spLocks noChangeArrowheads="1"/>
            </p:cNvSpPr>
            <p:nvPr>
              <p:custDataLst>
                <p:tags r:id="rId7"/>
              </p:custDataLst>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sz="100">
                <a:latin typeface="Arial" panose="020B0604020202020204" pitchFamily="34" charset="0"/>
                <a:ea typeface="微软雅黑" panose="020B0503020204020204" pitchFamily="34" charset="-122"/>
                <a:sym typeface="Arial" panose="020B0604020202020204" pitchFamily="34" charset="0"/>
              </a:endParaRPr>
            </a:p>
          </p:txBody>
        </p:sp>
      </p:grpSp>
      <p:pic>
        <p:nvPicPr>
          <p:cNvPr id="27" name="图片 26"/>
          <p:cNvPicPr>
            <a:picLocks noChangeAspect="1"/>
          </p:cNvPicPr>
          <p:nvPr/>
        </p:nvPicPr>
        <p:blipFill>
          <a:blip r:embed="rId18" cstate="print">
            <a:extLst>
              <a:ext uri="{28A0092B-C50C-407E-A947-70E740481C1C}">
                <a14:useLocalDpi xmlns:a14="http://schemas.microsoft.com/office/drawing/2010/main"/>
              </a:ext>
            </a:extLst>
          </a:blip>
          <a:stretch>
            <a:fillRect/>
          </a:stretch>
        </p:blipFill>
        <p:spPr>
          <a:xfrm>
            <a:off x="3500410" y="2958806"/>
            <a:ext cx="2493351" cy="2041201"/>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advTm="0">
        <p15:prstTrans prst="airplane" invX="1"/>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2" presetClass="entr" presetSubtype="0" fill="hold" grpId="0" nodeType="afterEffect">
                                  <p:stCondLst>
                                    <p:cond delay="0"/>
                                  </p:stCondLst>
                                  <p:childTnLst>
                                    <p:set>
                                      <p:cBhvr>
                                        <p:cTn id="11" dur="1" fill="hold">
                                          <p:stCondLst>
                                            <p:cond delay="0"/>
                                          </p:stCondLst>
                                        </p:cTn>
                                        <p:tgtEl>
                                          <p:spTgt spid="48"/>
                                        </p:tgtEl>
                                        <p:attrNameLst>
                                          <p:attrName>style.visibility</p:attrName>
                                        </p:attrNameLst>
                                      </p:cBhvr>
                                      <p:to>
                                        <p:strVal val="visible"/>
                                      </p:to>
                                    </p:set>
                                    <p:animEffect transition="in" filter="fade">
                                      <p:cBhvr>
                                        <p:cTn id="12" dur="1000"/>
                                        <p:tgtEl>
                                          <p:spTgt spid="48"/>
                                        </p:tgtEl>
                                      </p:cBhvr>
                                    </p:animEffect>
                                    <p:anim calcmode="lin" valueType="num">
                                      <p:cBhvr>
                                        <p:cTn id="13" dur="1000" fill="hold"/>
                                        <p:tgtEl>
                                          <p:spTgt spid="48"/>
                                        </p:tgtEl>
                                        <p:attrNameLst>
                                          <p:attrName>ppt_x</p:attrName>
                                        </p:attrNameLst>
                                      </p:cBhvr>
                                      <p:tavLst>
                                        <p:tav tm="0">
                                          <p:val>
                                            <p:strVal val="#ppt_x"/>
                                          </p:val>
                                        </p:tav>
                                        <p:tav tm="100000">
                                          <p:val>
                                            <p:strVal val="#ppt_x"/>
                                          </p:val>
                                        </p:tav>
                                      </p:tavLst>
                                    </p:anim>
                                    <p:anim calcmode="lin" valueType="num">
                                      <p:cBhvr>
                                        <p:cTn id="14" dur="1000" fill="hold"/>
                                        <p:tgtEl>
                                          <p:spTgt spid="48"/>
                                        </p:tgtEl>
                                        <p:attrNameLst>
                                          <p:attrName>ppt_y</p:attrName>
                                        </p:attrNameLst>
                                      </p:cBhvr>
                                      <p:tavLst>
                                        <p:tav tm="0">
                                          <p:val>
                                            <p:strVal val="#ppt_y+.1"/>
                                          </p:val>
                                        </p:tav>
                                        <p:tav tm="100000">
                                          <p:val>
                                            <p:strVal val="#ppt_y"/>
                                          </p:val>
                                        </p:tav>
                                      </p:tavLst>
                                    </p:anim>
                                  </p:childTnLst>
                                </p:cTn>
                              </p:par>
                            </p:childTnLst>
                          </p:cTn>
                        </p:par>
                        <p:par>
                          <p:cTn id="15" fill="hold">
                            <p:stCondLst>
                              <p:cond delay="1500"/>
                            </p:stCondLst>
                            <p:childTnLst>
                              <p:par>
                                <p:cTn id="16" presetID="41" presetClass="entr" presetSubtype="0" fill="hold" grpId="0" nodeType="afterEffect">
                                  <p:stCondLst>
                                    <p:cond delay="0"/>
                                  </p:stCondLst>
                                  <p:iterate type="lt">
                                    <p:tmPct val="10000"/>
                                  </p:iterate>
                                  <p:childTnLst>
                                    <p:set>
                                      <p:cBhvr>
                                        <p:cTn id="17" dur="1" fill="hold">
                                          <p:stCondLst>
                                            <p:cond delay="0"/>
                                          </p:stCondLst>
                                        </p:cTn>
                                        <p:tgtEl>
                                          <p:spTgt spid="49"/>
                                        </p:tgtEl>
                                        <p:attrNameLst>
                                          <p:attrName>style.visibility</p:attrName>
                                        </p:attrNameLst>
                                      </p:cBhvr>
                                      <p:to>
                                        <p:strVal val="visible"/>
                                      </p:to>
                                    </p:set>
                                    <p:anim calcmode="lin" valueType="num">
                                      <p:cBhvr>
                                        <p:cTn id="18" dur="500" fill="hold"/>
                                        <p:tgtEl>
                                          <p:spTgt spid="49"/>
                                        </p:tgtEl>
                                        <p:attrNameLst>
                                          <p:attrName>ppt_x</p:attrName>
                                        </p:attrNameLst>
                                      </p:cBhvr>
                                      <p:tavLst>
                                        <p:tav tm="0">
                                          <p:val>
                                            <p:strVal val="#ppt_x"/>
                                          </p:val>
                                        </p:tav>
                                        <p:tav tm="50000">
                                          <p:val>
                                            <p:strVal val="#ppt_x+.1"/>
                                          </p:val>
                                        </p:tav>
                                        <p:tav tm="100000">
                                          <p:val>
                                            <p:strVal val="#ppt_x"/>
                                          </p:val>
                                        </p:tav>
                                      </p:tavLst>
                                    </p:anim>
                                    <p:anim calcmode="lin" valueType="num">
                                      <p:cBhvr>
                                        <p:cTn id="19" dur="500" fill="hold"/>
                                        <p:tgtEl>
                                          <p:spTgt spid="49"/>
                                        </p:tgtEl>
                                        <p:attrNameLst>
                                          <p:attrName>ppt_y</p:attrName>
                                        </p:attrNameLst>
                                      </p:cBhvr>
                                      <p:tavLst>
                                        <p:tav tm="0">
                                          <p:val>
                                            <p:strVal val="#ppt_y"/>
                                          </p:val>
                                        </p:tav>
                                        <p:tav tm="100000">
                                          <p:val>
                                            <p:strVal val="#ppt_y"/>
                                          </p:val>
                                        </p:tav>
                                      </p:tavLst>
                                    </p:anim>
                                    <p:anim calcmode="lin" valueType="num">
                                      <p:cBhvr>
                                        <p:cTn id="20" dur="500" fill="hold"/>
                                        <p:tgtEl>
                                          <p:spTgt spid="49"/>
                                        </p:tgtEl>
                                        <p:attrNameLst>
                                          <p:attrName>ppt_h</p:attrName>
                                        </p:attrNameLst>
                                      </p:cBhvr>
                                      <p:tavLst>
                                        <p:tav tm="0">
                                          <p:val>
                                            <p:strVal val="#ppt_h/10"/>
                                          </p:val>
                                        </p:tav>
                                        <p:tav tm="50000">
                                          <p:val>
                                            <p:strVal val="#ppt_h+.01"/>
                                          </p:val>
                                        </p:tav>
                                        <p:tav tm="100000">
                                          <p:val>
                                            <p:strVal val="#ppt_h"/>
                                          </p:val>
                                        </p:tav>
                                      </p:tavLst>
                                    </p:anim>
                                    <p:anim calcmode="lin" valueType="num">
                                      <p:cBhvr>
                                        <p:cTn id="21" dur="500" fill="hold"/>
                                        <p:tgtEl>
                                          <p:spTgt spid="49"/>
                                        </p:tgtEl>
                                        <p:attrNameLst>
                                          <p:attrName>ppt_w</p:attrName>
                                        </p:attrNameLst>
                                      </p:cBhvr>
                                      <p:tavLst>
                                        <p:tav tm="0">
                                          <p:val>
                                            <p:strVal val="#ppt_w/10"/>
                                          </p:val>
                                        </p:tav>
                                        <p:tav tm="50000">
                                          <p:val>
                                            <p:strVal val="#ppt_w+.01"/>
                                          </p:val>
                                        </p:tav>
                                        <p:tav tm="100000">
                                          <p:val>
                                            <p:strVal val="#ppt_w"/>
                                          </p:val>
                                        </p:tav>
                                      </p:tavLst>
                                    </p:anim>
                                    <p:animEffect transition="in" filter="fade">
                                      <p:cBhvr>
                                        <p:cTn id="22" dur="500" tmFilter="0,0; .5, 1; 1, 1"/>
                                        <p:tgtEl>
                                          <p:spTgt spid="49"/>
                                        </p:tgtEl>
                                      </p:cBhvr>
                                    </p:animEffect>
                                  </p:childTnLst>
                                </p:cTn>
                              </p:par>
                            </p:childTnLst>
                          </p:cTn>
                        </p:par>
                        <p:par>
                          <p:cTn id="23" fill="hold">
                            <p:stCondLst>
                              <p:cond delay="1950"/>
                            </p:stCondLst>
                            <p:childTnLst>
                              <p:par>
                                <p:cTn id="24" presetID="0" presetClass="entr" presetSubtype="0" decel="50000" fill="hold" nodeType="afterEffect">
                                  <p:stCondLst>
                                    <p:cond delay="0"/>
                                  </p:stCondLst>
                                  <p:childTnLst>
                                    <p:set>
                                      <p:cBhvr>
                                        <p:cTn id="25" dur="750" fill="hold">
                                          <p:stCondLst>
                                            <p:cond delay="0"/>
                                          </p:stCondLst>
                                        </p:cTn>
                                        <p:tgtEl>
                                          <p:spTgt spid="7"/>
                                        </p:tgtEl>
                                        <p:attrNameLst>
                                          <p:attrName>style.visibility</p:attrName>
                                        </p:attrNameLst>
                                      </p:cBhvr>
                                      <p:to>
                                        <p:strVal val="visible"/>
                                      </p:to>
                                    </p:set>
                                    <p:animScale>
                                      <p:cBhvr>
                                        <p:cTn id="26" dur="225" decel="50000" fill="hold">
                                          <p:stCondLst>
                                            <p:cond delay="0"/>
                                          </p:stCondLst>
                                        </p:cTn>
                                        <p:tgtEl>
                                          <p:spTgt spid="7"/>
                                        </p:tgtEl>
                                      </p:cBhvr>
                                      <p:from x="150000" y="150000"/>
                                      <p:to x="50000" y="50000"/>
                                    </p:animScale>
                                    <p:anim to="" calcmode="lin" valueType="num">
                                      <p:cBhvr>
                                        <p:cTn id="27" dur="225" decel="50000" fill="hold">
                                          <p:stCondLst>
                                            <p:cond delay="0"/>
                                          </p:stCondLst>
                                        </p:cTn>
                                        <p:tgtEl>
                                          <p:spTgt spid="7"/>
                                        </p:tgtEl>
                                        <p:attrNameLst>
                                          <p:attrName>ppt_x</p:attrName>
                                        </p:attrNameLst>
                                      </p:cBhvr>
                                      <p:tavLst>
                                        <p:tav tm="0">
                                          <p:val>
                                            <p:strVal val="#ppt_x-0.05"/>
                                          </p:val>
                                        </p:tav>
                                        <p:tav tm="100000">
                                          <p:val>
                                            <p:strVal val="#ppt_x+0.02"/>
                                          </p:val>
                                        </p:tav>
                                      </p:tavLst>
                                    </p:anim>
                                    <p:animScale>
                                      <p:cBhvr>
                                        <p:cTn id="28" dur="375" accel="50000" fill="hold">
                                          <p:stCondLst>
                                            <p:cond delay="225"/>
                                          </p:stCondLst>
                                        </p:cTn>
                                        <p:tgtEl>
                                          <p:spTgt spid="7"/>
                                        </p:tgtEl>
                                      </p:cBhvr>
                                      <p:from x="50000" y="50000"/>
                                      <p:to x="100000" y="100000"/>
                                    </p:animScale>
                                    <p:anim to="" calcmode="lin" valueType="num">
                                      <p:cBhvr>
                                        <p:cTn id="29" dur="375" accel="50000" fill="hold">
                                          <p:stCondLst>
                                            <p:cond delay="225"/>
                                          </p:stCondLst>
                                        </p:cTn>
                                        <p:tgtEl>
                                          <p:spTgt spid="7"/>
                                        </p:tgtEl>
                                        <p:attrNameLst>
                                          <p:attrName>ppt_x</p:attrName>
                                        </p:attrNameLst>
                                      </p:cBhvr>
                                      <p:tavLst>
                                        <p:tav tm="0">
                                          <p:val>
                                            <p:strVal val="ppt_x"/>
                                          </p:val>
                                        </p:tav>
                                        <p:tav tm="100000">
                                          <p:val>
                                            <p:strVal val="#ppt_x"/>
                                          </p:val>
                                        </p:tav>
                                      </p:tavLst>
                                    </p:anim>
                                    <p:anim to="" calcmode="lin" valueType="num">
                                      <p:cBhvr>
                                        <p:cTn id="30" dur="225" decel="50000" fill="hold">
                                          <p:stCondLst>
                                            <p:cond delay="0"/>
                                          </p:stCondLst>
                                        </p:cTn>
                                        <p:tgtEl>
                                          <p:spTgt spid="7"/>
                                        </p:tgtEl>
                                        <p:attrNameLst>
                                          <p:attrName>ppt_y</p:attrName>
                                        </p:attrNameLst>
                                      </p:cBhvr>
                                      <p:tavLst>
                                        <p:tav tm="0">
                                          <p:val>
                                            <p:strVal val="#ppt_y-0.05"/>
                                          </p:val>
                                        </p:tav>
                                        <p:tav tm="100000">
                                          <p:val>
                                            <p:strVal val="#ppt_y+0.05"/>
                                          </p:val>
                                        </p:tav>
                                      </p:tavLst>
                                    </p:anim>
                                    <p:anim to="" calcmode="lin" valueType="num">
                                      <p:cBhvr>
                                        <p:cTn id="31" dur="375" accel="50000" fill="hold">
                                          <p:stCondLst>
                                            <p:cond delay="225"/>
                                          </p:stCondLst>
                                        </p:cTn>
                                        <p:tgtEl>
                                          <p:spTgt spid="7"/>
                                        </p:tgtEl>
                                        <p:attrNameLst>
                                          <p:attrName>ppt_y</p:attrName>
                                        </p:attrNameLst>
                                      </p:cBhvr>
                                      <p:tavLst>
                                        <p:tav tm="0">
                                          <p:val>
                                            <p:strVal val="ppt_y"/>
                                          </p:val>
                                        </p:tav>
                                        <p:tav tm="100000">
                                          <p:val>
                                            <p:strVal val="#ppt_y"/>
                                          </p:val>
                                        </p:tav>
                                      </p:tavLst>
                                    </p:anim>
                                    <p:animRot by="21600000">
                                      <p:cBhvr>
                                        <p:cTn id="32" dur="750" decel="50000" fill="hold">
                                          <p:stCondLst>
                                            <p:cond delay="0"/>
                                          </p:stCondLst>
                                        </p:cTn>
                                        <p:tgtEl>
                                          <p:spTgt spid="7"/>
                                        </p:tgtEl>
                                        <p:attrNameLst>
                                          <p:attrName>r</p:attrName>
                                        </p:attrNameLst>
                                      </p:cBhvr>
                                    </p:animRot>
                                    <p:animRot by="21600000">
                                      <p:cBhvr>
                                        <p:cTn id="33" dur="375" accel="50000" fill="hold">
                                          <p:stCondLst>
                                            <p:cond delay="225"/>
                                          </p:stCondLst>
                                        </p:cTn>
                                        <p:tgtEl>
                                          <p:spTgt spid="7"/>
                                        </p:tgtEl>
                                        <p:attrNameLst>
                                          <p:attrName>r</p:attrName>
                                        </p:attrNameLst>
                                      </p:cBhvr>
                                    </p:animRot>
                                    <p:animEffect filter="fade">
                                      <p:cBhvr>
                                        <p:cTn id="34" dur="225">
                                          <p:stCondLst>
                                            <p:cond delay="0"/>
                                          </p:stCondLst>
                                        </p:cTn>
                                        <p:tgtEl>
                                          <p:spTgt spid="7"/>
                                        </p:tgtEl>
                                      </p:cBhvr>
                                    </p:animEffect>
                                  </p:childTnLst>
                                </p:cTn>
                              </p:par>
                              <p:par>
                                <p:cTn id="35" presetID="0" presetClass="entr" presetSubtype="0" decel="50000" fill="hold" nodeType="withEffect">
                                  <p:stCondLst>
                                    <p:cond delay="0"/>
                                  </p:stCondLst>
                                  <p:childTnLst>
                                    <p:set>
                                      <p:cBhvr>
                                        <p:cTn id="36" dur="750" fill="hold">
                                          <p:stCondLst>
                                            <p:cond delay="0"/>
                                          </p:stCondLst>
                                        </p:cTn>
                                        <p:tgtEl>
                                          <p:spTgt spid="6"/>
                                        </p:tgtEl>
                                        <p:attrNameLst>
                                          <p:attrName>style.visibility</p:attrName>
                                        </p:attrNameLst>
                                      </p:cBhvr>
                                      <p:to>
                                        <p:strVal val="visible"/>
                                      </p:to>
                                    </p:set>
                                    <p:animScale>
                                      <p:cBhvr>
                                        <p:cTn id="37" dur="225" decel="50000" fill="hold">
                                          <p:stCondLst>
                                            <p:cond delay="0"/>
                                          </p:stCondLst>
                                        </p:cTn>
                                        <p:tgtEl>
                                          <p:spTgt spid="6"/>
                                        </p:tgtEl>
                                      </p:cBhvr>
                                      <p:from x="150000" y="150000"/>
                                      <p:to x="50000" y="50000"/>
                                    </p:animScale>
                                    <p:anim to="" calcmode="lin" valueType="num">
                                      <p:cBhvr>
                                        <p:cTn id="38" dur="225" decel="50000" fill="hold">
                                          <p:stCondLst>
                                            <p:cond delay="0"/>
                                          </p:stCondLst>
                                        </p:cTn>
                                        <p:tgtEl>
                                          <p:spTgt spid="6"/>
                                        </p:tgtEl>
                                        <p:attrNameLst>
                                          <p:attrName>ppt_x</p:attrName>
                                        </p:attrNameLst>
                                      </p:cBhvr>
                                      <p:tavLst>
                                        <p:tav tm="0">
                                          <p:val>
                                            <p:strVal val="#ppt_x-0.05"/>
                                          </p:val>
                                        </p:tav>
                                        <p:tav tm="100000">
                                          <p:val>
                                            <p:strVal val="#ppt_x+0.02"/>
                                          </p:val>
                                        </p:tav>
                                      </p:tavLst>
                                    </p:anim>
                                    <p:animScale>
                                      <p:cBhvr>
                                        <p:cTn id="39" dur="375" accel="50000" fill="hold">
                                          <p:stCondLst>
                                            <p:cond delay="225"/>
                                          </p:stCondLst>
                                        </p:cTn>
                                        <p:tgtEl>
                                          <p:spTgt spid="6"/>
                                        </p:tgtEl>
                                      </p:cBhvr>
                                      <p:from x="50000" y="50000"/>
                                      <p:to x="100000" y="100000"/>
                                    </p:animScale>
                                    <p:anim to="" calcmode="lin" valueType="num">
                                      <p:cBhvr>
                                        <p:cTn id="40" dur="375" accel="50000" fill="hold">
                                          <p:stCondLst>
                                            <p:cond delay="225"/>
                                          </p:stCondLst>
                                        </p:cTn>
                                        <p:tgtEl>
                                          <p:spTgt spid="6"/>
                                        </p:tgtEl>
                                        <p:attrNameLst>
                                          <p:attrName>ppt_x</p:attrName>
                                        </p:attrNameLst>
                                      </p:cBhvr>
                                      <p:tavLst>
                                        <p:tav tm="0">
                                          <p:val>
                                            <p:strVal val="ppt_x"/>
                                          </p:val>
                                        </p:tav>
                                        <p:tav tm="100000">
                                          <p:val>
                                            <p:strVal val="#ppt_x"/>
                                          </p:val>
                                        </p:tav>
                                      </p:tavLst>
                                    </p:anim>
                                    <p:anim to="" calcmode="lin" valueType="num">
                                      <p:cBhvr>
                                        <p:cTn id="41" dur="225" decel="50000" fill="hold">
                                          <p:stCondLst>
                                            <p:cond delay="0"/>
                                          </p:stCondLst>
                                        </p:cTn>
                                        <p:tgtEl>
                                          <p:spTgt spid="6"/>
                                        </p:tgtEl>
                                        <p:attrNameLst>
                                          <p:attrName>ppt_y</p:attrName>
                                        </p:attrNameLst>
                                      </p:cBhvr>
                                      <p:tavLst>
                                        <p:tav tm="0">
                                          <p:val>
                                            <p:strVal val="#ppt_y-0.05"/>
                                          </p:val>
                                        </p:tav>
                                        <p:tav tm="100000">
                                          <p:val>
                                            <p:strVal val="#ppt_y+0.05"/>
                                          </p:val>
                                        </p:tav>
                                      </p:tavLst>
                                    </p:anim>
                                    <p:anim to="" calcmode="lin" valueType="num">
                                      <p:cBhvr>
                                        <p:cTn id="42" dur="375" accel="50000" fill="hold">
                                          <p:stCondLst>
                                            <p:cond delay="225"/>
                                          </p:stCondLst>
                                        </p:cTn>
                                        <p:tgtEl>
                                          <p:spTgt spid="6"/>
                                        </p:tgtEl>
                                        <p:attrNameLst>
                                          <p:attrName>ppt_y</p:attrName>
                                        </p:attrNameLst>
                                      </p:cBhvr>
                                      <p:tavLst>
                                        <p:tav tm="0">
                                          <p:val>
                                            <p:strVal val="ppt_y"/>
                                          </p:val>
                                        </p:tav>
                                        <p:tav tm="100000">
                                          <p:val>
                                            <p:strVal val="#ppt_y"/>
                                          </p:val>
                                        </p:tav>
                                      </p:tavLst>
                                    </p:anim>
                                    <p:animRot by="21600000">
                                      <p:cBhvr>
                                        <p:cTn id="43" dur="750" decel="50000" fill="hold">
                                          <p:stCondLst>
                                            <p:cond delay="0"/>
                                          </p:stCondLst>
                                        </p:cTn>
                                        <p:tgtEl>
                                          <p:spTgt spid="6"/>
                                        </p:tgtEl>
                                        <p:attrNameLst>
                                          <p:attrName>r</p:attrName>
                                        </p:attrNameLst>
                                      </p:cBhvr>
                                    </p:animRot>
                                    <p:animRot by="21600000">
                                      <p:cBhvr>
                                        <p:cTn id="44" dur="375" accel="50000" fill="hold">
                                          <p:stCondLst>
                                            <p:cond delay="225"/>
                                          </p:stCondLst>
                                        </p:cTn>
                                        <p:tgtEl>
                                          <p:spTgt spid="6"/>
                                        </p:tgtEl>
                                        <p:attrNameLst>
                                          <p:attrName>r</p:attrName>
                                        </p:attrNameLst>
                                      </p:cBhvr>
                                    </p:animRot>
                                    <p:animEffect filter="fade">
                                      <p:cBhvr>
                                        <p:cTn id="45" dur="225">
                                          <p:stCondLst>
                                            <p:cond delay="0"/>
                                          </p:stCondLst>
                                        </p:cTn>
                                        <p:tgtEl>
                                          <p:spTgt spid="6"/>
                                        </p:tgtEl>
                                      </p:cBhvr>
                                    </p:animEffect>
                                  </p:childTnLst>
                                </p:cTn>
                              </p:par>
                              <p:par>
                                <p:cTn id="46" presetID="0" presetClass="entr" presetSubtype="0" decel="50000" fill="hold" nodeType="withEffect">
                                  <p:stCondLst>
                                    <p:cond delay="0"/>
                                  </p:stCondLst>
                                  <p:childTnLst>
                                    <p:set>
                                      <p:cBhvr>
                                        <p:cTn id="47" dur="750" fill="hold">
                                          <p:stCondLst>
                                            <p:cond delay="0"/>
                                          </p:stCondLst>
                                        </p:cTn>
                                        <p:tgtEl>
                                          <p:spTgt spid="9"/>
                                        </p:tgtEl>
                                        <p:attrNameLst>
                                          <p:attrName>style.visibility</p:attrName>
                                        </p:attrNameLst>
                                      </p:cBhvr>
                                      <p:to>
                                        <p:strVal val="visible"/>
                                      </p:to>
                                    </p:set>
                                    <p:animScale>
                                      <p:cBhvr>
                                        <p:cTn id="48" dur="225" decel="50000" fill="hold">
                                          <p:stCondLst>
                                            <p:cond delay="0"/>
                                          </p:stCondLst>
                                        </p:cTn>
                                        <p:tgtEl>
                                          <p:spTgt spid="9"/>
                                        </p:tgtEl>
                                      </p:cBhvr>
                                      <p:from x="150000" y="150000"/>
                                      <p:to x="50000" y="50000"/>
                                    </p:animScale>
                                    <p:anim to="" calcmode="lin" valueType="num">
                                      <p:cBhvr>
                                        <p:cTn id="49" dur="225" decel="50000" fill="hold">
                                          <p:stCondLst>
                                            <p:cond delay="0"/>
                                          </p:stCondLst>
                                        </p:cTn>
                                        <p:tgtEl>
                                          <p:spTgt spid="9"/>
                                        </p:tgtEl>
                                        <p:attrNameLst>
                                          <p:attrName>ppt_x</p:attrName>
                                        </p:attrNameLst>
                                      </p:cBhvr>
                                      <p:tavLst>
                                        <p:tav tm="0">
                                          <p:val>
                                            <p:strVal val="#ppt_x-0.05"/>
                                          </p:val>
                                        </p:tav>
                                        <p:tav tm="100000">
                                          <p:val>
                                            <p:strVal val="#ppt_x+0.02"/>
                                          </p:val>
                                        </p:tav>
                                      </p:tavLst>
                                    </p:anim>
                                    <p:animScale>
                                      <p:cBhvr>
                                        <p:cTn id="50" dur="375" accel="50000" fill="hold">
                                          <p:stCondLst>
                                            <p:cond delay="225"/>
                                          </p:stCondLst>
                                        </p:cTn>
                                        <p:tgtEl>
                                          <p:spTgt spid="9"/>
                                        </p:tgtEl>
                                      </p:cBhvr>
                                      <p:from x="50000" y="50000"/>
                                      <p:to x="100000" y="100000"/>
                                    </p:animScale>
                                    <p:anim to="" calcmode="lin" valueType="num">
                                      <p:cBhvr>
                                        <p:cTn id="51" dur="375" accel="50000" fill="hold">
                                          <p:stCondLst>
                                            <p:cond delay="225"/>
                                          </p:stCondLst>
                                        </p:cTn>
                                        <p:tgtEl>
                                          <p:spTgt spid="9"/>
                                        </p:tgtEl>
                                        <p:attrNameLst>
                                          <p:attrName>ppt_x</p:attrName>
                                        </p:attrNameLst>
                                      </p:cBhvr>
                                      <p:tavLst>
                                        <p:tav tm="0">
                                          <p:val>
                                            <p:strVal val="ppt_x"/>
                                          </p:val>
                                        </p:tav>
                                        <p:tav tm="100000">
                                          <p:val>
                                            <p:strVal val="#ppt_x"/>
                                          </p:val>
                                        </p:tav>
                                      </p:tavLst>
                                    </p:anim>
                                    <p:anim to="" calcmode="lin" valueType="num">
                                      <p:cBhvr>
                                        <p:cTn id="52" dur="225" decel="50000" fill="hold">
                                          <p:stCondLst>
                                            <p:cond delay="0"/>
                                          </p:stCondLst>
                                        </p:cTn>
                                        <p:tgtEl>
                                          <p:spTgt spid="9"/>
                                        </p:tgtEl>
                                        <p:attrNameLst>
                                          <p:attrName>ppt_y</p:attrName>
                                        </p:attrNameLst>
                                      </p:cBhvr>
                                      <p:tavLst>
                                        <p:tav tm="0">
                                          <p:val>
                                            <p:strVal val="#ppt_y-0.05"/>
                                          </p:val>
                                        </p:tav>
                                        <p:tav tm="100000">
                                          <p:val>
                                            <p:strVal val="#ppt_y+0.05"/>
                                          </p:val>
                                        </p:tav>
                                      </p:tavLst>
                                    </p:anim>
                                    <p:anim to="" calcmode="lin" valueType="num">
                                      <p:cBhvr>
                                        <p:cTn id="53" dur="375" accel="50000" fill="hold">
                                          <p:stCondLst>
                                            <p:cond delay="225"/>
                                          </p:stCondLst>
                                        </p:cTn>
                                        <p:tgtEl>
                                          <p:spTgt spid="9"/>
                                        </p:tgtEl>
                                        <p:attrNameLst>
                                          <p:attrName>ppt_y</p:attrName>
                                        </p:attrNameLst>
                                      </p:cBhvr>
                                      <p:tavLst>
                                        <p:tav tm="0">
                                          <p:val>
                                            <p:strVal val="ppt_y"/>
                                          </p:val>
                                        </p:tav>
                                        <p:tav tm="100000">
                                          <p:val>
                                            <p:strVal val="#ppt_y"/>
                                          </p:val>
                                        </p:tav>
                                      </p:tavLst>
                                    </p:anim>
                                    <p:animRot by="21600000">
                                      <p:cBhvr>
                                        <p:cTn id="54" dur="750" decel="50000" fill="hold">
                                          <p:stCondLst>
                                            <p:cond delay="0"/>
                                          </p:stCondLst>
                                        </p:cTn>
                                        <p:tgtEl>
                                          <p:spTgt spid="9"/>
                                        </p:tgtEl>
                                        <p:attrNameLst>
                                          <p:attrName>r</p:attrName>
                                        </p:attrNameLst>
                                      </p:cBhvr>
                                    </p:animRot>
                                    <p:animRot by="21600000">
                                      <p:cBhvr>
                                        <p:cTn id="55" dur="375" accel="50000" fill="hold">
                                          <p:stCondLst>
                                            <p:cond delay="225"/>
                                          </p:stCondLst>
                                        </p:cTn>
                                        <p:tgtEl>
                                          <p:spTgt spid="9"/>
                                        </p:tgtEl>
                                        <p:attrNameLst>
                                          <p:attrName>r</p:attrName>
                                        </p:attrNameLst>
                                      </p:cBhvr>
                                    </p:animRot>
                                    <p:animEffect filter="fade">
                                      <p:cBhvr>
                                        <p:cTn id="56" dur="225">
                                          <p:stCondLst>
                                            <p:cond delay="0"/>
                                          </p:stCondLst>
                                        </p:cTn>
                                        <p:tgtEl>
                                          <p:spTgt spid="9"/>
                                        </p:tgtEl>
                                      </p:cBhvr>
                                    </p:animEffect>
                                  </p:childTnLst>
                                </p:cTn>
                              </p:par>
                              <p:par>
                                <p:cTn id="57" presetID="0" presetClass="entr" presetSubtype="0" decel="50000" fill="hold" nodeType="withEffect">
                                  <p:stCondLst>
                                    <p:cond delay="0"/>
                                  </p:stCondLst>
                                  <p:childTnLst>
                                    <p:set>
                                      <p:cBhvr>
                                        <p:cTn id="58" dur="750" fill="hold">
                                          <p:stCondLst>
                                            <p:cond delay="0"/>
                                          </p:stCondLst>
                                        </p:cTn>
                                        <p:tgtEl>
                                          <p:spTgt spid="4"/>
                                        </p:tgtEl>
                                        <p:attrNameLst>
                                          <p:attrName>style.visibility</p:attrName>
                                        </p:attrNameLst>
                                      </p:cBhvr>
                                      <p:to>
                                        <p:strVal val="visible"/>
                                      </p:to>
                                    </p:set>
                                    <p:animScale>
                                      <p:cBhvr>
                                        <p:cTn id="59" dur="225" decel="50000" fill="hold">
                                          <p:stCondLst>
                                            <p:cond delay="0"/>
                                          </p:stCondLst>
                                        </p:cTn>
                                        <p:tgtEl>
                                          <p:spTgt spid="4"/>
                                        </p:tgtEl>
                                      </p:cBhvr>
                                      <p:from x="150000" y="150000"/>
                                      <p:to x="50000" y="50000"/>
                                    </p:animScale>
                                    <p:anim to="" calcmode="lin" valueType="num">
                                      <p:cBhvr>
                                        <p:cTn id="60" dur="225" decel="50000" fill="hold">
                                          <p:stCondLst>
                                            <p:cond delay="0"/>
                                          </p:stCondLst>
                                        </p:cTn>
                                        <p:tgtEl>
                                          <p:spTgt spid="4"/>
                                        </p:tgtEl>
                                        <p:attrNameLst>
                                          <p:attrName>ppt_x</p:attrName>
                                        </p:attrNameLst>
                                      </p:cBhvr>
                                      <p:tavLst>
                                        <p:tav tm="0">
                                          <p:val>
                                            <p:strVal val="#ppt_x-0.05"/>
                                          </p:val>
                                        </p:tav>
                                        <p:tav tm="100000">
                                          <p:val>
                                            <p:strVal val="#ppt_x+0.02"/>
                                          </p:val>
                                        </p:tav>
                                      </p:tavLst>
                                    </p:anim>
                                    <p:animScale>
                                      <p:cBhvr>
                                        <p:cTn id="61" dur="375" accel="50000" fill="hold">
                                          <p:stCondLst>
                                            <p:cond delay="225"/>
                                          </p:stCondLst>
                                        </p:cTn>
                                        <p:tgtEl>
                                          <p:spTgt spid="4"/>
                                        </p:tgtEl>
                                      </p:cBhvr>
                                      <p:from x="50000" y="50000"/>
                                      <p:to x="100000" y="100000"/>
                                    </p:animScale>
                                    <p:anim to="" calcmode="lin" valueType="num">
                                      <p:cBhvr>
                                        <p:cTn id="62" dur="375" accel="50000" fill="hold">
                                          <p:stCondLst>
                                            <p:cond delay="225"/>
                                          </p:stCondLst>
                                        </p:cTn>
                                        <p:tgtEl>
                                          <p:spTgt spid="4"/>
                                        </p:tgtEl>
                                        <p:attrNameLst>
                                          <p:attrName>ppt_x</p:attrName>
                                        </p:attrNameLst>
                                      </p:cBhvr>
                                      <p:tavLst>
                                        <p:tav tm="0">
                                          <p:val>
                                            <p:strVal val="ppt_x"/>
                                          </p:val>
                                        </p:tav>
                                        <p:tav tm="100000">
                                          <p:val>
                                            <p:strVal val="#ppt_x"/>
                                          </p:val>
                                        </p:tav>
                                      </p:tavLst>
                                    </p:anim>
                                    <p:anim to="" calcmode="lin" valueType="num">
                                      <p:cBhvr>
                                        <p:cTn id="63" dur="225" decel="50000" fill="hold">
                                          <p:stCondLst>
                                            <p:cond delay="0"/>
                                          </p:stCondLst>
                                        </p:cTn>
                                        <p:tgtEl>
                                          <p:spTgt spid="4"/>
                                        </p:tgtEl>
                                        <p:attrNameLst>
                                          <p:attrName>ppt_y</p:attrName>
                                        </p:attrNameLst>
                                      </p:cBhvr>
                                      <p:tavLst>
                                        <p:tav tm="0">
                                          <p:val>
                                            <p:strVal val="#ppt_y-0.05"/>
                                          </p:val>
                                        </p:tav>
                                        <p:tav tm="100000">
                                          <p:val>
                                            <p:strVal val="#ppt_y+0.05"/>
                                          </p:val>
                                        </p:tav>
                                      </p:tavLst>
                                    </p:anim>
                                    <p:anim to="" calcmode="lin" valueType="num">
                                      <p:cBhvr>
                                        <p:cTn id="64" dur="375" accel="50000" fill="hold">
                                          <p:stCondLst>
                                            <p:cond delay="225"/>
                                          </p:stCondLst>
                                        </p:cTn>
                                        <p:tgtEl>
                                          <p:spTgt spid="4"/>
                                        </p:tgtEl>
                                        <p:attrNameLst>
                                          <p:attrName>ppt_y</p:attrName>
                                        </p:attrNameLst>
                                      </p:cBhvr>
                                      <p:tavLst>
                                        <p:tav tm="0">
                                          <p:val>
                                            <p:strVal val="ppt_y"/>
                                          </p:val>
                                        </p:tav>
                                        <p:tav tm="100000">
                                          <p:val>
                                            <p:strVal val="#ppt_y"/>
                                          </p:val>
                                        </p:tav>
                                      </p:tavLst>
                                    </p:anim>
                                    <p:animRot by="21600000">
                                      <p:cBhvr>
                                        <p:cTn id="65" dur="750" decel="50000" fill="hold">
                                          <p:stCondLst>
                                            <p:cond delay="0"/>
                                          </p:stCondLst>
                                        </p:cTn>
                                        <p:tgtEl>
                                          <p:spTgt spid="4"/>
                                        </p:tgtEl>
                                        <p:attrNameLst>
                                          <p:attrName>r</p:attrName>
                                        </p:attrNameLst>
                                      </p:cBhvr>
                                    </p:animRot>
                                    <p:animRot by="21600000">
                                      <p:cBhvr>
                                        <p:cTn id="66" dur="375" accel="50000" fill="hold">
                                          <p:stCondLst>
                                            <p:cond delay="225"/>
                                          </p:stCondLst>
                                        </p:cTn>
                                        <p:tgtEl>
                                          <p:spTgt spid="4"/>
                                        </p:tgtEl>
                                        <p:attrNameLst>
                                          <p:attrName>r</p:attrName>
                                        </p:attrNameLst>
                                      </p:cBhvr>
                                    </p:animRot>
                                    <p:animEffect filter="fade">
                                      <p:cBhvr>
                                        <p:cTn id="67" dur="225">
                                          <p:stCondLst>
                                            <p:cond delay="0"/>
                                          </p:stCondLst>
                                        </p:cTn>
                                        <p:tgtEl>
                                          <p:spTgt spid="4"/>
                                        </p:tgtEl>
                                      </p:cBhvr>
                                    </p:animEffect>
                                  </p:childTnLst>
                                </p:cTn>
                              </p:par>
                              <p:par>
                                <p:cTn id="68" presetID="0" presetClass="entr" presetSubtype="0" decel="50000" fill="hold" nodeType="withEffect">
                                  <p:stCondLst>
                                    <p:cond delay="0"/>
                                  </p:stCondLst>
                                  <p:childTnLst>
                                    <p:set>
                                      <p:cBhvr>
                                        <p:cTn id="69" dur="750" fill="hold">
                                          <p:stCondLst>
                                            <p:cond delay="0"/>
                                          </p:stCondLst>
                                        </p:cTn>
                                        <p:tgtEl>
                                          <p:spTgt spid="5"/>
                                        </p:tgtEl>
                                        <p:attrNameLst>
                                          <p:attrName>style.visibility</p:attrName>
                                        </p:attrNameLst>
                                      </p:cBhvr>
                                      <p:to>
                                        <p:strVal val="visible"/>
                                      </p:to>
                                    </p:set>
                                    <p:animScale>
                                      <p:cBhvr>
                                        <p:cTn id="70" dur="225" decel="50000" fill="hold">
                                          <p:stCondLst>
                                            <p:cond delay="0"/>
                                          </p:stCondLst>
                                        </p:cTn>
                                        <p:tgtEl>
                                          <p:spTgt spid="5"/>
                                        </p:tgtEl>
                                      </p:cBhvr>
                                      <p:from x="150000" y="150000"/>
                                      <p:to x="50000" y="50000"/>
                                    </p:animScale>
                                    <p:anim to="" calcmode="lin" valueType="num">
                                      <p:cBhvr>
                                        <p:cTn id="71" dur="225" decel="50000" fill="hold">
                                          <p:stCondLst>
                                            <p:cond delay="0"/>
                                          </p:stCondLst>
                                        </p:cTn>
                                        <p:tgtEl>
                                          <p:spTgt spid="5"/>
                                        </p:tgtEl>
                                        <p:attrNameLst>
                                          <p:attrName>ppt_x</p:attrName>
                                        </p:attrNameLst>
                                      </p:cBhvr>
                                      <p:tavLst>
                                        <p:tav tm="0">
                                          <p:val>
                                            <p:strVal val="#ppt_x-0.05"/>
                                          </p:val>
                                        </p:tav>
                                        <p:tav tm="100000">
                                          <p:val>
                                            <p:strVal val="#ppt_x+0.02"/>
                                          </p:val>
                                        </p:tav>
                                      </p:tavLst>
                                    </p:anim>
                                    <p:animScale>
                                      <p:cBhvr>
                                        <p:cTn id="72" dur="375" accel="50000" fill="hold">
                                          <p:stCondLst>
                                            <p:cond delay="225"/>
                                          </p:stCondLst>
                                        </p:cTn>
                                        <p:tgtEl>
                                          <p:spTgt spid="5"/>
                                        </p:tgtEl>
                                      </p:cBhvr>
                                      <p:from x="50000" y="50000"/>
                                      <p:to x="100000" y="100000"/>
                                    </p:animScale>
                                    <p:anim to="" calcmode="lin" valueType="num">
                                      <p:cBhvr>
                                        <p:cTn id="73" dur="375" accel="50000" fill="hold">
                                          <p:stCondLst>
                                            <p:cond delay="225"/>
                                          </p:stCondLst>
                                        </p:cTn>
                                        <p:tgtEl>
                                          <p:spTgt spid="5"/>
                                        </p:tgtEl>
                                        <p:attrNameLst>
                                          <p:attrName>ppt_x</p:attrName>
                                        </p:attrNameLst>
                                      </p:cBhvr>
                                      <p:tavLst>
                                        <p:tav tm="0">
                                          <p:val>
                                            <p:strVal val="ppt_x"/>
                                          </p:val>
                                        </p:tav>
                                        <p:tav tm="100000">
                                          <p:val>
                                            <p:strVal val="#ppt_x"/>
                                          </p:val>
                                        </p:tav>
                                      </p:tavLst>
                                    </p:anim>
                                    <p:anim to="" calcmode="lin" valueType="num">
                                      <p:cBhvr>
                                        <p:cTn id="74" dur="225" decel="50000" fill="hold">
                                          <p:stCondLst>
                                            <p:cond delay="0"/>
                                          </p:stCondLst>
                                        </p:cTn>
                                        <p:tgtEl>
                                          <p:spTgt spid="5"/>
                                        </p:tgtEl>
                                        <p:attrNameLst>
                                          <p:attrName>ppt_y</p:attrName>
                                        </p:attrNameLst>
                                      </p:cBhvr>
                                      <p:tavLst>
                                        <p:tav tm="0">
                                          <p:val>
                                            <p:strVal val="#ppt_y-0.05"/>
                                          </p:val>
                                        </p:tav>
                                        <p:tav tm="100000">
                                          <p:val>
                                            <p:strVal val="#ppt_y+0.05"/>
                                          </p:val>
                                        </p:tav>
                                      </p:tavLst>
                                    </p:anim>
                                    <p:anim to="" calcmode="lin" valueType="num">
                                      <p:cBhvr>
                                        <p:cTn id="75" dur="375" accel="50000" fill="hold">
                                          <p:stCondLst>
                                            <p:cond delay="225"/>
                                          </p:stCondLst>
                                        </p:cTn>
                                        <p:tgtEl>
                                          <p:spTgt spid="5"/>
                                        </p:tgtEl>
                                        <p:attrNameLst>
                                          <p:attrName>ppt_y</p:attrName>
                                        </p:attrNameLst>
                                      </p:cBhvr>
                                      <p:tavLst>
                                        <p:tav tm="0">
                                          <p:val>
                                            <p:strVal val="ppt_y"/>
                                          </p:val>
                                        </p:tav>
                                        <p:tav tm="100000">
                                          <p:val>
                                            <p:strVal val="#ppt_y"/>
                                          </p:val>
                                        </p:tav>
                                      </p:tavLst>
                                    </p:anim>
                                    <p:animRot by="21600000">
                                      <p:cBhvr>
                                        <p:cTn id="76" dur="750" decel="50000" fill="hold">
                                          <p:stCondLst>
                                            <p:cond delay="0"/>
                                          </p:stCondLst>
                                        </p:cTn>
                                        <p:tgtEl>
                                          <p:spTgt spid="5"/>
                                        </p:tgtEl>
                                        <p:attrNameLst>
                                          <p:attrName>r</p:attrName>
                                        </p:attrNameLst>
                                      </p:cBhvr>
                                    </p:animRot>
                                    <p:animRot by="21600000">
                                      <p:cBhvr>
                                        <p:cTn id="77" dur="375" accel="50000" fill="hold">
                                          <p:stCondLst>
                                            <p:cond delay="225"/>
                                          </p:stCondLst>
                                        </p:cTn>
                                        <p:tgtEl>
                                          <p:spTgt spid="5"/>
                                        </p:tgtEl>
                                        <p:attrNameLst>
                                          <p:attrName>r</p:attrName>
                                        </p:attrNameLst>
                                      </p:cBhvr>
                                    </p:animRot>
                                    <p:animEffect filter="fade">
                                      <p:cBhvr>
                                        <p:cTn id="78" dur="225">
                                          <p:stCondLst>
                                            <p:cond delay="0"/>
                                          </p:stCondLst>
                                        </p:cTn>
                                        <p:tgtEl>
                                          <p:spTgt spid="5"/>
                                        </p:tgtEl>
                                      </p:cBhvr>
                                    </p:animEffect>
                                  </p:childTnLst>
                                </p:cTn>
                              </p:par>
                            </p:childTnLst>
                          </p:cTn>
                        </p:par>
                        <p:par>
                          <p:cTn id="79" fill="hold">
                            <p:stCondLst>
                              <p:cond delay="2950"/>
                            </p:stCondLst>
                            <p:childTnLst>
                              <p:par>
                                <p:cTn id="80" presetID="10" presetClass="entr" presetSubtype="0" fill="hold" nodeType="afterEffect">
                                  <p:stCondLst>
                                    <p:cond delay="0"/>
                                  </p:stCondLst>
                                  <p:childTnLst>
                                    <p:set>
                                      <p:cBhvr>
                                        <p:cTn id="81" dur="1" fill="hold">
                                          <p:stCondLst>
                                            <p:cond delay="0"/>
                                          </p:stCondLst>
                                        </p:cTn>
                                        <p:tgtEl>
                                          <p:spTgt spid="27"/>
                                        </p:tgtEl>
                                        <p:attrNameLst>
                                          <p:attrName>style.visibility</p:attrName>
                                        </p:attrNameLst>
                                      </p:cBhvr>
                                      <p:to>
                                        <p:strVal val="visible"/>
                                      </p:to>
                                    </p:set>
                                    <p:animEffect transition="in" filter="fade">
                                      <p:cBhvr>
                                        <p:cTn id="82"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P spid="4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txBox="1"/>
          <p:nvPr/>
        </p:nvSpPr>
        <p:spPr>
          <a:xfrm>
            <a:off x="857885" y="195109"/>
            <a:ext cx="2600960" cy="379730"/>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000" b="1" dirty="0">
                <a:solidFill>
                  <a:schemeClr val="tx1"/>
                </a:solidFill>
                <a:latin typeface="微软雅黑" panose="020B0503020204020204" pitchFamily="34" charset="-122"/>
                <a:ea typeface="微软雅黑" panose="020B0503020204020204" pitchFamily="34" charset="-122"/>
              </a:rPr>
              <a:t>1.</a:t>
            </a:r>
            <a:r>
              <a:rPr lang="zh-CN" altLang="en-US" sz="2000" b="1" dirty="0">
                <a:solidFill>
                  <a:schemeClr val="tx1"/>
                </a:solidFill>
                <a:latin typeface="微软雅黑" panose="020B0503020204020204" pitchFamily="34" charset="-122"/>
                <a:ea typeface="微软雅黑" panose="020B0503020204020204" pitchFamily="34" charset="-122"/>
              </a:rPr>
              <a:t>利润表分析</a:t>
            </a:r>
          </a:p>
        </p:txBody>
      </p:sp>
      <p:graphicFrame>
        <p:nvGraphicFramePr>
          <p:cNvPr id="25" name="图表 24"/>
          <p:cNvGraphicFramePr/>
          <p:nvPr/>
        </p:nvGraphicFramePr>
        <p:xfrm>
          <a:off x="4211960" y="4149080"/>
          <a:ext cx="2592288" cy="223224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3" name="内容占位符 3"/>
          <p:cNvGraphicFramePr/>
          <p:nvPr/>
        </p:nvGraphicFramePr>
        <p:xfrm>
          <a:off x="1475656" y="1095706"/>
          <a:ext cx="5886655" cy="1807487"/>
        </p:xfrm>
        <a:graphic>
          <a:graphicData uri="http://schemas.openxmlformats.org/drawingml/2006/table">
            <a:tbl>
              <a:tblPr firstRow="1" bandRow="1">
                <a:tableStyleId>{6E25E649-3F16-4E02-A733-19D2CDBF48F0}</a:tableStyleId>
              </a:tblPr>
              <a:tblGrid>
                <a:gridCol w="1177331"/>
                <a:gridCol w="1177331"/>
                <a:gridCol w="1177331"/>
                <a:gridCol w="1177331"/>
                <a:gridCol w="1177331"/>
              </a:tblGrid>
              <a:tr h="202523">
                <a:tc>
                  <a:txBody>
                    <a:bodyPr/>
                    <a:lstStyle/>
                    <a:p>
                      <a:pPr algn="ctr"/>
                      <a:r>
                        <a:rPr lang="zh-CN" altLang="en-US" sz="800" dirty="0"/>
                        <a:t>明细</a:t>
                      </a:r>
                    </a:p>
                  </a:txBody>
                  <a:tcPr marL="68580" marR="68580" marT="34290" marB="34290"/>
                </a:tc>
                <a:tc>
                  <a:txBody>
                    <a:bodyPr/>
                    <a:lstStyle/>
                    <a:p>
                      <a:pPr algn="ctr"/>
                      <a:r>
                        <a:rPr lang="en-US" altLang="zh-CN" sz="800" dirty="0"/>
                        <a:t>2014</a:t>
                      </a:r>
                      <a:r>
                        <a:rPr lang="zh-CN" altLang="en-US" sz="800" dirty="0"/>
                        <a:t>年</a:t>
                      </a:r>
                      <a:endParaRPr lang="zh-CN" altLang="en-US" sz="800" dirty="0">
                        <a:latin typeface="楷体" panose="02010609060101010101" pitchFamily="49" charset="-122"/>
                        <a:ea typeface="楷体" panose="02010609060101010101" pitchFamily="49" charset="-122"/>
                      </a:endParaRPr>
                    </a:p>
                  </a:txBody>
                  <a:tcPr marL="68580" marR="68580" marT="34290" marB="34290"/>
                </a:tc>
                <a:tc>
                  <a:txBody>
                    <a:bodyPr/>
                    <a:lstStyle/>
                    <a:p>
                      <a:pPr algn="ctr"/>
                      <a:r>
                        <a:rPr lang="en-US" altLang="zh-CN" sz="800" dirty="0"/>
                        <a:t>2015</a:t>
                      </a:r>
                      <a:r>
                        <a:rPr lang="zh-CN" altLang="en-US" sz="800" dirty="0"/>
                        <a:t>年</a:t>
                      </a:r>
                      <a:endParaRPr lang="zh-CN" altLang="en-US" sz="800" dirty="0">
                        <a:latin typeface="楷体" panose="02010609060101010101" pitchFamily="49" charset="-122"/>
                        <a:ea typeface="楷体" panose="02010609060101010101" pitchFamily="49" charset="-122"/>
                      </a:endParaRPr>
                    </a:p>
                  </a:txBody>
                  <a:tcPr marL="68580" marR="68580" marT="34290" marB="34290"/>
                </a:tc>
                <a:tc>
                  <a:txBody>
                    <a:bodyPr/>
                    <a:lstStyle/>
                    <a:p>
                      <a:pPr algn="ctr"/>
                      <a:r>
                        <a:rPr lang="en-US" altLang="zh-CN" sz="800" dirty="0"/>
                        <a:t>2016</a:t>
                      </a:r>
                      <a:r>
                        <a:rPr lang="zh-CN" altLang="en-US" sz="800" dirty="0"/>
                        <a:t>年</a:t>
                      </a:r>
                      <a:endParaRPr lang="zh-CN" altLang="en-US" sz="800" dirty="0">
                        <a:latin typeface="楷体" panose="02010609060101010101" pitchFamily="49" charset="-122"/>
                        <a:ea typeface="楷体" panose="02010609060101010101" pitchFamily="49" charset="-122"/>
                      </a:endParaRPr>
                    </a:p>
                  </a:txBody>
                  <a:tcPr marL="68580" marR="68580" marT="34290" marB="34290"/>
                </a:tc>
                <a:tc>
                  <a:txBody>
                    <a:bodyPr/>
                    <a:lstStyle/>
                    <a:p>
                      <a:pPr algn="ctr"/>
                      <a:r>
                        <a:rPr lang="en-US" altLang="zh-CN" sz="800" dirty="0"/>
                        <a:t>2017</a:t>
                      </a:r>
                      <a:r>
                        <a:rPr lang="zh-CN" altLang="en-US" sz="800" dirty="0"/>
                        <a:t>年</a:t>
                      </a:r>
                      <a:endParaRPr lang="zh-CN" altLang="en-US" sz="800" dirty="0">
                        <a:latin typeface="楷体" panose="02010609060101010101" pitchFamily="49" charset="-122"/>
                        <a:ea typeface="楷体" panose="02010609060101010101" pitchFamily="49" charset="-122"/>
                      </a:endParaRPr>
                    </a:p>
                  </a:txBody>
                  <a:tcPr marL="68580" marR="68580" marT="34290" marB="34290"/>
                </a:tc>
              </a:tr>
              <a:tr h="212884">
                <a:tc>
                  <a:txBody>
                    <a:bodyPr/>
                    <a:lstStyle/>
                    <a:p>
                      <a:pPr algn="ctr"/>
                      <a:r>
                        <a:rPr lang="zh-CN" altLang="en-US" sz="800" b="1" dirty="0">
                          <a:latin typeface="楷体" panose="02010609060101010101" pitchFamily="49" charset="-122"/>
                          <a:ea typeface="楷体" panose="02010609060101010101" pitchFamily="49" charset="-122"/>
                        </a:rPr>
                        <a:t>营业收入</a:t>
                      </a:r>
                    </a:p>
                  </a:txBody>
                  <a:tcPr marL="68580" marR="68580" marT="34290" marB="34290"/>
                </a:tc>
                <a:tc>
                  <a:txBody>
                    <a:bodyPr/>
                    <a:lstStyle/>
                    <a:p>
                      <a:endParaRPr lang="zh-CN" altLang="en-US" sz="1400" dirty="0"/>
                    </a:p>
                  </a:txBody>
                  <a:tcPr marL="7144" marR="7144" marT="7144" marB="0" anchor="ctr"/>
                </a:tc>
                <a:tc>
                  <a:txBody>
                    <a:bodyPr/>
                    <a:lstStyle/>
                    <a:p>
                      <a:endParaRPr lang="zh-CN" altLang="en-US" sz="1400"/>
                    </a:p>
                  </a:txBody>
                  <a:tcPr marL="7144" marR="7144" marT="7144" marB="0" anchor="ctr"/>
                </a:tc>
                <a:tc>
                  <a:txBody>
                    <a:bodyPr/>
                    <a:lstStyle/>
                    <a:p>
                      <a:endParaRPr lang="zh-CN" altLang="en-US" sz="1400"/>
                    </a:p>
                  </a:txBody>
                  <a:tcPr marL="7144" marR="7144" marT="7144" marB="0" anchor="ctr"/>
                </a:tc>
                <a:tc>
                  <a:txBody>
                    <a:bodyPr/>
                    <a:lstStyle/>
                    <a:p>
                      <a:endParaRPr lang="zh-CN" altLang="en-US" sz="1400"/>
                    </a:p>
                  </a:txBody>
                  <a:tcPr marL="7144" marR="7144" marT="7144" marB="0" anchor="ctr"/>
                </a:tc>
              </a:tr>
              <a:tr h="212884">
                <a:tc>
                  <a:txBody>
                    <a:bodyPr/>
                    <a:lstStyle/>
                    <a:p>
                      <a:pPr algn="ctr"/>
                      <a:r>
                        <a:rPr lang="zh-CN" altLang="en-US" sz="800" b="1" dirty="0">
                          <a:latin typeface="楷体" panose="02010609060101010101" pitchFamily="49" charset="-122"/>
                          <a:ea typeface="楷体" panose="02010609060101010101" pitchFamily="49" charset="-122"/>
                        </a:rPr>
                        <a:t>成本</a:t>
                      </a:r>
                    </a:p>
                  </a:txBody>
                  <a:tcPr marL="68580" marR="68580" marT="34290" marB="34290"/>
                </a:tc>
                <a:tc>
                  <a:txBody>
                    <a:bodyPr/>
                    <a:lstStyle/>
                    <a:p>
                      <a:endParaRPr lang="zh-CN" altLang="en-US" sz="1400"/>
                    </a:p>
                  </a:txBody>
                  <a:tcPr marL="7144" marR="7144" marT="7144" marB="0" anchor="ctr"/>
                </a:tc>
                <a:tc>
                  <a:txBody>
                    <a:bodyPr/>
                    <a:lstStyle/>
                    <a:p>
                      <a:endParaRPr lang="zh-CN" altLang="en-US" sz="1400"/>
                    </a:p>
                  </a:txBody>
                  <a:tcPr marL="7144" marR="7144" marT="7144" marB="0" anchor="ctr"/>
                </a:tc>
                <a:tc>
                  <a:txBody>
                    <a:bodyPr/>
                    <a:lstStyle/>
                    <a:p>
                      <a:endParaRPr lang="zh-CN" altLang="en-US" sz="1400"/>
                    </a:p>
                  </a:txBody>
                  <a:tcPr marL="7144" marR="7144" marT="7144" marB="0" anchor="ctr"/>
                </a:tc>
                <a:tc>
                  <a:txBody>
                    <a:bodyPr/>
                    <a:lstStyle/>
                    <a:p>
                      <a:endParaRPr lang="zh-CN" altLang="en-US" sz="1400"/>
                    </a:p>
                  </a:txBody>
                  <a:tcPr marL="7144" marR="7144" marT="7144" marB="0" anchor="ctr"/>
                </a:tc>
              </a:tr>
              <a:tr h="212884">
                <a:tc>
                  <a:txBody>
                    <a:bodyPr/>
                    <a:lstStyle/>
                    <a:p>
                      <a:pPr algn="ctr"/>
                      <a:r>
                        <a:rPr lang="zh-CN" altLang="en-US" sz="800" b="1" dirty="0">
                          <a:latin typeface="楷体" panose="02010609060101010101" pitchFamily="49" charset="-122"/>
                          <a:ea typeface="楷体" panose="02010609060101010101" pitchFamily="49" charset="-122"/>
                        </a:rPr>
                        <a:t>毛利</a:t>
                      </a:r>
                    </a:p>
                  </a:txBody>
                  <a:tcPr marL="68580" marR="68580" marT="34290" marB="34290"/>
                </a:tc>
                <a:tc>
                  <a:txBody>
                    <a:bodyPr/>
                    <a:lstStyle/>
                    <a:p>
                      <a:endParaRPr lang="zh-CN" altLang="en-US" sz="1400"/>
                    </a:p>
                  </a:txBody>
                  <a:tcPr marL="7144" marR="7144" marT="7144" marB="0" anchor="ctr"/>
                </a:tc>
                <a:tc>
                  <a:txBody>
                    <a:bodyPr/>
                    <a:lstStyle/>
                    <a:p>
                      <a:endParaRPr lang="zh-CN" altLang="en-US" sz="1400"/>
                    </a:p>
                  </a:txBody>
                  <a:tcPr marL="7144" marR="7144" marT="7144" marB="0" anchor="ctr"/>
                </a:tc>
                <a:tc>
                  <a:txBody>
                    <a:bodyPr/>
                    <a:lstStyle/>
                    <a:p>
                      <a:endParaRPr lang="zh-CN" altLang="en-US" sz="1400"/>
                    </a:p>
                  </a:txBody>
                  <a:tcPr marL="7144" marR="7144" marT="7144" marB="0" anchor="ctr"/>
                </a:tc>
                <a:tc>
                  <a:txBody>
                    <a:bodyPr/>
                    <a:lstStyle/>
                    <a:p>
                      <a:endParaRPr lang="zh-CN" altLang="en-US" sz="1400"/>
                    </a:p>
                  </a:txBody>
                  <a:tcPr marL="7144" marR="7144" marT="7144" marB="0" anchor="ctr"/>
                </a:tc>
              </a:tr>
              <a:tr h="274320">
                <a:tc>
                  <a:txBody>
                    <a:bodyPr/>
                    <a:lstStyle/>
                    <a:p>
                      <a:pPr algn="ctr"/>
                      <a:r>
                        <a:rPr lang="zh-CN" altLang="en-US" sz="800" b="1" dirty="0">
                          <a:latin typeface="楷体" panose="02010609060101010101" pitchFamily="49" charset="-122"/>
                          <a:ea typeface="楷体" panose="02010609060101010101" pitchFamily="49" charset="-122"/>
                        </a:rPr>
                        <a:t>毛利率（</a:t>
                      </a:r>
                      <a:r>
                        <a:rPr lang="en-US" altLang="zh-CN" sz="800" b="1" dirty="0">
                          <a:latin typeface="楷体" panose="02010609060101010101" pitchFamily="49" charset="-122"/>
                          <a:ea typeface="楷体" panose="02010609060101010101" pitchFamily="49" charset="-122"/>
                        </a:rPr>
                        <a:t>%</a:t>
                      </a:r>
                      <a:r>
                        <a:rPr lang="zh-CN" altLang="en-US" sz="800" b="1" dirty="0">
                          <a:latin typeface="楷体" panose="02010609060101010101" pitchFamily="49" charset="-122"/>
                          <a:ea typeface="楷体" panose="02010609060101010101" pitchFamily="49" charset="-122"/>
                        </a:rPr>
                        <a:t>）</a:t>
                      </a:r>
                    </a:p>
                  </a:txBody>
                  <a:tcPr marL="68580" marR="68580" marT="34290" marB="34290"/>
                </a:tc>
                <a:tc>
                  <a:txBody>
                    <a:bodyPr/>
                    <a:lstStyle/>
                    <a:p>
                      <a:endParaRPr lang="zh-CN" altLang="en-US" sz="1400"/>
                    </a:p>
                  </a:txBody>
                  <a:tcPr marL="68580" marR="68580" marT="34290" marB="34290"/>
                </a:tc>
                <a:tc>
                  <a:txBody>
                    <a:bodyPr/>
                    <a:lstStyle/>
                    <a:p>
                      <a:endParaRPr lang="zh-CN" altLang="en-US" sz="1400"/>
                    </a:p>
                  </a:txBody>
                  <a:tcPr marL="68580" marR="68580" marT="34290" marB="34290"/>
                </a:tc>
                <a:tc>
                  <a:txBody>
                    <a:bodyPr/>
                    <a:lstStyle/>
                    <a:p>
                      <a:endParaRPr lang="zh-CN" altLang="en-US" sz="1400"/>
                    </a:p>
                  </a:txBody>
                  <a:tcPr marL="68580" marR="68580" marT="34290" marB="34290"/>
                </a:tc>
                <a:tc>
                  <a:txBody>
                    <a:bodyPr/>
                    <a:lstStyle/>
                    <a:p>
                      <a:endParaRPr lang="zh-CN" altLang="en-US" sz="1400"/>
                    </a:p>
                  </a:txBody>
                  <a:tcPr marL="68580" marR="68580" marT="34290" marB="34290"/>
                </a:tc>
              </a:tr>
              <a:tr h="212884">
                <a:tc>
                  <a:txBody>
                    <a:bodyPr/>
                    <a:lstStyle/>
                    <a:p>
                      <a:pPr algn="ctr"/>
                      <a:r>
                        <a:rPr lang="zh-CN" altLang="en-US" sz="800" b="1" dirty="0">
                          <a:latin typeface="楷体" panose="02010609060101010101" pitchFamily="49" charset="-122"/>
                          <a:ea typeface="楷体" panose="02010609060101010101" pitchFamily="49" charset="-122"/>
                        </a:rPr>
                        <a:t>利润总额</a:t>
                      </a:r>
                    </a:p>
                  </a:txBody>
                  <a:tcPr marL="68580" marR="68580" marT="34290" marB="34290"/>
                </a:tc>
                <a:tc>
                  <a:txBody>
                    <a:bodyPr/>
                    <a:lstStyle/>
                    <a:p>
                      <a:endParaRPr lang="zh-CN" altLang="en-US" sz="1400"/>
                    </a:p>
                  </a:txBody>
                  <a:tcPr marL="7144" marR="7144" marT="7144" marB="0" anchor="ctr"/>
                </a:tc>
                <a:tc>
                  <a:txBody>
                    <a:bodyPr/>
                    <a:lstStyle/>
                    <a:p>
                      <a:endParaRPr lang="zh-CN" altLang="en-US" sz="1400"/>
                    </a:p>
                  </a:txBody>
                  <a:tcPr marL="7144" marR="7144" marT="7144" marB="0" anchor="ctr"/>
                </a:tc>
                <a:tc>
                  <a:txBody>
                    <a:bodyPr/>
                    <a:lstStyle/>
                    <a:p>
                      <a:endParaRPr lang="zh-CN" altLang="en-US" sz="1400"/>
                    </a:p>
                  </a:txBody>
                  <a:tcPr marL="7144" marR="7144" marT="7144" marB="0" anchor="ctr"/>
                </a:tc>
                <a:tc>
                  <a:txBody>
                    <a:bodyPr/>
                    <a:lstStyle/>
                    <a:p>
                      <a:endParaRPr lang="zh-CN" altLang="en-US" sz="1400"/>
                    </a:p>
                  </a:txBody>
                  <a:tcPr marL="7144" marR="7144" marT="7144" marB="0" anchor="ctr"/>
                </a:tc>
              </a:tr>
              <a:tr h="212884">
                <a:tc>
                  <a:txBody>
                    <a:bodyPr/>
                    <a:lstStyle/>
                    <a:p>
                      <a:pPr algn="ctr"/>
                      <a:r>
                        <a:rPr lang="zh-CN" altLang="en-US" sz="800" b="1" dirty="0">
                          <a:latin typeface="楷体" panose="02010609060101010101" pitchFamily="49" charset="-122"/>
                          <a:ea typeface="楷体" panose="02010609060101010101" pitchFamily="49" charset="-122"/>
                        </a:rPr>
                        <a:t>净利润</a:t>
                      </a:r>
                    </a:p>
                  </a:txBody>
                  <a:tcPr marL="68580" marR="68580" marT="34290" marB="34290"/>
                </a:tc>
                <a:tc>
                  <a:txBody>
                    <a:bodyPr/>
                    <a:lstStyle/>
                    <a:p>
                      <a:endParaRPr lang="zh-CN" altLang="en-US" sz="1400"/>
                    </a:p>
                  </a:txBody>
                  <a:tcPr marL="7144" marR="7144" marT="7144" marB="0" anchor="ctr"/>
                </a:tc>
                <a:tc>
                  <a:txBody>
                    <a:bodyPr/>
                    <a:lstStyle/>
                    <a:p>
                      <a:endParaRPr lang="zh-CN" altLang="en-US" sz="1400"/>
                    </a:p>
                  </a:txBody>
                  <a:tcPr marL="7144" marR="7144" marT="7144" marB="0" anchor="ctr"/>
                </a:tc>
                <a:tc>
                  <a:txBody>
                    <a:bodyPr/>
                    <a:lstStyle/>
                    <a:p>
                      <a:endParaRPr lang="zh-CN" altLang="en-US" sz="1400"/>
                    </a:p>
                  </a:txBody>
                  <a:tcPr marL="7144" marR="7144" marT="7144" marB="0" anchor="ctr"/>
                </a:tc>
                <a:tc>
                  <a:txBody>
                    <a:bodyPr/>
                    <a:lstStyle/>
                    <a:p>
                      <a:endParaRPr lang="zh-CN" altLang="en-US" sz="1400"/>
                    </a:p>
                  </a:txBody>
                  <a:tcPr marL="7144" marR="7144" marT="7144" marB="0" anchor="ctr"/>
                </a:tc>
              </a:tr>
              <a:tr h="212884">
                <a:tc>
                  <a:txBody>
                    <a:bodyPr/>
                    <a:lstStyle/>
                    <a:p>
                      <a:pPr algn="ctr"/>
                      <a:r>
                        <a:rPr lang="zh-CN" altLang="en-US" sz="800" b="1" dirty="0">
                          <a:latin typeface="楷体" panose="02010609060101010101" pitchFamily="49" charset="-122"/>
                          <a:ea typeface="楷体" panose="02010609060101010101" pitchFamily="49" charset="-122"/>
                        </a:rPr>
                        <a:t>净利率（</a:t>
                      </a:r>
                      <a:r>
                        <a:rPr lang="en-US" altLang="zh-CN" sz="800" b="1" dirty="0">
                          <a:latin typeface="楷体" panose="02010609060101010101" pitchFamily="49" charset="-122"/>
                          <a:ea typeface="楷体" panose="02010609060101010101" pitchFamily="49" charset="-122"/>
                        </a:rPr>
                        <a:t>%</a:t>
                      </a:r>
                      <a:r>
                        <a:rPr lang="zh-CN" altLang="en-US" sz="800" b="1" dirty="0">
                          <a:latin typeface="楷体" panose="02010609060101010101" pitchFamily="49" charset="-122"/>
                          <a:ea typeface="楷体" panose="02010609060101010101" pitchFamily="49" charset="-122"/>
                        </a:rPr>
                        <a:t>）</a:t>
                      </a:r>
                    </a:p>
                  </a:txBody>
                  <a:tcPr marL="68580" marR="68580" marT="34290" marB="34290"/>
                </a:tc>
                <a:tc>
                  <a:txBody>
                    <a:bodyPr/>
                    <a:lstStyle/>
                    <a:p>
                      <a:endParaRPr lang="zh-CN" altLang="en-US" sz="1400"/>
                    </a:p>
                  </a:txBody>
                  <a:tcPr marL="7144" marR="7144" marT="7144" marB="0" anchor="ctr"/>
                </a:tc>
                <a:tc>
                  <a:txBody>
                    <a:bodyPr/>
                    <a:lstStyle/>
                    <a:p>
                      <a:endParaRPr lang="zh-CN" altLang="en-US" sz="1400"/>
                    </a:p>
                  </a:txBody>
                  <a:tcPr marL="7144" marR="7144" marT="7144" marB="0" anchor="ctr"/>
                </a:tc>
                <a:tc>
                  <a:txBody>
                    <a:bodyPr/>
                    <a:lstStyle/>
                    <a:p>
                      <a:endParaRPr lang="zh-CN" altLang="en-US" sz="1400"/>
                    </a:p>
                  </a:txBody>
                  <a:tcPr marL="7144" marR="7144" marT="7144" marB="0" anchor="ctr"/>
                </a:tc>
                <a:tc>
                  <a:txBody>
                    <a:bodyPr/>
                    <a:lstStyle/>
                    <a:p>
                      <a:endParaRPr lang="zh-CN" altLang="en-US" sz="1400" dirty="0"/>
                    </a:p>
                  </a:txBody>
                  <a:tcPr marL="7144" marR="7144" marT="7144" marB="0" anchor="ctr"/>
                </a:tc>
              </a:tr>
            </a:tbl>
          </a:graphicData>
        </a:graphic>
      </p:graphicFrame>
      <p:sp>
        <p:nvSpPr>
          <p:cNvPr id="14" name="TextBox 7"/>
          <p:cNvSpPr txBox="1"/>
          <p:nvPr/>
        </p:nvSpPr>
        <p:spPr>
          <a:xfrm>
            <a:off x="637066" y="708188"/>
            <a:ext cx="2970330" cy="300082"/>
          </a:xfrm>
          <a:prstGeom prst="rect">
            <a:avLst/>
          </a:prstGeom>
          <a:noFill/>
        </p:spPr>
        <p:txBody>
          <a:bodyPr wrap="square" rtlCol="0">
            <a:spAutoFit/>
          </a:bodyPr>
          <a:lstStyle/>
          <a:p>
            <a:r>
              <a:rPr lang="en-US" altLang="zh-CN" sz="1350" b="1" dirty="0">
                <a:latin typeface="楷体" panose="02010609060101010101" pitchFamily="49" charset="-122"/>
                <a:ea typeface="楷体" panose="02010609060101010101" pitchFamily="49" charset="-122"/>
              </a:rPr>
              <a:t>1.1</a:t>
            </a:r>
            <a:r>
              <a:rPr lang="zh-CN" altLang="en-US" sz="1350" b="1" dirty="0">
                <a:latin typeface="楷体" panose="02010609060101010101" pitchFamily="49" charset="-122"/>
                <a:ea typeface="楷体" panose="02010609060101010101" pitchFamily="49" charset="-122"/>
              </a:rPr>
              <a:t>利润总分析</a:t>
            </a:r>
          </a:p>
        </p:txBody>
      </p:sp>
      <p:graphicFrame>
        <p:nvGraphicFramePr>
          <p:cNvPr id="15" name="图表 14"/>
          <p:cNvGraphicFramePr/>
          <p:nvPr/>
        </p:nvGraphicFramePr>
        <p:xfrm>
          <a:off x="1281631" y="2995789"/>
          <a:ext cx="3672408" cy="2052228"/>
        </p:xfrm>
        <a:graphic>
          <a:graphicData uri="http://schemas.openxmlformats.org/drawingml/2006/chart">
            <c:chart xmlns:c="http://schemas.openxmlformats.org/drawingml/2006/chart" xmlns:r="http://schemas.openxmlformats.org/officeDocument/2006/relationships" r:id="rId4"/>
          </a:graphicData>
        </a:graphic>
      </p:graphicFrame>
      <p:sp>
        <p:nvSpPr>
          <p:cNvPr id="19" name="TextBox 9"/>
          <p:cNvSpPr txBox="1"/>
          <p:nvPr/>
        </p:nvSpPr>
        <p:spPr>
          <a:xfrm>
            <a:off x="6740860" y="825173"/>
            <a:ext cx="918102" cy="253916"/>
          </a:xfrm>
          <a:prstGeom prst="rect">
            <a:avLst/>
          </a:prstGeom>
          <a:noFill/>
        </p:spPr>
        <p:txBody>
          <a:bodyPr wrap="square" rtlCol="0">
            <a:spAutoFit/>
          </a:bodyPr>
          <a:lstStyle/>
          <a:p>
            <a:r>
              <a:rPr lang="zh-CN" altLang="en-US" sz="1050" b="1" dirty="0">
                <a:latin typeface="楷体" panose="02010609060101010101" pitchFamily="49" charset="-122"/>
                <a:ea typeface="楷体" panose="02010609060101010101" pitchFamily="49" charset="-122"/>
              </a:rPr>
              <a:t>单位：万元</a:t>
            </a:r>
          </a:p>
        </p:txBody>
      </p:sp>
      <p:sp>
        <p:nvSpPr>
          <p:cNvPr id="10" name="TextBox 6"/>
          <p:cNvSpPr txBox="1"/>
          <p:nvPr/>
        </p:nvSpPr>
        <p:spPr>
          <a:xfrm>
            <a:off x="4922658" y="3291830"/>
            <a:ext cx="2529662" cy="1384995"/>
          </a:xfrm>
          <a:prstGeom prst="rect">
            <a:avLst/>
          </a:prstGeom>
          <a:noFill/>
        </p:spPr>
        <p:txBody>
          <a:bodyPr wrap="square" rtlCol="0">
            <a:spAutoFit/>
          </a:bodyPr>
          <a:lstStyle/>
          <a:p>
            <a:r>
              <a:rPr lang="zh-CN" altLang="en-US" sz="1200" dirty="0">
                <a:latin typeface="Arial" panose="020B0604020202020204" pitchFamily="34" charset="0"/>
                <a:ea typeface="微软雅黑" panose="020B0503020204020204" pitchFamily="34" charset="-122"/>
                <a:sym typeface="Arial" panose="020B0604020202020204" pitchFamily="34" charset="0"/>
              </a:rPr>
              <a:t>分析：</a:t>
            </a:r>
          </a:p>
          <a:p>
            <a:r>
              <a:rPr lang="en-US" altLang="zh-CN" sz="1200" dirty="0">
                <a:latin typeface="Arial" panose="020B0604020202020204" pitchFamily="34" charset="0"/>
                <a:ea typeface="微软雅黑" panose="020B0503020204020204" pitchFamily="34" charset="-122"/>
                <a:sym typeface="Arial" panose="020B0604020202020204" pitchFamily="34" charset="0"/>
              </a:rPr>
              <a:t>1.2014-2017</a:t>
            </a:r>
            <a:r>
              <a:rPr lang="zh-CN" altLang="en-US" sz="1200" dirty="0">
                <a:latin typeface="Arial" panose="020B0604020202020204" pitchFamily="34" charset="0"/>
                <a:ea typeface="微软雅黑" panose="020B0503020204020204" pitchFamily="34" charset="-122"/>
                <a:sym typeface="Arial" panose="020B0604020202020204" pitchFamily="34" charset="0"/>
              </a:rPr>
              <a:t>年上的营收处于上升趋势，毛利率平均处于左右，净利率平均为；</a:t>
            </a:r>
          </a:p>
          <a:p>
            <a:r>
              <a:rPr lang="en-US" altLang="zh-CN" sz="1200" dirty="0">
                <a:latin typeface="Arial" panose="020B0604020202020204" pitchFamily="34" charset="0"/>
                <a:ea typeface="微软雅黑" panose="020B0503020204020204" pitchFamily="34" charset="-122"/>
                <a:sym typeface="Arial" panose="020B0604020202020204" pitchFamily="34" charset="0"/>
              </a:rPr>
              <a:t>2.2017</a:t>
            </a:r>
            <a:r>
              <a:rPr lang="zh-CN" altLang="en-US" sz="1200" dirty="0">
                <a:latin typeface="Arial" panose="020B0604020202020204" pitchFamily="34" charset="0"/>
                <a:ea typeface="微软雅黑" panose="020B0503020204020204" pitchFamily="34" charset="-122"/>
                <a:sym typeface="Arial" panose="020B0604020202020204" pitchFamily="34" charset="0"/>
              </a:rPr>
              <a:t>年的营收任务至少达到，目前半年的收入完成约</a:t>
            </a:r>
            <a:r>
              <a:rPr lang="en-US" altLang="zh-CN" sz="1200" dirty="0">
                <a:latin typeface="Arial" panose="020B0604020202020204" pitchFamily="34" charset="0"/>
                <a:ea typeface="微软雅黑" panose="020B0503020204020204" pitchFamily="34" charset="-122"/>
                <a:sym typeface="Arial" panose="020B0604020202020204" pitchFamily="34" charset="0"/>
              </a:rPr>
              <a:t>,</a:t>
            </a:r>
            <a:r>
              <a:rPr lang="zh-CN" altLang="en-US" sz="1200" dirty="0">
                <a:latin typeface="Arial" panose="020B0604020202020204" pitchFamily="34" charset="0"/>
                <a:ea typeface="微软雅黑" panose="020B0503020204020204" pitchFamily="34" charset="-122"/>
                <a:sym typeface="Arial" panose="020B0604020202020204" pitchFamily="34" charset="0"/>
              </a:rPr>
              <a:t>下半年需争取完成的营收任务，任重道远。</a:t>
            </a:r>
          </a:p>
        </p:txBody>
      </p:sp>
    </p:spTree>
  </p:cSld>
  <p:clrMapOvr>
    <a:masterClrMapping/>
  </p:clrMapOvr>
  <p:transition spd="slow" advClick="0" advTm="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txBox="1"/>
          <p:nvPr/>
        </p:nvSpPr>
        <p:spPr>
          <a:xfrm>
            <a:off x="857885" y="195109"/>
            <a:ext cx="2600960" cy="379730"/>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000" b="1" dirty="0">
                <a:solidFill>
                  <a:schemeClr val="tx1"/>
                </a:solidFill>
                <a:latin typeface="Arial" panose="020B0604020202020204" pitchFamily="34" charset="0"/>
                <a:ea typeface="微软雅黑" panose="020B0503020204020204" pitchFamily="34" charset="-122"/>
                <a:sym typeface="Arial" panose="020B0604020202020204" pitchFamily="34" charset="0"/>
              </a:rPr>
              <a:t>1.2</a:t>
            </a:r>
            <a:r>
              <a:rPr lang="zh-CN" altLang="en-US" sz="2000" b="1" dirty="0">
                <a:solidFill>
                  <a:schemeClr val="tx1"/>
                </a:solidFill>
                <a:latin typeface="Arial" panose="020B0604020202020204" pitchFamily="34" charset="0"/>
                <a:ea typeface="微软雅黑" panose="020B0503020204020204" pitchFamily="34" charset="-122"/>
                <a:sym typeface="Arial" panose="020B0604020202020204" pitchFamily="34" charset="0"/>
              </a:rPr>
              <a:t>收入结构对比分析</a:t>
            </a:r>
          </a:p>
        </p:txBody>
      </p:sp>
      <p:graphicFrame>
        <p:nvGraphicFramePr>
          <p:cNvPr id="25" name="图表 24"/>
          <p:cNvGraphicFramePr/>
          <p:nvPr/>
        </p:nvGraphicFramePr>
        <p:xfrm>
          <a:off x="4211960" y="4149080"/>
          <a:ext cx="2592288" cy="223224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 name="表格 9"/>
          <p:cNvGraphicFramePr>
            <a:graphicFrameLocks noGrp="1"/>
          </p:cNvGraphicFramePr>
          <p:nvPr/>
        </p:nvGraphicFramePr>
        <p:xfrm>
          <a:off x="602462" y="907159"/>
          <a:ext cx="5184576" cy="3680815"/>
        </p:xfrm>
        <a:graphic>
          <a:graphicData uri="http://schemas.openxmlformats.org/drawingml/2006/table">
            <a:tbl>
              <a:tblPr firstRow="1" bandRow="1">
                <a:tableStyleId>{74C1A8A3-306A-4EB7-A6B1-4F7E0EB9C5D6}</a:tableStyleId>
              </a:tblPr>
              <a:tblGrid>
                <a:gridCol w="1248139"/>
                <a:gridCol w="720080"/>
                <a:gridCol w="768085"/>
                <a:gridCol w="816091"/>
                <a:gridCol w="888099"/>
                <a:gridCol w="744082"/>
              </a:tblGrid>
              <a:tr h="328224">
                <a:tc>
                  <a:txBody>
                    <a:bodyPr/>
                    <a:lstStyle/>
                    <a:p>
                      <a:pPr algn="ctr"/>
                      <a:r>
                        <a:rPr lang="zh-CN" altLang="en-US" sz="1400" dirty="0">
                          <a:latin typeface="Arial" panose="020B0604020202020204" pitchFamily="34" charset="0"/>
                          <a:ea typeface="微软雅黑" panose="020B0503020204020204" pitchFamily="34" charset="-122"/>
                          <a:sym typeface="Arial" panose="020B0604020202020204" pitchFamily="34" charset="0"/>
                        </a:rPr>
                        <a:t>项目</a:t>
                      </a:r>
                    </a:p>
                  </a:txBody>
                  <a:tcPr/>
                </a:tc>
                <a:tc>
                  <a:txBody>
                    <a:bodyPr/>
                    <a:lstStyle/>
                    <a:p>
                      <a:pPr algn="ctr"/>
                      <a:r>
                        <a:rPr lang="zh-CN" altLang="en-US" sz="1400" dirty="0">
                          <a:latin typeface="Arial" panose="020B0604020202020204" pitchFamily="34" charset="0"/>
                          <a:ea typeface="微软雅黑" panose="020B0503020204020204" pitchFamily="34" charset="-122"/>
                          <a:sym typeface="Arial" panose="020B0604020202020204" pitchFamily="34" charset="0"/>
                        </a:rPr>
                        <a:t>当年值</a:t>
                      </a:r>
                    </a:p>
                  </a:txBody>
                  <a:tcPr/>
                </a:tc>
                <a:tc>
                  <a:txBody>
                    <a:bodyPr/>
                    <a:lstStyle/>
                    <a:p>
                      <a:pPr algn="ctr"/>
                      <a:r>
                        <a:rPr lang="zh-CN" altLang="en-US" sz="1400" dirty="0">
                          <a:latin typeface="Arial" panose="020B0604020202020204" pitchFamily="34" charset="0"/>
                          <a:ea typeface="微软雅黑" panose="020B0503020204020204" pitchFamily="34" charset="-122"/>
                          <a:sym typeface="Arial" panose="020B0604020202020204" pitchFamily="34" charset="0"/>
                        </a:rPr>
                        <a:t>上年值</a:t>
                      </a:r>
                    </a:p>
                  </a:txBody>
                  <a:tcPr/>
                </a:tc>
                <a:tc>
                  <a:txBody>
                    <a:bodyPr/>
                    <a:lstStyle/>
                    <a:p>
                      <a:pPr algn="ctr"/>
                      <a:r>
                        <a:rPr lang="zh-CN" altLang="en-US" sz="1400" dirty="0">
                          <a:latin typeface="Arial" panose="020B0604020202020204" pitchFamily="34" charset="0"/>
                          <a:ea typeface="微软雅黑" panose="020B0503020204020204" pitchFamily="34" charset="-122"/>
                          <a:sym typeface="Arial" panose="020B0604020202020204" pitchFamily="34" charset="0"/>
                        </a:rPr>
                        <a:t>增减额</a:t>
                      </a:r>
                    </a:p>
                  </a:txBody>
                  <a:tcPr/>
                </a:tc>
                <a:tc>
                  <a:txBody>
                    <a:bodyPr/>
                    <a:lstStyle/>
                    <a:p>
                      <a:pPr algn="ctr"/>
                      <a:r>
                        <a:rPr lang="zh-CN" altLang="en-US" sz="1400" dirty="0">
                          <a:latin typeface="Arial" panose="020B0604020202020204" pitchFamily="34" charset="0"/>
                          <a:ea typeface="微软雅黑" panose="020B0503020204020204" pitchFamily="34" charset="-122"/>
                          <a:sym typeface="Arial" panose="020B0604020202020204" pitchFamily="34" charset="0"/>
                        </a:rPr>
                        <a:t>增减率</a:t>
                      </a:r>
                    </a:p>
                  </a:txBody>
                  <a:tcPr/>
                </a:tc>
                <a:tc>
                  <a:txBody>
                    <a:bodyPr/>
                    <a:lstStyle/>
                    <a:p>
                      <a:pPr algn="ctr"/>
                      <a:r>
                        <a:rPr lang="zh-CN" altLang="en-US" sz="1400" dirty="0">
                          <a:latin typeface="Arial" panose="020B0604020202020204" pitchFamily="34" charset="0"/>
                          <a:ea typeface="微软雅黑" panose="020B0503020204020204" pitchFamily="34" charset="-122"/>
                          <a:sym typeface="Arial" panose="020B0604020202020204" pitchFamily="34" charset="0"/>
                        </a:rPr>
                        <a:t>预算</a:t>
                      </a:r>
                    </a:p>
                  </a:txBody>
                  <a:tcPr/>
                </a:tc>
              </a:tr>
              <a:tr h="450534">
                <a:tc>
                  <a:txBody>
                    <a:bodyPr/>
                    <a:lstStyle/>
                    <a:p>
                      <a:r>
                        <a:rPr lang="zh-CN" altLang="en-US" sz="1200" dirty="0">
                          <a:latin typeface="Arial" panose="020B0604020202020204" pitchFamily="34" charset="0"/>
                          <a:ea typeface="微软雅黑" panose="020B0503020204020204" pitchFamily="34" charset="-122"/>
                          <a:sym typeface="Arial" panose="020B0604020202020204" pitchFamily="34" charset="0"/>
                        </a:rPr>
                        <a:t>     经营收入</a:t>
                      </a:r>
                      <a:endParaRPr lang="en-US" altLang="zh-CN" sz="1200" dirty="0">
                        <a:latin typeface="Arial" panose="020B0604020202020204" pitchFamily="34" charset="0"/>
                        <a:ea typeface="微软雅黑" panose="020B0503020204020204" pitchFamily="34" charset="-122"/>
                        <a:sym typeface="Arial" panose="020B0604020202020204" pitchFamily="34" charset="0"/>
                      </a:endParaRPr>
                    </a:p>
                    <a:p>
                      <a:r>
                        <a:rPr lang="zh-CN" altLang="en-US" sz="1200" dirty="0">
                          <a:latin typeface="Arial" panose="020B0604020202020204" pitchFamily="34" charset="0"/>
                          <a:ea typeface="微软雅黑" panose="020B0503020204020204" pitchFamily="34" charset="-122"/>
                          <a:sym typeface="Arial" panose="020B0604020202020204" pitchFamily="34" charset="0"/>
                        </a:rPr>
                        <a:t>    （万元）</a:t>
                      </a:r>
                      <a:endParaRPr lang="zh-CN" altLang="en-US" sz="1200" b="1" dirty="0">
                        <a:latin typeface="Arial" panose="020B0604020202020204" pitchFamily="34" charset="0"/>
                        <a:ea typeface="微软雅黑" panose="020B0503020204020204" pitchFamily="34" charset="-122"/>
                        <a:sym typeface="Arial" panose="020B0604020202020204" pitchFamily="34" charset="0"/>
                      </a:endParaRPr>
                    </a:p>
                  </a:txBody>
                  <a:tcPr/>
                </a:tc>
                <a:tc>
                  <a:txBody>
                    <a:bodyP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a:txBody>
                  <a:tcPr/>
                </a:tc>
                <a:tc>
                  <a:txBody>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marL="0" algn="ctr" defTabSz="914400" rtl="0" eaLnBrk="1" fontAlgn="ctr" latinLnBrk="0" hangingPunct="1"/>
                      <a:endParaRPr lang="en-US" altLang="zh-CN" sz="1000" u="none" strike="noStrike" kern="1200" dirty="0">
                        <a:latin typeface="Arial" panose="020B0604020202020204" pitchFamily="34" charset="0"/>
                        <a:ea typeface="微软雅黑" panose="020B0503020204020204" pitchFamily="34" charset="-122"/>
                        <a:sym typeface="Arial" panose="020B0604020202020204" pitchFamily="34" charset="0"/>
                      </a:endParaRPr>
                    </a:p>
                    <a:p>
                      <a:pPr marL="0" algn="ctr" defTabSz="914400" rtl="0" eaLnBrk="1" fontAlgn="ctr" latinLnBrk="0" hangingPunct="1"/>
                      <a:endParaRPr lang="zh-CN" altLang="en-US" sz="1000" b="0" i="0" u="none" strike="noStrike" kern="1200" dirty="0">
                        <a:solidFill>
                          <a:schemeClr val="dk1"/>
                        </a:solidFill>
                        <a:latin typeface="Arial" panose="020B0604020202020204" pitchFamily="34" charset="0"/>
                        <a:ea typeface="微软雅黑" panose="020B0503020204020204" pitchFamily="34" charset="-122"/>
                        <a:cs typeface="+mn-cs"/>
                        <a:sym typeface="Arial" panose="020B0604020202020204" pitchFamily="34" charset="0"/>
                      </a:endParaRPr>
                    </a:p>
                  </a:txBody>
                  <a:tcPr/>
                </a:tc>
              </a:tr>
              <a:tr h="446130">
                <a:tc>
                  <a:txBody>
                    <a:bodyPr/>
                    <a:lstStyle/>
                    <a:p>
                      <a:r>
                        <a:rPr lang="zh-CN" altLang="en-US" sz="1200" dirty="0">
                          <a:latin typeface="Arial" panose="020B0604020202020204" pitchFamily="34" charset="0"/>
                          <a:ea typeface="微软雅黑" panose="020B0503020204020204" pitchFamily="34" charset="-122"/>
                          <a:sym typeface="Arial" panose="020B0604020202020204" pitchFamily="34" charset="0"/>
                        </a:rPr>
                        <a:t>其中：</a:t>
                      </a:r>
                      <a:endParaRPr lang="en-US" altLang="zh-CN" sz="1200" dirty="0">
                        <a:latin typeface="Arial" panose="020B0604020202020204" pitchFamily="34" charset="0"/>
                        <a:ea typeface="微软雅黑" panose="020B0503020204020204" pitchFamily="34" charset="-122"/>
                        <a:sym typeface="Arial" panose="020B0604020202020204" pitchFamily="34" charset="0"/>
                      </a:endParaRPr>
                    </a:p>
                    <a:p>
                      <a:r>
                        <a:rPr lang="en-US" altLang="zh-CN" sz="1200" dirty="0">
                          <a:latin typeface="Arial" panose="020B0604020202020204" pitchFamily="34" charset="0"/>
                          <a:ea typeface="微软雅黑" panose="020B0503020204020204" pitchFamily="34" charset="-122"/>
                          <a:sym typeface="Arial" panose="020B0604020202020204" pitchFamily="34" charset="0"/>
                        </a:rPr>
                        <a:t>     **</a:t>
                      </a:r>
                      <a:r>
                        <a:rPr lang="zh-CN" altLang="en-US" sz="1200" dirty="0">
                          <a:latin typeface="Arial" panose="020B0604020202020204" pitchFamily="34" charset="0"/>
                          <a:ea typeface="微软雅黑" panose="020B0503020204020204" pitchFamily="34" charset="-122"/>
                          <a:sym typeface="Arial" panose="020B0604020202020204" pitchFamily="34" charset="0"/>
                        </a:rPr>
                        <a:t>收入</a:t>
                      </a:r>
                      <a:endParaRPr lang="zh-CN" altLang="en-US" sz="1200" b="1" dirty="0">
                        <a:latin typeface="Arial" panose="020B0604020202020204" pitchFamily="34" charset="0"/>
                        <a:ea typeface="微软雅黑" panose="020B0503020204020204" pitchFamily="34" charset="-122"/>
                        <a:sym typeface="Arial" panose="020B0604020202020204" pitchFamily="34" charset="0"/>
                      </a:endParaRPr>
                    </a:p>
                  </a:txBody>
                  <a:tcPr/>
                </a:tc>
                <a:tc>
                  <a:txBody>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a:txBody>
                  <a:tcPr/>
                </a:tc>
                <a:tc>
                  <a:txBody>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marL="0" algn="ctr" defTabSz="914400" rtl="0" eaLnBrk="1" fontAlgn="ctr" latinLnBrk="0" hangingPunct="1"/>
                      <a:endParaRPr lang="zh-CN" altLang="en-US" sz="1000" b="0" i="0" u="none" strike="noStrike" kern="1200" dirty="0">
                        <a:solidFill>
                          <a:schemeClr val="dk1"/>
                        </a:solidFill>
                        <a:latin typeface="Arial" panose="020B0604020202020204" pitchFamily="34" charset="0"/>
                        <a:ea typeface="微软雅黑" panose="020B0503020204020204" pitchFamily="34" charset="-122"/>
                        <a:cs typeface="+mn-cs"/>
                        <a:sym typeface="Arial" panose="020B0604020202020204" pitchFamily="34" charset="0"/>
                      </a:endParaRPr>
                    </a:p>
                  </a:txBody>
                  <a:tcPr/>
                </a:tc>
              </a:tr>
              <a:tr h="446130">
                <a:tc>
                  <a:txBody>
                    <a:bodyPr/>
                    <a:lstStyle/>
                    <a:p>
                      <a:pPr algn="ctr"/>
                      <a:r>
                        <a:rPr lang="en-US" altLang="zh-CN" sz="1200" dirty="0">
                          <a:latin typeface="Arial" panose="020B0604020202020204" pitchFamily="34" charset="0"/>
                          <a:ea typeface="微软雅黑" panose="020B0503020204020204" pitchFamily="34" charset="-122"/>
                          <a:sym typeface="Arial" panose="020B0604020202020204" pitchFamily="34" charset="0"/>
                        </a:rPr>
                        <a:t>     **</a:t>
                      </a:r>
                      <a:r>
                        <a:rPr lang="zh-CN" altLang="en-US" sz="1200" dirty="0">
                          <a:latin typeface="Arial" panose="020B0604020202020204" pitchFamily="34" charset="0"/>
                          <a:ea typeface="微软雅黑" panose="020B0503020204020204" pitchFamily="34" charset="-122"/>
                          <a:sym typeface="Arial" panose="020B0604020202020204" pitchFamily="34" charset="0"/>
                        </a:rPr>
                        <a:t>收入       </a:t>
                      </a:r>
                      <a:endParaRPr lang="zh-CN" altLang="en-US" sz="1200" b="1" dirty="0">
                        <a:latin typeface="Arial" panose="020B0604020202020204" pitchFamily="34" charset="0"/>
                        <a:ea typeface="微软雅黑" panose="020B0503020204020204" pitchFamily="34" charset="-122"/>
                        <a:sym typeface="Arial" panose="020B0604020202020204" pitchFamily="34" charset="0"/>
                      </a:endParaRPr>
                    </a:p>
                  </a:txBody>
                  <a:tcPr/>
                </a:tc>
                <a:tc>
                  <a:txBody>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a:txBody>
                  <a:tcPr/>
                </a:tc>
                <a:tc>
                  <a:txBody>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marL="0" algn="ctr" defTabSz="914400" rtl="0" eaLnBrk="1" fontAlgn="ctr" latinLnBrk="0" hangingPunct="1"/>
                      <a:endParaRPr lang="zh-CN" altLang="en-US" sz="1000" b="0" i="0" u="none" strike="noStrike" kern="1200" dirty="0">
                        <a:solidFill>
                          <a:schemeClr val="dk1"/>
                        </a:solidFill>
                        <a:latin typeface="Arial" panose="020B0604020202020204" pitchFamily="34" charset="0"/>
                        <a:ea typeface="微软雅黑" panose="020B0503020204020204" pitchFamily="34" charset="-122"/>
                        <a:cs typeface="+mn-cs"/>
                        <a:sym typeface="Arial" panose="020B0604020202020204" pitchFamily="34" charset="0"/>
                      </a:endParaRPr>
                    </a:p>
                  </a:txBody>
                  <a:tcPr/>
                </a:tc>
              </a:tr>
              <a:tr h="444500">
                <a:tc>
                  <a:txBody>
                    <a:bodyPr/>
                    <a:lstStyle/>
                    <a:p>
                      <a:pPr algn="ctr"/>
                      <a:r>
                        <a:rPr lang="en-US" altLang="zh-CN" sz="1200" dirty="0">
                          <a:latin typeface="Arial" panose="020B0604020202020204" pitchFamily="34" charset="0"/>
                          <a:ea typeface="微软雅黑" panose="020B0503020204020204" pitchFamily="34" charset="-122"/>
                          <a:sym typeface="Arial" panose="020B0604020202020204" pitchFamily="34" charset="0"/>
                        </a:rPr>
                        <a:t> </a:t>
                      </a:r>
                      <a:r>
                        <a:rPr lang="en-US" altLang="zh-CN" sz="1200" baseline="0" dirty="0">
                          <a:latin typeface="Arial" panose="020B0604020202020204" pitchFamily="34" charset="0"/>
                          <a:ea typeface="微软雅黑" panose="020B0503020204020204" pitchFamily="34" charset="-122"/>
                          <a:sym typeface="Arial" panose="020B0604020202020204" pitchFamily="34" charset="0"/>
                        </a:rPr>
                        <a:t> </a:t>
                      </a:r>
                      <a:r>
                        <a:rPr lang="en-US" altLang="zh-CN" sz="1200" dirty="0">
                          <a:latin typeface="Arial" panose="020B0604020202020204" pitchFamily="34" charset="0"/>
                          <a:ea typeface="微软雅黑" panose="020B0503020204020204" pitchFamily="34" charset="-122"/>
                          <a:sym typeface="Arial" panose="020B0604020202020204" pitchFamily="34" charset="0"/>
                        </a:rPr>
                        <a:t> **</a:t>
                      </a:r>
                      <a:r>
                        <a:rPr lang="zh-CN" altLang="en-US" sz="1200" dirty="0">
                          <a:latin typeface="Arial" panose="020B0604020202020204" pitchFamily="34" charset="0"/>
                          <a:ea typeface="微软雅黑" panose="020B0503020204020204" pitchFamily="34" charset="-122"/>
                          <a:sym typeface="Arial" panose="020B0604020202020204" pitchFamily="34" charset="0"/>
                        </a:rPr>
                        <a:t>收入</a:t>
                      </a:r>
                      <a:endParaRPr lang="zh-CN" altLang="en-US" sz="1200" b="1" dirty="0">
                        <a:latin typeface="Arial" panose="020B0604020202020204" pitchFamily="34" charset="0"/>
                        <a:ea typeface="微软雅黑" panose="020B0503020204020204" pitchFamily="34" charset="-122"/>
                        <a:sym typeface="Arial" panose="020B0604020202020204" pitchFamily="34" charset="0"/>
                      </a:endParaRPr>
                    </a:p>
                  </a:txBody>
                  <a:tcPr/>
                </a:tc>
                <a:tc>
                  <a:txBody>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a:txBody>
                  <a:tcPr/>
                </a:tc>
                <a:tc>
                  <a:txBody>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marL="0" algn="ctr" defTabSz="914400" rtl="0" eaLnBrk="1" fontAlgn="ctr" latinLnBrk="0" hangingPunct="1"/>
                      <a:endParaRPr lang="zh-CN" altLang="en-US" sz="1000" b="0" i="0" u="none" strike="noStrike" kern="1200" dirty="0">
                        <a:solidFill>
                          <a:schemeClr val="dk1"/>
                        </a:solidFill>
                        <a:latin typeface="Arial" panose="020B0604020202020204" pitchFamily="34" charset="0"/>
                        <a:ea typeface="微软雅黑" panose="020B0503020204020204" pitchFamily="34" charset="-122"/>
                        <a:cs typeface="+mn-cs"/>
                        <a:sym typeface="Arial" panose="020B0604020202020204" pitchFamily="34" charset="0"/>
                      </a:endParaRPr>
                    </a:p>
                  </a:txBody>
                  <a:tcPr/>
                </a:tc>
              </a:tr>
              <a:tr h="476770">
                <a:tc>
                  <a:txBody>
                    <a:bodyPr/>
                    <a:lstStyle/>
                    <a:p>
                      <a:pPr algn="ctr"/>
                      <a:r>
                        <a:rPr lang="en-US" altLang="zh-CN" sz="1200" dirty="0">
                          <a:latin typeface="Arial" panose="020B0604020202020204" pitchFamily="34" charset="0"/>
                          <a:ea typeface="微软雅黑" panose="020B0503020204020204" pitchFamily="34" charset="-122"/>
                          <a:sym typeface="Arial" panose="020B0604020202020204" pitchFamily="34" charset="0"/>
                        </a:rPr>
                        <a:t>    **</a:t>
                      </a:r>
                      <a:r>
                        <a:rPr lang="zh-CN" altLang="en-US" sz="1200" dirty="0">
                          <a:latin typeface="Arial" panose="020B0604020202020204" pitchFamily="34" charset="0"/>
                          <a:ea typeface="微软雅黑" panose="020B0503020204020204" pitchFamily="34" charset="-122"/>
                          <a:sym typeface="Arial" panose="020B0604020202020204" pitchFamily="34" charset="0"/>
                        </a:rPr>
                        <a:t>收入</a:t>
                      </a:r>
                      <a:endParaRPr lang="zh-CN" altLang="en-US" sz="1200" b="1" dirty="0">
                        <a:latin typeface="Arial" panose="020B0604020202020204" pitchFamily="34" charset="0"/>
                        <a:ea typeface="微软雅黑" panose="020B0503020204020204" pitchFamily="34" charset="-122"/>
                        <a:sym typeface="Arial" panose="020B0604020202020204" pitchFamily="34" charset="0"/>
                      </a:endParaRPr>
                    </a:p>
                  </a:txBody>
                  <a:tcPr/>
                </a:tc>
                <a:tc>
                  <a:txBody>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a:txBody>
                  <a:tcPr/>
                </a:tc>
                <a:tc>
                  <a:txBody>
                    <a:bodyP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marL="0" algn="ctr" defTabSz="914400" rtl="0" eaLnBrk="1" fontAlgn="ctr" latinLnBrk="0" hangingPunct="1"/>
                      <a:endParaRPr lang="zh-CN" altLang="en-US" sz="1000" b="0" i="0" u="none" strike="noStrike" kern="1200" dirty="0">
                        <a:solidFill>
                          <a:schemeClr val="dk1"/>
                        </a:solidFill>
                        <a:latin typeface="Arial" panose="020B0604020202020204" pitchFamily="34" charset="0"/>
                        <a:ea typeface="微软雅黑" panose="020B0503020204020204" pitchFamily="34" charset="-122"/>
                        <a:cs typeface="+mn-cs"/>
                        <a:sym typeface="Arial" panose="020B0604020202020204" pitchFamily="34" charset="0"/>
                      </a:endParaRPr>
                    </a:p>
                  </a:txBody>
                  <a:tcPr/>
                </a:tc>
              </a:tr>
              <a:tr h="509864">
                <a:tc>
                  <a:txBody>
                    <a:bodyPr/>
                    <a:lstStyle/>
                    <a:p>
                      <a:pPr algn="ctr"/>
                      <a:r>
                        <a:rPr lang="en-US" altLang="zh-CN" sz="1200" b="1" dirty="0">
                          <a:latin typeface="Arial" panose="020B0604020202020204" pitchFamily="34" charset="0"/>
                          <a:ea typeface="微软雅黑" panose="020B0503020204020204" pitchFamily="34" charset="-122"/>
                          <a:sym typeface="Arial" panose="020B0604020202020204" pitchFamily="34" charset="0"/>
                        </a:rPr>
                        <a:t>**</a:t>
                      </a:r>
                      <a:r>
                        <a:rPr lang="zh-CN" altLang="en-US" sz="1200" b="1" dirty="0">
                          <a:latin typeface="Arial" panose="020B0604020202020204" pitchFamily="34" charset="0"/>
                          <a:ea typeface="微软雅黑" panose="020B0503020204020204" pitchFamily="34" charset="-122"/>
                          <a:sym typeface="Arial" panose="020B0604020202020204" pitchFamily="34" charset="0"/>
                        </a:rPr>
                        <a:t>收入</a:t>
                      </a:r>
                    </a:p>
                  </a:txBody>
                  <a:tcPr/>
                </a:tc>
                <a:tc>
                  <a:txBody>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a:txBody>
                  <a:tcPr/>
                </a:tc>
                <a:tc>
                  <a:txBody>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marL="0" algn="ctr" defTabSz="914400" rtl="0" eaLnBrk="1" fontAlgn="ctr" latinLnBrk="0" hangingPunct="1"/>
                      <a:endParaRPr lang="zh-CN" altLang="en-US" sz="1000" b="0" i="0" u="none" strike="noStrike" kern="1200" dirty="0">
                        <a:solidFill>
                          <a:schemeClr val="dk1"/>
                        </a:solidFill>
                        <a:latin typeface="Arial" panose="020B0604020202020204" pitchFamily="34" charset="0"/>
                        <a:ea typeface="微软雅黑" panose="020B0503020204020204" pitchFamily="34" charset="-122"/>
                        <a:cs typeface="+mn-cs"/>
                        <a:sym typeface="Arial" panose="020B0604020202020204" pitchFamily="34" charset="0"/>
                      </a:endParaRPr>
                    </a:p>
                  </a:txBody>
                  <a:tcPr/>
                </a:tc>
              </a:tr>
              <a:tr h="560927">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200" baseline="0" dirty="0">
                          <a:latin typeface="Arial" panose="020B0604020202020204" pitchFamily="34" charset="0"/>
                          <a:ea typeface="微软雅黑" panose="020B0503020204020204" pitchFamily="34" charset="-122"/>
                          <a:sym typeface="Arial" panose="020B0604020202020204" pitchFamily="34" charset="0"/>
                        </a:rPr>
                        <a:t>    </a:t>
                      </a:r>
                      <a:r>
                        <a:rPr lang="en-US" altLang="zh-CN" sz="1200" dirty="0">
                          <a:latin typeface="Arial" panose="020B0604020202020204" pitchFamily="34" charset="0"/>
                          <a:ea typeface="微软雅黑" panose="020B0503020204020204" pitchFamily="34" charset="-122"/>
                          <a:sym typeface="Arial" panose="020B0604020202020204" pitchFamily="34" charset="0"/>
                        </a:rPr>
                        <a:t> </a:t>
                      </a:r>
                      <a:r>
                        <a:rPr lang="en-US" altLang="zh-CN" sz="1050" b="1" dirty="0">
                          <a:latin typeface="Arial" panose="020B0604020202020204" pitchFamily="34" charset="0"/>
                          <a:ea typeface="微软雅黑" panose="020B0503020204020204" pitchFamily="34" charset="-122"/>
                          <a:sym typeface="Arial" panose="020B0604020202020204" pitchFamily="34" charset="0"/>
                        </a:rPr>
                        <a:t>**</a:t>
                      </a:r>
                      <a:r>
                        <a:rPr lang="zh-CN" altLang="en-US" sz="1050" b="1" dirty="0">
                          <a:latin typeface="Arial" panose="020B0604020202020204" pitchFamily="34" charset="0"/>
                          <a:ea typeface="微软雅黑" panose="020B0503020204020204" pitchFamily="34" charset="-122"/>
                          <a:sym typeface="Arial" panose="020B0604020202020204" pitchFamily="34" charset="0"/>
                        </a:rPr>
                        <a:t>收入</a:t>
                      </a:r>
                    </a:p>
                    <a:p>
                      <a:endParaRPr lang="zh-CN" altLang="en-US" sz="1200" b="1" dirty="0">
                        <a:latin typeface="Arial" panose="020B0604020202020204" pitchFamily="34" charset="0"/>
                        <a:ea typeface="微软雅黑" panose="020B0503020204020204" pitchFamily="34" charset="-122"/>
                        <a:sym typeface="Arial" panose="020B0604020202020204" pitchFamily="34" charset="0"/>
                      </a:endParaRPr>
                    </a:p>
                  </a:txBody>
                  <a:tcPr/>
                </a:tc>
                <a:tc>
                  <a:txBody>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a:txBody>
                  <a:tcPr/>
                </a:tc>
                <a:tc>
                  <a:txBody>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marL="0" algn="ctr" defTabSz="914400" rtl="0" eaLnBrk="1" fontAlgn="ctr" latinLnBrk="0" hangingPunct="1"/>
                      <a:endParaRPr lang="zh-CN" altLang="en-US" sz="1000" b="0" i="0" u="none" strike="noStrike" kern="1200" dirty="0">
                        <a:solidFill>
                          <a:schemeClr val="dk1"/>
                        </a:solidFill>
                        <a:latin typeface="Arial" panose="020B0604020202020204" pitchFamily="34" charset="0"/>
                        <a:ea typeface="微软雅黑" panose="020B0503020204020204" pitchFamily="34" charset="-122"/>
                        <a:cs typeface="+mn-cs"/>
                        <a:sym typeface="Arial" panose="020B0604020202020204" pitchFamily="34" charset="0"/>
                      </a:endParaRPr>
                    </a:p>
                  </a:txBody>
                  <a:tcPr/>
                </a:tc>
              </a:tr>
            </a:tbl>
          </a:graphicData>
        </a:graphic>
      </p:graphicFrame>
      <p:graphicFrame>
        <p:nvGraphicFramePr>
          <p:cNvPr id="11" name="图表 10"/>
          <p:cNvGraphicFramePr/>
          <p:nvPr/>
        </p:nvGraphicFramePr>
        <p:xfrm>
          <a:off x="5796136" y="715546"/>
          <a:ext cx="3048000" cy="2304256"/>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2" name="图表 11"/>
          <p:cNvGraphicFramePr/>
          <p:nvPr/>
        </p:nvGraphicFramePr>
        <p:xfrm>
          <a:off x="5800660" y="2842662"/>
          <a:ext cx="3048000" cy="2304256"/>
        </p:xfrm>
        <a:graphic>
          <a:graphicData uri="http://schemas.openxmlformats.org/drawingml/2006/chart">
            <c:chart xmlns:c="http://schemas.openxmlformats.org/drawingml/2006/chart" xmlns:r="http://schemas.openxmlformats.org/officeDocument/2006/relationships" r:id="rId5"/>
          </a:graphicData>
        </a:graphic>
      </p:graphicFrame>
      <p:sp>
        <p:nvSpPr>
          <p:cNvPr id="16" name="TextBox 11"/>
          <p:cNvSpPr txBox="1"/>
          <p:nvPr/>
        </p:nvSpPr>
        <p:spPr>
          <a:xfrm>
            <a:off x="4490894" y="607789"/>
            <a:ext cx="1224136" cy="307777"/>
          </a:xfrm>
          <a:prstGeom prst="rect">
            <a:avLst/>
          </a:prstGeom>
          <a:noFill/>
        </p:spPr>
        <p:txBody>
          <a:bodyPr wrap="square" rtlCol="0">
            <a:spAutoFit/>
          </a:bodyPr>
          <a:lstStyle/>
          <a:p>
            <a:r>
              <a:rPr lang="zh-CN" altLang="en-US" sz="1400" b="1" dirty="0">
                <a:latin typeface="Arial" panose="020B0604020202020204" pitchFamily="34" charset="0"/>
                <a:ea typeface="微软雅黑" panose="020B0503020204020204" pitchFamily="34" charset="-122"/>
                <a:sym typeface="Arial" panose="020B0604020202020204" pitchFamily="34" charset="0"/>
              </a:rPr>
              <a:t>单位：万元</a:t>
            </a:r>
          </a:p>
        </p:txBody>
      </p:sp>
      <p:sp>
        <p:nvSpPr>
          <p:cNvPr id="17" name="TextBox 12"/>
          <p:cNvSpPr txBox="1"/>
          <p:nvPr/>
        </p:nvSpPr>
        <p:spPr>
          <a:xfrm>
            <a:off x="470513" y="4620280"/>
            <a:ext cx="5976664" cy="523220"/>
          </a:xfrm>
          <a:prstGeom prst="rect">
            <a:avLst/>
          </a:prstGeom>
          <a:noFill/>
        </p:spPr>
        <p:txBody>
          <a:bodyPr wrap="square" rtlCol="0">
            <a:spAutoFit/>
          </a:bodyPr>
          <a:lstStyle/>
          <a:p>
            <a:r>
              <a:rPr lang="zh-CN" altLang="en-US" sz="1400" dirty="0">
                <a:latin typeface="Arial" panose="020B0604020202020204" pitchFamily="34" charset="0"/>
                <a:ea typeface="微软雅黑" panose="020B0503020204020204" pitchFamily="34" charset="-122"/>
                <a:sym typeface="Arial" panose="020B0604020202020204" pitchFamily="34" charset="0"/>
              </a:rPr>
              <a:t>分析：从收入结构对比分析看，我司业务主要集中在两大模块，约占了</a:t>
            </a:r>
            <a:r>
              <a:rPr lang="en-US" altLang="zh-CN" sz="1400" dirty="0">
                <a:latin typeface="Arial" panose="020B0604020202020204" pitchFamily="34" charset="0"/>
                <a:ea typeface="微软雅黑" panose="020B0503020204020204" pitchFamily="34" charset="-122"/>
                <a:sym typeface="Arial" panose="020B0604020202020204" pitchFamily="34" charset="0"/>
              </a:rPr>
              <a:t>%</a:t>
            </a:r>
            <a:r>
              <a:rPr lang="zh-CN" altLang="en-US" sz="1400" dirty="0">
                <a:latin typeface="Arial" panose="020B0604020202020204" pitchFamily="34" charset="0"/>
                <a:ea typeface="微软雅黑" panose="020B0503020204020204" pitchFamily="34" charset="-122"/>
                <a:sym typeface="Arial" panose="020B0604020202020204" pitchFamily="34" charset="0"/>
              </a:rPr>
              <a:t>；收入在</a:t>
            </a:r>
            <a:r>
              <a:rPr lang="en-US" altLang="zh-CN" sz="1400" dirty="0">
                <a:latin typeface="Arial" panose="020B0604020202020204" pitchFamily="34" charset="0"/>
                <a:ea typeface="微软雅黑" panose="020B0503020204020204" pitchFamily="34" charset="-122"/>
                <a:sym typeface="Arial" panose="020B0604020202020204" pitchFamily="34" charset="0"/>
              </a:rPr>
              <a:t>2017</a:t>
            </a:r>
            <a:r>
              <a:rPr lang="zh-CN" altLang="en-US" sz="1400" dirty="0">
                <a:latin typeface="Arial" panose="020B0604020202020204" pitchFamily="34" charset="0"/>
                <a:ea typeface="微软雅黑" panose="020B0503020204020204" pitchFamily="34" charset="-122"/>
                <a:sym typeface="Arial" panose="020B0604020202020204" pitchFamily="34" charset="0"/>
              </a:rPr>
              <a:t>年增加了收入；其它收入在</a:t>
            </a:r>
            <a:r>
              <a:rPr lang="en-US" altLang="zh-CN" sz="1400" dirty="0">
                <a:latin typeface="Arial" panose="020B0604020202020204" pitchFamily="34" charset="0"/>
                <a:ea typeface="微软雅黑" panose="020B0503020204020204" pitchFamily="34" charset="-122"/>
                <a:sym typeface="Arial" panose="020B0604020202020204" pitchFamily="34" charset="0"/>
              </a:rPr>
              <a:t>2017</a:t>
            </a:r>
            <a:r>
              <a:rPr lang="zh-CN" altLang="en-US" sz="1400" dirty="0">
                <a:latin typeface="Arial" panose="020B0604020202020204" pitchFamily="34" charset="0"/>
                <a:ea typeface="微软雅黑" panose="020B0503020204020204" pitchFamily="34" charset="-122"/>
                <a:sym typeface="Arial" panose="020B0604020202020204" pitchFamily="34" charset="0"/>
              </a:rPr>
              <a:t>年减少了收入。</a:t>
            </a:r>
          </a:p>
        </p:txBody>
      </p:sp>
    </p:spTree>
  </p:cSld>
  <p:clrMapOvr>
    <a:masterClrMapping/>
  </p:clrMapOvr>
  <p:transition spd="slow" advClick="0" advTm="0">
    <p:cove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1144029"/>
            <a:ext cx="9144000" cy="1814777"/>
            <a:chOff x="0" y="1651830"/>
            <a:chExt cx="9144000" cy="1814777"/>
          </a:xfrm>
        </p:grpSpPr>
        <p:sp>
          <p:nvSpPr>
            <p:cNvPr id="44" name="等腰三角形 43"/>
            <p:cNvSpPr/>
            <p:nvPr/>
          </p:nvSpPr>
          <p:spPr>
            <a:xfrm>
              <a:off x="2469921" y="1651830"/>
              <a:ext cx="825385" cy="828242"/>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100">
                <a:latin typeface="Arial" panose="020B0604020202020204" pitchFamily="34" charset="0"/>
                <a:ea typeface="微软雅黑" panose="020B0503020204020204" pitchFamily="34" charset="-122"/>
                <a:sym typeface="Arial" panose="020B0604020202020204" pitchFamily="34" charset="0"/>
              </a:endParaRPr>
            </a:p>
          </p:txBody>
        </p:sp>
        <p:sp>
          <p:nvSpPr>
            <p:cNvPr id="45" name="等腰三角形 44"/>
            <p:cNvSpPr/>
            <p:nvPr/>
          </p:nvSpPr>
          <p:spPr>
            <a:xfrm flipV="1">
              <a:off x="68682" y="2638365"/>
              <a:ext cx="825385" cy="828242"/>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100">
                <a:latin typeface="Arial" panose="020B0604020202020204" pitchFamily="34" charset="0"/>
                <a:ea typeface="微软雅黑" panose="020B0503020204020204" pitchFamily="34" charset="-122"/>
                <a:sym typeface="Arial" panose="020B0604020202020204" pitchFamily="34" charset="0"/>
              </a:endParaRPr>
            </a:p>
          </p:txBody>
        </p:sp>
        <p:sp>
          <p:nvSpPr>
            <p:cNvPr id="46" name="矩形 45"/>
            <p:cNvSpPr/>
            <p:nvPr/>
          </p:nvSpPr>
          <p:spPr>
            <a:xfrm>
              <a:off x="0" y="1846479"/>
              <a:ext cx="9144000" cy="142173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100">
                <a:latin typeface="Arial" panose="020B0604020202020204" pitchFamily="34" charset="0"/>
                <a:ea typeface="微软雅黑" panose="020B0503020204020204" pitchFamily="34" charset="-122"/>
                <a:sym typeface="Arial" panose="020B0604020202020204" pitchFamily="34" charset="0"/>
              </a:endParaRPr>
            </a:p>
          </p:txBody>
        </p:sp>
        <p:sp>
          <p:nvSpPr>
            <p:cNvPr id="47" name="平行四边形 46"/>
            <p:cNvSpPr/>
            <p:nvPr/>
          </p:nvSpPr>
          <p:spPr>
            <a:xfrm>
              <a:off x="479202" y="1652469"/>
              <a:ext cx="2406979" cy="1809759"/>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100">
                <a:latin typeface="Arial" panose="020B0604020202020204" pitchFamily="34" charset="0"/>
                <a:ea typeface="微软雅黑" panose="020B0503020204020204" pitchFamily="34" charset="-122"/>
                <a:sym typeface="Arial" panose="020B0604020202020204" pitchFamily="34" charset="0"/>
              </a:endParaRPr>
            </a:p>
          </p:txBody>
        </p:sp>
      </p:grpSp>
      <p:sp>
        <p:nvSpPr>
          <p:cNvPr id="48" name="文本框 6"/>
          <p:cNvSpPr txBox="1"/>
          <p:nvPr/>
        </p:nvSpPr>
        <p:spPr>
          <a:xfrm>
            <a:off x="1115616" y="1390740"/>
            <a:ext cx="1322150" cy="1299210"/>
          </a:xfrm>
          <a:prstGeom prst="rect">
            <a:avLst/>
          </a:prstGeom>
          <a:noFill/>
        </p:spPr>
        <p:txBody>
          <a:bodyPr wrap="square" lIns="68580" tIns="34290" rIns="68580" bIns="34290" rtlCol="0">
            <a:spAutoFit/>
          </a:bodyPr>
          <a:lstStyle/>
          <a:p>
            <a:r>
              <a:rPr lang="en-US" altLang="zh-CN" sz="8000" dirty="0">
                <a:solidFill>
                  <a:schemeClr val="bg1">
                    <a:lumMod val="95000"/>
                  </a:schemeClr>
                </a:solidFill>
                <a:latin typeface="Arial" panose="020B0604020202020204" pitchFamily="34" charset="0"/>
                <a:ea typeface="微软雅黑" panose="020B0503020204020204" pitchFamily="34" charset="-122"/>
                <a:sym typeface="Arial" panose="020B0604020202020204" pitchFamily="34" charset="0"/>
              </a:rPr>
              <a:t>03</a:t>
            </a:r>
            <a:endParaRPr lang="zh-CN" altLang="en-US" sz="8000" dirty="0">
              <a:solidFill>
                <a:schemeClr val="bg1">
                  <a:lumMod val="9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49" name="TextBox 48"/>
          <p:cNvSpPr txBox="1"/>
          <p:nvPr/>
        </p:nvSpPr>
        <p:spPr>
          <a:xfrm>
            <a:off x="2977966" y="1772429"/>
            <a:ext cx="5050408" cy="561692"/>
          </a:xfrm>
          <a:prstGeom prst="rect">
            <a:avLst/>
          </a:prstGeom>
          <a:noFill/>
        </p:spPr>
        <p:txBody>
          <a:bodyPr wrap="square" lIns="68583" tIns="34290" rIns="68583" bIns="34290" rtlCol="0">
            <a:spAutoFit/>
          </a:bodyPr>
          <a:lstStyle/>
          <a:p>
            <a:r>
              <a:rPr lang="zh-CN" altLang="en-US" sz="3200" b="1"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三大报表分析</a:t>
            </a:r>
            <a:r>
              <a:rPr lang="en-US" altLang="zh-CN" sz="3200" b="1"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a:t>
            </a:r>
            <a:r>
              <a:rPr lang="zh-CN" altLang="en-US" sz="3200" b="1"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现金流量表</a:t>
            </a:r>
          </a:p>
        </p:txBody>
      </p:sp>
      <p:grpSp>
        <p:nvGrpSpPr>
          <p:cNvPr id="7" name="PA-组合 6"/>
          <p:cNvGrpSpPr/>
          <p:nvPr>
            <p:custDataLst>
              <p:tags r:id="rId1"/>
            </p:custDataLst>
          </p:nvPr>
        </p:nvGrpSpPr>
        <p:grpSpPr>
          <a:xfrm>
            <a:off x="5940152" y="767019"/>
            <a:ext cx="432048" cy="432834"/>
            <a:chOff x="6084168" y="1274820"/>
            <a:chExt cx="432048" cy="432834"/>
          </a:xfrm>
        </p:grpSpPr>
        <p:sp>
          <p:nvSpPr>
            <p:cNvPr id="14" name="PA-椭圆 22"/>
            <p:cNvSpPr>
              <a:spLocks noChangeArrowheads="1"/>
            </p:cNvSpPr>
            <p:nvPr>
              <p:custDataLst>
                <p:tags r:id="rId14"/>
              </p:custDataLst>
            </p:nvPr>
          </p:nvSpPr>
          <p:spPr bwMode="auto">
            <a:xfrm>
              <a:off x="6084168" y="1274820"/>
              <a:ext cx="432048" cy="432834"/>
            </a:xfrm>
            <a:prstGeom prst="ellipse">
              <a:avLst/>
            </a:prstGeom>
            <a:solidFill>
              <a:schemeClr val="accent1"/>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00">
                <a:solidFill>
                  <a:srgbClr val="FFFFFF"/>
                </a:solidFill>
                <a:ea typeface="微软雅黑" panose="020B0503020204020204" pitchFamily="34" charset="-122"/>
                <a:sym typeface="Arial" panose="020B0604020202020204" pitchFamily="34" charset="0"/>
              </a:endParaRPr>
            </a:p>
          </p:txBody>
        </p:sp>
        <p:sp>
          <p:nvSpPr>
            <p:cNvPr id="19" name="PA-任意多边形 59"/>
            <p:cNvSpPr>
              <a:spLocks noChangeArrowheads="1"/>
            </p:cNvSpPr>
            <p:nvPr>
              <p:custDataLst>
                <p:tags r:id="rId15"/>
              </p:custDataLst>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sz="100">
                <a:latin typeface="Arial" panose="020B0604020202020204" pitchFamily="34" charset="0"/>
                <a:ea typeface="微软雅黑" panose="020B0503020204020204" pitchFamily="34" charset="-122"/>
                <a:sym typeface="Arial" panose="020B0604020202020204" pitchFamily="34" charset="0"/>
              </a:endParaRPr>
            </a:p>
          </p:txBody>
        </p:sp>
      </p:grpSp>
      <p:grpSp>
        <p:nvGrpSpPr>
          <p:cNvPr id="6" name="PA-组合 5"/>
          <p:cNvGrpSpPr/>
          <p:nvPr>
            <p:custDataLst>
              <p:tags r:id="rId2"/>
            </p:custDataLst>
          </p:nvPr>
        </p:nvGrpSpPr>
        <p:grpSpPr>
          <a:xfrm>
            <a:off x="4644008" y="767412"/>
            <a:ext cx="432048" cy="432048"/>
            <a:chOff x="4788024" y="1275213"/>
            <a:chExt cx="432048" cy="432048"/>
          </a:xfrm>
        </p:grpSpPr>
        <p:sp>
          <p:nvSpPr>
            <p:cNvPr id="17" name="PA-椭圆 65"/>
            <p:cNvSpPr>
              <a:spLocks noChangeArrowheads="1"/>
            </p:cNvSpPr>
            <p:nvPr>
              <p:custDataLst>
                <p:tags r:id="rId12"/>
              </p:custDataLst>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00">
                <a:solidFill>
                  <a:srgbClr val="FFFFFF"/>
                </a:solidFill>
                <a:ea typeface="微软雅黑" panose="020B0503020204020204" pitchFamily="34" charset="-122"/>
                <a:sym typeface="Arial" panose="020B0604020202020204" pitchFamily="34" charset="0"/>
              </a:endParaRPr>
            </a:p>
          </p:txBody>
        </p:sp>
        <p:sp>
          <p:nvSpPr>
            <p:cNvPr id="20" name="PA-任意多边形 110"/>
            <p:cNvSpPr>
              <a:spLocks noChangeArrowheads="1"/>
            </p:cNvSpPr>
            <p:nvPr>
              <p:custDataLst>
                <p:tags r:id="rId13"/>
              </p:custDataLst>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sz="100">
                <a:latin typeface="Arial" panose="020B0604020202020204" pitchFamily="34" charset="0"/>
                <a:ea typeface="微软雅黑" panose="020B0503020204020204" pitchFamily="34" charset="-122"/>
                <a:sym typeface="Arial" panose="020B0604020202020204" pitchFamily="34" charset="0"/>
              </a:endParaRPr>
            </a:p>
          </p:txBody>
        </p:sp>
      </p:grpSp>
      <p:grpSp>
        <p:nvGrpSpPr>
          <p:cNvPr id="9" name="PA-组合 8"/>
          <p:cNvGrpSpPr/>
          <p:nvPr>
            <p:custDataLst>
              <p:tags r:id="rId3"/>
            </p:custDataLst>
          </p:nvPr>
        </p:nvGrpSpPr>
        <p:grpSpPr>
          <a:xfrm>
            <a:off x="5292080" y="767019"/>
            <a:ext cx="432833" cy="432834"/>
            <a:chOff x="5436096" y="1274820"/>
            <a:chExt cx="432833" cy="432834"/>
          </a:xfrm>
        </p:grpSpPr>
        <p:sp>
          <p:nvSpPr>
            <p:cNvPr id="25" name="PA-椭圆 16"/>
            <p:cNvSpPr>
              <a:spLocks noChangeArrowheads="1"/>
            </p:cNvSpPr>
            <p:nvPr>
              <p:custDataLst>
                <p:tags r:id="rId10"/>
              </p:custDataLst>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00">
                <a:solidFill>
                  <a:srgbClr val="FFFFFF"/>
                </a:solidFill>
                <a:ea typeface="微软雅黑" panose="020B0503020204020204" pitchFamily="34" charset="-122"/>
                <a:sym typeface="Arial" panose="020B0604020202020204" pitchFamily="34" charset="0"/>
              </a:endParaRPr>
            </a:p>
          </p:txBody>
        </p:sp>
        <p:sp>
          <p:nvSpPr>
            <p:cNvPr id="21" name="PA-任意多边形 16"/>
            <p:cNvSpPr>
              <a:spLocks noChangeArrowheads="1"/>
            </p:cNvSpPr>
            <p:nvPr>
              <p:custDataLst>
                <p:tags r:id="rId11"/>
              </p:custDataLst>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sz="100">
                <a:latin typeface="Arial" panose="020B0604020202020204" pitchFamily="34" charset="0"/>
                <a:ea typeface="微软雅黑" panose="020B0503020204020204" pitchFamily="34" charset="-122"/>
                <a:sym typeface="Arial" panose="020B0604020202020204" pitchFamily="34" charset="0"/>
              </a:endParaRPr>
            </a:p>
          </p:txBody>
        </p:sp>
      </p:grpSp>
      <p:grpSp>
        <p:nvGrpSpPr>
          <p:cNvPr id="4" name="PA-组合 3"/>
          <p:cNvGrpSpPr/>
          <p:nvPr>
            <p:custDataLst>
              <p:tags r:id="rId4"/>
            </p:custDataLst>
          </p:nvPr>
        </p:nvGrpSpPr>
        <p:grpSpPr>
          <a:xfrm>
            <a:off x="3347864" y="767019"/>
            <a:ext cx="432833" cy="432834"/>
            <a:chOff x="3491880" y="1274820"/>
            <a:chExt cx="432833" cy="432834"/>
          </a:xfrm>
        </p:grpSpPr>
        <p:sp>
          <p:nvSpPr>
            <p:cNvPr id="11" name="PA-椭圆 16"/>
            <p:cNvSpPr>
              <a:spLocks noChangeArrowheads="1"/>
            </p:cNvSpPr>
            <p:nvPr>
              <p:custDataLst>
                <p:tags r:id="rId8"/>
              </p:custDataLst>
            </p:nvPr>
          </p:nvSpPr>
          <p:spPr bwMode="auto">
            <a:xfrm>
              <a:off x="3491880" y="1274820"/>
              <a:ext cx="432833" cy="432834"/>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00">
                <a:solidFill>
                  <a:srgbClr val="FFFFFF"/>
                </a:solidFill>
                <a:ea typeface="微软雅黑" panose="020B0503020204020204" pitchFamily="34" charset="-122"/>
                <a:sym typeface="Arial" panose="020B0604020202020204" pitchFamily="34" charset="0"/>
              </a:endParaRPr>
            </a:p>
          </p:txBody>
        </p:sp>
        <p:sp>
          <p:nvSpPr>
            <p:cNvPr id="22" name="PA-任意多边形 75"/>
            <p:cNvSpPr>
              <a:spLocks noChangeArrowheads="1"/>
            </p:cNvSpPr>
            <p:nvPr>
              <p:custDataLst>
                <p:tags r:id="rId9"/>
              </p:custDataLst>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sz="100">
                <a:latin typeface="Arial" panose="020B0604020202020204" pitchFamily="34" charset="0"/>
                <a:ea typeface="微软雅黑" panose="020B0503020204020204" pitchFamily="34" charset="-122"/>
                <a:sym typeface="Arial" panose="020B0604020202020204" pitchFamily="34" charset="0"/>
              </a:endParaRPr>
            </a:p>
          </p:txBody>
        </p:sp>
      </p:grpSp>
      <p:grpSp>
        <p:nvGrpSpPr>
          <p:cNvPr id="5" name="PA-组合 4"/>
          <p:cNvGrpSpPr/>
          <p:nvPr>
            <p:custDataLst>
              <p:tags r:id="rId5"/>
            </p:custDataLst>
          </p:nvPr>
        </p:nvGrpSpPr>
        <p:grpSpPr>
          <a:xfrm>
            <a:off x="3995936" y="767019"/>
            <a:ext cx="432833" cy="432834"/>
            <a:chOff x="4139952" y="1274820"/>
            <a:chExt cx="432833" cy="432834"/>
          </a:xfrm>
        </p:grpSpPr>
        <p:sp>
          <p:nvSpPr>
            <p:cNvPr id="24" name="PA-椭圆 16"/>
            <p:cNvSpPr>
              <a:spLocks noChangeArrowheads="1"/>
            </p:cNvSpPr>
            <p:nvPr>
              <p:custDataLst>
                <p:tags r:id="rId6"/>
              </p:custDataLst>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00">
                <a:solidFill>
                  <a:srgbClr val="FFFFFF"/>
                </a:solidFill>
                <a:ea typeface="微软雅黑" panose="020B0503020204020204" pitchFamily="34" charset="-122"/>
                <a:sym typeface="Arial" panose="020B0604020202020204" pitchFamily="34" charset="0"/>
              </a:endParaRPr>
            </a:p>
          </p:txBody>
        </p:sp>
        <p:sp>
          <p:nvSpPr>
            <p:cNvPr id="23" name="PA-任意多边形 84"/>
            <p:cNvSpPr>
              <a:spLocks noChangeArrowheads="1"/>
            </p:cNvSpPr>
            <p:nvPr>
              <p:custDataLst>
                <p:tags r:id="rId7"/>
              </p:custDataLst>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sz="100">
                <a:latin typeface="Arial" panose="020B0604020202020204" pitchFamily="34" charset="0"/>
                <a:ea typeface="微软雅黑" panose="020B0503020204020204" pitchFamily="34" charset="-122"/>
                <a:sym typeface="Arial" panose="020B0604020202020204" pitchFamily="34" charset="0"/>
              </a:endParaRPr>
            </a:p>
          </p:txBody>
        </p:sp>
      </p:grpSp>
      <p:pic>
        <p:nvPicPr>
          <p:cNvPr id="27" name="图片 26"/>
          <p:cNvPicPr>
            <a:picLocks noChangeAspect="1"/>
          </p:cNvPicPr>
          <p:nvPr/>
        </p:nvPicPr>
        <p:blipFill>
          <a:blip r:embed="rId18" cstate="print">
            <a:extLst>
              <a:ext uri="{28A0092B-C50C-407E-A947-70E740481C1C}">
                <a14:useLocalDpi xmlns:a14="http://schemas.microsoft.com/office/drawing/2010/main"/>
              </a:ext>
            </a:extLst>
          </a:blip>
          <a:stretch>
            <a:fillRect/>
          </a:stretch>
        </p:blipFill>
        <p:spPr>
          <a:xfrm>
            <a:off x="3500410" y="2958806"/>
            <a:ext cx="2493351" cy="2041201"/>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advTm="0">
        <p15:prstTrans prst="airplane" invX="1"/>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2" presetClass="entr" presetSubtype="0" fill="hold" grpId="0" nodeType="afterEffect">
                                  <p:stCondLst>
                                    <p:cond delay="0"/>
                                  </p:stCondLst>
                                  <p:childTnLst>
                                    <p:set>
                                      <p:cBhvr>
                                        <p:cTn id="11" dur="1" fill="hold">
                                          <p:stCondLst>
                                            <p:cond delay="0"/>
                                          </p:stCondLst>
                                        </p:cTn>
                                        <p:tgtEl>
                                          <p:spTgt spid="48"/>
                                        </p:tgtEl>
                                        <p:attrNameLst>
                                          <p:attrName>style.visibility</p:attrName>
                                        </p:attrNameLst>
                                      </p:cBhvr>
                                      <p:to>
                                        <p:strVal val="visible"/>
                                      </p:to>
                                    </p:set>
                                    <p:animEffect transition="in" filter="fade">
                                      <p:cBhvr>
                                        <p:cTn id="12" dur="1000"/>
                                        <p:tgtEl>
                                          <p:spTgt spid="48"/>
                                        </p:tgtEl>
                                      </p:cBhvr>
                                    </p:animEffect>
                                    <p:anim calcmode="lin" valueType="num">
                                      <p:cBhvr>
                                        <p:cTn id="13" dur="1000" fill="hold"/>
                                        <p:tgtEl>
                                          <p:spTgt spid="48"/>
                                        </p:tgtEl>
                                        <p:attrNameLst>
                                          <p:attrName>ppt_x</p:attrName>
                                        </p:attrNameLst>
                                      </p:cBhvr>
                                      <p:tavLst>
                                        <p:tav tm="0">
                                          <p:val>
                                            <p:strVal val="#ppt_x"/>
                                          </p:val>
                                        </p:tav>
                                        <p:tav tm="100000">
                                          <p:val>
                                            <p:strVal val="#ppt_x"/>
                                          </p:val>
                                        </p:tav>
                                      </p:tavLst>
                                    </p:anim>
                                    <p:anim calcmode="lin" valueType="num">
                                      <p:cBhvr>
                                        <p:cTn id="14" dur="1000" fill="hold"/>
                                        <p:tgtEl>
                                          <p:spTgt spid="48"/>
                                        </p:tgtEl>
                                        <p:attrNameLst>
                                          <p:attrName>ppt_y</p:attrName>
                                        </p:attrNameLst>
                                      </p:cBhvr>
                                      <p:tavLst>
                                        <p:tav tm="0">
                                          <p:val>
                                            <p:strVal val="#ppt_y+.1"/>
                                          </p:val>
                                        </p:tav>
                                        <p:tav tm="100000">
                                          <p:val>
                                            <p:strVal val="#ppt_y"/>
                                          </p:val>
                                        </p:tav>
                                      </p:tavLst>
                                    </p:anim>
                                  </p:childTnLst>
                                </p:cTn>
                              </p:par>
                            </p:childTnLst>
                          </p:cTn>
                        </p:par>
                        <p:par>
                          <p:cTn id="15" fill="hold">
                            <p:stCondLst>
                              <p:cond delay="1500"/>
                            </p:stCondLst>
                            <p:childTnLst>
                              <p:par>
                                <p:cTn id="16" presetID="41" presetClass="entr" presetSubtype="0" fill="hold" grpId="0" nodeType="afterEffect">
                                  <p:stCondLst>
                                    <p:cond delay="0"/>
                                  </p:stCondLst>
                                  <p:iterate type="lt">
                                    <p:tmPct val="10000"/>
                                  </p:iterate>
                                  <p:childTnLst>
                                    <p:set>
                                      <p:cBhvr>
                                        <p:cTn id="17" dur="1" fill="hold">
                                          <p:stCondLst>
                                            <p:cond delay="0"/>
                                          </p:stCondLst>
                                        </p:cTn>
                                        <p:tgtEl>
                                          <p:spTgt spid="49"/>
                                        </p:tgtEl>
                                        <p:attrNameLst>
                                          <p:attrName>style.visibility</p:attrName>
                                        </p:attrNameLst>
                                      </p:cBhvr>
                                      <p:to>
                                        <p:strVal val="visible"/>
                                      </p:to>
                                    </p:set>
                                    <p:anim calcmode="lin" valueType="num">
                                      <p:cBhvr>
                                        <p:cTn id="18" dur="500" fill="hold"/>
                                        <p:tgtEl>
                                          <p:spTgt spid="49"/>
                                        </p:tgtEl>
                                        <p:attrNameLst>
                                          <p:attrName>ppt_x</p:attrName>
                                        </p:attrNameLst>
                                      </p:cBhvr>
                                      <p:tavLst>
                                        <p:tav tm="0">
                                          <p:val>
                                            <p:strVal val="#ppt_x"/>
                                          </p:val>
                                        </p:tav>
                                        <p:tav tm="50000">
                                          <p:val>
                                            <p:strVal val="#ppt_x+.1"/>
                                          </p:val>
                                        </p:tav>
                                        <p:tav tm="100000">
                                          <p:val>
                                            <p:strVal val="#ppt_x"/>
                                          </p:val>
                                        </p:tav>
                                      </p:tavLst>
                                    </p:anim>
                                    <p:anim calcmode="lin" valueType="num">
                                      <p:cBhvr>
                                        <p:cTn id="19" dur="500" fill="hold"/>
                                        <p:tgtEl>
                                          <p:spTgt spid="49"/>
                                        </p:tgtEl>
                                        <p:attrNameLst>
                                          <p:attrName>ppt_y</p:attrName>
                                        </p:attrNameLst>
                                      </p:cBhvr>
                                      <p:tavLst>
                                        <p:tav tm="0">
                                          <p:val>
                                            <p:strVal val="#ppt_y"/>
                                          </p:val>
                                        </p:tav>
                                        <p:tav tm="100000">
                                          <p:val>
                                            <p:strVal val="#ppt_y"/>
                                          </p:val>
                                        </p:tav>
                                      </p:tavLst>
                                    </p:anim>
                                    <p:anim calcmode="lin" valueType="num">
                                      <p:cBhvr>
                                        <p:cTn id="20" dur="500" fill="hold"/>
                                        <p:tgtEl>
                                          <p:spTgt spid="49"/>
                                        </p:tgtEl>
                                        <p:attrNameLst>
                                          <p:attrName>ppt_h</p:attrName>
                                        </p:attrNameLst>
                                      </p:cBhvr>
                                      <p:tavLst>
                                        <p:tav tm="0">
                                          <p:val>
                                            <p:strVal val="#ppt_h/10"/>
                                          </p:val>
                                        </p:tav>
                                        <p:tav tm="50000">
                                          <p:val>
                                            <p:strVal val="#ppt_h+.01"/>
                                          </p:val>
                                        </p:tav>
                                        <p:tav tm="100000">
                                          <p:val>
                                            <p:strVal val="#ppt_h"/>
                                          </p:val>
                                        </p:tav>
                                      </p:tavLst>
                                    </p:anim>
                                    <p:anim calcmode="lin" valueType="num">
                                      <p:cBhvr>
                                        <p:cTn id="21" dur="500" fill="hold"/>
                                        <p:tgtEl>
                                          <p:spTgt spid="49"/>
                                        </p:tgtEl>
                                        <p:attrNameLst>
                                          <p:attrName>ppt_w</p:attrName>
                                        </p:attrNameLst>
                                      </p:cBhvr>
                                      <p:tavLst>
                                        <p:tav tm="0">
                                          <p:val>
                                            <p:strVal val="#ppt_w/10"/>
                                          </p:val>
                                        </p:tav>
                                        <p:tav tm="50000">
                                          <p:val>
                                            <p:strVal val="#ppt_w+.01"/>
                                          </p:val>
                                        </p:tav>
                                        <p:tav tm="100000">
                                          <p:val>
                                            <p:strVal val="#ppt_w"/>
                                          </p:val>
                                        </p:tav>
                                      </p:tavLst>
                                    </p:anim>
                                    <p:animEffect transition="in" filter="fade">
                                      <p:cBhvr>
                                        <p:cTn id="22" dur="500" tmFilter="0,0; .5, 1; 1, 1"/>
                                        <p:tgtEl>
                                          <p:spTgt spid="49"/>
                                        </p:tgtEl>
                                      </p:cBhvr>
                                    </p:animEffect>
                                  </p:childTnLst>
                                </p:cTn>
                              </p:par>
                            </p:childTnLst>
                          </p:cTn>
                        </p:par>
                        <p:par>
                          <p:cTn id="23" fill="hold">
                            <p:stCondLst>
                              <p:cond delay="2049"/>
                            </p:stCondLst>
                            <p:childTnLst>
                              <p:par>
                                <p:cTn id="24" presetID="0" presetClass="entr" presetSubtype="0" decel="50000" fill="hold" nodeType="afterEffect">
                                  <p:stCondLst>
                                    <p:cond delay="0"/>
                                  </p:stCondLst>
                                  <p:childTnLst>
                                    <p:set>
                                      <p:cBhvr>
                                        <p:cTn id="25" dur="750" fill="hold">
                                          <p:stCondLst>
                                            <p:cond delay="0"/>
                                          </p:stCondLst>
                                        </p:cTn>
                                        <p:tgtEl>
                                          <p:spTgt spid="7"/>
                                        </p:tgtEl>
                                        <p:attrNameLst>
                                          <p:attrName>style.visibility</p:attrName>
                                        </p:attrNameLst>
                                      </p:cBhvr>
                                      <p:to>
                                        <p:strVal val="visible"/>
                                      </p:to>
                                    </p:set>
                                    <p:animScale>
                                      <p:cBhvr>
                                        <p:cTn id="26" dur="225" decel="50000" fill="hold">
                                          <p:stCondLst>
                                            <p:cond delay="0"/>
                                          </p:stCondLst>
                                        </p:cTn>
                                        <p:tgtEl>
                                          <p:spTgt spid="7"/>
                                        </p:tgtEl>
                                      </p:cBhvr>
                                      <p:from x="150000" y="150000"/>
                                      <p:to x="50000" y="50000"/>
                                    </p:animScale>
                                    <p:anim to="" calcmode="lin" valueType="num">
                                      <p:cBhvr>
                                        <p:cTn id="27" dur="225" decel="50000" fill="hold">
                                          <p:stCondLst>
                                            <p:cond delay="0"/>
                                          </p:stCondLst>
                                        </p:cTn>
                                        <p:tgtEl>
                                          <p:spTgt spid="7"/>
                                        </p:tgtEl>
                                        <p:attrNameLst>
                                          <p:attrName>ppt_x</p:attrName>
                                        </p:attrNameLst>
                                      </p:cBhvr>
                                      <p:tavLst>
                                        <p:tav tm="0">
                                          <p:val>
                                            <p:strVal val="#ppt_x-0.05"/>
                                          </p:val>
                                        </p:tav>
                                        <p:tav tm="100000">
                                          <p:val>
                                            <p:strVal val="#ppt_x+0.02"/>
                                          </p:val>
                                        </p:tav>
                                      </p:tavLst>
                                    </p:anim>
                                    <p:animScale>
                                      <p:cBhvr>
                                        <p:cTn id="28" dur="375" accel="50000" fill="hold">
                                          <p:stCondLst>
                                            <p:cond delay="225"/>
                                          </p:stCondLst>
                                        </p:cTn>
                                        <p:tgtEl>
                                          <p:spTgt spid="7"/>
                                        </p:tgtEl>
                                      </p:cBhvr>
                                      <p:from x="50000" y="50000"/>
                                      <p:to x="100000" y="100000"/>
                                    </p:animScale>
                                    <p:anim to="" calcmode="lin" valueType="num">
                                      <p:cBhvr>
                                        <p:cTn id="29" dur="375" accel="50000" fill="hold">
                                          <p:stCondLst>
                                            <p:cond delay="225"/>
                                          </p:stCondLst>
                                        </p:cTn>
                                        <p:tgtEl>
                                          <p:spTgt spid="7"/>
                                        </p:tgtEl>
                                        <p:attrNameLst>
                                          <p:attrName>ppt_x</p:attrName>
                                        </p:attrNameLst>
                                      </p:cBhvr>
                                      <p:tavLst>
                                        <p:tav tm="0">
                                          <p:val>
                                            <p:strVal val="ppt_x"/>
                                          </p:val>
                                        </p:tav>
                                        <p:tav tm="100000">
                                          <p:val>
                                            <p:strVal val="#ppt_x"/>
                                          </p:val>
                                        </p:tav>
                                      </p:tavLst>
                                    </p:anim>
                                    <p:anim to="" calcmode="lin" valueType="num">
                                      <p:cBhvr>
                                        <p:cTn id="30" dur="225" decel="50000" fill="hold">
                                          <p:stCondLst>
                                            <p:cond delay="0"/>
                                          </p:stCondLst>
                                        </p:cTn>
                                        <p:tgtEl>
                                          <p:spTgt spid="7"/>
                                        </p:tgtEl>
                                        <p:attrNameLst>
                                          <p:attrName>ppt_y</p:attrName>
                                        </p:attrNameLst>
                                      </p:cBhvr>
                                      <p:tavLst>
                                        <p:tav tm="0">
                                          <p:val>
                                            <p:strVal val="#ppt_y-0.05"/>
                                          </p:val>
                                        </p:tav>
                                        <p:tav tm="100000">
                                          <p:val>
                                            <p:strVal val="#ppt_y+0.05"/>
                                          </p:val>
                                        </p:tav>
                                      </p:tavLst>
                                    </p:anim>
                                    <p:anim to="" calcmode="lin" valueType="num">
                                      <p:cBhvr>
                                        <p:cTn id="31" dur="375" accel="50000" fill="hold">
                                          <p:stCondLst>
                                            <p:cond delay="225"/>
                                          </p:stCondLst>
                                        </p:cTn>
                                        <p:tgtEl>
                                          <p:spTgt spid="7"/>
                                        </p:tgtEl>
                                        <p:attrNameLst>
                                          <p:attrName>ppt_y</p:attrName>
                                        </p:attrNameLst>
                                      </p:cBhvr>
                                      <p:tavLst>
                                        <p:tav tm="0">
                                          <p:val>
                                            <p:strVal val="ppt_y"/>
                                          </p:val>
                                        </p:tav>
                                        <p:tav tm="100000">
                                          <p:val>
                                            <p:strVal val="#ppt_y"/>
                                          </p:val>
                                        </p:tav>
                                      </p:tavLst>
                                    </p:anim>
                                    <p:animRot by="21600000">
                                      <p:cBhvr>
                                        <p:cTn id="32" dur="750" decel="50000" fill="hold">
                                          <p:stCondLst>
                                            <p:cond delay="0"/>
                                          </p:stCondLst>
                                        </p:cTn>
                                        <p:tgtEl>
                                          <p:spTgt spid="7"/>
                                        </p:tgtEl>
                                        <p:attrNameLst>
                                          <p:attrName>r</p:attrName>
                                        </p:attrNameLst>
                                      </p:cBhvr>
                                    </p:animRot>
                                    <p:animRot by="21600000">
                                      <p:cBhvr>
                                        <p:cTn id="33" dur="375" accel="50000" fill="hold">
                                          <p:stCondLst>
                                            <p:cond delay="225"/>
                                          </p:stCondLst>
                                        </p:cTn>
                                        <p:tgtEl>
                                          <p:spTgt spid="7"/>
                                        </p:tgtEl>
                                        <p:attrNameLst>
                                          <p:attrName>r</p:attrName>
                                        </p:attrNameLst>
                                      </p:cBhvr>
                                    </p:animRot>
                                    <p:animEffect filter="fade">
                                      <p:cBhvr>
                                        <p:cTn id="34" dur="225">
                                          <p:stCondLst>
                                            <p:cond delay="0"/>
                                          </p:stCondLst>
                                        </p:cTn>
                                        <p:tgtEl>
                                          <p:spTgt spid="7"/>
                                        </p:tgtEl>
                                      </p:cBhvr>
                                    </p:animEffect>
                                  </p:childTnLst>
                                </p:cTn>
                              </p:par>
                              <p:par>
                                <p:cTn id="35" presetID="0" presetClass="entr" presetSubtype="0" decel="50000" fill="hold" nodeType="withEffect">
                                  <p:stCondLst>
                                    <p:cond delay="0"/>
                                  </p:stCondLst>
                                  <p:childTnLst>
                                    <p:set>
                                      <p:cBhvr>
                                        <p:cTn id="36" dur="750" fill="hold">
                                          <p:stCondLst>
                                            <p:cond delay="0"/>
                                          </p:stCondLst>
                                        </p:cTn>
                                        <p:tgtEl>
                                          <p:spTgt spid="6"/>
                                        </p:tgtEl>
                                        <p:attrNameLst>
                                          <p:attrName>style.visibility</p:attrName>
                                        </p:attrNameLst>
                                      </p:cBhvr>
                                      <p:to>
                                        <p:strVal val="visible"/>
                                      </p:to>
                                    </p:set>
                                    <p:animScale>
                                      <p:cBhvr>
                                        <p:cTn id="37" dur="225" decel="50000" fill="hold">
                                          <p:stCondLst>
                                            <p:cond delay="0"/>
                                          </p:stCondLst>
                                        </p:cTn>
                                        <p:tgtEl>
                                          <p:spTgt spid="6"/>
                                        </p:tgtEl>
                                      </p:cBhvr>
                                      <p:from x="150000" y="150000"/>
                                      <p:to x="50000" y="50000"/>
                                    </p:animScale>
                                    <p:anim to="" calcmode="lin" valueType="num">
                                      <p:cBhvr>
                                        <p:cTn id="38" dur="225" decel="50000" fill="hold">
                                          <p:stCondLst>
                                            <p:cond delay="0"/>
                                          </p:stCondLst>
                                        </p:cTn>
                                        <p:tgtEl>
                                          <p:spTgt spid="6"/>
                                        </p:tgtEl>
                                        <p:attrNameLst>
                                          <p:attrName>ppt_x</p:attrName>
                                        </p:attrNameLst>
                                      </p:cBhvr>
                                      <p:tavLst>
                                        <p:tav tm="0">
                                          <p:val>
                                            <p:strVal val="#ppt_x-0.05"/>
                                          </p:val>
                                        </p:tav>
                                        <p:tav tm="100000">
                                          <p:val>
                                            <p:strVal val="#ppt_x+0.02"/>
                                          </p:val>
                                        </p:tav>
                                      </p:tavLst>
                                    </p:anim>
                                    <p:animScale>
                                      <p:cBhvr>
                                        <p:cTn id="39" dur="375" accel="50000" fill="hold">
                                          <p:stCondLst>
                                            <p:cond delay="225"/>
                                          </p:stCondLst>
                                        </p:cTn>
                                        <p:tgtEl>
                                          <p:spTgt spid="6"/>
                                        </p:tgtEl>
                                      </p:cBhvr>
                                      <p:from x="50000" y="50000"/>
                                      <p:to x="100000" y="100000"/>
                                    </p:animScale>
                                    <p:anim to="" calcmode="lin" valueType="num">
                                      <p:cBhvr>
                                        <p:cTn id="40" dur="375" accel="50000" fill="hold">
                                          <p:stCondLst>
                                            <p:cond delay="225"/>
                                          </p:stCondLst>
                                        </p:cTn>
                                        <p:tgtEl>
                                          <p:spTgt spid="6"/>
                                        </p:tgtEl>
                                        <p:attrNameLst>
                                          <p:attrName>ppt_x</p:attrName>
                                        </p:attrNameLst>
                                      </p:cBhvr>
                                      <p:tavLst>
                                        <p:tav tm="0">
                                          <p:val>
                                            <p:strVal val="ppt_x"/>
                                          </p:val>
                                        </p:tav>
                                        <p:tav tm="100000">
                                          <p:val>
                                            <p:strVal val="#ppt_x"/>
                                          </p:val>
                                        </p:tav>
                                      </p:tavLst>
                                    </p:anim>
                                    <p:anim to="" calcmode="lin" valueType="num">
                                      <p:cBhvr>
                                        <p:cTn id="41" dur="225" decel="50000" fill="hold">
                                          <p:stCondLst>
                                            <p:cond delay="0"/>
                                          </p:stCondLst>
                                        </p:cTn>
                                        <p:tgtEl>
                                          <p:spTgt spid="6"/>
                                        </p:tgtEl>
                                        <p:attrNameLst>
                                          <p:attrName>ppt_y</p:attrName>
                                        </p:attrNameLst>
                                      </p:cBhvr>
                                      <p:tavLst>
                                        <p:tav tm="0">
                                          <p:val>
                                            <p:strVal val="#ppt_y-0.05"/>
                                          </p:val>
                                        </p:tav>
                                        <p:tav tm="100000">
                                          <p:val>
                                            <p:strVal val="#ppt_y+0.05"/>
                                          </p:val>
                                        </p:tav>
                                      </p:tavLst>
                                    </p:anim>
                                    <p:anim to="" calcmode="lin" valueType="num">
                                      <p:cBhvr>
                                        <p:cTn id="42" dur="375" accel="50000" fill="hold">
                                          <p:stCondLst>
                                            <p:cond delay="225"/>
                                          </p:stCondLst>
                                        </p:cTn>
                                        <p:tgtEl>
                                          <p:spTgt spid="6"/>
                                        </p:tgtEl>
                                        <p:attrNameLst>
                                          <p:attrName>ppt_y</p:attrName>
                                        </p:attrNameLst>
                                      </p:cBhvr>
                                      <p:tavLst>
                                        <p:tav tm="0">
                                          <p:val>
                                            <p:strVal val="ppt_y"/>
                                          </p:val>
                                        </p:tav>
                                        <p:tav tm="100000">
                                          <p:val>
                                            <p:strVal val="#ppt_y"/>
                                          </p:val>
                                        </p:tav>
                                      </p:tavLst>
                                    </p:anim>
                                    <p:animRot by="21600000">
                                      <p:cBhvr>
                                        <p:cTn id="43" dur="750" decel="50000" fill="hold">
                                          <p:stCondLst>
                                            <p:cond delay="0"/>
                                          </p:stCondLst>
                                        </p:cTn>
                                        <p:tgtEl>
                                          <p:spTgt spid="6"/>
                                        </p:tgtEl>
                                        <p:attrNameLst>
                                          <p:attrName>r</p:attrName>
                                        </p:attrNameLst>
                                      </p:cBhvr>
                                    </p:animRot>
                                    <p:animRot by="21600000">
                                      <p:cBhvr>
                                        <p:cTn id="44" dur="375" accel="50000" fill="hold">
                                          <p:stCondLst>
                                            <p:cond delay="225"/>
                                          </p:stCondLst>
                                        </p:cTn>
                                        <p:tgtEl>
                                          <p:spTgt spid="6"/>
                                        </p:tgtEl>
                                        <p:attrNameLst>
                                          <p:attrName>r</p:attrName>
                                        </p:attrNameLst>
                                      </p:cBhvr>
                                    </p:animRot>
                                    <p:animEffect filter="fade">
                                      <p:cBhvr>
                                        <p:cTn id="45" dur="225">
                                          <p:stCondLst>
                                            <p:cond delay="0"/>
                                          </p:stCondLst>
                                        </p:cTn>
                                        <p:tgtEl>
                                          <p:spTgt spid="6"/>
                                        </p:tgtEl>
                                      </p:cBhvr>
                                    </p:animEffect>
                                  </p:childTnLst>
                                </p:cTn>
                              </p:par>
                              <p:par>
                                <p:cTn id="46" presetID="0" presetClass="entr" presetSubtype="0" decel="50000" fill="hold" nodeType="withEffect">
                                  <p:stCondLst>
                                    <p:cond delay="0"/>
                                  </p:stCondLst>
                                  <p:childTnLst>
                                    <p:set>
                                      <p:cBhvr>
                                        <p:cTn id="47" dur="750" fill="hold">
                                          <p:stCondLst>
                                            <p:cond delay="0"/>
                                          </p:stCondLst>
                                        </p:cTn>
                                        <p:tgtEl>
                                          <p:spTgt spid="9"/>
                                        </p:tgtEl>
                                        <p:attrNameLst>
                                          <p:attrName>style.visibility</p:attrName>
                                        </p:attrNameLst>
                                      </p:cBhvr>
                                      <p:to>
                                        <p:strVal val="visible"/>
                                      </p:to>
                                    </p:set>
                                    <p:animScale>
                                      <p:cBhvr>
                                        <p:cTn id="48" dur="225" decel="50000" fill="hold">
                                          <p:stCondLst>
                                            <p:cond delay="0"/>
                                          </p:stCondLst>
                                        </p:cTn>
                                        <p:tgtEl>
                                          <p:spTgt spid="9"/>
                                        </p:tgtEl>
                                      </p:cBhvr>
                                      <p:from x="150000" y="150000"/>
                                      <p:to x="50000" y="50000"/>
                                    </p:animScale>
                                    <p:anim to="" calcmode="lin" valueType="num">
                                      <p:cBhvr>
                                        <p:cTn id="49" dur="225" decel="50000" fill="hold">
                                          <p:stCondLst>
                                            <p:cond delay="0"/>
                                          </p:stCondLst>
                                        </p:cTn>
                                        <p:tgtEl>
                                          <p:spTgt spid="9"/>
                                        </p:tgtEl>
                                        <p:attrNameLst>
                                          <p:attrName>ppt_x</p:attrName>
                                        </p:attrNameLst>
                                      </p:cBhvr>
                                      <p:tavLst>
                                        <p:tav tm="0">
                                          <p:val>
                                            <p:strVal val="#ppt_x-0.05"/>
                                          </p:val>
                                        </p:tav>
                                        <p:tav tm="100000">
                                          <p:val>
                                            <p:strVal val="#ppt_x+0.02"/>
                                          </p:val>
                                        </p:tav>
                                      </p:tavLst>
                                    </p:anim>
                                    <p:animScale>
                                      <p:cBhvr>
                                        <p:cTn id="50" dur="375" accel="50000" fill="hold">
                                          <p:stCondLst>
                                            <p:cond delay="225"/>
                                          </p:stCondLst>
                                        </p:cTn>
                                        <p:tgtEl>
                                          <p:spTgt spid="9"/>
                                        </p:tgtEl>
                                      </p:cBhvr>
                                      <p:from x="50000" y="50000"/>
                                      <p:to x="100000" y="100000"/>
                                    </p:animScale>
                                    <p:anim to="" calcmode="lin" valueType="num">
                                      <p:cBhvr>
                                        <p:cTn id="51" dur="375" accel="50000" fill="hold">
                                          <p:stCondLst>
                                            <p:cond delay="225"/>
                                          </p:stCondLst>
                                        </p:cTn>
                                        <p:tgtEl>
                                          <p:spTgt spid="9"/>
                                        </p:tgtEl>
                                        <p:attrNameLst>
                                          <p:attrName>ppt_x</p:attrName>
                                        </p:attrNameLst>
                                      </p:cBhvr>
                                      <p:tavLst>
                                        <p:tav tm="0">
                                          <p:val>
                                            <p:strVal val="ppt_x"/>
                                          </p:val>
                                        </p:tav>
                                        <p:tav tm="100000">
                                          <p:val>
                                            <p:strVal val="#ppt_x"/>
                                          </p:val>
                                        </p:tav>
                                      </p:tavLst>
                                    </p:anim>
                                    <p:anim to="" calcmode="lin" valueType="num">
                                      <p:cBhvr>
                                        <p:cTn id="52" dur="225" decel="50000" fill="hold">
                                          <p:stCondLst>
                                            <p:cond delay="0"/>
                                          </p:stCondLst>
                                        </p:cTn>
                                        <p:tgtEl>
                                          <p:spTgt spid="9"/>
                                        </p:tgtEl>
                                        <p:attrNameLst>
                                          <p:attrName>ppt_y</p:attrName>
                                        </p:attrNameLst>
                                      </p:cBhvr>
                                      <p:tavLst>
                                        <p:tav tm="0">
                                          <p:val>
                                            <p:strVal val="#ppt_y-0.05"/>
                                          </p:val>
                                        </p:tav>
                                        <p:tav tm="100000">
                                          <p:val>
                                            <p:strVal val="#ppt_y+0.05"/>
                                          </p:val>
                                        </p:tav>
                                      </p:tavLst>
                                    </p:anim>
                                    <p:anim to="" calcmode="lin" valueType="num">
                                      <p:cBhvr>
                                        <p:cTn id="53" dur="375" accel="50000" fill="hold">
                                          <p:stCondLst>
                                            <p:cond delay="225"/>
                                          </p:stCondLst>
                                        </p:cTn>
                                        <p:tgtEl>
                                          <p:spTgt spid="9"/>
                                        </p:tgtEl>
                                        <p:attrNameLst>
                                          <p:attrName>ppt_y</p:attrName>
                                        </p:attrNameLst>
                                      </p:cBhvr>
                                      <p:tavLst>
                                        <p:tav tm="0">
                                          <p:val>
                                            <p:strVal val="ppt_y"/>
                                          </p:val>
                                        </p:tav>
                                        <p:tav tm="100000">
                                          <p:val>
                                            <p:strVal val="#ppt_y"/>
                                          </p:val>
                                        </p:tav>
                                      </p:tavLst>
                                    </p:anim>
                                    <p:animRot by="21600000">
                                      <p:cBhvr>
                                        <p:cTn id="54" dur="750" decel="50000" fill="hold">
                                          <p:stCondLst>
                                            <p:cond delay="0"/>
                                          </p:stCondLst>
                                        </p:cTn>
                                        <p:tgtEl>
                                          <p:spTgt spid="9"/>
                                        </p:tgtEl>
                                        <p:attrNameLst>
                                          <p:attrName>r</p:attrName>
                                        </p:attrNameLst>
                                      </p:cBhvr>
                                    </p:animRot>
                                    <p:animRot by="21600000">
                                      <p:cBhvr>
                                        <p:cTn id="55" dur="375" accel="50000" fill="hold">
                                          <p:stCondLst>
                                            <p:cond delay="225"/>
                                          </p:stCondLst>
                                        </p:cTn>
                                        <p:tgtEl>
                                          <p:spTgt spid="9"/>
                                        </p:tgtEl>
                                        <p:attrNameLst>
                                          <p:attrName>r</p:attrName>
                                        </p:attrNameLst>
                                      </p:cBhvr>
                                    </p:animRot>
                                    <p:animEffect filter="fade">
                                      <p:cBhvr>
                                        <p:cTn id="56" dur="225">
                                          <p:stCondLst>
                                            <p:cond delay="0"/>
                                          </p:stCondLst>
                                        </p:cTn>
                                        <p:tgtEl>
                                          <p:spTgt spid="9"/>
                                        </p:tgtEl>
                                      </p:cBhvr>
                                    </p:animEffect>
                                  </p:childTnLst>
                                </p:cTn>
                              </p:par>
                              <p:par>
                                <p:cTn id="57" presetID="0" presetClass="entr" presetSubtype="0" decel="50000" fill="hold" nodeType="withEffect">
                                  <p:stCondLst>
                                    <p:cond delay="0"/>
                                  </p:stCondLst>
                                  <p:childTnLst>
                                    <p:set>
                                      <p:cBhvr>
                                        <p:cTn id="58" dur="750" fill="hold">
                                          <p:stCondLst>
                                            <p:cond delay="0"/>
                                          </p:stCondLst>
                                        </p:cTn>
                                        <p:tgtEl>
                                          <p:spTgt spid="4"/>
                                        </p:tgtEl>
                                        <p:attrNameLst>
                                          <p:attrName>style.visibility</p:attrName>
                                        </p:attrNameLst>
                                      </p:cBhvr>
                                      <p:to>
                                        <p:strVal val="visible"/>
                                      </p:to>
                                    </p:set>
                                    <p:animScale>
                                      <p:cBhvr>
                                        <p:cTn id="59" dur="225" decel="50000" fill="hold">
                                          <p:stCondLst>
                                            <p:cond delay="0"/>
                                          </p:stCondLst>
                                        </p:cTn>
                                        <p:tgtEl>
                                          <p:spTgt spid="4"/>
                                        </p:tgtEl>
                                      </p:cBhvr>
                                      <p:from x="150000" y="150000"/>
                                      <p:to x="50000" y="50000"/>
                                    </p:animScale>
                                    <p:anim to="" calcmode="lin" valueType="num">
                                      <p:cBhvr>
                                        <p:cTn id="60" dur="225" decel="50000" fill="hold">
                                          <p:stCondLst>
                                            <p:cond delay="0"/>
                                          </p:stCondLst>
                                        </p:cTn>
                                        <p:tgtEl>
                                          <p:spTgt spid="4"/>
                                        </p:tgtEl>
                                        <p:attrNameLst>
                                          <p:attrName>ppt_x</p:attrName>
                                        </p:attrNameLst>
                                      </p:cBhvr>
                                      <p:tavLst>
                                        <p:tav tm="0">
                                          <p:val>
                                            <p:strVal val="#ppt_x-0.05"/>
                                          </p:val>
                                        </p:tav>
                                        <p:tav tm="100000">
                                          <p:val>
                                            <p:strVal val="#ppt_x+0.02"/>
                                          </p:val>
                                        </p:tav>
                                      </p:tavLst>
                                    </p:anim>
                                    <p:animScale>
                                      <p:cBhvr>
                                        <p:cTn id="61" dur="375" accel="50000" fill="hold">
                                          <p:stCondLst>
                                            <p:cond delay="225"/>
                                          </p:stCondLst>
                                        </p:cTn>
                                        <p:tgtEl>
                                          <p:spTgt spid="4"/>
                                        </p:tgtEl>
                                      </p:cBhvr>
                                      <p:from x="50000" y="50000"/>
                                      <p:to x="100000" y="100000"/>
                                    </p:animScale>
                                    <p:anim to="" calcmode="lin" valueType="num">
                                      <p:cBhvr>
                                        <p:cTn id="62" dur="375" accel="50000" fill="hold">
                                          <p:stCondLst>
                                            <p:cond delay="225"/>
                                          </p:stCondLst>
                                        </p:cTn>
                                        <p:tgtEl>
                                          <p:spTgt spid="4"/>
                                        </p:tgtEl>
                                        <p:attrNameLst>
                                          <p:attrName>ppt_x</p:attrName>
                                        </p:attrNameLst>
                                      </p:cBhvr>
                                      <p:tavLst>
                                        <p:tav tm="0">
                                          <p:val>
                                            <p:strVal val="ppt_x"/>
                                          </p:val>
                                        </p:tav>
                                        <p:tav tm="100000">
                                          <p:val>
                                            <p:strVal val="#ppt_x"/>
                                          </p:val>
                                        </p:tav>
                                      </p:tavLst>
                                    </p:anim>
                                    <p:anim to="" calcmode="lin" valueType="num">
                                      <p:cBhvr>
                                        <p:cTn id="63" dur="225" decel="50000" fill="hold">
                                          <p:stCondLst>
                                            <p:cond delay="0"/>
                                          </p:stCondLst>
                                        </p:cTn>
                                        <p:tgtEl>
                                          <p:spTgt spid="4"/>
                                        </p:tgtEl>
                                        <p:attrNameLst>
                                          <p:attrName>ppt_y</p:attrName>
                                        </p:attrNameLst>
                                      </p:cBhvr>
                                      <p:tavLst>
                                        <p:tav tm="0">
                                          <p:val>
                                            <p:strVal val="#ppt_y-0.05"/>
                                          </p:val>
                                        </p:tav>
                                        <p:tav tm="100000">
                                          <p:val>
                                            <p:strVal val="#ppt_y+0.05"/>
                                          </p:val>
                                        </p:tav>
                                      </p:tavLst>
                                    </p:anim>
                                    <p:anim to="" calcmode="lin" valueType="num">
                                      <p:cBhvr>
                                        <p:cTn id="64" dur="375" accel="50000" fill="hold">
                                          <p:stCondLst>
                                            <p:cond delay="225"/>
                                          </p:stCondLst>
                                        </p:cTn>
                                        <p:tgtEl>
                                          <p:spTgt spid="4"/>
                                        </p:tgtEl>
                                        <p:attrNameLst>
                                          <p:attrName>ppt_y</p:attrName>
                                        </p:attrNameLst>
                                      </p:cBhvr>
                                      <p:tavLst>
                                        <p:tav tm="0">
                                          <p:val>
                                            <p:strVal val="ppt_y"/>
                                          </p:val>
                                        </p:tav>
                                        <p:tav tm="100000">
                                          <p:val>
                                            <p:strVal val="#ppt_y"/>
                                          </p:val>
                                        </p:tav>
                                      </p:tavLst>
                                    </p:anim>
                                    <p:animRot by="21600000">
                                      <p:cBhvr>
                                        <p:cTn id="65" dur="750" decel="50000" fill="hold">
                                          <p:stCondLst>
                                            <p:cond delay="0"/>
                                          </p:stCondLst>
                                        </p:cTn>
                                        <p:tgtEl>
                                          <p:spTgt spid="4"/>
                                        </p:tgtEl>
                                        <p:attrNameLst>
                                          <p:attrName>r</p:attrName>
                                        </p:attrNameLst>
                                      </p:cBhvr>
                                    </p:animRot>
                                    <p:animRot by="21600000">
                                      <p:cBhvr>
                                        <p:cTn id="66" dur="375" accel="50000" fill="hold">
                                          <p:stCondLst>
                                            <p:cond delay="225"/>
                                          </p:stCondLst>
                                        </p:cTn>
                                        <p:tgtEl>
                                          <p:spTgt spid="4"/>
                                        </p:tgtEl>
                                        <p:attrNameLst>
                                          <p:attrName>r</p:attrName>
                                        </p:attrNameLst>
                                      </p:cBhvr>
                                    </p:animRot>
                                    <p:animEffect filter="fade">
                                      <p:cBhvr>
                                        <p:cTn id="67" dur="225">
                                          <p:stCondLst>
                                            <p:cond delay="0"/>
                                          </p:stCondLst>
                                        </p:cTn>
                                        <p:tgtEl>
                                          <p:spTgt spid="4"/>
                                        </p:tgtEl>
                                      </p:cBhvr>
                                    </p:animEffect>
                                  </p:childTnLst>
                                </p:cTn>
                              </p:par>
                              <p:par>
                                <p:cTn id="68" presetID="0" presetClass="entr" presetSubtype="0" decel="50000" fill="hold" nodeType="withEffect">
                                  <p:stCondLst>
                                    <p:cond delay="0"/>
                                  </p:stCondLst>
                                  <p:childTnLst>
                                    <p:set>
                                      <p:cBhvr>
                                        <p:cTn id="69" dur="750" fill="hold">
                                          <p:stCondLst>
                                            <p:cond delay="0"/>
                                          </p:stCondLst>
                                        </p:cTn>
                                        <p:tgtEl>
                                          <p:spTgt spid="5"/>
                                        </p:tgtEl>
                                        <p:attrNameLst>
                                          <p:attrName>style.visibility</p:attrName>
                                        </p:attrNameLst>
                                      </p:cBhvr>
                                      <p:to>
                                        <p:strVal val="visible"/>
                                      </p:to>
                                    </p:set>
                                    <p:animScale>
                                      <p:cBhvr>
                                        <p:cTn id="70" dur="225" decel="50000" fill="hold">
                                          <p:stCondLst>
                                            <p:cond delay="0"/>
                                          </p:stCondLst>
                                        </p:cTn>
                                        <p:tgtEl>
                                          <p:spTgt spid="5"/>
                                        </p:tgtEl>
                                      </p:cBhvr>
                                      <p:from x="150000" y="150000"/>
                                      <p:to x="50000" y="50000"/>
                                    </p:animScale>
                                    <p:anim to="" calcmode="lin" valueType="num">
                                      <p:cBhvr>
                                        <p:cTn id="71" dur="225" decel="50000" fill="hold">
                                          <p:stCondLst>
                                            <p:cond delay="0"/>
                                          </p:stCondLst>
                                        </p:cTn>
                                        <p:tgtEl>
                                          <p:spTgt spid="5"/>
                                        </p:tgtEl>
                                        <p:attrNameLst>
                                          <p:attrName>ppt_x</p:attrName>
                                        </p:attrNameLst>
                                      </p:cBhvr>
                                      <p:tavLst>
                                        <p:tav tm="0">
                                          <p:val>
                                            <p:strVal val="#ppt_x-0.05"/>
                                          </p:val>
                                        </p:tav>
                                        <p:tav tm="100000">
                                          <p:val>
                                            <p:strVal val="#ppt_x+0.02"/>
                                          </p:val>
                                        </p:tav>
                                      </p:tavLst>
                                    </p:anim>
                                    <p:animScale>
                                      <p:cBhvr>
                                        <p:cTn id="72" dur="375" accel="50000" fill="hold">
                                          <p:stCondLst>
                                            <p:cond delay="225"/>
                                          </p:stCondLst>
                                        </p:cTn>
                                        <p:tgtEl>
                                          <p:spTgt spid="5"/>
                                        </p:tgtEl>
                                      </p:cBhvr>
                                      <p:from x="50000" y="50000"/>
                                      <p:to x="100000" y="100000"/>
                                    </p:animScale>
                                    <p:anim to="" calcmode="lin" valueType="num">
                                      <p:cBhvr>
                                        <p:cTn id="73" dur="375" accel="50000" fill="hold">
                                          <p:stCondLst>
                                            <p:cond delay="225"/>
                                          </p:stCondLst>
                                        </p:cTn>
                                        <p:tgtEl>
                                          <p:spTgt spid="5"/>
                                        </p:tgtEl>
                                        <p:attrNameLst>
                                          <p:attrName>ppt_x</p:attrName>
                                        </p:attrNameLst>
                                      </p:cBhvr>
                                      <p:tavLst>
                                        <p:tav tm="0">
                                          <p:val>
                                            <p:strVal val="ppt_x"/>
                                          </p:val>
                                        </p:tav>
                                        <p:tav tm="100000">
                                          <p:val>
                                            <p:strVal val="#ppt_x"/>
                                          </p:val>
                                        </p:tav>
                                      </p:tavLst>
                                    </p:anim>
                                    <p:anim to="" calcmode="lin" valueType="num">
                                      <p:cBhvr>
                                        <p:cTn id="74" dur="225" decel="50000" fill="hold">
                                          <p:stCondLst>
                                            <p:cond delay="0"/>
                                          </p:stCondLst>
                                        </p:cTn>
                                        <p:tgtEl>
                                          <p:spTgt spid="5"/>
                                        </p:tgtEl>
                                        <p:attrNameLst>
                                          <p:attrName>ppt_y</p:attrName>
                                        </p:attrNameLst>
                                      </p:cBhvr>
                                      <p:tavLst>
                                        <p:tav tm="0">
                                          <p:val>
                                            <p:strVal val="#ppt_y-0.05"/>
                                          </p:val>
                                        </p:tav>
                                        <p:tav tm="100000">
                                          <p:val>
                                            <p:strVal val="#ppt_y+0.05"/>
                                          </p:val>
                                        </p:tav>
                                      </p:tavLst>
                                    </p:anim>
                                    <p:anim to="" calcmode="lin" valueType="num">
                                      <p:cBhvr>
                                        <p:cTn id="75" dur="375" accel="50000" fill="hold">
                                          <p:stCondLst>
                                            <p:cond delay="225"/>
                                          </p:stCondLst>
                                        </p:cTn>
                                        <p:tgtEl>
                                          <p:spTgt spid="5"/>
                                        </p:tgtEl>
                                        <p:attrNameLst>
                                          <p:attrName>ppt_y</p:attrName>
                                        </p:attrNameLst>
                                      </p:cBhvr>
                                      <p:tavLst>
                                        <p:tav tm="0">
                                          <p:val>
                                            <p:strVal val="ppt_y"/>
                                          </p:val>
                                        </p:tav>
                                        <p:tav tm="100000">
                                          <p:val>
                                            <p:strVal val="#ppt_y"/>
                                          </p:val>
                                        </p:tav>
                                      </p:tavLst>
                                    </p:anim>
                                    <p:animRot by="21600000">
                                      <p:cBhvr>
                                        <p:cTn id="76" dur="750" decel="50000" fill="hold">
                                          <p:stCondLst>
                                            <p:cond delay="0"/>
                                          </p:stCondLst>
                                        </p:cTn>
                                        <p:tgtEl>
                                          <p:spTgt spid="5"/>
                                        </p:tgtEl>
                                        <p:attrNameLst>
                                          <p:attrName>r</p:attrName>
                                        </p:attrNameLst>
                                      </p:cBhvr>
                                    </p:animRot>
                                    <p:animRot by="21600000">
                                      <p:cBhvr>
                                        <p:cTn id="77" dur="375" accel="50000" fill="hold">
                                          <p:stCondLst>
                                            <p:cond delay="225"/>
                                          </p:stCondLst>
                                        </p:cTn>
                                        <p:tgtEl>
                                          <p:spTgt spid="5"/>
                                        </p:tgtEl>
                                        <p:attrNameLst>
                                          <p:attrName>r</p:attrName>
                                        </p:attrNameLst>
                                      </p:cBhvr>
                                    </p:animRot>
                                    <p:animEffect filter="fade">
                                      <p:cBhvr>
                                        <p:cTn id="78" dur="225">
                                          <p:stCondLst>
                                            <p:cond delay="0"/>
                                          </p:stCondLst>
                                        </p:cTn>
                                        <p:tgtEl>
                                          <p:spTgt spid="5"/>
                                        </p:tgtEl>
                                      </p:cBhvr>
                                    </p:animEffect>
                                  </p:childTnLst>
                                </p:cTn>
                              </p:par>
                            </p:childTnLst>
                          </p:cTn>
                        </p:par>
                        <p:par>
                          <p:cTn id="79" fill="hold">
                            <p:stCondLst>
                              <p:cond delay="3049"/>
                            </p:stCondLst>
                            <p:childTnLst>
                              <p:par>
                                <p:cTn id="80" presetID="10" presetClass="entr" presetSubtype="0" fill="hold" nodeType="afterEffect">
                                  <p:stCondLst>
                                    <p:cond delay="0"/>
                                  </p:stCondLst>
                                  <p:childTnLst>
                                    <p:set>
                                      <p:cBhvr>
                                        <p:cTn id="81" dur="1" fill="hold">
                                          <p:stCondLst>
                                            <p:cond delay="0"/>
                                          </p:stCondLst>
                                        </p:cTn>
                                        <p:tgtEl>
                                          <p:spTgt spid="27"/>
                                        </p:tgtEl>
                                        <p:attrNameLst>
                                          <p:attrName>style.visibility</p:attrName>
                                        </p:attrNameLst>
                                      </p:cBhvr>
                                      <p:to>
                                        <p:strVal val="visible"/>
                                      </p:to>
                                    </p:set>
                                    <p:animEffect transition="in" filter="fade">
                                      <p:cBhvr>
                                        <p:cTn id="82"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P spid="4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txBox="1"/>
          <p:nvPr/>
        </p:nvSpPr>
        <p:spPr>
          <a:xfrm>
            <a:off x="857885" y="195109"/>
            <a:ext cx="2600960" cy="379730"/>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000" b="1" dirty="0">
                <a:solidFill>
                  <a:schemeClr val="tx1"/>
                </a:solidFill>
                <a:latin typeface="Arial" panose="020B0604020202020204" pitchFamily="34" charset="0"/>
                <a:ea typeface="微软雅黑" panose="020B0503020204020204" pitchFamily="34" charset="-122"/>
                <a:sym typeface="Arial" panose="020B0604020202020204" pitchFamily="34" charset="0"/>
              </a:rPr>
              <a:t>1.</a:t>
            </a:r>
            <a:r>
              <a:rPr lang="zh-CN" altLang="en-US" sz="2000" b="1" dirty="0">
                <a:solidFill>
                  <a:schemeClr val="tx1"/>
                </a:solidFill>
                <a:latin typeface="Arial" panose="020B0604020202020204" pitchFamily="34" charset="0"/>
                <a:ea typeface="微软雅黑" panose="020B0503020204020204" pitchFamily="34" charset="-122"/>
                <a:sym typeface="Arial" panose="020B0604020202020204" pitchFamily="34" charset="0"/>
              </a:rPr>
              <a:t>现金流分析</a:t>
            </a:r>
          </a:p>
        </p:txBody>
      </p:sp>
      <p:graphicFrame>
        <p:nvGraphicFramePr>
          <p:cNvPr id="25" name="图表 24"/>
          <p:cNvGraphicFramePr/>
          <p:nvPr/>
        </p:nvGraphicFramePr>
        <p:xfrm>
          <a:off x="4211960" y="4149080"/>
          <a:ext cx="2592288" cy="223224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9" name="内容占位符 3"/>
          <p:cNvGraphicFramePr/>
          <p:nvPr/>
        </p:nvGraphicFramePr>
        <p:xfrm>
          <a:off x="1314019" y="1263926"/>
          <a:ext cx="6210691" cy="2908789"/>
        </p:xfrm>
        <a:graphic>
          <a:graphicData uri="http://schemas.openxmlformats.org/drawingml/2006/table">
            <a:tbl>
              <a:tblPr firstRow="1" bandRow="1">
                <a:tableStyleId>{EB9631B5-78F2-41C9-869B-9F39066F8104}</a:tableStyleId>
              </a:tblPr>
              <a:tblGrid>
                <a:gridCol w="1386315"/>
                <a:gridCol w="776336"/>
                <a:gridCol w="720884"/>
                <a:gridCol w="865760"/>
                <a:gridCol w="759350"/>
                <a:gridCol w="1702046"/>
              </a:tblGrid>
              <a:tr h="230570">
                <a:tc>
                  <a:txBody>
                    <a:bodyPr/>
                    <a:lstStyle/>
                    <a:p>
                      <a:pPr algn="ctr"/>
                      <a:r>
                        <a:rPr lang="zh-CN" altLang="en-US" sz="1100" dirty="0">
                          <a:latin typeface="Arial" panose="020B0604020202020204" pitchFamily="34" charset="0"/>
                          <a:ea typeface="微软雅黑" panose="020B0503020204020204" pitchFamily="34" charset="-122"/>
                          <a:sym typeface="Arial" panose="020B0604020202020204" pitchFamily="34" charset="0"/>
                        </a:rPr>
                        <a:t>明细</a:t>
                      </a:r>
                    </a:p>
                  </a:txBody>
                  <a:tcPr marL="68580" marR="68580" marT="34290" marB="34290"/>
                </a:tc>
                <a:tc>
                  <a:txBody>
                    <a:bodyPr/>
                    <a:lstStyle/>
                    <a:p>
                      <a:pPr algn="ctr"/>
                      <a:r>
                        <a:rPr lang="en-US" altLang="zh-CN" sz="1100" dirty="0">
                          <a:latin typeface="Arial" panose="020B0604020202020204" pitchFamily="34" charset="0"/>
                          <a:ea typeface="微软雅黑" panose="020B0503020204020204" pitchFamily="34" charset="-122"/>
                          <a:sym typeface="Arial" panose="020B0604020202020204" pitchFamily="34" charset="0"/>
                        </a:rPr>
                        <a:t>2017</a:t>
                      </a:r>
                      <a:r>
                        <a:rPr lang="zh-CN" altLang="en-US" sz="1100" dirty="0">
                          <a:latin typeface="Arial" panose="020B0604020202020204" pitchFamily="34" charset="0"/>
                          <a:ea typeface="微软雅黑" panose="020B0503020204020204" pitchFamily="34" charset="-122"/>
                          <a:sym typeface="Arial" panose="020B0604020202020204" pitchFamily="34" charset="0"/>
                        </a:rPr>
                        <a:t>年</a:t>
                      </a:r>
                    </a:p>
                  </a:txBody>
                  <a:tcPr marL="68580" marR="68580" marT="34290" marB="34290"/>
                </a:tc>
                <a:tc>
                  <a:txBody>
                    <a:bodyPr/>
                    <a:lstStyle/>
                    <a:p>
                      <a:pPr algn="ctr"/>
                      <a:r>
                        <a:rPr lang="en-US" altLang="zh-CN" sz="1100" dirty="0">
                          <a:latin typeface="Arial" panose="020B0604020202020204" pitchFamily="34" charset="0"/>
                          <a:ea typeface="微软雅黑" panose="020B0503020204020204" pitchFamily="34" charset="-122"/>
                          <a:sym typeface="Arial" panose="020B0604020202020204" pitchFamily="34" charset="0"/>
                        </a:rPr>
                        <a:t>2016</a:t>
                      </a:r>
                      <a:r>
                        <a:rPr lang="zh-CN" altLang="en-US" sz="1100" dirty="0">
                          <a:latin typeface="Arial" panose="020B0604020202020204" pitchFamily="34" charset="0"/>
                          <a:ea typeface="微软雅黑" panose="020B0503020204020204" pitchFamily="34" charset="-122"/>
                          <a:sym typeface="Arial" panose="020B0604020202020204" pitchFamily="34" charset="0"/>
                        </a:rPr>
                        <a:t>年</a:t>
                      </a:r>
                    </a:p>
                  </a:txBody>
                  <a:tcPr marL="68580" marR="68580" marT="34290" marB="34290"/>
                </a:tc>
                <a:tc>
                  <a:txBody>
                    <a:bodyPr/>
                    <a:lstStyle/>
                    <a:p>
                      <a:pPr algn="ctr"/>
                      <a:r>
                        <a:rPr lang="zh-CN" altLang="en-US" sz="1100" dirty="0">
                          <a:latin typeface="Arial" panose="020B0604020202020204" pitchFamily="34" charset="0"/>
                          <a:ea typeface="微软雅黑" panose="020B0503020204020204" pitchFamily="34" charset="-122"/>
                          <a:sym typeface="Arial" panose="020B0604020202020204" pitchFamily="34" charset="0"/>
                        </a:rPr>
                        <a:t>增减额</a:t>
                      </a:r>
                    </a:p>
                  </a:txBody>
                  <a:tcPr marL="68580" marR="68580" marT="34290" marB="34290"/>
                </a:tc>
                <a:tc>
                  <a:txBody>
                    <a:bodyPr/>
                    <a:lstStyle/>
                    <a:p>
                      <a:pPr algn="ctr"/>
                      <a:r>
                        <a:rPr lang="zh-CN" altLang="en-US" sz="1100" dirty="0">
                          <a:latin typeface="Arial" panose="020B0604020202020204" pitchFamily="34" charset="0"/>
                          <a:ea typeface="微软雅黑" panose="020B0503020204020204" pitchFamily="34" charset="-122"/>
                          <a:sym typeface="Arial" panose="020B0604020202020204" pitchFamily="34" charset="0"/>
                        </a:rPr>
                        <a:t>增减率</a:t>
                      </a:r>
                    </a:p>
                  </a:txBody>
                  <a:tcPr marL="68580" marR="68580" marT="34290" marB="34290"/>
                </a:tc>
                <a:tc>
                  <a:txBody>
                    <a:bodyPr/>
                    <a:lstStyle/>
                    <a:p>
                      <a:pPr algn="ctr"/>
                      <a:r>
                        <a:rPr lang="zh-CN" altLang="en-US" sz="1100" dirty="0">
                          <a:latin typeface="Arial" panose="020B0604020202020204" pitchFamily="34" charset="0"/>
                          <a:ea typeface="微软雅黑" panose="020B0503020204020204" pitchFamily="34" charset="-122"/>
                          <a:sym typeface="Arial" panose="020B0604020202020204" pitchFamily="34" charset="0"/>
                        </a:rPr>
                        <a:t>说明</a:t>
                      </a:r>
                    </a:p>
                  </a:txBody>
                  <a:tcPr marL="68580" marR="68580" marT="34290" marB="34290"/>
                </a:tc>
              </a:tr>
              <a:tr h="388620">
                <a:tc>
                  <a:txBody>
                    <a:bodyPr/>
                    <a:lstStyle/>
                    <a:p>
                      <a:pPr algn="ctr"/>
                      <a:r>
                        <a:rPr lang="zh-CN" altLang="en-US" sz="1100" dirty="0">
                          <a:latin typeface="Arial" panose="020B0604020202020204" pitchFamily="34" charset="0"/>
                          <a:ea typeface="微软雅黑" panose="020B0503020204020204" pitchFamily="34" charset="-122"/>
                          <a:sym typeface="Arial" panose="020B0604020202020204" pitchFamily="34" charset="0"/>
                        </a:rPr>
                        <a:t>经营业务所得流入</a:t>
                      </a:r>
                      <a:endParaRPr lang="en-US" altLang="zh-CN" sz="1100" dirty="0">
                        <a:latin typeface="Arial" panose="020B0604020202020204" pitchFamily="34" charset="0"/>
                        <a:ea typeface="微软雅黑" panose="020B0503020204020204" pitchFamily="34" charset="-122"/>
                        <a:sym typeface="Arial" panose="020B0604020202020204" pitchFamily="34" charset="0"/>
                      </a:endParaRPr>
                    </a:p>
                    <a:p>
                      <a:pPr algn="ctr"/>
                      <a:r>
                        <a:rPr lang="zh-CN" altLang="en-US" sz="1100" dirty="0">
                          <a:latin typeface="Arial" panose="020B0604020202020204" pitchFamily="34" charset="0"/>
                          <a:ea typeface="微软雅黑" panose="020B0503020204020204" pitchFamily="34" charset="-122"/>
                          <a:sym typeface="Arial" panose="020B0604020202020204" pitchFamily="34" charset="0"/>
                        </a:rPr>
                        <a:t>净额</a:t>
                      </a:r>
                    </a:p>
                  </a:txBody>
                  <a:tcPr marL="68580" marR="68580" marT="34290" marB="34290"/>
                </a:tc>
                <a:tc>
                  <a:txBody>
                    <a:bodyPr/>
                    <a:lstStyle/>
                    <a:p>
                      <a:endParaRPr lang="zh-CN" altLang="en-US" sz="1400"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b"/>
                </a:tc>
                <a:tc>
                  <a:txBody>
                    <a:bodyPr/>
                    <a:lstStyle/>
                    <a:p>
                      <a:endParaRPr lang="zh-CN" altLang="en-US" sz="1400">
                        <a:latin typeface="Arial" panose="020B0604020202020204" pitchFamily="34" charset="0"/>
                        <a:ea typeface="微软雅黑" panose="020B0503020204020204" pitchFamily="34" charset="-122"/>
                        <a:sym typeface="Arial" panose="020B0604020202020204" pitchFamily="34" charset="0"/>
                      </a:endParaRPr>
                    </a:p>
                  </a:txBody>
                  <a:tcPr marL="0" marR="0" marT="0" marB="0" anchor="b"/>
                </a:tc>
                <a:tc>
                  <a:txBody>
                    <a:bodyPr/>
                    <a:lstStyle/>
                    <a:p>
                      <a:endParaRPr lang="zh-CN" altLang="en-US" sz="140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endParaRPr lang="zh-CN" altLang="en-US" sz="140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9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r>
              <a:tr h="380323">
                <a:tc>
                  <a:txBody>
                    <a:bodyPr/>
                    <a:lstStyle/>
                    <a:p>
                      <a:pPr marL="0" algn="l" defTabSz="914400" rtl="0" eaLnBrk="1" fontAlgn="b" latinLnBrk="0" hangingPunct="1"/>
                      <a:r>
                        <a:rPr lang="zh-CN" altLang="en-US" sz="1100" kern="1200" dirty="0">
                          <a:solidFill>
                            <a:schemeClr val="dk1"/>
                          </a:solidFill>
                          <a:latin typeface="Arial" panose="020B0604020202020204" pitchFamily="34" charset="0"/>
                          <a:ea typeface="微软雅黑" panose="020B0503020204020204" pitchFamily="34" charset="-122"/>
                          <a:cs typeface="+mn-cs"/>
                          <a:sym typeface="Arial" panose="020B0604020202020204" pitchFamily="34" charset="0"/>
                        </a:rPr>
                        <a:t>其中：</a:t>
                      </a:r>
                      <a:endParaRPr lang="en-US" altLang="zh-CN" sz="1100" kern="1200" dirty="0">
                        <a:solidFill>
                          <a:schemeClr val="dk1"/>
                        </a:solidFill>
                        <a:latin typeface="Arial" panose="020B0604020202020204" pitchFamily="34" charset="0"/>
                        <a:ea typeface="微软雅黑" panose="020B0503020204020204" pitchFamily="34" charset="-122"/>
                        <a:cs typeface="+mn-cs"/>
                        <a:sym typeface="Arial" panose="020B0604020202020204" pitchFamily="34" charset="0"/>
                      </a:endParaRPr>
                    </a:p>
                    <a:p>
                      <a:pPr marL="0" algn="ctr" defTabSz="914400" rtl="0" eaLnBrk="1" fontAlgn="b" latinLnBrk="0" hangingPunct="1"/>
                      <a:r>
                        <a:rPr lang="zh-CN" altLang="en-US" sz="1100" kern="1200" dirty="0">
                          <a:solidFill>
                            <a:schemeClr val="dk1"/>
                          </a:solidFill>
                          <a:latin typeface="Arial" panose="020B0604020202020204" pitchFamily="34" charset="0"/>
                          <a:ea typeface="微软雅黑" panose="020B0503020204020204" pitchFamily="34" charset="-122"/>
                          <a:cs typeface="+mn-cs"/>
                          <a:sym typeface="Arial" panose="020B0604020202020204" pitchFamily="34" charset="0"/>
                        </a:rPr>
                        <a:t>销售商品等流入</a:t>
                      </a:r>
                    </a:p>
                  </a:txBody>
                  <a:tcPr marL="0" marR="0" marT="0" marB="0" anchor="b">
                    <a:solidFill>
                      <a:schemeClr val="accent2">
                        <a:lumMod val="20000"/>
                        <a:lumOff val="80000"/>
                      </a:schemeClr>
                    </a:solidFill>
                  </a:tcPr>
                </a:tc>
                <a:tc>
                  <a:txBody>
                    <a:bodyPr/>
                    <a:lstStyle/>
                    <a:p>
                      <a:endParaRPr lang="zh-CN" altLang="en-US" sz="1400">
                        <a:latin typeface="Arial" panose="020B0604020202020204" pitchFamily="34" charset="0"/>
                        <a:ea typeface="微软雅黑" panose="020B0503020204020204" pitchFamily="34" charset="-122"/>
                        <a:sym typeface="Arial" panose="020B0604020202020204" pitchFamily="34" charset="0"/>
                      </a:endParaRPr>
                    </a:p>
                  </a:txBody>
                  <a:tcPr marL="0" marR="0" marT="0" marB="0" anchor="b">
                    <a:solidFill>
                      <a:schemeClr val="accent2">
                        <a:lumMod val="20000"/>
                        <a:lumOff val="80000"/>
                      </a:schemeClr>
                    </a:solidFill>
                  </a:tcPr>
                </a:tc>
                <a:tc>
                  <a:txBody>
                    <a:bodyPr/>
                    <a:lstStyle/>
                    <a:p>
                      <a:endParaRPr lang="zh-CN" altLang="en-US" sz="1400">
                        <a:latin typeface="Arial" panose="020B0604020202020204" pitchFamily="34" charset="0"/>
                        <a:ea typeface="微软雅黑" panose="020B0503020204020204" pitchFamily="34" charset="-122"/>
                        <a:sym typeface="Arial" panose="020B0604020202020204" pitchFamily="34" charset="0"/>
                      </a:endParaRPr>
                    </a:p>
                  </a:txBody>
                  <a:tcPr marL="0" marR="0" marT="0" marB="0" anchor="b">
                    <a:solidFill>
                      <a:schemeClr val="accent2">
                        <a:lumMod val="20000"/>
                        <a:lumOff val="80000"/>
                      </a:schemeClr>
                    </a:solidFill>
                  </a:tcPr>
                </a:tc>
                <a:tc>
                  <a:txBody>
                    <a:bodyPr/>
                    <a:lstStyle/>
                    <a:p>
                      <a:endParaRPr lang="zh-CN" altLang="en-US" sz="140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solidFill>
                      <a:schemeClr val="accent2">
                        <a:lumMod val="20000"/>
                        <a:lumOff val="80000"/>
                      </a:schemeClr>
                    </a:solidFill>
                  </a:tcPr>
                </a:tc>
                <a:tc>
                  <a:txBody>
                    <a:bodyPr/>
                    <a:lstStyle/>
                    <a:p>
                      <a:endParaRPr lang="zh-CN" altLang="en-US" sz="140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solidFill>
                      <a:schemeClr val="accent2">
                        <a:lumMod val="20000"/>
                        <a:lumOff val="80000"/>
                      </a:schemeClr>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defRPr/>
                      </a:pPr>
                      <a:endPar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endParaRPr>
                    </a:p>
                    <a:p>
                      <a:pPr marL="0" marR="0" indent="0" algn="ctr" defTabSz="914400" rtl="0" eaLnBrk="1" fontAlgn="ctr" latinLnBrk="0" hangingPunct="1">
                        <a:lnSpc>
                          <a:spcPct val="100000"/>
                        </a:lnSpc>
                        <a:spcBef>
                          <a:spcPts val="0"/>
                        </a:spcBef>
                        <a:spcAft>
                          <a:spcPts val="0"/>
                        </a:spcAft>
                        <a:buClrTx/>
                        <a:buSzTx/>
                        <a:buFontTx/>
                        <a:buNone/>
                        <a:defRPr/>
                      </a:pPr>
                      <a:endPar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endParaRPr>
                    </a:p>
                    <a:p>
                      <a:pPr algn="ctr" fontAlgn="ctr"/>
                      <a:endParaRPr lang="en-US" altLang="zh-CN" sz="9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solidFill>
                      <a:schemeClr val="accent2">
                        <a:lumMod val="20000"/>
                        <a:lumOff val="80000"/>
                      </a:schemeClr>
                    </a:solidFill>
                  </a:tcPr>
                </a:tc>
              </a:tr>
              <a:tr h="253548">
                <a:tc>
                  <a:txBody>
                    <a:bodyPr/>
                    <a:lstStyle/>
                    <a:p>
                      <a:pPr marL="0" algn="ctr" defTabSz="914400" rtl="0" eaLnBrk="1" fontAlgn="b" latinLnBrk="0" hangingPunct="1"/>
                      <a:r>
                        <a:rPr lang="zh-CN" altLang="en-US" sz="1100" kern="1200" dirty="0">
                          <a:solidFill>
                            <a:schemeClr val="dk1"/>
                          </a:solidFill>
                          <a:latin typeface="Arial" panose="020B0604020202020204" pitchFamily="34" charset="0"/>
                          <a:ea typeface="微软雅黑" panose="020B0503020204020204" pitchFamily="34" charset="-122"/>
                          <a:cs typeface="+mn-cs"/>
                          <a:sym typeface="Arial" panose="020B0604020202020204" pitchFamily="34" charset="0"/>
                        </a:rPr>
                        <a:t> 购买商品等流出</a:t>
                      </a:r>
                    </a:p>
                  </a:txBody>
                  <a:tcPr marL="0" marR="0" marT="0" marB="0" anchor="b">
                    <a:solidFill>
                      <a:schemeClr val="accent2">
                        <a:lumMod val="20000"/>
                        <a:lumOff val="80000"/>
                      </a:schemeClr>
                    </a:solidFill>
                  </a:tcPr>
                </a:tc>
                <a:tc>
                  <a:txBody>
                    <a:bodyPr/>
                    <a:lstStyle/>
                    <a:p>
                      <a:endParaRPr lang="zh-CN" altLang="en-US" sz="1400">
                        <a:latin typeface="Arial" panose="020B0604020202020204" pitchFamily="34" charset="0"/>
                        <a:ea typeface="微软雅黑" panose="020B0503020204020204" pitchFamily="34" charset="-122"/>
                        <a:sym typeface="Arial" panose="020B0604020202020204" pitchFamily="34" charset="0"/>
                      </a:endParaRPr>
                    </a:p>
                  </a:txBody>
                  <a:tcPr marL="0" marR="0" marT="0" marB="0" anchor="b">
                    <a:solidFill>
                      <a:schemeClr val="accent2">
                        <a:lumMod val="20000"/>
                        <a:lumOff val="80000"/>
                      </a:schemeClr>
                    </a:solidFill>
                  </a:tcPr>
                </a:tc>
                <a:tc>
                  <a:txBody>
                    <a:bodyPr/>
                    <a:lstStyle/>
                    <a:p>
                      <a:endParaRPr lang="zh-CN" altLang="en-US" sz="1400">
                        <a:latin typeface="Arial" panose="020B0604020202020204" pitchFamily="34" charset="0"/>
                        <a:ea typeface="微软雅黑" panose="020B0503020204020204" pitchFamily="34" charset="-122"/>
                        <a:sym typeface="Arial" panose="020B0604020202020204" pitchFamily="34" charset="0"/>
                      </a:endParaRPr>
                    </a:p>
                  </a:txBody>
                  <a:tcPr marL="0" marR="0" marT="0" marB="0" anchor="b">
                    <a:solidFill>
                      <a:schemeClr val="accent2">
                        <a:lumMod val="20000"/>
                        <a:lumOff val="80000"/>
                      </a:schemeClr>
                    </a:solidFill>
                  </a:tcPr>
                </a:tc>
                <a:tc>
                  <a:txBody>
                    <a:bodyPr/>
                    <a:lstStyle/>
                    <a:p>
                      <a:endParaRPr lang="zh-CN" altLang="en-US" sz="140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solidFill>
                      <a:schemeClr val="accent2">
                        <a:lumMod val="20000"/>
                        <a:lumOff val="80000"/>
                      </a:schemeClr>
                    </a:solidFill>
                  </a:tcPr>
                </a:tc>
                <a:tc>
                  <a:txBody>
                    <a:bodyPr/>
                    <a:lstStyle/>
                    <a:p>
                      <a:endParaRPr lang="zh-CN" altLang="en-US" sz="140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solidFill>
                      <a:schemeClr val="accent2">
                        <a:lumMod val="20000"/>
                        <a:lumOff val="80000"/>
                      </a:schemeClr>
                    </a:solidFill>
                  </a:tcPr>
                </a:tc>
                <a:tc>
                  <a:txBody>
                    <a:bodyPr/>
                    <a:lstStyle/>
                    <a:p>
                      <a:pPr algn="ctr" fontAlgn="ctr"/>
                      <a:endPar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solidFill>
                      <a:schemeClr val="accent2">
                        <a:lumMod val="20000"/>
                        <a:lumOff val="80000"/>
                      </a:schemeClr>
                    </a:solidFill>
                  </a:tcPr>
                </a:tc>
              </a:tr>
              <a:tr h="388620">
                <a:tc>
                  <a:txBody>
                    <a:bodyPr/>
                    <a:lstStyle/>
                    <a:p>
                      <a:pPr algn="ctr"/>
                      <a:r>
                        <a:rPr lang="zh-CN" altLang="en-US" sz="1100" dirty="0">
                          <a:latin typeface="Arial" panose="020B0604020202020204" pitchFamily="34" charset="0"/>
                          <a:ea typeface="微软雅黑" panose="020B0503020204020204" pitchFamily="34" charset="-122"/>
                          <a:sym typeface="Arial" panose="020B0604020202020204" pitchFamily="34" charset="0"/>
                        </a:rPr>
                        <a:t>投资活动流入</a:t>
                      </a:r>
                      <a:endParaRPr lang="en-US" altLang="zh-CN" sz="1100" dirty="0">
                        <a:latin typeface="Arial" panose="020B0604020202020204" pitchFamily="34" charset="0"/>
                        <a:ea typeface="微软雅黑" panose="020B0503020204020204" pitchFamily="34" charset="-122"/>
                        <a:sym typeface="Arial" panose="020B0604020202020204" pitchFamily="34" charset="0"/>
                      </a:endParaRPr>
                    </a:p>
                    <a:p>
                      <a:pPr algn="ctr"/>
                      <a:r>
                        <a:rPr lang="zh-CN" altLang="en-US" sz="1100" dirty="0">
                          <a:latin typeface="Arial" panose="020B0604020202020204" pitchFamily="34" charset="0"/>
                          <a:ea typeface="微软雅黑" panose="020B0503020204020204" pitchFamily="34" charset="-122"/>
                          <a:sym typeface="Arial" panose="020B0604020202020204" pitchFamily="34" charset="0"/>
                        </a:rPr>
                        <a:t>净额</a:t>
                      </a:r>
                    </a:p>
                  </a:txBody>
                  <a:tcPr marL="68580" marR="68580" marT="34290" marB="34290"/>
                </a:tc>
                <a:tc>
                  <a:txBody>
                    <a:bodyPr/>
                    <a:lstStyle/>
                    <a:p>
                      <a:endParaRPr lang="zh-CN" altLang="en-US" sz="1400">
                        <a:latin typeface="Arial" panose="020B0604020202020204" pitchFamily="34" charset="0"/>
                        <a:ea typeface="微软雅黑" panose="020B0503020204020204" pitchFamily="34" charset="-122"/>
                        <a:sym typeface="Arial" panose="020B0604020202020204" pitchFamily="34" charset="0"/>
                      </a:endParaRPr>
                    </a:p>
                  </a:txBody>
                  <a:tcPr marL="0" marR="0" marT="0" marB="0" anchor="b"/>
                </a:tc>
                <a:tc>
                  <a:txBody>
                    <a:bodyPr/>
                    <a:lstStyle/>
                    <a:p>
                      <a:endParaRPr lang="zh-CN" altLang="en-US" sz="1400">
                        <a:latin typeface="Arial" panose="020B0604020202020204" pitchFamily="34" charset="0"/>
                        <a:ea typeface="微软雅黑" panose="020B0503020204020204" pitchFamily="34" charset="-122"/>
                        <a:sym typeface="Arial" panose="020B0604020202020204" pitchFamily="34" charset="0"/>
                      </a:endParaRPr>
                    </a:p>
                  </a:txBody>
                  <a:tcPr marL="0" marR="0" marT="0" marB="0" anchor="b"/>
                </a:tc>
                <a:tc>
                  <a:txBody>
                    <a:bodyPr/>
                    <a:lstStyle/>
                    <a:p>
                      <a:endParaRPr lang="zh-CN" altLang="en-US" sz="140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endParaRPr lang="zh-CN" altLang="en-US" sz="140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endParaRPr lang="zh-CN" altLang="en-US" sz="1400"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r>
              <a:tr h="422581">
                <a:tc>
                  <a:txBody>
                    <a:bodyPr/>
                    <a:lstStyle/>
                    <a:p>
                      <a:pPr algn="ctr"/>
                      <a:r>
                        <a:rPr lang="zh-CN" altLang="en-US" sz="1100" dirty="0">
                          <a:latin typeface="Arial" panose="020B0604020202020204" pitchFamily="34" charset="0"/>
                          <a:ea typeface="微软雅黑" panose="020B0503020204020204" pitchFamily="34" charset="-122"/>
                          <a:sym typeface="Arial" panose="020B0604020202020204" pitchFamily="34" charset="0"/>
                        </a:rPr>
                        <a:t>融资活动流入</a:t>
                      </a:r>
                      <a:endParaRPr lang="en-US" altLang="zh-CN" sz="1100" dirty="0">
                        <a:latin typeface="Arial" panose="020B0604020202020204" pitchFamily="34" charset="0"/>
                        <a:ea typeface="微软雅黑" panose="020B0503020204020204" pitchFamily="34" charset="-122"/>
                        <a:sym typeface="Arial" panose="020B0604020202020204" pitchFamily="34" charset="0"/>
                      </a:endParaRPr>
                    </a:p>
                    <a:p>
                      <a:pPr algn="ctr"/>
                      <a:r>
                        <a:rPr lang="zh-CN" altLang="en-US" sz="1100" dirty="0">
                          <a:latin typeface="Arial" panose="020B0604020202020204" pitchFamily="34" charset="0"/>
                          <a:ea typeface="微软雅黑" panose="020B0503020204020204" pitchFamily="34" charset="-122"/>
                          <a:sym typeface="Arial" panose="020B0604020202020204" pitchFamily="34" charset="0"/>
                        </a:rPr>
                        <a:t>净额</a:t>
                      </a:r>
                    </a:p>
                  </a:txBody>
                  <a:tcPr marL="68580" marR="68580" marT="34290" marB="34290"/>
                </a:tc>
                <a:tc>
                  <a:txBody>
                    <a:bodyPr/>
                    <a:lstStyle/>
                    <a:p>
                      <a:endParaRPr lang="zh-CN" altLang="en-US" sz="1400">
                        <a:latin typeface="Arial" panose="020B0604020202020204" pitchFamily="34" charset="0"/>
                        <a:ea typeface="微软雅黑" panose="020B0503020204020204" pitchFamily="34" charset="-122"/>
                        <a:sym typeface="Arial" panose="020B0604020202020204" pitchFamily="34" charset="0"/>
                      </a:endParaRPr>
                    </a:p>
                  </a:txBody>
                  <a:tcPr marL="0" marR="0" marT="0" marB="0" anchor="b"/>
                </a:tc>
                <a:tc>
                  <a:txBody>
                    <a:bodyPr/>
                    <a:lstStyle/>
                    <a:p>
                      <a:endParaRPr lang="zh-CN" altLang="en-US" sz="1400">
                        <a:latin typeface="Arial" panose="020B0604020202020204" pitchFamily="34" charset="0"/>
                        <a:ea typeface="微软雅黑" panose="020B0503020204020204" pitchFamily="34" charset="-122"/>
                        <a:sym typeface="Arial" panose="020B0604020202020204" pitchFamily="34" charset="0"/>
                      </a:endParaRPr>
                    </a:p>
                  </a:txBody>
                  <a:tcPr marL="0" marR="0" marT="0" marB="0" anchor="b"/>
                </a:tc>
                <a:tc>
                  <a:txBody>
                    <a:bodyPr/>
                    <a:lstStyle/>
                    <a:p>
                      <a:endParaRPr lang="zh-CN" altLang="en-US" sz="140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endParaRPr lang="zh-CN" altLang="en-US" sz="140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endParaRPr lang="zh-CN" altLang="en-US" sz="140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r>
              <a:tr h="388620">
                <a:tc>
                  <a:txBody>
                    <a:bodyPr/>
                    <a:lstStyle/>
                    <a:p>
                      <a:pPr algn="ctr"/>
                      <a:r>
                        <a:rPr lang="zh-CN" altLang="en-US" sz="1100" dirty="0">
                          <a:latin typeface="Arial" panose="020B0604020202020204" pitchFamily="34" charset="0"/>
                          <a:ea typeface="微软雅黑" panose="020B0503020204020204" pitchFamily="34" charset="-122"/>
                          <a:sym typeface="Arial" panose="020B0604020202020204" pitchFamily="34" charset="0"/>
                        </a:rPr>
                        <a:t>外汇兑换率变动</a:t>
                      </a:r>
                      <a:endParaRPr lang="en-US" altLang="zh-CN" sz="1100" dirty="0">
                        <a:latin typeface="Arial" panose="020B0604020202020204" pitchFamily="34" charset="0"/>
                        <a:ea typeface="微软雅黑" panose="020B0503020204020204" pitchFamily="34" charset="-122"/>
                        <a:sym typeface="Arial" panose="020B0604020202020204" pitchFamily="34" charset="0"/>
                      </a:endParaRPr>
                    </a:p>
                    <a:p>
                      <a:pPr algn="ctr"/>
                      <a:r>
                        <a:rPr lang="en-US" altLang="zh-CN" sz="1100" baseline="0" dirty="0">
                          <a:latin typeface="Arial" panose="020B0604020202020204" pitchFamily="34" charset="0"/>
                          <a:ea typeface="微软雅黑" panose="020B0503020204020204" pitchFamily="34" charset="-122"/>
                          <a:sym typeface="Arial" panose="020B0604020202020204" pitchFamily="34" charset="0"/>
                        </a:rPr>
                        <a:t> </a:t>
                      </a:r>
                      <a:r>
                        <a:rPr lang="zh-CN" altLang="en-US" sz="1100" dirty="0">
                          <a:latin typeface="Arial" panose="020B0604020202020204" pitchFamily="34" charset="0"/>
                          <a:ea typeface="微软雅黑" panose="020B0503020204020204" pitchFamily="34" charset="-122"/>
                          <a:sym typeface="Arial" panose="020B0604020202020204" pitchFamily="34" charset="0"/>
                        </a:rPr>
                        <a:t>影响</a:t>
                      </a:r>
                    </a:p>
                  </a:txBody>
                  <a:tcPr marL="68580" marR="68580" marT="34290" marB="34290"/>
                </a:tc>
                <a:tc>
                  <a:txBody>
                    <a:bodyPr/>
                    <a:lstStyle/>
                    <a:p>
                      <a:endParaRPr lang="zh-CN" altLang="en-US" sz="1400">
                        <a:latin typeface="Arial" panose="020B0604020202020204" pitchFamily="34" charset="0"/>
                        <a:ea typeface="微软雅黑" panose="020B0503020204020204" pitchFamily="34" charset="-122"/>
                        <a:sym typeface="Arial" panose="020B0604020202020204" pitchFamily="34" charset="0"/>
                      </a:endParaRPr>
                    </a:p>
                  </a:txBody>
                  <a:tcPr marL="0" marR="0" marT="0" marB="0" anchor="b"/>
                </a:tc>
                <a:tc>
                  <a:txBody>
                    <a:bodyPr/>
                    <a:lstStyle/>
                    <a:p>
                      <a:endParaRPr lang="zh-CN" altLang="en-US" sz="1400">
                        <a:latin typeface="Arial" panose="020B0604020202020204" pitchFamily="34" charset="0"/>
                        <a:ea typeface="微软雅黑" panose="020B0503020204020204" pitchFamily="34" charset="-122"/>
                        <a:sym typeface="Arial" panose="020B0604020202020204" pitchFamily="34" charset="0"/>
                      </a:endParaRPr>
                    </a:p>
                  </a:txBody>
                  <a:tcPr marL="0" marR="0" marT="0" marB="0" anchor="b"/>
                </a:tc>
                <a:tc>
                  <a:txBody>
                    <a:bodyPr/>
                    <a:lstStyle/>
                    <a:p>
                      <a:endParaRPr lang="zh-CN" altLang="en-US" sz="140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endParaRPr lang="zh-CN" altLang="en-US" sz="140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endParaRPr lang="zh-CN" altLang="en-US" sz="140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r>
              <a:tr h="388620">
                <a:tc>
                  <a:txBody>
                    <a:bodyPr/>
                    <a:lstStyle/>
                    <a:p>
                      <a:pPr marL="0" marR="0" indent="0" algn="ctr" defTabSz="914400" rtl="0" eaLnBrk="1" fontAlgn="ctr" latinLnBrk="0" hangingPunct="1">
                        <a:lnSpc>
                          <a:spcPct val="100000"/>
                        </a:lnSpc>
                        <a:spcBef>
                          <a:spcPts val="0"/>
                        </a:spcBef>
                        <a:spcAft>
                          <a:spcPts val="0"/>
                        </a:spcAft>
                        <a:buClrTx/>
                        <a:buSzTx/>
                        <a:buFontTx/>
                        <a:buNone/>
                        <a:defRPr/>
                      </a:pPr>
                      <a:r>
                        <a:rPr lang="zh-CN" altLang="en-US" sz="1100" dirty="0">
                          <a:latin typeface="Arial" panose="020B0604020202020204" pitchFamily="34" charset="0"/>
                          <a:ea typeface="微软雅黑" panose="020B0503020204020204" pitchFamily="34" charset="-122"/>
                          <a:sym typeface="Arial" panose="020B0604020202020204" pitchFamily="34" charset="0"/>
                        </a:rPr>
                        <a:t>现金及现金等价物    增加</a:t>
                      </a:r>
                    </a:p>
                  </a:txBody>
                  <a:tcPr marL="68580" marR="68580" marT="34290" marB="34290"/>
                </a:tc>
                <a:tc>
                  <a:txBody>
                    <a:bodyPr/>
                    <a:lstStyle/>
                    <a:p>
                      <a:endParaRPr lang="zh-CN" altLang="en-US" sz="1400">
                        <a:latin typeface="Arial" panose="020B0604020202020204" pitchFamily="34" charset="0"/>
                        <a:ea typeface="微软雅黑" panose="020B0503020204020204" pitchFamily="34" charset="-122"/>
                        <a:sym typeface="Arial" panose="020B0604020202020204" pitchFamily="34" charset="0"/>
                      </a:endParaRPr>
                    </a:p>
                  </a:txBody>
                  <a:tcPr marL="0" marR="0" marT="0" marB="0" anchor="b"/>
                </a:tc>
                <a:tc>
                  <a:txBody>
                    <a:bodyPr/>
                    <a:lstStyle/>
                    <a:p>
                      <a:endParaRPr lang="zh-CN" altLang="en-US" sz="1400">
                        <a:latin typeface="Arial" panose="020B0604020202020204" pitchFamily="34" charset="0"/>
                        <a:ea typeface="微软雅黑" panose="020B0503020204020204" pitchFamily="34" charset="-122"/>
                        <a:sym typeface="Arial" panose="020B0604020202020204" pitchFamily="34" charset="0"/>
                      </a:endParaRPr>
                    </a:p>
                  </a:txBody>
                  <a:tcPr marL="0" marR="0" marT="0" marB="0" anchor="b"/>
                </a:tc>
                <a:tc>
                  <a:txBody>
                    <a:bodyPr/>
                    <a:lstStyle/>
                    <a:p>
                      <a:endParaRPr lang="zh-CN" altLang="en-US" sz="140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endParaRPr lang="zh-CN" altLang="en-US" sz="1400"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endParaRPr lang="zh-CN" altLang="en-US" sz="1400"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r>
            </a:tbl>
          </a:graphicData>
        </a:graphic>
      </p:graphicFrame>
      <p:sp>
        <p:nvSpPr>
          <p:cNvPr id="20" name="TextBox 7"/>
          <p:cNvSpPr txBox="1"/>
          <p:nvPr/>
        </p:nvSpPr>
        <p:spPr>
          <a:xfrm>
            <a:off x="673200" y="836567"/>
            <a:ext cx="2970330" cy="300082"/>
          </a:xfrm>
          <a:prstGeom prst="rect">
            <a:avLst/>
          </a:prstGeom>
          <a:noFill/>
        </p:spPr>
        <p:txBody>
          <a:bodyPr wrap="square" rtlCol="0">
            <a:spAutoFit/>
          </a:bodyPr>
          <a:lstStyle/>
          <a:p>
            <a:r>
              <a:rPr lang="en-US" altLang="zh-CN" sz="1350" b="1" dirty="0">
                <a:latin typeface="Arial" panose="020B0604020202020204" pitchFamily="34" charset="0"/>
                <a:ea typeface="微软雅黑" panose="020B0503020204020204" pitchFamily="34" charset="-122"/>
                <a:sym typeface="Arial" panose="020B0604020202020204" pitchFamily="34" charset="0"/>
              </a:rPr>
              <a:t>1.1</a:t>
            </a:r>
            <a:r>
              <a:rPr lang="zh-CN" altLang="en-US" sz="1350" b="1" dirty="0">
                <a:latin typeface="Arial" panose="020B0604020202020204" pitchFamily="34" charset="0"/>
                <a:ea typeface="微软雅黑" panose="020B0503020204020204" pitchFamily="34" charset="-122"/>
                <a:sym typeface="Arial" panose="020B0604020202020204" pitchFamily="34" charset="0"/>
              </a:rPr>
              <a:t>现金流量结构分析</a:t>
            </a:r>
          </a:p>
        </p:txBody>
      </p:sp>
      <p:sp>
        <p:nvSpPr>
          <p:cNvPr id="21" name="TextBox 8"/>
          <p:cNvSpPr txBox="1"/>
          <p:nvPr/>
        </p:nvSpPr>
        <p:spPr>
          <a:xfrm>
            <a:off x="6741241" y="1048163"/>
            <a:ext cx="972108" cy="219291"/>
          </a:xfrm>
          <a:prstGeom prst="rect">
            <a:avLst/>
          </a:prstGeom>
          <a:noFill/>
        </p:spPr>
        <p:txBody>
          <a:bodyPr wrap="square" rtlCol="0">
            <a:spAutoFit/>
          </a:bodyPr>
          <a:lstStyle/>
          <a:p>
            <a:r>
              <a:rPr lang="zh-CN" altLang="en-US" sz="825" b="1" dirty="0">
                <a:latin typeface="Arial" panose="020B0604020202020204" pitchFamily="34" charset="0"/>
                <a:ea typeface="微软雅黑" panose="020B0503020204020204" pitchFamily="34" charset="-122"/>
                <a:sym typeface="Arial" panose="020B0604020202020204" pitchFamily="34" charset="0"/>
              </a:rPr>
              <a:t>单位：万元</a:t>
            </a:r>
          </a:p>
        </p:txBody>
      </p:sp>
      <p:sp>
        <p:nvSpPr>
          <p:cNvPr id="22" name="TextBox 12"/>
          <p:cNvSpPr txBox="1"/>
          <p:nvPr/>
        </p:nvSpPr>
        <p:spPr>
          <a:xfrm>
            <a:off x="1142619" y="4371950"/>
            <a:ext cx="6138682" cy="507831"/>
          </a:xfrm>
          <a:prstGeom prst="rect">
            <a:avLst/>
          </a:prstGeom>
          <a:noFill/>
        </p:spPr>
        <p:txBody>
          <a:bodyPr wrap="square" rtlCol="0">
            <a:spAutoFit/>
          </a:bodyPr>
          <a:lstStyle/>
          <a:p>
            <a:r>
              <a:rPr lang="zh-CN" altLang="en-US" sz="1350" dirty="0">
                <a:latin typeface="Arial" panose="020B0604020202020204" pitchFamily="34" charset="0"/>
                <a:ea typeface="微软雅黑" panose="020B0503020204020204" pitchFamily="34" charset="-122"/>
                <a:sym typeface="Arial" panose="020B0604020202020204" pitchFamily="34" charset="0"/>
              </a:rPr>
              <a:t>分析：从收入结构对比分析看，</a:t>
            </a:r>
            <a:r>
              <a:rPr lang="en-US" altLang="zh-CN" sz="1350" dirty="0">
                <a:latin typeface="Arial" panose="020B0604020202020204" pitchFamily="34" charset="0"/>
                <a:ea typeface="微软雅黑" panose="020B0503020204020204" pitchFamily="34" charset="-122"/>
                <a:sym typeface="Arial" panose="020B0604020202020204" pitchFamily="34" charset="0"/>
              </a:rPr>
              <a:t>2017</a:t>
            </a:r>
            <a:r>
              <a:rPr lang="zh-CN" altLang="en-US" sz="1350" dirty="0">
                <a:latin typeface="Arial" panose="020B0604020202020204" pitchFamily="34" charset="0"/>
                <a:ea typeface="微软雅黑" panose="020B0503020204020204" pitchFamily="34" charset="-122"/>
                <a:sym typeface="Arial" panose="020B0604020202020204" pitchFamily="34" charset="0"/>
              </a:rPr>
              <a:t>年，投入比例较高的是购买大型设备，主要收入来自于</a:t>
            </a:r>
            <a:r>
              <a:rPr lang="en-US" altLang="zh-CN" sz="1350" dirty="0">
                <a:latin typeface="Arial" panose="020B0604020202020204" pitchFamily="34" charset="0"/>
                <a:ea typeface="微软雅黑" panose="020B0503020204020204" pitchFamily="34" charset="-122"/>
                <a:sym typeface="Arial" panose="020B0604020202020204" pitchFamily="34" charset="0"/>
              </a:rPr>
              <a:t>XX</a:t>
            </a:r>
            <a:r>
              <a:rPr lang="zh-CN" altLang="en-US" sz="1350" dirty="0">
                <a:latin typeface="Arial" panose="020B0604020202020204" pitchFamily="34" charset="0"/>
                <a:ea typeface="微软雅黑" panose="020B0503020204020204" pitchFamily="34" charset="-122"/>
                <a:sym typeface="Arial" panose="020B0604020202020204" pitchFamily="34" charset="0"/>
              </a:rPr>
              <a:t>产品的销售利润。</a:t>
            </a:r>
          </a:p>
        </p:txBody>
      </p:sp>
    </p:spTree>
  </p:cSld>
  <p:clrMapOvr>
    <a:masterClrMapping/>
  </p:clrMapOvr>
  <p:transition spd="slow" advClick="0" advTm="0">
    <p:cove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txBox="1"/>
          <p:nvPr/>
        </p:nvSpPr>
        <p:spPr>
          <a:xfrm>
            <a:off x="857885" y="195109"/>
            <a:ext cx="2600960" cy="379730"/>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000" b="1" dirty="0">
                <a:solidFill>
                  <a:schemeClr val="tx1"/>
                </a:solidFill>
                <a:latin typeface="Arial" panose="020B0604020202020204" pitchFamily="34" charset="0"/>
                <a:ea typeface="微软雅黑" panose="020B0503020204020204" pitchFamily="34" charset="-122"/>
                <a:sym typeface="Arial" panose="020B0604020202020204" pitchFamily="34" charset="0"/>
              </a:rPr>
              <a:t>1.2</a:t>
            </a:r>
            <a:r>
              <a:rPr lang="zh-CN" altLang="en-US" sz="2000" b="1" dirty="0">
                <a:solidFill>
                  <a:schemeClr val="tx1"/>
                </a:solidFill>
                <a:latin typeface="Arial" panose="020B0604020202020204" pitchFamily="34" charset="0"/>
                <a:ea typeface="微软雅黑" panose="020B0503020204020204" pitchFamily="34" charset="-122"/>
                <a:sym typeface="Arial" panose="020B0604020202020204" pitchFamily="34" charset="0"/>
              </a:rPr>
              <a:t>货币资金情况</a:t>
            </a:r>
          </a:p>
        </p:txBody>
      </p:sp>
      <p:graphicFrame>
        <p:nvGraphicFramePr>
          <p:cNvPr id="25" name="图表 24"/>
          <p:cNvGraphicFramePr/>
          <p:nvPr/>
        </p:nvGraphicFramePr>
        <p:xfrm>
          <a:off x="4211960" y="4149080"/>
          <a:ext cx="2592288" cy="2232248"/>
        </p:xfrm>
        <a:graphic>
          <a:graphicData uri="http://schemas.openxmlformats.org/drawingml/2006/chart">
            <c:chart xmlns:c="http://schemas.openxmlformats.org/drawingml/2006/chart" xmlns:r="http://schemas.openxmlformats.org/officeDocument/2006/relationships" r:id="rId3"/>
          </a:graphicData>
        </a:graphic>
      </p:graphicFrame>
      <p:sp>
        <p:nvSpPr>
          <p:cNvPr id="23" name="TextBox 8"/>
          <p:cNvSpPr txBox="1"/>
          <p:nvPr/>
        </p:nvSpPr>
        <p:spPr>
          <a:xfrm>
            <a:off x="5070471" y="843558"/>
            <a:ext cx="972108" cy="219291"/>
          </a:xfrm>
          <a:prstGeom prst="rect">
            <a:avLst/>
          </a:prstGeom>
          <a:noFill/>
        </p:spPr>
        <p:txBody>
          <a:bodyPr wrap="square" rtlCol="0">
            <a:spAutoFit/>
          </a:bodyPr>
          <a:lstStyle/>
          <a:p>
            <a:r>
              <a:rPr lang="zh-CN" altLang="en-US" sz="825" b="1" dirty="0">
                <a:latin typeface="Arial" panose="020B0604020202020204" pitchFamily="34" charset="0"/>
                <a:ea typeface="微软雅黑" panose="020B0503020204020204" pitchFamily="34" charset="-122"/>
                <a:sym typeface="Arial" panose="020B0604020202020204" pitchFamily="34" charset="0"/>
              </a:rPr>
              <a:t>单位：万元</a:t>
            </a:r>
          </a:p>
        </p:txBody>
      </p:sp>
      <p:graphicFrame>
        <p:nvGraphicFramePr>
          <p:cNvPr id="24" name="内容占位符 10"/>
          <p:cNvGraphicFramePr/>
          <p:nvPr/>
        </p:nvGraphicFramePr>
        <p:xfrm>
          <a:off x="850245" y="1091481"/>
          <a:ext cx="5192335" cy="3502425"/>
        </p:xfrm>
        <a:graphic>
          <a:graphicData uri="http://schemas.openxmlformats.org/drawingml/2006/table">
            <a:tbl>
              <a:tblPr firstRow="1" bandRow="1">
                <a:tableStyleId>{EB9631B5-78F2-41C9-869B-9F39066F8104}</a:tableStyleId>
              </a:tblPr>
              <a:tblGrid>
                <a:gridCol w="1836204"/>
                <a:gridCol w="759963"/>
                <a:gridCol w="1298084"/>
                <a:gridCol w="1298084"/>
              </a:tblGrid>
              <a:tr h="233495">
                <a:tc>
                  <a:txBody>
                    <a:bodyPr/>
                    <a:lstStyle/>
                    <a:p>
                      <a:pPr algn="ctr" fontAlgn="ctr"/>
                      <a:r>
                        <a:rPr lang="zh-CN" altLang="en-US" sz="800" u="none" strike="noStrike" dirty="0">
                          <a:latin typeface="Arial" panose="020B0604020202020204" pitchFamily="34" charset="0"/>
                          <a:ea typeface="微软雅黑" panose="020B0503020204020204" pitchFamily="34" charset="-122"/>
                          <a:sym typeface="Arial" panose="020B0604020202020204" pitchFamily="34" charset="0"/>
                        </a:rPr>
                        <a:t>银行名称</a:t>
                      </a:r>
                      <a:endParaRPr lang="zh-CN" altLang="en-US"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c>
                  <a:txBody>
                    <a:bodyPr/>
                    <a:lstStyle/>
                    <a:p>
                      <a:pPr algn="ctr" fontAlgn="ctr"/>
                      <a:r>
                        <a:rPr lang="zh-CN" altLang="en-US" sz="800" u="none" strike="noStrike" dirty="0">
                          <a:latin typeface="Arial" panose="020B0604020202020204" pitchFamily="34" charset="0"/>
                          <a:ea typeface="微软雅黑" panose="020B0503020204020204" pitchFamily="34" charset="-122"/>
                          <a:sym typeface="Arial" panose="020B0604020202020204" pitchFamily="34" charset="0"/>
                        </a:rPr>
                        <a:t>币别</a:t>
                      </a:r>
                      <a:endParaRPr lang="zh-CN" altLang="en-US"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c>
                  <a:txBody>
                    <a:bodyPr/>
                    <a:lstStyle/>
                    <a:p>
                      <a:pPr algn="ctr" fontAlgn="ctr"/>
                      <a:r>
                        <a:rPr lang="zh-CN" altLang="en-US" sz="800" u="none" strike="noStrike" dirty="0">
                          <a:latin typeface="Arial" panose="020B0604020202020204" pitchFamily="34" charset="0"/>
                          <a:ea typeface="微软雅黑" panose="020B0503020204020204" pitchFamily="34" charset="-122"/>
                          <a:sym typeface="Arial" panose="020B0604020202020204" pitchFamily="34" charset="0"/>
                        </a:rPr>
                        <a:t>状态</a:t>
                      </a:r>
                      <a:endParaRPr lang="zh-CN" altLang="en-US"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c>
                  <a:txBody>
                    <a:bodyPr/>
                    <a:lstStyle/>
                    <a:p>
                      <a:pPr algn="ctr" fontAlgn="ctr"/>
                      <a:r>
                        <a:rPr lang="zh-CN" altLang="en-US" sz="800" u="none" strike="noStrike" dirty="0">
                          <a:latin typeface="Arial" panose="020B0604020202020204" pitchFamily="34" charset="0"/>
                          <a:ea typeface="微软雅黑" panose="020B0503020204020204" pitchFamily="34" charset="-122"/>
                          <a:sym typeface="Arial" panose="020B0604020202020204" pitchFamily="34" charset="0"/>
                        </a:rPr>
                        <a:t>资金储备比</a:t>
                      </a:r>
                      <a:endParaRPr lang="zh-CN" altLang="en-US"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r>
              <a:tr h="233495">
                <a:tc>
                  <a:txBody>
                    <a:bodyPr/>
                    <a:lstStyle/>
                    <a:p>
                      <a:pPr algn="ctr" fontAlgn="ctr"/>
                      <a:r>
                        <a:rPr lang="zh-CN" altLang="en-US" sz="800" b="0" i="0" u="none" strike="noStrike" dirty="0">
                          <a:latin typeface="Arial" panose="020B0604020202020204" pitchFamily="34" charset="0"/>
                          <a:ea typeface="微软雅黑" panose="020B0503020204020204" pitchFamily="34" charset="-122"/>
                          <a:sym typeface="Arial" panose="020B0604020202020204" pitchFamily="34" charset="0"/>
                        </a:rPr>
                        <a:t>银行</a:t>
                      </a:r>
                      <a:r>
                        <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rPr>
                        <a:t>*****</a:t>
                      </a:r>
                    </a:p>
                  </a:txBody>
                  <a:tcPr marL="7144" marR="7144" marT="7144" marB="0" anchor="ctr"/>
                </a:tc>
                <a:tc>
                  <a:txBody>
                    <a:bodyPr/>
                    <a:lstStyle/>
                    <a:p>
                      <a:pPr algn="ctr" fontAlgn="ctr"/>
                      <a:r>
                        <a:rPr lang="zh-CN" altLang="en-US" sz="800" u="none" strike="noStrike" dirty="0">
                          <a:latin typeface="Arial" panose="020B0604020202020204" pitchFamily="34" charset="0"/>
                          <a:ea typeface="微软雅黑" panose="020B0503020204020204" pitchFamily="34" charset="-122"/>
                          <a:sym typeface="Arial" panose="020B0604020202020204" pitchFamily="34" charset="0"/>
                        </a:rPr>
                        <a:t>人民币</a:t>
                      </a:r>
                      <a:endParaRPr lang="zh-CN" altLang="en-US"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c>
                  <a:txBody>
                    <a:bodyPr/>
                    <a:lstStyle/>
                    <a:p>
                      <a:pPr algn="ctr" fontAlgn="ctr"/>
                      <a:r>
                        <a:rPr lang="zh-CN" altLang="en-US" sz="800" u="none" strike="noStrike">
                          <a:latin typeface="Arial" panose="020B0604020202020204" pitchFamily="34" charset="0"/>
                          <a:ea typeface="微软雅黑" panose="020B0503020204020204" pitchFamily="34" charset="-122"/>
                          <a:sym typeface="Arial" panose="020B0604020202020204" pitchFamily="34" charset="0"/>
                        </a:rPr>
                        <a:t>常用</a:t>
                      </a:r>
                      <a:endParaRPr lang="zh-CN" altLang="en-US" sz="800" b="0" i="0" u="none" strike="noStrike">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c>
                  <a:txBody>
                    <a:bodyPr/>
                    <a:lstStyle/>
                    <a:p>
                      <a:pPr algn="ctr" fontAlgn="ctr"/>
                      <a:r>
                        <a:rPr lang="en-US" altLang="zh-CN" sz="800" u="none" strike="noStrike" dirty="0">
                          <a:latin typeface="Arial" panose="020B0604020202020204" pitchFamily="34" charset="0"/>
                          <a:ea typeface="微软雅黑" panose="020B0503020204020204" pitchFamily="34" charset="-122"/>
                          <a:sym typeface="Arial" panose="020B0604020202020204" pitchFamily="34" charset="0"/>
                        </a:rPr>
                        <a:t>%</a:t>
                      </a:r>
                      <a:endPar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r>
              <a:tr h="233495">
                <a:tc>
                  <a:txBody>
                    <a:bodyPr/>
                    <a:lstStyle/>
                    <a:p>
                      <a:pPr algn="ctr" fontAlgn="ctr"/>
                      <a:r>
                        <a:rPr lang="zh-CN" altLang="en-US" sz="800" b="0" i="0" u="none" strike="noStrike">
                          <a:latin typeface="Arial" panose="020B0604020202020204" pitchFamily="34" charset="0"/>
                          <a:ea typeface="微软雅黑" panose="020B0503020204020204" pitchFamily="34" charset="-122"/>
                          <a:sym typeface="Arial" panose="020B0604020202020204" pitchFamily="34" charset="0"/>
                        </a:rPr>
                        <a:t>银行</a:t>
                      </a:r>
                      <a:r>
                        <a:rPr lang="en-US" altLang="zh-CN" sz="800" b="0" i="0" u="none" strike="noStrike">
                          <a:latin typeface="Arial" panose="020B0604020202020204" pitchFamily="34" charset="0"/>
                          <a:ea typeface="微软雅黑" panose="020B0503020204020204" pitchFamily="34" charset="-122"/>
                          <a:sym typeface="Arial" panose="020B0604020202020204" pitchFamily="34" charset="0"/>
                        </a:rPr>
                        <a:t>*****</a:t>
                      </a:r>
                      <a:endPar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c>
                  <a:txBody>
                    <a:bodyPr/>
                    <a:lstStyle/>
                    <a:p>
                      <a:pPr algn="ctr" fontAlgn="ctr"/>
                      <a:r>
                        <a:rPr lang="zh-CN" altLang="en-US" sz="800" u="none" strike="noStrike">
                          <a:latin typeface="Arial" panose="020B0604020202020204" pitchFamily="34" charset="0"/>
                          <a:ea typeface="微软雅黑" panose="020B0503020204020204" pitchFamily="34" charset="-122"/>
                          <a:sym typeface="Arial" panose="020B0604020202020204" pitchFamily="34" charset="0"/>
                        </a:rPr>
                        <a:t>人民币</a:t>
                      </a:r>
                      <a:endParaRPr lang="zh-CN" altLang="en-US" sz="800" b="0" i="0" u="none" strike="noStrike">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c>
                  <a:txBody>
                    <a:bodyPr/>
                    <a:lstStyle/>
                    <a:p>
                      <a:pPr algn="ctr" fontAlgn="ctr"/>
                      <a:r>
                        <a:rPr lang="zh-CN" altLang="en-US" sz="800" u="none" strike="noStrike" dirty="0">
                          <a:latin typeface="Arial" panose="020B0604020202020204" pitchFamily="34" charset="0"/>
                          <a:ea typeface="微软雅黑" panose="020B0503020204020204" pitchFamily="34" charset="-122"/>
                          <a:sym typeface="Arial" panose="020B0604020202020204" pitchFamily="34" charset="0"/>
                        </a:rPr>
                        <a:t>少用</a:t>
                      </a:r>
                      <a:endParaRPr lang="zh-CN" altLang="en-US"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c>
                  <a:txBody>
                    <a:bodyPr/>
                    <a:lstStyle/>
                    <a:p>
                      <a:pPr algn="ctr" fontAlgn="ctr"/>
                      <a:r>
                        <a:rPr lang="en-US" altLang="zh-CN" sz="800" u="none" strike="noStrike">
                          <a:latin typeface="Arial" panose="020B0604020202020204" pitchFamily="34" charset="0"/>
                          <a:ea typeface="微软雅黑" panose="020B0503020204020204" pitchFamily="34" charset="-122"/>
                          <a:sym typeface="Arial" panose="020B0604020202020204" pitchFamily="34" charset="0"/>
                        </a:rPr>
                        <a:t>%</a:t>
                      </a:r>
                      <a:endPar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r>
              <a:tr h="233495">
                <a:tc>
                  <a:txBody>
                    <a:bodyPr/>
                    <a:lstStyle/>
                    <a:p>
                      <a:pPr algn="ctr" fontAlgn="ctr"/>
                      <a:r>
                        <a:rPr lang="zh-CN" altLang="en-US" sz="800" b="0" i="0" u="none" strike="noStrike">
                          <a:latin typeface="Arial" panose="020B0604020202020204" pitchFamily="34" charset="0"/>
                          <a:ea typeface="微软雅黑" panose="020B0503020204020204" pitchFamily="34" charset="-122"/>
                          <a:sym typeface="Arial" panose="020B0604020202020204" pitchFamily="34" charset="0"/>
                        </a:rPr>
                        <a:t>银行</a:t>
                      </a:r>
                      <a:r>
                        <a:rPr lang="en-US" altLang="zh-CN" sz="800" b="0" i="0" u="none" strike="noStrike">
                          <a:latin typeface="Arial" panose="020B0604020202020204" pitchFamily="34" charset="0"/>
                          <a:ea typeface="微软雅黑" panose="020B0503020204020204" pitchFamily="34" charset="-122"/>
                          <a:sym typeface="Arial" panose="020B0604020202020204" pitchFamily="34" charset="0"/>
                        </a:rPr>
                        <a:t>*****</a:t>
                      </a:r>
                      <a:endPar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c>
                  <a:txBody>
                    <a:bodyPr/>
                    <a:lstStyle/>
                    <a:p>
                      <a:pPr algn="ctr" fontAlgn="ctr"/>
                      <a:r>
                        <a:rPr lang="zh-CN" altLang="en-US" sz="800" u="none" strike="noStrike" dirty="0">
                          <a:solidFill>
                            <a:srgbClr val="FF0000"/>
                          </a:solidFill>
                          <a:latin typeface="Arial" panose="020B0604020202020204" pitchFamily="34" charset="0"/>
                          <a:ea typeface="微软雅黑" panose="020B0503020204020204" pitchFamily="34" charset="-122"/>
                          <a:sym typeface="Arial" panose="020B0604020202020204" pitchFamily="34" charset="0"/>
                        </a:rPr>
                        <a:t>美元</a:t>
                      </a:r>
                      <a:endParaRPr lang="zh-CN" altLang="en-US" sz="800" b="0" i="0" u="none" strike="noStrike" dirty="0">
                        <a:solidFill>
                          <a:srgbClr val="FF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c>
                  <a:txBody>
                    <a:bodyPr/>
                    <a:lstStyle/>
                    <a:p>
                      <a:pPr algn="ctr" fontAlgn="ctr"/>
                      <a:r>
                        <a:rPr lang="zh-CN" altLang="en-US" sz="800" u="none" strike="noStrike" dirty="0">
                          <a:latin typeface="Arial" panose="020B0604020202020204" pitchFamily="34" charset="0"/>
                          <a:ea typeface="微软雅黑" panose="020B0503020204020204" pitchFamily="34" charset="-122"/>
                          <a:sym typeface="Arial" panose="020B0604020202020204" pitchFamily="34" charset="0"/>
                        </a:rPr>
                        <a:t>少用</a:t>
                      </a:r>
                      <a:endParaRPr lang="zh-CN" altLang="en-US"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c>
                  <a:txBody>
                    <a:bodyPr/>
                    <a:lstStyle/>
                    <a:p>
                      <a:pPr algn="ctr" fontAlgn="ctr"/>
                      <a:r>
                        <a:rPr lang="en-US" altLang="zh-CN" sz="800" u="none" strike="noStrike">
                          <a:latin typeface="Arial" panose="020B0604020202020204" pitchFamily="34" charset="0"/>
                          <a:ea typeface="微软雅黑" panose="020B0503020204020204" pitchFamily="34" charset="-122"/>
                          <a:sym typeface="Arial" panose="020B0604020202020204" pitchFamily="34" charset="0"/>
                        </a:rPr>
                        <a:t>%</a:t>
                      </a:r>
                      <a:endPar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r>
              <a:tr h="233495">
                <a:tc>
                  <a:txBody>
                    <a:bodyPr/>
                    <a:lstStyle/>
                    <a:p>
                      <a:pPr algn="ctr" fontAlgn="ctr"/>
                      <a:r>
                        <a:rPr lang="zh-CN" altLang="en-US" sz="800" b="0" i="0" u="none" strike="noStrike">
                          <a:latin typeface="Arial" panose="020B0604020202020204" pitchFamily="34" charset="0"/>
                          <a:ea typeface="微软雅黑" panose="020B0503020204020204" pitchFamily="34" charset="-122"/>
                          <a:sym typeface="Arial" panose="020B0604020202020204" pitchFamily="34" charset="0"/>
                        </a:rPr>
                        <a:t>银行</a:t>
                      </a:r>
                      <a:r>
                        <a:rPr lang="en-US" altLang="zh-CN" sz="800" b="0" i="0" u="none" strike="noStrike">
                          <a:latin typeface="Arial" panose="020B0604020202020204" pitchFamily="34" charset="0"/>
                          <a:ea typeface="微软雅黑" panose="020B0503020204020204" pitchFamily="34" charset="-122"/>
                          <a:sym typeface="Arial" panose="020B0604020202020204" pitchFamily="34" charset="0"/>
                        </a:rPr>
                        <a:t>*****</a:t>
                      </a:r>
                      <a:endPar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c>
                  <a:txBody>
                    <a:bodyPr/>
                    <a:lstStyle/>
                    <a:p>
                      <a:pPr algn="ctr" fontAlgn="ctr"/>
                      <a:r>
                        <a:rPr lang="zh-CN" altLang="en-US" sz="800" u="none" strike="noStrike" dirty="0">
                          <a:solidFill>
                            <a:srgbClr val="FF0000"/>
                          </a:solidFill>
                          <a:latin typeface="Arial" panose="020B0604020202020204" pitchFamily="34" charset="0"/>
                          <a:ea typeface="微软雅黑" panose="020B0503020204020204" pitchFamily="34" charset="-122"/>
                          <a:sym typeface="Arial" panose="020B0604020202020204" pitchFamily="34" charset="0"/>
                        </a:rPr>
                        <a:t>美元</a:t>
                      </a:r>
                      <a:endParaRPr lang="zh-CN" altLang="en-US" sz="800" b="0" i="0" u="none" strike="noStrike" dirty="0">
                        <a:solidFill>
                          <a:srgbClr val="FF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c>
                  <a:txBody>
                    <a:bodyPr/>
                    <a:lstStyle/>
                    <a:p>
                      <a:pPr algn="ctr" fontAlgn="ctr"/>
                      <a:r>
                        <a:rPr lang="zh-CN" altLang="en-US" sz="800" u="none" strike="noStrike" dirty="0">
                          <a:latin typeface="Arial" panose="020B0604020202020204" pitchFamily="34" charset="0"/>
                          <a:ea typeface="微软雅黑" panose="020B0503020204020204" pitchFamily="34" charset="-122"/>
                          <a:sym typeface="Arial" panose="020B0604020202020204" pitchFamily="34" charset="0"/>
                        </a:rPr>
                        <a:t>少用</a:t>
                      </a:r>
                      <a:endParaRPr lang="zh-CN" altLang="en-US"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c>
                  <a:txBody>
                    <a:bodyPr/>
                    <a:lstStyle/>
                    <a:p>
                      <a:pPr algn="ctr" fontAlgn="ctr"/>
                      <a:r>
                        <a:rPr lang="en-US" altLang="zh-CN" sz="800" u="none" strike="noStrike">
                          <a:latin typeface="Arial" panose="020B0604020202020204" pitchFamily="34" charset="0"/>
                          <a:ea typeface="微软雅黑" panose="020B0503020204020204" pitchFamily="34" charset="-122"/>
                          <a:sym typeface="Arial" panose="020B0604020202020204" pitchFamily="34" charset="0"/>
                        </a:rPr>
                        <a:t>%</a:t>
                      </a:r>
                      <a:endPar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r>
              <a:tr h="233495">
                <a:tc>
                  <a:txBody>
                    <a:bodyPr/>
                    <a:lstStyle/>
                    <a:p>
                      <a:pPr algn="ctr" fontAlgn="ctr"/>
                      <a:r>
                        <a:rPr lang="zh-CN" altLang="en-US" sz="800" b="0" i="0" u="none" strike="noStrike">
                          <a:latin typeface="Arial" panose="020B0604020202020204" pitchFamily="34" charset="0"/>
                          <a:ea typeface="微软雅黑" panose="020B0503020204020204" pitchFamily="34" charset="-122"/>
                          <a:sym typeface="Arial" panose="020B0604020202020204" pitchFamily="34" charset="0"/>
                        </a:rPr>
                        <a:t>银行</a:t>
                      </a:r>
                      <a:r>
                        <a:rPr lang="en-US" altLang="zh-CN" sz="800" b="0" i="0" u="none" strike="noStrike">
                          <a:latin typeface="Arial" panose="020B0604020202020204" pitchFamily="34" charset="0"/>
                          <a:ea typeface="微软雅黑" panose="020B0503020204020204" pitchFamily="34" charset="-122"/>
                          <a:sym typeface="Arial" panose="020B0604020202020204" pitchFamily="34" charset="0"/>
                        </a:rPr>
                        <a:t>*****</a:t>
                      </a:r>
                      <a:endPar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c>
                  <a:txBody>
                    <a:bodyPr/>
                    <a:lstStyle/>
                    <a:p>
                      <a:pPr algn="ctr" fontAlgn="ctr"/>
                      <a:r>
                        <a:rPr lang="zh-CN" altLang="en-US" sz="800" u="none" strike="noStrike">
                          <a:latin typeface="Arial" panose="020B0604020202020204" pitchFamily="34" charset="0"/>
                          <a:ea typeface="微软雅黑" panose="020B0503020204020204" pitchFamily="34" charset="-122"/>
                          <a:sym typeface="Arial" panose="020B0604020202020204" pitchFamily="34" charset="0"/>
                        </a:rPr>
                        <a:t>人民币</a:t>
                      </a:r>
                      <a:endParaRPr lang="zh-CN" altLang="en-US" sz="800" b="0" i="0" u="none" strike="noStrike">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c>
                  <a:txBody>
                    <a:bodyPr/>
                    <a:lstStyle/>
                    <a:p>
                      <a:pPr algn="ctr" fontAlgn="ctr"/>
                      <a:r>
                        <a:rPr lang="zh-CN" altLang="en-US" sz="800" u="none" strike="noStrike" dirty="0">
                          <a:latin typeface="Arial" panose="020B0604020202020204" pitchFamily="34" charset="0"/>
                          <a:ea typeface="微软雅黑" panose="020B0503020204020204" pitchFamily="34" charset="-122"/>
                          <a:sym typeface="Arial" panose="020B0604020202020204" pitchFamily="34" charset="0"/>
                        </a:rPr>
                        <a:t>少用</a:t>
                      </a:r>
                      <a:endParaRPr lang="zh-CN" altLang="en-US"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c>
                  <a:txBody>
                    <a:bodyPr/>
                    <a:lstStyle/>
                    <a:p>
                      <a:pPr algn="ctr" fontAlgn="ctr"/>
                      <a:r>
                        <a:rPr lang="en-US" altLang="zh-CN" sz="800" u="none" strike="noStrike">
                          <a:latin typeface="Arial" panose="020B0604020202020204" pitchFamily="34" charset="0"/>
                          <a:ea typeface="微软雅黑" panose="020B0503020204020204" pitchFamily="34" charset="-122"/>
                          <a:sym typeface="Arial" panose="020B0604020202020204" pitchFamily="34" charset="0"/>
                        </a:rPr>
                        <a:t>%</a:t>
                      </a:r>
                      <a:endPar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r>
              <a:tr h="233495">
                <a:tc>
                  <a:txBody>
                    <a:bodyPr/>
                    <a:lstStyle/>
                    <a:p>
                      <a:pPr algn="ctr" fontAlgn="ctr"/>
                      <a:r>
                        <a:rPr lang="zh-CN" altLang="en-US" sz="800" b="0" i="0" u="none" strike="noStrike">
                          <a:latin typeface="Arial" panose="020B0604020202020204" pitchFamily="34" charset="0"/>
                          <a:ea typeface="微软雅黑" panose="020B0503020204020204" pitchFamily="34" charset="-122"/>
                          <a:sym typeface="Arial" panose="020B0604020202020204" pitchFamily="34" charset="0"/>
                        </a:rPr>
                        <a:t>银行</a:t>
                      </a:r>
                      <a:r>
                        <a:rPr lang="en-US" altLang="zh-CN" sz="800" b="0" i="0" u="none" strike="noStrike">
                          <a:latin typeface="Arial" panose="020B0604020202020204" pitchFamily="34" charset="0"/>
                          <a:ea typeface="微软雅黑" panose="020B0503020204020204" pitchFamily="34" charset="-122"/>
                          <a:sym typeface="Arial" panose="020B0604020202020204" pitchFamily="34" charset="0"/>
                        </a:rPr>
                        <a:t>*****</a:t>
                      </a:r>
                      <a:endPar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c>
                  <a:txBody>
                    <a:bodyPr/>
                    <a:lstStyle/>
                    <a:p>
                      <a:pPr algn="ctr" fontAlgn="ctr"/>
                      <a:r>
                        <a:rPr lang="zh-CN" altLang="en-US" sz="800" u="none" strike="noStrike" dirty="0">
                          <a:latin typeface="Arial" panose="020B0604020202020204" pitchFamily="34" charset="0"/>
                          <a:ea typeface="微软雅黑" panose="020B0503020204020204" pitchFamily="34" charset="-122"/>
                          <a:sym typeface="Arial" panose="020B0604020202020204" pitchFamily="34" charset="0"/>
                        </a:rPr>
                        <a:t>人民币</a:t>
                      </a:r>
                      <a:endParaRPr lang="zh-CN" altLang="en-US"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c>
                  <a:txBody>
                    <a:bodyPr/>
                    <a:lstStyle/>
                    <a:p>
                      <a:pPr algn="ctr" fontAlgn="ctr"/>
                      <a:r>
                        <a:rPr lang="zh-CN" altLang="en-US" sz="800" u="none" strike="noStrike" dirty="0">
                          <a:latin typeface="Arial" panose="020B0604020202020204" pitchFamily="34" charset="0"/>
                          <a:ea typeface="微软雅黑" panose="020B0503020204020204" pitchFamily="34" charset="-122"/>
                          <a:sym typeface="Arial" panose="020B0604020202020204" pitchFamily="34" charset="0"/>
                        </a:rPr>
                        <a:t>常用</a:t>
                      </a:r>
                      <a:endParaRPr lang="zh-CN" altLang="en-US"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c>
                  <a:txBody>
                    <a:bodyPr/>
                    <a:lstStyle/>
                    <a:p>
                      <a:pPr algn="ctr" fontAlgn="ctr"/>
                      <a:r>
                        <a:rPr lang="en-US" altLang="zh-CN" sz="800" u="none" strike="noStrike">
                          <a:latin typeface="Arial" panose="020B0604020202020204" pitchFamily="34" charset="0"/>
                          <a:ea typeface="微软雅黑" panose="020B0503020204020204" pitchFamily="34" charset="-122"/>
                          <a:sym typeface="Arial" panose="020B0604020202020204" pitchFamily="34" charset="0"/>
                        </a:rPr>
                        <a:t>%</a:t>
                      </a:r>
                      <a:endPar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r>
              <a:tr h="233495">
                <a:tc>
                  <a:txBody>
                    <a:bodyPr/>
                    <a:lstStyle/>
                    <a:p>
                      <a:pPr algn="ctr" fontAlgn="ctr"/>
                      <a:r>
                        <a:rPr lang="zh-CN" altLang="en-US" sz="800" b="0" i="0" u="none" strike="noStrike">
                          <a:latin typeface="Arial" panose="020B0604020202020204" pitchFamily="34" charset="0"/>
                          <a:ea typeface="微软雅黑" panose="020B0503020204020204" pitchFamily="34" charset="-122"/>
                          <a:sym typeface="Arial" panose="020B0604020202020204" pitchFamily="34" charset="0"/>
                        </a:rPr>
                        <a:t>银行</a:t>
                      </a:r>
                      <a:r>
                        <a:rPr lang="en-US" altLang="zh-CN" sz="800" b="0" i="0" u="none" strike="noStrike">
                          <a:latin typeface="Arial" panose="020B0604020202020204" pitchFamily="34" charset="0"/>
                          <a:ea typeface="微软雅黑" panose="020B0503020204020204" pitchFamily="34" charset="-122"/>
                          <a:sym typeface="Arial" panose="020B0604020202020204" pitchFamily="34" charset="0"/>
                        </a:rPr>
                        <a:t>*****</a:t>
                      </a:r>
                      <a:endPar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c>
                  <a:txBody>
                    <a:bodyPr/>
                    <a:lstStyle/>
                    <a:p>
                      <a:pPr algn="ctr" fontAlgn="ctr"/>
                      <a:r>
                        <a:rPr lang="zh-CN" altLang="en-US" sz="800" u="none" strike="noStrike" dirty="0">
                          <a:solidFill>
                            <a:srgbClr val="FF0000"/>
                          </a:solidFill>
                          <a:latin typeface="Arial" panose="020B0604020202020204" pitchFamily="34" charset="0"/>
                          <a:ea typeface="微软雅黑" panose="020B0503020204020204" pitchFamily="34" charset="-122"/>
                          <a:sym typeface="Arial" panose="020B0604020202020204" pitchFamily="34" charset="0"/>
                        </a:rPr>
                        <a:t>港币</a:t>
                      </a:r>
                      <a:endParaRPr lang="zh-CN" altLang="en-US" sz="800" b="0" i="0" u="none" strike="noStrike" dirty="0">
                        <a:solidFill>
                          <a:srgbClr val="FF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c>
                  <a:txBody>
                    <a:bodyPr/>
                    <a:lstStyle/>
                    <a:p>
                      <a:pPr algn="ctr" fontAlgn="ctr"/>
                      <a:r>
                        <a:rPr lang="zh-CN" altLang="en-US" sz="800" u="none" strike="noStrike" dirty="0">
                          <a:latin typeface="Arial" panose="020B0604020202020204" pitchFamily="34" charset="0"/>
                          <a:ea typeface="微软雅黑" panose="020B0503020204020204" pitchFamily="34" charset="-122"/>
                          <a:sym typeface="Arial" panose="020B0604020202020204" pitchFamily="34" charset="0"/>
                        </a:rPr>
                        <a:t>少用</a:t>
                      </a:r>
                      <a:endParaRPr lang="zh-CN" altLang="en-US"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c>
                  <a:txBody>
                    <a:bodyPr/>
                    <a:lstStyle/>
                    <a:p>
                      <a:pPr algn="ctr" fontAlgn="ctr"/>
                      <a:r>
                        <a:rPr lang="en-US" altLang="zh-CN" sz="800" u="none" strike="noStrike">
                          <a:latin typeface="Arial" panose="020B0604020202020204" pitchFamily="34" charset="0"/>
                          <a:ea typeface="微软雅黑" panose="020B0503020204020204" pitchFamily="34" charset="-122"/>
                          <a:sym typeface="Arial" panose="020B0604020202020204" pitchFamily="34" charset="0"/>
                        </a:rPr>
                        <a:t>%</a:t>
                      </a:r>
                      <a:endPar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r>
              <a:tr h="233495">
                <a:tc>
                  <a:txBody>
                    <a:bodyPr/>
                    <a:lstStyle/>
                    <a:p>
                      <a:pPr algn="ctr" fontAlgn="ctr"/>
                      <a:r>
                        <a:rPr lang="zh-CN" altLang="en-US" sz="800" b="0" i="0" u="none" strike="noStrike">
                          <a:latin typeface="Arial" panose="020B0604020202020204" pitchFamily="34" charset="0"/>
                          <a:ea typeface="微软雅黑" panose="020B0503020204020204" pitchFamily="34" charset="-122"/>
                          <a:sym typeface="Arial" panose="020B0604020202020204" pitchFamily="34" charset="0"/>
                        </a:rPr>
                        <a:t>银行</a:t>
                      </a:r>
                      <a:r>
                        <a:rPr lang="en-US" altLang="zh-CN" sz="800" b="0" i="0" u="none" strike="noStrike">
                          <a:latin typeface="Arial" panose="020B0604020202020204" pitchFamily="34" charset="0"/>
                          <a:ea typeface="微软雅黑" panose="020B0503020204020204" pitchFamily="34" charset="-122"/>
                          <a:sym typeface="Arial" panose="020B0604020202020204" pitchFamily="34" charset="0"/>
                        </a:rPr>
                        <a:t>*****</a:t>
                      </a:r>
                      <a:endPar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c>
                  <a:txBody>
                    <a:bodyPr/>
                    <a:lstStyle/>
                    <a:p>
                      <a:pPr algn="ctr" fontAlgn="ctr"/>
                      <a:r>
                        <a:rPr lang="zh-CN" altLang="en-US" sz="800" u="none" strike="noStrike">
                          <a:latin typeface="Arial" panose="020B0604020202020204" pitchFamily="34" charset="0"/>
                          <a:ea typeface="微软雅黑" panose="020B0503020204020204" pitchFamily="34" charset="-122"/>
                          <a:sym typeface="Arial" panose="020B0604020202020204" pitchFamily="34" charset="0"/>
                        </a:rPr>
                        <a:t>人民币</a:t>
                      </a:r>
                      <a:endParaRPr lang="zh-CN" altLang="en-US" sz="800" b="0" i="0" u="none" strike="noStrike">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c>
                  <a:txBody>
                    <a:bodyPr/>
                    <a:lstStyle/>
                    <a:p>
                      <a:pPr algn="ctr" fontAlgn="ctr"/>
                      <a:r>
                        <a:rPr lang="zh-CN" altLang="en-US" sz="800" u="none" strike="noStrike" dirty="0">
                          <a:latin typeface="Arial" panose="020B0604020202020204" pitchFamily="34" charset="0"/>
                          <a:ea typeface="微软雅黑" panose="020B0503020204020204" pitchFamily="34" charset="-122"/>
                          <a:sym typeface="Arial" panose="020B0604020202020204" pitchFamily="34" charset="0"/>
                        </a:rPr>
                        <a:t>常用</a:t>
                      </a:r>
                      <a:endParaRPr lang="zh-CN" altLang="en-US"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c>
                  <a:txBody>
                    <a:bodyPr/>
                    <a:lstStyle/>
                    <a:p>
                      <a:pPr algn="ctr" fontAlgn="ctr"/>
                      <a:r>
                        <a:rPr lang="en-US" altLang="zh-CN" sz="800" u="none" strike="noStrike">
                          <a:latin typeface="Arial" panose="020B0604020202020204" pitchFamily="34" charset="0"/>
                          <a:ea typeface="微软雅黑" panose="020B0503020204020204" pitchFamily="34" charset="-122"/>
                          <a:sym typeface="Arial" panose="020B0604020202020204" pitchFamily="34" charset="0"/>
                        </a:rPr>
                        <a:t>%</a:t>
                      </a:r>
                      <a:endPar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r>
              <a:tr h="233495">
                <a:tc>
                  <a:txBody>
                    <a:bodyPr/>
                    <a:lstStyle/>
                    <a:p>
                      <a:pPr algn="ctr" fontAlgn="ctr"/>
                      <a:r>
                        <a:rPr lang="zh-CN" altLang="en-US" sz="800" b="0" i="0" u="none" strike="noStrike">
                          <a:latin typeface="Arial" panose="020B0604020202020204" pitchFamily="34" charset="0"/>
                          <a:ea typeface="微软雅黑" panose="020B0503020204020204" pitchFamily="34" charset="-122"/>
                          <a:sym typeface="Arial" panose="020B0604020202020204" pitchFamily="34" charset="0"/>
                        </a:rPr>
                        <a:t>银行</a:t>
                      </a:r>
                      <a:r>
                        <a:rPr lang="en-US" altLang="zh-CN" sz="800" b="0" i="0" u="none" strike="noStrike">
                          <a:latin typeface="Arial" panose="020B0604020202020204" pitchFamily="34" charset="0"/>
                          <a:ea typeface="微软雅黑" panose="020B0503020204020204" pitchFamily="34" charset="-122"/>
                          <a:sym typeface="Arial" panose="020B0604020202020204" pitchFamily="34" charset="0"/>
                        </a:rPr>
                        <a:t>*****</a:t>
                      </a:r>
                      <a:endPar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c>
                  <a:txBody>
                    <a:bodyPr/>
                    <a:lstStyle/>
                    <a:p>
                      <a:pPr algn="ctr" fontAlgn="ctr"/>
                      <a:r>
                        <a:rPr lang="zh-CN" altLang="en-US" sz="800" u="none" strike="noStrike">
                          <a:latin typeface="Arial" panose="020B0604020202020204" pitchFamily="34" charset="0"/>
                          <a:ea typeface="微软雅黑" panose="020B0503020204020204" pitchFamily="34" charset="-122"/>
                          <a:sym typeface="Arial" panose="020B0604020202020204" pitchFamily="34" charset="0"/>
                        </a:rPr>
                        <a:t>人民币</a:t>
                      </a:r>
                      <a:endParaRPr lang="zh-CN" altLang="en-US" sz="800" b="0" i="0" u="none" strike="noStrike">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c>
                  <a:txBody>
                    <a:bodyPr/>
                    <a:lstStyle/>
                    <a:p>
                      <a:pPr algn="ctr" fontAlgn="ctr"/>
                      <a:r>
                        <a:rPr lang="zh-CN" altLang="en-US" sz="800" u="none" strike="noStrike" dirty="0">
                          <a:latin typeface="Arial" panose="020B0604020202020204" pitchFamily="34" charset="0"/>
                          <a:ea typeface="微软雅黑" panose="020B0503020204020204" pitchFamily="34" charset="-122"/>
                          <a:sym typeface="Arial" panose="020B0604020202020204" pitchFamily="34" charset="0"/>
                        </a:rPr>
                        <a:t>少用</a:t>
                      </a:r>
                      <a:endParaRPr lang="zh-CN" altLang="en-US"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c>
                  <a:txBody>
                    <a:bodyPr/>
                    <a:lstStyle/>
                    <a:p>
                      <a:pPr algn="ctr" fontAlgn="ctr"/>
                      <a:r>
                        <a:rPr lang="en-US" altLang="zh-CN" sz="800" u="none" strike="noStrike">
                          <a:latin typeface="Arial" panose="020B0604020202020204" pitchFamily="34" charset="0"/>
                          <a:ea typeface="微软雅黑" panose="020B0503020204020204" pitchFamily="34" charset="-122"/>
                          <a:sym typeface="Arial" panose="020B0604020202020204" pitchFamily="34" charset="0"/>
                        </a:rPr>
                        <a:t>%</a:t>
                      </a:r>
                      <a:endPar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r>
              <a:tr h="233495">
                <a:tc>
                  <a:txBody>
                    <a:bodyPr/>
                    <a:lstStyle/>
                    <a:p>
                      <a:pPr algn="ctr" fontAlgn="ctr"/>
                      <a:r>
                        <a:rPr lang="zh-CN" altLang="en-US" sz="800" b="0" i="0" u="none" strike="noStrike">
                          <a:latin typeface="Arial" panose="020B0604020202020204" pitchFamily="34" charset="0"/>
                          <a:ea typeface="微软雅黑" panose="020B0503020204020204" pitchFamily="34" charset="-122"/>
                          <a:sym typeface="Arial" panose="020B0604020202020204" pitchFamily="34" charset="0"/>
                        </a:rPr>
                        <a:t>银行</a:t>
                      </a:r>
                      <a:r>
                        <a:rPr lang="en-US" altLang="zh-CN" sz="800" b="0" i="0" u="none" strike="noStrike">
                          <a:latin typeface="Arial" panose="020B0604020202020204" pitchFamily="34" charset="0"/>
                          <a:ea typeface="微软雅黑" panose="020B0503020204020204" pitchFamily="34" charset="-122"/>
                          <a:sym typeface="Arial" panose="020B0604020202020204" pitchFamily="34" charset="0"/>
                        </a:rPr>
                        <a:t>*****</a:t>
                      </a:r>
                      <a:endPar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c>
                  <a:txBody>
                    <a:bodyPr/>
                    <a:lstStyle/>
                    <a:p>
                      <a:pPr algn="ctr" fontAlgn="ctr"/>
                      <a:r>
                        <a:rPr lang="zh-CN" altLang="en-US" sz="800" u="none" strike="noStrike">
                          <a:latin typeface="Arial" panose="020B0604020202020204" pitchFamily="34" charset="0"/>
                          <a:ea typeface="微软雅黑" panose="020B0503020204020204" pitchFamily="34" charset="-122"/>
                          <a:sym typeface="Arial" panose="020B0604020202020204" pitchFamily="34" charset="0"/>
                        </a:rPr>
                        <a:t>人民币</a:t>
                      </a:r>
                      <a:endParaRPr lang="zh-CN" altLang="en-US" sz="800" b="0" i="0" u="none" strike="noStrike">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c>
                  <a:txBody>
                    <a:bodyPr/>
                    <a:lstStyle/>
                    <a:p>
                      <a:pPr algn="ctr" fontAlgn="ctr"/>
                      <a:r>
                        <a:rPr lang="zh-CN" altLang="en-US" sz="800" u="none" strike="noStrike" dirty="0">
                          <a:latin typeface="Arial" panose="020B0604020202020204" pitchFamily="34" charset="0"/>
                          <a:ea typeface="微软雅黑" panose="020B0503020204020204" pitchFamily="34" charset="-122"/>
                          <a:sym typeface="Arial" panose="020B0604020202020204" pitchFamily="34" charset="0"/>
                        </a:rPr>
                        <a:t>少用</a:t>
                      </a:r>
                      <a:endParaRPr lang="zh-CN" altLang="en-US"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c>
                  <a:txBody>
                    <a:bodyPr/>
                    <a:lstStyle/>
                    <a:p>
                      <a:pPr algn="ctr" fontAlgn="ctr"/>
                      <a:r>
                        <a:rPr lang="en-US" altLang="zh-CN" sz="800" u="none" strike="noStrike">
                          <a:latin typeface="Arial" panose="020B0604020202020204" pitchFamily="34" charset="0"/>
                          <a:ea typeface="微软雅黑" panose="020B0503020204020204" pitchFamily="34" charset="-122"/>
                          <a:sym typeface="Arial" panose="020B0604020202020204" pitchFamily="34" charset="0"/>
                        </a:rPr>
                        <a:t>%</a:t>
                      </a:r>
                      <a:endPar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r>
              <a:tr h="233495">
                <a:tc>
                  <a:txBody>
                    <a:bodyPr/>
                    <a:lstStyle/>
                    <a:p>
                      <a:pPr algn="ctr" fontAlgn="ctr"/>
                      <a:r>
                        <a:rPr lang="zh-CN" altLang="en-US" sz="800" b="0" i="0" u="none" strike="noStrike">
                          <a:latin typeface="Arial" panose="020B0604020202020204" pitchFamily="34" charset="0"/>
                          <a:ea typeface="微软雅黑" panose="020B0503020204020204" pitchFamily="34" charset="-122"/>
                          <a:sym typeface="Arial" panose="020B0604020202020204" pitchFamily="34" charset="0"/>
                        </a:rPr>
                        <a:t>银行</a:t>
                      </a:r>
                      <a:r>
                        <a:rPr lang="en-US" altLang="zh-CN" sz="800" b="0" i="0" u="none" strike="noStrike">
                          <a:latin typeface="Arial" panose="020B0604020202020204" pitchFamily="34" charset="0"/>
                          <a:ea typeface="微软雅黑" panose="020B0503020204020204" pitchFamily="34" charset="-122"/>
                          <a:sym typeface="Arial" panose="020B0604020202020204" pitchFamily="34" charset="0"/>
                        </a:rPr>
                        <a:t>*****</a:t>
                      </a:r>
                      <a:endPar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c>
                  <a:txBody>
                    <a:bodyPr/>
                    <a:lstStyle/>
                    <a:p>
                      <a:pPr algn="ctr" fontAlgn="ctr"/>
                      <a:r>
                        <a:rPr lang="zh-CN" altLang="en-US" sz="800" u="none" strike="noStrike">
                          <a:latin typeface="Arial" panose="020B0604020202020204" pitchFamily="34" charset="0"/>
                          <a:ea typeface="微软雅黑" panose="020B0503020204020204" pitchFamily="34" charset="-122"/>
                          <a:sym typeface="Arial" panose="020B0604020202020204" pitchFamily="34" charset="0"/>
                        </a:rPr>
                        <a:t>人民币</a:t>
                      </a:r>
                      <a:endParaRPr lang="zh-CN" altLang="en-US" sz="800" b="0" i="0" u="none" strike="noStrike">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c>
                  <a:txBody>
                    <a:bodyPr/>
                    <a:lstStyle/>
                    <a:p>
                      <a:pPr algn="ctr" fontAlgn="ctr"/>
                      <a:r>
                        <a:rPr lang="zh-CN" altLang="en-US" sz="800" u="none" strike="noStrike" dirty="0">
                          <a:latin typeface="Arial" panose="020B0604020202020204" pitchFamily="34" charset="0"/>
                          <a:ea typeface="微软雅黑" panose="020B0503020204020204" pitchFamily="34" charset="-122"/>
                          <a:sym typeface="Arial" panose="020B0604020202020204" pitchFamily="34" charset="0"/>
                        </a:rPr>
                        <a:t>不用</a:t>
                      </a:r>
                      <a:endParaRPr lang="zh-CN" altLang="en-US"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c>
                  <a:txBody>
                    <a:bodyPr/>
                    <a:lstStyle/>
                    <a:p>
                      <a:pPr algn="ctr" fontAlgn="ctr"/>
                      <a:r>
                        <a:rPr lang="en-US" altLang="zh-CN" sz="800" u="none" strike="noStrike">
                          <a:latin typeface="Arial" panose="020B0604020202020204" pitchFamily="34" charset="0"/>
                          <a:ea typeface="微软雅黑" panose="020B0503020204020204" pitchFamily="34" charset="-122"/>
                          <a:sym typeface="Arial" panose="020B0604020202020204" pitchFamily="34" charset="0"/>
                        </a:rPr>
                        <a:t>%</a:t>
                      </a:r>
                      <a:endPar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r>
              <a:tr h="233495">
                <a:tc>
                  <a:txBody>
                    <a:bodyPr/>
                    <a:lstStyle/>
                    <a:p>
                      <a:pPr algn="ctr" fontAlgn="ctr"/>
                      <a:r>
                        <a:rPr lang="zh-CN" altLang="en-US" sz="800" b="0" i="0" u="none" strike="noStrike">
                          <a:latin typeface="Arial" panose="020B0604020202020204" pitchFamily="34" charset="0"/>
                          <a:ea typeface="微软雅黑" panose="020B0503020204020204" pitchFamily="34" charset="-122"/>
                          <a:sym typeface="Arial" panose="020B0604020202020204" pitchFamily="34" charset="0"/>
                        </a:rPr>
                        <a:t>银行</a:t>
                      </a:r>
                      <a:r>
                        <a:rPr lang="en-US" altLang="zh-CN" sz="800" b="0" i="0" u="none" strike="noStrike">
                          <a:latin typeface="Arial" panose="020B0604020202020204" pitchFamily="34" charset="0"/>
                          <a:ea typeface="微软雅黑" panose="020B0503020204020204" pitchFamily="34" charset="-122"/>
                          <a:sym typeface="Arial" panose="020B0604020202020204" pitchFamily="34" charset="0"/>
                        </a:rPr>
                        <a:t>*****</a:t>
                      </a:r>
                      <a:endPar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c>
                  <a:txBody>
                    <a:bodyPr/>
                    <a:lstStyle/>
                    <a:p>
                      <a:pPr algn="ctr" fontAlgn="ctr"/>
                      <a:r>
                        <a:rPr lang="zh-CN" altLang="en-US" sz="800" u="none" strike="noStrike">
                          <a:latin typeface="Arial" panose="020B0604020202020204" pitchFamily="34" charset="0"/>
                          <a:ea typeface="微软雅黑" panose="020B0503020204020204" pitchFamily="34" charset="-122"/>
                          <a:sym typeface="Arial" panose="020B0604020202020204" pitchFamily="34" charset="0"/>
                        </a:rPr>
                        <a:t>人民币</a:t>
                      </a:r>
                      <a:endParaRPr lang="zh-CN" altLang="en-US" sz="800" b="0" i="0" u="none" strike="noStrike">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c>
                  <a:txBody>
                    <a:bodyPr/>
                    <a:lstStyle/>
                    <a:p>
                      <a:pPr algn="ctr" fontAlgn="ctr"/>
                      <a:r>
                        <a:rPr lang="zh-CN" altLang="en-US" sz="800" u="none" strike="noStrike" dirty="0">
                          <a:solidFill>
                            <a:schemeClr val="tx1"/>
                          </a:solidFill>
                          <a:latin typeface="Arial" panose="020B0604020202020204" pitchFamily="34" charset="0"/>
                          <a:ea typeface="微软雅黑" panose="020B0503020204020204" pitchFamily="34" charset="-122"/>
                          <a:sym typeface="Arial" panose="020B0604020202020204" pitchFamily="34" charset="0"/>
                        </a:rPr>
                        <a:t>不用</a:t>
                      </a:r>
                      <a:endParaRPr lang="zh-CN" altLang="en-US" sz="800" b="0" i="0" u="none" strike="noStrike" dirty="0">
                        <a:solidFill>
                          <a:schemeClr val="tx1"/>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c>
                  <a:txBody>
                    <a:bodyPr/>
                    <a:lstStyle/>
                    <a:p>
                      <a:pPr algn="ctr" fontAlgn="ctr"/>
                      <a:r>
                        <a:rPr lang="en-US" altLang="zh-CN" sz="800" u="none" strike="noStrike">
                          <a:latin typeface="Arial" panose="020B0604020202020204" pitchFamily="34" charset="0"/>
                          <a:ea typeface="微软雅黑" panose="020B0503020204020204" pitchFamily="34" charset="-122"/>
                          <a:sym typeface="Arial" panose="020B0604020202020204" pitchFamily="34" charset="0"/>
                        </a:rPr>
                        <a:t>%</a:t>
                      </a:r>
                      <a:endPar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r>
              <a:tr h="233495">
                <a:tc>
                  <a:txBody>
                    <a:bodyPr/>
                    <a:lstStyle/>
                    <a:p>
                      <a:pPr algn="ctr" fontAlgn="ctr"/>
                      <a:r>
                        <a:rPr lang="zh-CN" altLang="en-US" sz="800" b="0" i="0" u="none" strike="noStrike">
                          <a:latin typeface="Arial" panose="020B0604020202020204" pitchFamily="34" charset="0"/>
                          <a:ea typeface="微软雅黑" panose="020B0503020204020204" pitchFamily="34" charset="-122"/>
                          <a:sym typeface="Arial" panose="020B0604020202020204" pitchFamily="34" charset="0"/>
                        </a:rPr>
                        <a:t>银行</a:t>
                      </a:r>
                      <a:r>
                        <a:rPr lang="en-US" altLang="zh-CN" sz="800" b="0" i="0" u="none" strike="noStrike">
                          <a:latin typeface="Arial" panose="020B0604020202020204" pitchFamily="34" charset="0"/>
                          <a:ea typeface="微软雅黑" panose="020B0503020204020204" pitchFamily="34" charset="-122"/>
                          <a:sym typeface="Arial" panose="020B0604020202020204" pitchFamily="34" charset="0"/>
                        </a:rPr>
                        <a:t>*****</a:t>
                      </a:r>
                      <a:endPar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c>
                  <a:txBody>
                    <a:bodyPr/>
                    <a:lstStyle/>
                    <a:p>
                      <a:pPr algn="ctr" fontAlgn="ctr"/>
                      <a:r>
                        <a:rPr lang="zh-CN" altLang="en-US" sz="800" u="none" strike="noStrike" dirty="0">
                          <a:solidFill>
                            <a:srgbClr val="FF0000"/>
                          </a:solidFill>
                          <a:latin typeface="Arial" panose="020B0604020202020204" pitchFamily="34" charset="0"/>
                          <a:ea typeface="微软雅黑" panose="020B0503020204020204" pitchFamily="34" charset="-122"/>
                          <a:sym typeface="Arial" panose="020B0604020202020204" pitchFamily="34" charset="0"/>
                        </a:rPr>
                        <a:t>美元</a:t>
                      </a:r>
                      <a:endParaRPr lang="zh-CN" altLang="en-US" sz="800" b="0" i="0" u="none" strike="noStrike" dirty="0">
                        <a:solidFill>
                          <a:srgbClr val="FF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c>
                  <a:txBody>
                    <a:bodyPr/>
                    <a:lstStyle/>
                    <a:p>
                      <a:pPr algn="ctr" fontAlgn="ctr"/>
                      <a:r>
                        <a:rPr lang="zh-CN" altLang="en-US" sz="800" u="none" strike="noStrike" dirty="0">
                          <a:solidFill>
                            <a:schemeClr val="tx1"/>
                          </a:solidFill>
                          <a:latin typeface="Arial" panose="020B0604020202020204" pitchFamily="34" charset="0"/>
                          <a:ea typeface="微软雅黑" panose="020B0503020204020204" pitchFamily="34" charset="-122"/>
                          <a:sym typeface="Arial" panose="020B0604020202020204" pitchFamily="34" charset="0"/>
                        </a:rPr>
                        <a:t>不用</a:t>
                      </a:r>
                      <a:endParaRPr lang="zh-CN" altLang="en-US" sz="800" b="0" i="0" u="none" strike="noStrike" dirty="0">
                        <a:solidFill>
                          <a:schemeClr val="tx1"/>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c>
                  <a:txBody>
                    <a:bodyPr/>
                    <a:lstStyle/>
                    <a:p>
                      <a:pPr algn="ctr" fontAlgn="ctr"/>
                      <a:r>
                        <a:rPr lang="en-US" altLang="zh-CN" sz="800" u="none" strike="noStrike">
                          <a:latin typeface="Arial" panose="020B0604020202020204" pitchFamily="34" charset="0"/>
                          <a:ea typeface="微软雅黑" panose="020B0503020204020204" pitchFamily="34" charset="-122"/>
                          <a:sym typeface="Arial" panose="020B0604020202020204" pitchFamily="34" charset="0"/>
                        </a:rPr>
                        <a:t>%</a:t>
                      </a:r>
                      <a:endPar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r>
              <a:tr h="233495">
                <a:tc>
                  <a:txBody>
                    <a:bodyPr/>
                    <a:lstStyle/>
                    <a:p>
                      <a:pPr algn="ctr" fontAlgn="ctr"/>
                      <a:r>
                        <a:rPr lang="zh-CN" altLang="en-US" sz="800" b="0" i="0" u="none" strike="noStrike" dirty="0">
                          <a:latin typeface="Arial" panose="020B0604020202020204" pitchFamily="34" charset="0"/>
                          <a:ea typeface="微软雅黑" panose="020B0503020204020204" pitchFamily="34" charset="-122"/>
                          <a:sym typeface="Arial" panose="020B0604020202020204" pitchFamily="34" charset="0"/>
                        </a:rPr>
                        <a:t>银行</a:t>
                      </a:r>
                      <a:r>
                        <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rPr>
                        <a:t>*****</a:t>
                      </a:r>
                    </a:p>
                  </a:txBody>
                  <a:tcPr marL="7144" marR="7144" marT="7144" marB="0" anchor="ctr"/>
                </a:tc>
                <a:tc>
                  <a:txBody>
                    <a:bodyPr/>
                    <a:lstStyle/>
                    <a:p>
                      <a:pPr algn="ctr" fontAlgn="ctr"/>
                      <a:r>
                        <a:rPr lang="zh-CN" altLang="en-US" sz="800" u="none" strike="noStrike" dirty="0">
                          <a:solidFill>
                            <a:srgbClr val="FF0000"/>
                          </a:solidFill>
                          <a:latin typeface="Arial" panose="020B0604020202020204" pitchFamily="34" charset="0"/>
                          <a:ea typeface="微软雅黑" panose="020B0503020204020204" pitchFamily="34" charset="-122"/>
                          <a:sym typeface="Arial" panose="020B0604020202020204" pitchFamily="34" charset="0"/>
                        </a:rPr>
                        <a:t>港币</a:t>
                      </a:r>
                      <a:endParaRPr lang="zh-CN" altLang="en-US" sz="800" b="0" i="0" u="none" strike="noStrike" dirty="0">
                        <a:solidFill>
                          <a:srgbClr val="FF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c>
                  <a:txBody>
                    <a:bodyPr/>
                    <a:lstStyle/>
                    <a:p>
                      <a:pPr algn="ctr" fontAlgn="ctr"/>
                      <a:r>
                        <a:rPr lang="zh-CN" altLang="en-US" sz="800" u="none" strike="noStrike" dirty="0">
                          <a:solidFill>
                            <a:schemeClr val="tx1"/>
                          </a:solidFill>
                          <a:latin typeface="Arial" panose="020B0604020202020204" pitchFamily="34" charset="0"/>
                          <a:ea typeface="微软雅黑" panose="020B0503020204020204" pitchFamily="34" charset="-122"/>
                          <a:sym typeface="Arial" panose="020B0604020202020204" pitchFamily="34" charset="0"/>
                        </a:rPr>
                        <a:t>不用</a:t>
                      </a:r>
                      <a:endParaRPr lang="zh-CN" altLang="en-US" sz="800" b="0" i="0" u="none" strike="noStrike" dirty="0">
                        <a:solidFill>
                          <a:schemeClr val="tx1"/>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c>
                  <a:txBody>
                    <a:bodyPr/>
                    <a:lstStyle/>
                    <a:p>
                      <a:pPr algn="ctr" fontAlgn="ctr"/>
                      <a:r>
                        <a:rPr lang="en-US" altLang="zh-CN" sz="800" u="none" strike="noStrike" dirty="0">
                          <a:latin typeface="Arial" panose="020B0604020202020204" pitchFamily="34" charset="0"/>
                          <a:ea typeface="微软雅黑" panose="020B0503020204020204" pitchFamily="34" charset="-122"/>
                          <a:sym typeface="Arial" panose="020B0604020202020204" pitchFamily="34" charset="0"/>
                        </a:rPr>
                        <a:t>%</a:t>
                      </a:r>
                      <a:endPar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r>
            </a:tbl>
          </a:graphicData>
        </a:graphic>
      </p:graphicFrame>
      <p:sp>
        <p:nvSpPr>
          <p:cNvPr id="26" name="十字星 11"/>
          <p:cNvSpPr/>
          <p:nvPr/>
        </p:nvSpPr>
        <p:spPr>
          <a:xfrm>
            <a:off x="4623627" y="3945837"/>
            <a:ext cx="162018" cy="108012"/>
          </a:xfrm>
          <a:prstGeom prst="star4">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ea typeface="微软雅黑" panose="020B0503020204020204" pitchFamily="34" charset="-122"/>
              <a:sym typeface="Arial" panose="020B0604020202020204" pitchFamily="34" charset="0"/>
            </a:endParaRPr>
          </a:p>
        </p:txBody>
      </p:sp>
      <p:sp>
        <p:nvSpPr>
          <p:cNvPr id="27" name="十字星 12"/>
          <p:cNvSpPr/>
          <p:nvPr/>
        </p:nvSpPr>
        <p:spPr>
          <a:xfrm>
            <a:off x="4623627" y="4161861"/>
            <a:ext cx="162018" cy="108012"/>
          </a:xfrm>
          <a:prstGeom prst="star4">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ea typeface="微软雅黑" panose="020B0503020204020204" pitchFamily="34" charset="-122"/>
              <a:sym typeface="Arial" panose="020B0604020202020204" pitchFamily="34" charset="0"/>
            </a:endParaRPr>
          </a:p>
        </p:txBody>
      </p:sp>
      <p:sp>
        <p:nvSpPr>
          <p:cNvPr id="28" name="十字星 13"/>
          <p:cNvSpPr/>
          <p:nvPr/>
        </p:nvSpPr>
        <p:spPr>
          <a:xfrm>
            <a:off x="4623627" y="4377885"/>
            <a:ext cx="162018" cy="108012"/>
          </a:xfrm>
          <a:prstGeom prst="star4">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ea typeface="微软雅黑" panose="020B0503020204020204" pitchFamily="34" charset="-122"/>
              <a:sym typeface="Arial" panose="020B0604020202020204" pitchFamily="34" charset="0"/>
            </a:endParaRPr>
          </a:p>
        </p:txBody>
      </p:sp>
      <p:sp>
        <p:nvSpPr>
          <p:cNvPr id="29" name="十字星 14"/>
          <p:cNvSpPr/>
          <p:nvPr/>
        </p:nvSpPr>
        <p:spPr>
          <a:xfrm>
            <a:off x="4623627" y="3675807"/>
            <a:ext cx="162018" cy="108012"/>
          </a:xfrm>
          <a:prstGeom prst="star4">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ea typeface="微软雅黑" panose="020B0503020204020204" pitchFamily="34" charset="-122"/>
              <a:sym typeface="Arial" panose="020B0604020202020204" pitchFamily="34" charset="0"/>
            </a:endParaRPr>
          </a:p>
        </p:txBody>
      </p:sp>
      <p:sp>
        <p:nvSpPr>
          <p:cNvPr id="30" name="笑脸 29"/>
          <p:cNvSpPr/>
          <p:nvPr/>
        </p:nvSpPr>
        <p:spPr>
          <a:xfrm>
            <a:off x="4625524" y="1623579"/>
            <a:ext cx="162018" cy="162018"/>
          </a:xfrm>
          <a:prstGeom prst="smileyFace">
            <a:avLst/>
          </a:prstGeom>
          <a:solidFill>
            <a:srgbClr val="92D050"/>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ea typeface="微软雅黑" panose="020B0503020204020204" pitchFamily="34" charset="-122"/>
              <a:sym typeface="Arial" panose="020B0604020202020204" pitchFamily="34" charset="0"/>
            </a:endParaRPr>
          </a:p>
        </p:txBody>
      </p:sp>
      <p:sp>
        <p:nvSpPr>
          <p:cNvPr id="31" name="笑脸 30"/>
          <p:cNvSpPr/>
          <p:nvPr/>
        </p:nvSpPr>
        <p:spPr>
          <a:xfrm>
            <a:off x="4625524" y="2811711"/>
            <a:ext cx="162018" cy="162018"/>
          </a:xfrm>
          <a:prstGeom prst="smileyFace">
            <a:avLst/>
          </a:prstGeom>
          <a:solidFill>
            <a:srgbClr val="92D050"/>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ea typeface="微软雅黑" panose="020B0503020204020204" pitchFamily="34" charset="-122"/>
              <a:sym typeface="Arial" panose="020B0604020202020204" pitchFamily="34" charset="0"/>
            </a:endParaRPr>
          </a:p>
        </p:txBody>
      </p:sp>
      <p:sp>
        <p:nvSpPr>
          <p:cNvPr id="32" name="笑脸 31"/>
          <p:cNvSpPr/>
          <p:nvPr/>
        </p:nvSpPr>
        <p:spPr>
          <a:xfrm>
            <a:off x="4625524" y="3243759"/>
            <a:ext cx="162018" cy="162018"/>
          </a:xfrm>
          <a:prstGeom prst="smileyFace">
            <a:avLst/>
          </a:prstGeom>
          <a:solidFill>
            <a:srgbClr val="92D050"/>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ea typeface="微软雅黑" panose="020B0503020204020204" pitchFamily="34" charset="-122"/>
              <a:sym typeface="Arial" panose="020B0604020202020204" pitchFamily="34" charset="0"/>
            </a:endParaRPr>
          </a:p>
        </p:txBody>
      </p:sp>
      <p:pic>
        <p:nvPicPr>
          <p:cNvPr id="14" name="图片 13"/>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flipH="1">
            <a:off x="6156176" y="2050920"/>
            <a:ext cx="3101421" cy="1928335"/>
          </a:xfrm>
          <a:prstGeom prst="rect">
            <a:avLst/>
          </a:prstGeom>
        </p:spPr>
      </p:pic>
    </p:spTree>
  </p:cSld>
  <p:clrMapOvr>
    <a:masterClrMapping/>
  </p:clrMapOvr>
  <p:transition spd="slow" advClick="0" advTm="0">
    <p:cove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txBox="1"/>
          <p:nvPr/>
        </p:nvSpPr>
        <p:spPr>
          <a:xfrm>
            <a:off x="857885" y="195109"/>
            <a:ext cx="2600960" cy="379730"/>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000" b="1" dirty="0">
                <a:solidFill>
                  <a:schemeClr val="tx1"/>
                </a:solidFill>
                <a:latin typeface="Arial" panose="020B0604020202020204" pitchFamily="34" charset="0"/>
                <a:ea typeface="微软雅黑" panose="020B0503020204020204" pitchFamily="34" charset="-122"/>
                <a:sym typeface="Arial" panose="020B0604020202020204" pitchFamily="34" charset="0"/>
              </a:rPr>
              <a:t>1.2</a:t>
            </a:r>
            <a:r>
              <a:rPr lang="zh-CN" altLang="en-US" sz="2000" b="1" dirty="0">
                <a:solidFill>
                  <a:schemeClr val="tx1"/>
                </a:solidFill>
                <a:latin typeface="Arial" panose="020B0604020202020204" pitchFamily="34" charset="0"/>
                <a:ea typeface="微软雅黑" panose="020B0503020204020204" pitchFamily="34" charset="-122"/>
                <a:sym typeface="Arial" panose="020B0604020202020204" pitchFamily="34" charset="0"/>
              </a:rPr>
              <a:t>货币资金趋势</a:t>
            </a:r>
          </a:p>
        </p:txBody>
      </p:sp>
      <p:graphicFrame>
        <p:nvGraphicFramePr>
          <p:cNvPr id="25" name="图表 24"/>
          <p:cNvGraphicFramePr/>
          <p:nvPr/>
        </p:nvGraphicFramePr>
        <p:xfrm>
          <a:off x="4211960" y="4149080"/>
          <a:ext cx="2592288" cy="2232248"/>
        </p:xfrm>
        <a:graphic>
          <a:graphicData uri="http://schemas.openxmlformats.org/drawingml/2006/chart">
            <c:chart xmlns:c="http://schemas.openxmlformats.org/drawingml/2006/chart" xmlns:r="http://schemas.openxmlformats.org/officeDocument/2006/relationships" r:id="rId3"/>
          </a:graphicData>
        </a:graphic>
      </p:graphicFrame>
      <p:sp>
        <p:nvSpPr>
          <p:cNvPr id="14" name="TextBox 8"/>
          <p:cNvSpPr txBox="1"/>
          <p:nvPr/>
        </p:nvSpPr>
        <p:spPr>
          <a:xfrm>
            <a:off x="6282604" y="1221978"/>
            <a:ext cx="972108" cy="219291"/>
          </a:xfrm>
          <a:prstGeom prst="rect">
            <a:avLst/>
          </a:prstGeom>
          <a:noFill/>
        </p:spPr>
        <p:txBody>
          <a:bodyPr wrap="square" rtlCol="0">
            <a:spAutoFit/>
          </a:bodyPr>
          <a:lstStyle/>
          <a:p>
            <a:r>
              <a:rPr lang="zh-CN" altLang="en-US" sz="825" b="1" dirty="0">
                <a:latin typeface="Arial" panose="020B0604020202020204" pitchFamily="34" charset="0"/>
                <a:ea typeface="微软雅黑" panose="020B0503020204020204" pitchFamily="34" charset="-122"/>
                <a:sym typeface="Arial" panose="020B0604020202020204" pitchFamily="34" charset="0"/>
              </a:rPr>
              <a:t>单位：万元</a:t>
            </a:r>
          </a:p>
        </p:txBody>
      </p:sp>
      <p:graphicFrame>
        <p:nvGraphicFramePr>
          <p:cNvPr id="15" name="图表 14"/>
          <p:cNvGraphicFramePr/>
          <p:nvPr/>
        </p:nvGraphicFramePr>
        <p:xfrm>
          <a:off x="1475656" y="1059959"/>
          <a:ext cx="5778642" cy="3888432"/>
        </p:xfrm>
        <a:graphic>
          <a:graphicData uri="http://schemas.openxmlformats.org/drawingml/2006/chart">
            <c:chart xmlns:c="http://schemas.openxmlformats.org/drawingml/2006/chart" xmlns:r="http://schemas.openxmlformats.org/officeDocument/2006/relationships" r:id="rId4"/>
          </a:graphicData>
        </a:graphic>
      </p:graphicFrame>
      <p:sp>
        <p:nvSpPr>
          <p:cNvPr id="16" name="TextBox 12"/>
          <p:cNvSpPr txBox="1"/>
          <p:nvPr/>
        </p:nvSpPr>
        <p:spPr>
          <a:xfrm>
            <a:off x="2267744" y="4731990"/>
            <a:ext cx="5473022" cy="300082"/>
          </a:xfrm>
          <a:prstGeom prst="rect">
            <a:avLst/>
          </a:prstGeom>
          <a:noFill/>
        </p:spPr>
        <p:txBody>
          <a:bodyPr wrap="square" rtlCol="0">
            <a:spAutoFit/>
          </a:bodyPr>
          <a:lstStyle/>
          <a:p>
            <a:r>
              <a:rPr lang="zh-CN" altLang="en-US" sz="1350" dirty="0">
                <a:latin typeface="Arial" panose="020B0604020202020204" pitchFamily="34" charset="0"/>
                <a:ea typeface="微软雅黑" panose="020B0503020204020204" pitchFamily="34" charset="-122"/>
                <a:sym typeface="Arial" panose="020B0604020202020204" pitchFamily="34" charset="0"/>
              </a:rPr>
              <a:t>分析：从收入结构对比分析看，</a:t>
            </a:r>
            <a:r>
              <a:rPr lang="en-US" altLang="zh-CN" sz="1350" dirty="0">
                <a:latin typeface="Arial" panose="020B0604020202020204" pitchFamily="34" charset="0"/>
                <a:ea typeface="微软雅黑" panose="020B0503020204020204" pitchFamily="34" charset="-122"/>
                <a:sym typeface="Arial" panose="020B0604020202020204" pitchFamily="34" charset="0"/>
              </a:rPr>
              <a:t>2017</a:t>
            </a:r>
            <a:r>
              <a:rPr lang="zh-CN" altLang="en-US" sz="1350" dirty="0">
                <a:latin typeface="Arial" panose="020B0604020202020204" pitchFamily="34" charset="0"/>
                <a:ea typeface="微软雅黑" panose="020B0503020204020204" pitchFamily="34" charset="-122"/>
                <a:sym typeface="Arial" panose="020B0604020202020204" pitchFamily="34" charset="0"/>
              </a:rPr>
              <a:t>年比较上年度有明显回落</a:t>
            </a:r>
          </a:p>
        </p:txBody>
      </p:sp>
    </p:spTree>
  </p:cSld>
  <p:clrMapOvr>
    <a:masterClrMapping/>
  </p:clrMapOvr>
  <p:transition spd="slow" advClick="0" advTm="0">
    <p:cove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1275606"/>
            <a:ext cx="9144000" cy="1814777"/>
            <a:chOff x="0" y="1651830"/>
            <a:chExt cx="9144000" cy="1814777"/>
          </a:xfrm>
        </p:grpSpPr>
        <p:sp>
          <p:nvSpPr>
            <p:cNvPr id="44" name="等腰三角形 43"/>
            <p:cNvSpPr/>
            <p:nvPr/>
          </p:nvSpPr>
          <p:spPr>
            <a:xfrm>
              <a:off x="2469921" y="1651830"/>
              <a:ext cx="825385" cy="828242"/>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100">
                <a:latin typeface="Arial" panose="020B0604020202020204" pitchFamily="34" charset="0"/>
                <a:ea typeface="微软雅黑" panose="020B0503020204020204" pitchFamily="34" charset="-122"/>
                <a:sym typeface="Arial" panose="020B0604020202020204" pitchFamily="34" charset="0"/>
              </a:endParaRPr>
            </a:p>
          </p:txBody>
        </p:sp>
        <p:sp>
          <p:nvSpPr>
            <p:cNvPr id="45" name="等腰三角形 44"/>
            <p:cNvSpPr/>
            <p:nvPr/>
          </p:nvSpPr>
          <p:spPr>
            <a:xfrm flipV="1">
              <a:off x="68682" y="2638365"/>
              <a:ext cx="825385" cy="828242"/>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100">
                <a:latin typeface="Arial" panose="020B0604020202020204" pitchFamily="34" charset="0"/>
                <a:ea typeface="微软雅黑" panose="020B0503020204020204" pitchFamily="34" charset="-122"/>
                <a:sym typeface="Arial" panose="020B0604020202020204" pitchFamily="34" charset="0"/>
              </a:endParaRPr>
            </a:p>
          </p:txBody>
        </p:sp>
        <p:sp>
          <p:nvSpPr>
            <p:cNvPr id="46" name="矩形 45"/>
            <p:cNvSpPr/>
            <p:nvPr/>
          </p:nvSpPr>
          <p:spPr>
            <a:xfrm>
              <a:off x="0" y="1846479"/>
              <a:ext cx="9144000" cy="142173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100">
                <a:latin typeface="Arial" panose="020B0604020202020204" pitchFamily="34" charset="0"/>
                <a:ea typeface="微软雅黑" panose="020B0503020204020204" pitchFamily="34" charset="-122"/>
                <a:sym typeface="Arial" panose="020B0604020202020204" pitchFamily="34" charset="0"/>
              </a:endParaRPr>
            </a:p>
          </p:txBody>
        </p:sp>
        <p:sp>
          <p:nvSpPr>
            <p:cNvPr id="47" name="平行四边形 46"/>
            <p:cNvSpPr/>
            <p:nvPr/>
          </p:nvSpPr>
          <p:spPr>
            <a:xfrm>
              <a:off x="479202" y="1652469"/>
              <a:ext cx="2406979" cy="1809759"/>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100">
                <a:latin typeface="Arial" panose="020B0604020202020204" pitchFamily="34" charset="0"/>
                <a:ea typeface="微软雅黑" panose="020B0503020204020204" pitchFamily="34" charset="-122"/>
                <a:sym typeface="Arial" panose="020B0604020202020204" pitchFamily="34" charset="0"/>
              </a:endParaRPr>
            </a:p>
          </p:txBody>
        </p:sp>
      </p:grpSp>
      <p:sp>
        <p:nvSpPr>
          <p:cNvPr id="48" name="文本框 6"/>
          <p:cNvSpPr txBox="1"/>
          <p:nvPr/>
        </p:nvSpPr>
        <p:spPr>
          <a:xfrm>
            <a:off x="1115616" y="1522317"/>
            <a:ext cx="1322150" cy="1299210"/>
          </a:xfrm>
          <a:prstGeom prst="rect">
            <a:avLst/>
          </a:prstGeom>
          <a:noFill/>
        </p:spPr>
        <p:txBody>
          <a:bodyPr wrap="square" lIns="68580" tIns="34290" rIns="68580" bIns="34290" rtlCol="0">
            <a:spAutoFit/>
          </a:bodyPr>
          <a:lstStyle/>
          <a:p>
            <a:r>
              <a:rPr lang="en-US" altLang="zh-CN" sz="8000" dirty="0">
                <a:solidFill>
                  <a:schemeClr val="bg1">
                    <a:lumMod val="95000"/>
                  </a:schemeClr>
                </a:solidFill>
                <a:latin typeface="Arial" panose="020B0604020202020204" pitchFamily="34" charset="0"/>
                <a:ea typeface="微软雅黑" panose="020B0503020204020204" pitchFamily="34" charset="-122"/>
                <a:sym typeface="Arial" panose="020B0604020202020204" pitchFamily="34" charset="0"/>
              </a:rPr>
              <a:t>04</a:t>
            </a:r>
            <a:endParaRPr lang="zh-CN" altLang="en-US" sz="8000" dirty="0">
              <a:solidFill>
                <a:schemeClr val="bg1">
                  <a:lumMod val="9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49" name="TextBox 48"/>
          <p:cNvSpPr txBox="1"/>
          <p:nvPr/>
        </p:nvSpPr>
        <p:spPr>
          <a:xfrm>
            <a:off x="3313904" y="1914680"/>
            <a:ext cx="5050408" cy="561692"/>
          </a:xfrm>
          <a:prstGeom prst="rect">
            <a:avLst/>
          </a:prstGeom>
          <a:noFill/>
        </p:spPr>
        <p:txBody>
          <a:bodyPr wrap="square" lIns="68583" tIns="34290" rIns="68583" bIns="34290" rtlCol="0">
            <a:spAutoFit/>
          </a:bodyPr>
          <a:lstStyle/>
          <a:p>
            <a:r>
              <a:rPr lang="zh-CN" altLang="en-US" sz="3200" b="1"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费用分析</a:t>
            </a:r>
          </a:p>
        </p:txBody>
      </p:sp>
      <p:grpSp>
        <p:nvGrpSpPr>
          <p:cNvPr id="7" name="PA-组合 6"/>
          <p:cNvGrpSpPr/>
          <p:nvPr>
            <p:custDataLst>
              <p:tags r:id="rId1"/>
            </p:custDataLst>
          </p:nvPr>
        </p:nvGrpSpPr>
        <p:grpSpPr>
          <a:xfrm>
            <a:off x="5940152" y="898596"/>
            <a:ext cx="432048" cy="432834"/>
            <a:chOff x="6084168" y="1274820"/>
            <a:chExt cx="432048" cy="432834"/>
          </a:xfrm>
        </p:grpSpPr>
        <p:sp>
          <p:nvSpPr>
            <p:cNvPr id="14" name="PA-椭圆 22"/>
            <p:cNvSpPr>
              <a:spLocks noChangeArrowheads="1"/>
            </p:cNvSpPr>
            <p:nvPr>
              <p:custDataLst>
                <p:tags r:id="rId14"/>
              </p:custDataLst>
            </p:nvPr>
          </p:nvSpPr>
          <p:spPr bwMode="auto">
            <a:xfrm>
              <a:off x="6084168" y="1274820"/>
              <a:ext cx="432048" cy="432834"/>
            </a:xfrm>
            <a:prstGeom prst="ellipse">
              <a:avLst/>
            </a:prstGeom>
            <a:solidFill>
              <a:schemeClr val="accent1"/>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00">
                <a:solidFill>
                  <a:srgbClr val="FFFFFF"/>
                </a:solidFill>
                <a:ea typeface="微软雅黑" panose="020B0503020204020204" pitchFamily="34" charset="-122"/>
                <a:sym typeface="Arial" panose="020B0604020202020204" pitchFamily="34" charset="0"/>
              </a:endParaRPr>
            </a:p>
          </p:txBody>
        </p:sp>
        <p:sp>
          <p:nvSpPr>
            <p:cNvPr id="19" name="PA-任意多边形 59"/>
            <p:cNvSpPr>
              <a:spLocks noChangeArrowheads="1"/>
            </p:cNvSpPr>
            <p:nvPr>
              <p:custDataLst>
                <p:tags r:id="rId15"/>
              </p:custDataLst>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sz="100">
                <a:latin typeface="Arial" panose="020B0604020202020204" pitchFamily="34" charset="0"/>
                <a:ea typeface="微软雅黑" panose="020B0503020204020204" pitchFamily="34" charset="-122"/>
                <a:sym typeface="Arial" panose="020B0604020202020204" pitchFamily="34" charset="0"/>
              </a:endParaRPr>
            </a:p>
          </p:txBody>
        </p:sp>
      </p:grpSp>
      <p:grpSp>
        <p:nvGrpSpPr>
          <p:cNvPr id="6" name="PA-组合 5"/>
          <p:cNvGrpSpPr/>
          <p:nvPr>
            <p:custDataLst>
              <p:tags r:id="rId2"/>
            </p:custDataLst>
          </p:nvPr>
        </p:nvGrpSpPr>
        <p:grpSpPr>
          <a:xfrm>
            <a:off x="4644008" y="898989"/>
            <a:ext cx="432048" cy="432048"/>
            <a:chOff x="4788024" y="1275213"/>
            <a:chExt cx="432048" cy="432048"/>
          </a:xfrm>
        </p:grpSpPr>
        <p:sp>
          <p:nvSpPr>
            <p:cNvPr id="17" name="PA-椭圆 65"/>
            <p:cNvSpPr>
              <a:spLocks noChangeArrowheads="1"/>
            </p:cNvSpPr>
            <p:nvPr>
              <p:custDataLst>
                <p:tags r:id="rId12"/>
              </p:custDataLst>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00">
                <a:solidFill>
                  <a:srgbClr val="FFFFFF"/>
                </a:solidFill>
                <a:ea typeface="微软雅黑" panose="020B0503020204020204" pitchFamily="34" charset="-122"/>
                <a:sym typeface="Arial" panose="020B0604020202020204" pitchFamily="34" charset="0"/>
              </a:endParaRPr>
            </a:p>
          </p:txBody>
        </p:sp>
        <p:sp>
          <p:nvSpPr>
            <p:cNvPr id="20" name="PA-任意多边形 110"/>
            <p:cNvSpPr>
              <a:spLocks noChangeArrowheads="1"/>
            </p:cNvSpPr>
            <p:nvPr>
              <p:custDataLst>
                <p:tags r:id="rId13"/>
              </p:custDataLst>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sz="100">
                <a:latin typeface="Arial" panose="020B0604020202020204" pitchFamily="34" charset="0"/>
                <a:ea typeface="微软雅黑" panose="020B0503020204020204" pitchFamily="34" charset="-122"/>
                <a:sym typeface="Arial" panose="020B0604020202020204" pitchFamily="34" charset="0"/>
              </a:endParaRPr>
            </a:p>
          </p:txBody>
        </p:sp>
      </p:grpSp>
      <p:grpSp>
        <p:nvGrpSpPr>
          <p:cNvPr id="9" name="PA-组合 8"/>
          <p:cNvGrpSpPr/>
          <p:nvPr>
            <p:custDataLst>
              <p:tags r:id="rId3"/>
            </p:custDataLst>
          </p:nvPr>
        </p:nvGrpSpPr>
        <p:grpSpPr>
          <a:xfrm>
            <a:off x="5292080" y="898596"/>
            <a:ext cx="432833" cy="432834"/>
            <a:chOff x="5436096" y="1274820"/>
            <a:chExt cx="432833" cy="432834"/>
          </a:xfrm>
        </p:grpSpPr>
        <p:sp>
          <p:nvSpPr>
            <p:cNvPr id="25" name="PA-椭圆 16"/>
            <p:cNvSpPr>
              <a:spLocks noChangeArrowheads="1"/>
            </p:cNvSpPr>
            <p:nvPr>
              <p:custDataLst>
                <p:tags r:id="rId10"/>
              </p:custDataLst>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00">
                <a:solidFill>
                  <a:srgbClr val="FFFFFF"/>
                </a:solidFill>
                <a:ea typeface="微软雅黑" panose="020B0503020204020204" pitchFamily="34" charset="-122"/>
                <a:sym typeface="Arial" panose="020B0604020202020204" pitchFamily="34" charset="0"/>
              </a:endParaRPr>
            </a:p>
          </p:txBody>
        </p:sp>
        <p:sp>
          <p:nvSpPr>
            <p:cNvPr id="21" name="PA-任意多边形 16"/>
            <p:cNvSpPr>
              <a:spLocks noChangeArrowheads="1"/>
            </p:cNvSpPr>
            <p:nvPr>
              <p:custDataLst>
                <p:tags r:id="rId11"/>
              </p:custDataLst>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sz="100">
                <a:latin typeface="Arial" panose="020B0604020202020204" pitchFamily="34" charset="0"/>
                <a:ea typeface="微软雅黑" panose="020B0503020204020204" pitchFamily="34" charset="-122"/>
                <a:sym typeface="Arial" panose="020B0604020202020204" pitchFamily="34" charset="0"/>
              </a:endParaRPr>
            </a:p>
          </p:txBody>
        </p:sp>
      </p:grpSp>
      <p:grpSp>
        <p:nvGrpSpPr>
          <p:cNvPr id="4" name="PA-组合 3"/>
          <p:cNvGrpSpPr/>
          <p:nvPr>
            <p:custDataLst>
              <p:tags r:id="rId4"/>
            </p:custDataLst>
          </p:nvPr>
        </p:nvGrpSpPr>
        <p:grpSpPr>
          <a:xfrm>
            <a:off x="3347864" y="898596"/>
            <a:ext cx="432833" cy="432834"/>
            <a:chOff x="3491880" y="1274820"/>
            <a:chExt cx="432833" cy="432834"/>
          </a:xfrm>
        </p:grpSpPr>
        <p:sp>
          <p:nvSpPr>
            <p:cNvPr id="11" name="PA-椭圆 16"/>
            <p:cNvSpPr>
              <a:spLocks noChangeArrowheads="1"/>
            </p:cNvSpPr>
            <p:nvPr>
              <p:custDataLst>
                <p:tags r:id="rId8"/>
              </p:custDataLst>
            </p:nvPr>
          </p:nvSpPr>
          <p:spPr bwMode="auto">
            <a:xfrm>
              <a:off x="3491880" y="1274820"/>
              <a:ext cx="432833" cy="432834"/>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00">
                <a:solidFill>
                  <a:srgbClr val="FFFFFF"/>
                </a:solidFill>
                <a:ea typeface="微软雅黑" panose="020B0503020204020204" pitchFamily="34" charset="-122"/>
                <a:sym typeface="Arial" panose="020B0604020202020204" pitchFamily="34" charset="0"/>
              </a:endParaRPr>
            </a:p>
          </p:txBody>
        </p:sp>
        <p:sp>
          <p:nvSpPr>
            <p:cNvPr id="22" name="PA-任意多边形 75"/>
            <p:cNvSpPr>
              <a:spLocks noChangeArrowheads="1"/>
            </p:cNvSpPr>
            <p:nvPr>
              <p:custDataLst>
                <p:tags r:id="rId9"/>
              </p:custDataLst>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sz="100">
                <a:latin typeface="Arial" panose="020B0604020202020204" pitchFamily="34" charset="0"/>
                <a:ea typeface="微软雅黑" panose="020B0503020204020204" pitchFamily="34" charset="-122"/>
                <a:sym typeface="Arial" panose="020B0604020202020204" pitchFamily="34" charset="0"/>
              </a:endParaRPr>
            </a:p>
          </p:txBody>
        </p:sp>
      </p:grpSp>
      <p:grpSp>
        <p:nvGrpSpPr>
          <p:cNvPr id="5" name="PA-组合 4"/>
          <p:cNvGrpSpPr/>
          <p:nvPr>
            <p:custDataLst>
              <p:tags r:id="rId5"/>
            </p:custDataLst>
          </p:nvPr>
        </p:nvGrpSpPr>
        <p:grpSpPr>
          <a:xfrm>
            <a:off x="3995936" y="898596"/>
            <a:ext cx="432833" cy="432834"/>
            <a:chOff x="4139952" y="1274820"/>
            <a:chExt cx="432833" cy="432834"/>
          </a:xfrm>
        </p:grpSpPr>
        <p:sp>
          <p:nvSpPr>
            <p:cNvPr id="24" name="PA-椭圆 16"/>
            <p:cNvSpPr>
              <a:spLocks noChangeArrowheads="1"/>
            </p:cNvSpPr>
            <p:nvPr>
              <p:custDataLst>
                <p:tags r:id="rId6"/>
              </p:custDataLst>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00">
                <a:solidFill>
                  <a:srgbClr val="FFFFFF"/>
                </a:solidFill>
                <a:ea typeface="微软雅黑" panose="020B0503020204020204" pitchFamily="34" charset="-122"/>
                <a:sym typeface="Arial" panose="020B0604020202020204" pitchFamily="34" charset="0"/>
              </a:endParaRPr>
            </a:p>
          </p:txBody>
        </p:sp>
        <p:sp>
          <p:nvSpPr>
            <p:cNvPr id="23" name="PA-任意多边形 84"/>
            <p:cNvSpPr>
              <a:spLocks noChangeArrowheads="1"/>
            </p:cNvSpPr>
            <p:nvPr>
              <p:custDataLst>
                <p:tags r:id="rId7"/>
              </p:custDataLst>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sz="100">
                <a:latin typeface="Arial" panose="020B0604020202020204" pitchFamily="34" charset="0"/>
                <a:ea typeface="微软雅黑" panose="020B0503020204020204" pitchFamily="34" charset="-122"/>
                <a:sym typeface="Arial" panose="020B0604020202020204" pitchFamily="34" charset="0"/>
              </a:endParaRPr>
            </a:p>
          </p:txBody>
        </p:sp>
      </p:grpSp>
      <p:pic>
        <p:nvPicPr>
          <p:cNvPr id="26" name="图片 25"/>
          <p:cNvPicPr>
            <a:picLocks noChangeAspect="1"/>
          </p:cNvPicPr>
          <p:nvPr/>
        </p:nvPicPr>
        <p:blipFill>
          <a:blip r:embed="rId18" cstate="print">
            <a:extLst>
              <a:ext uri="{28A0092B-C50C-407E-A947-70E740481C1C}">
                <a14:useLocalDpi xmlns:a14="http://schemas.microsoft.com/office/drawing/2010/main"/>
              </a:ext>
            </a:extLst>
          </a:blip>
          <a:stretch>
            <a:fillRect/>
          </a:stretch>
        </p:blipFill>
        <p:spPr>
          <a:xfrm>
            <a:off x="3500410" y="2958806"/>
            <a:ext cx="2493351" cy="2041201"/>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advTm="0">
        <p15:prstTrans prst="airplane" invX="1"/>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2" presetClass="entr" presetSubtype="0" fill="hold" grpId="0" nodeType="afterEffect">
                                  <p:stCondLst>
                                    <p:cond delay="0"/>
                                  </p:stCondLst>
                                  <p:childTnLst>
                                    <p:set>
                                      <p:cBhvr>
                                        <p:cTn id="11" dur="1" fill="hold">
                                          <p:stCondLst>
                                            <p:cond delay="0"/>
                                          </p:stCondLst>
                                        </p:cTn>
                                        <p:tgtEl>
                                          <p:spTgt spid="48"/>
                                        </p:tgtEl>
                                        <p:attrNameLst>
                                          <p:attrName>style.visibility</p:attrName>
                                        </p:attrNameLst>
                                      </p:cBhvr>
                                      <p:to>
                                        <p:strVal val="visible"/>
                                      </p:to>
                                    </p:set>
                                    <p:animEffect transition="in" filter="fade">
                                      <p:cBhvr>
                                        <p:cTn id="12" dur="1000"/>
                                        <p:tgtEl>
                                          <p:spTgt spid="48"/>
                                        </p:tgtEl>
                                      </p:cBhvr>
                                    </p:animEffect>
                                    <p:anim calcmode="lin" valueType="num">
                                      <p:cBhvr>
                                        <p:cTn id="13" dur="1000" fill="hold"/>
                                        <p:tgtEl>
                                          <p:spTgt spid="48"/>
                                        </p:tgtEl>
                                        <p:attrNameLst>
                                          <p:attrName>ppt_x</p:attrName>
                                        </p:attrNameLst>
                                      </p:cBhvr>
                                      <p:tavLst>
                                        <p:tav tm="0">
                                          <p:val>
                                            <p:strVal val="#ppt_x"/>
                                          </p:val>
                                        </p:tav>
                                        <p:tav tm="100000">
                                          <p:val>
                                            <p:strVal val="#ppt_x"/>
                                          </p:val>
                                        </p:tav>
                                      </p:tavLst>
                                    </p:anim>
                                    <p:anim calcmode="lin" valueType="num">
                                      <p:cBhvr>
                                        <p:cTn id="14" dur="1000" fill="hold"/>
                                        <p:tgtEl>
                                          <p:spTgt spid="48"/>
                                        </p:tgtEl>
                                        <p:attrNameLst>
                                          <p:attrName>ppt_y</p:attrName>
                                        </p:attrNameLst>
                                      </p:cBhvr>
                                      <p:tavLst>
                                        <p:tav tm="0">
                                          <p:val>
                                            <p:strVal val="#ppt_y+.1"/>
                                          </p:val>
                                        </p:tav>
                                        <p:tav tm="100000">
                                          <p:val>
                                            <p:strVal val="#ppt_y"/>
                                          </p:val>
                                        </p:tav>
                                      </p:tavLst>
                                    </p:anim>
                                  </p:childTnLst>
                                </p:cTn>
                              </p:par>
                            </p:childTnLst>
                          </p:cTn>
                        </p:par>
                        <p:par>
                          <p:cTn id="15" fill="hold">
                            <p:stCondLst>
                              <p:cond delay="1500"/>
                            </p:stCondLst>
                            <p:childTnLst>
                              <p:par>
                                <p:cTn id="16" presetID="41" presetClass="entr" presetSubtype="0" fill="hold" grpId="0" nodeType="afterEffect">
                                  <p:stCondLst>
                                    <p:cond delay="0"/>
                                  </p:stCondLst>
                                  <p:iterate type="lt">
                                    <p:tmPct val="10000"/>
                                  </p:iterate>
                                  <p:childTnLst>
                                    <p:set>
                                      <p:cBhvr>
                                        <p:cTn id="17" dur="1" fill="hold">
                                          <p:stCondLst>
                                            <p:cond delay="0"/>
                                          </p:stCondLst>
                                        </p:cTn>
                                        <p:tgtEl>
                                          <p:spTgt spid="49"/>
                                        </p:tgtEl>
                                        <p:attrNameLst>
                                          <p:attrName>style.visibility</p:attrName>
                                        </p:attrNameLst>
                                      </p:cBhvr>
                                      <p:to>
                                        <p:strVal val="visible"/>
                                      </p:to>
                                    </p:set>
                                    <p:anim calcmode="lin" valueType="num">
                                      <p:cBhvr>
                                        <p:cTn id="18" dur="500" fill="hold"/>
                                        <p:tgtEl>
                                          <p:spTgt spid="49"/>
                                        </p:tgtEl>
                                        <p:attrNameLst>
                                          <p:attrName>ppt_x</p:attrName>
                                        </p:attrNameLst>
                                      </p:cBhvr>
                                      <p:tavLst>
                                        <p:tav tm="0">
                                          <p:val>
                                            <p:strVal val="#ppt_x"/>
                                          </p:val>
                                        </p:tav>
                                        <p:tav tm="50000">
                                          <p:val>
                                            <p:strVal val="#ppt_x+.1"/>
                                          </p:val>
                                        </p:tav>
                                        <p:tav tm="100000">
                                          <p:val>
                                            <p:strVal val="#ppt_x"/>
                                          </p:val>
                                        </p:tav>
                                      </p:tavLst>
                                    </p:anim>
                                    <p:anim calcmode="lin" valueType="num">
                                      <p:cBhvr>
                                        <p:cTn id="19" dur="500" fill="hold"/>
                                        <p:tgtEl>
                                          <p:spTgt spid="49"/>
                                        </p:tgtEl>
                                        <p:attrNameLst>
                                          <p:attrName>ppt_y</p:attrName>
                                        </p:attrNameLst>
                                      </p:cBhvr>
                                      <p:tavLst>
                                        <p:tav tm="0">
                                          <p:val>
                                            <p:strVal val="#ppt_y"/>
                                          </p:val>
                                        </p:tav>
                                        <p:tav tm="100000">
                                          <p:val>
                                            <p:strVal val="#ppt_y"/>
                                          </p:val>
                                        </p:tav>
                                      </p:tavLst>
                                    </p:anim>
                                    <p:anim calcmode="lin" valueType="num">
                                      <p:cBhvr>
                                        <p:cTn id="20" dur="500" fill="hold"/>
                                        <p:tgtEl>
                                          <p:spTgt spid="49"/>
                                        </p:tgtEl>
                                        <p:attrNameLst>
                                          <p:attrName>ppt_h</p:attrName>
                                        </p:attrNameLst>
                                      </p:cBhvr>
                                      <p:tavLst>
                                        <p:tav tm="0">
                                          <p:val>
                                            <p:strVal val="#ppt_h/10"/>
                                          </p:val>
                                        </p:tav>
                                        <p:tav tm="50000">
                                          <p:val>
                                            <p:strVal val="#ppt_h+.01"/>
                                          </p:val>
                                        </p:tav>
                                        <p:tav tm="100000">
                                          <p:val>
                                            <p:strVal val="#ppt_h"/>
                                          </p:val>
                                        </p:tav>
                                      </p:tavLst>
                                    </p:anim>
                                    <p:anim calcmode="lin" valueType="num">
                                      <p:cBhvr>
                                        <p:cTn id="21" dur="500" fill="hold"/>
                                        <p:tgtEl>
                                          <p:spTgt spid="49"/>
                                        </p:tgtEl>
                                        <p:attrNameLst>
                                          <p:attrName>ppt_w</p:attrName>
                                        </p:attrNameLst>
                                      </p:cBhvr>
                                      <p:tavLst>
                                        <p:tav tm="0">
                                          <p:val>
                                            <p:strVal val="#ppt_w/10"/>
                                          </p:val>
                                        </p:tav>
                                        <p:tav tm="50000">
                                          <p:val>
                                            <p:strVal val="#ppt_w+.01"/>
                                          </p:val>
                                        </p:tav>
                                        <p:tav tm="100000">
                                          <p:val>
                                            <p:strVal val="#ppt_w"/>
                                          </p:val>
                                        </p:tav>
                                      </p:tavLst>
                                    </p:anim>
                                    <p:animEffect transition="in" filter="fade">
                                      <p:cBhvr>
                                        <p:cTn id="22" dur="500" tmFilter="0,0; .5, 1; 1, 1"/>
                                        <p:tgtEl>
                                          <p:spTgt spid="49"/>
                                        </p:tgtEl>
                                      </p:cBhvr>
                                    </p:animEffect>
                                  </p:childTnLst>
                                </p:cTn>
                              </p:par>
                            </p:childTnLst>
                          </p:cTn>
                        </p:par>
                        <p:par>
                          <p:cTn id="23" fill="hold">
                            <p:stCondLst>
                              <p:cond delay="1649"/>
                            </p:stCondLst>
                            <p:childTnLst>
                              <p:par>
                                <p:cTn id="24" presetID="0" presetClass="entr" presetSubtype="0" decel="50000" fill="hold" nodeType="afterEffect">
                                  <p:stCondLst>
                                    <p:cond delay="0"/>
                                  </p:stCondLst>
                                  <p:childTnLst>
                                    <p:set>
                                      <p:cBhvr>
                                        <p:cTn id="25" dur="750" fill="hold">
                                          <p:stCondLst>
                                            <p:cond delay="0"/>
                                          </p:stCondLst>
                                        </p:cTn>
                                        <p:tgtEl>
                                          <p:spTgt spid="7"/>
                                        </p:tgtEl>
                                        <p:attrNameLst>
                                          <p:attrName>style.visibility</p:attrName>
                                        </p:attrNameLst>
                                      </p:cBhvr>
                                      <p:to>
                                        <p:strVal val="visible"/>
                                      </p:to>
                                    </p:set>
                                    <p:animScale>
                                      <p:cBhvr>
                                        <p:cTn id="26" dur="225" decel="50000" fill="hold">
                                          <p:stCondLst>
                                            <p:cond delay="0"/>
                                          </p:stCondLst>
                                        </p:cTn>
                                        <p:tgtEl>
                                          <p:spTgt spid="7"/>
                                        </p:tgtEl>
                                      </p:cBhvr>
                                      <p:from x="150000" y="150000"/>
                                      <p:to x="50000" y="50000"/>
                                    </p:animScale>
                                    <p:anim to="" calcmode="lin" valueType="num">
                                      <p:cBhvr>
                                        <p:cTn id="27" dur="225" decel="50000" fill="hold">
                                          <p:stCondLst>
                                            <p:cond delay="0"/>
                                          </p:stCondLst>
                                        </p:cTn>
                                        <p:tgtEl>
                                          <p:spTgt spid="7"/>
                                        </p:tgtEl>
                                        <p:attrNameLst>
                                          <p:attrName>ppt_x</p:attrName>
                                        </p:attrNameLst>
                                      </p:cBhvr>
                                      <p:tavLst>
                                        <p:tav tm="0">
                                          <p:val>
                                            <p:strVal val="#ppt_x-0.05"/>
                                          </p:val>
                                        </p:tav>
                                        <p:tav tm="100000">
                                          <p:val>
                                            <p:strVal val="#ppt_x+0.02"/>
                                          </p:val>
                                        </p:tav>
                                      </p:tavLst>
                                    </p:anim>
                                    <p:animScale>
                                      <p:cBhvr>
                                        <p:cTn id="28" dur="375" accel="50000" fill="hold">
                                          <p:stCondLst>
                                            <p:cond delay="225"/>
                                          </p:stCondLst>
                                        </p:cTn>
                                        <p:tgtEl>
                                          <p:spTgt spid="7"/>
                                        </p:tgtEl>
                                      </p:cBhvr>
                                      <p:from x="50000" y="50000"/>
                                      <p:to x="100000" y="100000"/>
                                    </p:animScale>
                                    <p:anim to="" calcmode="lin" valueType="num">
                                      <p:cBhvr>
                                        <p:cTn id="29" dur="375" accel="50000" fill="hold">
                                          <p:stCondLst>
                                            <p:cond delay="225"/>
                                          </p:stCondLst>
                                        </p:cTn>
                                        <p:tgtEl>
                                          <p:spTgt spid="7"/>
                                        </p:tgtEl>
                                        <p:attrNameLst>
                                          <p:attrName>ppt_x</p:attrName>
                                        </p:attrNameLst>
                                      </p:cBhvr>
                                      <p:tavLst>
                                        <p:tav tm="0">
                                          <p:val>
                                            <p:strVal val="ppt_x"/>
                                          </p:val>
                                        </p:tav>
                                        <p:tav tm="100000">
                                          <p:val>
                                            <p:strVal val="#ppt_x"/>
                                          </p:val>
                                        </p:tav>
                                      </p:tavLst>
                                    </p:anim>
                                    <p:anim to="" calcmode="lin" valueType="num">
                                      <p:cBhvr>
                                        <p:cTn id="30" dur="225" decel="50000" fill="hold">
                                          <p:stCondLst>
                                            <p:cond delay="0"/>
                                          </p:stCondLst>
                                        </p:cTn>
                                        <p:tgtEl>
                                          <p:spTgt spid="7"/>
                                        </p:tgtEl>
                                        <p:attrNameLst>
                                          <p:attrName>ppt_y</p:attrName>
                                        </p:attrNameLst>
                                      </p:cBhvr>
                                      <p:tavLst>
                                        <p:tav tm="0">
                                          <p:val>
                                            <p:strVal val="#ppt_y-0.05"/>
                                          </p:val>
                                        </p:tav>
                                        <p:tav tm="100000">
                                          <p:val>
                                            <p:strVal val="#ppt_y+0.05"/>
                                          </p:val>
                                        </p:tav>
                                      </p:tavLst>
                                    </p:anim>
                                    <p:anim to="" calcmode="lin" valueType="num">
                                      <p:cBhvr>
                                        <p:cTn id="31" dur="375" accel="50000" fill="hold">
                                          <p:stCondLst>
                                            <p:cond delay="225"/>
                                          </p:stCondLst>
                                        </p:cTn>
                                        <p:tgtEl>
                                          <p:spTgt spid="7"/>
                                        </p:tgtEl>
                                        <p:attrNameLst>
                                          <p:attrName>ppt_y</p:attrName>
                                        </p:attrNameLst>
                                      </p:cBhvr>
                                      <p:tavLst>
                                        <p:tav tm="0">
                                          <p:val>
                                            <p:strVal val="ppt_y"/>
                                          </p:val>
                                        </p:tav>
                                        <p:tav tm="100000">
                                          <p:val>
                                            <p:strVal val="#ppt_y"/>
                                          </p:val>
                                        </p:tav>
                                      </p:tavLst>
                                    </p:anim>
                                    <p:animRot by="21600000">
                                      <p:cBhvr>
                                        <p:cTn id="32" dur="750" decel="50000" fill="hold">
                                          <p:stCondLst>
                                            <p:cond delay="0"/>
                                          </p:stCondLst>
                                        </p:cTn>
                                        <p:tgtEl>
                                          <p:spTgt spid="7"/>
                                        </p:tgtEl>
                                        <p:attrNameLst>
                                          <p:attrName>r</p:attrName>
                                        </p:attrNameLst>
                                      </p:cBhvr>
                                    </p:animRot>
                                    <p:animRot by="21600000">
                                      <p:cBhvr>
                                        <p:cTn id="33" dur="375" accel="50000" fill="hold">
                                          <p:stCondLst>
                                            <p:cond delay="225"/>
                                          </p:stCondLst>
                                        </p:cTn>
                                        <p:tgtEl>
                                          <p:spTgt spid="7"/>
                                        </p:tgtEl>
                                        <p:attrNameLst>
                                          <p:attrName>r</p:attrName>
                                        </p:attrNameLst>
                                      </p:cBhvr>
                                    </p:animRot>
                                    <p:animEffect filter="fade">
                                      <p:cBhvr>
                                        <p:cTn id="34" dur="225">
                                          <p:stCondLst>
                                            <p:cond delay="0"/>
                                          </p:stCondLst>
                                        </p:cTn>
                                        <p:tgtEl>
                                          <p:spTgt spid="7"/>
                                        </p:tgtEl>
                                      </p:cBhvr>
                                    </p:animEffect>
                                  </p:childTnLst>
                                </p:cTn>
                              </p:par>
                              <p:par>
                                <p:cTn id="35" presetID="0" presetClass="entr" presetSubtype="0" decel="50000" fill="hold" nodeType="withEffect">
                                  <p:stCondLst>
                                    <p:cond delay="0"/>
                                  </p:stCondLst>
                                  <p:childTnLst>
                                    <p:set>
                                      <p:cBhvr>
                                        <p:cTn id="36" dur="750" fill="hold">
                                          <p:stCondLst>
                                            <p:cond delay="0"/>
                                          </p:stCondLst>
                                        </p:cTn>
                                        <p:tgtEl>
                                          <p:spTgt spid="6"/>
                                        </p:tgtEl>
                                        <p:attrNameLst>
                                          <p:attrName>style.visibility</p:attrName>
                                        </p:attrNameLst>
                                      </p:cBhvr>
                                      <p:to>
                                        <p:strVal val="visible"/>
                                      </p:to>
                                    </p:set>
                                    <p:animScale>
                                      <p:cBhvr>
                                        <p:cTn id="37" dur="225" decel="50000" fill="hold">
                                          <p:stCondLst>
                                            <p:cond delay="0"/>
                                          </p:stCondLst>
                                        </p:cTn>
                                        <p:tgtEl>
                                          <p:spTgt spid="6"/>
                                        </p:tgtEl>
                                      </p:cBhvr>
                                      <p:from x="150000" y="150000"/>
                                      <p:to x="50000" y="50000"/>
                                    </p:animScale>
                                    <p:anim to="" calcmode="lin" valueType="num">
                                      <p:cBhvr>
                                        <p:cTn id="38" dur="225" decel="50000" fill="hold">
                                          <p:stCondLst>
                                            <p:cond delay="0"/>
                                          </p:stCondLst>
                                        </p:cTn>
                                        <p:tgtEl>
                                          <p:spTgt spid="6"/>
                                        </p:tgtEl>
                                        <p:attrNameLst>
                                          <p:attrName>ppt_x</p:attrName>
                                        </p:attrNameLst>
                                      </p:cBhvr>
                                      <p:tavLst>
                                        <p:tav tm="0">
                                          <p:val>
                                            <p:strVal val="#ppt_x-0.05"/>
                                          </p:val>
                                        </p:tav>
                                        <p:tav tm="100000">
                                          <p:val>
                                            <p:strVal val="#ppt_x+0.02"/>
                                          </p:val>
                                        </p:tav>
                                      </p:tavLst>
                                    </p:anim>
                                    <p:animScale>
                                      <p:cBhvr>
                                        <p:cTn id="39" dur="375" accel="50000" fill="hold">
                                          <p:stCondLst>
                                            <p:cond delay="225"/>
                                          </p:stCondLst>
                                        </p:cTn>
                                        <p:tgtEl>
                                          <p:spTgt spid="6"/>
                                        </p:tgtEl>
                                      </p:cBhvr>
                                      <p:from x="50000" y="50000"/>
                                      <p:to x="100000" y="100000"/>
                                    </p:animScale>
                                    <p:anim to="" calcmode="lin" valueType="num">
                                      <p:cBhvr>
                                        <p:cTn id="40" dur="375" accel="50000" fill="hold">
                                          <p:stCondLst>
                                            <p:cond delay="225"/>
                                          </p:stCondLst>
                                        </p:cTn>
                                        <p:tgtEl>
                                          <p:spTgt spid="6"/>
                                        </p:tgtEl>
                                        <p:attrNameLst>
                                          <p:attrName>ppt_x</p:attrName>
                                        </p:attrNameLst>
                                      </p:cBhvr>
                                      <p:tavLst>
                                        <p:tav tm="0">
                                          <p:val>
                                            <p:strVal val="ppt_x"/>
                                          </p:val>
                                        </p:tav>
                                        <p:tav tm="100000">
                                          <p:val>
                                            <p:strVal val="#ppt_x"/>
                                          </p:val>
                                        </p:tav>
                                      </p:tavLst>
                                    </p:anim>
                                    <p:anim to="" calcmode="lin" valueType="num">
                                      <p:cBhvr>
                                        <p:cTn id="41" dur="225" decel="50000" fill="hold">
                                          <p:stCondLst>
                                            <p:cond delay="0"/>
                                          </p:stCondLst>
                                        </p:cTn>
                                        <p:tgtEl>
                                          <p:spTgt spid="6"/>
                                        </p:tgtEl>
                                        <p:attrNameLst>
                                          <p:attrName>ppt_y</p:attrName>
                                        </p:attrNameLst>
                                      </p:cBhvr>
                                      <p:tavLst>
                                        <p:tav tm="0">
                                          <p:val>
                                            <p:strVal val="#ppt_y-0.05"/>
                                          </p:val>
                                        </p:tav>
                                        <p:tav tm="100000">
                                          <p:val>
                                            <p:strVal val="#ppt_y+0.05"/>
                                          </p:val>
                                        </p:tav>
                                      </p:tavLst>
                                    </p:anim>
                                    <p:anim to="" calcmode="lin" valueType="num">
                                      <p:cBhvr>
                                        <p:cTn id="42" dur="375" accel="50000" fill="hold">
                                          <p:stCondLst>
                                            <p:cond delay="225"/>
                                          </p:stCondLst>
                                        </p:cTn>
                                        <p:tgtEl>
                                          <p:spTgt spid="6"/>
                                        </p:tgtEl>
                                        <p:attrNameLst>
                                          <p:attrName>ppt_y</p:attrName>
                                        </p:attrNameLst>
                                      </p:cBhvr>
                                      <p:tavLst>
                                        <p:tav tm="0">
                                          <p:val>
                                            <p:strVal val="ppt_y"/>
                                          </p:val>
                                        </p:tav>
                                        <p:tav tm="100000">
                                          <p:val>
                                            <p:strVal val="#ppt_y"/>
                                          </p:val>
                                        </p:tav>
                                      </p:tavLst>
                                    </p:anim>
                                    <p:animRot by="21600000">
                                      <p:cBhvr>
                                        <p:cTn id="43" dur="750" decel="50000" fill="hold">
                                          <p:stCondLst>
                                            <p:cond delay="0"/>
                                          </p:stCondLst>
                                        </p:cTn>
                                        <p:tgtEl>
                                          <p:spTgt spid="6"/>
                                        </p:tgtEl>
                                        <p:attrNameLst>
                                          <p:attrName>r</p:attrName>
                                        </p:attrNameLst>
                                      </p:cBhvr>
                                    </p:animRot>
                                    <p:animRot by="21600000">
                                      <p:cBhvr>
                                        <p:cTn id="44" dur="375" accel="50000" fill="hold">
                                          <p:stCondLst>
                                            <p:cond delay="225"/>
                                          </p:stCondLst>
                                        </p:cTn>
                                        <p:tgtEl>
                                          <p:spTgt spid="6"/>
                                        </p:tgtEl>
                                        <p:attrNameLst>
                                          <p:attrName>r</p:attrName>
                                        </p:attrNameLst>
                                      </p:cBhvr>
                                    </p:animRot>
                                    <p:animEffect filter="fade">
                                      <p:cBhvr>
                                        <p:cTn id="45" dur="225">
                                          <p:stCondLst>
                                            <p:cond delay="0"/>
                                          </p:stCondLst>
                                        </p:cTn>
                                        <p:tgtEl>
                                          <p:spTgt spid="6"/>
                                        </p:tgtEl>
                                      </p:cBhvr>
                                    </p:animEffect>
                                  </p:childTnLst>
                                </p:cTn>
                              </p:par>
                              <p:par>
                                <p:cTn id="46" presetID="0" presetClass="entr" presetSubtype="0" decel="50000" fill="hold" nodeType="withEffect">
                                  <p:stCondLst>
                                    <p:cond delay="0"/>
                                  </p:stCondLst>
                                  <p:childTnLst>
                                    <p:set>
                                      <p:cBhvr>
                                        <p:cTn id="47" dur="750" fill="hold">
                                          <p:stCondLst>
                                            <p:cond delay="0"/>
                                          </p:stCondLst>
                                        </p:cTn>
                                        <p:tgtEl>
                                          <p:spTgt spid="9"/>
                                        </p:tgtEl>
                                        <p:attrNameLst>
                                          <p:attrName>style.visibility</p:attrName>
                                        </p:attrNameLst>
                                      </p:cBhvr>
                                      <p:to>
                                        <p:strVal val="visible"/>
                                      </p:to>
                                    </p:set>
                                    <p:animScale>
                                      <p:cBhvr>
                                        <p:cTn id="48" dur="225" decel="50000" fill="hold">
                                          <p:stCondLst>
                                            <p:cond delay="0"/>
                                          </p:stCondLst>
                                        </p:cTn>
                                        <p:tgtEl>
                                          <p:spTgt spid="9"/>
                                        </p:tgtEl>
                                      </p:cBhvr>
                                      <p:from x="150000" y="150000"/>
                                      <p:to x="50000" y="50000"/>
                                    </p:animScale>
                                    <p:anim to="" calcmode="lin" valueType="num">
                                      <p:cBhvr>
                                        <p:cTn id="49" dur="225" decel="50000" fill="hold">
                                          <p:stCondLst>
                                            <p:cond delay="0"/>
                                          </p:stCondLst>
                                        </p:cTn>
                                        <p:tgtEl>
                                          <p:spTgt spid="9"/>
                                        </p:tgtEl>
                                        <p:attrNameLst>
                                          <p:attrName>ppt_x</p:attrName>
                                        </p:attrNameLst>
                                      </p:cBhvr>
                                      <p:tavLst>
                                        <p:tav tm="0">
                                          <p:val>
                                            <p:strVal val="#ppt_x-0.05"/>
                                          </p:val>
                                        </p:tav>
                                        <p:tav tm="100000">
                                          <p:val>
                                            <p:strVal val="#ppt_x+0.02"/>
                                          </p:val>
                                        </p:tav>
                                      </p:tavLst>
                                    </p:anim>
                                    <p:animScale>
                                      <p:cBhvr>
                                        <p:cTn id="50" dur="375" accel="50000" fill="hold">
                                          <p:stCondLst>
                                            <p:cond delay="225"/>
                                          </p:stCondLst>
                                        </p:cTn>
                                        <p:tgtEl>
                                          <p:spTgt spid="9"/>
                                        </p:tgtEl>
                                      </p:cBhvr>
                                      <p:from x="50000" y="50000"/>
                                      <p:to x="100000" y="100000"/>
                                    </p:animScale>
                                    <p:anim to="" calcmode="lin" valueType="num">
                                      <p:cBhvr>
                                        <p:cTn id="51" dur="375" accel="50000" fill="hold">
                                          <p:stCondLst>
                                            <p:cond delay="225"/>
                                          </p:stCondLst>
                                        </p:cTn>
                                        <p:tgtEl>
                                          <p:spTgt spid="9"/>
                                        </p:tgtEl>
                                        <p:attrNameLst>
                                          <p:attrName>ppt_x</p:attrName>
                                        </p:attrNameLst>
                                      </p:cBhvr>
                                      <p:tavLst>
                                        <p:tav tm="0">
                                          <p:val>
                                            <p:strVal val="ppt_x"/>
                                          </p:val>
                                        </p:tav>
                                        <p:tav tm="100000">
                                          <p:val>
                                            <p:strVal val="#ppt_x"/>
                                          </p:val>
                                        </p:tav>
                                      </p:tavLst>
                                    </p:anim>
                                    <p:anim to="" calcmode="lin" valueType="num">
                                      <p:cBhvr>
                                        <p:cTn id="52" dur="225" decel="50000" fill="hold">
                                          <p:stCondLst>
                                            <p:cond delay="0"/>
                                          </p:stCondLst>
                                        </p:cTn>
                                        <p:tgtEl>
                                          <p:spTgt spid="9"/>
                                        </p:tgtEl>
                                        <p:attrNameLst>
                                          <p:attrName>ppt_y</p:attrName>
                                        </p:attrNameLst>
                                      </p:cBhvr>
                                      <p:tavLst>
                                        <p:tav tm="0">
                                          <p:val>
                                            <p:strVal val="#ppt_y-0.05"/>
                                          </p:val>
                                        </p:tav>
                                        <p:tav tm="100000">
                                          <p:val>
                                            <p:strVal val="#ppt_y+0.05"/>
                                          </p:val>
                                        </p:tav>
                                      </p:tavLst>
                                    </p:anim>
                                    <p:anim to="" calcmode="lin" valueType="num">
                                      <p:cBhvr>
                                        <p:cTn id="53" dur="375" accel="50000" fill="hold">
                                          <p:stCondLst>
                                            <p:cond delay="225"/>
                                          </p:stCondLst>
                                        </p:cTn>
                                        <p:tgtEl>
                                          <p:spTgt spid="9"/>
                                        </p:tgtEl>
                                        <p:attrNameLst>
                                          <p:attrName>ppt_y</p:attrName>
                                        </p:attrNameLst>
                                      </p:cBhvr>
                                      <p:tavLst>
                                        <p:tav tm="0">
                                          <p:val>
                                            <p:strVal val="ppt_y"/>
                                          </p:val>
                                        </p:tav>
                                        <p:tav tm="100000">
                                          <p:val>
                                            <p:strVal val="#ppt_y"/>
                                          </p:val>
                                        </p:tav>
                                      </p:tavLst>
                                    </p:anim>
                                    <p:animRot by="21600000">
                                      <p:cBhvr>
                                        <p:cTn id="54" dur="750" decel="50000" fill="hold">
                                          <p:stCondLst>
                                            <p:cond delay="0"/>
                                          </p:stCondLst>
                                        </p:cTn>
                                        <p:tgtEl>
                                          <p:spTgt spid="9"/>
                                        </p:tgtEl>
                                        <p:attrNameLst>
                                          <p:attrName>r</p:attrName>
                                        </p:attrNameLst>
                                      </p:cBhvr>
                                    </p:animRot>
                                    <p:animRot by="21600000">
                                      <p:cBhvr>
                                        <p:cTn id="55" dur="375" accel="50000" fill="hold">
                                          <p:stCondLst>
                                            <p:cond delay="225"/>
                                          </p:stCondLst>
                                        </p:cTn>
                                        <p:tgtEl>
                                          <p:spTgt spid="9"/>
                                        </p:tgtEl>
                                        <p:attrNameLst>
                                          <p:attrName>r</p:attrName>
                                        </p:attrNameLst>
                                      </p:cBhvr>
                                    </p:animRot>
                                    <p:animEffect filter="fade">
                                      <p:cBhvr>
                                        <p:cTn id="56" dur="225">
                                          <p:stCondLst>
                                            <p:cond delay="0"/>
                                          </p:stCondLst>
                                        </p:cTn>
                                        <p:tgtEl>
                                          <p:spTgt spid="9"/>
                                        </p:tgtEl>
                                      </p:cBhvr>
                                    </p:animEffect>
                                  </p:childTnLst>
                                </p:cTn>
                              </p:par>
                              <p:par>
                                <p:cTn id="57" presetID="0" presetClass="entr" presetSubtype="0" decel="50000" fill="hold" nodeType="withEffect">
                                  <p:stCondLst>
                                    <p:cond delay="0"/>
                                  </p:stCondLst>
                                  <p:childTnLst>
                                    <p:set>
                                      <p:cBhvr>
                                        <p:cTn id="58" dur="750" fill="hold">
                                          <p:stCondLst>
                                            <p:cond delay="0"/>
                                          </p:stCondLst>
                                        </p:cTn>
                                        <p:tgtEl>
                                          <p:spTgt spid="4"/>
                                        </p:tgtEl>
                                        <p:attrNameLst>
                                          <p:attrName>style.visibility</p:attrName>
                                        </p:attrNameLst>
                                      </p:cBhvr>
                                      <p:to>
                                        <p:strVal val="visible"/>
                                      </p:to>
                                    </p:set>
                                    <p:animScale>
                                      <p:cBhvr>
                                        <p:cTn id="59" dur="225" decel="50000" fill="hold">
                                          <p:stCondLst>
                                            <p:cond delay="0"/>
                                          </p:stCondLst>
                                        </p:cTn>
                                        <p:tgtEl>
                                          <p:spTgt spid="4"/>
                                        </p:tgtEl>
                                      </p:cBhvr>
                                      <p:from x="150000" y="150000"/>
                                      <p:to x="50000" y="50000"/>
                                    </p:animScale>
                                    <p:anim to="" calcmode="lin" valueType="num">
                                      <p:cBhvr>
                                        <p:cTn id="60" dur="225" decel="50000" fill="hold">
                                          <p:stCondLst>
                                            <p:cond delay="0"/>
                                          </p:stCondLst>
                                        </p:cTn>
                                        <p:tgtEl>
                                          <p:spTgt spid="4"/>
                                        </p:tgtEl>
                                        <p:attrNameLst>
                                          <p:attrName>ppt_x</p:attrName>
                                        </p:attrNameLst>
                                      </p:cBhvr>
                                      <p:tavLst>
                                        <p:tav tm="0">
                                          <p:val>
                                            <p:strVal val="#ppt_x-0.05"/>
                                          </p:val>
                                        </p:tav>
                                        <p:tav tm="100000">
                                          <p:val>
                                            <p:strVal val="#ppt_x+0.02"/>
                                          </p:val>
                                        </p:tav>
                                      </p:tavLst>
                                    </p:anim>
                                    <p:animScale>
                                      <p:cBhvr>
                                        <p:cTn id="61" dur="375" accel="50000" fill="hold">
                                          <p:stCondLst>
                                            <p:cond delay="225"/>
                                          </p:stCondLst>
                                        </p:cTn>
                                        <p:tgtEl>
                                          <p:spTgt spid="4"/>
                                        </p:tgtEl>
                                      </p:cBhvr>
                                      <p:from x="50000" y="50000"/>
                                      <p:to x="100000" y="100000"/>
                                    </p:animScale>
                                    <p:anim to="" calcmode="lin" valueType="num">
                                      <p:cBhvr>
                                        <p:cTn id="62" dur="375" accel="50000" fill="hold">
                                          <p:stCondLst>
                                            <p:cond delay="225"/>
                                          </p:stCondLst>
                                        </p:cTn>
                                        <p:tgtEl>
                                          <p:spTgt spid="4"/>
                                        </p:tgtEl>
                                        <p:attrNameLst>
                                          <p:attrName>ppt_x</p:attrName>
                                        </p:attrNameLst>
                                      </p:cBhvr>
                                      <p:tavLst>
                                        <p:tav tm="0">
                                          <p:val>
                                            <p:strVal val="ppt_x"/>
                                          </p:val>
                                        </p:tav>
                                        <p:tav tm="100000">
                                          <p:val>
                                            <p:strVal val="#ppt_x"/>
                                          </p:val>
                                        </p:tav>
                                      </p:tavLst>
                                    </p:anim>
                                    <p:anim to="" calcmode="lin" valueType="num">
                                      <p:cBhvr>
                                        <p:cTn id="63" dur="225" decel="50000" fill="hold">
                                          <p:stCondLst>
                                            <p:cond delay="0"/>
                                          </p:stCondLst>
                                        </p:cTn>
                                        <p:tgtEl>
                                          <p:spTgt spid="4"/>
                                        </p:tgtEl>
                                        <p:attrNameLst>
                                          <p:attrName>ppt_y</p:attrName>
                                        </p:attrNameLst>
                                      </p:cBhvr>
                                      <p:tavLst>
                                        <p:tav tm="0">
                                          <p:val>
                                            <p:strVal val="#ppt_y-0.05"/>
                                          </p:val>
                                        </p:tav>
                                        <p:tav tm="100000">
                                          <p:val>
                                            <p:strVal val="#ppt_y+0.05"/>
                                          </p:val>
                                        </p:tav>
                                      </p:tavLst>
                                    </p:anim>
                                    <p:anim to="" calcmode="lin" valueType="num">
                                      <p:cBhvr>
                                        <p:cTn id="64" dur="375" accel="50000" fill="hold">
                                          <p:stCondLst>
                                            <p:cond delay="225"/>
                                          </p:stCondLst>
                                        </p:cTn>
                                        <p:tgtEl>
                                          <p:spTgt spid="4"/>
                                        </p:tgtEl>
                                        <p:attrNameLst>
                                          <p:attrName>ppt_y</p:attrName>
                                        </p:attrNameLst>
                                      </p:cBhvr>
                                      <p:tavLst>
                                        <p:tav tm="0">
                                          <p:val>
                                            <p:strVal val="ppt_y"/>
                                          </p:val>
                                        </p:tav>
                                        <p:tav tm="100000">
                                          <p:val>
                                            <p:strVal val="#ppt_y"/>
                                          </p:val>
                                        </p:tav>
                                      </p:tavLst>
                                    </p:anim>
                                    <p:animRot by="21600000">
                                      <p:cBhvr>
                                        <p:cTn id="65" dur="750" decel="50000" fill="hold">
                                          <p:stCondLst>
                                            <p:cond delay="0"/>
                                          </p:stCondLst>
                                        </p:cTn>
                                        <p:tgtEl>
                                          <p:spTgt spid="4"/>
                                        </p:tgtEl>
                                        <p:attrNameLst>
                                          <p:attrName>r</p:attrName>
                                        </p:attrNameLst>
                                      </p:cBhvr>
                                    </p:animRot>
                                    <p:animRot by="21600000">
                                      <p:cBhvr>
                                        <p:cTn id="66" dur="375" accel="50000" fill="hold">
                                          <p:stCondLst>
                                            <p:cond delay="225"/>
                                          </p:stCondLst>
                                        </p:cTn>
                                        <p:tgtEl>
                                          <p:spTgt spid="4"/>
                                        </p:tgtEl>
                                        <p:attrNameLst>
                                          <p:attrName>r</p:attrName>
                                        </p:attrNameLst>
                                      </p:cBhvr>
                                    </p:animRot>
                                    <p:animEffect filter="fade">
                                      <p:cBhvr>
                                        <p:cTn id="67" dur="225">
                                          <p:stCondLst>
                                            <p:cond delay="0"/>
                                          </p:stCondLst>
                                        </p:cTn>
                                        <p:tgtEl>
                                          <p:spTgt spid="4"/>
                                        </p:tgtEl>
                                      </p:cBhvr>
                                    </p:animEffect>
                                  </p:childTnLst>
                                </p:cTn>
                              </p:par>
                              <p:par>
                                <p:cTn id="68" presetID="0" presetClass="entr" presetSubtype="0" decel="50000" fill="hold" nodeType="withEffect">
                                  <p:stCondLst>
                                    <p:cond delay="0"/>
                                  </p:stCondLst>
                                  <p:childTnLst>
                                    <p:set>
                                      <p:cBhvr>
                                        <p:cTn id="69" dur="750" fill="hold">
                                          <p:stCondLst>
                                            <p:cond delay="0"/>
                                          </p:stCondLst>
                                        </p:cTn>
                                        <p:tgtEl>
                                          <p:spTgt spid="5"/>
                                        </p:tgtEl>
                                        <p:attrNameLst>
                                          <p:attrName>style.visibility</p:attrName>
                                        </p:attrNameLst>
                                      </p:cBhvr>
                                      <p:to>
                                        <p:strVal val="visible"/>
                                      </p:to>
                                    </p:set>
                                    <p:animScale>
                                      <p:cBhvr>
                                        <p:cTn id="70" dur="225" decel="50000" fill="hold">
                                          <p:stCondLst>
                                            <p:cond delay="0"/>
                                          </p:stCondLst>
                                        </p:cTn>
                                        <p:tgtEl>
                                          <p:spTgt spid="5"/>
                                        </p:tgtEl>
                                      </p:cBhvr>
                                      <p:from x="150000" y="150000"/>
                                      <p:to x="50000" y="50000"/>
                                    </p:animScale>
                                    <p:anim to="" calcmode="lin" valueType="num">
                                      <p:cBhvr>
                                        <p:cTn id="71" dur="225" decel="50000" fill="hold">
                                          <p:stCondLst>
                                            <p:cond delay="0"/>
                                          </p:stCondLst>
                                        </p:cTn>
                                        <p:tgtEl>
                                          <p:spTgt spid="5"/>
                                        </p:tgtEl>
                                        <p:attrNameLst>
                                          <p:attrName>ppt_x</p:attrName>
                                        </p:attrNameLst>
                                      </p:cBhvr>
                                      <p:tavLst>
                                        <p:tav tm="0">
                                          <p:val>
                                            <p:strVal val="#ppt_x-0.05"/>
                                          </p:val>
                                        </p:tav>
                                        <p:tav tm="100000">
                                          <p:val>
                                            <p:strVal val="#ppt_x+0.02"/>
                                          </p:val>
                                        </p:tav>
                                      </p:tavLst>
                                    </p:anim>
                                    <p:animScale>
                                      <p:cBhvr>
                                        <p:cTn id="72" dur="375" accel="50000" fill="hold">
                                          <p:stCondLst>
                                            <p:cond delay="225"/>
                                          </p:stCondLst>
                                        </p:cTn>
                                        <p:tgtEl>
                                          <p:spTgt spid="5"/>
                                        </p:tgtEl>
                                      </p:cBhvr>
                                      <p:from x="50000" y="50000"/>
                                      <p:to x="100000" y="100000"/>
                                    </p:animScale>
                                    <p:anim to="" calcmode="lin" valueType="num">
                                      <p:cBhvr>
                                        <p:cTn id="73" dur="375" accel="50000" fill="hold">
                                          <p:stCondLst>
                                            <p:cond delay="225"/>
                                          </p:stCondLst>
                                        </p:cTn>
                                        <p:tgtEl>
                                          <p:spTgt spid="5"/>
                                        </p:tgtEl>
                                        <p:attrNameLst>
                                          <p:attrName>ppt_x</p:attrName>
                                        </p:attrNameLst>
                                      </p:cBhvr>
                                      <p:tavLst>
                                        <p:tav tm="0">
                                          <p:val>
                                            <p:strVal val="ppt_x"/>
                                          </p:val>
                                        </p:tav>
                                        <p:tav tm="100000">
                                          <p:val>
                                            <p:strVal val="#ppt_x"/>
                                          </p:val>
                                        </p:tav>
                                      </p:tavLst>
                                    </p:anim>
                                    <p:anim to="" calcmode="lin" valueType="num">
                                      <p:cBhvr>
                                        <p:cTn id="74" dur="225" decel="50000" fill="hold">
                                          <p:stCondLst>
                                            <p:cond delay="0"/>
                                          </p:stCondLst>
                                        </p:cTn>
                                        <p:tgtEl>
                                          <p:spTgt spid="5"/>
                                        </p:tgtEl>
                                        <p:attrNameLst>
                                          <p:attrName>ppt_y</p:attrName>
                                        </p:attrNameLst>
                                      </p:cBhvr>
                                      <p:tavLst>
                                        <p:tav tm="0">
                                          <p:val>
                                            <p:strVal val="#ppt_y-0.05"/>
                                          </p:val>
                                        </p:tav>
                                        <p:tav tm="100000">
                                          <p:val>
                                            <p:strVal val="#ppt_y+0.05"/>
                                          </p:val>
                                        </p:tav>
                                      </p:tavLst>
                                    </p:anim>
                                    <p:anim to="" calcmode="lin" valueType="num">
                                      <p:cBhvr>
                                        <p:cTn id="75" dur="375" accel="50000" fill="hold">
                                          <p:stCondLst>
                                            <p:cond delay="225"/>
                                          </p:stCondLst>
                                        </p:cTn>
                                        <p:tgtEl>
                                          <p:spTgt spid="5"/>
                                        </p:tgtEl>
                                        <p:attrNameLst>
                                          <p:attrName>ppt_y</p:attrName>
                                        </p:attrNameLst>
                                      </p:cBhvr>
                                      <p:tavLst>
                                        <p:tav tm="0">
                                          <p:val>
                                            <p:strVal val="ppt_y"/>
                                          </p:val>
                                        </p:tav>
                                        <p:tav tm="100000">
                                          <p:val>
                                            <p:strVal val="#ppt_y"/>
                                          </p:val>
                                        </p:tav>
                                      </p:tavLst>
                                    </p:anim>
                                    <p:animRot by="21600000">
                                      <p:cBhvr>
                                        <p:cTn id="76" dur="750" decel="50000" fill="hold">
                                          <p:stCondLst>
                                            <p:cond delay="0"/>
                                          </p:stCondLst>
                                        </p:cTn>
                                        <p:tgtEl>
                                          <p:spTgt spid="5"/>
                                        </p:tgtEl>
                                        <p:attrNameLst>
                                          <p:attrName>r</p:attrName>
                                        </p:attrNameLst>
                                      </p:cBhvr>
                                    </p:animRot>
                                    <p:animRot by="21600000">
                                      <p:cBhvr>
                                        <p:cTn id="77" dur="375" accel="50000" fill="hold">
                                          <p:stCondLst>
                                            <p:cond delay="225"/>
                                          </p:stCondLst>
                                        </p:cTn>
                                        <p:tgtEl>
                                          <p:spTgt spid="5"/>
                                        </p:tgtEl>
                                        <p:attrNameLst>
                                          <p:attrName>r</p:attrName>
                                        </p:attrNameLst>
                                      </p:cBhvr>
                                    </p:animRot>
                                    <p:animEffect filter="fade">
                                      <p:cBhvr>
                                        <p:cTn id="78" dur="225">
                                          <p:stCondLst>
                                            <p:cond delay="0"/>
                                          </p:stCondLst>
                                        </p:cTn>
                                        <p:tgtEl>
                                          <p:spTgt spid="5"/>
                                        </p:tgtEl>
                                      </p:cBhvr>
                                    </p:animEffect>
                                  </p:childTnLst>
                                </p:cTn>
                              </p:par>
                            </p:childTnLst>
                          </p:cTn>
                        </p:par>
                        <p:par>
                          <p:cTn id="79" fill="hold">
                            <p:stCondLst>
                              <p:cond delay="2649"/>
                            </p:stCondLst>
                            <p:childTnLst>
                              <p:par>
                                <p:cTn id="80" presetID="10" presetClass="entr" presetSubtype="0" fill="hold" nodeType="afterEffect">
                                  <p:stCondLst>
                                    <p:cond delay="0"/>
                                  </p:stCondLst>
                                  <p:childTnLst>
                                    <p:set>
                                      <p:cBhvr>
                                        <p:cTn id="81" dur="1" fill="hold">
                                          <p:stCondLst>
                                            <p:cond delay="0"/>
                                          </p:stCondLst>
                                        </p:cTn>
                                        <p:tgtEl>
                                          <p:spTgt spid="26"/>
                                        </p:tgtEl>
                                        <p:attrNameLst>
                                          <p:attrName>style.visibility</p:attrName>
                                        </p:attrNameLst>
                                      </p:cBhvr>
                                      <p:to>
                                        <p:strVal val="visible"/>
                                      </p:to>
                                    </p:set>
                                    <p:animEffect transition="in" filter="fade">
                                      <p:cBhvr>
                                        <p:cTn id="82"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P spid="4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txBox="1"/>
          <p:nvPr/>
        </p:nvSpPr>
        <p:spPr>
          <a:xfrm>
            <a:off x="857885" y="195109"/>
            <a:ext cx="2600960" cy="379730"/>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000" b="1" dirty="0">
                <a:solidFill>
                  <a:schemeClr val="tx1"/>
                </a:solidFill>
                <a:latin typeface="Arial" panose="020B0604020202020204" pitchFamily="34" charset="0"/>
                <a:ea typeface="微软雅黑" panose="020B0503020204020204" pitchFamily="34" charset="-122"/>
                <a:sym typeface="Arial" panose="020B0604020202020204" pitchFamily="34" charset="0"/>
              </a:rPr>
              <a:t>1.</a:t>
            </a:r>
            <a:r>
              <a:rPr lang="zh-CN" altLang="en-US" sz="2000" b="1" dirty="0">
                <a:solidFill>
                  <a:schemeClr val="tx1"/>
                </a:solidFill>
                <a:latin typeface="Arial" panose="020B0604020202020204" pitchFamily="34" charset="0"/>
                <a:ea typeface="微软雅黑" panose="020B0503020204020204" pitchFamily="34" charset="-122"/>
                <a:sym typeface="Arial" panose="020B0604020202020204" pitchFamily="34" charset="0"/>
              </a:rPr>
              <a:t>费用分析</a:t>
            </a:r>
          </a:p>
        </p:txBody>
      </p:sp>
      <p:graphicFrame>
        <p:nvGraphicFramePr>
          <p:cNvPr id="25" name="图表 24"/>
          <p:cNvGraphicFramePr/>
          <p:nvPr/>
        </p:nvGraphicFramePr>
        <p:xfrm>
          <a:off x="4211960" y="4149080"/>
          <a:ext cx="2592288" cy="223224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内容占位符 6"/>
          <p:cNvGraphicFramePr/>
          <p:nvPr/>
        </p:nvGraphicFramePr>
        <p:xfrm>
          <a:off x="1161002" y="1467998"/>
          <a:ext cx="3410136" cy="2570310"/>
        </p:xfrm>
        <a:graphic>
          <a:graphicData uri="http://schemas.openxmlformats.org/drawingml/2006/table">
            <a:tbl>
              <a:tblPr firstRow="1" bandRow="1">
                <a:tableStyleId>{EB344D84-9AFB-497E-A393-DC336BA19D2E}</a:tableStyleId>
              </a:tblPr>
              <a:tblGrid>
                <a:gridCol w="763842"/>
                <a:gridCol w="594066"/>
                <a:gridCol w="594066"/>
                <a:gridCol w="594066"/>
                <a:gridCol w="864096"/>
              </a:tblGrid>
              <a:tr h="311670">
                <a:tc>
                  <a:txBody>
                    <a:bodyPr/>
                    <a:lstStyle/>
                    <a:p>
                      <a:pPr algn="ctr"/>
                      <a:r>
                        <a:rPr lang="zh-CN" altLang="en-US" sz="1100" dirty="0">
                          <a:latin typeface="Arial" panose="020B0604020202020204" pitchFamily="34" charset="0"/>
                          <a:ea typeface="微软雅黑" panose="020B0503020204020204" pitchFamily="34" charset="-122"/>
                          <a:sym typeface="Arial" panose="020B0604020202020204" pitchFamily="34" charset="0"/>
                        </a:rPr>
                        <a:t>年份</a:t>
                      </a:r>
                    </a:p>
                  </a:txBody>
                  <a:tcPr marL="68580" marR="68580" marT="34290" marB="34290"/>
                </a:tc>
                <a:tc>
                  <a:txBody>
                    <a:bodyPr/>
                    <a:lstStyle/>
                    <a:p>
                      <a:pPr algn="ctr"/>
                      <a:r>
                        <a:rPr lang="en-US" altLang="zh-CN" sz="1100" dirty="0">
                          <a:latin typeface="Arial" panose="020B0604020202020204" pitchFamily="34" charset="0"/>
                          <a:ea typeface="微软雅黑" panose="020B0503020204020204" pitchFamily="34" charset="-122"/>
                          <a:sym typeface="Arial" panose="020B0604020202020204" pitchFamily="34" charset="0"/>
                        </a:rPr>
                        <a:t>2014</a:t>
                      </a:r>
                      <a:r>
                        <a:rPr lang="zh-CN" altLang="en-US" sz="1100" dirty="0">
                          <a:latin typeface="Arial" panose="020B0604020202020204" pitchFamily="34" charset="0"/>
                          <a:ea typeface="微软雅黑" panose="020B0503020204020204" pitchFamily="34" charset="-122"/>
                          <a:sym typeface="Arial" panose="020B0604020202020204" pitchFamily="34" charset="0"/>
                        </a:rPr>
                        <a:t>年</a:t>
                      </a:r>
                    </a:p>
                  </a:txBody>
                  <a:tcPr marL="68580" marR="68580" marT="34290" marB="34290"/>
                </a:tc>
                <a:tc>
                  <a:txBody>
                    <a:bodyPr/>
                    <a:lstStyle/>
                    <a:p>
                      <a:pPr algn="ctr"/>
                      <a:r>
                        <a:rPr lang="en-US" altLang="zh-CN" sz="1100" dirty="0">
                          <a:latin typeface="Arial" panose="020B0604020202020204" pitchFamily="34" charset="0"/>
                          <a:ea typeface="微软雅黑" panose="020B0503020204020204" pitchFamily="34" charset="-122"/>
                          <a:sym typeface="Arial" panose="020B0604020202020204" pitchFamily="34" charset="0"/>
                        </a:rPr>
                        <a:t>2015</a:t>
                      </a:r>
                      <a:r>
                        <a:rPr lang="zh-CN" altLang="en-US" sz="1100" dirty="0">
                          <a:latin typeface="Arial" panose="020B0604020202020204" pitchFamily="34" charset="0"/>
                          <a:ea typeface="微软雅黑" panose="020B0503020204020204" pitchFamily="34" charset="-122"/>
                          <a:sym typeface="Arial" panose="020B0604020202020204" pitchFamily="34" charset="0"/>
                        </a:rPr>
                        <a:t>年</a:t>
                      </a:r>
                    </a:p>
                  </a:txBody>
                  <a:tcPr marL="68580" marR="68580" marT="34290" marB="34290"/>
                </a:tc>
                <a:tc>
                  <a:txBody>
                    <a:bodyPr/>
                    <a:lstStyle/>
                    <a:p>
                      <a:pPr algn="ctr"/>
                      <a:r>
                        <a:rPr lang="en-US" altLang="zh-CN" sz="1100" dirty="0">
                          <a:latin typeface="Arial" panose="020B0604020202020204" pitchFamily="34" charset="0"/>
                          <a:ea typeface="微软雅黑" panose="020B0503020204020204" pitchFamily="34" charset="-122"/>
                          <a:sym typeface="Arial" panose="020B0604020202020204" pitchFamily="34" charset="0"/>
                        </a:rPr>
                        <a:t>2016</a:t>
                      </a:r>
                      <a:r>
                        <a:rPr lang="zh-CN" altLang="en-US" sz="1100" dirty="0">
                          <a:latin typeface="Arial" panose="020B0604020202020204" pitchFamily="34" charset="0"/>
                          <a:ea typeface="微软雅黑" panose="020B0503020204020204" pitchFamily="34" charset="-122"/>
                          <a:sym typeface="Arial" panose="020B0604020202020204" pitchFamily="34" charset="0"/>
                        </a:rPr>
                        <a:t>年</a:t>
                      </a:r>
                    </a:p>
                  </a:txBody>
                  <a:tcPr marL="68580" marR="68580" marT="34290" marB="34290"/>
                </a:tc>
                <a:tc>
                  <a:txBody>
                    <a:bodyPr/>
                    <a:lstStyle/>
                    <a:p>
                      <a:pPr algn="ctr"/>
                      <a:r>
                        <a:rPr lang="en-US" altLang="zh-CN" sz="900" dirty="0">
                          <a:latin typeface="Arial" panose="020B0604020202020204" pitchFamily="34" charset="0"/>
                          <a:ea typeface="微软雅黑" panose="020B0503020204020204" pitchFamily="34" charset="-122"/>
                          <a:sym typeface="Arial" panose="020B0604020202020204" pitchFamily="34" charset="0"/>
                        </a:rPr>
                        <a:t>2017</a:t>
                      </a:r>
                      <a:r>
                        <a:rPr lang="zh-CN" altLang="en-US" sz="900" dirty="0">
                          <a:latin typeface="Arial" panose="020B0604020202020204" pitchFamily="34" charset="0"/>
                          <a:ea typeface="微软雅黑" panose="020B0503020204020204" pitchFamily="34" charset="-122"/>
                          <a:sym typeface="Arial" panose="020B0604020202020204" pitchFamily="34" charset="0"/>
                        </a:rPr>
                        <a:t>年</a:t>
                      </a:r>
                    </a:p>
                  </a:txBody>
                  <a:tcPr marL="68580" marR="68580" marT="34290" marB="34290"/>
                </a:tc>
              </a:tr>
              <a:tr h="311670">
                <a:tc>
                  <a:txBody>
                    <a:bodyPr/>
                    <a:lstStyle/>
                    <a:p>
                      <a:r>
                        <a:rPr lang="zh-CN" altLang="en-US" sz="1100" b="1" dirty="0">
                          <a:latin typeface="Arial" panose="020B0604020202020204" pitchFamily="34" charset="0"/>
                          <a:ea typeface="微软雅黑" panose="020B0503020204020204" pitchFamily="34" charset="-122"/>
                          <a:sym typeface="Arial" panose="020B0604020202020204" pitchFamily="34" charset="0"/>
                        </a:rPr>
                        <a:t>销售费用</a:t>
                      </a:r>
                    </a:p>
                  </a:txBody>
                  <a:tcPr marL="68580" marR="68580" marT="34290" marB="34290"/>
                </a:tc>
                <a:tc>
                  <a:txBody>
                    <a:bodyPr/>
                    <a:lstStyle/>
                    <a:p>
                      <a:pPr algn="ctr" fontAlgn="ctr"/>
                      <a:endParaRPr lang="en-US" altLang="zh-CN" sz="9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c>
                  <a:txBody>
                    <a:bodyPr/>
                    <a:lstStyle/>
                    <a:p>
                      <a:pPr algn="ctr" fontAlgn="ctr"/>
                      <a:endParaRPr lang="en-US" altLang="zh-CN" sz="900" b="0" i="0" u="none" strike="noStrike">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c>
                  <a:txBody>
                    <a:bodyPr/>
                    <a:lstStyle/>
                    <a:p>
                      <a:pPr algn="ctr" fontAlgn="ctr"/>
                      <a:endParaRPr lang="en-US" altLang="zh-CN" sz="900" b="0" i="0" u="none" strike="noStrike">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c>
                  <a:txBody>
                    <a:bodyPr/>
                    <a:lstStyle/>
                    <a:p>
                      <a:pPr algn="ctr" fontAlgn="ctr"/>
                      <a:endParaRPr lang="en-US" altLang="zh-CN" sz="9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r>
              <a:tr h="311670">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700" b="1" dirty="0">
                          <a:latin typeface="Arial" panose="020B0604020202020204" pitchFamily="34" charset="0"/>
                          <a:ea typeface="微软雅黑" panose="020B0503020204020204" pitchFamily="34" charset="-122"/>
                          <a:sym typeface="Arial" panose="020B0604020202020204" pitchFamily="34" charset="0"/>
                        </a:rPr>
                        <a:t>其中：</a:t>
                      </a:r>
                      <a:endParaRPr lang="en-US" altLang="zh-CN" sz="700" b="1" dirty="0">
                        <a:latin typeface="Arial" panose="020B0604020202020204" pitchFamily="34" charset="0"/>
                        <a:ea typeface="微软雅黑" panose="020B0503020204020204" pitchFamily="34" charset="-122"/>
                        <a:sym typeface="Arial" panose="020B0604020202020204" pitchFamily="34" charset="0"/>
                      </a:endParaRPr>
                    </a:p>
                    <a:p>
                      <a:pPr marL="0" marR="0" indent="0" algn="l" defTabSz="914400" rtl="0" eaLnBrk="1" fontAlgn="auto" latinLnBrk="0" hangingPunct="1">
                        <a:lnSpc>
                          <a:spcPct val="100000"/>
                        </a:lnSpc>
                        <a:spcBef>
                          <a:spcPts val="0"/>
                        </a:spcBef>
                        <a:spcAft>
                          <a:spcPts val="0"/>
                        </a:spcAft>
                        <a:buClrTx/>
                        <a:buSzTx/>
                        <a:buFontTx/>
                        <a:buNone/>
                        <a:defRPr/>
                      </a:pPr>
                      <a:r>
                        <a:rPr lang="en-US" altLang="zh-CN" sz="700" b="1" dirty="0">
                          <a:latin typeface="Arial" panose="020B0604020202020204" pitchFamily="34" charset="0"/>
                          <a:ea typeface="微软雅黑" panose="020B0503020204020204" pitchFamily="34" charset="-122"/>
                          <a:sym typeface="Arial" panose="020B0604020202020204" pitchFamily="34" charset="0"/>
                        </a:rPr>
                        <a:t>**********</a:t>
                      </a:r>
                      <a:endParaRPr lang="zh-CN" altLang="en-US" sz="700" b="1" dirty="0">
                        <a:latin typeface="Arial" panose="020B0604020202020204" pitchFamily="34" charset="0"/>
                        <a:ea typeface="微软雅黑" panose="020B0503020204020204" pitchFamily="34" charset="-122"/>
                        <a:sym typeface="Arial" panose="020B0604020202020204" pitchFamily="34" charset="0"/>
                      </a:endParaRPr>
                    </a:p>
                  </a:txBody>
                  <a:tcPr marL="68580" marR="68580" marT="34290" marB="34290">
                    <a:solidFill>
                      <a:schemeClr val="accent4">
                        <a:lumMod val="20000"/>
                        <a:lumOff val="80000"/>
                      </a:schemeClr>
                    </a:solidFill>
                  </a:tcPr>
                </a:tc>
                <a:tc>
                  <a:txBody>
                    <a:bodyPr/>
                    <a:lstStyle/>
                    <a:p>
                      <a:pPr algn="ctr" fontAlgn="ctr"/>
                      <a:endParaRPr lang="en-US" altLang="zh-CN" sz="9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solidFill>
                      <a:schemeClr val="accent4">
                        <a:lumMod val="20000"/>
                        <a:lumOff val="80000"/>
                      </a:schemeClr>
                    </a:solidFill>
                  </a:tcPr>
                </a:tc>
                <a:tc>
                  <a:txBody>
                    <a:bodyPr/>
                    <a:lstStyle/>
                    <a:p>
                      <a:pPr algn="ctr" fontAlgn="ctr"/>
                      <a:endParaRPr lang="en-US" altLang="zh-CN" sz="9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solidFill>
                      <a:schemeClr val="accent4">
                        <a:lumMod val="20000"/>
                        <a:lumOff val="80000"/>
                      </a:schemeClr>
                    </a:solidFill>
                  </a:tcPr>
                </a:tc>
                <a:tc>
                  <a:txBody>
                    <a:bodyPr/>
                    <a:lstStyle/>
                    <a:p>
                      <a:pPr algn="ctr" fontAlgn="ctr"/>
                      <a:endParaRPr lang="en-US" altLang="zh-CN" sz="9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solidFill>
                      <a:schemeClr val="accent4">
                        <a:lumMod val="20000"/>
                        <a:lumOff val="80000"/>
                      </a:schemeClr>
                    </a:solidFill>
                  </a:tcPr>
                </a:tc>
                <a:tc>
                  <a:txBody>
                    <a:bodyPr/>
                    <a:lstStyle/>
                    <a:p>
                      <a:pPr algn="ctr" fontAlgn="ctr"/>
                      <a:endParaRPr lang="en-US" altLang="zh-CN" sz="9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solidFill>
                      <a:schemeClr val="accent4">
                        <a:lumMod val="20000"/>
                        <a:lumOff val="80000"/>
                      </a:schemeClr>
                    </a:solidFill>
                  </a:tcPr>
                </a:tc>
              </a:tr>
              <a:tr h="311670">
                <a:tc>
                  <a:txBody>
                    <a:bodyPr/>
                    <a:lstStyle/>
                    <a:p>
                      <a:r>
                        <a:rPr lang="zh-CN" altLang="en-US" sz="1100" b="1" dirty="0">
                          <a:latin typeface="Arial" panose="020B0604020202020204" pitchFamily="34" charset="0"/>
                          <a:ea typeface="微软雅黑" panose="020B0503020204020204" pitchFamily="34" charset="-122"/>
                          <a:sym typeface="Arial" panose="020B0604020202020204" pitchFamily="34" charset="0"/>
                        </a:rPr>
                        <a:t>管理费用</a:t>
                      </a:r>
                    </a:p>
                  </a:txBody>
                  <a:tcPr marL="68580" marR="68580" marT="34290" marB="34290"/>
                </a:tc>
                <a:tc>
                  <a:txBody>
                    <a:bodyPr/>
                    <a:lstStyle/>
                    <a:p>
                      <a:pPr algn="ctr" fontAlgn="ctr"/>
                      <a:endParaRPr lang="en-US" altLang="zh-CN" sz="9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c>
                  <a:txBody>
                    <a:bodyPr/>
                    <a:lstStyle/>
                    <a:p>
                      <a:pPr algn="ctr" fontAlgn="ctr"/>
                      <a:endParaRPr lang="en-US" altLang="zh-CN" sz="9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c>
                  <a:txBody>
                    <a:bodyPr/>
                    <a:lstStyle/>
                    <a:p>
                      <a:pPr algn="ctr" fontAlgn="ctr"/>
                      <a:endParaRPr lang="en-US" altLang="zh-CN" sz="9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c>
                  <a:txBody>
                    <a:bodyPr/>
                    <a:lstStyle/>
                    <a:p>
                      <a:pPr algn="ctr" fontAlgn="ctr"/>
                      <a:endParaRPr lang="en-US" altLang="zh-CN" sz="9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r>
              <a:tr h="377190">
                <a:tc>
                  <a:txBody>
                    <a:bodyPr/>
                    <a:lstStyle/>
                    <a:p>
                      <a:endParaRPr lang="en-US" altLang="zh-CN" sz="700" b="1" dirty="0">
                        <a:latin typeface="Arial" panose="020B0604020202020204" pitchFamily="34" charset="0"/>
                        <a:ea typeface="微软雅黑" panose="020B0503020204020204" pitchFamily="34" charset="-122"/>
                        <a:sym typeface="Arial" panose="020B0604020202020204" pitchFamily="34" charset="0"/>
                      </a:endParaRPr>
                    </a:p>
                    <a:p>
                      <a:r>
                        <a:rPr lang="zh-CN" altLang="en-US" sz="700" b="1" dirty="0">
                          <a:latin typeface="Arial" panose="020B0604020202020204" pitchFamily="34" charset="0"/>
                          <a:ea typeface="微软雅黑" panose="020B0503020204020204" pitchFamily="34" charset="-122"/>
                          <a:sym typeface="Arial" panose="020B0604020202020204" pitchFamily="34" charset="0"/>
                        </a:rPr>
                        <a:t>其中：</a:t>
                      </a:r>
                      <a:endParaRPr lang="en-US" altLang="zh-CN" sz="700" b="1" dirty="0">
                        <a:latin typeface="Arial" panose="020B0604020202020204" pitchFamily="34" charset="0"/>
                        <a:ea typeface="微软雅黑" panose="020B0503020204020204" pitchFamily="34" charset="-122"/>
                        <a:sym typeface="Arial" panose="020B0604020202020204" pitchFamily="34" charset="0"/>
                      </a:endParaRPr>
                    </a:p>
                    <a:p>
                      <a:r>
                        <a:rPr lang="en-US" altLang="zh-CN" sz="700" b="1" dirty="0">
                          <a:latin typeface="Arial" panose="020B0604020202020204" pitchFamily="34" charset="0"/>
                          <a:ea typeface="微软雅黑" panose="020B0503020204020204" pitchFamily="34" charset="-122"/>
                          <a:sym typeface="Arial" panose="020B0604020202020204" pitchFamily="34" charset="0"/>
                        </a:rPr>
                        <a:t>***********</a:t>
                      </a:r>
                      <a:endParaRPr lang="zh-CN" altLang="en-US" sz="700" b="1" dirty="0">
                        <a:latin typeface="Arial" panose="020B0604020202020204" pitchFamily="34" charset="0"/>
                        <a:ea typeface="微软雅黑" panose="020B0503020204020204" pitchFamily="34" charset="-122"/>
                        <a:sym typeface="Arial" panose="020B0604020202020204" pitchFamily="34" charset="0"/>
                      </a:endParaRPr>
                    </a:p>
                  </a:txBody>
                  <a:tcPr marL="68580" marR="68580" marT="34290" marB="34290">
                    <a:solidFill>
                      <a:schemeClr val="accent6">
                        <a:lumMod val="20000"/>
                        <a:lumOff val="80000"/>
                      </a:schemeClr>
                    </a:solidFill>
                  </a:tcPr>
                </a:tc>
                <a:tc>
                  <a:txBody>
                    <a:bodyPr/>
                    <a:lstStyle/>
                    <a:p>
                      <a:pPr algn="ctr" fontAlgn="ctr"/>
                      <a:endParaRPr lang="en-US" altLang="zh-CN" sz="9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solidFill>
                      <a:schemeClr val="accent6">
                        <a:lumMod val="20000"/>
                        <a:lumOff val="80000"/>
                      </a:schemeClr>
                    </a:solidFill>
                  </a:tcPr>
                </a:tc>
                <a:tc>
                  <a:txBody>
                    <a:bodyPr/>
                    <a:lstStyle/>
                    <a:p>
                      <a:pPr algn="ctr" fontAlgn="ctr"/>
                      <a:endParaRPr lang="en-US" altLang="zh-CN" sz="9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solidFill>
                      <a:schemeClr val="accent6">
                        <a:lumMod val="20000"/>
                        <a:lumOff val="80000"/>
                      </a:schemeClr>
                    </a:solidFill>
                  </a:tcPr>
                </a:tc>
                <a:tc>
                  <a:txBody>
                    <a:bodyPr/>
                    <a:lstStyle/>
                    <a:p>
                      <a:pPr algn="ctr" fontAlgn="ctr"/>
                      <a:endParaRPr lang="en-US" altLang="zh-CN" sz="9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solidFill>
                      <a:schemeClr val="accent6">
                        <a:lumMod val="20000"/>
                        <a:lumOff val="80000"/>
                      </a:schemeClr>
                    </a:solidFill>
                  </a:tcPr>
                </a:tc>
                <a:tc>
                  <a:txBody>
                    <a:bodyPr/>
                    <a:lstStyle/>
                    <a:p>
                      <a:pPr algn="ctr" fontAlgn="ctr"/>
                      <a:endParaRPr lang="en-US" altLang="zh-CN" sz="9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solidFill>
                      <a:schemeClr val="accent6">
                        <a:lumMod val="20000"/>
                        <a:lumOff val="80000"/>
                      </a:schemeClr>
                    </a:solidFill>
                  </a:tcPr>
                </a:tc>
              </a:tr>
              <a:tr h="311670">
                <a:tc>
                  <a:txBody>
                    <a:bodyPr/>
                    <a:lstStyle/>
                    <a:p>
                      <a:r>
                        <a:rPr lang="zh-CN" altLang="en-US" sz="1100" b="1" dirty="0">
                          <a:latin typeface="Arial" panose="020B0604020202020204" pitchFamily="34" charset="0"/>
                          <a:ea typeface="微软雅黑" panose="020B0503020204020204" pitchFamily="34" charset="-122"/>
                          <a:sym typeface="Arial" panose="020B0604020202020204" pitchFamily="34" charset="0"/>
                        </a:rPr>
                        <a:t>财务费用</a:t>
                      </a:r>
                    </a:p>
                  </a:txBody>
                  <a:tcPr marL="68580" marR="68580" marT="34290" marB="34290"/>
                </a:tc>
                <a:tc>
                  <a:txBody>
                    <a:bodyPr/>
                    <a:lstStyle/>
                    <a:p>
                      <a:pPr algn="ctr" fontAlgn="ctr"/>
                      <a:endParaRPr lang="en-US" altLang="zh-CN" sz="9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c>
                  <a:txBody>
                    <a:bodyPr/>
                    <a:lstStyle/>
                    <a:p>
                      <a:pPr algn="ctr" fontAlgn="ctr"/>
                      <a:endParaRPr lang="en-US" altLang="zh-CN" sz="900" b="0" i="0" u="none" strike="noStrike">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c>
                  <a:txBody>
                    <a:bodyPr/>
                    <a:lstStyle/>
                    <a:p>
                      <a:pPr algn="ctr" fontAlgn="ctr"/>
                      <a:endParaRPr lang="en-US" altLang="zh-CN" sz="9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c>
                  <a:txBody>
                    <a:bodyPr/>
                    <a:lstStyle/>
                    <a:p>
                      <a:pPr algn="ctr" fontAlgn="ctr"/>
                      <a:endParaRPr lang="en-US" altLang="zh-CN" sz="9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ctr"/>
                </a:tc>
              </a:tr>
              <a:tr h="311670">
                <a:tc>
                  <a:txBody>
                    <a:bodyPr/>
                    <a:lstStyle/>
                    <a:p>
                      <a:r>
                        <a:rPr lang="zh-CN" altLang="en-US" sz="1100" b="1" baseline="0" dirty="0">
                          <a:latin typeface="Arial" panose="020B0604020202020204" pitchFamily="34" charset="0"/>
                          <a:ea typeface="微软雅黑" panose="020B0503020204020204" pitchFamily="34" charset="-122"/>
                          <a:sym typeface="Arial" panose="020B0604020202020204" pitchFamily="34" charset="0"/>
                        </a:rPr>
                        <a:t>  </a:t>
                      </a:r>
                      <a:r>
                        <a:rPr lang="zh-CN" altLang="en-US" sz="1100" b="1" dirty="0">
                          <a:latin typeface="Arial" panose="020B0604020202020204" pitchFamily="34" charset="0"/>
                          <a:ea typeface="微软雅黑" panose="020B0503020204020204" pitchFamily="34" charset="-122"/>
                          <a:sym typeface="Arial" panose="020B0604020202020204" pitchFamily="34" charset="0"/>
                        </a:rPr>
                        <a:t>合计</a:t>
                      </a:r>
                    </a:p>
                  </a:txBody>
                  <a:tcPr marL="68580" marR="68580" marT="34290" marB="34290"/>
                </a:tc>
                <a:tc>
                  <a:txBody>
                    <a:bodyPr/>
                    <a:lstStyle/>
                    <a:p>
                      <a:pPr algn="ctr" fontAlgn="ctr"/>
                      <a:endParaRPr lang="en-US" altLang="zh-CN" sz="900" b="0" i="0" u="none" strike="noStrike" kern="1200" dirty="0">
                        <a:solidFill>
                          <a:srgbClr val="000000"/>
                        </a:solidFill>
                        <a:latin typeface="Arial" panose="020B0604020202020204" pitchFamily="34" charset="0"/>
                        <a:ea typeface="微软雅黑" panose="020B0503020204020204" pitchFamily="34" charset="-122"/>
                        <a:cs typeface="+mn-cs"/>
                        <a:sym typeface="Arial" panose="020B0604020202020204" pitchFamily="34" charset="0"/>
                      </a:endParaRPr>
                    </a:p>
                  </a:txBody>
                  <a:tcPr marL="7144" marR="7144" marT="7144" marB="0" anchor="ctr"/>
                </a:tc>
                <a:tc>
                  <a:txBody>
                    <a:bodyPr/>
                    <a:lstStyle/>
                    <a:p>
                      <a:pPr algn="ctr" fontAlgn="ctr"/>
                      <a:endParaRPr lang="en-US" altLang="zh-CN" sz="900" b="0" i="0" u="none" strike="noStrike" kern="1200" dirty="0">
                        <a:solidFill>
                          <a:srgbClr val="000000"/>
                        </a:solidFill>
                        <a:latin typeface="Arial" panose="020B0604020202020204" pitchFamily="34" charset="0"/>
                        <a:ea typeface="微软雅黑" panose="020B0503020204020204" pitchFamily="34" charset="-122"/>
                        <a:cs typeface="+mn-cs"/>
                        <a:sym typeface="Arial" panose="020B0604020202020204" pitchFamily="34" charset="0"/>
                      </a:endParaRPr>
                    </a:p>
                  </a:txBody>
                  <a:tcPr marL="7144" marR="7144" marT="7144" marB="0" anchor="ctr"/>
                </a:tc>
                <a:tc>
                  <a:txBody>
                    <a:bodyPr/>
                    <a:lstStyle/>
                    <a:p>
                      <a:pPr algn="ctr" fontAlgn="ctr"/>
                      <a:endParaRPr lang="en-US" altLang="zh-CN" sz="900" b="0" i="0" u="none" strike="noStrike" kern="1200" dirty="0">
                        <a:solidFill>
                          <a:srgbClr val="000000"/>
                        </a:solidFill>
                        <a:latin typeface="Arial" panose="020B0604020202020204" pitchFamily="34" charset="0"/>
                        <a:ea typeface="微软雅黑" panose="020B0503020204020204" pitchFamily="34" charset="-122"/>
                        <a:cs typeface="+mn-cs"/>
                        <a:sym typeface="Arial" panose="020B0604020202020204" pitchFamily="34" charset="0"/>
                      </a:endParaRPr>
                    </a:p>
                  </a:txBody>
                  <a:tcPr marL="7144" marR="7144" marT="7144" marB="0" anchor="ctr"/>
                </a:tc>
                <a:tc>
                  <a:txBody>
                    <a:bodyPr/>
                    <a:lstStyle/>
                    <a:p>
                      <a:pPr algn="ctr" fontAlgn="ctr"/>
                      <a:endParaRPr lang="en-US" altLang="zh-CN" sz="900" b="0" i="0" u="none" strike="noStrike" kern="1200" dirty="0">
                        <a:solidFill>
                          <a:srgbClr val="000000"/>
                        </a:solidFill>
                        <a:latin typeface="Arial" panose="020B0604020202020204" pitchFamily="34" charset="0"/>
                        <a:ea typeface="微软雅黑" panose="020B0503020204020204" pitchFamily="34" charset="-122"/>
                        <a:cs typeface="+mn-cs"/>
                        <a:sym typeface="Arial" panose="020B0604020202020204" pitchFamily="34" charset="0"/>
                      </a:endParaRPr>
                    </a:p>
                  </a:txBody>
                  <a:tcPr marL="7144" marR="7144" marT="7144" marB="0" anchor="ctr"/>
                </a:tc>
              </a:tr>
              <a:tr h="311670">
                <a:tc>
                  <a:txBody>
                    <a:bodyPr/>
                    <a:lstStyle/>
                    <a:p>
                      <a:r>
                        <a:rPr lang="zh-CN" altLang="en-US" sz="1100" b="1" dirty="0">
                          <a:latin typeface="Arial" panose="020B0604020202020204" pitchFamily="34" charset="0"/>
                          <a:ea typeface="微软雅黑" panose="020B0503020204020204" pitchFamily="34" charset="-122"/>
                          <a:sym typeface="Arial" panose="020B0604020202020204" pitchFamily="34" charset="0"/>
                        </a:rPr>
                        <a:t>费率比</a:t>
                      </a:r>
                    </a:p>
                  </a:txBody>
                  <a:tcPr marL="68580" marR="68580" marT="34290" marB="34290"/>
                </a:tc>
                <a:tc>
                  <a:txBody>
                    <a:bodyPr/>
                    <a:lstStyle/>
                    <a:p>
                      <a:pPr algn="ctr" fontAlgn="ctr"/>
                      <a:endParaRPr lang="en-US" altLang="zh-CN" sz="900" b="0" i="0" u="none" strike="noStrike" kern="1200" dirty="0">
                        <a:solidFill>
                          <a:srgbClr val="000000"/>
                        </a:solidFill>
                        <a:latin typeface="Arial" panose="020B0604020202020204" pitchFamily="34" charset="0"/>
                        <a:ea typeface="微软雅黑" panose="020B0503020204020204" pitchFamily="34" charset="-122"/>
                        <a:cs typeface="+mn-cs"/>
                        <a:sym typeface="Arial" panose="020B0604020202020204" pitchFamily="34" charset="0"/>
                      </a:endParaRPr>
                    </a:p>
                  </a:txBody>
                  <a:tcPr marL="7144" marR="7144" marT="7144" marB="0" anchor="ctr"/>
                </a:tc>
                <a:tc>
                  <a:txBody>
                    <a:bodyPr/>
                    <a:lstStyle/>
                    <a:p>
                      <a:pPr algn="ctr" fontAlgn="ctr"/>
                      <a:endParaRPr lang="en-US" altLang="zh-CN" sz="900" b="0" i="0" u="none" strike="noStrike" kern="1200" dirty="0">
                        <a:solidFill>
                          <a:srgbClr val="000000"/>
                        </a:solidFill>
                        <a:latin typeface="Arial" panose="020B0604020202020204" pitchFamily="34" charset="0"/>
                        <a:ea typeface="微软雅黑" panose="020B0503020204020204" pitchFamily="34" charset="-122"/>
                        <a:cs typeface="+mn-cs"/>
                        <a:sym typeface="Arial" panose="020B0604020202020204" pitchFamily="34" charset="0"/>
                      </a:endParaRPr>
                    </a:p>
                  </a:txBody>
                  <a:tcPr marL="7144" marR="7144" marT="7144" marB="0" anchor="ctr"/>
                </a:tc>
                <a:tc>
                  <a:txBody>
                    <a:bodyPr/>
                    <a:lstStyle/>
                    <a:p>
                      <a:pPr algn="ctr" fontAlgn="ctr"/>
                      <a:endParaRPr lang="en-US" altLang="zh-CN" sz="900" b="0" i="0" u="none" strike="noStrike" kern="1200" dirty="0">
                        <a:solidFill>
                          <a:srgbClr val="000000"/>
                        </a:solidFill>
                        <a:latin typeface="Arial" panose="020B0604020202020204" pitchFamily="34" charset="0"/>
                        <a:ea typeface="微软雅黑" panose="020B0503020204020204" pitchFamily="34" charset="-122"/>
                        <a:cs typeface="+mn-cs"/>
                        <a:sym typeface="Arial" panose="020B0604020202020204" pitchFamily="34" charset="0"/>
                      </a:endParaRPr>
                    </a:p>
                  </a:txBody>
                  <a:tcPr marL="7144" marR="7144" marT="7144" marB="0" anchor="ctr"/>
                </a:tc>
                <a:tc>
                  <a:txBody>
                    <a:bodyPr/>
                    <a:lstStyle/>
                    <a:p>
                      <a:pPr algn="ctr" fontAlgn="ctr"/>
                      <a:endParaRPr lang="en-US" altLang="zh-CN" sz="900" b="0" i="0" u="none" strike="noStrike" kern="1200" dirty="0">
                        <a:solidFill>
                          <a:srgbClr val="000000"/>
                        </a:solidFill>
                        <a:latin typeface="Arial" panose="020B0604020202020204" pitchFamily="34" charset="0"/>
                        <a:ea typeface="微软雅黑" panose="020B0503020204020204" pitchFamily="34" charset="-122"/>
                        <a:cs typeface="+mn-cs"/>
                        <a:sym typeface="Arial" panose="020B0604020202020204" pitchFamily="34" charset="0"/>
                      </a:endParaRPr>
                    </a:p>
                  </a:txBody>
                  <a:tcPr marL="7144" marR="7144" marT="7144" marB="0" anchor="ctr"/>
                </a:tc>
              </a:tr>
            </a:tbl>
          </a:graphicData>
        </a:graphic>
      </p:graphicFrame>
      <p:sp>
        <p:nvSpPr>
          <p:cNvPr id="10" name="TextBox 5"/>
          <p:cNvSpPr txBox="1"/>
          <p:nvPr/>
        </p:nvSpPr>
        <p:spPr>
          <a:xfrm>
            <a:off x="478271" y="901081"/>
            <a:ext cx="2970330" cy="300082"/>
          </a:xfrm>
          <a:prstGeom prst="rect">
            <a:avLst/>
          </a:prstGeom>
          <a:noFill/>
        </p:spPr>
        <p:txBody>
          <a:bodyPr wrap="square" rtlCol="0">
            <a:spAutoFit/>
          </a:bodyPr>
          <a:lstStyle/>
          <a:p>
            <a:r>
              <a:rPr lang="en-US" altLang="zh-CN" sz="1350" b="1" dirty="0">
                <a:latin typeface="Arial" panose="020B0604020202020204" pitchFamily="34" charset="0"/>
                <a:ea typeface="微软雅黑" panose="020B0503020204020204" pitchFamily="34" charset="-122"/>
                <a:sym typeface="Arial" panose="020B0604020202020204" pitchFamily="34" charset="0"/>
              </a:rPr>
              <a:t>1.1</a:t>
            </a:r>
            <a:r>
              <a:rPr lang="zh-CN" altLang="en-US" sz="1350" b="1" dirty="0">
                <a:latin typeface="Arial" panose="020B0604020202020204" pitchFamily="34" charset="0"/>
                <a:ea typeface="微软雅黑" panose="020B0503020204020204" pitchFamily="34" charset="-122"/>
                <a:sym typeface="Arial" panose="020B0604020202020204" pitchFamily="34" charset="0"/>
              </a:rPr>
              <a:t>期间费用总体分析</a:t>
            </a:r>
          </a:p>
        </p:txBody>
      </p:sp>
      <p:graphicFrame>
        <p:nvGraphicFramePr>
          <p:cNvPr id="11" name="图表 10"/>
          <p:cNvGraphicFramePr/>
          <p:nvPr/>
        </p:nvGraphicFramePr>
        <p:xfrm>
          <a:off x="4968044" y="1381436"/>
          <a:ext cx="2862318" cy="2700300"/>
        </p:xfrm>
        <a:graphic>
          <a:graphicData uri="http://schemas.openxmlformats.org/drawingml/2006/chart">
            <c:chart xmlns:c="http://schemas.openxmlformats.org/drawingml/2006/chart" xmlns:r="http://schemas.openxmlformats.org/officeDocument/2006/relationships" r:id="rId4"/>
          </a:graphicData>
        </a:graphic>
      </p:graphicFrame>
      <p:sp>
        <p:nvSpPr>
          <p:cNvPr id="12" name="TextBox 8"/>
          <p:cNvSpPr txBox="1"/>
          <p:nvPr/>
        </p:nvSpPr>
        <p:spPr>
          <a:xfrm>
            <a:off x="1403648" y="4081737"/>
            <a:ext cx="5994666" cy="715581"/>
          </a:xfrm>
          <a:prstGeom prst="rect">
            <a:avLst/>
          </a:prstGeom>
          <a:noFill/>
        </p:spPr>
        <p:txBody>
          <a:bodyPr wrap="square" rtlCol="0">
            <a:spAutoFit/>
          </a:bodyPr>
          <a:lstStyle/>
          <a:p>
            <a:r>
              <a:rPr lang="zh-CN" altLang="en-US" sz="1350" dirty="0">
                <a:latin typeface="Arial" panose="020B0604020202020204" pitchFamily="34" charset="0"/>
                <a:ea typeface="微软雅黑" panose="020B0503020204020204" pitchFamily="34" charset="-122"/>
                <a:sym typeface="Arial" panose="020B0604020202020204" pitchFamily="34" charset="0"/>
              </a:rPr>
              <a:t>分析：</a:t>
            </a:r>
            <a:r>
              <a:rPr lang="en-US" altLang="zh-CN" sz="1350" dirty="0">
                <a:latin typeface="Arial" panose="020B0604020202020204" pitchFamily="34" charset="0"/>
                <a:ea typeface="微软雅黑" panose="020B0503020204020204" pitchFamily="34" charset="-122"/>
                <a:sym typeface="Arial" panose="020B0604020202020204" pitchFamily="34" charset="0"/>
              </a:rPr>
              <a:t>2017</a:t>
            </a:r>
            <a:r>
              <a:rPr lang="zh-CN" altLang="en-US" sz="1350" dirty="0">
                <a:latin typeface="Arial" panose="020B0604020202020204" pitchFamily="34" charset="0"/>
                <a:ea typeface="微软雅黑" panose="020B0503020204020204" pitchFamily="34" charset="-122"/>
                <a:sym typeface="Arial" panose="020B0604020202020204" pitchFamily="34" charset="0"/>
              </a:rPr>
              <a:t>年，测算</a:t>
            </a:r>
            <a:r>
              <a:rPr lang="en-US" altLang="zh-CN" sz="1350" dirty="0">
                <a:latin typeface="Arial" panose="020B0604020202020204" pitchFamily="34" charset="0"/>
                <a:ea typeface="微软雅黑" panose="020B0503020204020204" pitchFamily="34" charset="-122"/>
                <a:sym typeface="Arial" panose="020B0604020202020204" pitchFamily="34" charset="0"/>
              </a:rPr>
              <a:t>2017</a:t>
            </a:r>
            <a:r>
              <a:rPr lang="zh-CN" altLang="en-US" sz="1350" dirty="0">
                <a:latin typeface="Arial" panose="020B0604020202020204" pitchFamily="34" charset="0"/>
                <a:ea typeface="微软雅黑" panose="020B0503020204020204" pitchFamily="34" charset="-122"/>
                <a:sym typeface="Arial" panose="020B0604020202020204" pitchFamily="34" charset="0"/>
              </a:rPr>
              <a:t>全年期间费用将达万左右，费率在左右。期中上升明显的是财务费用，主要是因为</a:t>
            </a:r>
            <a:r>
              <a:rPr lang="en-US" altLang="zh-CN" sz="1350" dirty="0">
                <a:latin typeface="Arial" panose="020B0604020202020204" pitchFamily="34" charset="0"/>
                <a:ea typeface="微软雅黑" panose="020B0503020204020204" pitchFamily="34" charset="-122"/>
                <a:sym typeface="Arial" panose="020B0604020202020204" pitchFamily="34" charset="0"/>
              </a:rPr>
              <a:t>2017</a:t>
            </a:r>
            <a:r>
              <a:rPr lang="zh-CN" altLang="en-US" sz="1350" dirty="0">
                <a:latin typeface="Arial" panose="020B0604020202020204" pitchFamily="34" charset="0"/>
                <a:ea typeface="微软雅黑" panose="020B0503020204020204" pitchFamily="34" charset="-122"/>
                <a:sym typeface="Arial" panose="020B0604020202020204" pitchFamily="34" charset="0"/>
              </a:rPr>
              <a:t>年外币波动较大，美元持续走软，我司的储存外币和应收外销款都大受汇率的影响。</a:t>
            </a:r>
          </a:p>
        </p:txBody>
      </p:sp>
      <p:sp>
        <p:nvSpPr>
          <p:cNvPr id="13" name="TextBox 9"/>
          <p:cNvSpPr txBox="1"/>
          <p:nvPr/>
        </p:nvSpPr>
        <p:spPr>
          <a:xfrm>
            <a:off x="3833918" y="1219419"/>
            <a:ext cx="972108" cy="219291"/>
          </a:xfrm>
          <a:prstGeom prst="rect">
            <a:avLst/>
          </a:prstGeom>
          <a:noFill/>
        </p:spPr>
        <p:txBody>
          <a:bodyPr wrap="square" rtlCol="0">
            <a:spAutoFit/>
          </a:bodyPr>
          <a:lstStyle/>
          <a:p>
            <a:r>
              <a:rPr lang="zh-CN" altLang="en-US" sz="825" b="1" dirty="0">
                <a:latin typeface="Arial" panose="020B0604020202020204" pitchFamily="34" charset="0"/>
                <a:ea typeface="微软雅黑" panose="020B0503020204020204" pitchFamily="34" charset="-122"/>
                <a:sym typeface="Arial" panose="020B0604020202020204" pitchFamily="34" charset="0"/>
              </a:rPr>
              <a:t>单位：万元</a:t>
            </a:r>
          </a:p>
        </p:txBody>
      </p:sp>
    </p:spTree>
  </p:cSld>
  <p:clrMapOvr>
    <a:masterClrMapping/>
  </p:clrMapOvr>
  <p:transition spd="slow" advClick="0" advTm="0">
    <p:cove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txBox="1"/>
          <p:nvPr/>
        </p:nvSpPr>
        <p:spPr>
          <a:xfrm>
            <a:off x="857885" y="195109"/>
            <a:ext cx="2600960" cy="379730"/>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000" b="1" dirty="0">
                <a:solidFill>
                  <a:schemeClr val="tx1"/>
                </a:solidFill>
                <a:latin typeface="Arial" panose="020B0604020202020204" pitchFamily="34" charset="0"/>
                <a:ea typeface="微软雅黑" panose="020B0503020204020204" pitchFamily="34" charset="-122"/>
                <a:sym typeface="Arial" panose="020B0604020202020204" pitchFamily="34" charset="0"/>
              </a:rPr>
              <a:t>1.3</a:t>
            </a:r>
            <a:r>
              <a:rPr lang="zh-CN" altLang="en-US" sz="2000" b="1" dirty="0">
                <a:solidFill>
                  <a:schemeClr val="tx1"/>
                </a:solidFill>
                <a:latin typeface="Arial" panose="020B0604020202020204" pitchFamily="34" charset="0"/>
                <a:ea typeface="微软雅黑" panose="020B0503020204020204" pitchFamily="34" charset="-122"/>
                <a:sym typeface="Arial" panose="020B0604020202020204" pitchFamily="34" charset="0"/>
              </a:rPr>
              <a:t>费用明细对比分析</a:t>
            </a:r>
          </a:p>
        </p:txBody>
      </p:sp>
      <p:graphicFrame>
        <p:nvGraphicFramePr>
          <p:cNvPr id="25" name="图表 24"/>
          <p:cNvGraphicFramePr/>
          <p:nvPr/>
        </p:nvGraphicFramePr>
        <p:xfrm>
          <a:off x="4211960" y="4149080"/>
          <a:ext cx="2592288" cy="223224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 name="表格 9"/>
          <p:cNvGraphicFramePr>
            <a:graphicFrameLocks noGrp="1"/>
          </p:cNvGraphicFramePr>
          <p:nvPr/>
        </p:nvGraphicFramePr>
        <p:xfrm>
          <a:off x="3167845" y="1059586"/>
          <a:ext cx="4482496" cy="2700293"/>
        </p:xfrm>
        <a:graphic>
          <a:graphicData uri="http://schemas.openxmlformats.org/drawingml/2006/table">
            <a:tbl>
              <a:tblPr firstRow="1" bandRow="1">
                <a:tableStyleId>{6E25E649-3F16-4E02-A733-19D2CDBF48F0}</a:tableStyleId>
              </a:tblPr>
              <a:tblGrid>
                <a:gridCol w="960698"/>
                <a:gridCol w="798257"/>
                <a:gridCol w="907847"/>
                <a:gridCol w="907847"/>
                <a:gridCol w="907847"/>
              </a:tblGrid>
              <a:tr h="226974">
                <a:tc>
                  <a:txBody>
                    <a:bodyPr/>
                    <a:lstStyle/>
                    <a:p>
                      <a:pPr algn="ctr" fontAlgn="ctr"/>
                      <a:r>
                        <a:rPr lang="zh-CN" altLang="en-US" sz="800" u="none" strike="noStrike" dirty="0">
                          <a:latin typeface="Arial" panose="020B0604020202020204" pitchFamily="34" charset="0"/>
                          <a:ea typeface="微软雅黑" panose="020B0503020204020204" pitchFamily="34" charset="-122"/>
                          <a:sym typeface="Arial" panose="020B0604020202020204" pitchFamily="34" charset="0"/>
                        </a:rPr>
                        <a:t> 类别 </a:t>
                      </a:r>
                      <a:endParaRPr lang="zh-CN" altLang="en-US" sz="8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r>
                        <a:rPr lang="zh-CN" altLang="en-US" sz="800" u="none" strike="noStrike" dirty="0">
                          <a:latin typeface="Arial" panose="020B0604020202020204" pitchFamily="34" charset="0"/>
                          <a:ea typeface="微软雅黑" panose="020B0503020204020204" pitchFamily="34" charset="-122"/>
                          <a:sym typeface="Arial" panose="020B0604020202020204" pitchFamily="34" charset="0"/>
                        </a:rPr>
                        <a:t> </a:t>
                      </a:r>
                      <a:r>
                        <a:rPr lang="en-US" altLang="zh-CN" sz="800" u="none" strike="noStrike" dirty="0">
                          <a:latin typeface="Arial" panose="020B0604020202020204" pitchFamily="34" charset="0"/>
                          <a:ea typeface="微软雅黑" panose="020B0503020204020204" pitchFamily="34" charset="-122"/>
                          <a:sym typeface="Arial" panose="020B0604020202020204" pitchFamily="34" charset="0"/>
                        </a:rPr>
                        <a:t>2017</a:t>
                      </a:r>
                      <a:r>
                        <a:rPr lang="zh-CN" altLang="en-US" sz="800" u="none" strike="noStrike" dirty="0">
                          <a:latin typeface="Arial" panose="020B0604020202020204" pitchFamily="34" charset="0"/>
                          <a:ea typeface="微软雅黑" panose="020B0503020204020204" pitchFamily="34" charset="-122"/>
                          <a:sym typeface="Arial" panose="020B0604020202020204" pitchFamily="34" charset="0"/>
                        </a:rPr>
                        <a:t>年</a:t>
                      </a:r>
                      <a:endParaRPr lang="zh-CN" altLang="en-US" sz="8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r>
                        <a:rPr lang="zh-CN" altLang="en-US" sz="800" u="none" strike="noStrike" dirty="0">
                          <a:latin typeface="Arial" panose="020B0604020202020204" pitchFamily="34" charset="0"/>
                          <a:ea typeface="微软雅黑" panose="020B0503020204020204" pitchFamily="34" charset="-122"/>
                          <a:sym typeface="Arial" panose="020B0604020202020204" pitchFamily="34" charset="0"/>
                        </a:rPr>
                        <a:t> </a:t>
                      </a:r>
                      <a:r>
                        <a:rPr lang="en-US" altLang="zh-CN" sz="800" u="none" strike="noStrike" dirty="0">
                          <a:latin typeface="Arial" panose="020B0604020202020204" pitchFamily="34" charset="0"/>
                          <a:ea typeface="微软雅黑" panose="020B0503020204020204" pitchFamily="34" charset="-122"/>
                          <a:sym typeface="Arial" panose="020B0604020202020204" pitchFamily="34" charset="0"/>
                        </a:rPr>
                        <a:t>2016</a:t>
                      </a:r>
                      <a:r>
                        <a:rPr lang="zh-CN" altLang="en-US" sz="800" u="none" strike="noStrike" dirty="0">
                          <a:latin typeface="Arial" panose="020B0604020202020204" pitchFamily="34" charset="0"/>
                          <a:ea typeface="微软雅黑" panose="020B0503020204020204" pitchFamily="34" charset="-122"/>
                          <a:sym typeface="Arial" panose="020B0604020202020204" pitchFamily="34" charset="0"/>
                        </a:rPr>
                        <a:t>年</a:t>
                      </a:r>
                      <a:endParaRPr lang="zh-CN" altLang="en-US" sz="8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r>
                        <a:rPr lang="zh-CN" altLang="en-US" sz="800" u="none" strike="noStrike" dirty="0">
                          <a:latin typeface="Arial" panose="020B0604020202020204" pitchFamily="34" charset="0"/>
                          <a:ea typeface="微软雅黑" panose="020B0503020204020204" pitchFamily="34" charset="-122"/>
                          <a:sym typeface="Arial" panose="020B0604020202020204" pitchFamily="34" charset="0"/>
                        </a:rPr>
                        <a:t> 增减额 </a:t>
                      </a:r>
                      <a:endParaRPr lang="zh-CN" altLang="en-US" sz="8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r>
                        <a:rPr lang="zh-CN" altLang="en-US" sz="800" u="none" strike="noStrike" dirty="0">
                          <a:latin typeface="Arial" panose="020B0604020202020204" pitchFamily="34" charset="0"/>
                          <a:ea typeface="微软雅黑" panose="020B0503020204020204" pitchFamily="34" charset="-122"/>
                          <a:sym typeface="Arial" panose="020B0604020202020204" pitchFamily="34" charset="0"/>
                        </a:rPr>
                        <a:t> 增减率  </a:t>
                      </a:r>
                      <a:endParaRPr lang="zh-CN" altLang="en-US" sz="8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r>
              <a:tr h="226974">
                <a:tc>
                  <a:txBody>
                    <a:bodyPr/>
                    <a:lstStyle/>
                    <a:p>
                      <a:pPr algn="ctr" fontAlgn="ctr"/>
                      <a:r>
                        <a:rPr lang="zh-CN" altLang="en-US" sz="800" b="0" i="0" u="none" strike="noStrike">
                          <a:solidFill>
                            <a:srgbClr val="000000"/>
                          </a:solidFill>
                          <a:latin typeface="Arial" panose="020B0604020202020204" pitchFamily="34" charset="0"/>
                          <a:ea typeface="微软雅黑" panose="020B0503020204020204" pitchFamily="34" charset="-122"/>
                          <a:sym typeface="Arial" panose="020B0604020202020204" pitchFamily="34" charset="0"/>
                        </a:rPr>
                        <a:t> 工资薪金 </a:t>
                      </a:r>
                    </a:p>
                  </a:txBody>
                  <a:tcPr marL="0" marR="0" marT="0" marB="0" anchor="ctr"/>
                </a:tc>
                <a:tc>
                  <a:txBody>
                    <a:bodyPr/>
                    <a:lstStyle/>
                    <a:p>
                      <a:pPr algn="ctr" fontAlgn="ctr"/>
                      <a:endParaRPr lang="en-US" altLang="zh-CN" sz="8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r>
              <a:tr h="226974">
                <a:tc>
                  <a:txBody>
                    <a:bodyPr/>
                    <a:lstStyle/>
                    <a:p>
                      <a:pPr algn="ctr" fontAlgn="ctr"/>
                      <a:r>
                        <a:rPr lang="zh-CN" altLang="en-US" sz="800" b="0" i="0" u="none" strike="noStrike">
                          <a:solidFill>
                            <a:srgbClr val="000000"/>
                          </a:solidFill>
                          <a:latin typeface="Arial" panose="020B0604020202020204" pitchFamily="34" charset="0"/>
                          <a:ea typeface="微软雅黑" panose="020B0503020204020204" pitchFamily="34" charset="-122"/>
                          <a:sym typeface="Arial" panose="020B0604020202020204" pitchFamily="34" charset="0"/>
                        </a:rPr>
                        <a:t> 财务费用 </a:t>
                      </a:r>
                    </a:p>
                  </a:txBody>
                  <a:tcPr marL="0" marR="0" marT="0" marB="0" anchor="ctr"/>
                </a:tc>
                <a:tc>
                  <a:txBody>
                    <a:bodyPr/>
                    <a:lstStyle/>
                    <a:p>
                      <a:pPr algn="ctr" fontAlgn="ctr"/>
                      <a:endParaRPr lang="en-US" altLang="zh-CN" sz="8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r>
              <a:tr h="226974">
                <a:tc>
                  <a:txBody>
                    <a:bodyPr/>
                    <a:lstStyle/>
                    <a:p>
                      <a:pPr algn="ctr" fontAlgn="ctr"/>
                      <a:r>
                        <a:rPr lang="zh-CN" altLang="en-US" sz="8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rPr>
                        <a:t> 咨询审计服务费 </a:t>
                      </a:r>
                    </a:p>
                  </a:txBody>
                  <a:tcPr marL="0" marR="0" marT="0" marB="0" anchor="ctr"/>
                </a:tc>
                <a:tc>
                  <a:txBody>
                    <a:bodyPr/>
                    <a:lstStyle/>
                    <a:p>
                      <a:pPr algn="ctr" fontAlgn="ctr"/>
                      <a:endParaRPr lang="en-US" altLang="zh-CN" sz="8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r>
              <a:tr h="203579">
                <a:tc>
                  <a:txBody>
                    <a:bodyPr/>
                    <a:lstStyle/>
                    <a:p>
                      <a:pPr algn="ctr" fontAlgn="ctr"/>
                      <a:r>
                        <a:rPr lang="zh-CN" altLang="en-US" sz="800" b="0" i="0" u="none" strike="noStrike">
                          <a:solidFill>
                            <a:srgbClr val="000000"/>
                          </a:solidFill>
                          <a:latin typeface="Arial" panose="020B0604020202020204" pitchFamily="34" charset="0"/>
                          <a:ea typeface="微软雅黑" panose="020B0503020204020204" pitchFamily="34" charset="-122"/>
                          <a:sym typeface="Arial" panose="020B0604020202020204" pitchFamily="34" charset="0"/>
                        </a:rPr>
                        <a:t> 办公费 </a:t>
                      </a:r>
                    </a:p>
                  </a:txBody>
                  <a:tcPr marL="0" marR="0" marT="0" marB="0" anchor="ctr"/>
                </a:tc>
                <a:tc>
                  <a:txBody>
                    <a:bodyPr/>
                    <a:lstStyle/>
                    <a:p>
                      <a:pPr algn="ctr" fontAlgn="ctr"/>
                      <a:endParaRPr lang="en-US" altLang="zh-CN" sz="800" b="0" i="0" u="none" strike="noStrike">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r>
              <a:tr h="226974">
                <a:tc>
                  <a:txBody>
                    <a:bodyPr/>
                    <a:lstStyle/>
                    <a:p>
                      <a:pPr algn="ctr" fontAlgn="ctr"/>
                      <a:r>
                        <a:rPr lang="zh-CN" altLang="en-US" sz="800" b="0" i="0" u="none" strike="noStrike">
                          <a:solidFill>
                            <a:srgbClr val="000000"/>
                          </a:solidFill>
                          <a:latin typeface="Arial" panose="020B0604020202020204" pitchFamily="34" charset="0"/>
                          <a:ea typeface="微软雅黑" panose="020B0503020204020204" pitchFamily="34" charset="-122"/>
                          <a:sym typeface="Arial" panose="020B0604020202020204" pitchFamily="34" charset="0"/>
                        </a:rPr>
                        <a:t> 项目费用 </a:t>
                      </a:r>
                    </a:p>
                  </a:txBody>
                  <a:tcPr marL="0" marR="0" marT="0" marB="0" anchor="ctr"/>
                </a:tc>
                <a:tc>
                  <a:txBody>
                    <a:bodyPr/>
                    <a:lstStyle/>
                    <a:p>
                      <a:pPr algn="ctr" fontAlgn="ctr"/>
                      <a:endParaRPr lang="en-US" altLang="zh-CN" sz="800" b="0" i="0" u="none" strike="noStrike">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r>
              <a:tr h="226974">
                <a:tc>
                  <a:txBody>
                    <a:bodyPr/>
                    <a:lstStyle/>
                    <a:p>
                      <a:pPr algn="ctr" fontAlgn="ctr"/>
                      <a:r>
                        <a:rPr lang="zh-CN" altLang="en-US" sz="8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rPr>
                        <a:t> 业务招待费 </a:t>
                      </a:r>
                    </a:p>
                  </a:txBody>
                  <a:tcPr marL="0" marR="0" marT="0" marB="0" anchor="ctr"/>
                </a:tc>
                <a:tc>
                  <a:txBody>
                    <a:bodyPr/>
                    <a:lstStyle/>
                    <a:p>
                      <a:pPr algn="ctr" fontAlgn="ctr"/>
                      <a:endParaRPr lang="en-US" altLang="zh-CN" sz="800" b="0" i="0" u="none" strike="noStrike">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r>
              <a:tr h="226974">
                <a:tc>
                  <a:txBody>
                    <a:bodyPr/>
                    <a:lstStyle/>
                    <a:p>
                      <a:pPr algn="ctr" fontAlgn="ctr"/>
                      <a:r>
                        <a:rPr lang="zh-CN" altLang="en-US" sz="800" b="0" i="0" u="none" strike="noStrike">
                          <a:solidFill>
                            <a:srgbClr val="000000"/>
                          </a:solidFill>
                          <a:latin typeface="Arial" panose="020B0604020202020204" pitchFamily="34" charset="0"/>
                          <a:ea typeface="微软雅黑" panose="020B0503020204020204" pitchFamily="34" charset="-122"/>
                          <a:sym typeface="Arial" panose="020B0604020202020204" pitchFamily="34" charset="0"/>
                        </a:rPr>
                        <a:t> 差旅及交通费 </a:t>
                      </a:r>
                    </a:p>
                  </a:txBody>
                  <a:tcPr marL="0" marR="0" marT="0" marB="0" anchor="ctr"/>
                </a:tc>
                <a:tc>
                  <a:txBody>
                    <a:bodyPr/>
                    <a:lstStyle/>
                    <a:p>
                      <a:pPr algn="ctr" fontAlgn="ctr"/>
                      <a:endParaRPr lang="en-US" altLang="zh-CN" sz="800" b="0" i="0" u="none" strike="noStrike">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r>
              <a:tr h="226974">
                <a:tc>
                  <a:txBody>
                    <a:bodyPr/>
                    <a:lstStyle/>
                    <a:p>
                      <a:pPr algn="ctr" fontAlgn="ctr"/>
                      <a:r>
                        <a:rPr lang="zh-CN" altLang="en-US" sz="800" b="0" i="0" u="none" strike="noStrike">
                          <a:solidFill>
                            <a:srgbClr val="000000"/>
                          </a:solidFill>
                          <a:latin typeface="Arial" panose="020B0604020202020204" pitchFamily="34" charset="0"/>
                          <a:ea typeface="微软雅黑" panose="020B0503020204020204" pitchFamily="34" charset="-122"/>
                          <a:sym typeface="Arial" panose="020B0604020202020204" pitchFamily="34" charset="0"/>
                        </a:rPr>
                        <a:t> 资产摊销及折旧 </a:t>
                      </a:r>
                    </a:p>
                  </a:txBody>
                  <a:tcPr marL="0" marR="0" marT="0" marB="0" anchor="ctr"/>
                </a:tc>
                <a:tc>
                  <a:txBody>
                    <a:bodyPr/>
                    <a:lstStyle/>
                    <a:p>
                      <a:pPr algn="ctr" fontAlgn="ctr"/>
                      <a:endParaRPr lang="en-US" altLang="zh-CN" sz="800" b="0" i="0" u="none" strike="noStrike">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r>
              <a:tr h="226974">
                <a:tc>
                  <a:txBody>
                    <a:bodyPr/>
                    <a:lstStyle/>
                    <a:p>
                      <a:pPr algn="ctr" fontAlgn="ctr"/>
                      <a:r>
                        <a:rPr lang="zh-CN" altLang="en-US" sz="800" b="0" i="0" u="none" strike="noStrike">
                          <a:solidFill>
                            <a:srgbClr val="000000"/>
                          </a:solidFill>
                          <a:latin typeface="Arial" panose="020B0604020202020204" pitchFamily="34" charset="0"/>
                          <a:ea typeface="微软雅黑" panose="020B0503020204020204" pitchFamily="34" charset="-122"/>
                          <a:sym typeface="Arial" panose="020B0604020202020204" pitchFamily="34" charset="0"/>
                        </a:rPr>
                        <a:t> 车辆费用 </a:t>
                      </a:r>
                    </a:p>
                  </a:txBody>
                  <a:tcPr marL="0" marR="0" marT="0" marB="0" anchor="ctr"/>
                </a:tc>
                <a:tc>
                  <a:txBody>
                    <a:bodyPr/>
                    <a:lstStyle/>
                    <a:p>
                      <a:pPr algn="ctr" fontAlgn="ctr"/>
                      <a:endParaRPr lang="en-US" altLang="zh-CN" sz="800" b="0" i="0" u="none" strike="noStrike">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r>
              <a:tr h="226974">
                <a:tc>
                  <a:txBody>
                    <a:bodyPr/>
                    <a:lstStyle/>
                    <a:p>
                      <a:pPr algn="ctr" fontAlgn="ctr"/>
                      <a:r>
                        <a:rPr lang="zh-CN" altLang="en-US" sz="8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rPr>
                        <a:t> 其它 </a:t>
                      </a:r>
                    </a:p>
                  </a:txBody>
                  <a:tcPr marL="0" marR="0" marT="0" marB="0" anchor="ctr"/>
                </a:tc>
                <a:tc>
                  <a:txBody>
                    <a:bodyPr/>
                    <a:lstStyle/>
                    <a:p>
                      <a:pPr algn="ctr" fontAlgn="ctr"/>
                      <a:endParaRPr lang="en-US" altLang="zh-CN" sz="800" b="0" i="0" u="none" strike="noStrike">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r>
              <a:tr h="226974">
                <a:tc>
                  <a:txBody>
                    <a:bodyPr/>
                    <a:lstStyle/>
                    <a:p>
                      <a:pPr algn="ctr" fontAlgn="ctr"/>
                      <a:r>
                        <a:rPr lang="zh-CN" altLang="en-US" sz="800" b="1" u="none" strike="noStrike" dirty="0">
                          <a:latin typeface="Arial" panose="020B0604020202020204" pitchFamily="34" charset="0"/>
                          <a:ea typeface="微软雅黑" panose="020B0503020204020204" pitchFamily="34" charset="-122"/>
                          <a:sym typeface="Arial" panose="020B0604020202020204" pitchFamily="34" charset="0"/>
                        </a:rPr>
                        <a:t> 总计 </a:t>
                      </a:r>
                      <a:endParaRPr lang="zh-CN" altLang="en-US" sz="800" b="1"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r>
            </a:tbl>
          </a:graphicData>
        </a:graphic>
      </p:graphicFrame>
      <p:sp>
        <p:nvSpPr>
          <p:cNvPr id="11" name="TextBox 6"/>
          <p:cNvSpPr txBox="1"/>
          <p:nvPr/>
        </p:nvSpPr>
        <p:spPr>
          <a:xfrm>
            <a:off x="1223628" y="4149080"/>
            <a:ext cx="6858762" cy="854080"/>
          </a:xfrm>
          <a:prstGeom prst="rect">
            <a:avLst/>
          </a:prstGeom>
          <a:noFill/>
        </p:spPr>
        <p:txBody>
          <a:bodyPr wrap="square" rtlCol="0">
            <a:spAutoFit/>
          </a:bodyPr>
          <a:lstStyle/>
          <a:p>
            <a:r>
              <a:rPr lang="zh-CN" altLang="en-US" sz="1200" b="1" dirty="0">
                <a:latin typeface="Arial" panose="020B0604020202020204" pitchFamily="34" charset="0"/>
                <a:ea typeface="微软雅黑" panose="020B0503020204020204" pitchFamily="34" charset="-122"/>
                <a:sym typeface="Arial" panose="020B0604020202020204" pitchFamily="34" charset="0"/>
              </a:rPr>
              <a:t>分析：</a:t>
            </a:r>
            <a:r>
              <a:rPr lang="zh-CN" altLang="en-US" sz="1200" b="1" dirty="0">
                <a:solidFill>
                  <a:srgbClr val="000000"/>
                </a:solidFill>
                <a:latin typeface="Arial" panose="020B0604020202020204" pitchFamily="34" charset="0"/>
                <a:ea typeface="微软雅黑" panose="020B0503020204020204" pitchFamily="34" charset="-122"/>
                <a:sym typeface="Arial" panose="020B0604020202020204" pitchFamily="34" charset="0"/>
              </a:rPr>
              <a:t> </a:t>
            </a:r>
            <a:r>
              <a:rPr lang="en-US" altLang="zh-CN" sz="1200" dirty="0">
                <a:solidFill>
                  <a:srgbClr val="000000"/>
                </a:solidFill>
                <a:latin typeface="Arial" panose="020B0604020202020204" pitchFamily="34" charset="0"/>
                <a:ea typeface="微软雅黑" panose="020B0503020204020204" pitchFamily="34" charset="-122"/>
                <a:sym typeface="Arial" panose="020B0604020202020204" pitchFamily="34" charset="0"/>
              </a:rPr>
              <a:t>1</a:t>
            </a:r>
            <a:r>
              <a:rPr lang="zh-CN" altLang="en-US" sz="1200" dirty="0">
                <a:solidFill>
                  <a:srgbClr val="000000"/>
                </a:solidFill>
                <a:latin typeface="Arial" panose="020B0604020202020204" pitchFamily="34" charset="0"/>
                <a:ea typeface="微软雅黑" panose="020B0503020204020204" pitchFamily="34" charset="-122"/>
                <a:sym typeface="Arial" panose="020B0604020202020204" pitchFamily="34" charset="0"/>
              </a:rPr>
              <a:t>、财务费用本期比上年同期费上升了，主要：①、是受国际市场美元持续走软，我司美元现金储备和应收账款都受到汇率的影响 ，</a:t>
            </a:r>
            <a:r>
              <a:rPr lang="en-US" altLang="zh-CN" sz="1200" dirty="0">
                <a:solidFill>
                  <a:srgbClr val="000000"/>
                </a:solidFill>
                <a:latin typeface="Arial" panose="020B0604020202020204" pitchFamily="34" charset="0"/>
                <a:ea typeface="微软雅黑" panose="020B0503020204020204" pitchFamily="34" charset="-122"/>
                <a:sym typeface="Arial" panose="020B0604020202020204" pitchFamily="34" charset="0"/>
              </a:rPr>
              <a:t>2017</a:t>
            </a:r>
            <a:r>
              <a:rPr lang="zh-CN" altLang="en-US" sz="1200" dirty="0">
                <a:solidFill>
                  <a:srgbClr val="000000"/>
                </a:solidFill>
                <a:latin typeface="Arial" panose="020B0604020202020204" pitchFamily="34" charset="0"/>
                <a:ea typeface="微软雅黑" panose="020B0503020204020204" pitchFamily="34" charset="-122"/>
                <a:sym typeface="Arial" panose="020B0604020202020204" pitchFamily="34" charset="0"/>
              </a:rPr>
              <a:t>年累计产生汇兑损益万元；</a:t>
            </a:r>
            <a:endParaRPr lang="en-US" altLang="zh-CN" sz="1200"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p>
            <a:r>
              <a:rPr lang="en-US" altLang="zh-CN" sz="1200" dirty="0">
                <a:solidFill>
                  <a:srgbClr val="000000"/>
                </a:solidFill>
                <a:latin typeface="Arial" panose="020B0604020202020204" pitchFamily="34" charset="0"/>
                <a:ea typeface="微软雅黑" panose="020B0503020204020204" pitchFamily="34" charset="-122"/>
                <a:sym typeface="Arial" panose="020B0604020202020204" pitchFamily="34" charset="0"/>
              </a:rPr>
              <a:t>       2</a:t>
            </a:r>
            <a:r>
              <a:rPr lang="zh-CN" altLang="en-US" sz="1200" dirty="0">
                <a:solidFill>
                  <a:srgbClr val="000000"/>
                </a:solidFill>
                <a:latin typeface="Arial" panose="020B0604020202020204" pitchFamily="34" charset="0"/>
                <a:ea typeface="微软雅黑" panose="020B0503020204020204" pitchFamily="34" charset="-122"/>
                <a:sym typeface="Arial" panose="020B0604020202020204" pitchFamily="34" charset="0"/>
              </a:rPr>
              <a:t>、</a:t>
            </a:r>
            <a:r>
              <a:rPr lang="en-US" altLang="zh-CN" sz="1200" dirty="0">
                <a:solidFill>
                  <a:srgbClr val="000000"/>
                </a:solidFill>
                <a:latin typeface="Arial" panose="020B0604020202020204" pitchFamily="34" charset="0"/>
                <a:ea typeface="微软雅黑" panose="020B0503020204020204" pitchFamily="34" charset="-122"/>
                <a:sym typeface="Arial" panose="020B0604020202020204" pitchFamily="34" charset="0"/>
              </a:rPr>
              <a:t>201</a:t>
            </a:r>
            <a:r>
              <a:rPr lang="zh-CN" altLang="en-US" sz="1200" dirty="0">
                <a:solidFill>
                  <a:srgbClr val="000000"/>
                </a:solidFill>
                <a:latin typeface="Arial" panose="020B0604020202020204" pitchFamily="34" charset="0"/>
                <a:ea typeface="微软雅黑" panose="020B0503020204020204" pitchFamily="34" charset="-122"/>
                <a:sym typeface="Arial" panose="020B0604020202020204" pitchFamily="34" charset="0"/>
              </a:rPr>
              <a:t>费</a:t>
            </a:r>
            <a:r>
              <a:rPr lang="en-US" altLang="zh-CN" sz="1200" dirty="0">
                <a:solidFill>
                  <a:srgbClr val="000000"/>
                </a:solidFill>
                <a:latin typeface="Arial" panose="020B0604020202020204" pitchFamily="34" charset="0"/>
                <a:ea typeface="微软雅黑" panose="020B0503020204020204" pitchFamily="34" charset="-122"/>
                <a:sym typeface="Arial" panose="020B0604020202020204" pitchFamily="34" charset="0"/>
              </a:rPr>
              <a:t>2017</a:t>
            </a:r>
            <a:r>
              <a:rPr lang="zh-CN" altLang="en-US" sz="1200" dirty="0">
                <a:solidFill>
                  <a:srgbClr val="000000"/>
                </a:solidFill>
                <a:latin typeface="Arial" panose="020B0604020202020204" pitchFamily="34" charset="0"/>
                <a:ea typeface="微软雅黑" panose="020B0503020204020204" pitchFamily="34" charset="-122"/>
                <a:sym typeface="Arial" panose="020B0604020202020204" pitchFamily="34" charset="0"/>
              </a:rPr>
              <a:t>年上比上年同期费用上升了</a:t>
            </a:r>
            <a:r>
              <a:rPr lang="en-US" altLang="zh-CN" sz="1200" dirty="0">
                <a:solidFill>
                  <a:srgbClr val="000000"/>
                </a:solidFill>
                <a:latin typeface="Arial" panose="020B0604020202020204" pitchFamily="34" charset="0"/>
                <a:ea typeface="微软雅黑" panose="020B0503020204020204" pitchFamily="34" charset="-122"/>
                <a:sym typeface="Arial" panose="020B0604020202020204" pitchFamily="34" charset="0"/>
              </a:rPr>
              <a:t>%</a:t>
            </a:r>
            <a:r>
              <a:rPr lang="zh-CN" altLang="en-US" sz="1200" dirty="0">
                <a:solidFill>
                  <a:srgbClr val="000000"/>
                </a:solidFill>
                <a:latin typeface="Arial" panose="020B0604020202020204" pitchFamily="34" charset="0"/>
                <a:ea typeface="微软雅黑" panose="020B0503020204020204" pitchFamily="34" charset="-122"/>
                <a:sym typeface="Arial" panose="020B0604020202020204" pitchFamily="34" charset="0"/>
              </a:rPr>
              <a:t>， 主要是在月确认了万元的咨询服务费。</a:t>
            </a:r>
          </a:p>
          <a:p>
            <a:endParaRPr lang="zh-CN" altLang="en-US" sz="1350" dirty="0">
              <a:latin typeface="Arial" panose="020B0604020202020204" pitchFamily="34" charset="0"/>
              <a:ea typeface="微软雅黑" panose="020B0503020204020204" pitchFamily="34" charset="-122"/>
              <a:sym typeface="Arial" panose="020B0604020202020204" pitchFamily="34" charset="0"/>
            </a:endParaRPr>
          </a:p>
        </p:txBody>
      </p:sp>
      <p:pic>
        <p:nvPicPr>
          <p:cNvPr id="12" name="图片 11" descr="费用图片.png"/>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1223628" y="1059582"/>
            <a:ext cx="1836204" cy="2700300"/>
          </a:xfrm>
          <a:prstGeom prst="rect">
            <a:avLst/>
          </a:prstGeom>
        </p:spPr>
      </p:pic>
      <p:sp>
        <p:nvSpPr>
          <p:cNvPr id="13" name="TextBox 7"/>
          <p:cNvSpPr txBox="1"/>
          <p:nvPr/>
        </p:nvSpPr>
        <p:spPr>
          <a:xfrm>
            <a:off x="6624228" y="843559"/>
            <a:ext cx="972108" cy="219291"/>
          </a:xfrm>
          <a:prstGeom prst="rect">
            <a:avLst/>
          </a:prstGeom>
          <a:noFill/>
        </p:spPr>
        <p:txBody>
          <a:bodyPr wrap="square" rtlCol="0">
            <a:spAutoFit/>
          </a:bodyPr>
          <a:lstStyle/>
          <a:p>
            <a:r>
              <a:rPr lang="zh-CN" altLang="en-US" sz="825" b="1" dirty="0">
                <a:latin typeface="Arial" panose="020B0604020202020204" pitchFamily="34" charset="0"/>
                <a:ea typeface="微软雅黑" panose="020B0503020204020204" pitchFamily="34" charset="-122"/>
                <a:sym typeface="Arial" panose="020B0604020202020204" pitchFamily="34" charset="0"/>
              </a:rPr>
              <a:t>单位：万元</a:t>
            </a:r>
          </a:p>
        </p:txBody>
      </p:sp>
    </p:spTree>
  </p:cSld>
  <p:clrMapOvr>
    <a:masterClrMapping/>
  </p:clrMapOvr>
  <p:transition spd="slow" advClick="0" advTm="0">
    <p:cove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txBox="1"/>
          <p:nvPr/>
        </p:nvSpPr>
        <p:spPr>
          <a:xfrm>
            <a:off x="857885" y="195109"/>
            <a:ext cx="2600960" cy="379730"/>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000" b="1" dirty="0">
                <a:solidFill>
                  <a:schemeClr val="tx1"/>
                </a:solidFill>
                <a:latin typeface="Arial" panose="020B0604020202020204" pitchFamily="34" charset="0"/>
                <a:ea typeface="微软雅黑" panose="020B0503020204020204" pitchFamily="34" charset="-122"/>
                <a:sym typeface="Arial" panose="020B0604020202020204" pitchFamily="34" charset="0"/>
              </a:rPr>
              <a:t>1.4</a:t>
            </a:r>
            <a:r>
              <a:rPr lang="zh-CN" altLang="en-US" sz="2000" b="1" dirty="0">
                <a:solidFill>
                  <a:schemeClr val="tx1"/>
                </a:solidFill>
                <a:latin typeface="Arial" panose="020B0604020202020204" pitchFamily="34" charset="0"/>
                <a:ea typeface="微软雅黑" panose="020B0503020204020204" pitchFamily="34" charset="-122"/>
                <a:sym typeface="Arial" panose="020B0604020202020204" pitchFamily="34" charset="0"/>
              </a:rPr>
              <a:t>工资薪金分析</a:t>
            </a:r>
          </a:p>
        </p:txBody>
      </p:sp>
      <p:graphicFrame>
        <p:nvGraphicFramePr>
          <p:cNvPr id="25" name="图表 24"/>
          <p:cNvGraphicFramePr/>
          <p:nvPr/>
        </p:nvGraphicFramePr>
        <p:xfrm>
          <a:off x="4211960" y="4149080"/>
          <a:ext cx="2592288" cy="223224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表格 13"/>
          <p:cNvGraphicFramePr>
            <a:graphicFrameLocks noGrp="1"/>
          </p:cNvGraphicFramePr>
          <p:nvPr/>
        </p:nvGraphicFramePr>
        <p:xfrm>
          <a:off x="1547664" y="1249305"/>
          <a:ext cx="3780422" cy="2332830"/>
        </p:xfrm>
        <a:graphic>
          <a:graphicData uri="http://schemas.openxmlformats.org/drawingml/2006/table">
            <a:tbl>
              <a:tblPr firstRow="1" bandRow="1">
                <a:tableStyleId>{74C1A8A3-306A-4EB7-A6B1-4F7E0EB9C5D6}</a:tableStyleId>
              </a:tblPr>
              <a:tblGrid>
                <a:gridCol w="988726"/>
                <a:gridCol w="697924"/>
                <a:gridCol w="756084"/>
                <a:gridCol w="639764"/>
                <a:gridCol w="697924"/>
              </a:tblGrid>
              <a:tr h="258088">
                <a:tc>
                  <a:txBody>
                    <a:bodyPr/>
                    <a:lstStyle/>
                    <a:p>
                      <a:pPr algn="ctr"/>
                      <a:r>
                        <a:rPr lang="zh-CN" altLang="en-US" sz="900" dirty="0">
                          <a:latin typeface="Arial" panose="020B0604020202020204" pitchFamily="34" charset="0"/>
                          <a:ea typeface="微软雅黑" panose="020B0503020204020204" pitchFamily="34" charset="-122"/>
                          <a:sym typeface="Arial" panose="020B0604020202020204" pitchFamily="34" charset="0"/>
                        </a:rPr>
                        <a:t>项目</a:t>
                      </a:r>
                    </a:p>
                  </a:txBody>
                  <a:tcPr marL="68580" marR="68580" marT="34290" marB="34290"/>
                </a:tc>
                <a:tc>
                  <a:txBody>
                    <a:bodyPr/>
                    <a:lstStyle/>
                    <a:p>
                      <a:pPr algn="ctr"/>
                      <a:r>
                        <a:rPr lang="en-US" altLang="zh-CN" sz="900" dirty="0">
                          <a:latin typeface="Arial" panose="020B0604020202020204" pitchFamily="34" charset="0"/>
                          <a:ea typeface="微软雅黑" panose="020B0503020204020204" pitchFamily="34" charset="-122"/>
                          <a:sym typeface="Arial" panose="020B0604020202020204" pitchFamily="34" charset="0"/>
                        </a:rPr>
                        <a:t>2017</a:t>
                      </a:r>
                      <a:r>
                        <a:rPr lang="zh-CN" altLang="en-US" sz="900" dirty="0">
                          <a:latin typeface="Arial" panose="020B0604020202020204" pitchFamily="34" charset="0"/>
                          <a:ea typeface="微软雅黑" panose="020B0503020204020204" pitchFamily="34" charset="-122"/>
                          <a:sym typeface="Arial" panose="020B0604020202020204" pitchFamily="34" charset="0"/>
                        </a:rPr>
                        <a:t>年</a:t>
                      </a:r>
                    </a:p>
                  </a:txBody>
                  <a:tcPr marL="68580" marR="68580" marT="34290" marB="34290"/>
                </a:tc>
                <a:tc>
                  <a:txBody>
                    <a:bodyPr/>
                    <a:lstStyle/>
                    <a:p>
                      <a:pPr algn="ctr"/>
                      <a:r>
                        <a:rPr lang="en-US" altLang="zh-CN" sz="900" dirty="0">
                          <a:latin typeface="Arial" panose="020B0604020202020204" pitchFamily="34" charset="0"/>
                          <a:ea typeface="微软雅黑" panose="020B0503020204020204" pitchFamily="34" charset="-122"/>
                          <a:sym typeface="Arial" panose="020B0604020202020204" pitchFamily="34" charset="0"/>
                        </a:rPr>
                        <a:t>2016</a:t>
                      </a:r>
                      <a:r>
                        <a:rPr lang="zh-CN" altLang="en-US" sz="900" dirty="0">
                          <a:latin typeface="Arial" panose="020B0604020202020204" pitchFamily="34" charset="0"/>
                          <a:ea typeface="微软雅黑" panose="020B0503020204020204" pitchFamily="34" charset="-122"/>
                          <a:sym typeface="Arial" panose="020B0604020202020204" pitchFamily="34" charset="0"/>
                        </a:rPr>
                        <a:t>年</a:t>
                      </a:r>
                    </a:p>
                  </a:txBody>
                  <a:tcPr marL="68580" marR="68580" marT="34290" marB="34290"/>
                </a:tc>
                <a:tc>
                  <a:txBody>
                    <a:bodyPr/>
                    <a:lstStyle/>
                    <a:p>
                      <a:pPr algn="ctr"/>
                      <a:r>
                        <a:rPr lang="zh-CN" altLang="en-US" sz="900" dirty="0">
                          <a:latin typeface="Arial" panose="020B0604020202020204" pitchFamily="34" charset="0"/>
                          <a:ea typeface="微软雅黑" panose="020B0503020204020204" pitchFamily="34" charset="-122"/>
                          <a:sym typeface="Arial" panose="020B0604020202020204" pitchFamily="34" charset="0"/>
                        </a:rPr>
                        <a:t>增减额</a:t>
                      </a:r>
                    </a:p>
                  </a:txBody>
                  <a:tcPr marL="68580" marR="68580" marT="34290" marB="34290"/>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900" dirty="0">
                          <a:latin typeface="Arial" panose="020B0604020202020204" pitchFamily="34" charset="0"/>
                          <a:ea typeface="微软雅黑" panose="020B0503020204020204" pitchFamily="34" charset="-122"/>
                          <a:sym typeface="Arial" panose="020B0604020202020204" pitchFamily="34" charset="0"/>
                        </a:rPr>
                        <a:t>增减率</a:t>
                      </a:r>
                    </a:p>
                  </a:txBody>
                  <a:tcPr marL="68580" marR="68580" marT="34290" marB="34290"/>
                </a:tc>
              </a:tr>
              <a:tr h="274320">
                <a:tc>
                  <a:txBody>
                    <a:bodyPr/>
                    <a:lstStyle/>
                    <a:p>
                      <a:pPr algn="ctr"/>
                      <a:r>
                        <a:rPr lang="zh-CN" altLang="en-US" sz="1400" dirty="0">
                          <a:latin typeface="Arial" panose="020B0604020202020204" pitchFamily="34" charset="0"/>
                          <a:ea typeface="微软雅黑" panose="020B0503020204020204" pitchFamily="34" charset="-122"/>
                          <a:sym typeface="Arial" panose="020B0604020202020204" pitchFamily="34" charset="0"/>
                        </a:rPr>
                        <a:t>工资</a:t>
                      </a:r>
                      <a:endParaRPr lang="zh-CN" altLang="en-US" sz="1400" b="1" dirty="0">
                        <a:latin typeface="Arial" panose="020B0604020202020204" pitchFamily="34" charset="0"/>
                        <a:ea typeface="微软雅黑" panose="020B0503020204020204" pitchFamily="34" charset="-122"/>
                        <a:sym typeface="Arial" panose="020B0604020202020204" pitchFamily="34" charset="0"/>
                      </a:endParaRPr>
                    </a:p>
                  </a:txBody>
                  <a:tcPr marL="68580" marR="68580" marT="34290" marB="34290"/>
                </a:tc>
                <a:tc>
                  <a:txBody>
                    <a:bodyPr/>
                    <a:lstStyle/>
                    <a:p>
                      <a:pPr algn="ctr" rtl="0" fontAlgn="t"/>
                      <a:endParaRPr lang="en-US" altLang="zh-CN" sz="9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tc>
                <a:tc>
                  <a:txBody>
                    <a:bodyPr/>
                    <a:lstStyle/>
                    <a:p>
                      <a:pPr algn="ctr" rtl="0" fontAlgn="t"/>
                      <a:endParaRPr lang="en-US" altLang="zh-CN" sz="9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tc>
                <a:tc>
                  <a:txBody>
                    <a:bodyPr/>
                    <a:lstStyle/>
                    <a:p>
                      <a:pPr algn="ctr" rtl="0" fontAlgn="t"/>
                      <a:endParaRPr lang="en-US" altLang="zh-CN" sz="9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tc>
                <a:tc>
                  <a:txBody>
                    <a:bodyPr/>
                    <a:lstStyle/>
                    <a:p>
                      <a:pPr algn="ctr" rtl="0" fontAlgn="t"/>
                      <a:endParaRPr lang="en-US" altLang="zh-CN" sz="9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tc>
              </a:tr>
              <a:tr h="274320">
                <a:tc>
                  <a:txBody>
                    <a:bodyPr/>
                    <a:lstStyle/>
                    <a:p>
                      <a:pPr algn="ctr"/>
                      <a:r>
                        <a:rPr lang="zh-CN" altLang="en-US" sz="1400" dirty="0">
                          <a:latin typeface="Arial" panose="020B0604020202020204" pitchFamily="34" charset="0"/>
                          <a:ea typeface="微软雅黑" panose="020B0503020204020204" pitchFamily="34" charset="-122"/>
                          <a:sym typeface="Arial" panose="020B0604020202020204" pitchFamily="34" charset="0"/>
                        </a:rPr>
                        <a:t>社保</a:t>
                      </a:r>
                      <a:endParaRPr lang="zh-CN" altLang="en-US" sz="1400" b="1" dirty="0">
                        <a:latin typeface="Arial" panose="020B0604020202020204" pitchFamily="34" charset="0"/>
                        <a:ea typeface="微软雅黑" panose="020B0503020204020204" pitchFamily="34" charset="-122"/>
                        <a:sym typeface="Arial" panose="020B0604020202020204" pitchFamily="34" charset="0"/>
                      </a:endParaRPr>
                    </a:p>
                  </a:txBody>
                  <a:tcPr marL="68580" marR="68580" marT="34290" marB="34290"/>
                </a:tc>
                <a:tc>
                  <a:txBody>
                    <a:bodyPr/>
                    <a:lstStyle/>
                    <a:p>
                      <a:pPr algn="ctr" rtl="0" fontAlgn="t"/>
                      <a:endParaRPr lang="en-US" altLang="zh-CN" sz="9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tc>
                <a:tc>
                  <a:txBody>
                    <a:bodyPr/>
                    <a:lstStyle/>
                    <a:p>
                      <a:pPr algn="ctr" rtl="0" fontAlgn="t"/>
                      <a:endParaRPr lang="en-US" altLang="zh-CN" sz="9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tc>
                <a:tc>
                  <a:txBody>
                    <a:bodyPr/>
                    <a:lstStyle/>
                    <a:p>
                      <a:pPr algn="ctr" rtl="0" fontAlgn="t"/>
                      <a:endParaRPr lang="en-US" altLang="zh-CN" sz="9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tc>
                <a:tc>
                  <a:txBody>
                    <a:bodyPr/>
                    <a:lstStyle/>
                    <a:p>
                      <a:pPr algn="ctr" rtl="0" fontAlgn="t"/>
                      <a:endParaRPr lang="en-US" altLang="zh-CN" sz="9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tc>
              </a:tr>
              <a:tr h="274320">
                <a:tc>
                  <a:txBody>
                    <a:bodyPr/>
                    <a:lstStyle/>
                    <a:p>
                      <a:pPr algn="ctr"/>
                      <a:r>
                        <a:rPr lang="zh-CN" altLang="en-US" sz="1400" dirty="0">
                          <a:latin typeface="Arial" panose="020B0604020202020204" pitchFamily="34" charset="0"/>
                          <a:ea typeface="微软雅黑" panose="020B0503020204020204" pitchFamily="34" charset="-122"/>
                          <a:sym typeface="Arial" panose="020B0604020202020204" pitchFamily="34" charset="0"/>
                        </a:rPr>
                        <a:t>公积金</a:t>
                      </a:r>
                      <a:endParaRPr lang="zh-CN" altLang="en-US" sz="1400" b="1" dirty="0">
                        <a:latin typeface="Arial" panose="020B0604020202020204" pitchFamily="34" charset="0"/>
                        <a:ea typeface="微软雅黑" panose="020B0503020204020204" pitchFamily="34" charset="-122"/>
                        <a:sym typeface="Arial" panose="020B0604020202020204" pitchFamily="34" charset="0"/>
                      </a:endParaRPr>
                    </a:p>
                  </a:txBody>
                  <a:tcPr marL="68580" marR="68580" marT="34290" marB="34290"/>
                </a:tc>
                <a:tc>
                  <a:txBody>
                    <a:bodyPr/>
                    <a:lstStyle/>
                    <a:p>
                      <a:pPr algn="ctr" rtl="0" fontAlgn="t"/>
                      <a:endParaRPr lang="en-US" altLang="zh-CN" sz="9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tc>
                <a:tc>
                  <a:txBody>
                    <a:bodyPr/>
                    <a:lstStyle/>
                    <a:p>
                      <a:pPr algn="ctr" rtl="0" fontAlgn="t"/>
                      <a:endParaRPr lang="en-US" altLang="zh-CN" sz="9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tc>
                <a:tc>
                  <a:txBody>
                    <a:bodyPr/>
                    <a:lstStyle/>
                    <a:p>
                      <a:pPr algn="ctr" rtl="0" fontAlgn="t"/>
                      <a:endParaRPr lang="en-US" altLang="zh-CN" sz="9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tc>
                <a:tc>
                  <a:txBody>
                    <a:bodyPr/>
                    <a:lstStyle/>
                    <a:p>
                      <a:pPr algn="ctr" rtl="0" fontAlgn="t"/>
                      <a:endParaRPr lang="en-US" altLang="zh-CN" sz="9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tc>
              </a:tr>
              <a:tr h="274320">
                <a:tc>
                  <a:txBody>
                    <a:bodyPr/>
                    <a:lstStyle/>
                    <a:p>
                      <a:pPr algn="ctr"/>
                      <a:r>
                        <a:rPr lang="zh-CN" altLang="en-US" sz="1400" dirty="0">
                          <a:latin typeface="Arial" panose="020B0604020202020204" pitchFamily="34" charset="0"/>
                          <a:ea typeface="微软雅黑" panose="020B0503020204020204" pitchFamily="34" charset="-122"/>
                          <a:sym typeface="Arial" panose="020B0604020202020204" pitchFamily="34" charset="0"/>
                        </a:rPr>
                        <a:t>合计</a:t>
                      </a:r>
                      <a:endParaRPr lang="zh-CN" altLang="en-US" sz="1400" b="1" dirty="0">
                        <a:latin typeface="Arial" panose="020B0604020202020204" pitchFamily="34" charset="0"/>
                        <a:ea typeface="微软雅黑" panose="020B0503020204020204" pitchFamily="34" charset="-122"/>
                        <a:sym typeface="Arial" panose="020B0604020202020204" pitchFamily="34" charset="0"/>
                      </a:endParaRPr>
                    </a:p>
                  </a:txBody>
                  <a:tcPr marL="68580" marR="68580" marT="34290" marB="34290"/>
                </a:tc>
                <a:tc>
                  <a:txBody>
                    <a:bodyPr/>
                    <a:lstStyle/>
                    <a:p>
                      <a:pPr algn="ctr" rtl="0" fontAlgn="b"/>
                      <a:endParaRPr lang="en-US" altLang="zh-CN" sz="800" b="0" i="0" u="none" strike="noStrike">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b"/>
                </a:tc>
                <a:tc>
                  <a:txBody>
                    <a:bodyPr/>
                    <a:lstStyle/>
                    <a:p>
                      <a:pPr algn="ctr" rtl="0" fontAlgn="b"/>
                      <a:endParaRPr lang="en-US" altLang="zh-CN" sz="8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nchor="b"/>
                </a:tc>
                <a:tc>
                  <a:txBody>
                    <a:bodyPr/>
                    <a:lstStyle/>
                    <a:p>
                      <a:pPr algn="ctr" rtl="0" fontAlgn="t"/>
                      <a:endParaRPr lang="en-US" altLang="zh-CN" sz="9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tc>
                <a:tc>
                  <a:txBody>
                    <a:bodyPr/>
                    <a:lstStyle/>
                    <a:p>
                      <a:pPr algn="ctr" rtl="0" fontAlgn="t"/>
                      <a:endParaRPr lang="en-US" altLang="zh-CN" sz="9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tc>
              </a:tr>
              <a:tr h="274320">
                <a:tc>
                  <a:txBody>
                    <a:bodyPr/>
                    <a:lstStyle/>
                    <a:p>
                      <a:pPr algn="ctr"/>
                      <a:r>
                        <a:rPr lang="zh-CN" altLang="en-US" sz="1400" dirty="0">
                          <a:latin typeface="Arial" panose="020B0604020202020204" pitchFamily="34" charset="0"/>
                          <a:ea typeface="微软雅黑" panose="020B0503020204020204" pitchFamily="34" charset="-122"/>
                          <a:sym typeface="Arial" panose="020B0604020202020204" pitchFamily="34" charset="0"/>
                        </a:rPr>
                        <a:t>人数</a:t>
                      </a:r>
                      <a:endParaRPr lang="zh-CN" altLang="en-US" sz="1400" b="1" dirty="0">
                        <a:latin typeface="Arial" panose="020B0604020202020204" pitchFamily="34" charset="0"/>
                        <a:ea typeface="微软雅黑" panose="020B0503020204020204" pitchFamily="34" charset="-122"/>
                        <a:sym typeface="Arial" panose="020B0604020202020204" pitchFamily="34" charset="0"/>
                      </a:endParaRPr>
                    </a:p>
                  </a:txBody>
                  <a:tcPr marL="68580" marR="68580" marT="34290" marB="34290">
                    <a:solidFill>
                      <a:schemeClr val="accent2">
                        <a:lumMod val="40000"/>
                        <a:lumOff val="60000"/>
                      </a:schemeClr>
                    </a:solidFill>
                  </a:tcPr>
                </a:tc>
                <a:tc>
                  <a:txBody>
                    <a:bodyPr/>
                    <a:lstStyle/>
                    <a:p>
                      <a:pPr algn="ctr" rtl="0" fontAlgn="t"/>
                      <a:endParaRPr lang="en-US" altLang="zh-CN" sz="9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solidFill>
                      <a:schemeClr val="accent2">
                        <a:lumMod val="40000"/>
                        <a:lumOff val="60000"/>
                      </a:schemeClr>
                    </a:solidFill>
                  </a:tcPr>
                </a:tc>
                <a:tc>
                  <a:txBody>
                    <a:bodyPr/>
                    <a:lstStyle/>
                    <a:p>
                      <a:pPr algn="ctr" rtl="0" fontAlgn="t"/>
                      <a:endParaRPr lang="en-US" altLang="zh-CN" sz="9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solidFill>
                      <a:schemeClr val="accent2">
                        <a:lumMod val="40000"/>
                        <a:lumOff val="60000"/>
                      </a:schemeClr>
                    </a:solidFill>
                  </a:tcPr>
                </a:tc>
                <a:tc>
                  <a:txBody>
                    <a:bodyPr/>
                    <a:lstStyle/>
                    <a:p>
                      <a:pPr algn="ctr" rtl="0" fontAlgn="t"/>
                      <a:endParaRPr lang="en-US" altLang="zh-CN" sz="9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solidFill>
                      <a:schemeClr val="accent2">
                        <a:lumMod val="40000"/>
                        <a:lumOff val="60000"/>
                      </a:schemeClr>
                    </a:solidFill>
                  </a:tcPr>
                </a:tc>
                <a:tc>
                  <a:txBody>
                    <a:bodyPr/>
                    <a:lstStyle/>
                    <a:p>
                      <a:pPr algn="ctr" rtl="0" fontAlgn="t"/>
                      <a:endParaRPr lang="en-US" altLang="zh-CN" sz="9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solidFill>
                      <a:schemeClr val="accent2">
                        <a:lumMod val="40000"/>
                        <a:lumOff val="60000"/>
                      </a:schemeClr>
                    </a:solidFill>
                  </a:tcPr>
                </a:tc>
              </a:tr>
              <a:tr h="388620">
                <a:tc>
                  <a:txBody>
                    <a:bodyPr/>
                    <a:lstStyle/>
                    <a:p>
                      <a:pPr marL="0" algn="ctr" defTabSz="914400" rtl="0" eaLnBrk="1" latinLnBrk="0" hangingPunct="1"/>
                      <a:r>
                        <a:rPr lang="zh-CN" altLang="en-US" sz="1100" kern="1200" dirty="0">
                          <a:solidFill>
                            <a:schemeClr val="dk1"/>
                          </a:solidFill>
                          <a:latin typeface="Arial" panose="020B0604020202020204" pitchFamily="34" charset="0"/>
                          <a:ea typeface="微软雅黑" panose="020B0503020204020204" pitchFamily="34" charset="-122"/>
                          <a:cs typeface="+mn-cs"/>
                          <a:sym typeface="Arial" panose="020B0604020202020204" pitchFamily="34" charset="0"/>
                        </a:rPr>
                        <a:t>人均成本（万元）</a:t>
                      </a:r>
                    </a:p>
                  </a:txBody>
                  <a:tcPr marL="68580" marR="68580" marT="34290" marB="34290"/>
                </a:tc>
                <a:tc>
                  <a:txBody>
                    <a:bodyPr/>
                    <a:lstStyle/>
                    <a:p>
                      <a:pPr algn="ctr" rtl="0" fontAlgn="t"/>
                      <a:endParaRPr lang="en-US" altLang="zh-CN" sz="9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tc>
                <a:tc>
                  <a:txBody>
                    <a:bodyPr/>
                    <a:lstStyle/>
                    <a:p>
                      <a:pPr algn="ctr" rtl="0" fontAlgn="t"/>
                      <a:endParaRPr lang="en-US" altLang="zh-CN" sz="9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tc>
                <a:tc>
                  <a:txBody>
                    <a:bodyPr/>
                    <a:lstStyle/>
                    <a:p>
                      <a:pPr algn="ctr" rtl="0" fontAlgn="t"/>
                      <a:endParaRPr lang="en-US" altLang="zh-CN" sz="9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tc>
                <a:tc>
                  <a:txBody>
                    <a:bodyPr/>
                    <a:lstStyle/>
                    <a:p>
                      <a:pPr algn="ctr" rtl="0" fontAlgn="t"/>
                      <a:endParaRPr lang="en-US" altLang="zh-CN" sz="9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tc>
              </a:tr>
              <a:tr h="261182">
                <a:tc>
                  <a:txBody>
                    <a:bodyPr/>
                    <a:lstStyle/>
                    <a:p>
                      <a:pPr marL="0" algn="ctr" defTabSz="914400" rtl="0" eaLnBrk="1" latinLnBrk="0" hangingPunct="1"/>
                      <a:r>
                        <a:rPr lang="zh-CN" altLang="en-US" sz="1200" kern="1200" dirty="0">
                          <a:solidFill>
                            <a:schemeClr val="dk1"/>
                          </a:solidFill>
                          <a:latin typeface="Arial" panose="020B0604020202020204" pitchFamily="34" charset="0"/>
                          <a:ea typeface="微软雅黑" panose="020B0503020204020204" pitchFamily="34" charset="-122"/>
                          <a:cs typeface="+mn-cs"/>
                          <a:sym typeface="Arial" panose="020B0604020202020204" pitchFamily="34" charset="0"/>
                        </a:rPr>
                        <a:t>占期间费用</a:t>
                      </a:r>
                    </a:p>
                  </a:txBody>
                  <a:tcPr marL="68580" marR="68580" marT="34290" marB="34290"/>
                </a:tc>
                <a:tc>
                  <a:txBody>
                    <a:bodyPr/>
                    <a:lstStyle/>
                    <a:p>
                      <a:pPr algn="ctr" rtl="0" fontAlgn="t"/>
                      <a:endParaRPr lang="en-US" altLang="zh-CN" sz="9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tc>
                <a:tc>
                  <a:txBody>
                    <a:bodyPr/>
                    <a:lstStyle/>
                    <a:p>
                      <a:pPr algn="ctr" rtl="0" fontAlgn="t"/>
                      <a:endParaRPr lang="en-US" altLang="zh-CN" sz="9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tc>
                <a:tc>
                  <a:txBody>
                    <a:bodyPr/>
                    <a:lstStyle/>
                    <a:p>
                      <a:pPr algn="ctr" rtl="0" fontAlgn="t"/>
                      <a:endParaRPr lang="en-US" altLang="zh-CN" sz="9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tc>
                <a:tc>
                  <a:txBody>
                    <a:bodyPr/>
                    <a:lstStyle/>
                    <a:p>
                      <a:pPr algn="ctr" rtl="0" fontAlgn="t"/>
                      <a:endParaRPr lang="en-US" altLang="zh-CN" sz="9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7144" marR="7144" marT="7144" marB="0"/>
                </a:tc>
              </a:tr>
            </a:tbl>
          </a:graphicData>
        </a:graphic>
      </p:graphicFrame>
      <p:sp>
        <p:nvSpPr>
          <p:cNvPr id="15" name="TextBox 6"/>
          <p:cNvSpPr txBox="1"/>
          <p:nvPr/>
        </p:nvSpPr>
        <p:spPr>
          <a:xfrm>
            <a:off x="1547664" y="3733581"/>
            <a:ext cx="5724636" cy="830997"/>
          </a:xfrm>
          <a:prstGeom prst="rect">
            <a:avLst/>
          </a:prstGeom>
          <a:noFill/>
        </p:spPr>
        <p:txBody>
          <a:bodyPr wrap="square" rtlCol="0">
            <a:spAutoFit/>
          </a:bodyPr>
          <a:lstStyle/>
          <a:p>
            <a:r>
              <a:rPr lang="zh-CN" altLang="en-US" sz="1200" dirty="0">
                <a:latin typeface="Arial" panose="020B0604020202020204" pitchFamily="34" charset="0"/>
                <a:ea typeface="微软雅黑" panose="020B0503020204020204" pitchFamily="34" charset="-122"/>
                <a:sym typeface="Arial" panose="020B0604020202020204" pitchFamily="34" charset="0"/>
              </a:rPr>
              <a:t>分析：</a:t>
            </a:r>
            <a:r>
              <a:rPr lang="en-US" altLang="zh-CN" sz="1200" dirty="0">
                <a:latin typeface="Arial" panose="020B0604020202020204" pitchFamily="34" charset="0"/>
                <a:ea typeface="微软雅黑" panose="020B0503020204020204" pitchFamily="34" charset="-122"/>
                <a:sym typeface="Arial" panose="020B0604020202020204" pitchFamily="34" charset="0"/>
              </a:rPr>
              <a:t>2017</a:t>
            </a:r>
            <a:r>
              <a:rPr lang="zh-CN" altLang="en-US" sz="1200" dirty="0">
                <a:latin typeface="Arial" panose="020B0604020202020204" pitchFamily="34" charset="0"/>
                <a:ea typeface="微软雅黑" panose="020B0503020204020204" pitchFamily="34" charset="-122"/>
                <a:sym typeface="Arial" panose="020B0604020202020204" pitchFamily="34" charset="0"/>
              </a:rPr>
              <a:t>年比</a:t>
            </a:r>
            <a:r>
              <a:rPr lang="en-US" altLang="zh-CN" sz="1200" dirty="0">
                <a:latin typeface="Arial" panose="020B0604020202020204" pitchFamily="34" charset="0"/>
                <a:ea typeface="微软雅黑" panose="020B0503020204020204" pitchFamily="34" charset="-122"/>
                <a:sym typeface="Arial" panose="020B0604020202020204" pitchFamily="34" charset="0"/>
              </a:rPr>
              <a:t>2016</a:t>
            </a:r>
            <a:r>
              <a:rPr lang="zh-CN" altLang="en-US" sz="1200" dirty="0">
                <a:latin typeface="Arial" panose="020B0604020202020204" pitchFamily="34" charset="0"/>
                <a:ea typeface="微软雅黑" panose="020B0503020204020204" pitchFamily="34" charset="-122"/>
                <a:sym typeface="Arial" panose="020B0604020202020204" pitchFamily="34" charset="0"/>
              </a:rPr>
              <a:t>年的人员增加了约人，主要是</a:t>
            </a:r>
            <a:r>
              <a:rPr lang="en-US" altLang="zh-CN" sz="1200" dirty="0">
                <a:latin typeface="Arial" panose="020B0604020202020204" pitchFamily="34" charset="0"/>
                <a:ea typeface="微软雅黑" panose="020B0503020204020204" pitchFamily="34" charset="-122"/>
                <a:sym typeface="Arial" panose="020B0604020202020204" pitchFamily="34" charset="0"/>
              </a:rPr>
              <a:t>**</a:t>
            </a:r>
            <a:r>
              <a:rPr lang="zh-CN" altLang="en-US" sz="1200" dirty="0">
                <a:latin typeface="Arial" panose="020B0604020202020204" pitchFamily="34" charset="0"/>
                <a:ea typeface="微软雅黑" panose="020B0503020204020204" pitchFamily="34" charset="-122"/>
                <a:sym typeface="Arial" panose="020B0604020202020204" pitchFamily="34" charset="0"/>
              </a:rPr>
              <a:t>部门有新的员工注入；从增减的幅度来看，社保本期比上年同期上升了约</a:t>
            </a:r>
            <a:r>
              <a:rPr lang="en-US" altLang="zh-CN" sz="1200" dirty="0">
                <a:latin typeface="Arial" panose="020B0604020202020204" pitchFamily="34" charset="0"/>
                <a:ea typeface="微软雅黑" panose="020B0503020204020204" pitchFamily="34" charset="-122"/>
                <a:sym typeface="Arial" panose="020B0604020202020204" pitchFamily="34" charset="0"/>
              </a:rPr>
              <a:t>%</a:t>
            </a:r>
            <a:r>
              <a:rPr lang="zh-CN" altLang="en-US" sz="1200" dirty="0">
                <a:latin typeface="Arial" panose="020B0604020202020204" pitchFamily="34" charset="0"/>
                <a:ea typeface="微软雅黑" panose="020B0503020204020204" pitchFamily="34" charset="-122"/>
                <a:sym typeface="Arial" panose="020B0604020202020204" pitchFamily="34" charset="0"/>
              </a:rPr>
              <a:t>，主要是</a:t>
            </a:r>
            <a:r>
              <a:rPr lang="en-US" altLang="zh-CN" sz="1200" dirty="0">
                <a:latin typeface="Arial" panose="020B0604020202020204" pitchFamily="34" charset="0"/>
                <a:ea typeface="微软雅黑" panose="020B0503020204020204" pitchFamily="34" charset="-122"/>
                <a:sym typeface="Arial" panose="020B0604020202020204" pitchFamily="34" charset="0"/>
              </a:rPr>
              <a:t>2017</a:t>
            </a:r>
            <a:r>
              <a:rPr lang="zh-CN" altLang="en-US" sz="1200" dirty="0">
                <a:latin typeface="Arial" panose="020B0604020202020204" pitchFamily="34" charset="0"/>
                <a:ea typeface="微软雅黑" panose="020B0503020204020204" pitchFamily="34" charset="-122"/>
                <a:sym typeface="Arial" panose="020B0604020202020204" pitchFamily="34" charset="0"/>
              </a:rPr>
              <a:t>年的社保采用了的方式；工资和公积金的部份也有明显增加，除了受人员增加的影响，同时</a:t>
            </a:r>
            <a:r>
              <a:rPr lang="en-US" altLang="zh-CN" sz="1200" dirty="0">
                <a:latin typeface="Arial" panose="020B0604020202020204" pitchFamily="34" charset="0"/>
                <a:ea typeface="微软雅黑" panose="020B0503020204020204" pitchFamily="34" charset="-122"/>
                <a:sym typeface="Arial" panose="020B0604020202020204" pitchFamily="34" charset="0"/>
              </a:rPr>
              <a:t>2017</a:t>
            </a:r>
            <a:r>
              <a:rPr lang="zh-CN" altLang="en-US" sz="1200" dirty="0">
                <a:latin typeface="Arial" panose="020B0604020202020204" pitchFamily="34" charset="0"/>
                <a:ea typeface="微软雅黑" panose="020B0503020204020204" pitchFamily="34" charset="-122"/>
                <a:sym typeface="Arial" panose="020B0604020202020204" pitchFamily="34" charset="0"/>
              </a:rPr>
              <a:t>年比</a:t>
            </a:r>
            <a:r>
              <a:rPr lang="en-US" altLang="zh-CN" sz="1200" dirty="0">
                <a:latin typeface="Arial" panose="020B0604020202020204" pitchFamily="34" charset="0"/>
                <a:ea typeface="微软雅黑" panose="020B0503020204020204" pitchFamily="34" charset="-122"/>
                <a:sym typeface="Arial" panose="020B0604020202020204" pitchFamily="34" charset="0"/>
              </a:rPr>
              <a:t>2016</a:t>
            </a:r>
            <a:r>
              <a:rPr lang="zh-CN" altLang="en-US" sz="1200" dirty="0">
                <a:latin typeface="Arial" panose="020B0604020202020204" pitchFamily="34" charset="0"/>
                <a:ea typeface="微软雅黑" panose="020B0503020204020204" pitchFamily="34" charset="-122"/>
                <a:sym typeface="Arial" panose="020B0604020202020204" pitchFamily="34" charset="0"/>
              </a:rPr>
              <a:t>年同期的工资上升约左右。</a:t>
            </a:r>
          </a:p>
        </p:txBody>
      </p:sp>
      <p:pic>
        <p:nvPicPr>
          <p:cNvPr id="16" name="图片 15" descr="人力资源.png"/>
          <p:cNvPicPr>
            <a:picLocks noChangeAspect="1"/>
          </p:cNvPicPr>
          <p:nvPr/>
        </p:nvPicPr>
        <p:blipFill>
          <a:blip r:embed="rId4" cstate="print"/>
          <a:stretch>
            <a:fillRect/>
          </a:stretch>
        </p:blipFill>
        <p:spPr>
          <a:xfrm>
            <a:off x="5382090" y="1249304"/>
            <a:ext cx="2479429" cy="2322258"/>
          </a:xfrm>
          <a:prstGeom prst="rect">
            <a:avLst/>
          </a:prstGeom>
        </p:spPr>
      </p:pic>
      <p:sp>
        <p:nvSpPr>
          <p:cNvPr id="17" name="TextBox 7"/>
          <p:cNvSpPr txBox="1"/>
          <p:nvPr/>
        </p:nvSpPr>
        <p:spPr>
          <a:xfrm>
            <a:off x="4301970" y="1033281"/>
            <a:ext cx="972108" cy="219291"/>
          </a:xfrm>
          <a:prstGeom prst="rect">
            <a:avLst/>
          </a:prstGeom>
          <a:noFill/>
        </p:spPr>
        <p:txBody>
          <a:bodyPr wrap="square" rtlCol="0">
            <a:spAutoFit/>
          </a:bodyPr>
          <a:lstStyle/>
          <a:p>
            <a:r>
              <a:rPr lang="zh-CN" altLang="en-US" sz="825" b="1" dirty="0">
                <a:latin typeface="Arial" panose="020B0604020202020204" pitchFamily="34" charset="0"/>
                <a:ea typeface="微软雅黑" panose="020B0503020204020204" pitchFamily="34" charset="-122"/>
                <a:sym typeface="Arial" panose="020B0604020202020204" pitchFamily="34" charset="0"/>
              </a:rPr>
              <a:t>单位：万元</a:t>
            </a:r>
          </a:p>
        </p:txBody>
      </p:sp>
    </p:spTree>
  </p:cSld>
  <p:clrMapOvr>
    <a:masterClrMapping/>
  </p:clrMapOvr>
  <p:transition spd="slow" advClick="0" advTm="0">
    <p:cove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1144029"/>
            <a:ext cx="9144000" cy="1814777"/>
            <a:chOff x="0" y="1651830"/>
            <a:chExt cx="9144000" cy="1814777"/>
          </a:xfrm>
        </p:grpSpPr>
        <p:sp>
          <p:nvSpPr>
            <p:cNvPr id="44" name="等腰三角形 43"/>
            <p:cNvSpPr/>
            <p:nvPr/>
          </p:nvSpPr>
          <p:spPr>
            <a:xfrm>
              <a:off x="2469921" y="1651830"/>
              <a:ext cx="825385" cy="828242"/>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100">
                <a:latin typeface="Arial" panose="020B0604020202020204" pitchFamily="34" charset="0"/>
                <a:ea typeface="微软雅黑" panose="020B0503020204020204" pitchFamily="34" charset="-122"/>
                <a:sym typeface="Arial" panose="020B0604020202020204" pitchFamily="34" charset="0"/>
              </a:endParaRPr>
            </a:p>
          </p:txBody>
        </p:sp>
        <p:sp>
          <p:nvSpPr>
            <p:cNvPr id="45" name="等腰三角形 44"/>
            <p:cNvSpPr/>
            <p:nvPr/>
          </p:nvSpPr>
          <p:spPr>
            <a:xfrm flipV="1">
              <a:off x="68682" y="2638365"/>
              <a:ext cx="825385" cy="828242"/>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100">
                <a:latin typeface="Arial" panose="020B0604020202020204" pitchFamily="34" charset="0"/>
                <a:ea typeface="微软雅黑" panose="020B0503020204020204" pitchFamily="34" charset="-122"/>
                <a:sym typeface="Arial" panose="020B0604020202020204" pitchFamily="34" charset="0"/>
              </a:endParaRPr>
            </a:p>
          </p:txBody>
        </p:sp>
        <p:sp>
          <p:nvSpPr>
            <p:cNvPr id="46" name="矩形 45"/>
            <p:cNvSpPr/>
            <p:nvPr/>
          </p:nvSpPr>
          <p:spPr>
            <a:xfrm>
              <a:off x="0" y="1846479"/>
              <a:ext cx="9144000" cy="142173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100">
                <a:latin typeface="Arial" panose="020B0604020202020204" pitchFamily="34" charset="0"/>
                <a:ea typeface="微软雅黑" panose="020B0503020204020204" pitchFamily="34" charset="-122"/>
                <a:sym typeface="Arial" panose="020B0604020202020204" pitchFamily="34" charset="0"/>
              </a:endParaRPr>
            </a:p>
          </p:txBody>
        </p:sp>
        <p:sp>
          <p:nvSpPr>
            <p:cNvPr id="47" name="平行四边形 46"/>
            <p:cNvSpPr/>
            <p:nvPr/>
          </p:nvSpPr>
          <p:spPr>
            <a:xfrm>
              <a:off x="479202" y="1652469"/>
              <a:ext cx="2406979" cy="1809759"/>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100">
                <a:latin typeface="Arial" panose="020B0604020202020204" pitchFamily="34" charset="0"/>
                <a:ea typeface="微软雅黑" panose="020B0503020204020204" pitchFamily="34" charset="-122"/>
                <a:sym typeface="Arial" panose="020B0604020202020204" pitchFamily="34" charset="0"/>
              </a:endParaRPr>
            </a:p>
          </p:txBody>
        </p:sp>
      </p:grpSp>
      <p:sp>
        <p:nvSpPr>
          <p:cNvPr id="48" name="文本框 6"/>
          <p:cNvSpPr txBox="1"/>
          <p:nvPr/>
        </p:nvSpPr>
        <p:spPr>
          <a:xfrm>
            <a:off x="1115616" y="1390740"/>
            <a:ext cx="1322150" cy="1299210"/>
          </a:xfrm>
          <a:prstGeom prst="rect">
            <a:avLst/>
          </a:prstGeom>
          <a:noFill/>
        </p:spPr>
        <p:txBody>
          <a:bodyPr wrap="square" lIns="68580" tIns="34290" rIns="68580" bIns="34290" rtlCol="0">
            <a:spAutoFit/>
          </a:bodyPr>
          <a:lstStyle/>
          <a:p>
            <a:r>
              <a:rPr lang="en-US" altLang="zh-CN" sz="8000" dirty="0">
                <a:solidFill>
                  <a:schemeClr val="bg1">
                    <a:lumMod val="95000"/>
                  </a:schemeClr>
                </a:solidFill>
                <a:latin typeface="Arial" panose="020B0604020202020204" pitchFamily="34" charset="0"/>
                <a:ea typeface="微软雅黑" panose="020B0503020204020204" pitchFamily="34" charset="-122"/>
                <a:sym typeface="Arial" panose="020B0604020202020204" pitchFamily="34" charset="0"/>
              </a:rPr>
              <a:t>05</a:t>
            </a:r>
            <a:endParaRPr lang="zh-CN" altLang="en-US" sz="8000" dirty="0">
              <a:solidFill>
                <a:schemeClr val="bg1">
                  <a:lumMod val="9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49" name="TextBox 48"/>
          <p:cNvSpPr txBox="1"/>
          <p:nvPr/>
        </p:nvSpPr>
        <p:spPr>
          <a:xfrm>
            <a:off x="3313904" y="1783103"/>
            <a:ext cx="5050408" cy="561692"/>
          </a:xfrm>
          <a:prstGeom prst="rect">
            <a:avLst/>
          </a:prstGeom>
          <a:noFill/>
        </p:spPr>
        <p:txBody>
          <a:bodyPr wrap="square" lIns="68583" tIns="34290" rIns="68583" bIns="34290" rtlCol="0">
            <a:spAutoFit/>
          </a:bodyPr>
          <a:lstStyle/>
          <a:p>
            <a:r>
              <a:rPr lang="zh-CN" altLang="en-US" sz="3200" b="1"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应收账款分析</a:t>
            </a:r>
          </a:p>
        </p:txBody>
      </p:sp>
      <p:grpSp>
        <p:nvGrpSpPr>
          <p:cNvPr id="7" name="PA-组合 6"/>
          <p:cNvGrpSpPr/>
          <p:nvPr>
            <p:custDataLst>
              <p:tags r:id="rId1"/>
            </p:custDataLst>
          </p:nvPr>
        </p:nvGrpSpPr>
        <p:grpSpPr>
          <a:xfrm>
            <a:off x="5940152" y="767019"/>
            <a:ext cx="432048" cy="432834"/>
            <a:chOff x="6084168" y="1274820"/>
            <a:chExt cx="432048" cy="432834"/>
          </a:xfrm>
        </p:grpSpPr>
        <p:sp>
          <p:nvSpPr>
            <p:cNvPr id="14" name="PA-椭圆 22"/>
            <p:cNvSpPr>
              <a:spLocks noChangeArrowheads="1"/>
            </p:cNvSpPr>
            <p:nvPr>
              <p:custDataLst>
                <p:tags r:id="rId14"/>
              </p:custDataLst>
            </p:nvPr>
          </p:nvSpPr>
          <p:spPr bwMode="auto">
            <a:xfrm>
              <a:off x="6084168" y="1274820"/>
              <a:ext cx="432048" cy="432834"/>
            </a:xfrm>
            <a:prstGeom prst="ellipse">
              <a:avLst/>
            </a:prstGeom>
            <a:solidFill>
              <a:schemeClr val="accent1"/>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00">
                <a:solidFill>
                  <a:srgbClr val="FFFFFF"/>
                </a:solidFill>
                <a:ea typeface="微软雅黑" panose="020B0503020204020204" pitchFamily="34" charset="-122"/>
                <a:sym typeface="Arial" panose="020B0604020202020204" pitchFamily="34" charset="0"/>
              </a:endParaRPr>
            </a:p>
          </p:txBody>
        </p:sp>
        <p:sp>
          <p:nvSpPr>
            <p:cNvPr id="19" name="PA-任意多边形 59"/>
            <p:cNvSpPr>
              <a:spLocks noChangeArrowheads="1"/>
            </p:cNvSpPr>
            <p:nvPr>
              <p:custDataLst>
                <p:tags r:id="rId15"/>
              </p:custDataLst>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sz="100">
                <a:latin typeface="Arial" panose="020B0604020202020204" pitchFamily="34" charset="0"/>
                <a:ea typeface="微软雅黑" panose="020B0503020204020204" pitchFamily="34" charset="-122"/>
                <a:sym typeface="Arial" panose="020B0604020202020204" pitchFamily="34" charset="0"/>
              </a:endParaRPr>
            </a:p>
          </p:txBody>
        </p:sp>
      </p:grpSp>
      <p:grpSp>
        <p:nvGrpSpPr>
          <p:cNvPr id="6" name="PA-组合 5"/>
          <p:cNvGrpSpPr/>
          <p:nvPr>
            <p:custDataLst>
              <p:tags r:id="rId2"/>
            </p:custDataLst>
          </p:nvPr>
        </p:nvGrpSpPr>
        <p:grpSpPr>
          <a:xfrm>
            <a:off x="4644008" y="767412"/>
            <a:ext cx="432048" cy="432048"/>
            <a:chOff x="4788024" y="1275213"/>
            <a:chExt cx="432048" cy="432048"/>
          </a:xfrm>
        </p:grpSpPr>
        <p:sp>
          <p:nvSpPr>
            <p:cNvPr id="17" name="PA-椭圆 65"/>
            <p:cNvSpPr>
              <a:spLocks noChangeArrowheads="1"/>
            </p:cNvSpPr>
            <p:nvPr>
              <p:custDataLst>
                <p:tags r:id="rId12"/>
              </p:custDataLst>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00">
                <a:solidFill>
                  <a:srgbClr val="FFFFFF"/>
                </a:solidFill>
                <a:ea typeface="微软雅黑" panose="020B0503020204020204" pitchFamily="34" charset="-122"/>
                <a:sym typeface="Arial" panose="020B0604020202020204" pitchFamily="34" charset="0"/>
              </a:endParaRPr>
            </a:p>
          </p:txBody>
        </p:sp>
        <p:sp>
          <p:nvSpPr>
            <p:cNvPr id="20" name="PA-任意多边形 110"/>
            <p:cNvSpPr>
              <a:spLocks noChangeArrowheads="1"/>
            </p:cNvSpPr>
            <p:nvPr>
              <p:custDataLst>
                <p:tags r:id="rId13"/>
              </p:custDataLst>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sz="100">
                <a:latin typeface="Arial" panose="020B0604020202020204" pitchFamily="34" charset="0"/>
                <a:ea typeface="微软雅黑" panose="020B0503020204020204" pitchFamily="34" charset="-122"/>
                <a:sym typeface="Arial" panose="020B0604020202020204" pitchFamily="34" charset="0"/>
              </a:endParaRPr>
            </a:p>
          </p:txBody>
        </p:sp>
      </p:grpSp>
      <p:grpSp>
        <p:nvGrpSpPr>
          <p:cNvPr id="9" name="PA-组合 8"/>
          <p:cNvGrpSpPr/>
          <p:nvPr>
            <p:custDataLst>
              <p:tags r:id="rId3"/>
            </p:custDataLst>
          </p:nvPr>
        </p:nvGrpSpPr>
        <p:grpSpPr>
          <a:xfrm>
            <a:off x="5292080" y="767019"/>
            <a:ext cx="432833" cy="432834"/>
            <a:chOff x="5436096" y="1274820"/>
            <a:chExt cx="432833" cy="432834"/>
          </a:xfrm>
        </p:grpSpPr>
        <p:sp>
          <p:nvSpPr>
            <p:cNvPr id="25" name="PA-椭圆 16"/>
            <p:cNvSpPr>
              <a:spLocks noChangeArrowheads="1"/>
            </p:cNvSpPr>
            <p:nvPr>
              <p:custDataLst>
                <p:tags r:id="rId10"/>
              </p:custDataLst>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00">
                <a:solidFill>
                  <a:srgbClr val="FFFFFF"/>
                </a:solidFill>
                <a:ea typeface="微软雅黑" panose="020B0503020204020204" pitchFamily="34" charset="-122"/>
                <a:sym typeface="Arial" panose="020B0604020202020204" pitchFamily="34" charset="0"/>
              </a:endParaRPr>
            </a:p>
          </p:txBody>
        </p:sp>
        <p:sp>
          <p:nvSpPr>
            <p:cNvPr id="21" name="PA-任意多边形 16"/>
            <p:cNvSpPr>
              <a:spLocks noChangeArrowheads="1"/>
            </p:cNvSpPr>
            <p:nvPr>
              <p:custDataLst>
                <p:tags r:id="rId11"/>
              </p:custDataLst>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sz="100">
                <a:latin typeface="Arial" panose="020B0604020202020204" pitchFamily="34" charset="0"/>
                <a:ea typeface="微软雅黑" panose="020B0503020204020204" pitchFamily="34" charset="-122"/>
                <a:sym typeface="Arial" panose="020B0604020202020204" pitchFamily="34" charset="0"/>
              </a:endParaRPr>
            </a:p>
          </p:txBody>
        </p:sp>
      </p:grpSp>
      <p:grpSp>
        <p:nvGrpSpPr>
          <p:cNvPr id="4" name="PA-组合 3"/>
          <p:cNvGrpSpPr/>
          <p:nvPr>
            <p:custDataLst>
              <p:tags r:id="rId4"/>
            </p:custDataLst>
          </p:nvPr>
        </p:nvGrpSpPr>
        <p:grpSpPr>
          <a:xfrm>
            <a:off x="3347864" y="767019"/>
            <a:ext cx="432833" cy="432834"/>
            <a:chOff x="3491880" y="1274820"/>
            <a:chExt cx="432833" cy="432834"/>
          </a:xfrm>
        </p:grpSpPr>
        <p:sp>
          <p:nvSpPr>
            <p:cNvPr id="11" name="PA-椭圆 16"/>
            <p:cNvSpPr>
              <a:spLocks noChangeArrowheads="1"/>
            </p:cNvSpPr>
            <p:nvPr>
              <p:custDataLst>
                <p:tags r:id="rId8"/>
              </p:custDataLst>
            </p:nvPr>
          </p:nvSpPr>
          <p:spPr bwMode="auto">
            <a:xfrm>
              <a:off x="3491880" y="1274820"/>
              <a:ext cx="432833" cy="432834"/>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00">
                <a:solidFill>
                  <a:srgbClr val="FFFFFF"/>
                </a:solidFill>
                <a:ea typeface="微软雅黑" panose="020B0503020204020204" pitchFamily="34" charset="-122"/>
                <a:sym typeface="Arial" panose="020B0604020202020204" pitchFamily="34" charset="0"/>
              </a:endParaRPr>
            </a:p>
          </p:txBody>
        </p:sp>
        <p:sp>
          <p:nvSpPr>
            <p:cNvPr id="22" name="PA-任意多边形 75"/>
            <p:cNvSpPr>
              <a:spLocks noChangeArrowheads="1"/>
            </p:cNvSpPr>
            <p:nvPr>
              <p:custDataLst>
                <p:tags r:id="rId9"/>
              </p:custDataLst>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sz="100">
                <a:latin typeface="Arial" panose="020B0604020202020204" pitchFamily="34" charset="0"/>
                <a:ea typeface="微软雅黑" panose="020B0503020204020204" pitchFamily="34" charset="-122"/>
                <a:sym typeface="Arial" panose="020B0604020202020204" pitchFamily="34" charset="0"/>
              </a:endParaRPr>
            </a:p>
          </p:txBody>
        </p:sp>
      </p:grpSp>
      <p:grpSp>
        <p:nvGrpSpPr>
          <p:cNvPr id="5" name="PA-组合 4"/>
          <p:cNvGrpSpPr/>
          <p:nvPr>
            <p:custDataLst>
              <p:tags r:id="rId5"/>
            </p:custDataLst>
          </p:nvPr>
        </p:nvGrpSpPr>
        <p:grpSpPr>
          <a:xfrm>
            <a:off x="3995936" y="767019"/>
            <a:ext cx="432833" cy="432834"/>
            <a:chOff x="4139952" y="1274820"/>
            <a:chExt cx="432833" cy="432834"/>
          </a:xfrm>
        </p:grpSpPr>
        <p:sp>
          <p:nvSpPr>
            <p:cNvPr id="24" name="PA-椭圆 16"/>
            <p:cNvSpPr>
              <a:spLocks noChangeArrowheads="1"/>
            </p:cNvSpPr>
            <p:nvPr>
              <p:custDataLst>
                <p:tags r:id="rId6"/>
              </p:custDataLst>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00">
                <a:solidFill>
                  <a:srgbClr val="FFFFFF"/>
                </a:solidFill>
                <a:ea typeface="微软雅黑" panose="020B0503020204020204" pitchFamily="34" charset="-122"/>
                <a:sym typeface="Arial" panose="020B0604020202020204" pitchFamily="34" charset="0"/>
              </a:endParaRPr>
            </a:p>
          </p:txBody>
        </p:sp>
        <p:sp>
          <p:nvSpPr>
            <p:cNvPr id="23" name="PA-任意多边形 84"/>
            <p:cNvSpPr>
              <a:spLocks noChangeArrowheads="1"/>
            </p:cNvSpPr>
            <p:nvPr>
              <p:custDataLst>
                <p:tags r:id="rId7"/>
              </p:custDataLst>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sz="100">
                <a:latin typeface="Arial" panose="020B0604020202020204" pitchFamily="34" charset="0"/>
                <a:ea typeface="微软雅黑" panose="020B0503020204020204" pitchFamily="34" charset="-122"/>
                <a:sym typeface="Arial" panose="020B0604020202020204" pitchFamily="34" charset="0"/>
              </a:endParaRPr>
            </a:p>
          </p:txBody>
        </p:sp>
      </p:grpSp>
      <p:pic>
        <p:nvPicPr>
          <p:cNvPr id="26" name="图片 25"/>
          <p:cNvPicPr>
            <a:picLocks noChangeAspect="1"/>
          </p:cNvPicPr>
          <p:nvPr/>
        </p:nvPicPr>
        <p:blipFill>
          <a:blip r:embed="rId18" cstate="print">
            <a:extLst>
              <a:ext uri="{28A0092B-C50C-407E-A947-70E740481C1C}">
                <a14:useLocalDpi xmlns:a14="http://schemas.microsoft.com/office/drawing/2010/main"/>
              </a:ext>
            </a:extLst>
          </a:blip>
          <a:stretch>
            <a:fillRect/>
          </a:stretch>
        </p:blipFill>
        <p:spPr>
          <a:xfrm>
            <a:off x="3500410" y="2958806"/>
            <a:ext cx="2493351" cy="2041201"/>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advTm="0">
        <p15:prstTrans prst="airplane" invX="1"/>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2" presetClass="entr" presetSubtype="0" fill="hold" grpId="0" nodeType="afterEffect">
                                  <p:stCondLst>
                                    <p:cond delay="0"/>
                                  </p:stCondLst>
                                  <p:childTnLst>
                                    <p:set>
                                      <p:cBhvr>
                                        <p:cTn id="11" dur="1" fill="hold">
                                          <p:stCondLst>
                                            <p:cond delay="0"/>
                                          </p:stCondLst>
                                        </p:cTn>
                                        <p:tgtEl>
                                          <p:spTgt spid="48"/>
                                        </p:tgtEl>
                                        <p:attrNameLst>
                                          <p:attrName>style.visibility</p:attrName>
                                        </p:attrNameLst>
                                      </p:cBhvr>
                                      <p:to>
                                        <p:strVal val="visible"/>
                                      </p:to>
                                    </p:set>
                                    <p:animEffect transition="in" filter="fade">
                                      <p:cBhvr>
                                        <p:cTn id="12" dur="1000"/>
                                        <p:tgtEl>
                                          <p:spTgt spid="48"/>
                                        </p:tgtEl>
                                      </p:cBhvr>
                                    </p:animEffect>
                                    <p:anim calcmode="lin" valueType="num">
                                      <p:cBhvr>
                                        <p:cTn id="13" dur="1000" fill="hold"/>
                                        <p:tgtEl>
                                          <p:spTgt spid="48"/>
                                        </p:tgtEl>
                                        <p:attrNameLst>
                                          <p:attrName>ppt_x</p:attrName>
                                        </p:attrNameLst>
                                      </p:cBhvr>
                                      <p:tavLst>
                                        <p:tav tm="0">
                                          <p:val>
                                            <p:strVal val="#ppt_x"/>
                                          </p:val>
                                        </p:tav>
                                        <p:tav tm="100000">
                                          <p:val>
                                            <p:strVal val="#ppt_x"/>
                                          </p:val>
                                        </p:tav>
                                      </p:tavLst>
                                    </p:anim>
                                    <p:anim calcmode="lin" valueType="num">
                                      <p:cBhvr>
                                        <p:cTn id="14" dur="1000" fill="hold"/>
                                        <p:tgtEl>
                                          <p:spTgt spid="48"/>
                                        </p:tgtEl>
                                        <p:attrNameLst>
                                          <p:attrName>ppt_y</p:attrName>
                                        </p:attrNameLst>
                                      </p:cBhvr>
                                      <p:tavLst>
                                        <p:tav tm="0">
                                          <p:val>
                                            <p:strVal val="#ppt_y+.1"/>
                                          </p:val>
                                        </p:tav>
                                        <p:tav tm="100000">
                                          <p:val>
                                            <p:strVal val="#ppt_y"/>
                                          </p:val>
                                        </p:tav>
                                      </p:tavLst>
                                    </p:anim>
                                  </p:childTnLst>
                                </p:cTn>
                              </p:par>
                            </p:childTnLst>
                          </p:cTn>
                        </p:par>
                        <p:par>
                          <p:cTn id="15" fill="hold">
                            <p:stCondLst>
                              <p:cond delay="1500"/>
                            </p:stCondLst>
                            <p:childTnLst>
                              <p:par>
                                <p:cTn id="16" presetID="41" presetClass="entr" presetSubtype="0" fill="hold" grpId="0" nodeType="afterEffect">
                                  <p:stCondLst>
                                    <p:cond delay="0"/>
                                  </p:stCondLst>
                                  <p:iterate type="lt">
                                    <p:tmPct val="10000"/>
                                  </p:iterate>
                                  <p:childTnLst>
                                    <p:set>
                                      <p:cBhvr>
                                        <p:cTn id="17" dur="1" fill="hold">
                                          <p:stCondLst>
                                            <p:cond delay="0"/>
                                          </p:stCondLst>
                                        </p:cTn>
                                        <p:tgtEl>
                                          <p:spTgt spid="49"/>
                                        </p:tgtEl>
                                        <p:attrNameLst>
                                          <p:attrName>style.visibility</p:attrName>
                                        </p:attrNameLst>
                                      </p:cBhvr>
                                      <p:to>
                                        <p:strVal val="visible"/>
                                      </p:to>
                                    </p:set>
                                    <p:anim calcmode="lin" valueType="num">
                                      <p:cBhvr>
                                        <p:cTn id="18" dur="500" fill="hold"/>
                                        <p:tgtEl>
                                          <p:spTgt spid="49"/>
                                        </p:tgtEl>
                                        <p:attrNameLst>
                                          <p:attrName>ppt_x</p:attrName>
                                        </p:attrNameLst>
                                      </p:cBhvr>
                                      <p:tavLst>
                                        <p:tav tm="0">
                                          <p:val>
                                            <p:strVal val="#ppt_x"/>
                                          </p:val>
                                        </p:tav>
                                        <p:tav tm="50000">
                                          <p:val>
                                            <p:strVal val="#ppt_x+.1"/>
                                          </p:val>
                                        </p:tav>
                                        <p:tav tm="100000">
                                          <p:val>
                                            <p:strVal val="#ppt_x"/>
                                          </p:val>
                                        </p:tav>
                                      </p:tavLst>
                                    </p:anim>
                                    <p:anim calcmode="lin" valueType="num">
                                      <p:cBhvr>
                                        <p:cTn id="19" dur="500" fill="hold"/>
                                        <p:tgtEl>
                                          <p:spTgt spid="49"/>
                                        </p:tgtEl>
                                        <p:attrNameLst>
                                          <p:attrName>ppt_y</p:attrName>
                                        </p:attrNameLst>
                                      </p:cBhvr>
                                      <p:tavLst>
                                        <p:tav tm="0">
                                          <p:val>
                                            <p:strVal val="#ppt_y"/>
                                          </p:val>
                                        </p:tav>
                                        <p:tav tm="100000">
                                          <p:val>
                                            <p:strVal val="#ppt_y"/>
                                          </p:val>
                                        </p:tav>
                                      </p:tavLst>
                                    </p:anim>
                                    <p:anim calcmode="lin" valueType="num">
                                      <p:cBhvr>
                                        <p:cTn id="20" dur="500" fill="hold"/>
                                        <p:tgtEl>
                                          <p:spTgt spid="49"/>
                                        </p:tgtEl>
                                        <p:attrNameLst>
                                          <p:attrName>ppt_h</p:attrName>
                                        </p:attrNameLst>
                                      </p:cBhvr>
                                      <p:tavLst>
                                        <p:tav tm="0">
                                          <p:val>
                                            <p:strVal val="#ppt_h/10"/>
                                          </p:val>
                                        </p:tav>
                                        <p:tav tm="50000">
                                          <p:val>
                                            <p:strVal val="#ppt_h+.01"/>
                                          </p:val>
                                        </p:tav>
                                        <p:tav tm="100000">
                                          <p:val>
                                            <p:strVal val="#ppt_h"/>
                                          </p:val>
                                        </p:tav>
                                      </p:tavLst>
                                    </p:anim>
                                    <p:anim calcmode="lin" valueType="num">
                                      <p:cBhvr>
                                        <p:cTn id="21" dur="500" fill="hold"/>
                                        <p:tgtEl>
                                          <p:spTgt spid="49"/>
                                        </p:tgtEl>
                                        <p:attrNameLst>
                                          <p:attrName>ppt_w</p:attrName>
                                        </p:attrNameLst>
                                      </p:cBhvr>
                                      <p:tavLst>
                                        <p:tav tm="0">
                                          <p:val>
                                            <p:strVal val="#ppt_w/10"/>
                                          </p:val>
                                        </p:tav>
                                        <p:tav tm="50000">
                                          <p:val>
                                            <p:strVal val="#ppt_w+.01"/>
                                          </p:val>
                                        </p:tav>
                                        <p:tav tm="100000">
                                          <p:val>
                                            <p:strVal val="#ppt_w"/>
                                          </p:val>
                                        </p:tav>
                                      </p:tavLst>
                                    </p:anim>
                                    <p:animEffect transition="in" filter="fade">
                                      <p:cBhvr>
                                        <p:cTn id="22" dur="500" tmFilter="0,0; .5, 1; 1, 1"/>
                                        <p:tgtEl>
                                          <p:spTgt spid="49"/>
                                        </p:tgtEl>
                                      </p:cBhvr>
                                    </p:animEffect>
                                  </p:childTnLst>
                                </p:cTn>
                              </p:par>
                            </p:childTnLst>
                          </p:cTn>
                        </p:par>
                        <p:par>
                          <p:cTn id="23" fill="hold">
                            <p:stCondLst>
                              <p:cond delay="1750"/>
                            </p:stCondLst>
                            <p:childTnLst>
                              <p:par>
                                <p:cTn id="24" presetID="0" presetClass="entr" presetSubtype="0" decel="50000" fill="hold" nodeType="afterEffect">
                                  <p:stCondLst>
                                    <p:cond delay="0"/>
                                  </p:stCondLst>
                                  <p:childTnLst>
                                    <p:set>
                                      <p:cBhvr>
                                        <p:cTn id="25" dur="750" fill="hold">
                                          <p:stCondLst>
                                            <p:cond delay="0"/>
                                          </p:stCondLst>
                                        </p:cTn>
                                        <p:tgtEl>
                                          <p:spTgt spid="7"/>
                                        </p:tgtEl>
                                        <p:attrNameLst>
                                          <p:attrName>style.visibility</p:attrName>
                                        </p:attrNameLst>
                                      </p:cBhvr>
                                      <p:to>
                                        <p:strVal val="visible"/>
                                      </p:to>
                                    </p:set>
                                    <p:animScale>
                                      <p:cBhvr>
                                        <p:cTn id="26" dur="225" decel="50000" fill="hold">
                                          <p:stCondLst>
                                            <p:cond delay="0"/>
                                          </p:stCondLst>
                                        </p:cTn>
                                        <p:tgtEl>
                                          <p:spTgt spid="7"/>
                                        </p:tgtEl>
                                      </p:cBhvr>
                                      <p:from x="150000" y="150000"/>
                                      <p:to x="50000" y="50000"/>
                                    </p:animScale>
                                    <p:anim to="" calcmode="lin" valueType="num">
                                      <p:cBhvr>
                                        <p:cTn id="27" dur="225" decel="50000" fill="hold">
                                          <p:stCondLst>
                                            <p:cond delay="0"/>
                                          </p:stCondLst>
                                        </p:cTn>
                                        <p:tgtEl>
                                          <p:spTgt spid="7"/>
                                        </p:tgtEl>
                                        <p:attrNameLst>
                                          <p:attrName>ppt_x</p:attrName>
                                        </p:attrNameLst>
                                      </p:cBhvr>
                                      <p:tavLst>
                                        <p:tav tm="0">
                                          <p:val>
                                            <p:strVal val="#ppt_x-0.05"/>
                                          </p:val>
                                        </p:tav>
                                        <p:tav tm="100000">
                                          <p:val>
                                            <p:strVal val="#ppt_x+0.02"/>
                                          </p:val>
                                        </p:tav>
                                      </p:tavLst>
                                    </p:anim>
                                    <p:animScale>
                                      <p:cBhvr>
                                        <p:cTn id="28" dur="375" accel="50000" fill="hold">
                                          <p:stCondLst>
                                            <p:cond delay="225"/>
                                          </p:stCondLst>
                                        </p:cTn>
                                        <p:tgtEl>
                                          <p:spTgt spid="7"/>
                                        </p:tgtEl>
                                      </p:cBhvr>
                                      <p:from x="50000" y="50000"/>
                                      <p:to x="100000" y="100000"/>
                                    </p:animScale>
                                    <p:anim to="" calcmode="lin" valueType="num">
                                      <p:cBhvr>
                                        <p:cTn id="29" dur="375" accel="50000" fill="hold">
                                          <p:stCondLst>
                                            <p:cond delay="225"/>
                                          </p:stCondLst>
                                        </p:cTn>
                                        <p:tgtEl>
                                          <p:spTgt spid="7"/>
                                        </p:tgtEl>
                                        <p:attrNameLst>
                                          <p:attrName>ppt_x</p:attrName>
                                        </p:attrNameLst>
                                      </p:cBhvr>
                                      <p:tavLst>
                                        <p:tav tm="0">
                                          <p:val>
                                            <p:strVal val="ppt_x"/>
                                          </p:val>
                                        </p:tav>
                                        <p:tav tm="100000">
                                          <p:val>
                                            <p:strVal val="#ppt_x"/>
                                          </p:val>
                                        </p:tav>
                                      </p:tavLst>
                                    </p:anim>
                                    <p:anim to="" calcmode="lin" valueType="num">
                                      <p:cBhvr>
                                        <p:cTn id="30" dur="225" decel="50000" fill="hold">
                                          <p:stCondLst>
                                            <p:cond delay="0"/>
                                          </p:stCondLst>
                                        </p:cTn>
                                        <p:tgtEl>
                                          <p:spTgt spid="7"/>
                                        </p:tgtEl>
                                        <p:attrNameLst>
                                          <p:attrName>ppt_y</p:attrName>
                                        </p:attrNameLst>
                                      </p:cBhvr>
                                      <p:tavLst>
                                        <p:tav tm="0">
                                          <p:val>
                                            <p:strVal val="#ppt_y-0.05"/>
                                          </p:val>
                                        </p:tav>
                                        <p:tav tm="100000">
                                          <p:val>
                                            <p:strVal val="#ppt_y+0.05"/>
                                          </p:val>
                                        </p:tav>
                                      </p:tavLst>
                                    </p:anim>
                                    <p:anim to="" calcmode="lin" valueType="num">
                                      <p:cBhvr>
                                        <p:cTn id="31" dur="375" accel="50000" fill="hold">
                                          <p:stCondLst>
                                            <p:cond delay="225"/>
                                          </p:stCondLst>
                                        </p:cTn>
                                        <p:tgtEl>
                                          <p:spTgt spid="7"/>
                                        </p:tgtEl>
                                        <p:attrNameLst>
                                          <p:attrName>ppt_y</p:attrName>
                                        </p:attrNameLst>
                                      </p:cBhvr>
                                      <p:tavLst>
                                        <p:tav tm="0">
                                          <p:val>
                                            <p:strVal val="ppt_y"/>
                                          </p:val>
                                        </p:tav>
                                        <p:tav tm="100000">
                                          <p:val>
                                            <p:strVal val="#ppt_y"/>
                                          </p:val>
                                        </p:tav>
                                      </p:tavLst>
                                    </p:anim>
                                    <p:animRot by="21600000">
                                      <p:cBhvr>
                                        <p:cTn id="32" dur="750" decel="50000" fill="hold">
                                          <p:stCondLst>
                                            <p:cond delay="0"/>
                                          </p:stCondLst>
                                        </p:cTn>
                                        <p:tgtEl>
                                          <p:spTgt spid="7"/>
                                        </p:tgtEl>
                                        <p:attrNameLst>
                                          <p:attrName>r</p:attrName>
                                        </p:attrNameLst>
                                      </p:cBhvr>
                                    </p:animRot>
                                    <p:animRot by="21600000">
                                      <p:cBhvr>
                                        <p:cTn id="33" dur="375" accel="50000" fill="hold">
                                          <p:stCondLst>
                                            <p:cond delay="225"/>
                                          </p:stCondLst>
                                        </p:cTn>
                                        <p:tgtEl>
                                          <p:spTgt spid="7"/>
                                        </p:tgtEl>
                                        <p:attrNameLst>
                                          <p:attrName>r</p:attrName>
                                        </p:attrNameLst>
                                      </p:cBhvr>
                                    </p:animRot>
                                    <p:animEffect filter="fade">
                                      <p:cBhvr>
                                        <p:cTn id="34" dur="225">
                                          <p:stCondLst>
                                            <p:cond delay="0"/>
                                          </p:stCondLst>
                                        </p:cTn>
                                        <p:tgtEl>
                                          <p:spTgt spid="7"/>
                                        </p:tgtEl>
                                      </p:cBhvr>
                                    </p:animEffect>
                                  </p:childTnLst>
                                </p:cTn>
                              </p:par>
                              <p:par>
                                <p:cTn id="35" presetID="0" presetClass="entr" presetSubtype="0" decel="50000" fill="hold" nodeType="withEffect">
                                  <p:stCondLst>
                                    <p:cond delay="0"/>
                                  </p:stCondLst>
                                  <p:childTnLst>
                                    <p:set>
                                      <p:cBhvr>
                                        <p:cTn id="36" dur="750" fill="hold">
                                          <p:stCondLst>
                                            <p:cond delay="0"/>
                                          </p:stCondLst>
                                        </p:cTn>
                                        <p:tgtEl>
                                          <p:spTgt spid="6"/>
                                        </p:tgtEl>
                                        <p:attrNameLst>
                                          <p:attrName>style.visibility</p:attrName>
                                        </p:attrNameLst>
                                      </p:cBhvr>
                                      <p:to>
                                        <p:strVal val="visible"/>
                                      </p:to>
                                    </p:set>
                                    <p:animScale>
                                      <p:cBhvr>
                                        <p:cTn id="37" dur="225" decel="50000" fill="hold">
                                          <p:stCondLst>
                                            <p:cond delay="0"/>
                                          </p:stCondLst>
                                        </p:cTn>
                                        <p:tgtEl>
                                          <p:spTgt spid="6"/>
                                        </p:tgtEl>
                                      </p:cBhvr>
                                      <p:from x="150000" y="150000"/>
                                      <p:to x="50000" y="50000"/>
                                    </p:animScale>
                                    <p:anim to="" calcmode="lin" valueType="num">
                                      <p:cBhvr>
                                        <p:cTn id="38" dur="225" decel="50000" fill="hold">
                                          <p:stCondLst>
                                            <p:cond delay="0"/>
                                          </p:stCondLst>
                                        </p:cTn>
                                        <p:tgtEl>
                                          <p:spTgt spid="6"/>
                                        </p:tgtEl>
                                        <p:attrNameLst>
                                          <p:attrName>ppt_x</p:attrName>
                                        </p:attrNameLst>
                                      </p:cBhvr>
                                      <p:tavLst>
                                        <p:tav tm="0">
                                          <p:val>
                                            <p:strVal val="#ppt_x-0.05"/>
                                          </p:val>
                                        </p:tav>
                                        <p:tav tm="100000">
                                          <p:val>
                                            <p:strVal val="#ppt_x+0.02"/>
                                          </p:val>
                                        </p:tav>
                                      </p:tavLst>
                                    </p:anim>
                                    <p:animScale>
                                      <p:cBhvr>
                                        <p:cTn id="39" dur="375" accel="50000" fill="hold">
                                          <p:stCondLst>
                                            <p:cond delay="225"/>
                                          </p:stCondLst>
                                        </p:cTn>
                                        <p:tgtEl>
                                          <p:spTgt spid="6"/>
                                        </p:tgtEl>
                                      </p:cBhvr>
                                      <p:from x="50000" y="50000"/>
                                      <p:to x="100000" y="100000"/>
                                    </p:animScale>
                                    <p:anim to="" calcmode="lin" valueType="num">
                                      <p:cBhvr>
                                        <p:cTn id="40" dur="375" accel="50000" fill="hold">
                                          <p:stCondLst>
                                            <p:cond delay="225"/>
                                          </p:stCondLst>
                                        </p:cTn>
                                        <p:tgtEl>
                                          <p:spTgt spid="6"/>
                                        </p:tgtEl>
                                        <p:attrNameLst>
                                          <p:attrName>ppt_x</p:attrName>
                                        </p:attrNameLst>
                                      </p:cBhvr>
                                      <p:tavLst>
                                        <p:tav tm="0">
                                          <p:val>
                                            <p:strVal val="ppt_x"/>
                                          </p:val>
                                        </p:tav>
                                        <p:tav tm="100000">
                                          <p:val>
                                            <p:strVal val="#ppt_x"/>
                                          </p:val>
                                        </p:tav>
                                      </p:tavLst>
                                    </p:anim>
                                    <p:anim to="" calcmode="lin" valueType="num">
                                      <p:cBhvr>
                                        <p:cTn id="41" dur="225" decel="50000" fill="hold">
                                          <p:stCondLst>
                                            <p:cond delay="0"/>
                                          </p:stCondLst>
                                        </p:cTn>
                                        <p:tgtEl>
                                          <p:spTgt spid="6"/>
                                        </p:tgtEl>
                                        <p:attrNameLst>
                                          <p:attrName>ppt_y</p:attrName>
                                        </p:attrNameLst>
                                      </p:cBhvr>
                                      <p:tavLst>
                                        <p:tav tm="0">
                                          <p:val>
                                            <p:strVal val="#ppt_y-0.05"/>
                                          </p:val>
                                        </p:tav>
                                        <p:tav tm="100000">
                                          <p:val>
                                            <p:strVal val="#ppt_y+0.05"/>
                                          </p:val>
                                        </p:tav>
                                      </p:tavLst>
                                    </p:anim>
                                    <p:anim to="" calcmode="lin" valueType="num">
                                      <p:cBhvr>
                                        <p:cTn id="42" dur="375" accel="50000" fill="hold">
                                          <p:stCondLst>
                                            <p:cond delay="225"/>
                                          </p:stCondLst>
                                        </p:cTn>
                                        <p:tgtEl>
                                          <p:spTgt spid="6"/>
                                        </p:tgtEl>
                                        <p:attrNameLst>
                                          <p:attrName>ppt_y</p:attrName>
                                        </p:attrNameLst>
                                      </p:cBhvr>
                                      <p:tavLst>
                                        <p:tav tm="0">
                                          <p:val>
                                            <p:strVal val="ppt_y"/>
                                          </p:val>
                                        </p:tav>
                                        <p:tav tm="100000">
                                          <p:val>
                                            <p:strVal val="#ppt_y"/>
                                          </p:val>
                                        </p:tav>
                                      </p:tavLst>
                                    </p:anim>
                                    <p:animRot by="21600000">
                                      <p:cBhvr>
                                        <p:cTn id="43" dur="750" decel="50000" fill="hold">
                                          <p:stCondLst>
                                            <p:cond delay="0"/>
                                          </p:stCondLst>
                                        </p:cTn>
                                        <p:tgtEl>
                                          <p:spTgt spid="6"/>
                                        </p:tgtEl>
                                        <p:attrNameLst>
                                          <p:attrName>r</p:attrName>
                                        </p:attrNameLst>
                                      </p:cBhvr>
                                    </p:animRot>
                                    <p:animRot by="21600000">
                                      <p:cBhvr>
                                        <p:cTn id="44" dur="375" accel="50000" fill="hold">
                                          <p:stCondLst>
                                            <p:cond delay="225"/>
                                          </p:stCondLst>
                                        </p:cTn>
                                        <p:tgtEl>
                                          <p:spTgt spid="6"/>
                                        </p:tgtEl>
                                        <p:attrNameLst>
                                          <p:attrName>r</p:attrName>
                                        </p:attrNameLst>
                                      </p:cBhvr>
                                    </p:animRot>
                                    <p:animEffect filter="fade">
                                      <p:cBhvr>
                                        <p:cTn id="45" dur="225">
                                          <p:stCondLst>
                                            <p:cond delay="0"/>
                                          </p:stCondLst>
                                        </p:cTn>
                                        <p:tgtEl>
                                          <p:spTgt spid="6"/>
                                        </p:tgtEl>
                                      </p:cBhvr>
                                    </p:animEffect>
                                  </p:childTnLst>
                                </p:cTn>
                              </p:par>
                              <p:par>
                                <p:cTn id="46" presetID="0" presetClass="entr" presetSubtype="0" decel="50000" fill="hold" nodeType="withEffect">
                                  <p:stCondLst>
                                    <p:cond delay="0"/>
                                  </p:stCondLst>
                                  <p:childTnLst>
                                    <p:set>
                                      <p:cBhvr>
                                        <p:cTn id="47" dur="750" fill="hold">
                                          <p:stCondLst>
                                            <p:cond delay="0"/>
                                          </p:stCondLst>
                                        </p:cTn>
                                        <p:tgtEl>
                                          <p:spTgt spid="9"/>
                                        </p:tgtEl>
                                        <p:attrNameLst>
                                          <p:attrName>style.visibility</p:attrName>
                                        </p:attrNameLst>
                                      </p:cBhvr>
                                      <p:to>
                                        <p:strVal val="visible"/>
                                      </p:to>
                                    </p:set>
                                    <p:animScale>
                                      <p:cBhvr>
                                        <p:cTn id="48" dur="225" decel="50000" fill="hold">
                                          <p:stCondLst>
                                            <p:cond delay="0"/>
                                          </p:stCondLst>
                                        </p:cTn>
                                        <p:tgtEl>
                                          <p:spTgt spid="9"/>
                                        </p:tgtEl>
                                      </p:cBhvr>
                                      <p:from x="150000" y="150000"/>
                                      <p:to x="50000" y="50000"/>
                                    </p:animScale>
                                    <p:anim to="" calcmode="lin" valueType="num">
                                      <p:cBhvr>
                                        <p:cTn id="49" dur="225" decel="50000" fill="hold">
                                          <p:stCondLst>
                                            <p:cond delay="0"/>
                                          </p:stCondLst>
                                        </p:cTn>
                                        <p:tgtEl>
                                          <p:spTgt spid="9"/>
                                        </p:tgtEl>
                                        <p:attrNameLst>
                                          <p:attrName>ppt_x</p:attrName>
                                        </p:attrNameLst>
                                      </p:cBhvr>
                                      <p:tavLst>
                                        <p:tav tm="0">
                                          <p:val>
                                            <p:strVal val="#ppt_x-0.05"/>
                                          </p:val>
                                        </p:tav>
                                        <p:tav tm="100000">
                                          <p:val>
                                            <p:strVal val="#ppt_x+0.02"/>
                                          </p:val>
                                        </p:tav>
                                      </p:tavLst>
                                    </p:anim>
                                    <p:animScale>
                                      <p:cBhvr>
                                        <p:cTn id="50" dur="375" accel="50000" fill="hold">
                                          <p:stCondLst>
                                            <p:cond delay="225"/>
                                          </p:stCondLst>
                                        </p:cTn>
                                        <p:tgtEl>
                                          <p:spTgt spid="9"/>
                                        </p:tgtEl>
                                      </p:cBhvr>
                                      <p:from x="50000" y="50000"/>
                                      <p:to x="100000" y="100000"/>
                                    </p:animScale>
                                    <p:anim to="" calcmode="lin" valueType="num">
                                      <p:cBhvr>
                                        <p:cTn id="51" dur="375" accel="50000" fill="hold">
                                          <p:stCondLst>
                                            <p:cond delay="225"/>
                                          </p:stCondLst>
                                        </p:cTn>
                                        <p:tgtEl>
                                          <p:spTgt spid="9"/>
                                        </p:tgtEl>
                                        <p:attrNameLst>
                                          <p:attrName>ppt_x</p:attrName>
                                        </p:attrNameLst>
                                      </p:cBhvr>
                                      <p:tavLst>
                                        <p:tav tm="0">
                                          <p:val>
                                            <p:strVal val="ppt_x"/>
                                          </p:val>
                                        </p:tav>
                                        <p:tav tm="100000">
                                          <p:val>
                                            <p:strVal val="#ppt_x"/>
                                          </p:val>
                                        </p:tav>
                                      </p:tavLst>
                                    </p:anim>
                                    <p:anim to="" calcmode="lin" valueType="num">
                                      <p:cBhvr>
                                        <p:cTn id="52" dur="225" decel="50000" fill="hold">
                                          <p:stCondLst>
                                            <p:cond delay="0"/>
                                          </p:stCondLst>
                                        </p:cTn>
                                        <p:tgtEl>
                                          <p:spTgt spid="9"/>
                                        </p:tgtEl>
                                        <p:attrNameLst>
                                          <p:attrName>ppt_y</p:attrName>
                                        </p:attrNameLst>
                                      </p:cBhvr>
                                      <p:tavLst>
                                        <p:tav tm="0">
                                          <p:val>
                                            <p:strVal val="#ppt_y-0.05"/>
                                          </p:val>
                                        </p:tav>
                                        <p:tav tm="100000">
                                          <p:val>
                                            <p:strVal val="#ppt_y+0.05"/>
                                          </p:val>
                                        </p:tav>
                                      </p:tavLst>
                                    </p:anim>
                                    <p:anim to="" calcmode="lin" valueType="num">
                                      <p:cBhvr>
                                        <p:cTn id="53" dur="375" accel="50000" fill="hold">
                                          <p:stCondLst>
                                            <p:cond delay="225"/>
                                          </p:stCondLst>
                                        </p:cTn>
                                        <p:tgtEl>
                                          <p:spTgt spid="9"/>
                                        </p:tgtEl>
                                        <p:attrNameLst>
                                          <p:attrName>ppt_y</p:attrName>
                                        </p:attrNameLst>
                                      </p:cBhvr>
                                      <p:tavLst>
                                        <p:tav tm="0">
                                          <p:val>
                                            <p:strVal val="ppt_y"/>
                                          </p:val>
                                        </p:tav>
                                        <p:tav tm="100000">
                                          <p:val>
                                            <p:strVal val="#ppt_y"/>
                                          </p:val>
                                        </p:tav>
                                      </p:tavLst>
                                    </p:anim>
                                    <p:animRot by="21600000">
                                      <p:cBhvr>
                                        <p:cTn id="54" dur="750" decel="50000" fill="hold">
                                          <p:stCondLst>
                                            <p:cond delay="0"/>
                                          </p:stCondLst>
                                        </p:cTn>
                                        <p:tgtEl>
                                          <p:spTgt spid="9"/>
                                        </p:tgtEl>
                                        <p:attrNameLst>
                                          <p:attrName>r</p:attrName>
                                        </p:attrNameLst>
                                      </p:cBhvr>
                                    </p:animRot>
                                    <p:animRot by="21600000">
                                      <p:cBhvr>
                                        <p:cTn id="55" dur="375" accel="50000" fill="hold">
                                          <p:stCondLst>
                                            <p:cond delay="225"/>
                                          </p:stCondLst>
                                        </p:cTn>
                                        <p:tgtEl>
                                          <p:spTgt spid="9"/>
                                        </p:tgtEl>
                                        <p:attrNameLst>
                                          <p:attrName>r</p:attrName>
                                        </p:attrNameLst>
                                      </p:cBhvr>
                                    </p:animRot>
                                    <p:animEffect filter="fade">
                                      <p:cBhvr>
                                        <p:cTn id="56" dur="225">
                                          <p:stCondLst>
                                            <p:cond delay="0"/>
                                          </p:stCondLst>
                                        </p:cTn>
                                        <p:tgtEl>
                                          <p:spTgt spid="9"/>
                                        </p:tgtEl>
                                      </p:cBhvr>
                                    </p:animEffect>
                                  </p:childTnLst>
                                </p:cTn>
                              </p:par>
                              <p:par>
                                <p:cTn id="57" presetID="0" presetClass="entr" presetSubtype="0" decel="50000" fill="hold" nodeType="withEffect">
                                  <p:stCondLst>
                                    <p:cond delay="0"/>
                                  </p:stCondLst>
                                  <p:childTnLst>
                                    <p:set>
                                      <p:cBhvr>
                                        <p:cTn id="58" dur="750" fill="hold">
                                          <p:stCondLst>
                                            <p:cond delay="0"/>
                                          </p:stCondLst>
                                        </p:cTn>
                                        <p:tgtEl>
                                          <p:spTgt spid="4"/>
                                        </p:tgtEl>
                                        <p:attrNameLst>
                                          <p:attrName>style.visibility</p:attrName>
                                        </p:attrNameLst>
                                      </p:cBhvr>
                                      <p:to>
                                        <p:strVal val="visible"/>
                                      </p:to>
                                    </p:set>
                                    <p:animScale>
                                      <p:cBhvr>
                                        <p:cTn id="59" dur="225" decel="50000" fill="hold">
                                          <p:stCondLst>
                                            <p:cond delay="0"/>
                                          </p:stCondLst>
                                        </p:cTn>
                                        <p:tgtEl>
                                          <p:spTgt spid="4"/>
                                        </p:tgtEl>
                                      </p:cBhvr>
                                      <p:from x="150000" y="150000"/>
                                      <p:to x="50000" y="50000"/>
                                    </p:animScale>
                                    <p:anim to="" calcmode="lin" valueType="num">
                                      <p:cBhvr>
                                        <p:cTn id="60" dur="225" decel="50000" fill="hold">
                                          <p:stCondLst>
                                            <p:cond delay="0"/>
                                          </p:stCondLst>
                                        </p:cTn>
                                        <p:tgtEl>
                                          <p:spTgt spid="4"/>
                                        </p:tgtEl>
                                        <p:attrNameLst>
                                          <p:attrName>ppt_x</p:attrName>
                                        </p:attrNameLst>
                                      </p:cBhvr>
                                      <p:tavLst>
                                        <p:tav tm="0">
                                          <p:val>
                                            <p:strVal val="#ppt_x-0.05"/>
                                          </p:val>
                                        </p:tav>
                                        <p:tav tm="100000">
                                          <p:val>
                                            <p:strVal val="#ppt_x+0.02"/>
                                          </p:val>
                                        </p:tav>
                                      </p:tavLst>
                                    </p:anim>
                                    <p:animScale>
                                      <p:cBhvr>
                                        <p:cTn id="61" dur="375" accel="50000" fill="hold">
                                          <p:stCondLst>
                                            <p:cond delay="225"/>
                                          </p:stCondLst>
                                        </p:cTn>
                                        <p:tgtEl>
                                          <p:spTgt spid="4"/>
                                        </p:tgtEl>
                                      </p:cBhvr>
                                      <p:from x="50000" y="50000"/>
                                      <p:to x="100000" y="100000"/>
                                    </p:animScale>
                                    <p:anim to="" calcmode="lin" valueType="num">
                                      <p:cBhvr>
                                        <p:cTn id="62" dur="375" accel="50000" fill="hold">
                                          <p:stCondLst>
                                            <p:cond delay="225"/>
                                          </p:stCondLst>
                                        </p:cTn>
                                        <p:tgtEl>
                                          <p:spTgt spid="4"/>
                                        </p:tgtEl>
                                        <p:attrNameLst>
                                          <p:attrName>ppt_x</p:attrName>
                                        </p:attrNameLst>
                                      </p:cBhvr>
                                      <p:tavLst>
                                        <p:tav tm="0">
                                          <p:val>
                                            <p:strVal val="ppt_x"/>
                                          </p:val>
                                        </p:tav>
                                        <p:tav tm="100000">
                                          <p:val>
                                            <p:strVal val="#ppt_x"/>
                                          </p:val>
                                        </p:tav>
                                      </p:tavLst>
                                    </p:anim>
                                    <p:anim to="" calcmode="lin" valueType="num">
                                      <p:cBhvr>
                                        <p:cTn id="63" dur="225" decel="50000" fill="hold">
                                          <p:stCondLst>
                                            <p:cond delay="0"/>
                                          </p:stCondLst>
                                        </p:cTn>
                                        <p:tgtEl>
                                          <p:spTgt spid="4"/>
                                        </p:tgtEl>
                                        <p:attrNameLst>
                                          <p:attrName>ppt_y</p:attrName>
                                        </p:attrNameLst>
                                      </p:cBhvr>
                                      <p:tavLst>
                                        <p:tav tm="0">
                                          <p:val>
                                            <p:strVal val="#ppt_y-0.05"/>
                                          </p:val>
                                        </p:tav>
                                        <p:tav tm="100000">
                                          <p:val>
                                            <p:strVal val="#ppt_y+0.05"/>
                                          </p:val>
                                        </p:tav>
                                      </p:tavLst>
                                    </p:anim>
                                    <p:anim to="" calcmode="lin" valueType="num">
                                      <p:cBhvr>
                                        <p:cTn id="64" dur="375" accel="50000" fill="hold">
                                          <p:stCondLst>
                                            <p:cond delay="225"/>
                                          </p:stCondLst>
                                        </p:cTn>
                                        <p:tgtEl>
                                          <p:spTgt spid="4"/>
                                        </p:tgtEl>
                                        <p:attrNameLst>
                                          <p:attrName>ppt_y</p:attrName>
                                        </p:attrNameLst>
                                      </p:cBhvr>
                                      <p:tavLst>
                                        <p:tav tm="0">
                                          <p:val>
                                            <p:strVal val="ppt_y"/>
                                          </p:val>
                                        </p:tav>
                                        <p:tav tm="100000">
                                          <p:val>
                                            <p:strVal val="#ppt_y"/>
                                          </p:val>
                                        </p:tav>
                                      </p:tavLst>
                                    </p:anim>
                                    <p:animRot by="21600000">
                                      <p:cBhvr>
                                        <p:cTn id="65" dur="750" decel="50000" fill="hold">
                                          <p:stCondLst>
                                            <p:cond delay="0"/>
                                          </p:stCondLst>
                                        </p:cTn>
                                        <p:tgtEl>
                                          <p:spTgt spid="4"/>
                                        </p:tgtEl>
                                        <p:attrNameLst>
                                          <p:attrName>r</p:attrName>
                                        </p:attrNameLst>
                                      </p:cBhvr>
                                    </p:animRot>
                                    <p:animRot by="21600000">
                                      <p:cBhvr>
                                        <p:cTn id="66" dur="375" accel="50000" fill="hold">
                                          <p:stCondLst>
                                            <p:cond delay="225"/>
                                          </p:stCondLst>
                                        </p:cTn>
                                        <p:tgtEl>
                                          <p:spTgt spid="4"/>
                                        </p:tgtEl>
                                        <p:attrNameLst>
                                          <p:attrName>r</p:attrName>
                                        </p:attrNameLst>
                                      </p:cBhvr>
                                    </p:animRot>
                                    <p:animEffect filter="fade">
                                      <p:cBhvr>
                                        <p:cTn id="67" dur="225">
                                          <p:stCondLst>
                                            <p:cond delay="0"/>
                                          </p:stCondLst>
                                        </p:cTn>
                                        <p:tgtEl>
                                          <p:spTgt spid="4"/>
                                        </p:tgtEl>
                                      </p:cBhvr>
                                    </p:animEffect>
                                  </p:childTnLst>
                                </p:cTn>
                              </p:par>
                              <p:par>
                                <p:cTn id="68" presetID="0" presetClass="entr" presetSubtype="0" decel="50000" fill="hold" nodeType="withEffect">
                                  <p:stCondLst>
                                    <p:cond delay="0"/>
                                  </p:stCondLst>
                                  <p:childTnLst>
                                    <p:set>
                                      <p:cBhvr>
                                        <p:cTn id="69" dur="750" fill="hold">
                                          <p:stCondLst>
                                            <p:cond delay="0"/>
                                          </p:stCondLst>
                                        </p:cTn>
                                        <p:tgtEl>
                                          <p:spTgt spid="5"/>
                                        </p:tgtEl>
                                        <p:attrNameLst>
                                          <p:attrName>style.visibility</p:attrName>
                                        </p:attrNameLst>
                                      </p:cBhvr>
                                      <p:to>
                                        <p:strVal val="visible"/>
                                      </p:to>
                                    </p:set>
                                    <p:animScale>
                                      <p:cBhvr>
                                        <p:cTn id="70" dur="225" decel="50000" fill="hold">
                                          <p:stCondLst>
                                            <p:cond delay="0"/>
                                          </p:stCondLst>
                                        </p:cTn>
                                        <p:tgtEl>
                                          <p:spTgt spid="5"/>
                                        </p:tgtEl>
                                      </p:cBhvr>
                                      <p:from x="150000" y="150000"/>
                                      <p:to x="50000" y="50000"/>
                                    </p:animScale>
                                    <p:anim to="" calcmode="lin" valueType="num">
                                      <p:cBhvr>
                                        <p:cTn id="71" dur="225" decel="50000" fill="hold">
                                          <p:stCondLst>
                                            <p:cond delay="0"/>
                                          </p:stCondLst>
                                        </p:cTn>
                                        <p:tgtEl>
                                          <p:spTgt spid="5"/>
                                        </p:tgtEl>
                                        <p:attrNameLst>
                                          <p:attrName>ppt_x</p:attrName>
                                        </p:attrNameLst>
                                      </p:cBhvr>
                                      <p:tavLst>
                                        <p:tav tm="0">
                                          <p:val>
                                            <p:strVal val="#ppt_x-0.05"/>
                                          </p:val>
                                        </p:tav>
                                        <p:tav tm="100000">
                                          <p:val>
                                            <p:strVal val="#ppt_x+0.02"/>
                                          </p:val>
                                        </p:tav>
                                      </p:tavLst>
                                    </p:anim>
                                    <p:animScale>
                                      <p:cBhvr>
                                        <p:cTn id="72" dur="375" accel="50000" fill="hold">
                                          <p:stCondLst>
                                            <p:cond delay="225"/>
                                          </p:stCondLst>
                                        </p:cTn>
                                        <p:tgtEl>
                                          <p:spTgt spid="5"/>
                                        </p:tgtEl>
                                      </p:cBhvr>
                                      <p:from x="50000" y="50000"/>
                                      <p:to x="100000" y="100000"/>
                                    </p:animScale>
                                    <p:anim to="" calcmode="lin" valueType="num">
                                      <p:cBhvr>
                                        <p:cTn id="73" dur="375" accel="50000" fill="hold">
                                          <p:stCondLst>
                                            <p:cond delay="225"/>
                                          </p:stCondLst>
                                        </p:cTn>
                                        <p:tgtEl>
                                          <p:spTgt spid="5"/>
                                        </p:tgtEl>
                                        <p:attrNameLst>
                                          <p:attrName>ppt_x</p:attrName>
                                        </p:attrNameLst>
                                      </p:cBhvr>
                                      <p:tavLst>
                                        <p:tav tm="0">
                                          <p:val>
                                            <p:strVal val="ppt_x"/>
                                          </p:val>
                                        </p:tav>
                                        <p:tav tm="100000">
                                          <p:val>
                                            <p:strVal val="#ppt_x"/>
                                          </p:val>
                                        </p:tav>
                                      </p:tavLst>
                                    </p:anim>
                                    <p:anim to="" calcmode="lin" valueType="num">
                                      <p:cBhvr>
                                        <p:cTn id="74" dur="225" decel="50000" fill="hold">
                                          <p:stCondLst>
                                            <p:cond delay="0"/>
                                          </p:stCondLst>
                                        </p:cTn>
                                        <p:tgtEl>
                                          <p:spTgt spid="5"/>
                                        </p:tgtEl>
                                        <p:attrNameLst>
                                          <p:attrName>ppt_y</p:attrName>
                                        </p:attrNameLst>
                                      </p:cBhvr>
                                      <p:tavLst>
                                        <p:tav tm="0">
                                          <p:val>
                                            <p:strVal val="#ppt_y-0.05"/>
                                          </p:val>
                                        </p:tav>
                                        <p:tav tm="100000">
                                          <p:val>
                                            <p:strVal val="#ppt_y+0.05"/>
                                          </p:val>
                                        </p:tav>
                                      </p:tavLst>
                                    </p:anim>
                                    <p:anim to="" calcmode="lin" valueType="num">
                                      <p:cBhvr>
                                        <p:cTn id="75" dur="375" accel="50000" fill="hold">
                                          <p:stCondLst>
                                            <p:cond delay="225"/>
                                          </p:stCondLst>
                                        </p:cTn>
                                        <p:tgtEl>
                                          <p:spTgt spid="5"/>
                                        </p:tgtEl>
                                        <p:attrNameLst>
                                          <p:attrName>ppt_y</p:attrName>
                                        </p:attrNameLst>
                                      </p:cBhvr>
                                      <p:tavLst>
                                        <p:tav tm="0">
                                          <p:val>
                                            <p:strVal val="ppt_y"/>
                                          </p:val>
                                        </p:tav>
                                        <p:tav tm="100000">
                                          <p:val>
                                            <p:strVal val="#ppt_y"/>
                                          </p:val>
                                        </p:tav>
                                      </p:tavLst>
                                    </p:anim>
                                    <p:animRot by="21600000">
                                      <p:cBhvr>
                                        <p:cTn id="76" dur="750" decel="50000" fill="hold">
                                          <p:stCondLst>
                                            <p:cond delay="0"/>
                                          </p:stCondLst>
                                        </p:cTn>
                                        <p:tgtEl>
                                          <p:spTgt spid="5"/>
                                        </p:tgtEl>
                                        <p:attrNameLst>
                                          <p:attrName>r</p:attrName>
                                        </p:attrNameLst>
                                      </p:cBhvr>
                                    </p:animRot>
                                    <p:animRot by="21600000">
                                      <p:cBhvr>
                                        <p:cTn id="77" dur="375" accel="50000" fill="hold">
                                          <p:stCondLst>
                                            <p:cond delay="225"/>
                                          </p:stCondLst>
                                        </p:cTn>
                                        <p:tgtEl>
                                          <p:spTgt spid="5"/>
                                        </p:tgtEl>
                                        <p:attrNameLst>
                                          <p:attrName>r</p:attrName>
                                        </p:attrNameLst>
                                      </p:cBhvr>
                                    </p:animRot>
                                    <p:animEffect filter="fade">
                                      <p:cBhvr>
                                        <p:cTn id="78" dur="225">
                                          <p:stCondLst>
                                            <p:cond delay="0"/>
                                          </p:stCondLst>
                                        </p:cTn>
                                        <p:tgtEl>
                                          <p:spTgt spid="5"/>
                                        </p:tgtEl>
                                      </p:cBhvr>
                                    </p:animEffect>
                                  </p:childTnLst>
                                </p:cTn>
                              </p:par>
                            </p:childTnLst>
                          </p:cTn>
                        </p:par>
                        <p:par>
                          <p:cTn id="79" fill="hold">
                            <p:stCondLst>
                              <p:cond delay="2750"/>
                            </p:stCondLst>
                            <p:childTnLst>
                              <p:par>
                                <p:cTn id="80" presetID="10" presetClass="entr" presetSubtype="0" fill="hold" nodeType="afterEffect">
                                  <p:stCondLst>
                                    <p:cond delay="0"/>
                                  </p:stCondLst>
                                  <p:childTnLst>
                                    <p:set>
                                      <p:cBhvr>
                                        <p:cTn id="81" dur="1" fill="hold">
                                          <p:stCondLst>
                                            <p:cond delay="0"/>
                                          </p:stCondLst>
                                        </p:cTn>
                                        <p:tgtEl>
                                          <p:spTgt spid="26"/>
                                        </p:tgtEl>
                                        <p:attrNameLst>
                                          <p:attrName>style.visibility</p:attrName>
                                        </p:attrNameLst>
                                      </p:cBhvr>
                                      <p:to>
                                        <p:strVal val="visible"/>
                                      </p:to>
                                    </p:set>
                                    <p:animEffect transition="in" filter="fade">
                                      <p:cBhvr>
                                        <p:cTn id="82"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P spid="49"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txBox="1"/>
          <p:nvPr/>
        </p:nvSpPr>
        <p:spPr>
          <a:xfrm>
            <a:off x="857884" y="195109"/>
            <a:ext cx="3570099" cy="379730"/>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000" b="1" dirty="0">
                <a:solidFill>
                  <a:schemeClr val="tx1"/>
                </a:solidFill>
                <a:latin typeface="Arial" panose="020B0604020202020204" pitchFamily="34" charset="0"/>
                <a:ea typeface="微软雅黑" panose="020B0503020204020204" pitchFamily="34" charset="-122"/>
                <a:sym typeface="Arial" panose="020B0604020202020204" pitchFamily="34" charset="0"/>
              </a:rPr>
              <a:t>1.1 </a:t>
            </a:r>
            <a:r>
              <a:rPr lang="zh-CN" altLang="en-US" sz="2000" b="1" dirty="0">
                <a:solidFill>
                  <a:schemeClr val="tx1"/>
                </a:solidFill>
                <a:latin typeface="Arial" panose="020B0604020202020204" pitchFamily="34" charset="0"/>
                <a:ea typeface="微软雅黑" panose="020B0503020204020204" pitchFamily="34" charset="-122"/>
                <a:sym typeface="Arial" panose="020B0604020202020204" pitchFamily="34" charset="0"/>
              </a:rPr>
              <a:t>前十大应收账款客户排名表</a:t>
            </a:r>
          </a:p>
        </p:txBody>
      </p:sp>
      <p:graphicFrame>
        <p:nvGraphicFramePr>
          <p:cNvPr id="25" name="图表 24"/>
          <p:cNvGraphicFramePr/>
          <p:nvPr/>
        </p:nvGraphicFramePr>
        <p:xfrm>
          <a:off x="4211960" y="4149080"/>
          <a:ext cx="2592288" cy="2232248"/>
        </p:xfrm>
        <a:graphic>
          <a:graphicData uri="http://schemas.openxmlformats.org/drawingml/2006/chart">
            <c:chart xmlns:c="http://schemas.openxmlformats.org/drawingml/2006/chart" xmlns:r="http://schemas.openxmlformats.org/officeDocument/2006/relationships" r:id="rId3"/>
          </a:graphicData>
        </a:graphic>
      </p:graphicFrame>
      <p:sp>
        <p:nvSpPr>
          <p:cNvPr id="8" name="标题 1"/>
          <p:cNvSpPr txBox="1"/>
          <p:nvPr/>
        </p:nvSpPr>
        <p:spPr>
          <a:xfrm>
            <a:off x="1493304" y="915399"/>
            <a:ext cx="2438400" cy="47625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zh-CN" sz="900" b="1">
                <a:latin typeface="Arial" panose="020B0604020202020204" pitchFamily="34" charset="0"/>
                <a:ea typeface="微软雅黑" panose="020B0503020204020204" pitchFamily="34" charset="-122"/>
                <a:sym typeface="Arial" panose="020B0604020202020204" pitchFamily="34" charset="0"/>
              </a:rPr>
              <a:t>A</a:t>
            </a:r>
            <a:r>
              <a:rPr lang="zh-CN" altLang="en-US" sz="900" b="1">
                <a:latin typeface="Arial" panose="020B0604020202020204" pitchFamily="34" charset="0"/>
                <a:ea typeface="微软雅黑" panose="020B0503020204020204" pitchFamily="34" charset="-122"/>
                <a:sym typeface="Arial" panose="020B0604020202020204" pitchFamily="34" charset="0"/>
              </a:rPr>
              <a:t>、账上前十大应收客户</a:t>
            </a:r>
            <a:endParaRPr lang="zh-CN" altLang="en-US" sz="900" b="1" dirty="0">
              <a:latin typeface="Arial" panose="020B0604020202020204" pitchFamily="34" charset="0"/>
              <a:ea typeface="微软雅黑" panose="020B0503020204020204" pitchFamily="34" charset="-122"/>
              <a:sym typeface="Arial" panose="020B0604020202020204" pitchFamily="34" charset="0"/>
            </a:endParaRPr>
          </a:p>
        </p:txBody>
      </p:sp>
      <p:graphicFrame>
        <p:nvGraphicFramePr>
          <p:cNvPr id="10" name="内容占位符 3"/>
          <p:cNvGraphicFramePr/>
          <p:nvPr/>
        </p:nvGraphicFramePr>
        <p:xfrm>
          <a:off x="1493304" y="1294018"/>
          <a:ext cx="3078342" cy="3337560"/>
        </p:xfrm>
        <a:graphic>
          <a:graphicData uri="http://schemas.openxmlformats.org/drawingml/2006/table">
            <a:tbl>
              <a:tblPr firstRow="1" bandRow="1">
                <a:tableStyleId>{5C22544A-7EE6-4342-B048-85BDC9FD1C3A}</a:tableStyleId>
              </a:tblPr>
              <a:tblGrid>
                <a:gridCol w="324036"/>
                <a:gridCol w="756084"/>
                <a:gridCol w="972108"/>
                <a:gridCol w="702078"/>
                <a:gridCol w="324036"/>
              </a:tblGrid>
              <a:tr h="278130">
                <a:tc>
                  <a:txBody>
                    <a:bodyPr/>
                    <a:lstStyle/>
                    <a:p>
                      <a:pPr algn="ctr" fontAlgn="ctr"/>
                      <a:r>
                        <a:rPr lang="zh-CN" altLang="en-US" sz="800" b="1" i="0" u="none" strike="noStrike" dirty="0">
                          <a:latin typeface="Arial" panose="020B0604020202020204" pitchFamily="34" charset="0"/>
                          <a:ea typeface="微软雅黑" panose="020B0503020204020204" pitchFamily="34" charset="-122"/>
                          <a:sym typeface="Arial" panose="020B0604020202020204" pitchFamily="34" charset="0"/>
                        </a:rPr>
                        <a:t>排名</a:t>
                      </a:r>
                    </a:p>
                  </a:txBody>
                  <a:tcPr marL="0" marR="0" marT="0" marB="0" anchor="ctr"/>
                </a:tc>
                <a:tc>
                  <a:txBody>
                    <a:bodyPr/>
                    <a:lstStyle/>
                    <a:p>
                      <a:pPr algn="ctr" fontAlgn="ctr"/>
                      <a:r>
                        <a:rPr lang="zh-CN" altLang="en-US" sz="800" b="1" i="0" u="none" strike="noStrike" dirty="0">
                          <a:latin typeface="Arial" panose="020B0604020202020204" pitchFamily="34" charset="0"/>
                          <a:ea typeface="微软雅黑" panose="020B0503020204020204" pitchFamily="34" charset="-122"/>
                          <a:sym typeface="Arial" panose="020B0604020202020204" pitchFamily="34" charset="0"/>
                        </a:rPr>
                        <a:t>客户名称</a:t>
                      </a:r>
                    </a:p>
                  </a:txBody>
                  <a:tcPr marL="0" marR="0" marT="0" marB="0" anchor="ctr"/>
                </a:tc>
                <a:tc>
                  <a:txBody>
                    <a:bodyPr/>
                    <a:lstStyle/>
                    <a:p>
                      <a:pPr algn="ctr" fontAlgn="ctr"/>
                      <a:r>
                        <a:rPr lang="zh-CN" altLang="en-US" sz="800" b="1" i="0" u="none" strike="noStrike" dirty="0">
                          <a:latin typeface="Arial" panose="020B0604020202020204" pitchFamily="34" charset="0"/>
                          <a:ea typeface="微软雅黑" panose="020B0503020204020204" pitchFamily="34" charset="-122"/>
                          <a:sym typeface="Arial" panose="020B0604020202020204" pitchFamily="34" charset="0"/>
                        </a:rPr>
                        <a:t>项目名称</a:t>
                      </a:r>
                    </a:p>
                  </a:txBody>
                  <a:tcPr marL="0" marR="0" marT="0" marB="0" anchor="ctr"/>
                </a:tc>
                <a:tc>
                  <a:txBody>
                    <a:bodyPr/>
                    <a:lstStyle/>
                    <a:p>
                      <a:pPr algn="ctr" fontAlgn="ctr"/>
                      <a:r>
                        <a:rPr lang="zh-CN" altLang="en-US" sz="800" b="1" i="0" u="none" strike="noStrike" dirty="0">
                          <a:latin typeface="Arial" panose="020B0604020202020204" pitchFamily="34" charset="0"/>
                          <a:ea typeface="微软雅黑" panose="020B0503020204020204" pitchFamily="34" charset="-122"/>
                          <a:sym typeface="Arial" panose="020B0604020202020204" pitchFamily="34" charset="0"/>
                        </a:rPr>
                        <a:t>余额</a:t>
                      </a:r>
                    </a:p>
                  </a:txBody>
                  <a:tcPr marL="0" marR="0" marT="0" marB="0" anchor="ctr"/>
                </a:tc>
                <a:tc>
                  <a:txBody>
                    <a:bodyPr/>
                    <a:lstStyle/>
                    <a:p>
                      <a:pPr algn="ctr" fontAlgn="ctr"/>
                      <a:r>
                        <a:rPr lang="zh-CN" altLang="en-US" sz="800" b="1" i="0" u="none" strike="noStrike" dirty="0">
                          <a:latin typeface="Arial" panose="020B0604020202020204" pitchFamily="34" charset="0"/>
                          <a:ea typeface="微软雅黑" panose="020B0503020204020204" pitchFamily="34" charset="-122"/>
                          <a:sym typeface="Arial" panose="020B0604020202020204" pitchFamily="34" charset="0"/>
                        </a:rPr>
                        <a:t>占比</a:t>
                      </a:r>
                    </a:p>
                  </a:txBody>
                  <a:tcPr marL="0" marR="0" marT="0" marB="0" anchor="ctr"/>
                </a:tc>
              </a:tr>
              <a:tr h="278130">
                <a:tc>
                  <a:txBody>
                    <a:bodyPr/>
                    <a:lstStyle/>
                    <a:p>
                      <a:pPr algn="ctr" fontAlgn="ctr"/>
                      <a:r>
                        <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rPr>
                        <a:t>1</a:t>
                      </a:r>
                    </a:p>
                  </a:txBody>
                  <a:tcPr marL="0" marR="0" marT="0" marB="0" anchor="ctr"/>
                </a:tc>
                <a:tc>
                  <a:txBody>
                    <a:bodyPr/>
                    <a:lstStyle/>
                    <a:p>
                      <a:pPr algn="ctr" fontAlgn="ctr"/>
                      <a:endParaRPr lang="zh-CN" altLang="en-US"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zh-CN" altLang="en-US"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r>
                        <a:rPr lang="en-US" altLang="zh-CN" sz="800" b="1" i="0" u="none" strike="noStrike" dirty="0">
                          <a:solidFill>
                            <a:schemeClr val="tx1"/>
                          </a:solidFill>
                          <a:latin typeface="Arial" panose="020B0604020202020204" pitchFamily="34" charset="0"/>
                          <a:ea typeface="微软雅黑" panose="020B0503020204020204" pitchFamily="34" charset="-122"/>
                          <a:sym typeface="Arial" panose="020B0604020202020204" pitchFamily="34" charset="0"/>
                        </a:rPr>
                        <a:t>%</a:t>
                      </a:r>
                    </a:p>
                  </a:txBody>
                  <a:tcPr marL="0" marR="0" marT="0" marB="0" anchor="ctr"/>
                </a:tc>
              </a:tr>
              <a:tr h="278130">
                <a:tc>
                  <a:txBody>
                    <a:bodyPr/>
                    <a:lstStyle/>
                    <a:p>
                      <a:pPr algn="ctr" fontAlgn="ctr"/>
                      <a:r>
                        <a:rPr lang="en-US" altLang="zh-CN" sz="800" b="0" i="0" u="none" strike="noStrike">
                          <a:latin typeface="Arial" panose="020B0604020202020204" pitchFamily="34" charset="0"/>
                          <a:ea typeface="微软雅黑" panose="020B0503020204020204" pitchFamily="34" charset="-122"/>
                          <a:sym typeface="Arial" panose="020B0604020202020204" pitchFamily="34" charset="0"/>
                        </a:rPr>
                        <a:t>2</a:t>
                      </a:r>
                    </a:p>
                  </a:txBody>
                  <a:tcPr marL="0" marR="0" marT="0" marB="0" anchor="ctr"/>
                </a:tc>
                <a:tc>
                  <a:txBody>
                    <a:bodyPr/>
                    <a:lstStyle/>
                    <a:p>
                      <a:pPr algn="ctr" fontAlgn="ctr"/>
                      <a:endParaRPr lang="zh-CN" altLang="en-US"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zh-CN" altLang="en-US"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r>
                        <a:rPr lang="en-US" altLang="zh-CN" sz="800" b="1" i="0" u="none" strike="noStrike" dirty="0">
                          <a:solidFill>
                            <a:schemeClr val="tx1"/>
                          </a:solidFill>
                          <a:latin typeface="Arial" panose="020B0604020202020204" pitchFamily="34" charset="0"/>
                          <a:ea typeface="微软雅黑" panose="020B0503020204020204" pitchFamily="34" charset="-122"/>
                          <a:sym typeface="Arial" panose="020B0604020202020204" pitchFamily="34" charset="0"/>
                        </a:rPr>
                        <a:t>%</a:t>
                      </a:r>
                    </a:p>
                  </a:txBody>
                  <a:tcPr marL="0" marR="0" marT="0" marB="0" anchor="ctr"/>
                </a:tc>
              </a:tr>
              <a:tr h="278130">
                <a:tc>
                  <a:txBody>
                    <a:bodyPr/>
                    <a:lstStyle/>
                    <a:p>
                      <a:pPr algn="ctr" fontAlgn="ctr"/>
                      <a:r>
                        <a:rPr lang="en-US" altLang="zh-CN" sz="800" b="0" i="0" u="none" strike="noStrike">
                          <a:latin typeface="Arial" panose="020B0604020202020204" pitchFamily="34" charset="0"/>
                          <a:ea typeface="微软雅黑" panose="020B0503020204020204" pitchFamily="34" charset="-122"/>
                          <a:sym typeface="Arial" panose="020B0604020202020204" pitchFamily="34" charset="0"/>
                        </a:rPr>
                        <a:t>3</a:t>
                      </a:r>
                    </a:p>
                  </a:txBody>
                  <a:tcPr marL="0" marR="0" marT="0" marB="0" anchor="ctr"/>
                </a:tc>
                <a:tc>
                  <a:txBody>
                    <a:bodyPr/>
                    <a:lstStyle/>
                    <a:p>
                      <a:pPr algn="ctr" fontAlgn="ctr"/>
                      <a:endParaRPr lang="zh-CN" altLang="en-US"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zh-CN" altLang="en-US"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r>
                        <a:rPr lang="en-US" altLang="zh-CN" sz="800" b="1" i="0" u="none" strike="noStrike" dirty="0">
                          <a:solidFill>
                            <a:schemeClr val="tx1"/>
                          </a:solidFill>
                          <a:latin typeface="Arial" panose="020B0604020202020204" pitchFamily="34" charset="0"/>
                          <a:ea typeface="微软雅黑" panose="020B0503020204020204" pitchFamily="34" charset="-122"/>
                          <a:sym typeface="Arial" panose="020B0604020202020204" pitchFamily="34" charset="0"/>
                        </a:rPr>
                        <a:t>%</a:t>
                      </a:r>
                    </a:p>
                  </a:txBody>
                  <a:tcPr marL="0" marR="0" marT="0" marB="0" anchor="ctr"/>
                </a:tc>
              </a:tr>
              <a:tr h="278130">
                <a:tc>
                  <a:txBody>
                    <a:bodyPr/>
                    <a:lstStyle/>
                    <a:p>
                      <a:pPr algn="ctr" fontAlgn="ctr"/>
                      <a:r>
                        <a:rPr lang="en-US" altLang="zh-CN" sz="800" b="0" i="0" u="none" strike="noStrike">
                          <a:latin typeface="Arial" panose="020B0604020202020204" pitchFamily="34" charset="0"/>
                          <a:ea typeface="微软雅黑" panose="020B0503020204020204" pitchFamily="34" charset="-122"/>
                          <a:sym typeface="Arial" panose="020B0604020202020204" pitchFamily="34" charset="0"/>
                        </a:rPr>
                        <a:t>4</a:t>
                      </a:r>
                    </a:p>
                  </a:txBody>
                  <a:tcPr marL="0" marR="0" marT="0" marB="0" anchor="ctr"/>
                </a:tc>
                <a:tc>
                  <a:txBody>
                    <a:bodyPr/>
                    <a:lstStyle/>
                    <a:p>
                      <a:pPr algn="ctr" fontAlgn="ctr"/>
                      <a:endParaRPr lang="zh-CN" altLang="en-US"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zh-CN" altLang="en-US"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r>
                        <a:rPr lang="en-US" altLang="zh-CN" sz="800" b="1" i="0" u="none" strike="noStrike" dirty="0">
                          <a:solidFill>
                            <a:schemeClr val="tx1"/>
                          </a:solidFill>
                          <a:latin typeface="Arial" panose="020B0604020202020204" pitchFamily="34" charset="0"/>
                          <a:ea typeface="微软雅黑" panose="020B0503020204020204" pitchFamily="34" charset="-122"/>
                          <a:sym typeface="Arial" panose="020B0604020202020204" pitchFamily="34" charset="0"/>
                        </a:rPr>
                        <a:t>%</a:t>
                      </a:r>
                    </a:p>
                  </a:txBody>
                  <a:tcPr marL="0" marR="0" marT="0" marB="0" anchor="ctr"/>
                </a:tc>
              </a:tr>
              <a:tr h="278130">
                <a:tc>
                  <a:txBody>
                    <a:bodyPr/>
                    <a:lstStyle/>
                    <a:p>
                      <a:pPr algn="ctr" fontAlgn="ctr"/>
                      <a:r>
                        <a:rPr lang="en-US" altLang="zh-CN" sz="800" b="0" i="0" u="none" strike="noStrike">
                          <a:latin typeface="Arial" panose="020B0604020202020204" pitchFamily="34" charset="0"/>
                          <a:ea typeface="微软雅黑" panose="020B0503020204020204" pitchFamily="34" charset="-122"/>
                          <a:sym typeface="Arial" panose="020B0604020202020204" pitchFamily="34" charset="0"/>
                        </a:rPr>
                        <a:t>5</a:t>
                      </a:r>
                    </a:p>
                  </a:txBody>
                  <a:tcPr marL="0" marR="0" marT="0" marB="0" anchor="ctr"/>
                </a:tc>
                <a:tc>
                  <a:txBody>
                    <a:bodyPr/>
                    <a:lstStyle/>
                    <a:p>
                      <a:pPr algn="ctr" fontAlgn="ctr"/>
                      <a:endParaRPr lang="zh-CN" altLang="en-US"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zh-CN" altLang="en-US"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r>
                        <a:rPr lang="en-US" altLang="zh-CN" sz="800" b="1" i="0" u="none" strike="noStrike" dirty="0">
                          <a:solidFill>
                            <a:schemeClr val="tx1"/>
                          </a:solidFill>
                          <a:latin typeface="Arial" panose="020B0604020202020204" pitchFamily="34" charset="0"/>
                          <a:ea typeface="微软雅黑" panose="020B0503020204020204" pitchFamily="34" charset="-122"/>
                          <a:sym typeface="Arial" panose="020B0604020202020204" pitchFamily="34" charset="0"/>
                        </a:rPr>
                        <a:t>%</a:t>
                      </a:r>
                    </a:p>
                  </a:txBody>
                  <a:tcPr marL="0" marR="0" marT="0" marB="0" anchor="ctr"/>
                </a:tc>
              </a:tr>
              <a:tr h="278130">
                <a:tc>
                  <a:txBody>
                    <a:bodyPr/>
                    <a:lstStyle/>
                    <a:p>
                      <a:pPr algn="ctr" fontAlgn="ctr"/>
                      <a:r>
                        <a:rPr lang="en-US" altLang="zh-CN" sz="800" b="0" i="0" u="none" strike="noStrike">
                          <a:latin typeface="Arial" panose="020B0604020202020204" pitchFamily="34" charset="0"/>
                          <a:ea typeface="微软雅黑" panose="020B0503020204020204" pitchFamily="34" charset="-122"/>
                          <a:sym typeface="Arial" panose="020B0604020202020204" pitchFamily="34" charset="0"/>
                        </a:rPr>
                        <a:t>6</a:t>
                      </a:r>
                    </a:p>
                  </a:txBody>
                  <a:tcPr marL="0" marR="0" marT="0" marB="0" anchor="ctr"/>
                </a:tc>
                <a:tc>
                  <a:txBody>
                    <a:bodyPr/>
                    <a:lstStyle/>
                    <a:p>
                      <a:pPr algn="ctr" fontAlgn="ctr"/>
                      <a:endParaRPr lang="zh-CN" altLang="en-US"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zh-CN" altLang="en-US"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r>
                        <a:rPr lang="en-US" altLang="zh-CN" sz="800" b="1" i="0" u="none" strike="noStrike" dirty="0">
                          <a:solidFill>
                            <a:schemeClr val="tx1"/>
                          </a:solidFill>
                          <a:latin typeface="Arial" panose="020B0604020202020204" pitchFamily="34" charset="0"/>
                          <a:ea typeface="微软雅黑" panose="020B0503020204020204" pitchFamily="34" charset="-122"/>
                          <a:sym typeface="Arial" panose="020B0604020202020204" pitchFamily="34" charset="0"/>
                        </a:rPr>
                        <a:t>%</a:t>
                      </a:r>
                    </a:p>
                  </a:txBody>
                  <a:tcPr marL="0" marR="0" marT="0" marB="0" anchor="ctr"/>
                </a:tc>
              </a:tr>
              <a:tr h="278130">
                <a:tc>
                  <a:txBody>
                    <a:bodyPr/>
                    <a:lstStyle/>
                    <a:p>
                      <a:pPr algn="ctr" fontAlgn="ctr"/>
                      <a:r>
                        <a:rPr lang="en-US" altLang="zh-CN" sz="800" b="0" i="0" u="none" strike="noStrike">
                          <a:latin typeface="Arial" panose="020B0604020202020204" pitchFamily="34" charset="0"/>
                          <a:ea typeface="微软雅黑" panose="020B0503020204020204" pitchFamily="34" charset="-122"/>
                          <a:sym typeface="Arial" panose="020B0604020202020204" pitchFamily="34" charset="0"/>
                        </a:rPr>
                        <a:t>7</a:t>
                      </a:r>
                    </a:p>
                  </a:txBody>
                  <a:tcPr marL="0" marR="0" marT="0" marB="0" anchor="ctr"/>
                </a:tc>
                <a:tc>
                  <a:txBody>
                    <a:bodyPr/>
                    <a:lstStyle/>
                    <a:p>
                      <a:pPr algn="ctr" fontAlgn="ctr"/>
                      <a:endParaRPr lang="zh-CN" altLang="en-US"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zh-CN" altLang="en-US"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r>
                        <a:rPr lang="en-US" altLang="zh-CN" sz="800" b="1" i="0" u="none" strike="noStrike" dirty="0">
                          <a:solidFill>
                            <a:schemeClr val="tx1"/>
                          </a:solidFill>
                          <a:latin typeface="Arial" panose="020B0604020202020204" pitchFamily="34" charset="0"/>
                          <a:ea typeface="微软雅黑" panose="020B0503020204020204" pitchFamily="34" charset="-122"/>
                          <a:sym typeface="Arial" panose="020B0604020202020204" pitchFamily="34" charset="0"/>
                        </a:rPr>
                        <a:t>%</a:t>
                      </a:r>
                    </a:p>
                  </a:txBody>
                  <a:tcPr marL="0" marR="0" marT="0" marB="0" anchor="ctr"/>
                </a:tc>
              </a:tr>
              <a:tr h="278130">
                <a:tc>
                  <a:txBody>
                    <a:bodyPr/>
                    <a:lstStyle/>
                    <a:p>
                      <a:pPr algn="ctr" fontAlgn="ctr"/>
                      <a:r>
                        <a:rPr lang="en-US" altLang="zh-CN" sz="800" b="0" i="0" u="none" strike="noStrike">
                          <a:latin typeface="Arial" panose="020B0604020202020204" pitchFamily="34" charset="0"/>
                          <a:ea typeface="微软雅黑" panose="020B0503020204020204" pitchFamily="34" charset="-122"/>
                          <a:sym typeface="Arial" panose="020B0604020202020204" pitchFamily="34" charset="0"/>
                        </a:rPr>
                        <a:t>8</a:t>
                      </a:r>
                    </a:p>
                  </a:txBody>
                  <a:tcPr marL="0" marR="0" marT="0" marB="0" anchor="ctr"/>
                </a:tc>
                <a:tc>
                  <a:txBody>
                    <a:bodyPr/>
                    <a:lstStyle/>
                    <a:p>
                      <a:pPr algn="ctr" fontAlgn="ctr"/>
                      <a:endParaRPr lang="zh-CN" altLang="en-US"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zh-CN" altLang="en-US"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r>
                        <a:rPr lang="en-US" altLang="zh-CN" sz="800" b="1" i="0" u="none" strike="noStrike" dirty="0">
                          <a:solidFill>
                            <a:schemeClr val="tx1"/>
                          </a:solidFill>
                          <a:latin typeface="Arial" panose="020B0604020202020204" pitchFamily="34" charset="0"/>
                          <a:ea typeface="微软雅黑" panose="020B0503020204020204" pitchFamily="34" charset="-122"/>
                          <a:sym typeface="Arial" panose="020B0604020202020204" pitchFamily="34" charset="0"/>
                        </a:rPr>
                        <a:t>%</a:t>
                      </a:r>
                    </a:p>
                  </a:txBody>
                  <a:tcPr marL="0" marR="0" marT="0" marB="0" anchor="ctr"/>
                </a:tc>
              </a:tr>
              <a:tr h="278130">
                <a:tc>
                  <a:txBody>
                    <a:bodyPr/>
                    <a:lstStyle/>
                    <a:p>
                      <a:pPr algn="ctr" fontAlgn="ctr"/>
                      <a:r>
                        <a:rPr lang="en-US" altLang="zh-CN" sz="800" b="0" i="0" u="none" strike="noStrike">
                          <a:latin typeface="Arial" panose="020B0604020202020204" pitchFamily="34" charset="0"/>
                          <a:ea typeface="微软雅黑" panose="020B0503020204020204" pitchFamily="34" charset="-122"/>
                          <a:sym typeface="Arial" panose="020B0604020202020204" pitchFamily="34" charset="0"/>
                        </a:rPr>
                        <a:t>9</a:t>
                      </a:r>
                    </a:p>
                  </a:txBody>
                  <a:tcPr marL="0" marR="0" marT="0" marB="0" anchor="ctr"/>
                </a:tc>
                <a:tc>
                  <a:txBody>
                    <a:bodyPr/>
                    <a:lstStyle/>
                    <a:p>
                      <a:pPr algn="ctr" fontAlgn="ctr"/>
                      <a:endParaRPr lang="zh-CN" altLang="en-US"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zh-CN" altLang="en-US"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r>
                        <a:rPr lang="en-US" altLang="zh-CN" sz="800" b="1" i="0" u="none" strike="noStrike" dirty="0">
                          <a:solidFill>
                            <a:schemeClr val="tx1"/>
                          </a:solidFill>
                          <a:latin typeface="Arial" panose="020B0604020202020204" pitchFamily="34" charset="0"/>
                          <a:ea typeface="微软雅黑" panose="020B0503020204020204" pitchFamily="34" charset="-122"/>
                          <a:sym typeface="Arial" panose="020B0604020202020204" pitchFamily="34" charset="0"/>
                        </a:rPr>
                        <a:t>%</a:t>
                      </a:r>
                    </a:p>
                  </a:txBody>
                  <a:tcPr marL="0" marR="0" marT="0" marB="0" anchor="ctr"/>
                </a:tc>
              </a:tr>
              <a:tr h="278130">
                <a:tc>
                  <a:txBody>
                    <a:bodyPr/>
                    <a:lstStyle/>
                    <a:p>
                      <a:pPr algn="ctr" fontAlgn="ctr"/>
                      <a:r>
                        <a:rPr lang="en-US" altLang="zh-CN" sz="800" b="0" i="0" u="none" strike="noStrike">
                          <a:latin typeface="Arial" panose="020B0604020202020204" pitchFamily="34" charset="0"/>
                          <a:ea typeface="微软雅黑" panose="020B0503020204020204" pitchFamily="34" charset="-122"/>
                          <a:sym typeface="Arial" panose="020B0604020202020204" pitchFamily="34" charset="0"/>
                        </a:rPr>
                        <a:t>10</a:t>
                      </a:r>
                    </a:p>
                  </a:txBody>
                  <a:tcPr marL="0" marR="0" marT="0" marB="0" anchor="ctr"/>
                </a:tc>
                <a:tc>
                  <a:txBody>
                    <a:bodyPr/>
                    <a:lstStyle/>
                    <a:p>
                      <a:pPr algn="ctr" fontAlgn="ctr"/>
                      <a:endParaRPr lang="zh-CN" altLang="en-US"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zh-CN" altLang="en-US"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r>
                        <a:rPr lang="en-US" altLang="zh-CN" sz="800" b="1" i="0" u="none" strike="noStrike" dirty="0">
                          <a:solidFill>
                            <a:schemeClr val="tx1"/>
                          </a:solidFill>
                          <a:latin typeface="Arial" panose="020B0604020202020204" pitchFamily="34" charset="0"/>
                          <a:ea typeface="微软雅黑" panose="020B0503020204020204" pitchFamily="34" charset="-122"/>
                          <a:sym typeface="Arial" panose="020B0604020202020204" pitchFamily="34" charset="0"/>
                        </a:rPr>
                        <a:t>%</a:t>
                      </a:r>
                    </a:p>
                  </a:txBody>
                  <a:tcPr marL="0" marR="0" marT="0" marB="0" anchor="ctr"/>
                </a:tc>
              </a:tr>
              <a:tr h="278130">
                <a:tc gridSpan="3">
                  <a:txBody>
                    <a:bodyPr/>
                    <a:lstStyle/>
                    <a:p>
                      <a:pPr marL="0" algn="ctr" defTabSz="914400" rtl="0" eaLnBrk="1" fontAlgn="ctr" latinLnBrk="0" hangingPunct="1"/>
                      <a:r>
                        <a:rPr lang="zh-CN" altLang="en-US" sz="800" b="1" i="0" u="none" strike="noStrike" kern="1200" dirty="0">
                          <a:solidFill>
                            <a:schemeClr val="dk1"/>
                          </a:solidFill>
                          <a:latin typeface="Arial" panose="020B0604020202020204" pitchFamily="34" charset="0"/>
                          <a:ea typeface="微软雅黑" panose="020B0503020204020204" pitchFamily="34" charset="-122"/>
                          <a:cs typeface="+mn-cs"/>
                          <a:sym typeface="Arial" panose="020B0604020202020204" pitchFamily="34" charset="0"/>
                        </a:rPr>
                        <a:t>总计</a:t>
                      </a:r>
                    </a:p>
                  </a:txBody>
                  <a:tcPr marL="68580" marR="68580" marT="34290" marB="34290"/>
                </a:tc>
                <a:tc hMerge="1">
                  <a:txBody>
                    <a:bodyPr/>
                    <a:lstStyle/>
                    <a:p>
                      <a:endParaRPr lang="zh-CN"/>
                    </a:p>
                  </a:txBody>
                  <a:tcPr/>
                </a:tc>
                <a:tc hMerge="1">
                  <a:txBody>
                    <a:bodyPr/>
                    <a:lstStyle/>
                    <a:p>
                      <a:endParaRPr lang="zh-CN"/>
                    </a:p>
                  </a:txBody>
                  <a:tcPr/>
                </a:tc>
                <a:tc>
                  <a:txBody>
                    <a:bodyPr/>
                    <a:lstStyle/>
                    <a:p>
                      <a:pPr algn="ctr"/>
                      <a:endParaRPr lang="zh-CN" altLang="en-US" sz="800" b="0" i="0" u="none" strike="noStrike" kern="1200" dirty="0">
                        <a:solidFill>
                          <a:schemeClr val="dk1"/>
                        </a:solidFill>
                        <a:latin typeface="Arial" panose="020B0604020202020204" pitchFamily="34" charset="0"/>
                        <a:ea typeface="微软雅黑" panose="020B0503020204020204" pitchFamily="34" charset="-122"/>
                        <a:cs typeface="+mn-cs"/>
                        <a:sym typeface="Arial" panose="020B0604020202020204" pitchFamily="34" charset="0"/>
                      </a:endParaRPr>
                    </a:p>
                  </a:txBody>
                  <a:tcPr marL="68580" marR="68580" marT="34290" marB="34290"/>
                </a:tc>
                <a:tc>
                  <a:txBody>
                    <a:bodyPr/>
                    <a:lstStyle/>
                    <a:p>
                      <a:pPr algn="ctr"/>
                      <a:endParaRPr lang="zh-CN" altLang="en-US" sz="800" dirty="0">
                        <a:latin typeface="Arial" panose="020B0604020202020204" pitchFamily="34" charset="0"/>
                        <a:ea typeface="微软雅黑" panose="020B0503020204020204" pitchFamily="34" charset="-122"/>
                        <a:sym typeface="Arial" panose="020B0604020202020204" pitchFamily="34" charset="0"/>
                      </a:endParaRPr>
                    </a:p>
                  </a:txBody>
                  <a:tcPr marL="68580" marR="68580" marT="34290" marB="34290"/>
                </a:tc>
              </a:tr>
            </a:tbl>
          </a:graphicData>
        </a:graphic>
      </p:graphicFrame>
      <p:sp>
        <p:nvSpPr>
          <p:cNvPr id="11" name="TextBox 11"/>
          <p:cNvSpPr txBox="1"/>
          <p:nvPr/>
        </p:nvSpPr>
        <p:spPr>
          <a:xfrm>
            <a:off x="3680166" y="1077585"/>
            <a:ext cx="972108" cy="219291"/>
          </a:xfrm>
          <a:prstGeom prst="rect">
            <a:avLst/>
          </a:prstGeom>
          <a:noFill/>
        </p:spPr>
        <p:txBody>
          <a:bodyPr wrap="square" rtlCol="0">
            <a:spAutoFit/>
          </a:bodyPr>
          <a:lstStyle/>
          <a:p>
            <a:r>
              <a:rPr lang="zh-CN" altLang="en-US" sz="825" b="1" dirty="0">
                <a:latin typeface="Arial" panose="020B0604020202020204" pitchFamily="34" charset="0"/>
                <a:ea typeface="微软雅黑" panose="020B0503020204020204" pitchFamily="34" charset="-122"/>
                <a:sym typeface="Arial" panose="020B0604020202020204" pitchFamily="34" charset="0"/>
              </a:rPr>
              <a:t>单位：万元</a:t>
            </a:r>
          </a:p>
        </p:txBody>
      </p:sp>
      <p:sp>
        <p:nvSpPr>
          <p:cNvPr id="12" name="矩形 11"/>
          <p:cNvSpPr/>
          <p:nvPr/>
        </p:nvSpPr>
        <p:spPr>
          <a:xfrm>
            <a:off x="4860032" y="1289261"/>
            <a:ext cx="2808312" cy="507831"/>
          </a:xfrm>
          <a:prstGeom prst="rect">
            <a:avLst/>
          </a:prstGeom>
        </p:spPr>
        <p:txBody>
          <a:bodyPr wrap="square">
            <a:spAutoFit/>
          </a:bodyPr>
          <a:lstStyle/>
          <a:p>
            <a:r>
              <a:rPr lang="zh-CN" altLang="en-US" sz="1350" dirty="0">
                <a:latin typeface="Arial" panose="020B0604020202020204" pitchFamily="34" charset="0"/>
                <a:ea typeface="微软雅黑" panose="020B0503020204020204" pitchFamily="34" charset="-122"/>
                <a:sym typeface="Arial" panose="020B0604020202020204" pitchFamily="34" charset="0"/>
              </a:rPr>
              <a:t>分析：</a:t>
            </a:r>
            <a:endParaRPr lang="en-US" altLang="zh-CN" sz="1350" dirty="0">
              <a:latin typeface="Arial" panose="020B0604020202020204" pitchFamily="34" charset="0"/>
              <a:ea typeface="微软雅黑" panose="020B0503020204020204" pitchFamily="34" charset="-122"/>
              <a:sym typeface="Arial" panose="020B0604020202020204" pitchFamily="34" charset="0"/>
            </a:endParaRPr>
          </a:p>
          <a:p>
            <a:r>
              <a:rPr lang="zh-CN" altLang="en-US" sz="1350" dirty="0">
                <a:latin typeface="Arial" panose="020B0604020202020204" pitchFamily="34" charset="0"/>
                <a:ea typeface="微软雅黑" panose="020B0503020204020204" pitchFamily="34" charset="-122"/>
                <a:sym typeface="Arial" panose="020B0604020202020204" pitchFamily="34" charset="0"/>
              </a:rPr>
              <a:t>单击输入对图表的具体描述</a:t>
            </a:r>
            <a:r>
              <a:rPr lang="zh-CN" altLang="en-US" sz="1350">
                <a:latin typeface="Arial" panose="020B0604020202020204" pitchFamily="34" charset="0"/>
                <a:ea typeface="微软雅黑" panose="020B0503020204020204" pitchFamily="34" charset="-122"/>
                <a:sym typeface="Arial" panose="020B0604020202020204" pitchFamily="34" charset="0"/>
              </a:rPr>
              <a:t>细</a:t>
            </a:r>
            <a:r>
              <a:rPr lang="zh-CN" altLang="en-US" sz="1350" smtClean="0">
                <a:latin typeface="Arial" panose="020B0604020202020204" pitchFamily="34" charset="0"/>
                <a:ea typeface="微软雅黑" panose="020B0503020204020204" pitchFamily="34" charset="-122"/>
                <a:sym typeface="Arial" panose="020B0604020202020204" pitchFamily="34" charset="0"/>
              </a:rPr>
              <a:t>节</a:t>
            </a:r>
            <a:endParaRPr lang="en-US" altLang="zh-CN" sz="1350" dirty="0">
              <a:latin typeface="Arial" panose="020B0604020202020204" pitchFamily="34" charset="0"/>
              <a:ea typeface="微软雅黑" panose="020B0503020204020204" pitchFamily="34" charset="-122"/>
              <a:sym typeface="Arial" panose="020B0604020202020204" pitchFamily="34" charset="0"/>
            </a:endParaRPr>
          </a:p>
        </p:txBody>
      </p:sp>
      <p:pic>
        <p:nvPicPr>
          <p:cNvPr id="13" name="图片 12"/>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flipH="1">
            <a:off x="5148064" y="2139702"/>
            <a:ext cx="4165110" cy="2589692"/>
          </a:xfrm>
          <a:prstGeom prst="rect">
            <a:avLst/>
          </a:prstGeom>
        </p:spPr>
      </p:pic>
    </p:spTree>
  </p:cSld>
  <p:clrMapOvr>
    <a:masterClrMapping/>
  </p:clrMapOvr>
  <p:transition spd="slow" advClick="0" advTm="0">
    <p:cove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txBox="1"/>
          <p:nvPr/>
        </p:nvSpPr>
        <p:spPr>
          <a:xfrm>
            <a:off x="857884" y="195109"/>
            <a:ext cx="3570099" cy="379730"/>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000" b="1" dirty="0">
                <a:solidFill>
                  <a:schemeClr val="tx1"/>
                </a:solidFill>
                <a:latin typeface="Arial" panose="020B0604020202020204" pitchFamily="34" charset="0"/>
                <a:ea typeface="微软雅黑" panose="020B0503020204020204" pitchFamily="34" charset="-122"/>
                <a:sym typeface="Arial" panose="020B0604020202020204" pitchFamily="34" charset="0"/>
              </a:rPr>
              <a:t>1.2</a:t>
            </a:r>
            <a:r>
              <a:rPr lang="zh-CN" altLang="en-US" sz="2000" b="1" dirty="0">
                <a:solidFill>
                  <a:schemeClr val="tx1"/>
                </a:solidFill>
                <a:latin typeface="Arial" panose="020B0604020202020204" pitchFamily="34" charset="0"/>
                <a:ea typeface="微软雅黑" panose="020B0503020204020204" pitchFamily="34" charset="-122"/>
                <a:sym typeface="Arial" panose="020B0604020202020204" pitchFamily="34" charset="0"/>
              </a:rPr>
              <a:t>特殊应收账款列示</a:t>
            </a:r>
          </a:p>
        </p:txBody>
      </p:sp>
      <p:graphicFrame>
        <p:nvGraphicFramePr>
          <p:cNvPr id="25" name="图表 24"/>
          <p:cNvGraphicFramePr/>
          <p:nvPr/>
        </p:nvGraphicFramePr>
        <p:xfrm>
          <a:off x="4211960" y="4149080"/>
          <a:ext cx="2592288" cy="2232248"/>
        </p:xfrm>
        <a:graphic>
          <a:graphicData uri="http://schemas.openxmlformats.org/drawingml/2006/chart">
            <c:chart xmlns:c="http://schemas.openxmlformats.org/drawingml/2006/chart" xmlns:r="http://schemas.openxmlformats.org/officeDocument/2006/relationships" r:id="rId3"/>
          </a:graphicData>
        </a:graphic>
      </p:graphicFrame>
      <p:sp>
        <p:nvSpPr>
          <p:cNvPr id="16" name="标题 1"/>
          <p:cNvSpPr txBox="1"/>
          <p:nvPr/>
        </p:nvSpPr>
        <p:spPr>
          <a:xfrm>
            <a:off x="863986" y="771550"/>
            <a:ext cx="3078342" cy="432048"/>
          </a:xfrm>
          <a:prstGeom prst="rect">
            <a:avLst/>
          </a:prstGeom>
        </p:spPr>
        <p:txBody>
          <a:bodyPr vert="horz" lIns="68580" tIns="34290" rIns="68580" bIns="34290" rtlCol="0" anchor="ctr">
            <a:noAutofit/>
          </a:bodyPr>
          <a:lstStyle/>
          <a:p>
            <a:pPr lvl="0">
              <a:spcBef>
                <a:spcPct val="0"/>
              </a:spcBef>
            </a:pPr>
            <a:r>
              <a:rPr lang="en-US" altLang="zh-CN" sz="900" b="1" dirty="0">
                <a:latin typeface="Arial" panose="020B0604020202020204" pitchFamily="34" charset="0"/>
                <a:ea typeface="微软雅黑" panose="020B0503020204020204" pitchFamily="34" charset="-122"/>
                <a:cs typeface="+mj-cs"/>
                <a:sym typeface="Arial" panose="020B0604020202020204" pitchFamily="34" charset="0"/>
              </a:rPr>
              <a:t>B</a:t>
            </a:r>
            <a:r>
              <a:rPr lang="zh-CN" altLang="en-US" sz="900" b="1" dirty="0">
                <a:latin typeface="Arial" panose="020B0604020202020204" pitchFamily="34" charset="0"/>
                <a:ea typeface="微软雅黑" panose="020B0503020204020204" pitchFamily="34" charset="-122"/>
                <a:cs typeface="+mj-cs"/>
                <a:sym typeface="Arial" panose="020B0604020202020204" pitchFamily="34" charset="0"/>
              </a:rPr>
              <a:t>、</a:t>
            </a:r>
            <a:endParaRPr lang="zh-CN" altLang="en-US" sz="900" b="1" dirty="0">
              <a:latin typeface="Arial" panose="020B0604020202020204" pitchFamily="34" charset="0"/>
              <a:ea typeface="微软雅黑" panose="020B0503020204020204" pitchFamily="34" charset="-122"/>
              <a:sym typeface="Arial" panose="020B0604020202020204" pitchFamily="34" charset="0"/>
            </a:endParaRPr>
          </a:p>
        </p:txBody>
      </p:sp>
      <p:graphicFrame>
        <p:nvGraphicFramePr>
          <p:cNvPr id="17" name="表格 16"/>
          <p:cNvGraphicFramePr>
            <a:graphicFrameLocks noGrp="1"/>
          </p:cNvGraphicFramePr>
          <p:nvPr/>
        </p:nvGraphicFramePr>
        <p:xfrm>
          <a:off x="971998" y="1149592"/>
          <a:ext cx="2942948" cy="3402377"/>
        </p:xfrm>
        <a:graphic>
          <a:graphicData uri="http://schemas.openxmlformats.org/drawingml/2006/table">
            <a:tbl>
              <a:tblPr firstRow="1" bandRow="1">
                <a:tableStyleId>{00A15C55-8517-42AA-B614-E9B94910E393}</a:tableStyleId>
              </a:tblPr>
              <a:tblGrid>
                <a:gridCol w="432048"/>
                <a:gridCol w="1026115"/>
                <a:gridCol w="776684"/>
                <a:gridCol w="708101"/>
              </a:tblGrid>
              <a:tr h="458217">
                <a:tc>
                  <a:txBody>
                    <a:bodyPr/>
                    <a:lstStyle/>
                    <a:p>
                      <a:pPr marL="0" algn="ctr" defTabSz="914400" rtl="0" eaLnBrk="1" fontAlgn="ctr" latinLnBrk="0" hangingPunct="1"/>
                      <a:endParaRPr lang="en-US" altLang="zh-CN" sz="800" b="1" i="0" u="none" strike="noStrike" kern="1200" dirty="0">
                        <a:solidFill>
                          <a:schemeClr val="lt1"/>
                        </a:solidFill>
                        <a:latin typeface="Arial" panose="020B0604020202020204" pitchFamily="34" charset="0"/>
                        <a:ea typeface="微软雅黑" panose="020B0503020204020204" pitchFamily="34" charset="-122"/>
                        <a:cs typeface="+mn-cs"/>
                        <a:sym typeface="Arial" panose="020B0604020202020204" pitchFamily="34" charset="0"/>
                      </a:endParaRPr>
                    </a:p>
                    <a:p>
                      <a:pPr marL="0" algn="ctr" defTabSz="914400" rtl="0" eaLnBrk="1" fontAlgn="ctr" latinLnBrk="0" hangingPunct="1"/>
                      <a:r>
                        <a:rPr lang="zh-CN" altLang="en-US" sz="800" b="1" i="0" u="none" strike="noStrike" kern="1200" dirty="0">
                          <a:solidFill>
                            <a:schemeClr val="lt1"/>
                          </a:solidFill>
                          <a:latin typeface="Arial" panose="020B0604020202020204" pitchFamily="34" charset="0"/>
                          <a:ea typeface="微软雅黑" panose="020B0503020204020204" pitchFamily="34" charset="-122"/>
                          <a:cs typeface="+mn-cs"/>
                          <a:sym typeface="Arial" panose="020B0604020202020204" pitchFamily="34" charset="0"/>
                        </a:rPr>
                        <a:t>序号</a:t>
                      </a:r>
                    </a:p>
                  </a:txBody>
                  <a:tcPr marL="68580" marR="68580" marT="34290" marB="34290"/>
                </a:tc>
                <a:tc>
                  <a:txBody>
                    <a:bodyPr/>
                    <a:lstStyle/>
                    <a:p>
                      <a:pPr algn="ctr" fontAlgn="ctr"/>
                      <a:r>
                        <a:rPr lang="zh-CN" altLang="en-US" sz="800" b="1" i="0" u="none" strike="noStrike" dirty="0">
                          <a:latin typeface="Arial" panose="020B0604020202020204" pitchFamily="34" charset="0"/>
                          <a:ea typeface="微软雅黑" panose="020B0503020204020204" pitchFamily="34" charset="-122"/>
                          <a:sym typeface="Arial" panose="020B0604020202020204" pitchFamily="34" charset="0"/>
                        </a:rPr>
                        <a:t>客户名称</a:t>
                      </a:r>
                    </a:p>
                  </a:txBody>
                  <a:tcPr marL="0" marR="0" marT="0" marB="0" anchor="ctr"/>
                </a:tc>
                <a:tc>
                  <a:txBody>
                    <a:bodyPr/>
                    <a:lstStyle/>
                    <a:p>
                      <a:pPr algn="ctr" fontAlgn="ctr"/>
                      <a:r>
                        <a:rPr lang="zh-CN" altLang="en-US" sz="800" b="1" i="0" u="none" strike="noStrike" dirty="0">
                          <a:latin typeface="Arial" panose="020B0604020202020204" pitchFamily="34" charset="0"/>
                          <a:ea typeface="微软雅黑" panose="020B0503020204020204" pitchFamily="34" charset="-122"/>
                          <a:sym typeface="Arial" panose="020B0604020202020204" pitchFamily="34" charset="0"/>
                        </a:rPr>
                        <a:t>项目名称</a:t>
                      </a:r>
                    </a:p>
                  </a:txBody>
                  <a:tcPr marL="0" marR="0" marT="0" marB="0" anchor="ctr"/>
                </a:tc>
                <a:tc>
                  <a:txBody>
                    <a:bodyPr/>
                    <a:lstStyle/>
                    <a:p>
                      <a:pPr algn="ctr" fontAlgn="ctr"/>
                      <a:r>
                        <a:rPr lang="zh-CN" altLang="en-US" sz="800" b="1" i="0" u="none" strike="noStrike" dirty="0">
                          <a:latin typeface="Arial" panose="020B0604020202020204" pitchFamily="34" charset="0"/>
                          <a:ea typeface="微软雅黑" panose="020B0503020204020204" pitchFamily="34" charset="-122"/>
                          <a:sym typeface="Arial" panose="020B0604020202020204" pitchFamily="34" charset="0"/>
                        </a:rPr>
                        <a:t>累计余额</a:t>
                      </a:r>
                    </a:p>
                  </a:txBody>
                  <a:tcPr marL="0" marR="0" marT="0" marB="0" anchor="ctr"/>
                </a:tc>
              </a:tr>
              <a:tr h="294976">
                <a:tc>
                  <a:txBody>
                    <a:bodyPr/>
                    <a:lstStyle/>
                    <a:p>
                      <a:pPr marL="0" marR="0" indent="0" algn="ctr" defTabSz="914400" rtl="0" eaLnBrk="1" fontAlgn="ctr" latinLnBrk="0" hangingPunct="1">
                        <a:lnSpc>
                          <a:spcPct val="100000"/>
                        </a:lnSpc>
                        <a:spcBef>
                          <a:spcPts val="0"/>
                        </a:spcBef>
                        <a:spcAft>
                          <a:spcPts val="0"/>
                        </a:spcAft>
                        <a:buClrTx/>
                        <a:buSzTx/>
                        <a:buFontTx/>
                        <a:buNone/>
                        <a:defRPr/>
                      </a:pPr>
                      <a:r>
                        <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rPr>
                        <a:t>1</a:t>
                      </a:r>
                    </a:p>
                    <a:p>
                      <a:pPr marL="0" marR="0" indent="0" algn="ctr" defTabSz="914400" rtl="0" eaLnBrk="1" fontAlgn="ctr" latinLnBrk="0" hangingPunct="1">
                        <a:lnSpc>
                          <a:spcPct val="100000"/>
                        </a:lnSpc>
                        <a:spcBef>
                          <a:spcPts val="0"/>
                        </a:spcBef>
                        <a:spcAft>
                          <a:spcPts val="0"/>
                        </a:spcAft>
                        <a:buClrTx/>
                        <a:buSzTx/>
                        <a:buFontTx/>
                        <a:buNone/>
                        <a:defRPr/>
                      </a:pPr>
                      <a:endParaRPr lang="zh-CN" altLang="en-US"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zh-CN" altLang="en-US"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b"/>
                      <a:endPar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b"/>
                </a:tc>
              </a:tr>
              <a:tr h="294976">
                <a:tc>
                  <a:txBody>
                    <a:bodyPr/>
                    <a:lstStyle/>
                    <a:p>
                      <a:pPr algn="ctr" fontAlgn="ctr"/>
                      <a:r>
                        <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rPr>
                        <a:t>2</a:t>
                      </a:r>
                      <a:endParaRPr lang="zh-CN" altLang="en-US"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zh-CN" altLang="en-US"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b"/>
                      <a:endPar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b"/>
                </a:tc>
              </a:tr>
              <a:tr h="294976">
                <a:tc>
                  <a:txBody>
                    <a:bodyPr/>
                    <a:lstStyle/>
                    <a:p>
                      <a:pPr algn="ctr" fontAlgn="ctr"/>
                      <a:r>
                        <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rPr>
                        <a:t>3</a:t>
                      </a:r>
                      <a:endParaRPr lang="zh-CN" altLang="en-US"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zh-CN" altLang="en-US"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b"/>
                      <a:endPar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b"/>
                </a:tc>
              </a:tr>
              <a:tr h="294976">
                <a:tc>
                  <a:txBody>
                    <a:bodyPr/>
                    <a:lstStyle/>
                    <a:p>
                      <a:pPr marL="0" marR="0" indent="0" algn="ctr" defTabSz="914400" rtl="0" eaLnBrk="1" fontAlgn="ctr" latinLnBrk="0" hangingPunct="1">
                        <a:lnSpc>
                          <a:spcPct val="100000"/>
                        </a:lnSpc>
                        <a:spcBef>
                          <a:spcPts val="0"/>
                        </a:spcBef>
                        <a:spcAft>
                          <a:spcPts val="0"/>
                        </a:spcAft>
                        <a:buClrTx/>
                        <a:buSzTx/>
                        <a:buFontTx/>
                        <a:buNone/>
                        <a:defRPr/>
                      </a:pPr>
                      <a:r>
                        <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rPr>
                        <a:t>4</a:t>
                      </a:r>
                      <a:endParaRPr lang="zh-CN" altLang="en-US"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zh-CN" altLang="en-US"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b"/>
                      <a:endPar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b"/>
                </a:tc>
              </a:tr>
              <a:tr h="294976">
                <a:tc>
                  <a:txBody>
                    <a:bodyPr/>
                    <a:lstStyle/>
                    <a:p>
                      <a:pPr algn="ctr" fontAlgn="ctr"/>
                      <a:r>
                        <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rPr>
                        <a:t>5</a:t>
                      </a:r>
                      <a:endParaRPr lang="zh-CN" altLang="en-US"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zh-CN" altLang="en-US"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b"/>
                      <a:endPar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b"/>
                </a:tc>
              </a:tr>
              <a:tr h="294976">
                <a:tc>
                  <a:txBody>
                    <a:bodyPr/>
                    <a:lstStyle/>
                    <a:p>
                      <a:pPr algn="ctr" fontAlgn="ctr"/>
                      <a:r>
                        <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rPr>
                        <a:t>6</a:t>
                      </a:r>
                      <a:endParaRPr lang="zh-CN" altLang="en-US"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zh-CN" altLang="en-US"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b"/>
                      <a:endPar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b"/>
                </a:tc>
              </a:tr>
              <a:tr h="294976">
                <a:tc>
                  <a:txBody>
                    <a:bodyPr/>
                    <a:lstStyle/>
                    <a:p>
                      <a:pPr algn="ctr" fontAlgn="ctr"/>
                      <a:r>
                        <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rPr>
                        <a:t>7</a:t>
                      </a:r>
                      <a:endParaRPr lang="zh-CN" altLang="en-US"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zh-CN" altLang="en-US"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b"/>
                      <a:endPar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b"/>
                </a:tc>
              </a:tr>
              <a:tr h="294976">
                <a:tc>
                  <a:txBody>
                    <a:bodyPr/>
                    <a:lstStyle/>
                    <a:p>
                      <a:pPr algn="ctr" fontAlgn="ctr"/>
                      <a:r>
                        <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rPr>
                        <a:t>8</a:t>
                      </a:r>
                      <a:endParaRPr lang="zh-CN" altLang="en-US"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zh-CN" altLang="en-US"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b"/>
                      <a:endPar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b"/>
                </a:tc>
              </a:tr>
              <a:tr h="294976">
                <a:tc>
                  <a:txBody>
                    <a:bodyPr/>
                    <a:lstStyle/>
                    <a:p>
                      <a:pPr algn="ctr" fontAlgn="ctr"/>
                      <a:r>
                        <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rPr>
                        <a:t>9</a:t>
                      </a:r>
                      <a:endParaRPr lang="zh-CN" altLang="en-US"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zh-CN" altLang="en-US"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b"/>
                      <a:endPar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b"/>
                </a:tc>
              </a:tr>
              <a:tr h="289376">
                <a:tc gridSpan="2">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800" b="0" i="0" u="none" strike="noStrike" kern="1200" dirty="0">
                          <a:solidFill>
                            <a:schemeClr val="dk1"/>
                          </a:solidFill>
                          <a:latin typeface="Arial" panose="020B0604020202020204" pitchFamily="34" charset="0"/>
                          <a:ea typeface="微软雅黑" panose="020B0503020204020204" pitchFamily="34" charset="-122"/>
                          <a:cs typeface="+mn-cs"/>
                          <a:sym typeface="Arial" panose="020B0604020202020204" pitchFamily="34" charset="0"/>
                        </a:rPr>
                        <a:t>总计</a:t>
                      </a:r>
                    </a:p>
                  </a:txBody>
                  <a:tcPr marL="68580" marR="68580" marT="34290" marB="34290"/>
                </a:tc>
                <a:tc hMerge="1">
                  <a:txBody>
                    <a:bodyPr/>
                    <a:lstStyle/>
                    <a:p>
                      <a:endParaRPr lang="zh-CN"/>
                    </a:p>
                  </a:txBody>
                  <a:tcPr/>
                </a:tc>
                <a:tc>
                  <a:txBody>
                    <a:bodyPr/>
                    <a:lstStyle/>
                    <a:p>
                      <a:pPr marL="0" algn="ctr" defTabSz="914400" rtl="0" eaLnBrk="1" fontAlgn="ctr" latinLnBrk="0" hangingPunct="1"/>
                      <a:r>
                        <a:rPr lang="en-US" altLang="zh-CN" sz="800" b="0" i="0" u="none" strike="noStrike" kern="1200" dirty="0">
                          <a:solidFill>
                            <a:schemeClr val="dk1"/>
                          </a:solidFill>
                          <a:latin typeface="Arial" panose="020B0604020202020204" pitchFamily="34" charset="0"/>
                          <a:ea typeface="微软雅黑" panose="020B0503020204020204" pitchFamily="34" charset="-122"/>
                          <a:cs typeface="+mn-cs"/>
                          <a:sym typeface="Arial" panose="020B0604020202020204" pitchFamily="34" charset="0"/>
                        </a:rPr>
                        <a:t>7</a:t>
                      </a:r>
                      <a:endParaRPr lang="zh-CN" altLang="en-US" sz="800" b="0" i="0" u="none" strike="noStrike" kern="1200" dirty="0">
                        <a:solidFill>
                          <a:schemeClr val="dk1"/>
                        </a:solidFill>
                        <a:latin typeface="Arial" panose="020B0604020202020204" pitchFamily="34" charset="0"/>
                        <a:ea typeface="微软雅黑" panose="020B0503020204020204" pitchFamily="34" charset="-122"/>
                        <a:cs typeface="+mn-cs"/>
                        <a:sym typeface="Arial" panose="020B0604020202020204" pitchFamily="34" charset="0"/>
                      </a:endParaRPr>
                    </a:p>
                  </a:txBody>
                  <a:tcPr marL="68580" marR="68580" marT="34290" marB="34290"/>
                </a:tc>
                <a:tc>
                  <a:txBody>
                    <a:bodyPr/>
                    <a:lstStyle/>
                    <a:p>
                      <a:pPr marL="0" algn="ctr" defTabSz="914400" rtl="0" eaLnBrk="1" fontAlgn="ctr" latinLnBrk="0" hangingPunct="1"/>
                      <a:endParaRPr lang="zh-CN" altLang="en-US" sz="800" u="none" strike="noStrike" kern="1200" dirty="0">
                        <a:solidFill>
                          <a:schemeClr val="dk1"/>
                        </a:solidFill>
                        <a:latin typeface="Arial" panose="020B0604020202020204" pitchFamily="34" charset="0"/>
                        <a:ea typeface="微软雅黑" panose="020B0503020204020204" pitchFamily="34" charset="-122"/>
                        <a:cs typeface="+mn-cs"/>
                        <a:sym typeface="Arial" panose="020B0604020202020204" pitchFamily="34" charset="0"/>
                      </a:endParaRPr>
                    </a:p>
                  </a:txBody>
                  <a:tcPr marL="68580" marR="68580" marT="34290" marB="34290"/>
                </a:tc>
              </a:tr>
            </a:tbl>
          </a:graphicData>
        </a:graphic>
      </p:graphicFrame>
      <p:sp>
        <p:nvSpPr>
          <p:cNvPr id="18" name="矩形 17"/>
          <p:cNvSpPr/>
          <p:nvPr/>
        </p:nvSpPr>
        <p:spPr>
          <a:xfrm>
            <a:off x="4644008" y="1131590"/>
            <a:ext cx="2808312" cy="715581"/>
          </a:xfrm>
          <a:prstGeom prst="rect">
            <a:avLst/>
          </a:prstGeom>
        </p:spPr>
        <p:txBody>
          <a:bodyPr wrap="square">
            <a:spAutoFit/>
          </a:bodyPr>
          <a:lstStyle/>
          <a:p>
            <a:r>
              <a:rPr lang="zh-CN" altLang="en-US" sz="1350" dirty="0">
                <a:latin typeface="Arial" panose="020B0604020202020204" pitchFamily="34" charset="0"/>
                <a:ea typeface="微软雅黑" panose="020B0503020204020204" pitchFamily="34" charset="-122"/>
                <a:sym typeface="Arial" panose="020B0604020202020204" pitchFamily="34" charset="0"/>
              </a:rPr>
              <a:t>分析：</a:t>
            </a:r>
            <a:endParaRPr lang="en-US" altLang="zh-CN" sz="1350" dirty="0">
              <a:latin typeface="Arial" panose="020B0604020202020204" pitchFamily="34" charset="0"/>
              <a:ea typeface="微软雅黑" panose="020B0503020204020204" pitchFamily="34" charset="-122"/>
              <a:sym typeface="Arial" panose="020B0604020202020204" pitchFamily="34" charset="0"/>
            </a:endParaRPr>
          </a:p>
          <a:p>
            <a:r>
              <a:rPr lang="zh-CN" altLang="en-US" sz="1350" dirty="0">
                <a:latin typeface="Arial" panose="020B0604020202020204" pitchFamily="34" charset="0"/>
                <a:ea typeface="微软雅黑" panose="020B0503020204020204" pitchFamily="34" charset="-122"/>
                <a:sym typeface="Arial" panose="020B0604020202020204" pitchFamily="34" charset="0"/>
              </a:rPr>
              <a:t>单击输入对图表的具体描述细节</a:t>
            </a:r>
            <a:endParaRPr lang="en-US" altLang="zh-CN" sz="1350" dirty="0">
              <a:latin typeface="Arial" panose="020B0604020202020204" pitchFamily="34" charset="0"/>
              <a:ea typeface="微软雅黑" panose="020B0503020204020204" pitchFamily="34" charset="-122"/>
              <a:sym typeface="Arial" panose="020B0604020202020204" pitchFamily="34" charset="0"/>
            </a:endParaRPr>
          </a:p>
          <a:p>
            <a:endParaRPr lang="zh-CN" altLang="en-US" sz="1350" dirty="0">
              <a:latin typeface="Arial" panose="020B0604020202020204" pitchFamily="34" charset="0"/>
              <a:ea typeface="微软雅黑" panose="020B0503020204020204" pitchFamily="34" charset="-122"/>
              <a:sym typeface="Arial" panose="020B0604020202020204" pitchFamily="34" charset="0"/>
            </a:endParaRPr>
          </a:p>
        </p:txBody>
      </p:sp>
      <p:pic>
        <p:nvPicPr>
          <p:cNvPr id="8" name="图片 7"/>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flipH="1">
            <a:off x="5148064" y="2139702"/>
            <a:ext cx="4165110" cy="2589692"/>
          </a:xfrm>
          <a:prstGeom prst="rect">
            <a:avLst/>
          </a:prstGeom>
        </p:spPr>
      </p:pic>
    </p:spTree>
  </p:cSld>
  <p:clrMapOvr>
    <a:masterClrMapping/>
  </p:clrMapOvr>
  <p:transition spd="slow" advClick="0" advTm="0">
    <p:cove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1275606"/>
            <a:ext cx="9144000" cy="1814777"/>
            <a:chOff x="0" y="1651830"/>
            <a:chExt cx="9144000" cy="1814777"/>
          </a:xfrm>
        </p:grpSpPr>
        <p:sp>
          <p:nvSpPr>
            <p:cNvPr id="44" name="等腰三角形 43"/>
            <p:cNvSpPr/>
            <p:nvPr/>
          </p:nvSpPr>
          <p:spPr>
            <a:xfrm>
              <a:off x="2469921" y="1651830"/>
              <a:ext cx="825385" cy="828242"/>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100">
                <a:latin typeface="Arial" panose="020B0604020202020204" pitchFamily="34" charset="0"/>
                <a:ea typeface="微软雅黑" panose="020B0503020204020204" pitchFamily="34" charset="-122"/>
                <a:sym typeface="Arial" panose="020B0604020202020204" pitchFamily="34" charset="0"/>
              </a:endParaRPr>
            </a:p>
          </p:txBody>
        </p:sp>
        <p:sp>
          <p:nvSpPr>
            <p:cNvPr id="45" name="等腰三角形 44"/>
            <p:cNvSpPr/>
            <p:nvPr/>
          </p:nvSpPr>
          <p:spPr>
            <a:xfrm flipV="1">
              <a:off x="68682" y="2638365"/>
              <a:ext cx="825385" cy="828242"/>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100">
                <a:latin typeface="Arial" panose="020B0604020202020204" pitchFamily="34" charset="0"/>
                <a:ea typeface="微软雅黑" panose="020B0503020204020204" pitchFamily="34" charset="-122"/>
                <a:sym typeface="Arial" panose="020B0604020202020204" pitchFamily="34" charset="0"/>
              </a:endParaRPr>
            </a:p>
          </p:txBody>
        </p:sp>
        <p:sp>
          <p:nvSpPr>
            <p:cNvPr id="46" name="矩形 45"/>
            <p:cNvSpPr/>
            <p:nvPr/>
          </p:nvSpPr>
          <p:spPr>
            <a:xfrm>
              <a:off x="0" y="1846479"/>
              <a:ext cx="9144000" cy="142173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100">
                <a:latin typeface="Arial" panose="020B0604020202020204" pitchFamily="34" charset="0"/>
                <a:ea typeface="微软雅黑" panose="020B0503020204020204" pitchFamily="34" charset="-122"/>
                <a:sym typeface="Arial" panose="020B0604020202020204" pitchFamily="34" charset="0"/>
              </a:endParaRPr>
            </a:p>
          </p:txBody>
        </p:sp>
        <p:sp>
          <p:nvSpPr>
            <p:cNvPr id="47" name="平行四边形 46"/>
            <p:cNvSpPr/>
            <p:nvPr/>
          </p:nvSpPr>
          <p:spPr>
            <a:xfrm>
              <a:off x="479202" y="1652469"/>
              <a:ext cx="2406979" cy="1809759"/>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100">
                <a:latin typeface="Arial" panose="020B0604020202020204" pitchFamily="34" charset="0"/>
                <a:ea typeface="微软雅黑" panose="020B0503020204020204" pitchFamily="34" charset="-122"/>
                <a:sym typeface="Arial" panose="020B0604020202020204" pitchFamily="34" charset="0"/>
              </a:endParaRPr>
            </a:p>
          </p:txBody>
        </p:sp>
      </p:grpSp>
      <p:sp>
        <p:nvSpPr>
          <p:cNvPr id="48" name="文本框 6"/>
          <p:cNvSpPr txBox="1"/>
          <p:nvPr/>
        </p:nvSpPr>
        <p:spPr>
          <a:xfrm>
            <a:off x="1115616" y="1522317"/>
            <a:ext cx="1322150" cy="1299210"/>
          </a:xfrm>
          <a:prstGeom prst="rect">
            <a:avLst/>
          </a:prstGeom>
          <a:noFill/>
        </p:spPr>
        <p:txBody>
          <a:bodyPr wrap="square" lIns="68580" tIns="34290" rIns="68580" bIns="34290" rtlCol="0">
            <a:spAutoFit/>
          </a:bodyPr>
          <a:lstStyle/>
          <a:p>
            <a:r>
              <a:rPr lang="en-US" altLang="zh-CN" sz="8000" dirty="0">
                <a:solidFill>
                  <a:schemeClr val="bg1">
                    <a:lumMod val="95000"/>
                  </a:schemeClr>
                </a:solidFill>
                <a:latin typeface="Arial" panose="020B0604020202020204" pitchFamily="34" charset="0"/>
                <a:ea typeface="微软雅黑" panose="020B0503020204020204" pitchFamily="34" charset="-122"/>
                <a:sym typeface="Arial" panose="020B0604020202020204" pitchFamily="34" charset="0"/>
              </a:rPr>
              <a:t>06</a:t>
            </a:r>
            <a:endParaRPr lang="zh-CN" altLang="en-US" sz="8000" dirty="0">
              <a:solidFill>
                <a:schemeClr val="bg1">
                  <a:lumMod val="9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49" name="TextBox 48"/>
          <p:cNvSpPr txBox="1"/>
          <p:nvPr/>
        </p:nvSpPr>
        <p:spPr>
          <a:xfrm>
            <a:off x="3313904" y="1914680"/>
            <a:ext cx="5050408" cy="561692"/>
          </a:xfrm>
          <a:prstGeom prst="rect">
            <a:avLst/>
          </a:prstGeom>
          <a:noFill/>
        </p:spPr>
        <p:txBody>
          <a:bodyPr wrap="square" lIns="68583" tIns="34290" rIns="68583" bIns="34290" rtlCol="0">
            <a:spAutoFit/>
          </a:bodyPr>
          <a:lstStyle/>
          <a:p>
            <a:r>
              <a:rPr lang="zh-CN" altLang="en-US" sz="3200" b="1"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应付账款分析</a:t>
            </a:r>
          </a:p>
        </p:txBody>
      </p:sp>
      <p:grpSp>
        <p:nvGrpSpPr>
          <p:cNvPr id="7" name="PA-组合 6"/>
          <p:cNvGrpSpPr/>
          <p:nvPr>
            <p:custDataLst>
              <p:tags r:id="rId1"/>
            </p:custDataLst>
          </p:nvPr>
        </p:nvGrpSpPr>
        <p:grpSpPr>
          <a:xfrm>
            <a:off x="5940152" y="898596"/>
            <a:ext cx="432048" cy="432834"/>
            <a:chOff x="6084168" y="1274820"/>
            <a:chExt cx="432048" cy="432834"/>
          </a:xfrm>
        </p:grpSpPr>
        <p:sp>
          <p:nvSpPr>
            <p:cNvPr id="14" name="PA-椭圆 22"/>
            <p:cNvSpPr>
              <a:spLocks noChangeArrowheads="1"/>
            </p:cNvSpPr>
            <p:nvPr>
              <p:custDataLst>
                <p:tags r:id="rId14"/>
              </p:custDataLst>
            </p:nvPr>
          </p:nvSpPr>
          <p:spPr bwMode="auto">
            <a:xfrm>
              <a:off x="6084168" y="1274820"/>
              <a:ext cx="432048" cy="432834"/>
            </a:xfrm>
            <a:prstGeom prst="ellipse">
              <a:avLst/>
            </a:prstGeom>
            <a:solidFill>
              <a:schemeClr val="accent1"/>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00">
                <a:solidFill>
                  <a:srgbClr val="FFFFFF"/>
                </a:solidFill>
                <a:ea typeface="微软雅黑" panose="020B0503020204020204" pitchFamily="34" charset="-122"/>
                <a:sym typeface="Arial" panose="020B0604020202020204" pitchFamily="34" charset="0"/>
              </a:endParaRPr>
            </a:p>
          </p:txBody>
        </p:sp>
        <p:sp>
          <p:nvSpPr>
            <p:cNvPr id="19" name="PA-任意多边形 59"/>
            <p:cNvSpPr>
              <a:spLocks noChangeArrowheads="1"/>
            </p:cNvSpPr>
            <p:nvPr>
              <p:custDataLst>
                <p:tags r:id="rId15"/>
              </p:custDataLst>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sz="100">
                <a:latin typeface="Arial" panose="020B0604020202020204" pitchFamily="34" charset="0"/>
                <a:ea typeface="微软雅黑" panose="020B0503020204020204" pitchFamily="34" charset="-122"/>
                <a:sym typeface="Arial" panose="020B0604020202020204" pitchFamily="34" charset="0"/>
              </a:endParaRPr>
            </a:p>
          </p:txBody>
        </p:sp>
      </p:grpSp>
      <p:grpSp>
        <p:nvGrpSpPr>
          <p:cNvPr id="6" name="PA-组合 5"/>
          <p:cNvGrpSpPr/>
          <p:nvPr>
            <p:custDataLst>
              <p:tags r:id="rId2"/>
            </p:custDataLst>
          </p:nvPr>
        </p:nvGrpSpPr>
        <p:grpSpPr>
          <a:xfrm>
            <a:off x="4644008" y="898989"/>
            <a:ext cx="432048" cy="432048"/>
            <a:chOff x="4788024" y="1275213"/>
            <a:chExt cx="432048" cy="432048"/>
          </a:xfrm>
        </p:grpSpPr>
        <p:sp>
          <p:nvSpPr>
            <p:cNvPr id="17" name="PA-椭圆 65"/>
            <p:cNvSpPr>
              <a:spLocks noChangeArrowheads="1"/>
            </p:cNvSpPr>
            <p:nvPr>
              <p:custDataLst>
                <p:tags r:id="rId12"/>
              </p:custDataLst>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00">
                <a:solidFill>
                  <a:srgbClr val="FFFFFF"/>
                </a:solidFill>
                <a:ea typeface="微软雅黑" panose="020B0503020204020204" pitchFamily="34" charset="-122"/>
                <a:sym typeface="Arial" panose="020B0604020202020204" pitchFamily="34" charset="0"/>
              </a:endParaRPr>
            </a:p>
          </p:txBody>
        </p:sp>
        <p:sp>
          <p:nvSpPr>
            <p:cNvPr id="20" name="PA-任意多边形 110"/>
            <p:cNvSpPr>
              <a:spLocks noChangeArrowheads="1"/>
            </p:cNvSpPr>
            <p:nvPr>
              <p:custDataLst>
                <p:tags r:id="rId13"/>
              </p:custDataLst>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sz="100">
                <a:latin typeface="Arial" panose="020B0604020202020204" pitchFamily="34" charset="0"/>
                <a:ea typeface="微软雅黑" panose="020B0503020204020204" pitchFamily="34" charset="-122"/>
                <a:sym typeface="Arial" panose="020B0604020202020204" pitchFamily="34" charset="0"/>
              </a:endParaRPr>
            </a:p>
          </p:txBody>
        </p:sp>
      </p:grpSp>
      <p:grpSp>
        <p:nvGrpSpPr>
          <p:cNvPr id="9" name="PA-组合 8"/>
          <p:cNvGrpSpPr/>
          <p:nvPr>
            <p:custDataLst>
              <p:tags r:id="rId3"/>
            </p:custDataLst>
          </p:nvPr>
        </p:nvGrpSpPr>
        <p:grpSpPr>
          <a:xfrm>
            <a:off x="5292080" y="898596"/>
            <a:ext cx="432833" cy="432834"/>
            <a:chOff x="5436096" y="1274820"/>
            <a:chExt cx="432833" cy="432834"/>
          </a:xfrm>
        </p:grpSpPr>
        <p:sp>
          <p:nvSpPr>
            <p:cNvPr id="25" name="PA-椭圆 16"/>
            <p:cNvSpPr>
              <a:spLocks noChangeArrowheads="1"/>
            </p:cNvSpPr>
            <p:nvPr>
              <p:custDataLst>
                <p:tags r:id="rId10"/>
              </p:custDataLst>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00">
                <a:solidFill>
                  <a:srgbClr val="FFFFFF"/>
                </a:solidFill>
                <a:ea typeface="微软雅黑" panose="020B0503020204020204" pitchFamily="34" charset="-122"/>
                <a:sym typeface="Arial" panose="020B0604020202020204" pitchFamily="34" charset="0"/>
              </a:endParaRPr>
            </a:p>
          </p:txBody>
        </p:sp>
        <p:sp>
          <p:nvSpPr>
            <p:cNvPr id="21" name="PA-任意多边形 16"/>
            <p:cNvSpPr>
              <a:spLocks noChangeArrowheads="1"/>
            </p:cNvSpPr>
            <p:nvPr>
              <p:custDataLst>
                <p:tags r:id="rId11"/>
              </p:custDataLst>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sz="100">
                <a:latin typeface="Arial" panose="020B0604020202020204" pitchFamily="34" charset="0"/>
                <a:ea typeface="微软雅黑" panose="020B0503020204020204" pitchFamily="34" charset="-122"/>
                <a:sym typeface="Arial" panose="020B0604020202020204" pitchFamily="34" charset="0"/>
              </a:endParaRPr>
            </a:p>
          </p:txBody>
        </p:sp>
      </p:grpSp>
      <p:grpSp>
        <p:nvGrpSpPr>
          <p:cNvPr id="4" name="PA-组合 3"/>
          <p:cNvGrpSpPr/>
          <p:nvPr>
            <p:custDataLst>
              <p:tags r:id="rId4"/>
            </p:custDataLst>
          </p:nvPr>
        </p:nvGrpSpPr>
        <p:grpSpPr>
          <a:xfrm>
            <a:off x="3347864" y="898596"/>
            <a:ext cx="432833" cy="432834"/>
            <a:chOff x="3491880" y="1274820"/>
            <a:chExt cx="432833" cy="432834"/>
          </a:xfrm>
        </p:grpSpPr>
        <p:sp>
          <p:nvSpPr>
            <p:cNvPr id="11" name="PA-椭圆 16"/>
            <p:cNvSpPr>
              <a:spLocks noChangeArrowheads="1"/>
            </p:cNvSpPr>
            <p:nvPr>
              <p:custDataLst>
                <p:tags r:id="rId8"/>
              </p:custDataLst>
            </p:nvPr>
          </p:nvSpPr>
          <p:spPr bwMode="auto">
            <a:xfrm>
              <a:off x="3491880" y="1274820"/>
              <a:ext cx="432833" cy="432834"/>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00">
                <a:solidFill>
                  <a:srgbClr val="FFFFFF"/>
                </a:solidFill>
                <a:ea typeface="微软雅黑" panose="020B0503020204020204" pitchFamily="34" charset="-122"/>
                <a:sym typeface="Arial" panose="020B0604020202020204" pitchFamily="34" charset="0"/>
              </a:endParaRPr>
            </a:p>
          </p:txBody>
        </p:sp>
        <p:sp>
          <p:nvSpPr>
            <p:cNvPr id="22" name="PA-任意多边形 75"/>
            <p:cNvSpPr>
              <a:spLocks noChangeArrowheads="1"/>
            </p:cNvSpPr>
            <p:nvPr>
              <p:custDataLst>
                <p:tags r:id="rId9"/>
              </p:custDataLst>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sz="100">
                <a:latin typeface="Arial" panose="020B0604020202020204" pitchFamily="34" charset="0"/>
                <a:ea typeface="微软雅黑" panose="020B0503020204020204" pitchFamily="34" charset="-122"/>
                <a:sym typeface="Arial" panose="020B0604020202020204" pitchFamily="34" charset="0"/>
              </a:endParaRPr>
            </a:p>
          </p:txBody>
        </p:sp>
      </p:grpSp>
      <p:grpSp>
        <p:nvGrpSpPr>
          <p:cNvPr id="5" name="PA-组合 4"/>
          <p:cNvGrpSpPr/>
          <p:nvPr>
            <p:custDataLst>
              <p:tags r:id="rId5"/>
            </p:custDataLst>
          </p:nvPr>
        </p:nvGrpSpPr>
        <p:grpSpPr>
          <a:xfrm>
            <a:off x="3995936" y="898596"/>
            <a:ext cx="432833" cy="432834"/>
            <a:chOff x="4139952" y="1274820"/>
            <a:chExt cx="432833" cy="432834"/>
          </a:xfrm>
        </p:grpSpPr>
        <p:sp>
          <p:nvSpPr>
            <p:cNvPr id="24" name="PA-椭圆 16"/>
            <p:cNvSpPr>
              <a:spLocks noChangeArrowheads="1"/>
            </p:cNvSpPr>
            <p:nvPr>
              <p:custDataLst>
                <p:tags r:id="rId6"/>
              </p:custDataLst>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00">
                <a:solidFill>
                  <a:srgbClr val="FFFFFF"/>
                </a:solidFill>
                <a:ea typeface="微软雅黑" panose="020B0503020204020204" pitchFamily="34" charset="-122"/>
                <a:sym typeface="Arial" panose="020B0604020202020204" pitchFamily="34" charset="0"/>
              </a:endParaRPr>
            </a:p>
          </p:txBody>
        </p:sp>
        <p:sp>
          <p:nvSpPr>
            <p:cNvPr id="23" name="PA-任意多边形 84"/>
            <p:cNvSpPr>
              <a:spLocks noChangeArrowheads="1"/>
            </p:cNvSpPr>
            <p:nvPr>
              <p:custDataLst>
                <p:tags r:id="rId7"/>
              </p:custDataLst>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sz="100">
                <a:latin typeface="Arial" panose="020B0604020202020204" pitchFamily="34" charset="0"/>
                <a:ea typeface="微软雅黑" panose="020B0503020204020204" pitchFamily="34" charset="-122"/>
                <a:sym typeface="Arial" panose="020B0604020202020204" pitchFamily="34" charset="0"/>
              </a:endParaRPr>
            </a:p>
          </p:txBody>
        </p:sp>
      </p:grpSp>
      <p:pic>
        <p:nvPicPr>
          <p:cNvPr id="26" name="图片 25"/>
          <p:cNvPicPr>
            <a:picLocks noChangeAspect="1"/>
          </p:cNvPicPr>
          <p:nvPr/>
        </p:nvPicPr>
        <p:blipFill>
          <a:blip r:embed="rId18" cstate="print">
            <a:extLst>
              <a:ext uri="{28A0092B-C50C-407E-A947-70E740481C1C}">
                <a14:useLocalDpi xmlns:a14="http://schemas.microsoft.com/office/drawing/2010/main"/>
              </a:ext>
            </a:extLst>
          </a:blip>
          <a:stretch>
            <a:fillRect/>
          </a:stretch>
        </p:blipFill>
        <p:spPr>
          <a:xfrm>
            <a:off x="3500410" y="2958806"/>
            <a:ext cx="2493351" cy="2041201"/>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advTm="0">
        <p15:prstTrans prst="airplane" invX="1"/>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2" presetClass="entr" presetSubtype="0" fill="hold" grpId="0" nodeType="afterEffect">
                                  <p:stCondLst>
                                    <p:cond delay="0"/>
                                  </p:stCondLst>
                                  <p:childTnLst>
                                    <p:set>
                                      <p:cBhvr>
                                        <p:cTn id="11" dur="1" fill="hold">
                                          <p:stCondLst>
                                            <p:cond delay="0"/>
                                          </p:stCondLst>
                                        </p:cTn>
                                        <p:tgtEl>
                                          <p:spTgt spid="48"/>
                                        </p:tgtEl>
                                        <p:attrNameLst>
                                          <p:attrName>style.visibility</p:attrName>
                                        </p:attrNameLst>
                                      </p:cBhvr>
                                      <p:to>
                                        <p:strVal val="visible"/>
                                      </p:to>
                                    </p:set>
                                    <p:animEffect transition="in" filter="fade">
                                      <p:cBhvr>
                                        <p:cTn id="12" dur="1000"/>
                                        <p:tgtEl>
                                          <p:spTgt spid="48"/>
                                        </p:tgtEl>
                                      </p:cBhvr>
                                    </p:animEffect>
                                    <p:anim calcmode="lin" valueType="num">
                                      <p:cBhvr>
                                        <p:cTn id="13" dur="1000" fill="hold"/>
                                        <p:tgtEl>
                                          <p:spTgt spid="48"/>
                                        </p:tgtEl>
                                        <p:attrNameLst>
                                          <p:attrName>ppt_x</p:attrName>
                                        </p:attrNameLst>
                                      </p:cBhvr>
                                      <p:tavLst>
                                        <p:tav tm="0">
                                          <p:val>
                                            <p:strVal val="#ppt_x"/>
                                          </p:val>
                                        </p:tav>
                                        <p:tav tm="100000">
                                          <p:val>
                                            <p:strVal val="#ppt_x"/>
                                          </p:val>
                                        </p:tav>
                                      </p:tavLst>
                                    </p:anim>
                                    <p:anim calcmode="lin" valueType="num">
                                      <p:cBhvr>
                                        <p:cTn id="14" dur="1000" fill="hold"/>
                                        <p:tgtEl>
                                          <p:spTgt spid="48"/>
                                        </p:tgtEl>
                                        <p:attrNameLst>
                                          <p:attrName>ppt_y</p:attrName>
                                        </p:attrNameLst>
                                      </p:cBhvr>
                                      <p:tavLst>
                                        <p:tav tm="0">
                                          <p:val>
                                            <p:strVal val="#ppt_y+.1"/>
                                          </p:val>
                                        </p:tav>
                                        <p:tav tm="100000">
                                          <p:val>
                                            <p:strVal val="#ppt_y"/>
                                          </p:val>
                                        </p:tav>
                                      </p:tavLst>
                                    </p:anim>
                                  </p:childTnLst>
                                </p:cTn>
                              </p:par>
                            </p:childTnLst>
                          </p:cTn>
                        </p:par>
                        <p:par>
                          <p:cTn id="15" fill="hold">
                            <p:stCondLst>
                              <p:cond delay="1500"/>
                            </p:stCondLst>
                            <p:childTnLst>
                              <p:par>
                                <p:cTn id="16" presetID="41" presetClass="entr" presetSubtype="0" fill="hold" grpId="0" nodeType="afterEffect">
                                  <p:stCondLst>
                                    <p:cond delay="0"/>
                                  </p:stCondLst>
                                  <p:iterate type="lt">
                                    <p:tmPct val="10000"/>
                                  </p:iterate>
                                  <p:childTnLst>
                                    <p:set>
                                      <p:cBhvr>
                                        <p:cTn id="17" dur="1" fill="hold">
                                          <p:stCondLst>
                                            <p:cond delay="0"/>
                                          </p:stCondLst>
                                        </p:cTn>
                                        <p:tgtEl>
                                          <p:spTgt spid="49"/>
                                        </p:tgtEl>
                                        <p:attrNameLst>
                                          <p:attrName>style.visibility</p:attrName>
                                        </p:attrNameLst>
                                      </p:cBhvr>
                                      <p:to>
                                        <p:strVal val="visible"/>
                                      </p:to>
                                    </p:set>
                                    <p:anim calcmode="lin" valueType="num">
                                      <p:cBhvr>
                                        <p:cTn id="18" dur="500" fill="hold"/>
                                        <p:tgtEl>
                                          <p:spTgt spid="49"/>
                                        </p:tgtEl>
                                        <p:attrNameLst>
                                          <p:attrName>ppt_x</p:attrName>
                                        </p:attrNameLst>
                                      </p:cBhvr>
                                      <p:tavLst>
                                        <p:tav tm="0">
                                          <p:val>
                                            <p:strVal val="#ppt_x"/>
                                          </p:val>
                                        </p:tav>
                                        <p:tav tm="50000">
                                          <p:val>
                                            <p:strVal val="#ppt_x+.1"/>
                                          </p:val>
                                        </p:tav>
                                        <p:tav tm="100000">
                                          <p:val>
                                            <p:strVal val="#ppt_x"/>
                                          </p:val>
                                        </p:tav>
                                      </p:tavLst>
                                    </p:anim>
                                    <p:anim calcmode="lin" valueType="num">
                                      <p:cBhvr>
                                        <p:cTn id="19" dur="500" fill="hold"/>
                                        <p:tgtEl>
                                          <p:spTgt spid="49"/>
                                        </p:tgtEl>
                                        <p:attrNameLst>
                                          <p:attrName>ppt_y</p:attrName>
                                        </p:attrNameLst>
                                      </p:cBhvr>
                                      <p:tavLst>
                                        <p:tav tm="0">
                                          <p:val>
                                            <p:strVal val="#ppt_y"/>
                                          </p:val>
                                        </p:tav>
                                        <p:tav tm="100000">
                                          <p:val>
                                            <p:strVal val="#ppt_y"/>
                                          </p:val>
                                        </p:tav>
                                      </p:tavLst>
                                    </p:anim>
                                    <p:anim calcmode="lin" valueType="num">
                                      <p:cBhvr>
                                        <p:cTn id="20" dur="500" fill="hold"/>
                                        <p:tgtEl>
                                          <p:spTgt spid="49"/>
                                        </p:tgtEl>
                                        <p:attrNameLst>
                                          <p:attrName>ppt_h</p:attrName>
                                        </p:attrNameLst>
                                      </p:cBhvr>
                                      <p:tavLst>
                                        <p:tav tm="0">
                                          <p:val>
                                            <p:strVal val="#ppt_h/10"/>
                                          </p:val>
                                        </p:tav>
                                        <p:tav tm="50000">
                                          <p:val>
                                            <p:strVal val="#ppt_h+.01"/>
                                          </p:val>
                                        </p:tav>
                                        <p:tav tm="100000">
                                          <p:val>
                                            <p:strVal val="#ppt_h"/>
                                          </p:val>
                                        </p:tav>
                                      </p:tavLst>
                                    </p:anim>
                                    <p:anim calcmode="lin" valueType="num">
                                      <p:cBhvr>
                                        <p:cTn id="21" dur="500" fill="hold"/>
                                        <p:tgtEl>
                                          <p:spTgt spid="49"/>
                                        </p:tgtEl>
                                        <p:attrNameLst>
                                          <p:attrName>ppt_w</p:attrName>
                                        </p:attrNameLst>
                                      </p:cBhvr>
                                      <p:tavLst>
                                        <p:tav tm="0">
                                          <p:val>
                                            <p:strVal val="#ppt_w/10"/>
                                          </p:val>
                                        </p:tav>
                                        <p:tav tm="50000">
                                          <p:val>
                                            <p:strVal val="#ppt_w+.01"/>
                                          </p:val>
                                        </p:tav>
                                        <p:tav tm="100000">
                                          <p:val>
                                            <p:strVal val="#ppt_w"/>
                                          </p:val>
                                        </p:tav>
                                      </p:tavLst>
                                    </p:anim>
                                    <p:animEffect transition="in" filter="fade">
                                      <p:cBhvr>
                                        <p:cTn id="22" dur="500" tmFilter="0,0; .5, 1; 1, 1"/>
                                        <p:tgtEl>
                                          <p:spTgt spid="49"/>
                                        </p:tgtEl>
                                      </p:cBhvr>
                                    </p:animEffect>
                                  </p:childTnLst>
                                </p:cTn>
                              </p:par>
                            </p:childTnLst>
                          </p:cTn>
                        </p:par>
                        <p:par>
                          <p:cTn id="23" fill="hold">
                            <p:stCondLst>
                              <p:cond delay="1750"/>
                            </p:stCondLst>
                            <p:childTnLst>
                              <p:par>
                                <p:cTn id="24" presetID="0" presetClass="entr" presetSubtype="0" decel="50000" fill="hold" nodeType="afterEffect">
                                  <p:stCondLst>
                                    <p:cond delay="0"/>
                                  </p:stCondLst>
                                  <p:childTnLst>
                                    <p:set>
                                      <p:cBhvr>
                                        <p:cTn id="25" dur="750" fill="hold">
                                          <p:stCondLst>
                                            <p:cond delay="0"/>
                                          </p:stCondLst>
                                        </p:cTn>
                                        <p:tgtEl>
                                          <p:spTgt spid="7"/>
                                        </p:tgtEl>
                                        <p:attrNameLst>
                                          <p:attrName>style.visibility</p:attrName>
                                        </p:attrNameLst>
                                      </p:cBhvr>
                                      <p:to>
                                        <p:strVal val="visible"/>
                                      </p:to>
                                    </p:set>
                                    <p:animScale>
                                      <p:cBhvr>
                                        <p:cTn id="26" dur="225" decel="50000" fill="hold">
                                          <p:stCondLst>
                                            <p:cond delay="0"/>
                                          </p:stCondLst>
                                        </p:cTn>
                                        <p:tgtEl>
                                          <p:spTgt spid="7"/>
                                        </p:tgtEl>
                                      </p:cBhvr>
                                      <p:from x="150000" y="150000"/>
                                      <p:to x="50000" y="50000"/>
                                    </p:animScale>
                                    <p:anim to="" calcmode="lin" valueType="num">
                                      <p:cBhvr>
                                        <p:cTn id="27" dur="225" decel="50000" fill="hold">
                                          <p:stCondLst>
                                            <p:cond delay="0"/>
                                          </p:stCondLst>
                                        </p:cTn>
                                        <p:tgtEl>
                                          <p:spTgt spid="7"/>
                                        </p:tgtEl>
                                        <p:attrNameLst>
                                          <p:attrName>ppt_x</p:attrName>
                                        </p:attrNameLst>
                                      </p:cBhvr>
                                      <p:tavLst>
                                        <p:tav tm="0">
                                          <p:val>
                                            <p:strVal val="#ppt_x-0.05"/>
                                          </p:val>
                                        </p:tav>
                                        <p:tav tm="100000">
                                          <p:val>
                                            <p:strVal val="#ppt_x+0.02"/>
                                          </p:val>
                                        </p:tav>
                                      </p:tavLst>
                                    </p:anim>
                                    <p:animScale>
                                      <p:cBhvr>
                                        <p:cTn id="28" dur="375" accel="50000" fill="hold">
                                          <p:stCondLst>
                                            <p:cond delay="225"/>
                                          </p:stCondLst>
                                        </p:cTn>
                                        <p:tgtEl>
                                          <p:spTgt spid="7"/>
                                        </p:tgtEl>
                                      </p:cBhvr>
                                      <p:from x="50000" y="50000"/>
                                      <p:to x="100000" y="100000"/>
                                    </p:animScale>
                                    <p:anim to="" calcmode="lin" valueType="num">
                                      <p:cBhvr>
                                        <p:cTn id="29" dur="375" accel="50000" fill="hold">
                                          <p:stCondLst>
                                            <p:cond delay="225"/>
                                          </p:stCondLst>
                                        </p:cTn>
                                        <p:tgtEl>
                                          <p:spTgt spid="7"/>
                                        </p:tgtEl>
                                        <p:attrNameLst>
                                          <p:attrName>ppt_x</p:attrName>
                                        </p:attrNameLst>
                                      </p:cBhvr>
                                      <p:tavLst>
                                        <p:tav tm="0">
                                          <p:val>
                                            <p:strVal val="ppt_x"/>
                                          </p:val>
                                        </p:tav>
                                        <p:tav tm="100000">
                                          <p:val>
                                            <p:strVal val="#ppt_x"/>
                                          </p:val>
                                        </p:tav>
                                      </p:tavLst>
                                    </p:anim>
                                    <p:anim to="" calcmode="lin" valueType="num">
                                      <p:cBhvr>
                                        <p:cTn id="30" dur="225" decel="50000" fill="hold">
                                          <p:stCondLst>
                                            <p:cond delay="0"/>
                                          </p:stCondLst>
                                        </p:cTn>
                                        <p:tgtEl>
                                          <p:spTgt spid="7"/>
                                        </p:tgtEl>
                                        <p:attrNameLst>
                                          <p:attrName>ppt_y</p:attrName>
                                        </p:attrNameLst>
                                      </p:cBhvr>
                                      <p:tavLst>
                                        <p:tav tm="0">
                                          <p:val>
                                            <p:strVal val="#ppt_y-0.05"/>
                                          </p:val>
                                        </p:tav>
                                        <p:tav tm="100000">
                                          <p:val>
                                            <p:strVal val="#ppt_y+0.05"/>
                                          </p:val>
                                        </p:tav>
                                      </p:tavLst>
                                    </p:anim>
                                    <p:anim to="" calcmode="lin" valueType="num">
                                      <p:cBhvr>
                                        <p:cTn id="31" dur="375" accel="50000" fill="hold">
                                          <p:stCondLst>
                                            <p:cond delay="225"/>
                                          </p:stCondLst>
                                        </p:cTn>
                                        <p:tgtEl>
                                          <p:spTgt spid="7"/>
                                        </p:tgtEl>
                                        <p:attrNameLst>
                                          <p:attrName>ppt_y</p:attrName>
                                        </p:attrNameLst>
                                      </p:cBhvr>
                                      <p:tavLst>
                                        <p:tav tm="0">
                                          <p:val>
                                            <p:strVal val="ppt_y"/>
                                          </p:val>
                                        </p:tav>
                                        <p:tav tm="100000">
                                          <p:val>
                                            <p:strVal val="#ppt_y"/>
                                          </p:val>
                                        </p:tav>
                                      </p:tavLst>
                                    </p:anim>
                                    <p:animRot by="21600000">
                                      <p:cBhvr>
                                        <p:cTn id="32" dur="750" decel="50000" fill="hold">
                                          <p:stCondLst>
                                            <p:cond delay="0"/>
                                          </p:stCondLst>
                                        </p:cTn>
                                        <p:tgtEl>
                                          <p:spTgt spid="7"/>
                                        </p:tgtEl>
                                        <p:attrNameLst>
                                          <p:attrName>r</p:attrName>
                                        </p:attrNameLst>
                                      </p:cBhvr>
                                    </p:animRot>
                                    <p:animRot by="21600000">
                                      <p:cBhvr>
                                        <p:cTn id="33" dur="375" accel="50000" fill="hold">
                                          <p:stCondLst>
                                            <p:cond delay="225"/>
                                          </p:stCondLst>
                                        </p:cTn>
                                        <p:tgtEl>
                                          <p:spTgt spid="7"/>
                                        </p:tgtEl>
                                        <p:attrNameLst>
                                          <p:attrName>r</p:attrName>
                                        </p:attrNameLst>
                                      </p:cBhvr>
                                    </p:animRot>
                                    <p:animEffect filter="fade">
                                      <p:cBhvr>
                                        <p:cTn id="34" dur="225">
                                          <p:stCondLst>
                                            <p:cond delay="0"/>
                                          </p:stCondLst>
                                        </p:cTn>
                                        <p:tgtEl>
                                          <p:spTgt spid="7"/>
                                        </p:tgtEl>
                                      </p:cBhvr>
                                    </p:animEffect>
                                  </p:childTnLst>
                                </p:cTn>
                              </p:par>
                              <p:par>
                                <p:cTn id="35" presetID="0" presetClass="entr" presetSubtype="0" decel="50000" fill="hold" nodeType="withEffect">
                                  <p:stCondLst>
                                    <p:cond delay="0"/>
                                  </p:stCondLst>
                                  <p:childTnLst>
                                    <p:set>
                                      <p:cBhvr>
                                        <p:cTn id="36" dur="750" fill="hold">
                                          <p:stCondLst>
                                            <p:cond delay="0"/>
                                          </p:stCondLst>
                                        </p:cTn>
                                        <p:tgtEl>
                                          <p:spTgt spid="6"/>
                                        </p:tgtEl>
                                        <p:attrNameLst>
                                          <p:attrName>style.visibility</p:attrName>
                                        </p:attrNameLst>
                                      </p:cBhvr>
                                      <p:to>
                                        <p:strVal val="visible"/>
                                      </p:to>
                                    </p:set>
                                    <p:animScale>
                                      <p:cBhvr>
                                        <p:cTn id="37" dur="225" decel="50000" fill="hold">
                                          <p:stCondLst>
                                            <p:cond delay="0"/>
                                          </p:stCondLst>
                                        </p:cTn>
                                        <p:tgtEl>
                                          <p:spTgt spid="6"/>
                                        </p:tgtEl>
                                      </p:cBhvr>
                                      <p:from x="150000" y="150000"/>
                                      <p:to x="50000" y="50000"/>
                                    </p:animScale>
                                    <p:anim to="" calcmode="lin" valueType="num">
                                      <p:cBhvr>
                                        <p:cTn id="38" dur="225" decel="50000" fill="hold">
                                          <p:stCondLst>
                                            <p:cond delay="0"/>
                                          </p:stCondLst>
                                        </p:cTn>
                                        <p:tgtEl>
                                          <p:spTgt spid="6"/>
                                        </p:tgtEl>
                                        <p:attrNameLst>
                                          <p:attrName>ppt_x</p:attrName>
                                        </p:attrNameLst>
                                      </p:cBhvr>
                                      <p:tavLst>
                                        <p:tav tm="0">
                                          <p:val>
                                            <p:strVal val="#ppt_x-0.05"/>
                                          </p:val>
                                        </p:tav>
                                        <p:tav tm="100000">
                                          <p:val>
                                            <p:strVal val="#ppt_x+0.02"/>
                                          </p:val>
                                        </p:tav>
                                      </p:tavLst>
                                    </p:anim>
                                    <p:animScale>
                                      <p:cBhvr>
                                        <p:cTn id="39" dur="375" accel="50000" fill="hold">
                                          <p:stCondLst>
                                            <p:cond delay="225"/>
                                          </p:stCondLst>
                                        </p:cTn>
                                        <p:tgtEl>
                                          <p:spTgt spid="6"/>
                                        </p:tgtEl>
                                      </p:cBhvr>
                                      <p:from x="50000" y="50000"/>
                                      <p:to x="100000" y="100000"/>
                                    </p:animScale>
                                    <p:anim to="" calcmode="lin" valueType="num">
                                      <p:cBhvr>
                                        <p:cTn id="40" dur="375" accel="50000" fill="hold">
                                          <p:stCondLst>
                                            <p:cond delay="225"/>
                                          </p:stCondLst>
                                        </p:cTn>
                                        <p:tgtEl>
                                          <p:spTgt spid="6"/>
                                        </p:tgtEl>
                                        <p:attrNameLst>
                                          <p:attrName>ppt_x</p:attrName>
                                        </p:attrNameLst>
                                      </p:cBhvr>
                                      <p:tavLst>
                                        <p:tav tm="0">
                                          <p:val>
                                            <p:strVal val="ppt_x"/>
                                          </p:val>
                                        </p:tav>
                                        <p:tav tm="100000">
                                          <p:val>
                                            <p:strVal val="#ppt_x"/>
                                          </p:val>
                                        </p:tav>
                                      </p:tavLst>
                                    </p:anim>
                                    <p:anim to="" calcmode="lin" valueType="num">
                                      <p:cBhvr>
                                        <p:cTn id="41" dur="225" decel="50000" fill="hold">
                                          <p:stCondLst>
                                            <p:cond delay="0"/>
                                          </p:stCondLst>
                                        </p:cTn>
                                        <p:tgtEl>
                                          <p:spTgt spid="6"/>
                                        </p:tgtEl>
                                        <p:attrNameLst>
                                          <p:attrName>ppt_y</p:attrName>
                                        </p:attrNameLst>
                                      </p:cBhvr>
                                      <p:tavLst>
                                        <p:tav tm="0">
                                          <p:val>
                                            <p:strVal val="#ppt_y-0.05"/>
                                          </p:val>
                                        </p:tav>
                                        <p:tav tm="100000">
                                          <p:val>
                                            <p:strVal val="#ppt_y+0.05"/>
                                          </p:val>
                                        </p:tav>
                                      </p:tavLst>
                                    </p:anim>
                                    <p:anim to="" calcmode="lin" valueType="num">
                                      <p:cBhvr>
                                        <p:cTn id="42" dur="375" accel="50000" fill="hold">
                                          <p:stCondLst>
                                            <p:cond delay="225"/>
                                          </p:stCondLst>
                                        </p:cTn>
                                        <p:tgtEl>
                                          <p:spTgt spid="6"/>
                                        </p:tgtEl>
                                        <p:attrNameLst>
                                          <p:attrName>ppt_y</p:attrName>
                                        </p:attrNameLst>
                                      </p:cBhvr>
                                      <p:tavLst>
                                        <p:tav tm="0">
                                          <p:val>
                                            <p:strVal val="ppt_y"/>
                                          </p:val>
                                        </p:tav>
                                        <p:tav tm="100000">
                                          <p:val>
                                            <p:strVal val="#ppt_y"/>
                                          </p:val>
                                        </p:tav>
                                      </p:tavLst>
                                    </p:anim>
                                    <p:animRot by="21600000">
                                      <p:cBhvr>
                                        <p:cTn id="43" dur="750" decel="50000" fill="hold">
                                          <p:stCondLst>
                                            <p:cond delay="0"/>
                                          </p:stCondLst>
                                        </p:cTn>
                                        <p:tgtEl>
                                          <p:spTgt spid="6"/>
                                        </p:tgtEl>
                                        <p:attrNameLst>
                                          <p:attrName>r</p:attrName>
                                        </p:attrNameLst>
                                      </p:cBhvr>
                                    </p:animRot>
                                    <p:animRot by="21600000">
                                      <p:cBhvr>
                                        <p:cTn id="44" dur="375" accel="50000" fill="hold">
                                          <p:stCondLst>
                                            <p:cond delay="225"/>
                                          </p:stCondLst>
                                        </p:cTn>
                                        <p:tgtEl>
                                          <p:spTgt spid="6"/>
                                        </p:tgtEl>
                                        <p:attrNameLst>
                                          <p:attrName>r</p:attrName>
                                        </p:attrNameLst>
                                      </p:cBhvr>
                                    </p:animRot>
                                    <p:animEffect filter="fade">
                                      <p:cBhvr>
                                        <p:cTn id="45" dur="225">
                                          <p:stCondLst>
                                            <p:cond delay="0"/>
                                          </p:stCondLst>
                                        </p:cTn>
                                        <p:tgtEl>
                                          <p:spTgt spid="6"/>
                                        </p:tgtEl>
                                      </p:cBhvr>
                                    </p:animEffect>
                                  </p:childTnLst>
                                </p:cTn>
                              </p:par>
                              <p:par>
                                <p:cTn id="46" presetID="0" presetClass="entr" presetSubtype="0" decel="50000" fill="hold" nodeType="withEffect">
                                  <p:stCondLst>
                                    <p:cond delay="0"/>
                                  </p:stCondLst>
                                  <p:childTnLst>
                                    <p:set>
                                      <p:cBhvr>
                                        <p:cTn id="47" dur="750" fill="hold">
                                          <p:stCondLst>
                                            <p:cond delay="0"/>
                                          </p:stCondLst>
                                        </p:cTn>
                                        <p:tgtEl>
                                          <p:spTgt spid="9"/>
                                        </p:tgtEl>
                                        <p:attrNameLst>
                                          <p:attrName>style.visibility</p:attrName>
                                        </p:attrNameLst>
                                      </p:cBhvr>
                                      <p:to>
                                        <p:strVal val="visible"/>
                                      </p:to>
                                    </p:set>
                                    <p:animScale>
                                      <p:cBhvr>
                                        <p:cTn id="48" dur="225" decel="50000" fill="hold">
                                          <p:stCondLst>
                                            <p:cond delay="0"/>
                                          </p:stCondLst>
                                        </p:cTn>
                                        <p:tgtEl>
                                          <p:spTgt spid="9"/>
                                        </p:tgtEl>
                                      </p:cBhvr>
                                      <p:from x="150000" y="150000"/>
                                      <p:to x="50000" y="50000"/>
                                    </p:animScale>
                                    <p:anim to="" calcmode="lin" valueType="num">
                                      <p:cBhvr>
                                        <p:cTn id="49" dur="225" decel="50000" fill="hold">
                                          <p:stCondLst>
                                            <p:cond delay="0"/>
                                          </p:stCondLst>
                                        </p:cTn>
                                        <p:tgtEl>
                                          <p:spTgt spid="9"/>
                                        </p:tgtEl>
                                        <p:attrNameLst>
                                          <p:attrName>ppt_x</p:attrName>
                                        </p:attrNameLst>
                                      </p:cBhvr>
                                      <p:tavLst>
                                        <p:tav tm="0">
                                          <p:val>
                                            <p:strVal val="#ppt_x-0.05"/>
                                          </p:val>
                                        </p:tav>
                                        <p:tav tm="100000">
                                          <p:val>
                                            <p:strVal val="#ppt_x+0.02"/>
                                          </p:val>
                                        </p:tav>
                                      </p:tavLst>
                                    </p:anim>
                                    <p:animScale>
                                      <p:cBhvr>
                                        <p:cTn id="50" dur="375" accel="50000" fill="hold">
                                          <p:stCondLst>
                                            <p:cond delay="225"/>
                                          </p:stCondLst>
                                        </p:cTn>
                                        <p:tgtEl>
                                          <p:spTgt spid="9"/>
                                        </p:tgtEl>
                                      </p:cBhvr>
                                      <p:from x="50000" y="50000"/>
                                      <p:to x="100000" y="100000"/>
                                    </p:animScale>
                                    <p:anim to="" calcmode="lin" valueType="num">
                                      <p:cBhvr>
                                        <p:cTn id="51" dur="375" accel="50000" fill="hold">
                                          <p:stCondLst>
                                            <p:cond delay="225"/>
                                          </p:stCondLst>
                                        </p:cTn>
                                        <p:tgtEl>
                                          <p:spTgt spid="9"/>
                                        </p:tgtEl>
                                        <p:attrNameLst>
                                          <p:attrName>ppt_x</p:attrName>
                                        </p:attrNameLst>
                                      </p:cBhvr>
                                      <p:tavLst>
                                        <p:tav tm="0">
                                          <p:val>
                                            <p:strVal val="ppt_x"/>
                                          </p:val>
                                        </p:tav>
                                        <p:tav tm="100000">
                                          <p:val>
                                            <p:strVal val="#ppt_x"/>
                                          </p:val>
                                        </p:tav>
                                      </p:tavLst>
                                    </p:anim>
                                    <p:anim to="" calcmode="lin" valueType="num">
                                      <p:cBhvr>
                                        <p:cTn id="52" dur="225" decel="50000" fill="hold">
                                          <p:stCondLst>
                                            <p:cond delay="0"/>
                                          </p:stCondLst>
                                        </p:cTn>
                                        <p:tgtEl>
                                          <p:spTgt spid="9"/>
                                        </p:tgtEl>
                                        <p:attrNameLst>
                                          <p:attrName>ppt_y</p:attrName>
                                        </p:attrNameLst>
                                      </p:cBhvr>
                                      <p:tavLst>
                                        <p:tav tm="0">
                                          <p:val>
                                            <p:strVal val="#ppt_y-0.05"/>
                                          </p:val>
                                        </p:tav>
                                        <p:tav tm="100000">
                                          <p:val>
                                            <p:strVal val="#ppt_y+0.05"/>
                                          </p:val>
                                        </p:tav>
                                      </p:tavLst>
                                    </p:anim>
                                    <p:anim to="" calcmode="lin" valueType="num">
                                      <p:cBhvr>
                                        <p:cTn id="53" dur="375" accel="50000" fill="hold">
                                          <p:stCondLst>
                                            <p:cond delay="225"/>
                                          </p:stCondLst>
                                        </p:cTn>
                                        <p:tgtEl>
                                          <p:spTgt spid="9"/>
                                        </p:tgtEl>
                                        <p:attrNameLst>
                                          <p:attrName>ppt_y</p:attrName>
                                        </p:attrNameLst>
                                      </p:cBhvr>
                                      <p:tavLst>
                                        <p:tav tm="0">
                                          <p:val>
                                            <p:strVal val="ppt_y"/>
                                          </p:val>
                                        </p:tav>
                                        <p:tav tm="100000">
                                          <p:val>
                                            <p:strVal val="#ppt_y"/>
                                          </p:val>
                                        </p:tav>
                                      </p:tavLst>
                                    </p:anim>
                                    <p:animRot by="21600000">
                                      <p:cBhvr>
                                        <p:cTn id="54" dur="750" decel="50000" fill="hold">
                                          <p:stCondLst>
                                            <p:cond delay="0"/>
                                          </p:stCondLst>
                                        </p:cTn>
                                        <p:tgtEl>
                                          <p:spTgt spid="9"/>
                                        </p:tgtEl>
                                        <p:attrNameLst>
                                          <p:attrName>r</p:attrName>
                                        </p:attrNameLst>
                                      </p:cBhvr>
                                    </p:animRot>
                                    <p:animRot by="21600000">
                                      <p:cBhvr>
                                        <p:cTn id="55" dur="375" accel="50000" fill="hold">
                                          <p:stCondLst>
                                            <p:cond delay="225"/>
                                          </p:stCondLst>
                                        </p:cTn>
                                        <p:tgtEl>
                                          <p:spTgt spid="9"/>
                                        </p:tgtEl>
                                        <p:attrNameLst>
                                          <p:attrName>r</p:attrName>
                                        </p:attrNameLst>
                                      </p:cBhvr>
                                    </p:animRot>
                                    <p:animEffect filter="fade">
                                      <p:cBhvr>
                                        <p:cTn id="56" dur="225">
                                          <p:stCondLst>
                                            <p:cond delay="0"/>
                                          </p:stCondLst>
                                        </p:cTn>
                                        <p:tgtEl>
                                          <p:spTgt spid="9"/>
                                        </p:tgtEl>
                                      </p:cBhvr>
                                    </p:animEffect>
                                  </p:childTnLst>
                                </p:cTn>
                              </p:par>
                              <p:par>
                                <p:cTn id="57" presetID="0" presetClass="entr" presetSubtype="0" decel="50000" fill="hold" nodeType="withEffect">
                                  <p:stCondLst>
                                    <p:cond delay="0"/>
                                  </p:stCondLst>
                                  <p:childTnLst>
                                    <p:set>
                                      <p:cBhvr>
                                        <p:cTn id="58" dur="750" fill="hold">
                                          <p:stCondLst>
                                            <p:cond delay="0"/>
                                          </p:stCondLst>
                                        </p:cTn>
                                        <p:tgtEl>
                                          <p:spTgt spid="4"/>
                                        </p:tgtEl>
                                        <p:attrNameLst>
                                          <p:attrName>style.visibility</p:attrName>
                                        </p:attrNameLst>
                                      </p:cBhvr>
                                      <p:to>
                                        <p:strVal val="visible"/>
                                      </p:to>
                                    </p:set>
                                    <p:animScale>
                                      <p:cBhvr>
                                        <p:cTn id="59" dur="225" decel="50000" fill="hold">
                                          <p:stCondLst>
                                            <p:cond delay="0"/>
                                          </p:stCondLst>
                                        </p:cTn>
                                        <p:tgtEl>
                                          <p:spTgt spid="4"/>
                                        </p:tgtEl>
                                      </p:cBhvr>
                                      <p:from x="150000" y="150000"/>
                                      <p:to x="50000" y="50000"/>
                                    </p:animScale>
                                    <p:anim to="" calcmode="lin" valueType="num">
                                      <p:cBhvr>
                                        <p:cTn id="60" dur="225" decel="50000" fill="hold">
                                          <p:stCondLst>
                                            <p:cond delay="0"/>
                                          </p:stCondLst>
                                        </p:cTn>
                                        <p:tgtEl>
                                          <p:spTgt spid="4"/>
                                        </p:tgtEl>
                                        <p:attrNameLst>
                                          <p:attrName>ppt_x</p:attrName>
                                        </p:attrNameLst>
                                      </p:cBhvr>
                                      <p:tavLst>
                                        <p:tav tm="0">
                                          <p:val>
                                            <p:strVal val="#ppt_x-0.05"/>
                                          </p:val>
                                        </p:tav>
                                        <p:tav tm="100000">
                                          <p:val>
                                            <p:strVal val="#ppt_x+0.02"/>
                                          </p:val>
                                        </p:tav>
                                      </p:tavLst>
                                    </p:anim>
                                    <p:animScale>
                                      <p:cBhvr>
                                        <p:cTn id="61" dur="375" accel="50000" fill="hold">
                                          <p:stCondLst>
                                            <p:cond delay="225"/>
                                          </p:stCondLst>
                                        </p:cTn>
                                        <p:tgtEl>
                                          <p:spTgt spid="4"/>
                                        </p:tgtEl>
                                      </p:cBhvr>
                                      <p:from x="50000" y="50000"/>
                                      <p:to x="100000" y="100000"/>
                                    </p:animScale>
                                    <p:anim to="" calcmode="lin" valueType="num">
                                      <p:cBhvr>
                                        <p:cTn id="62" dur="375" accel="50000" fill="hold">
                                          <p:stCondLst>
                                            <p:cond delay="225"/>
                                          </p:stCondLst>
                                        </p:cTn>
                                        <p:tgtEl>
                                          <p:spTgt spid="4"/>
                                        </p:tgtEl>
                                        <p:attrNameLst>
                                          <p:attrName>ppt_x</p:attrName>
                                        </p:attrNameLst>
                                      </p:cBhvr>
                                      <p:tavLst>
                                        <p:tav tm="0">
                                          <p:val>
                                            <p:strVal val="ppt_x"/>
                                          </p:val>
                                        </p:tav>
                                        <p:tav tm="100000">
                                          <p:val>
                                            <p:strVal val="#ppt_x"/>
                                          </p:val>
                                        </p:tav>
                                      </p:tavLst>
                                    </p:anim>
                                    <p:anim to="" calcmode="lin" valueType="num">
                                      <p:cBhvr>
                                        <p:cTn id="63" dur="225" decel="50000" fill="hold">
                                          <p:stCondLst>
                                            <p:cond delay="0"/>
                                          </p:stCondLst>
                                        </p:cTn>
                                        <p:tgtEl>
                                          <p:spTgt spid="4"/>
                                        </p:tgtEl>
                                        <p:attrNameLst>
                                          <p:attrName>ppt_y</p:attrName>
                                        </p:attrNameLst>
                                      </p:cBhvr>
                                      <p:tavLst>
                                        <p:tav tm="0">
                                          <p:val>
                                            <p:strVal val="#ppt_y-0.05"/>
                                          </p:val>
                                        </p:tav>
                                        <p:tav tm="100000">
                                          <p:val>
                                            <p:strVal val="#ppt_y+0.05"/>
                                          </p:val>
                                        </p:tav>
                                      </p:tavLst>
                                    </p:anim>
                                    <p:anim to="" calcmode="lin" valueType="num">
                                      <p:cBhvr>
                                        <p:cTn id="64" dur="375" accel="50000" fill="hold">
                                          <p:stCondLst>
                                            <p:cond delay="225"/>
                                          </p:stCondLst>
                                        </p:cTn>
                                        <p:tgtEl>
                                          <p:spTgt spid="4"/>
                                        </p:tgtEl>
                                        <p:attrNameLst>
                                          <p:attrName>ppt_y</p:attrName>
                                        </p:attrNameLst>
                                      </p:cBhvr>
                                      <p:tavLst>
                                        <p:tav tm="0">
                                          <p:val>
                                            <p:strVal val="ppt_y"/>
                                          </p:val>
                                        </p:tav>
                                        <p:tav tm="100000">
                                          <p:val>
                                            <p:strVal val="#ppt_y"/>
                                          </p:val>
                                        </p:tav>
                                      </p:tavLst>
                                    </p:anim>
                                    <p:animRot by="21600000">
                                      <p:cBhvr>
                                        <p:cTn id="65" dur="750" decel="50000" fill="hold">
                                          <p:stCondLst>
                                            <p:cond delay="0"/>
                                          </p:stCondLst>
                                        </p:cTn>
                                        <p:tgtEl>
                                          <p:spTgt spid="4"/>
                                        </p:tgtEl>
                                        <p:attrNameLst>
                                          <p:attrName>r</p:attrName>
                                        </p:attrNameLst>
                                      </p:cBhvr>
                                    </p:animRot>
                                    <p:animRot by="21600000">
                                      <p:cBhvr>
                                        <p:cTn id="66" dur="375" accel="50000" fill="hold">
                                          <p:stCondLst>
                                            <p:cond delay="225"/>
                                          </p:stCondLst>
                                        </p:cTn>
                                        <p:tgtEl>
                                          <p:spTgt spid="4"/>
                                        </p:tgtEl>
                                        <p:attrNameLst>
                                          <p:attrName>r</p:attrName>
                                        </p:attrNameLst>
                                      </p:cBhvr>
                                    </p:animRot>
                                    <p:animEffect filter="fade">
                                      <p:cBhvr>
                                        <p:cTn id="67" dur="225">
                                          <p:stCondLst>
                                            <p:cond delay="0"/>
                                          </p:stCondLst>
                                        </p:cTn>
                                        <p:tgtEl>
                                          <p:spTgt spid="4"/>
                                        </p:tgtEl>
                                      </p:cBhvr>
                                    </p:animEffect>
                                  </p:childTnLst>
                                </p:cTn>
                              </p:par>
                              <p:par>
                                <p:cTn id="68" presetID="0" presetClass="entr" presetSubtype="0" decel="50000" fill="hold" nodeType="withEffect">
                                  <p:stCondLst>
                                    <p:cond delay="0"/>
                                  </p:stCondLst>
                                  <p:childTnLst>
                                    <p:set>
                                      <p:cBhvr>
                                        <p:cTn id="69" dur="750" fill="hold">
                                          <p:stCondLst>
                                            <p:cond delay="0"/>
                                          </p:stCondLst>
                                        </p:cTn>
                                        <p:tgtEl>
                                          <p:spTgt spid="5"/>
                                        </p:tgtEl>
                                        <p:attrNameLst>
                                          <p:attrName>style.visibility</p:attrName>
                                        </p:attrNameLst>
                                      </p:cBhvr>
                                      <p:to>
                                        <p:strVal val="visible"/>
                                      </p:to>
                                    </p:set>
                                    <p:animScale>
                                      <p:cBhvr>
                                        <p:cTn id="70" dur="225" decel="50000" fill="hold">
                                          <p:stCondLst>
                                            <p:cond delay="0"/>
                                          </p:stCondLst>
                                        </p:cTn>
                                        <p:tgtEl>
                                          <p:spTgt spid="5"/>
                                        </p:tgtEl>
                                      </p:cBhvr>
                                      <p:from x="150000" y="150000"/>
                                      <p:to x="50000" y="50000"/>
                                    </p:animScale>
                                    <p:anim to="" calcmode="lin" valueType="num">
                                      <p:cBhvr>
                                        <p:cTn id="71" dur="225" decel="50000" fill="hold">
                                          <p:stCondLst>
                                            <p:cond delay="0"/>
                                          </p:stCondLst>
                                        </p:cTn>
                                        <p:tgtEl>
                                          <p:spTgt spid="5"/>
                                        </p:tgtEl>
                                        <p:attrNameLst>
                                          <p:attrName>ppt_x</p:attrName>
                                        </p:attrNameLst>
                                      </p:cBhvr>
                                      <p:tavLst>
                                        <p:tav tm="0">
                                          <p:val>
                                            <p:strVal val="#ppt_x-0.05"/>
                                          </p:val>
                                        </p:tav>
                                        <p:tav tm="100000">
                                          <p:val>
                                            <p:strVal val="#ppt_x+0.02"/>
                                          </p:val>
                                        </p:tav>
                                      </p:tavLst>
                                    </p:anim>
                                    <p:animScale>
                                      <p:cBhvr>
                                        <p:cTn id="72" dur="375" accel="50000" fill="hold">
                                          <p:stCondLst>
                                            <p:cond delay="225"/>
                                          </p:stCondLst>
                                        </p:cTn>
                                        <p:tgtEl>
                                          <p:spTgt spid="5"/>
                                        </p:tgtEl>
                                      </p:cBhvr>
                                      <p:from x="50000" y="50000"/>
                                      <p:to x="100000" y="100000"/>
                                    </p:animScale>
                                    <p:anim to="" calcmode="lin" valueType="num">
                                      <p:cBhvr>
                                        <p:cTn id="73" dur="375" accel="50000" fill="hold">
                                          <p:stCondLst>
                                            <p:cond delay="225"/>
                                          </p:stCondLst>
                                        </p:cTn>
                                        <p:tgtEl>
                                          <p:spTgt spid="5"/>
                                        </p:tgtEl>
                                        <p:attrNameLst>
                                          <p:attrName>ppt_x</p:attrName>
                                        </p:attrNameLst>
                                      </p:cBhvr>
                                      <p:tavLst>
                                        <p:tav tm="0">
                                          <p:val>
                                            <p:strVal val="ppt_x"/>
                                          </p:val>
                                        </p:tav>
                                        <p:tav tm="100000">
                                          <p:val>
                                            <p:strVal val="#ppt_x"/>
                                          </p:val>
                                        </p:tav>
                                      </p:tavLst>
                                    </p:anim>
                                    <p:anim to="" calcmode="lin" valueType="num">
                                      <p:cBhvr>
                                        <p:cTn id="74" dur="225" decel="50000" fill="hold">
                                          <p:stCondLst>
                                            <p:cond delay="0"/>
                                          </p:stCondLst>
                                        </p:cTn>
                                        <p:tgtEl>
                                          <p:spTgt spid="5"/>
                                        </p:tgtEl>
                                        <p:attrNameLst>
                                          <p:attrName>ppt_y</p:attrName>
                                        </p:attrNameLst>
                                      </p:cBhvr>
                                      <p:tavLst>
                                        <p:tav tm="0">
                                          <p:val>
                                            <p:strVal val="#ppt_y-0.05"/>
                                          </p:val>
                                        </p:tav>
                                        <p:tav tm="100000">
                                          <p:val>
                                            <p:strVal val="#ppt_y+0.05"/>
                                          </p:val>
                                        </p:tav>
                                      </p:tavLst>
                                    </p:anim>
                                    <p:anim to="" calcmode="lin" valueType="num">
                                      <p:cBhvr>
                                        <p:cTn id="75" dur="375" accel="50000" fill="hold">
                                          <p:stCondLst>
                                            <p:cond delay="225"/>
                                          </p:stCondLst>
                                        </p:cTn>
                                        <p:tgtEl>
                                          <p:spTgt spid="5"/>
                                        </p:tgtEl>
                                        <p:attrNameLst>
                                          <p:attrName>ppt_y</p:attrName>
                                        </p:attrNameLst>
                                      </p:cBhvr>
                                      <p:tavLst>
                                        <p:tav tm="0">
                                          <p:val>
                                            <p:strVal val="ppt_y"/>
                                          </p:val>
                                        </p:tav>
                                        <p:tav tm="100000">
                                          <p:val>
                                            <p:strVal val="#ppt_y"/>
                                          </p:val>
                                        </p:tav>
                                      </p:tavLst>
                                    </p:anim>
                                    <p:animRot by="21600000">
                                      <p:cBhvr>
                                        <p:cTn id="76" dur="750" decel="50000" fill="hold">
                                          <p:stCondLst>
                                            <p:cond delay="0"/>
                                          </p:stCondLst>
                                        </p:cTn>
                                        <p:tgtEl>
                                          <p:spTgt spid="5"/>
                                        </p:tgtEl>
                                        <p:attrNameLst>
                                          <p:attrName>r</p:attrName>
                                        </p:attrNameLst>
                                      </p:cBhvr>
                                    </p:animRot>
                                    <p:animRot by="21600000">
                                      <p:cBhvr>
                                        <p:cTn id="77" dur="375" accel="50000" fill="hold">
                                          <p:stCondLst>
                                            <p:cond delay="225"/>
                                          </p:stCondLst>
                                        </p:cTn>
                                        <p:tgtEl>
                                          <p:spTgt spid="5"/>
                                        </p:tgtEl>
                                        <p:attrNameLst>
                                          <p:attrName>r</p:attrName>
                                        </p:attrNameLst>
                                      </p:cBhvr>
                                    </p:animRot>
                                    <p:animEffect filter="fade">
                                      <p:cBhvr>
                                        <p:cTn id="78" dur="225">
                                          <p:stCondLst>
                                            <p:cond delay="0"/>
                                          </p:stCondLst>
                                        </p:cTn>
                                        <p:tgtEl>
                                          <p:spTgt spid="5"/>
                                        </p:tgtEl>
                                      </p:cBhvr>
                                    </p:animEffect>
                                  </p:childTnLst>
                                </p:cTn>
                              </p:par>
                            </p:childTnLst>
                          </p:cTn>
                        </p:par>
                        <p:par>
                          <p:cTn id="79" fill="hold">
                            <p:stCondLst>
                              <p:cond delay="2750"/>
                            </p:stCondLst>
                            <p:childTnLst>
                              <p:par>
                                <p:cTn id="80" presetID="10" presetClass="entr" presetSubtype="0" fill="hold" nodeType="afterEffect">
                                  <p:stCondLst>
                                    <p:cond delay="0"/>
                                  </p:stCondLst>
                                  <p:childTnLst>
                                    <p:set>
                                      <p:cBhvr>
                                        <p:cTn id="81" dur="1" fill="hold">
                                          <p:stCondLst>
                                            <p:cond delay="0"/>
                                          </p:stCondLst>
                                        </p:cTn>
                                        <p:tgtEl>
                                          <p:spTgt spid="26"/>
                                        </p:tgtEl>
                                        <p:attrNameLst>
                                          <p:attrName>style.visibility</p:attrName>
                                        </p:attrNameLst>
                                      </p:cBhvr>
                                      <p:to>
                                        <p:strVal val="visible"/>
                                      </p:to>
                                    </p:set>
                                    <p:animEffect transition="in" filter="fade">
                                      <p:cBhvr>
                                        <p:cTn id="82"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P spid="49"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txBox="1"/>
          <p:nvPr/>
        </p:nvSpPr>
        <p:spPr>
          <a:xfrm>
            <a:off x="857884" y="195109"/>
            <a:ext cx="3786124" cy="379730"/>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000" b="1" dirty="0">
                <a:solidFill>
                  <a:schemeClr val="tx1"/>
                </a:solidFill>
                <a:latin typeface="Arial" panose="020B0604020202020204" pitchFamily="34" charset="0"/>
                <a:ea typeface="微软雅黑" panose="020B0503020204020204" pitchFamily="34" charset="-122"/>
                <a:sym typeface="Arial" panose="020B0604020202020204" pitchFamily="34" charset="0"/>
              </a:rPr>
              <a:t>1.1</a:t>
            </a:r>
            <a:r>
              <a:rPr lang="zh-CN" altLang="en-US" sz="2000" b="1" dirty="0">
                <a:solidFill>
                  <a:schemeClr val="tx1"/>
                </a:solidFill>
                <a:latin typeface="Arial" panose="020B0604020202020204" pitchFamily="34" charset="0"/>
                <a:ea typeface="微软雅黑" panose="020B0503020204020204" pitchFamily="34" charset="-122"/>
                <a:sym typeface="Arial" panose="020B0604020202020204" pitchFamily="34" charset="0"/>
              </a:rPr>
              <a:t>前十大应付账款供应商排名表</a:t>
            </a:r>
          </a:p>
        </p:txBody>
      </p:sp>
      <p:graphicFrame>
        <p:nvGraphicFramePr>
          <p:cNvPr id="25" name="图表 24"/>
          <p:cNvGraphicFramePr/>
          <p:nvPr/>
        </p:nvGraphicFramePr>
        <p:xfrm>
          <a:off x="4211960" y="4149080"/>
          <a:ext cx="2592288" cy="2232248"/>
        </p:xfrm>
        <a:graphic>
          <a:graphicData uri="http://schemas.openxmlformats.org/drawingml/2006/chart">
            <c:chart xmlns:c="http://schemas.openxmlformats.org/drawingml/2006/chart" xmlns:r="http://schemas.openxmlformats.org/officeDocument/2006/relationships" r:id="rId3"/>
          </a:graphicData>
        </a:graphic>
      </p:graphicFrame>
      <p:sp>
        <p:nvSpPr>
          <p:cNvPr id="8" name="标题 1"/>
          <p:cNvSpPr txBox="1"/>
          <p:nvPr/>
        </p:nvSpPr>
        <p:spPr>
          <a:xfrm>
            <a:off x="1179004" y="1017628"/>
            <a:ext cx="2438400" cy="47625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zh-CN" sz="900" b="1">
                <a:latin typeface="Arial" panose="020B0604020202020204" pitchFamily="34" charset="0"/>
                <a:ea typeface="微软雅黑" panose="020B0503020204020204" pitchFamily="34" charset="-122"/>
                <a:sym typeface="Arial" panose="020B0604020202020204" pitchFamily="34" charset="0"/>
              </a:rPr>
              <a:t>A</a:t>
            </a:r>
            <a:r>
              <a:rPr lang="zh-CN" altLang="en-US" sz="900" b="1">
                <a:latin typeface="Arial" panose="020B0604020202020204" pitchFamily="34" charset="0"/>
                <a:ea typeface="微软雅黑" panose="020B0503020204020204" pitchFamily="34" charset="-122"/>
                <a:sym typeface="Arial" panose="020B0604020202020204" pitchFamily="34" charset="0"/>
              </a:rPr>
              <a:t>、账上前十大应付账款供应商</a:t>
            </a:r>
            <a:endParaRPr lang="zh-CN" altLang="en-US" sz="900" b="1" dirty="0">
              <a:latin typeface="Arial" panose="020B0604020202020204" pitchFamily="34" charset="0"/>
              <a:ea typeface="微软雅黑" panose="020B0503020204020204" pitchFamily="34" charset="-122"/>
              <a:sym typeface="Arial" panose="020B0604020202020204" pitchFamily="34" charset="0"/>
            </a:endParaRPr>
          </a:p>
        </p:txBody>
      </p:sp>
      <p:graphicFrame>
        <p:nvGraphicFramePr>
          <p:cNvPr id="10" name="内容占位符 3"/>
          <p:cNvGraphicFramePr/>
          <p:nvPr/>
        </p:nvGraphicFramePr>
        <p:xfrm>
          <a:off x="1179004" y="1396247"/>
          <a:ext cx="3078342" cy="3341370"/>
        </p:xfrm>
        <a:graphic>
          <a:graphicData uri="http://schemas.openxmlformats.org/drawingml/2006/table">
            <a:tbl>
              <a:tblPr firstRow="1" bandRow="1">
                <a:tableStyleId>{5C22544A-7EE6-4342-B048-85BDC9FD1C3A}</a:tableStyleId>
              </a:tblPr>
              <a:tblGrid>
                <a:gridCol w="324036"/>
                <a:gridCol w="756084"/>
                <a:gridCol w="871854"/>
                <a:gridCol w="648072"/>
                <a:gridCol w="478296"/>
              </a:tblGrid>
              <a:tr h="278130">
                <a:tc>
                  <a:txBody>
                    <a:bodyPr/>
                    <a:lstStyle/>
                    <a:p>
                      <a:pPr algn="ctr" fontAlgn="ctr"/>
                      <a:r>
                        <a:rPr lang="zh-CN" altLang="en-US" sz="800" b="1" i="0" u="none" strike="noStrike" dirty="0">
                          <a:latin typeface="Arial" panose="020B0604020202020204" pitchFamily="34" charset="0"/>
                          <a:ea typeface="微软雅黑" panose="020B0503020204020204" pitchFamily="34" charset="-122"/>
                          <a:sym typeface="Arial" panose="020B0604020202020204" pitchFamily="34" charset="0"/>
                        </a:rPr>
                        <a:t>排名</a:t>
                      </a:r>
                    </a:p>
                  </a:txBody>
                  <a:tcPr marL="0" marR="0" marT="0" marB="0" anchor="ctr"/>
                </a:tc>
                <a:tc>
                  <a:txBody>
                    <a:bodyPr/>
                    <a:lstStyle/>
                    <a:p>
                      <a:pPr algn="ctr" fontAlgn="ctr"/>
                      <a:r>
                        <a:rPr lang="zh-CN" altLang="en-US" sz="800" b="1" i="0" u="none" strike="noStrike" dirty="0">
                          <a:latin typeface="Arial" panose="020B0604020202020204" pitchFamily="34" charset="0"/>
                          <a:ea typeface="微软雅黑" panose="020B0503020204020204" pitchFamily="34" charset="-122"/>
                          <a:sym typeface="Arial" panose="020B0604020202020204" pitchFamily="34" charset="0"/>
                        </a:rPr>
                        <a:t>客户名称</a:t>
                      </a:r>
                    </a:p>
                  </a:txBody>
                  <a:tcPr marL="0" marR="0" marT="0" marB="0" anchor="ctr"/>
                </a:tc>
                <a:tc>
                  <a:txBody>
                    <a:bodyPr/>
                    <a:lstStyle/>
                    <a:p>
                      <a:pPr algn="ctr" fontAlgn="ctr"/>
                      <a:r>
                        <a:rPr lang="zh-CN" altLang="en-US" sz="800" b="1" i="0" u="none" strike="noStrike" dirty="0">
                          <a:latin typeface="Arial" panose="020B0604020202020204" pitchFamily="34" charset="0"/>
                          <a:ea typeface="微软雅黑" panose="020B0503020204020204" pitchFamily="34" charset="-122"/>
                          <a:sym typeface="Arial" panose="020B0604020202020204" pitchFamily="34" charset="0"/>
                        </a:rPr>
                        <a:t>项目名称</a:t>
                      </a:r>
                    </a:p>
                  </a:txBody>
                  <a:tcPr marL="0" marR="0" marT="0" marB="0" anchor="ctr"/>
                </a:tc>
                <a:tc>
                  <a:txBody>
                    <a:bodyPr/>
                    <a:lstStyle/>
                    <a:p>
                      <a:pPr algn="ctr" fontAlgn="ctr"/>
                      <a:r>
                        <a:rPr lang="zh-CN" altLang="en-US" sz="800" b="1" i="0" u="none" strike="noStrike" dirty="0">
                          <a:latin typeface="Arial" panose="020B0604020202020204" pitchFamily="34" charset="0"/>
                          <a:ea typeface="微软雅黑" panose="020B0503020204020204" pitchFamily="34" charset="-122"/>
                          <a:sym typeface="Arial" panose="020B0604020202020204" pitchFamily="34" charset="0"/>
                        </a:rPr>
                        <a:t>余额</a:t>
                      </a:r>
                    </a:p>
                  </a:txBody>
                  <a:tcPr marL="0" marR="0" marT="0" marB="0" anchor="ctr"/>
                </a:tc>
                <a:tc>
                  <a:txBody>
                    <a:bodyPr/>
                    <a:lstStyle/>
                    <a:p>
                      <a:pPr algn="ctr" fontAlgn="ctr"/>
                      <a:r>
                        <a:rPr lang="zh-CN" altLang="en-US" sz="800" b="1" i="0" u="none" strike="noStrike" dirty="0">
                          <a:latin typeface="Arial" panose="020B0604020202020204" pitchFamily="34" charset="0"/>
                          <a:ea typeface="微软雅黑" panose="020B0503020204020204" pitchFamily="34" charset="-122"/>
                          <a:sym typeface="Arial" panose="020B0604020202020204" pitchFamily="34" charset="0"/>
                        </a:rPr>
                        <a:t>占比</a:t>
                      </a:r>
                    </a:p>
                  </a:txBody>
                  <a:tcPr marL="0" marR="0" marT="0" marB="0" anchor="ctr"/>
                </a:tc>
              </a:tr>
              <a:tr h="278130">
                <a:tc>
                  <a:txBody>
                    <a:bodyPr/>
                    <a:lstStyle/>
                    <a:p>
                      <a:pPr algn="ctr" fontAlgn="ctr"/>
                      <a:r>
                        <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rPr>
                        <a:t>1</a:t>
                      </a:r>
                    </a:p>
                  </a:txBody>
                  <a:tcPr marL="0" marR="0" marT="0" marB="0" anchor="ctr"/>
                </a:tc>
                <a:tc>
                  <a:txBody>
                    <a:bodyPr/>
                    <a:lstStyle/>
                    <a:p>
                      <a:pPr algn="ctr" fontAlgn="ctr"/>
                      <a:endParaRPr lang="zh-CN" altLang="en-US"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zh-CN" altLang="en-US" sz="800" b="0" i="0" u="none" strike="noStrike">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r>
              <a:tr h="278130">
                <a:tc>
                  <a:txBody>
                    <a:bodyPr/>
                    <a:lstStyle/>
                    <a:p>
                      <a:pPr algn="ctr" fontAlgn="ctr"/>
                      <a:r>
                        <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rPr>
                        <a:t>2</a:t>
                      </a:r>
                    </a:p>
                  </a:txBody>
                  <a:tcPr marL="0" marR="0" marT="0" marB="0" anchor="ctr"/>
                </a:tc>
                <a:tc>
                  <a:txBody>
                    <a:bodyPr/>
                    <a:lstStyle/>
                    <a:p>
                      <a:pPr algn="ctr" fontAlgn="ctr"/>
                      <a:endParaRPr lang="zh-CN" altLang="en-US"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zh-CN" altLang="en-US"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r>
              <a:tr h="278130">
                <a:tc>
                  <a:txBody>
                    <a:bodyPr/>
                    <a:lstStyle/>
                    <a:p>
                      <a:pPr algn="ctr" fontAlgn="ctr"/>
                      <a:r>
                        <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rPr>
                        <a:t>3</a:t>
                      </a:r>
                    </a:p>
                  </a:txBody>
                  <a:tcPr marL="0" marR="0" marT="0" marB="0" anchor="ctr"/>
                </a:tc>
                <a:tc>
                  <a:txBody>
                    <a:bodyPr/>
                    <a:lstStyle/>
                    <a:p>
                      <a:pPr algn="ctr" fontAlgn="ctr"/>
                      <a:endParaRPr lang="zh-CN" altLang="en-US"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zh-CN" altLang="en-US"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r>
              <a:tr h="278130">
                <a:tc>
                  <a:txBody>
                    <a:bodyPr/>
                    <a:lstStyle/>
                    <a:p>
                      <a:pPr algn="ctr" fontAlgn="ctr"/>
                      <a:r>
                        <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rPr>
                        <a:t>4</a:t>
                      </a:r>
                    </a:p>
                  </a:txBody>
                  <a:tcPr marL="0" marR="0" marT="0" marB="0" anchor="ctr"/>
                </a:tc>
                <a:tc>
                  <a:txBody>
                    <a:bodyPr/>
                    <a:lstStyle/>
                    <a:p>
                      <a:pPr algn="ctr" fontAlgn="ctr"/>
                      <a:endParaRPr lang="zh-CN" altLang="en-US" sz="800" b="0" i="0" u="none" strike="noStrike">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zh-CN" altLang="en-US"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r>
              <a:tr h="278130">
                <a:tc>
                  <a:txBody>
                    <a:bodyPr/>
                    <a:lstStyle/>
                    <a:p>
                      <a:pPr algn="ctr" fontAlgn="ctr"/>
                      <a:r>
                        <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rPr>
                        <a:t>5</a:t>
                      </a:r>
                    </a:p>
                  </a:txBody>
                  <a:tcPr marL="0" marR="0" marT="0" marB="0" anchor="ctr"/>
                </a:tc>
                <a:tc>
                  <a:txBody>
                    <a:bodyPr/>
                    <a:lstStyle/>
                    <a:p>
                      <a:pPr algn="ctr" fontAlgn="ctr"/>
                      <a:endParaRPr lang="zh-CN" altLang="en-US" sz="800" b="0" i="0" u="none" strike="noStrike">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zh-CN" altLang="en-US"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r>
              <a:tr h="278130">
                <a:tc>
                  <a:txBody>
                    <a:bodyPr/>
                    <a:lstStyle/>
                    <a:p>
                      <a:pPr algn="ctr" fontAlgn="ctr"/>
                      <a:r>
                        <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rPr>
                        <a:t>6</a:t>
                      </a:r>
                    </a:p>
                  </a:txBody>
                  <a:tcPr marL="0" marR="0" marT="0" marB="0" anchor="ctr"/>
                </a:tc>
                <a:tc>
                  <a:txBody>
                    <a:bodyPr/>
                    <a:lstStyle/>
                    <a:p>
                      <a:pPr algn="ctr" fontAlgn="ctr"/>
                      <a:endParaRPr lang="zh-CN" altLang="en-US" sz="800" b="0" i="0" u="none" strike="noStrike">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zh-CN" altLang="en-US"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r>
              <a:tr h="278130">
                <a:tc>
                  <a:txBody>
                    <a:bodyPr/>
                    <a:lstStyle/>
                    <a:p>
                      <a:pPr algn="ctr" fontAlgn="ctr"/>
                      <a:r>
                        <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rPr>
                        <a:t>7</a:t>
                      </a:r>
                    </a:p>
                  </a:txBody>
                  <a:tcPr marL="0" marR="0" marT="0" marB="0" anchor="ctr"/>
                </a:tc>
                <a:tc>
                  <a:txBody>
                    <a:bodyPr/>
                    <a:lstStyle/>
                    <a:p>
                      <a:pPr algn="ctr" fontAlgn="ctr"/>
                      <a:endParaRPr lang="zh-CN" altLang="en-US" sz="800" b="0" i="0" u="none" strike="noStrike">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zh-CN" altLang="en-US"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r>
              <a:tr h="278130">
                <a:tc>
                  <a:txBody>
                    <a:bodyPr/>
                    <a:lstStyle/>
                    <a:p>
                      <a:pPr algn="ctr" fontAlgn="ctr"/>
                      <a:r>
                        <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rPr>
                        <a:t>8</a:t>
                      </a:r>
                    </a:p>
                  </a:txBody>
                  <a:tcPr marL="0" marR="0" marT="0" marB="0" anchor="ctr"/>
                </a:tc>
                <a:tc>
                  <a:txBody>
                    <a:bodyPr/>
                    <a:lstStyle/>
                    <a:p>
                      <a:pPr algn="ctr" fontAlgn="ctr"/>
                      <a:endParaRPr lang="zh-CN" altLang="en-US" sz="800" b="0" i="0" u="none" strike="noStrike">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zh-CN" altLang="en-US"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r>
              <a:tr h="278130">
                <a:tc>
                  <a:txBody>
                    <a:bodyPr/>
                    <a:lstStyle/>
                    <a:p>
                      <a:pPr algn="ctr" fontAlgn="ctr"/>
                      <a:r>
                        <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rPr>
                        <a:t>9</a:t>
                      </a:r>
                    </a:p>
                  </a:txBody>
                  <a:tcPr marL="0" marR="0" marT="0" marB="0" anchor="ctr"/>
                </a:tc>
                <a:tc>
                  <a:txBody>
                    <a:bodyPr/>
                    <a:lstStyle/>
                    <a:p>
                      <a:pPr algn="ctr" fontAlgn="ctr"/>
                      <a:endParaRPr lang="zh-CN" altLang="en-US" sz="800" b="0" i="0" u="none" strike="noStrike">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zh-CN" altLang="en-US"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r>
              <a:tr h="278130">
                <a:tc>
                  <a:txBody>
                    <a:bodyPr/>
                    <a:lstStyle/>
                    <a:p>
                      <a:pPr algn="ctr" fontAlgn="ctr"/>
                      <a:r>
                        <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rPr>
                        <a:t>10</a:t>
                      </a:r>
                    </a:p>
                  </a:txBody>
                  <a:tcPr marL="0" marR="0" marT="0" marB="0" anchor="ctr"/>
                </a:tc>
                <a:tc>
                  <a:txBody>
                    <a:bodyPr/>
                    <a:lstStyle/>
                    <a:p>
                      <a:pPr algn="ctr" fontAlgn="ctr"/>
                      <a:endParaRPr lang="zh-CN" altLang="en-US" sz="800" b="0" i="0" u="none" strike="noStrike">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zh-CN" altLang="en-US"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r>
              <a:tr h="278130">
                <a:tc gridSpan="3">
                  <a:txBody>
                    <a:bodyPr/>
                    <a:lstStyle/>
                    <a:p>
                      <a:pPr marL="0" algn="ctr" defTabSz="914400" rtl="0" eaLnBrk="1" fontAlgn="ctr" latinLnBrk="0" hangingPunct="1"/>
                      <a:r>
                        <a:rPr lang="zh-CN" altLang="en-US" sz="800" b="1" i="0" u="none" strike="noStrike" kern="1200" dirty="0">
                          <a:solidFill>
                            <a:schemeClr val="dk1"/>
                          </a:solidFill>
                          <a:latin typeface="Arial" panose="020B0604020202020204" pitchFamily="34" charset="0"/>
                          <a:ea typeface="微软雅黑" panose="020B0503020204020204" pitchFamily="34" charset="-122"/>
                          <a:cs typeface="+mn-cs"/>
                          <a:sym typeface="Arial" panose="020B0604020202020204" pitchFamily="34" charset="0"/>
                        </a:rPr>
                        <a:t>总计</a:t>
                      </a:r>
                    </a:p>
                  </a:txBody>
                  <a:tcPr marL="68580" marR="68580" marT="34290" marB="34290"/>
                </a:tc>
                <a:tc hMerge="1">
                  <a:txBody>
                    <a:bodyPr/>
                    <a:lstStyle/>
                    <a:p>
                      <a:endParaRPr lang="zh-CN"/>
                    </a:p>
                  </a:txBody>
                  <a:tcPr/>
                </a:tc>
                <a:tc hMerge="1">
                  <a:txBody>
                    <a:bodyPr/>
                    <a:lstStyle/>
                    <a:p>
                      <a:endParaRPr lang="zh-CN"/>
                    </a:p>
                  </a:txBody>
                  <a:tcPr/>
                </a:tc>
                <a:tc>
                  <a:txBody>
                    <a:bodyPr/>
                    <a:lstStyle/>
                    <a:p>
                      <a:pPr algn="ctr"/>
                      <a:endParaRPr lang="zh-CN" altLang="en-US" sz="800" b="0" i="0" u="none" strike="noStrike" kern="1200" dirty="0">
                        <a:solidFill>
                          <a:schemeClr val="dk1"/>
                        </a:solidFill>
                        <a:latin typeface="Arial" panose="020B0604020202020204" pitchFamily="34" charset="0"/>
                        <a:ea typeface="微软雅黑" panose="020B0503020204020204" pitchFamily="34" charset="-122"/>
                        <a:cs typeface="+mn-cs"/>
                        <a:sym typeface="Arial" panose="020B0604020202020204" pitchFamily="34" charset="0"/>
                      </a:endParaRPr>
                    </a:p>
                  </a:txBody>
                  <a:tcPr marL="68580" marR="68580" marT="34290" marB="34290"/>
                </a:tc>
                <a:tc>
                  <a:txBody>
                    <a:bodyPr/>
                    <a:lstStyle/>
                    <a:p>
                      <a:pPr algn="ctr"/>
                      <a:endParaRPr lang="zh-CN" altLang="en-US" sz="1400" dirty="0">
                        <a:latin typeface="Arial" panose="020B0604020202020204" pitchFamily="34" charset="0"/>
                        <a:ea typeface="微软雅黑" panose="020B0503020204020204" pitchFamily="34" charset="-122"/>
                        <a:sym typeface="Arial" panose="020B0604020202020204" pitchFamily="34" charset="0"/>
                      </a:endParaRPr>
                    </a:p>
                  </a:txBody>
                  <a:tcPr marL="68580" marR="68580" marT="34290" marB="34290"/>
                </a:tc>
              </a:tr>
            </a:tbl>
          </a:graphicData>
        </a:graphic>
      </p:graphicFrame>
      <p:sp>
        <p:nvSpPr>
          <p:cNvPr id="12" name="矩形 11"/>
          <p:cNvSpPr/>
          <p:nvPr/>
        </p:nvSpPr>
        <p:spPr>
          <a:xfrm>
            <a:off x="4932040" y="1347614"/>
            <a:ext cx="2808312" cy="507831"/>
          </a:xfrm>
          <a:prstGeom prst="rect">
            <a:avLst/>
          </a:prstGeom>
        </p:spPr>
        <p:txBody>
          <a:bodyPr wrap="square">
            <a:spAutoFit/>
          </a:bodyPr>
          <a:lstStyle/>
          <a:p>
            <a:r>
              <a:rPr lang="zh-CN" altLang="en-US" sz="1350" dirty="0">
                <a:latin typeface="Arial" panose="020B0604020202020204" pitchFamily="34" charset="0"/>
                <a:ea typeface="微软雅黑" panose="020B0503020204020204" pitchFamily="34" charset="-122"/>
                <a:sym typeface="Arial" panose="020B0604020202020204" pitchFamily="34" charset="0"/>
              </a:rPr>
              <a:t>分析：</a:t>
            </a:r>
            <a:endParaRPr lang="en-US" altLang="zh-CN" sz="1350" dirty="0">
              <a:latin typeface="Arial" panose="020B0604020202020204" pitchFamily="34" charset="0"/>
              <a:ea typeface="微软雅黑" panose="020B0503020204020204" pitchFamily="34" charset="-122"/>
              <a:sym typeface="Arial" panose="020B0604020202020204" pitchFamily="34" charset="0"/>
            </a:endParaRPr>
          </a:p>
          <a:p>
            <a:r>
              <a:rPr lang="zh-CN" altLang="en-US" sz="1350" dirty="0">
                <a:latin typeface="Arial" panose="020B0604020202020204" pitchFamily="34" charset="0"/>
                <a:ea typeface="微软雅黑" panose="020B0503020204020204" pitchFamily="34" charset="-122"/>
                <a:sym typeface="Arial" panose="020B0604020202020204" pitchFamily="34" charset="0"/>
              </a:rPr>
              <a:t>单击输入对图表的具体描述</a:t>
            </a:r>
            <a:r>
              <a:rPr lang="zh-CN" altLang="en-US" sz="1350">
                <a:latin typeface="Arial" panose="020B0604020202020204" pitchFamily="34" charset="0"/>
                <a:ea typeface="微软雅黑" panose="020B0503020204020204" pitchFamily="34" charset="-122"/>
                <a:sym typeface="Arial" panose="020B0604020202020204" pitchFamily="34" charset="0"/>
              </a:rPr>
              <a:t>细</a:t>
            </a:r>
            <a:r>
              <a:rPr lang="zh-CN" altLang="en-US" sz="1350" smtClean="0">
                <a:latin typeface="Arial" panose="020B0604020202020204" pitchFamily="34" charset="0"/>
                <a:ea typeface="微软雅黑" panose="020B0503020204020204" pitchFamily="34" charset="-122"/>
                <a:sym typeface="Arial" panose="020B0604020202020204" pitchFamily="34" charset="0"/>
              </a:rPr>
              <a:t>节</a:t>
            </a:r>
            <a:endParaRPr lang="en-US" altLang="zh-CN" sz="1350" dirty="0">
              <a:latin typeface="Arial" panose="020B0604020202020204" pitchFamily="34" charset="0"/>
              <a:ea typeface="微软雅黑" panose="020B0503020204020204" pitchFamily="34" charset="-122"/>
              <a:sym typeface="Arial" panose="020B0604020202020204" pitchFamily="34" charset="0"/>
            </a:endParaRPr>
          </a:p>
        </p:txBody>
      </p:sp>
      <p:pic>
        <p:nvPicPr>
          <p:cNvPr id="2" name="图片 1"/>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644008" y="2149958"/>
            <a:ext cx="3352807" cy="2990094"/>
          </a:xfrm>
          <a:prstGeom prst="rect">
            <a:avLst/>
          </a:prstGeom>
        </p:spPr>
      </p:pic>
    </p:spTree>
  </p:cSld>
  <p:clrMapOvr>
    <a:masterClrMapping/>
  </p:clrMapOvr>
  <p:transition spd="slow" advClick="0" advTm="0">
    <p:cove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txBox="1"/>
          <p:nvPr/>
        </p:nvSpPr>
        <p:spPr>
          <a:xfrm>
            <a:off x="857884" y="195109"/>
            <a:ext cx="3786124" cy="379730"/>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2000" b="1" dirty="0">
                <a:solidFill>
                  <a:schemeClr val="tx1"/>
                </a:solidFill>
                <a:latin typeface="Arial" panose="020B0604020202020204" pitchFamily="34" charset="0"/>
                <a:ea typeface="微软雅黑" panose="020B0503020204020204" pitchFamily="34" charset="-122"/>
                <a:sym typeface="Arial" panose="020B0604020202020204" pitchFamily="34" charset="0"/>
              </a:rPr>
              <a:t>前十大应付账款供应商排名表</a:t>
            </a:r>
          </a:p>
        </p:txBody>
      </p:sp>
      <p:graphicFrame>
        <p:nvGraphicFramePr>
          <p:cNvPr id="25" name="图表 24"/>
          <p:cNvGraphicFramePr/>
          <p:nvPr/>
        </p:nvGraphicFramePr>
        <p:xfrm>
          <a:off x="4211960" y="4149080"/>
          <a:ext cx="2592288" cy="2232248"/>
        </p:xfrm>
        <a:graphic>
          <a:graphicData uri="http://schemas.openxmlformats.org/drawingml/2006/chart">
            <c:chart xmlns:c="http://schemas.openxmlformats.org/drawingml/2006/chart" xmlns:r="http://schemas.openxmlformats.org/officeDocument/2006/relationships" r:id="rId3"/>
          </a:graphicData>
        </a:graphic>
      </p:graphicFrame>
      <p:sp>
        <p:nvSpPr>
          <p:cNvPr id="13" name="标题 1"/>
          <p:cNvSpPr txBox="1"/>
          <p:nvPr/>
        </p:nvSpPr>
        <p:spPr>
          <a:xfrm>
            <a:off x="1395028" y="1023578"/>
            <a:ext cx="2916324" cy="432048"/>
          </a:xfrm>
          <a:prstGeom prst="rect">
            <a:avLst/>
          </a:prstGeom>
        </p:spPr>
        <p:txBody>
          <a:bodyPr vert="horz" lIns="68580" tIns="34290" rIns="68580" bIns="34290" rtlCol="0" anchor="ctr">
            <a:noAutofit/>
          </a:bodyPr>
          <a:lstStyle/>
          <a:p>
            <a:pPr lvl="0">
              <a:spcBef>
                <a:spcPct val="0"/>
              </a:spcBef>
            </a:pPr>
            <a:r>
              <a:rPr lang="en-US" altLang="zh-CN" sz="900" dirty="0">
                <a:latin typeface="Arial" panose="020B0604020202020204" pitchFamily="34" charset="0"/>
                <a:ea typeface="微软雅黑" panose="020B0503020204020204" pitchFamily="34" charset="-122"/>
                <a:cs typeface="+mj-cs"/>
                <a:sym typeface="Arial" panose="020B0604020202020204" pitchFamily="34" charset="0"/>
              </a:rPr>
              <a:t>B</a:t>
            </a:r>
            <a:r>
              <a:rPr lang="zh-CN" altLang="en-US" sz="900" dirty="0">
                <a:latin typeface="Arial" panose="020B0604020202020204" pitchFamily="34" charset="0"/>
                <a:ea typeface="微软雅黑" panose="020B0503020204020204" pitchFamily="34" charset="-122"/>
                <a:cs typeface="+mj-cs"/>
                <a:sym typeface="Arial" panose="020B0604020202020204" pitchFamily="34" charset="0"/>
              </a:rPr>
              <a:t>、</a:t>
            </a:r>
            <a:r>
              <a:rPr lang="zh-CN" altLang="en-US" sz="900" b="1" dirty="0">
                <a:solidFill>
                  <a:schemeClr val="tx1">
                    <a:lumMod val="85000"/>
                    <a:lumOff val="15000"/>
                  </a:schemeClr>
                </a:solidFill>
                <a:latin typeface="Arial" panose="020B0604020202020204" pitchFamily="34" charset="0"/>
                <a:ea typeface="微软雅黑" panose="020B0503020204020204" pitchFamily="34" charset="-122"/>
                <a:cs typeface="+mj-cs"/>
                <a:sym typeface="Arial" panose="020B0604020202020204" pitchFamily="34" charset="0"/>
              </a:rPr>
              <a:t>暂估应付款</a:t>
            </a:r>
          </a:p>
        </p:txBody>
      </p:sp>
      <p:graphicFrame>
        <p:nvGraphicFramePr>
          <p:cNvPr id="14" name="表格 13"/>
          <p:cNvGraphicFramePr>
            <a:graphicFrameLocks noGrp="1"/>
          </p:cNvGraphicFramePr>
          <p:nvPr/>
        </p:nvGraphicFramePr>
        <p:xfrm>
          <a:off x="1449034" y="1347614"/>
          <a:ext cx="2808312" cy="3353886"/>
        </p:xfrm>
        <a:graphic>
          <a:graphicData uri="http://schemas.openxmlformats.org/drawingml/2006/table">
            <a:tbl>
              <a:tblPr firstRow="1" bandRow="1">
                <a:tableStyleId>{00A15C55-8517-42AA-B614-E9B94910E393}</a:tableStyleId>
              </a:tblPr>
              <a:tblGrid>
                <a:gridCol w="432048"/>
                <a:gridCol w="810090"/>
                <a:gridCol w="648072"/>
                <a:gridCol w="486054"/>
                <a:gridCol w="432048"/>
              </a:tblGrid>
              <a:tr h="324036">
                <a:tc>
                  <a:txBody>
                    <a:bodyPr/>
                    <a:lstStyle/>
                    <a:p>
                      <a:pPr marL="0" algn="ctr" defTabSz="914400" rtl="0" eaLnBrk="1" fontAlgn="ctr" latinLnBrk="0" hangingPunct="1"/>
                      <a:endParaRPr lang="en-US" altLang="zh-CN" sz="800" b="1" i="0" u="none" strike="noStrike" kern="1200" dirty="0">
                        <a:solidFill>
                          <a:schemeClr val="lt1"/>
                        </a:solidFill>
                        <a:latin typeface="Arial" panose="020B0604020202020204" pitchFamily="34" charset="0"/>
                        <a:ea typeface="微软雅黑" panose="020B0503020204020204" pitchFamily="34" charset="-122"/>
                        <a:cs typeface="+mn-cs"/>
                        <a:sym typeface="Arial" panose="020B0604020202020204" pitchFamily="34" charset="0"/>
                      </a:endParaRPr>
                    </a:p>
                    <a:p>
                      <a:pPr marL="0" algn="ctr" defTabSz="914400" rtl="0" eaLnBrk="1" fontAlgn="ctr" latinLnBrk="0" hangingPunct="1"/>
                      <a:r>
                        <a:rPr lang="zh-CN" altLang="en-US" sz="800" b="1" i="0" u="none" strike="noStrike" kern="1200" dirty="0">
                          <a:solidFill>
                            <a:schemeClr val="lt1"/>
                          </a:solidFill>
                          <a:latin typeface="Arial" panose="020B0604020202020204" pitchFamily="34" charset="0"/>
                          <a:ea typeface="微软雅黑" panose="020B0503020204020204" pitchFamily="34" charset="-122"/>
                          <a:cs typeface="+mn-cs"/>
                          <a:sym typeface="Arial" panose="020B0604020202020204" pitchFamily="34" charset="0"/>
                        </a:rPr>
                        <a:t>排名</a:t>
                      </a:r>
                    </a:p>
                  </a:txBody>
                  <a:tcPr marL="68580" marR="68580" marT="34290" marB="34290"/>
                </a:tc>
                <a:tc>
                  <a:txBody>
                    <a:bodyPr/>
                    <a:lstStyle/>
                    <a:p>
                      <a:pPr algn="ctr" fontAlgn="ctr"/>
                      <a:r>
                        <a:rPr lang="zh-CN" altLang="en-US" sz="800" b="1" i="0" u="none" strike="noStrike" dirty="0">
                          <a:latin typeface="Arial" panose="020B0604020202020204" pitchFamily="34" charset="0"/>
                          <a:ea typeface="微软雅黑" panose="020B0503020204020204" pitchFamily="34" charset="-122"/>
                          <a:sym typeface="Arial" panose="020B0604020202020204" pitchFamily="34" charset="0"/>
                        </a:rPr>
                        <a:t>客户名称</a:t>
                      </a:r>
                    </a:p>
                  </a:txBody>
                  <a:tcPr marL="0" marR="0" marT="0" marB="0" anchor="ctr"/>
                </a:tc>
                <a:tc>
                  <a:txBody>
                    <a:bodyPr/>
                    <a:lstStyle/>
                    <a:p>
                      <a:pPr algn="ctr" fontAlgn="ctr"/>
                      <a:r>
                        <a:rPr lang="zh-CN" altLang="en-US" sz="800" b="1" i="0" u="none" strike="noStrike" dirty="0">
                          <a:latin typeface="Arial" panose="020B0604020202020204" pitchFamily="34" charset="0"/>
                          <a:ea typeface="微软雅黑" panose="020B0503020204020204" pitchFamily="34" charset="-122"/>
                          <a:sym typeface="Arial" panose="020B0604020202020204" pitchFamily="34" charset="0"/>
                        </a:rPr>
                        <a:t>项目名称</a:t>
                      </a:r>
                    </a:p>
                  </a:txBody>
                  <a:tcPr marL="0" marR="0" marT="0" marB="0" anchor="ctr"/>
                </a:tc>
                <a:tc>
                  <a:txBody>
                    <a:bodyPr/>
                    <a:lstStyle/>
                    <a:p>
                      <a:pPr algn="ctr" fontAlgn="ctr"/>
                      <a:r>
                        <a:rPr lang="zh-CN" altLang="en-US" sz="800" b="1" i="0" u="none" strike="noStrike" dirty="0">
                          <a:latin typeface="Arial" panose="020B0604020202020204" pitchFamily="34" charset="0"/>
                          <a:ea typeface="微软雅黑" panose="020B0503020204020204" pitchFamily="34" charset="-122"/>
                          <a:sym typeface="Arial" panose="020B0604020202020204" pitchFamily="34" charset="0"/>
                        </a:rPr>
                        <a:t>余额</a:t>
                      </a:r>
                    </a:p>
                  </a:txBody>
                  <a:tcPr marL="0" marR="0" marT="0" marB="0" anchor="ctr"/>
                </a:tc>
                <a:tc>
                  <a:txBody>
                    <a:bodyPr/>
                    <a:lstStyle/>
                    <a:p>
                      <a:pPr algn="ctr" fontAlgn="ctr"/>
                      <a:r>
                        <a:rPr lang="zh-CN" altLang="en-US" sz="800" b="1" i="0" u="none" strike="noStrike" dirty="0">
                          <a:latin typeface="Arial" panose="020B0604020202020204" pitchFamily="34" charset="0"/>
                          <a:ea typeface="微软雅黑" panose="020B0503020204020204" pitchFamily="34" charset="-122"/>
                          <a:sym typeface="Arial" panose="020B0604020202020204" pitchFamily="34" charset="0"/>
                        </a:rPr>
                        <a:t>占比</a:t>
                      </a:r>
                    </a:p>
                  </a:txBody>
                  <a:tcPr marL="0" marR="0" marT="0" marB="0" anchor="ctr"/>
                </a:tc>
              </a:tr>
              <a:tr h="278130">
                <a:tc>
                  <a:txBody>
                    <a:bodyPr/>
                    <a:lstStyle/>
                    <a:p>
                      <a:pPr algn="ctr" fontAlgn="ctr"/>
                      <a:r>
                        <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rPr>
                        <a:t>1</a:t>
                      </a:r>
                    </a:p>
                  </a:txBody>
                  <a:tcPr marL="0" marR="0" marT="0" marB="0" anchor="ctr"/>
                </a:tc>
                <a:tc>
                  <a:txBody>
                    <a:bodyPr/>
                    <a:lstStyle/>
                    <a:p>
                      <a:pPr algn="ctr" fontAlgn="ctr"/>
                      <a:endParaRPr lang="zh-CN" altLang="en-US"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zh-CN" altLang="en-US"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r>
              <a:tr h="261930">
                <a:tc>
                  <a:txBody>
                    <a:bodyPr/>
                    <a:lstStyle/>
                    <a:p>
                      <a:pPr algn="ctr" fontAlgn="ctr"/>
                      <a:r>
                        <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rPr>
                        <a:t>2</a:t>
                      </a:r>
                    </a:p>
                  </a:txBody>
                  <a:tcPr marL="0" marR="0" marT="0" marB="0" anchor="ctr"/>
                </a:tc>
                <a:tc>
                  <a:txBody>
                    <a:bodyPr/>
                    <a:lstStyle/>
                    <a:p>
                      <a:pPr algn="ctr" fontAlgn="ctr"/>
                      <a:endParaRPr lang="zh-CN" altLang="en-US"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zh-CN" altLang="en-US" sz="800" b="0" i="0" u="none" strike="noStrike">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r>
              <a:tr h="270030">
                <a:tc>
                  <a:txBody>
                    <a:bodyPr/>
                    <a:lstStyle/>
                    <a:p>
                      <a:pPr algn="ctr" fontAlgn="ctr"/>
                      <a:r>
                        <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rPr>
                        <a:t>3</a:t>
                      </a:r>
                    </a:p>
                  </a:txBody>
                  <a:tcPr marL="0" marR="0" marT="0" marB="0" anchor="ctr"/>
                </a:tc>
                <a:tc>
                  <a:txBody>
                    <a:bodyPr/>
                    <a:lstStyle/>
                    <a:p>
                      <a:pPr algn="ctr" fontAlgn="ctr"/>
                      <a:endParaRPr lang="zh-CN" altLang="en-US"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zh-CN" altLang="en-US"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r>
              <a:tr h="278130">
                <a:tc>
                  <a:txBody>
                    <a:bodyPr/>
                    <a:lstStyle/>
                    <a:p>
                      <a:pPr algn="ctr" fontAlgn="ctr"/>
                      <a:r>
                        <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rPr>
                        <a:t>4</a:t>
                      </a:r>
                    </a:p>
                  </a:txBody>
                  <a:tcPr marL="0" marR="0" marT="0" marB="0" anchor="ctr"/>
                </a:tc>
                <a:tc>
                  <a:txBody>
                    <a:bodyPr/>
                    <a:lstStyle/>
                    <a:p>
                      <a:pPr algn="ctr" fontAlgn="ctr"/>
                      <a:endParaRPr lang="zh-CN" altLang="en-US"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zh-CN" altLang="en-US"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r>
              <a:tr h="278130">
                <a:tc>
                  <a:txBody>
                    <a:bodyPr/>
                    <a:lstStyle/>
                    <a:p>
                      <a:pPr algn="ctr" fontAlgn="ctr"/>
                      <a:r>
                        <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rPr>
                        <a:t>5</a:t>
                      </a:r>
                    </a:p>
                  </a:txBody>
                  <a:tcPr marL="0" marR="0" marT="0" marB="0" anchor="ctr"/>
                </a:tc>
                <a:tc>
                  <a:txBody>
                    <a:bodyPr/>
                    <a:lstStyle/>
                    <a:p>
                      <a:pPr algn="ctr" fontAlgn="ctr"/>
                      <a:endParaRPr lang="zh-CN" altLang="en-US"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zh-CN" altLang="en-US"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r>
              <a:tr h="278130">
                <a:tc>
                  <a:txBody>
                    <a:bodyPr/>
                    <a:lstStyle/>
                    <a:p>
                      <a:pPr algn="ctr" fontAlgn="ctr"/>
                      <a:r>
                        <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rPr>
                        <a:t>6</a:t>
                      </a:r>
                    </a:p>
                  </a:txBody>
                  <a:tcPr marL="0" marR="0" marT="0" marB="0" anchor="ctr"/>
                </a:tc>
                <a:tc>
                  <a:txBody>
                    <a:bodyPr/>
                    <a:lstStyle/>
                    <a:p>
                      <a:pPr algn="ctr" fontAlgn="ctr"/>
                      <a:endParaRPr lang="zh-CN" altLang="en-US"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zh-CN" altLang="en-US"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r>
              <a:tr h="278130">
                <a:tc>
                  <a:txBody>
                    <a:bodyPr/>
                    <a:lstStyle/>
                    <a:p>
                      <a:pPr algn="ctr" fontAlgn="ctr"/>
                      <a:r>
                        <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rPr>
                        <a:t>7</a:t>
                      </a:r>
                    </a:p>
                  </a:txBody>
                  <a:tcPr marL="0" marR="0" marT="0" marB="0" anchor="ctr"/>
                </a:tc>
                <a:tc>
                  <a:txBody>
                    <a:bodyPr/>
                    <a:lstStyle/>
                    <a:p>
                      <a:pPr algn="ctr" fontAlgn="ctr"/>
                      <a:endParaRPr lang="zh-CN" altLang="en-US" sz="800" b="0" i="0" u="none" strike="noStrike">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zh-CN" altLang="en-US"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r>
              <a:tr h="278130">
                <a:tc>
                  <a:txBody>
                    <a:bodyPr/>
                    <a:lstStyle/>
                    <a:p>
                      <a:pPr algn="ctr" fontAlgn="ctr"/>
                      <a:r>
                        <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rPr>
                        <a:t>8</a:t>
                      </a:r>
                    </a:p>
                  </a:txBody>
                  <a:tcPr marL="0" marR="0" marT="0" marB="0" anchor="ctr"/>
                </a:tc>
                <a:tc>
                  <a:txBody>
                    <a:bodyPr/>
                    <a:lstStyle/>
                    <a:p>
                      <a:pPr algn="ctr" fontAlgn="ctr"/>
                      <a:endParaRPr lang="zh-CN" altLang="en-US" sz="800" b="0" i="0" u="none" strike="noStrike">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zh-CN" altLang="en-US"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r>
              <a:tr h="278130">
                <a:tc>
                  <a:txBody>
                    <a:bodyPr/>
                    <a:lstStyle/>
                    <a:p>
                      <a:pPr algn="ctr" fontAlgn="ctr"/>
                      <a:r>
                        <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rPr>
                        <a:t>9</a:t>
                      </a:r>
                    </a:p>
                  </a:txBody>
                  <a:tcPr marL="0" marR="0" marT="0" marB="0" anchor="ctr"/>
                </a:tc>
                <a:tc>
                  <a:txBody>
                    <a:bodyPr/>
                    <a:lstStyle/>
                    <a:p>
                      <a:pPr algn="ctr" fontAlgn="ctr"/>
                      <a:endParaRPr lang="zh-CN" altLang="en-US" sz="800" b="0" i="0" u="none" strike="noStrike">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zh-CN" altLang="en-US"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r>
              <a:tr h="278130">
                <a:tc>
                  <a:txBody>
                    <a:bodyPr/>
                    <a:lstStyle/>
                    <a:p>
                      <a:pPr algn="ctr" fontAlgn="ctr"/>
                      <a:r>
                        <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rPr>
                        <a:t>10</a:t>
                      </a:r>
                    </a:p>
                  </a:txBody>
                  <a:tcPr marL="0" marR="0" marT="0" marB="0" anchor="ctr"/>
                </a:tc>
                <a:tc>
                  <a:txBody>
                    <a:bodyPr/>
                    <a:lstStyle/>
                    <a:p>
                      <a:pPr algn="ctr" fontAlgn="ctr"/>
                      <a:endParaRPr lang="zh-CN" altLang="en-US" sz="800" b="0" i="0" u="none" strike="noStrike">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zh-CN" altLang="en-US"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dirty="0">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r>
              <a:tr h="272850">
                <a:tc gridSpan="2">
                  <a:txBody>
                    <a:bodyPr/>
                    <a:lstStyle/>
                    <a:p>
                      <a:pPr marL="0" marR="0" indent="0" algn="ctr" defTabSz="914400" rtl="0" eaLnBrk="1" fontAlgn="ctr" latinLnBrk="0" hangingPunct="1">
                        <a:lnSpc>
                          <a:spcPct val="100000"/>
                        </a:lnSpc>
                        <a:spcBef>
                          <a:spcPts val="0"/>
                        </a:spcBef>
                        <a:spcAft>
                          <a:spcPts val="0"/>
                        </a:spcAft>
                        <a:buClrTx/>
                        <a:buSzTx/>
                        <a:buFontTx/>
                        <a:buNone/>
                        <a:defRPr/>
                      </a:pPr>
                      <a:r>
                        <a:rPr lang="zh-CN" altLang="en-US" sz="800" b="1" i="0" u="none" strike="noStrike" kern="1200" dirty="0">
                          <a:solidFill>
                            <a:schemeClr val="dk1"/>
                          </a:solidFill>
                          <a:latin typeface="Arial" panose="020B0604020202020204" pitchFamily="34" charset="0"/>
                          <a:ea typeface="微软雅黑" panose="020B0503020204020204" pitchFamily="34" charset="-122"/>
                          <a:cs typeface="+mn-cs"/>
                          <a:sym typeface="Arial" panose="020B0604020202020204" pitchFamily="34" charset="0"/>
                        </a:rPr>
                        <a:t>总计</a:t>
                      </a:r>
                    </a:p>
                  </a:txBody>
                  <a:tcPr marL="68580" marR="68580" marT="34290" marB="34290"/>
                </a:tc>
                <a:tc hMerge="1">
                  <a:txBody>
                    <a:bodyPr/>
                    <a:lstStyle/>
                    <a:p>
                      <a:endParaRPr lang="zh-CN"/>
                    </a:p>
                  </a:txBody>
                  <a:tcPr/>
                </a:tc>
                <a:tc>
                  <a:txBody>
                    <a:bodyPr/>
                    <a:lstStyle/>
                    <a:p>
                      <a:pPr marL="0" algn="ctr" defTabSz="914400" rtl="0" eaLnBrk="1" fontAlgn="ctr" latinLnBrk="0" hangingPunct="1"/>
                      <a:endParaRPr lang="zh-CN" altLang="en-US" sz="800" b="0" i="0" u="none" strike="noStrike" kern="1200" dirty="0">
                        <a:solidFill>
                          <a:schemeClr val="dk1"/>
                        </a:solidFill>
                        <a:latin typeface="Arial" panose="020B0604020202020204" pitchFamily="34" charset="0"/>
                        <a:ea typeface="微软雅黑" panose="020B0503020204020204" pitchFamily="34" charset="-122"/>
                        <a:cs typeface="+mn-cs"/>
                        <a:sym typeface="Arial" panose="020B0604020202020204" pitchFamily="34" charset="0"/>
                      </a:endParaRPr>
                    </a:p>
                  </a:txBody>
                  <a:tcPr marL="68580" marR="68580" marT="34290" marB="34290"/>
                </a:tc>
                <a:tc>
                  <a:txBody>
                    <a:bodyPr/>
                    <a:lstStyle/>
                    <a:p>
                      <a:pPr marL="0" algn="ctr" defTabSz="914400" rtl="0" eaLnBrk="1" fontAlgn="ctr" latinLnBrk="0" hangingPunct="1"/>
                      <a:endParaRPr lang="zh-CN" altLang="en-US" sz="800" u="none" strike="noStrike" kern="1200" dirty="0">
                        <a:solidFill>
                          <a:schemeClr val="dk1"/>
                        </a:solidFill>
                        <a:latin typeface="Arial" panose="020B0604020202020204" pitchFamily="34" charset="0"/>
                        <a:ea typeface="微软雅黑" panose="020B0503020204020204" pitchFamily="34" charset="-122"/>
                        <a:cs typeface="+mn-cs"/>
                        <a:sym typeface="Arial" panose="020B0604020202020204" pitchFamily="34" charset="0"/>
                      </a:endParaRPr>
                    </a:p>
                  </a:txBody>
                  <a:tcPr marL="68580" marR="68580" marT="34290" marB="34290"/>
                </a:tc>
                <a:tc>
                  <a:txBody>
                    <a:bodyPr/>
                    <a:lstStyle/>
                    <a:p>
                      <a:pPr marL="0" algn="ctr" defTabSz="914400" rtl="0" eaLnBrk="1" fontAlgn="ctr" latinLnBrk="0" hangingPunct="1"/>
                      <a:endParaRPr lang="zh-CN" altLang="en-US" sz="800" u="none" strike="noStrike" kern="1200" dirty="0">
                        <a:solidFill>
                          <a:schemeClr val="dk1"/>
                        </a:solidFill>
                        <a:latin typeface="Arial" panose="020B0604020202020204" pitchFamily="34" charset="0"/>
                        <a:ea typeface="微软雅黑" panose="020B0503020204020204" pitchFamily="34" charset="-122"/>
                        <a:cs typeface="+mn-cs"/>
                        <a:sym typeface="Arial" panose="020B0604020202020204" pitchFamily="34" charset="0"/>
                      </a:endParaRPr>
                    </a:p>
                  </a:txBody>
                  <a:tcPr marL="68580" marR="68580" marT="34290" marB="34290"/>
                </a:tc>
              </a:tr>
            </a:tbl>
          </a:graphicData>
        </a:graphic>
      </p:graphicFrame>
      <p:sp>
        <p:nvSpPr>
          <p:cNvPr id="15" name="矩形 14"/>
          <p:cNvSpPr/>
          <p:nvPr/>
        </p:nvSpPr>
        <p:spPr>
          <a:xfrm>
            <a:off x="5004048" y="1347614"/>
            <a:ext cx="2808312" cy="715581"/>
          </a:xfrm>
          <a:prstGeom prst="rect">
            <a:avLst/>
          </a:prstGeom>
        </p:spPr>
        <p:txBody>
          <a:bodyPr wrap="square">
            <a:spAutoFit/>
          </a:bodyPr>
          <a:lstStyle/>
          <a:p>
            <a:r>
              <a:rPr lang="zh-CN" altLang="en-US" sz="1350" dirty="0">
                <a:latin typeface="Arial" panose="020B0604020202020204" pitchFamily="34" charset="0"/>
                <a:ea typeface="微软雅黑" panose="020B0503020204020204" pitchFamily="34" charset="-122"/>
                <a:sym typeface="Arial" panose="020B0604020202020204" pitchFamily="34" charset="0"/>
              </a:rPr>
              <a:t>分析：</a:t>
            </a:r>
            <a:endParaRPr lang="en-US" altLang="zh-CN" sz="1350" dirty="0">
              <a:latin typeface="Arial" panose="020B0604020202020204" pitchFamily="34" charset="0"/>
              <a:ea typeface="微软雅黑" panose="020B0503020204020204" pitchFamily="34" charset="-122"/>
              <a:sym typeface="Arial" panose="020B0604020202020204" pitchFamily="34" charset="0"/>
            </a:endParaRPr>
          </a:p>
          <a:p>
            <a:r>
              <a:rPr lang="zh-CN" altLang="en-US" sz="1350" dirty="0">
                <a:latin typeface="Arial" panose="020B0604020202020204" pitchFamily="34" charset="0"/>
                <a:ea typeface="微软雅黑" panose="020B0503020204020204" pitchFamily="34" charset="-122"/>
                <a:sym typeface="Arial" panose="020B0604020202020204" pitchFamily="34" charset="0"/>
              </a:rPr>
              <a:t>单击输入对图表的具体描述细节</a:t>
            </a:r>
            <a:endParaRPr lang="en-US" altLang="zh-CN" sz="1350" dirty="0">
              <a:latin typeface="Arial" panose="020B0604020202020204" pitchFamily="34" charset="0"/>
              <a:ea typeface="微软雅黑" panose="020B0503020204020204" pitchFamily="34" charset="-122"/>
              <a:sym typeface="Arial" panose="020B0604020202020204" pitchFamily="34" charset="0"/>
            </a:endParaRPr>
          </a:p>
          <a:p>
            <a:endParaRPr lang="zh-CN" altLang="en-US" sz="1350" dirty="0">
              <a:latin typeface="Arial" panose="020B0604020202020204" pitchFamily="34" charset="0"/>
              <a:ea typeface="微软雅黑" panose="020B0503020204020204" pitchFamily="34" charset="-122"/>
              <a:sym typeface="Arial" panose="020B0604020202020204" pitchFamily="34" charset="0"/>
            </a:endParaRPr>
          </a:p>
        </p:txBody>
      </p:sp>
      <p:pic>
        <p:nvPicPr>
          <p:cNvPr id="8" name="图片 7"/>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644008" y="2149958"/>
            <a:ext cx="3352807" cy="2990094"/>
          </a:xfrm>
          <a:prstGeom prst="rect">
            <a:avLst/>
          </a:prstGeom>
        </p:spPr>
      </p:pic>
    </p:spTree>
  </p:cSld>
  <p:clrMapOvr>
    <a:masterClrMapping/>
  </p:clrMapOvr>
  <p:transition spd="slow" advClick="0" advTm="0">
    <p:cove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1146311"/>
            <a:ext cx="9144000" cy="1814777"/>
            <a:chOff x="0" y="1651830"/>
            <a:chExt cx="9144000" cy="1814777"/>
          </a:xfrm>
        </p:grpSpPr>
        <p:sp>
          <p:nvSpPr>
            <p:cNvPr id="44" name="等腰三角形 43"/>
            <p:cNvSpPr/>
            <p:nvPr/>
          </p:nvSpPr>
          <p:spPr>
            <a:xfrm>
              <a:off x="2469921" y="1651830"/>
              <a:ext cx="825385" cy="828242"/>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100">
                <a:latin typeface="Arial" panose="020B0604020202020204" pitchFamily="34" charset="0"/>
                <a:ea typeface="微软雅黑" panose="020B0503020204020204" pitchFamily="34" charset="-122"/>
                <a:sym typeface="Arial" panose="020B0604020202020204" pitchFamily="34" charset="0"/>
              </a:endParaRPr>
            </a:p>
          </p:txBody>
        </p:sp>
        <p:sp>
          <p:nvSpPr>
            <p:cNvPr id="45" name="等腰三角形 44"/>
            <p:cNvSpPr/>
            <p:nvPr/>
          </p:nvSpPr>
          <p:spPr>
            <a:xfrm flipV="1">
              <a:off x="68682" y="2638365"/>
              <a:ext cx="825385" cy="828242"/>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100">
                <a:latin typeface="Arial" panose="020B0604020202020204" pitchFamily="34" charset="0"/>
                <a:ea typeface="微软雅黑" panose="020B0503020204020204" pitchFamily="34" charset="-122"/>
                <a:sym typeface="Arial" panose="020B0604020202020204" pitchFamily="34" charset="0"/>
              </a:endParaRPr>
            </a:p>
          </p:txBody>
        </p:sp>
        <p:sp>
          <p:nvSpPr>
            <p:cNvPr id="46" name="矩形 45"/>
            <p:cNvSpPr/>
            <p:nvPr/>
          </p:nvSpPr>
          <p:spPr>
            <a:xfrm>
              <a:off x="0" y="1846479"/>
              <a:ext cx="9144000" cy="142173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100">
                <a:latin typeface="Arial" panose="020B0604020202020204" pitchFamily="34" charset="0"/>
                <a:ea typeface="微软雅黑" panose="020B0503020204020204" pitchFamily="34" charset="-122"/>
                <a:sym typeface="Arial" panose="020B0604020202020204" pitchFamily="34" charset="0"/>
              </a:endParaRPr>
            </a:p>
          </p:txBody>
        </p:sp>
        <p:sp>
          <p:nvSpPr>
            <p:cNvPr id="47" name="平行四边形 46"/>
            <p:cNvSpPr/>
            <p:nvPr/>
          </p:nvSpPr>
          <p:spPr>
            <a:xfrm>
              <a:off x="479202" y="1652469"/>
              <a:ext cx="2406979" cy="1809759"/>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100">
                <a:latin typeface="Arial" panose="020B0604020202020204" pitchFamily="34" charset="0"/>
                <a:ea typeface="微软雅黑" panose="020B0503020204020204" pitchFamily="34" charset="-122"/>
                <a:sym typeface="Arial" panose="020B0604020202020204" pitchFamily="34" charset="0"/>
              </a:endParaRPr>
            </a:p>
          </p:txBody>
        </p:sp>
      </p:grpSp>
      <p:sp>
        <p:nvSpPr>
          <p:cNvPr id="48" name="文本框 6"/>
          <p:cNvSpPr txBox="1"/>
          <p:nvPr/>
        </p:nvSpPr>
        <p:spPr>
          <a:xfrm>
            <a:off x="1115616" y="1393022"/>
            <a:ext cx="1322150" cy="1299210"/>
          </a:xfrm>
          <a:prstGeom prst="rect">
            <a:avLst/>
          </a:prstGeom>
          <a:noFill/>
        </p:spPr>
        <p:txBody>
          <a:bodyPr wrap="square" lIns="68580" tIns="34290" rIns="68580" bIns="34290" rtlCol="0">
            <a:spAutoFit/>
          </a:bodyPr>
          <a:lstStyle/>
          <a:p>
            <a:r>
              <a:rPr lang="en-US" altLang="zh-CN" sz="8000" dirty="0">
                <a:solidFill>
                  <a:schemeClr val="bg1">
                    <a:lumMod val="95000"/>
                  </a:schemeClr>
                </a:solidFill>
                <a:latin typeface="Arial" panose="020B0604020202020204" pitchFamily="34" charset="0"/>
                <a:ea typeface="微软雅黑" panose="020B0503020204020204" pitchFamily="34" charset="-122"/>
                <a:sym typeface="Arial" panose="020B0604020202020204" pitchFamily="34" charset="0"/>
              </a:rPr>
              <a:t>07</a:t>
            </a:r>
            <a:endParaRPr lang="zh-CN" altLang="en-US" sz="8000" dirty="0">
              <a:solidFill>
                <a:schemeClr val="bg1">
                  <a:lumMod val="9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49" name="TextBox 48"/>
          <p:cNvSpPr txBox="1"/>
          <p:nvPr/>
        </p:nvSpPr>
        <p:spPr>
          <a:xfrm>
            <a:off x="3313904" y="1785385"/>
            <a:ext cx="5050408" cy="561692"/>
          </a:xfrm>
          <a:prstGeom prst="rect">
            <a:avLst/>
          </a:prstGeom>
          <a:noFill/>
        </p:spPr>
        <p:txBody>
          <a:bodyPr wrap="square" lIns="68583" tIns="34290" rIns="68583" bIns="34290" rtlCol="0">
            <a:spAutoFit/>
          </a:bodyPr>
          <a:lstStyle/>
          <a:p>
            <a:r>
              <a:rPr lang="zh-CN" altLang="en-US" sz="3200" b="1"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税费分析</a:t>
            </a:r>
          </a:p>
        </p:txBody>
      </p:sp>
      <p:grpSp>
        <p:nvGrpSpPr>
          <p:cNvPr id="7" name="PA-组合 6"/>
          <p:cNvGrpSpPr/>
          <p:nvPr>
            <p:custDataLst>
              <p:tags r:id="rId1"/>
            </p:custDataLst>
          </p:nvPr>
        </p:nvGrpSpPr>
        <p:grpSpPr>
          <a:xfrm>
            <a:off x="5940152" y="769301"/>
            <a:ext cx="432048" cy="432834"/>
            <a:chOff x="6084168" y="1274820"/>
            <a:chExt cx="432048" cy="432834"/>
          </a:xfrm>
        </p:grpSpPr>
        <p:sp>
          <p:nvSpPr>
            <p:cNvPr id="14" name="PA-椭圆 22"/>
            <p:cNvSpPr>
              <a:spLocks noChangeArrowheads="1"/>
            </p:cNvSpPr>
            <p:nvPr>
              <p:custDataLst>
                <p:tags r:id="rId14"/>
              </p:custDataLst>
            </p:nvPr>
          </p:nvSpPr>
          <p:spPr bwMode="auto">
            <a:xfrm>
              <a:off x="6084168" y="1274820"/>
              <a:ext cx="432048" cy="432834"/>
            </a:xfrm>
            <a:prstGeom prst="ellipse">
              <a:avLst/>
            </a:prstGeom>
            <a:solidFill>
              <a:schemeClr val="accent1"/>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00">
                <a:solidFill>
                  <a:srgbClr val="FFFFFF"/>
                </a:solidFill>
                <a:ea typeface="微软雅黑" panose="020B0503020204020204" pitchFamily="34" charset="-122"/>
                <a:sym typeface="Arial" panose="020B0604020202020204" pitchFamily="34" charset="0"/>
              </a:endParaRPr>
            </a:p>
          </p:txBody>
        </p:sp>
        <p:sp>
          <p:nvSpPr>
            <p:cNvPr id="19" name="PA-任意多边形 59"/>
            <p:cNvSpPr>
              <a:spLocks noChangeArrowheads="1"/>
            </p:cNvSpPr>
            <p:nvPr>
              <p:custDataLst>
                <p:tags r:id="rId15"/>
              </p:custDataLst>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sz="100">
                <a:latin typeface="Arial" panose="020B0604020202020204" pitchFamily="34" charset="0"/>
                <a:ea typeface="微软雅黑" panose="020B0503020204020204" pitchFamily="34" charset="-122"/>
                <a:sym typeface="Arial" panose="020B0604020202020204" pitchFamily="34" charset="0"/>
              </a:endParaRPr>
            </a:p>
          </p:txBody>
        </p:sp>
      </p:grpSp>
      <p:grpSp>
        <p:nvGrpSpPr>
          <p:cNvPr id="6" name="PA-组合 5"/>
          <p:cNvGrpSpPr/>
          <p:nvPr>
            <p:custDataLst>
              <p:tags r:id="rId2"/>
            </p:custDataLst>
          </p:nvPr>
        </p:nvGrpSpPr>
        <p:grpSpPr>
          <a:xfrm>
            <a:off x="4644008" y="769694"/>
            <a:ext cx="432048" cy="432048"/>
            <a:chOff x="4788024" y="1275213"/>
            <a:chExt cx="432048" cy="432048"/>
          </a:xfrm>
        </p:grpSpPr>
        <p:sp>
          <p:nvSpPr>
            <p:cNvPr id="17" name="PA-椭圆 65"/>
            <p:cNvSpPr>
              <a:spLocks noChangeArrowheads="1"/>
            </p:cNvSpPr>
            <p:nvPr>
              <p:custDataLst>
                <p:tags r:id="rId12"/>
              </p:custDataLst>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00">
                <a:solidFill>
                  <a:srgbClr val="FFFFFF"/>
                </a:solidFill>
                <a:ea typeface="微软雅黑" panose="020B0503020204020204" pitchFamily="34" charset="-122"/>
                <a:sym typeface="Arial" panose="020B0604020202020204" pitchFamily="34" charset="0"/>
              </a:endParaRPr>
            </a:p>
          </p:txBody>
        </p:sp>
        <p:sp>
          <p:nvSpPr>
            <p:cNvPr id="20" name="PA-任意多边形 110"/>
            <p:cNvSpPr>
              <a:spLocks noChangeArrowheads="1"/>
            </p:cNvSpPr>
            <p:nvPr>
              <p:custDataLst>
                <p:tags r:id="rId13"/>
              </p:custDataLst>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sz="100">
                <a:latin typeface="Arial" panose="020B0604020202020204" pitchFamily="34" charset="0"/>
                <a:ea typeface="微软雅黑" panose="020B0503020204020204" pitchFamily="34" charset="-122"/>
                <a:sym typeface="Arial" panose="020B0604020202020204" pitchFamily="34" charset="0"/>
              </a:endParaRPr>
            </a:p>
          </p:txBody>
        </p:sp>
      </p:grpSp>
      <p:grpSp>
        <p:nvGrpSpPr>
          <p:cNvPr id="9" name="PA-组合 8"/>
          <p:cNvGrpSpPr/>
          <p:nvPr>
            <p:custDataLst>
              <p:tags r:id="rId3"/>
            </p:custDataLst>
          </p:nvPr>
        </p:nvGrpSpPr>
        <p:grpSpPr>
          <a:xfrm>
            <a:off x="5292080" y="769301"/>
            <a:ext cx="432833" cy="432834"/>
            <a:chOff x="5436096" y="1274820"/>
            <a:chExt cx="432833" cy="432834"/>
          </a:xfrm>
        </p:grpSpPr>
        <p:sp>
          <p:nvSpPr>
            <p:cNvPr id="25" name="PA-椭圆 16"/>
            <p:cNvSpPr>
              <a:spLocks noChangeArrowheads="1"/>
            </p:cNvSpPr>
            <p:nvPr>
              <p:custDataLst>
                <p:tags r:id="rId10"/>
              </p:custDataLst>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00">
                <a:solidFill>
                  <a:srgbClr val="FFFFFF"/>
                </a:solidFill>
                <a:ea typeface="微软雅黑" panose="020B0503020204020204" pitchFamily="34" charset="-122"/>
                <a:sym typeface="Arial" panose="020B0604020202020204" pitchFamily="34" charset="0"/>
              </a:endParaRPr>
            </a:p>
          </p:txBody>
        </p:sp>
        <p:sp>
          <p:nvSpPr>
            <p:cNvPr id="21" name="PA-任意多边形 16"/>
            <p:cNvSpPr>
              <a:spLocks noChangeArrowheads="1"/>
            </p:cNvSpPr>
            <p:nvPr>
              <p:custDataLst>
                <p:tags r:id="rId11"/>
              </p:custDataLst>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sz="100">
                <a:latin typeface="Arial" panose="020B0604020202020204" pitchFamily="34" charset="0"/>
                <a:ea typeface="微软雅黑" panose="020B0503020204020204" pitchFamily="34" charset="-122"/>
                <a:sym typeface="Arial" panose="020B0604020202020204" pitchFamily="34" charset="0"/>
              </a:endParaRPr>
            </a:p>
          </p:txBody>
        </p:sp>
      </p:grpSp>
      <p:grpSp>
        <p:nvGrpSpPr>
          <p:cNvPr id="4" name="PA-组合 3"/>
          <p:cNvGrpSpPr/>
          <p:nvPr>
            <p:custDataLst>
              <p:tags r:id="rId4"/>
            </p:custDataLst>
          </p:nvPr>
        </p:nvGrpSpPr>
        <p:grpSpPr>
          <a:xfrm>
            <a:off x="3347864" y="769301"/>
            <a:ext cx="432833" cy="432834"/>
            <a:chOff x="3491880" y="1274820"/>
            <a:chExt cx="432833" cy="432834"/>
          </a:xfrm>
        </p:grpSpPr>
        <p:sp>
          <p:nvSpPr>
            <p:cNvPr id="11" name="PA-椭圆 16"/>
            <p:cNvSpPr>
              <a:spLocks noChangeArrowheads="1"/>
            </p:cNvSpPr>
            <p:nvPr>
              <p:custDataLst>
                <p:tags r:id="rId8"/>
              </p:custDataLst>
            </p:nvPr>
          </p:nvSpPr>
          <p:spPr bwMode="auto">
            <a:xfrm>
              <a:off x="3491880" y="1274820"/>
              <a:ext cx="432833" cy="432834"/>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00">
                <a:solidFill>
                  <a:srgbClr val="FFFFFF"/>
                </a:solidFill>
                <a:ea typeface="微软雅黑" panose="020B0503020204020204" pitchFamily="34" charset="-122"/>
                <a:sym typeface="Arial" panose="020B0604020202020204" pitchFamily="34" charset="0"/>
              </a:endParaRPr>
            </a:p>
          </p:txBody>
        </p:sp>
        <p:sp>
          <p:nvSpPr>
            <p:cNvPr id="22" name="PA-任意多边形 75"/>
            <p:cNvSpPr>
              <a:spLocks noChangeArrowheads="1"/>
            </p:cNvSpPr>
            <p:nvPr>
              <p:custDataLst>
                <p:tags r:id="rId9"/>
              </p:custDataLst>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sz="100">
                <a:latin typeface="Arial" panose="020B0604020202020204" pitchFamily="34" charset="0"/>
                <a:ea typeface="微软雅黑" panose="020B0503020204020204" pitchFamily="34" charset="-122"/>
                <a:sym typeface="Arial" panose="020B0604020202020204" pitchFamily="34" charset="0"/>
              </a:endParaRPr>
            </a:p>
          </p:txBody>
        </p:sp>
      </p:grpSp>
      <p:grpSp>
        <p:nvGrpSpPr>
          <p:cNvPr id="5" name="PA-组合 4"/>
          <p:cNvGrpSpPr/>
          <p:nvPr>
            <p:custDataLst>
              <p:tags r:id="rId5"/>
            </p:custDataLst>
          </p:nvPr>
        </p:nvGrpSpPr>
        <p:grpSpPr>
          <a:xfrm>
            <a:off x="3995936" y="769301"/>
            <a:ext cx="432833" cy="432834"/>
            <a:chOff x="4139952" y="1274820"/>
            <a:chExt cx="432833" cy="432834"/>
          </a:xfrm>
        </p:grpSpPr>
        <p:sp>
          <p:nvSpPr>
            <p:cNvPr id="24" name="PA-椭圆 16"/>
            <p:cNvSpPr>
              <a:spLocks noChangeArrowheads="1"/>
            </p:cNvSpPr>
            <p:nvPr>
              <p:custDataLst>
                <p:tags r:id="rId6"/>
              </p:custDataLst>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00">
                <a:solidFill>
                  <a:srgbClr val="FFFFFF"/>
                </a:solidFill>
                <a:ea typeface="微软雅黑" panose="020B0503020204020204" pitchFamily="34" charset="-122"/>
                <a:sym typeface="Arial" panose="020B0604020202020204" pitchFamily="34" charset="0"/>
              </a:endParaRPr>
            </a:p>
          </p:txBody>
        </p:sp>
        <p:sp>
          <p:nvSpPr>
            <p:cNvPr id="23" name="PA-任意多边形 84"/>
            <p:cNvSpPr>
              <a:spLocks noChangeArrowheads="1"/>
            </p:cNvSpPr>
            <p:nvPr>
              <p:custDataLst>
                <p:tags r:id="rId7"/>
              </p:custDataLst>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sz="100">
                <a:latin typeface="Arial" panose="020B0604020202020204" pitchFamily="34" charset="0"/>
                <a:ea typeface="微软雅黑" panose="020B0503020204020204" pitchFamily="34" charset="-122"/>
                <a:sym typeface="Arial" panose="020B0604020202020204" pitchFamily="34" charset="0"/>
              </a:endParaRPr>
            </a:p>
          </p:txBody>
        </p:sp>
      </p:grpSp>
      <p:pic>
        <p:nvPicPr>
          <p:cNvPr id="26" name="图片 25"/>
          <p:cNvPicPr>
            <a:picLocks noChangeAspect="1"/>
          </p:cNvPicPr>
          <p:nvPr/>
        </p:nvPicPr>
        <p:blipFill>
          <a:blip r:embed="rId18" cstate="print">
            <a:extLst>
              <a:ext uri="{28A0092B-C50C-407E-A947-70E740481C1C}">
                <a14:useLocalDpi xmlns:a14="http://schemas.microsoft.com/office/drawing/2010/main"/>
              </a:ext>
            </a:extLst>
          </a:blip>
          <a:stretch>
            <a:fillRect/>
          </a:stretch>
        </p:blipFill>
        <p:spPr>
          <a:xfrm>
            <a:off x="3500410" y="2958806"/>
            <a:ext cx="2493351" cy="2041201"/>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advTm="0">
        <p15:prstTrans prst="airplane" invX="1"/>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2" presetClass="entr" presetSubtype="0" fill="hold" grpId="0" nodeType="afterEffect">
                                  <p:stCondLst>
                                    <p:cond delay="0"/>
                                  </p:stCondLst>
                                  <p:childTnLst>
                                    <p:set>
                                      <p:cBhvr>
                                        <p:cTn id="11" dur="1" fill="hold">
                                          <p:stCondLst>
                                            <p:cond delay="0"/>
                                          </p:stCondLst>
                                        </p:cTn>
                                        <p:tgtEl>
                                          <p:spTgt spid="48"/>
                                        </p:tgtEl>
                                        <p:attrNameLst>
                                          <p:attrName>style.visibility</p:attrName>
                                        </p:attrNameLst>
                                      </p:cBhvr>
                                      <p:to>
                                        <p:strVal val="visible"/>
                                      </p:to>
                                    </p:set>
                                    <p:animEffect transition="in" filter="fade">
                                      <p:cBhvr>
                                        <p:cTn id="12" dur="1000"/>
                                        <p:tgtEl>
                                          <p:spTgt spid="48"/>
                                        </p:tgtEl>
                                      </p:cBhvr>
                                    </p:animEffect>
                                    <p:anim calcmode="lin" valueType="num">
                                      <p:cBhvr>
                                        <p:cTn id="13" dur="1000" fill="hold"/>
                                        <p:tgtEl>
                                          <p:spTgt spid="48"/>
                                        </p:tgtEl>
                                        <p:attrNameLst>
                                          <p:attrName>ppt_x</p:attrName>
                                        </p:attrNameLst>
                                      </p:cBhvr>
                                      <p:tavLst>
                                        <p:tav tm="0">
                                          <p:val>
                                            <p:strVal val="#ppt_x"/>
                                          </p:val>
                                        </p:tav>
                                        <p:tav tm="100000">
                                          <p:val>
                                            <p:strVal val="#ppt_x"/>
                                          </p:val>
                                        </p:tav>
                                      </p:tavLst>
                                    </p:anim>
                                    <p:anim calcmode="lin" valueType="num">
                                      <p:cBhvr>
                                        <p:cTn id="14" dur="1000" fill="hold"/>
                                        <p:tgtEl>
                                          <p:spTgt spid="48"/>
                                        </p:tgtEl>
                                        <p:attrNameLst>
                                          <p:attrName>ppt_y</p:attrName>
                                        </p:attrNameLst>
                                      </p:cBhvr>
                                      <p:tavLst>
                                        <p:tav tm="0">
                                          <p:val>
                                            <p:strVal val="#ppt_y+.1"/>
                                          </p:val>
                                        </p:tav>
                                        <p:tav tm="100000">
                                          <p:val>
                                            <p:strVal val="#ppt_y"/>
                                          </p:val>
                                        </p:tav>
                                      </p:tavLst>
                                    </p:anim>
                                  </p:childTnLst>
                                </p:cTn>
                              </p:par>
                            </p:childTnLst>
                          </p:cTn>
                        </p:par>
                        <p:par>
                          <p:cTn id="15" fill="hold">
                            <p:stCondLst>
                              <p:cond delay="1500"/>
                            </p:stCondLst>
                            <p:childTnLst>
                              <p:par>
                                <p:cTn id="16" presetID="41" presetClass="entr" presetSubtype="0" fill="hold" grpId="0" nodeType="afterEffect">
                                  <p:stCondLst>
                                    <p:cond delay="0"/>
                                  </p:stCondLst>
                                  <p:iterate type="lt">
                                    <p:tmPct val="10000"/>
                                  </p:iterate>
                                  <p:childTnLst>
                                    <p:set>
                                      <p:cBhvr>
                                        <p:cTn id="17" dur="1" fill="hold">
                                          <p:stCondLst>
                                            <p:cond delay="0"/>
                                          </p:stCondLst>
                                        </p:cTn>
                                        <p:tgtEl>
                                          <p:spTgt spid="49"/>
                                        </p:tgtEl>
                                        <p:attrNameLst>
                                          <p:attrName>style.visibility</p:attrName>
                                        </p:attrNameLst>
                                      </p:cBhvr>
                                      <p:to>
                                        <p:strVal val="visible"/>
                                      </p:to>
                                    </p:set>
                                    <p:anim calcmode="lin" valueType="num">
                                      <p:cBhvr>
                                        <p:cTn id="18" dur="500" fill="hold"/>
                                        <p:tgtEl>
                                          <p:spTgt spid="49"/>
                                        </p:tgtEl>
                                        <p:attrNameLst>
                                          <p:attrName>ppt_x</p:attrName>
                                        </p:attrNameLst>
                                      </p:cBhvr>
                                      <p:tavLst>
                                        <p:tav tm="0">
                                          <p:val>
                                            <p:strVal val="#ppt_x"/>
                                          </p:val>
                                        </p:tav>
                                        <p:tav tm="50000">
                                          <p:val>
                                            <p:strVal val="#ppt_x+.1"/>
                                          </p:val>
                                        </p:tav>
                                        <p:tav tm="100000">
                                          <p:val>
                                            <p:strVal val="#ppt_x"/>
                                          </p:val>
                                        </p:tav>
                                      </p:tavLst>
                                    </p:anim>
                                    <p:anim calcmode="lin" valueType="num">
                                      <p:cBhvr>
                                        <p:cTn id="19" dur="500" fill="hold"/>
                                        <p:tgtEl>
                                          <p:spTgt spid="49"/>
                                        </p:tgtEl>
                                        <p:attrNameLst>
                                          <p:attrName>ppt_y</p:attrName>
                                        </p:attrNameLst>
                                      </p:cBhvr>
                                      <p:tavLst>
                                        <p:tav tm="0">
                                          <p:val>
                                            <p:strVal val="#ppt_y"/>
                                          </p:val>
                                        </p:tav>
                                        <p:tav tm="100000">
                                          <p:val>
                                            <p:strVal val="#ppt_y"/>
                                          </p:val>
                                        </p:tav>
                                      </p:tavLst>
                                    </p:anim>
                                    <p:anim calcmode="lin" valueType="num">
                                      <p:cBhvr>
                                        <p:cTn id="20" dur="500" fill="hold"/>
                                        <p:tgtEl>
                                          <p:spTgt spid="49"/>
                                        </p:tgtEl>
                                        <p:attrNameLst>
                                          <p:attrName>ppt_h</p:attrName>
                                        </p:attrNameLst>
                                      </p:cBhvr>
                                      <p:tavLst>
                                        <p:tav tm="0">
                                          <p:val>
                                            <p:strVal val="#ppt_h/10"/>
                                          </p:val>
                                        </p:tav>
                                        <p:tav tm="50000">
                                          <p:val>
                                            <p:strVal val="#ppt_h+.01"/>
                                          </p:val>
                                        </p:tav>
                                        <p:tav tm="100000">
                                          <p:val>
                                            <p:strVal val="#ppt_h"/>
                                          </p:val>
                                        </p:tav>
                                      </p:tavLst>
                                    </p:anim>
                                    <p:anim calcmode="lin" valueType="num">
                                      <p:cBhvr>
                                        <p:cTn id="21" dur="500" fill="hold"/>
                                        <p:tgtEl>
                                          <p:spTgt spid="49"/>
                                        </p:tgtEl>
                                        <p:attrNameLst>
                                          <p:attrName>ppt_w</p:attrName>
                                        </p:attrNameLst>
                                      </p:cBhvr>
                                      <p:tavLst>
                                        <p:tav tm="0">
                                          <p:val>
                                            <p:strVal val="#ppt_w/10"/>
                                          </p:val>
                                        </p:tav>
                                        <p:tav tm="50000">
                                          <p:val>
                                            <p:strVal val="#ppt_w+.01"/>
                                          </p:val>
                                        </p:tav>
                                        <p:tav tm="100000">
                                          <p:val>
                                            <p:strVal val="#ppt_w"/>
                                          </p:val>
                                        </p:tav>
                                      </p:tavLst>
                                    </p:anim>
                                    <p:animEffect transition="in" filter="fade">
                                      <p:cBhvr>
                                        <p:cTn id="22" dur="500" tmFilter="0,0; .5, 1; 1, 1"/>
                                        <p:tgtEl>
                                          <p:spTgt spid="49"/>
                                        </p:tgtEl>
                                      </p:cBhvr>
                                    </p:animEffect>
                                  </p:childTnLst>
                                </p:cTn>
                              </p:par>
                            </p:childTnLst>
                          </p:cTn>
                        </p:par>
                        <p:par>
                          <p:cTn id="23" fill="hold">
                            <p:stCondLst>
                              <p:cond delay="1649"/>
                            </p:stCondLst>
                            <p:childTnLst>
                              <p:par>
                                <p:cTn id="24" presetID="0" presetClass="entr" presetSubtype="0" decel="50000" fill="hold" nodeType="afterEffect">
                                  <p:stCondLst>
                                    <p:cond delay="0"/>
                                  </p:stCondLst>
                                  <p:childTnLst>
                                    <p:set>
                                      <p:cBhvr>
                                        <p:cTn id="25" dur="750" fill="hold">
                                          <p:stCondLst>
                                            <p:cond delay="0"/>
                                          </p:stCondLst>
                                        </p:cTn>
                                        <p:tgtEl>
                                          <p:spTgt spid="7"/>
                                        </p:tgtEl>
                                        <p:attrNameLst>
                                          <p:attrName>style.visibility</p:attrName>
                                        </p:attrNameLst>
                                      </p:cBhvr>
                                      <p:to>
                                        <p:strVal val="visible"/>
                                      </p:to>
                                    </p:set>
                                    <p:animScale>
                                      <p:cBhvr>
                                        <p:cTn id="26" dur="225" decel="50000" fill="hold">
                                          <p:stCondLst>
                                            <p:cond delay="0"/>
                                          </p:stCondLst>
                                        </p:cTn>
                                        <p:tgtEl>
                                          <p:spTgt spid="7"/>
                                        </p:tgtEl>
                                      </p:cBhvr>
                                      <p:from x="150000" y="150000"/>
                                      <p:to x="50000" y="50000"/>
                                    </p:animScale>
                                    <p:anim to="" calcmode="lin" valueType="num">
                                      <p:cBhvr>
                                        <p:cTn id="27" dur="225" decel="50000" fill="hold">
                                          <p:stCondLst>
                                            <p:cond delay="0"/>
                                          </p:stCondLst>
                                        </p:cTn>
                                        <p:tgtEl>
                                          <p:spTgt spid="7"/>
                                        </p:tgtEl>
                                        <p:attrNameLst>
                                          <p:attrName>ppt_x</p:attrName>
                                        </p:attrNameLst>
                                      </p:cBhvr>
                                      <p:tavLst>
                                        <p:tav tm="0">
                                          <p:val>
                                            <p:strVal val="#ppt_x-0.05"/>
                                          </p:val>
                                        </p:tav>
                                        <p:tav tm="100000">
                                          <p:val>
                                            <p:strVal val="#ppt_x+0.02"/>
                                          </p:val>
                                        </p:tav>
                                      </p:tavLst>
                                    </p:anim>
                                    <p:animScale>
                                      <p:cBhvr>
                                        <p:cTn id="28" dur="375" accel="50000" fill="hold">
                                          <p:stCondLst>
                                            <p:cond delay="225"/>
                                          </p:stCondLst>
                                        </p:cTn>
                                        <p:tgtEl>
                                          <p:spTgt spid="7"/>
                                        </p:tgtEl>
                                      </p:cBhvr>
                                      <p:from x="50000" y="50000"/>
                                      <p:to x="100000" y="100000"/>
                                    </p:animScale>
                                    <p:anim to="" calcmode="lin" valueType="num">
                                      <p:cBhvr>
                                        <p:cTn id="29" dur="375" accel="50000" fill="hold">
                                          <p:stCondLst>
                                            <p:cond delay="225"/>
                                          </p:stCondLst>
                                        </p:cTn>
                                        <p:tgtEl>
                                          <p:spTgt spid="7"/>
                                        </p:tgtEl>
                                        <p:attrNameLst>
                                          <p:attrName>ppt_x</p:attrName>
                                        </p:attrNameLst>
                                      </p:cBhvr>
                                      <p:tavLst>
                                        <p:tav tm="0">
                                          <p:val>
                                            <p:strVal val="ppt_x"/>
                                          </p:val>
                                        </p:tav>
                                        <p:tav tm="100000">
                                          <p:val>
                                            <p:strVal val="#ppt_x"/>
                                          </p:val>
                                        </p:tav>
                                      </p:tavLst>
                                    </p:anim>
                                    <p:anim to="" calcmode="lin" valueType="num">
                                      <p:cBhvr>
                                        <p:cTn id="30" dur="225" decel="50000" fill="hold">
                                          <p:stCondLst>
                                            <p:cond delay="0"/>
                                          </p:stCondLst>
                                        </p:cTn>
                                        <p:tgtEl>
                                          <p:spTgt spid="7"/>
                                        </p:tgtEl>
                                        <p:attrNameLst>
                                          <p:attrName>ppt_y</p:attrName>
                                        </p:attrNameLst>
                                      </p:cBhvr>
                                      <p:tavLst>
                                        <p:tav tm="0">
                                          <p:val>
                                            <p:strVal val="#ppt_y-0.05"/>
                                          </p:val>
                                        </p:tav>
                                        <p:tav tm="100000">
                                          <p:val>
                                            <p:strVal val="#ppt_y+0.05"/>
                                          </p:val>
                                        </p:tav>
                                      </p:tavLst>
                                    </p:anim>
                                    <p:anim to="" calcmode="lin" valueType="num">
                                      <p:cBhvr>
                                        <p:cTn id="31" dur="375" accel="50000" fill="hold">
                                          <p:stCondLst>
                                            <p:cond delay="225"/>
                                          </p:stCondLst>
                                        </p:cTn>
                                        <p:tgtEl>
                                          <p:spTgt spid="7"/>
                                        </p:tgtEl>
                                        <p:attrNameLst>
                                          <p:attrName>ppt_y</p:attrName>
                                        </p:attrNameLst>
                                      </p:cBhvr>
                                      <p:tavLst>
                                        <p:tav tm="0">
                                          <p:val>
                                            <p:strVal val="ppt_y"/>
                                          </p:val>
                                        </p:tav>
                                        <p:tav tm="100000">
                                          <p:val>
                                            <p:strVal val="#ppt_y"/>
                                          </p:val>
                                        </p:tav>
                                      </p:tavLst>
                                    </p:anim>
                                    <p:animRot by="21600000">
                                      <p:cBhvr>
                                        <p:cTn id="32" dur="750" decel="50000" fill="hold">
                                          <p:stCondLst>
                                            <p:cond delay="0"/>
                                          </p:stCondLst>
                                        </p:cTn>
                                        <p:tgtEl>
                                          <p:spTgt spid="7"/>
                                        </p:tgtEl>
                                        <p:attrNameLst>
                                          <p:attrName>r</p:attrName>
                                        </p:attrNameLst>
                                      </p:cBhvr>
                                    </p:animRot>
                                    <p:animRot by="21600000">
                                      <p:cBhvr>
                                        <p:cTn id="33" dur="375" accel="50000" fill="hold">
                                          <p:stCondLst>
                                            <p:cond delay="225"/>
                                          </p:stCondLst>
                                        </p:cTn>
                                        <p:tgtEl>
                                          <p:spTgt spid="7"/>
                                        </p:tgtEl>
                                        <p:attrNameLst>
                                          <p:attrName>r</p:attrName>
                                        </p:attrNameLst>
                                      </p:cBhvr>
                                    </p:animRot>
                                    <p:animEffect filter="fade">
                                      <p:cBhvr>
                                        <p:cTn id="34" dur="225">
                                          <p:stCondLst>
                                            <p:cond delay="0"/>
                                          </p:stCondLst>
                                        </p:cTn>
                                        <p:tgtEl>
                                          <p:spTgt spid="7"/>
                                        </p:tgtEl>
                                      </p:cBhvr>
                                    </p:animEffect>
                                  </p:childTnLst>
                                </p:cTn>
                              </p:par>
                              <p:par>
                                <p:cTn id="35" presetID="0" presetClass="entr" presetSubtype="0" decel="50000" fill="hold" nodeType="withEffect">
                                  <p:stCondLst>
                                    <p:cond delay="0"/>
                                  </p:stCondLst>
                                  <p:childTnLst>
                                    <p:set>
                                      <p:cBhvr>
                                        <p:cTn id="36" dur="750" fill="hold">
                                          <p:stCondLst>
                                            <p:cond delay="0"/>
                                          </p:stCondLst>
                                        </p:cTn>
                                        <p:tgtEl>
                                          <p:spTgt spid="6"/>
                                        </p:tgtEl>
                                        <p:attrNameLst>
                                          <p:attrName>style.visibility</p:attrName>
                                        </p:attrNameLst>
                                      </p:cBhvr>
                                      <p:to>
                                        <p:strVal val="visible"/>
                                      </p:to>
                                    </p:set>
                                    <p:animScale>
                                      <p:cBhvr>
                                        <p:cTn id="37" dur="225" decel="50000" fill="hold">
                                          <p:stCondLst>
                                            <p:cond delay="0"/>
                                          </p:stCondLst>
                                        </p:cTn>
                                        <p:tgtEl>
                                          <p:spTgt spid="6"/>
                                        </p:tgtEl>
                                      </p:cBhvr>
                                      <p:from x="150000" y="150000"/>
                                      <p:to x="50000" y="50000"/>
                                    </p:animScale>
                                    <p:anim to="" calcmode="lin" valueType="num">
                                      <p:cBhvr>
                                        <p:cTn id="38" dur="225" decel="50000" fill="hold">
                                          <p:stCondLst>
                                            <p:cond delay="0"/>
                                          </p:stCondLst>
                                        </p:cTn>
                                        <p:tgtEl>
                                          <p:spTgt spid="6"/>
                                        </p:tgtEl>
                                        <p:attrNameLst>
                                          <p:attrName>ppt_x</p:attrName>
                                        </p:attrNameLst>
                                      </p:cBhvr>
                                      <p:tavLst>
                                        <p:tav tm="0">
                                          <p:val>
                                            <p:strVal val="#ppt_x-0.05"/>
                                          </p:val>
                                        </p:tav>
                                        <p:tav tm="100000">
                                          <p:val>
                                            <p:strVal val="#ppt_x+0.02"/>
                                          </p:val>
                                        </p:tav>
                                      </p:tavLst>
                                    </p:anim>
                                    <p:animScale>
                                      <p:cBhvr>
                                        <p:cTn id="39" dur="375" accel="50000" fill="hold">
                                          <p:stCondLst>
                                            <p:cond delay="225"/>
                                          </p:stCondLst>
                                        </p:cTn>
                                        <p:tgtEl>
                                          <p:spTgt spid="6"/>
                                        </p:tgtEl>
                                      </p:cBhvr>
                                      <p:from x="50000" y="50000"/>
                                      <p:to x="100000" y="100000"/>
                                    </p:animScale>
                                    <p:anim to="" calcmode="lin" valueType="num">
                                      <p:cBhvr>
                                        <p:cTn id="40" dur="375" accel="50000" fill="hold">
                                          <p:stCondLst>
                                            <p:cond delay="225"/>
                                          </p:stCondLst>
                                        </p:cTn>
                                        <p:tgtEl>
                                          <p:spTgt spid="6"/>
                                        </p:tgtEl>
                                        <p:attrNameLst>
                                          <p:attrName>ppt_x</p:attrName>
                                        </p:attrNameLst>
                                      </p:cBhvr>
                                      <p:tavLst>
                                        <p:tav tm="0">
                                          <p:val>
                                            <p:strVal val="ppt_x"/>
                                          </p:val>
                                        </p:tav>
                                        <p:tav tm="100000">
                                          <p:val>
                                            <p:strVal val="#ppt_x"/>
                                          </p:val>
                                        </p:tav>
                                      </p:tavLst>
                                    </p:anim>
                                    <p:anim to="" calcmode="lin" valueType="num">
                                      <p:cBhvr>
                                        <p:cTn id="41" dur="225" decel="50000" fill="hold">
                                          <p:stCondLst>
                                            <p:cond delay="0"/>
                                          </p:stCondLst>
                                        </p:cTn>
                                        <p:tgtEl>
                                          <p:spTgt spid="6"/>
                                        </p:tgtEl>
                                        <p:attrNameLst>
                                          <p:attrName>ppt_y</p:attrName>
                                        </p:attrNameLst>
                                      </p:cBhvr>
                                      <p:tavLst>
                                        <p:tav tm="0">
                                          <p:val>
                                            <p:strVal val="#ppt_y-0.05"/>
                                          </p:val>
                                        </p:tav>
                                        <p:tav tm="100000">
                                          <p:val>
                                            <p:strVal val="#ppt_y+0.05"/>
                                          </p:val>
                                        </p:tav>
                                      </p:tavLst>
                                    </p:anim>
                                    <p:anim to="" calcmode="lin" valueType="num">
                                      <p:cBhvr>
                                        <p:cTn id="42" dur="375" accel="50000" fill="hold">
                                          <p:stCondLst>
                                            <p:cond delay="225"/>
                                          </p:stCondLst>
                                        </p:cTn>
                                        <p:tgtEl>
                                          <p:spTgt spid="6"/>
                                        </p:tgtEl>
                                        <p:attrNameLst>
                                          <p:attrName>ppt_y</p:attrName>
                                        </p:attrNameLst>
                                      </p:cBhvr>
                                      <p:tavLst>
                                        <p:tav tm="0">
                                          <p:val>
                                            <p:strVal val="ppt_y"/>
                                          </p:val>
                                        </p:tav>
                                        <p:tav tm="100000">
                                          <p:val>
                                            <p:strVal val="#ppt_y"/>
                                          </p:val>
                                        </p:tav>
                                      </p:tavLst>
                                    </p:anim>
                                    <p:animRot by="21600000">
                                      <p:cBhvr>
                                        <p:cTn id="43" dur="750" decel="50000" fill="hold">
                                          <p:stCondLst>
                                            <p:cond delay="0"/>
                                          </p:stCondLst>
                                        </p:cTn>
                                        <p:tgtEl>
                                          <p:spTgt spid="6"/>
                                        </p:tgtEl>
                                        <p:attrNameLst>
                                          <p:attrName>r</p:attrName>
                                        </p:attrNameLst>
                                      </p:cBhvr>
                                    </p:animRot>
                                    <p:animRot by="21600000">
                                      <p:cBhvr>
                                        <p:cTn id="44" dur="375" accel="50000" fill="hold">
                                          <p:stCondLst>
                                            <p:cond delay="225"/>
                                          </p:stCondLst>
                                        </p:cTn>
                                        <p:tgtEl>
                                          <p:spTgt spid="6"/>
                                        </p:tgtEl>
                                        <p:attrNameLst>
                                          <p:attrName>r</p:attrName>
                                        </p:attrNameLst>
                                      </p:cBhvr>
                                    </p:animRot>
                                    <p:animEffect filter="fade">
                                      <p:cBhvr>
                                        <p:cTn id="45" dur="225">
                                          <p:stCondLst>
                                            <p:cond delay="0"/>
                                          </p:stCondLst>
                                        </p:cTn>
                                        <p:tgtEl>
                                          <p:spTgt spid="6"/>
                                        </p:tgtEl>
                                      </p:cBhvr>
                                    </p:animEffect>
                                  </p:childTnLst>
                                </p:cTn>
                              </p:par>
                              <p:par>
                                <p:cTn id="46" presetID="0" presetClass="entr" presetSubtype="0" decel="50000" fill="hold" nodeType="withEffect">
                                  <p:stCondLst>
                                    <p:cond delay="0"/>
                                  </p:stCondLst>
                                  <p:childTnLst>
                                    <p:set>
                                      <p:cBhvr>
                                        <p:cTn id="47" dur="750" fill="hold">
                                          <p:stCondLst>
                                            <p:cond delay="0"/>
                                          </p:stCondLst>
                                        </p:cTn>
                                        <p:tgtEl>
                                          <p:spTgt spid="9"/>
                                        </p:tgtEl>
                                        <p:attrNameLst>
                                          <p:attrName>style.visibility</p:attrName>
                                        </p:attrNameLst>
                                      </p:cBhvr>
                                      <p:to>
                                        <p:strVal val="visible"/>
                                      </p:to>
                                    </p:set>
                                    <p:animScale>
                                      <p:cBhvr>
                                        <p:cTn id="48" dur="225" decel="50000" fill="hold">
                                          <p:stCondLst>
                                            <p:cond delay="0"/>
                                          </p:stCondLst>
                                        </p:cTn>
                                        <p:tgtEl>
                                          <p:spTgt spid="9"/>
                                        </p:tgtEl>
                                      </p:cBhvr>
                                      <p:from x="150000" y="150000"/>
                                      <p:to x="50000" y="50000"/>
                                    </p:animScale>
                                    <p:anim to="" calcmode="lin" valueType="num">
                                      <p:cBhvr>
                                        <p:cTn id="49" dur="225" decel="50000" fill="hold">
                                          <p:stCondLst>
                                            <p:cond delay="0"/>
                                          </p:stCondLst>
                                        </p:cTn>
                                        <p:tgtEl>
                                          <p:spTgt spid="9"/>
                                        </p:tgtEl>
                                        <p:attrNameLst>
                                          <p:attrName>ppt_x</p:attrName>
                                        </p:attrNameLst>
                                      </p:cBhvr>
                                      <p:tavLst>
                                        <p:tav tm="0">
                                          <p:val>
                                            <p:strVal val="#ppt_x-0.05"/>
                                          </p:val>
                                        </p:tav>
                                        <p:tav tm="100000">
                                          <p:val>
                                            <p:strVal val="#ppt_x+0.02"/>
                                          </p:val>
                                        </p:tav>
                                      </p:tavLst>
                                    </p:anim>
                                    <p:animScale>
                                      <p:cBhvr>
                                        <p:cTn id="50" dur="375" accel="50000" fill="hold">
                                          <p:stCondLst>
                                            <p:cond delay="225"/>
                                          </p:stCondLst>
                                        </p:cTn>
                                        <p:tgtEl>
                                          <p:spTgt spid="9"/>
                                        </p:tgtEl>
                                      </p:cBhvr>
                                      <p:from x="50000" y="50000"/>
                                      <p:to x="100000" y="100000"/>
                                    </p:animScale>
                                    <p:anim to="" calcmode="lin" valueType="num">
                                      <p:cBhvr>
                                        <p:cTn id="51" dur="375" accel="50000" fill="hold">
                                          <p:stCondLst>
                                            <p:cond delay="225"/>
                                          </p:stCondLst>
                                        </p:cTn>
                                        <p:tgtEl>
                                          <p:spTgt spid="9"/>
                                        </p:tgtEl>
                                        <p:attrNameLst>
                                          <p:attrName>ppt_x</p:attrName>
                                        </p:attrNameLst>
                                      </p:cBhvr>
                                      <p:tavLst>
                                        <p:tav tm="0">
                                          <p:val>
                                            <p:strVal val="ppt_x"/>
                                          </p:val>
                                        </p:tav>
                                        <p:tav tm="100000">
                                          <p:val>
                                            <p:strVal val="#ppt_x"/>
                                          </p:val>
                                        </p:tav>
                                      </p:tavLst>
                                    </p:anim>
                                    <p:anim to="" calcmode="lin" valueType="num">
                                      <p:cBhvr>
                                        <p:cTn id="52" dur="225" decel="50000" fill="hold">
                                          <p:stCondLst>
                                            <p:cond delay="0"/>
                                          </p:stCondLst>
                                        </p:cTn>
                                        <p:tgtEl>
                                          <p:spTgt spid="9"/>
                                        </p:tgtEl>
                                        <p:attrNameLst>
                                          <p:attrName>ppt_y</p:attrName>
                                        </p:attrNameLst>
                                      </p:cBhvr>
                                      <p:tavLst>
                                        <p:tav tm="0">
                                          <p:val>
                                            <p:strVal val="#ppt_y-0.05"/>
                                          </p:val>
                                        </p:tav>
                                        <p:tav tm="100000">
                                          <p:val>
                                            <p:strVal val="#ppt_y+0.05"/>
                                          </p:val>
                                        </p:tav>
                                      </p:tavLst>
                                    </p:anim>
                                    <p:anim to="" calcmode="lin" valueType="num">
                                      <p:cBhvr>
                                        <p:cTn id="53" dur="375" accel="50000" fill="hold">
                                          <p:stCondLst>
                                            <p:cond delay="225"/>
                                          </p:stCondLst>
                                        </p:cTn>
                                        <p:tgtEl>
                                          <p:spTgt spid="9"/>
                                        </p:tgtEl>
                                        <p:attrNameLst>
                                          <p:attrName>ppt_y</p:attrName>
                                        </p:attrNameLst>
                                      </p:cBhvr>
                                      <p:tavLst>
                                        <p:tav tm="0">
                                          <p:val>
                                            <p:strVal val="ppt_y"/>
                                          </p:val>
                                        </p:tav>
                                        <p:tav tm="100000">
                                          <p:val>
                                            <p:strVal val="#ppt_y"/>
                                          </p:val>
                                        </p:tav>
                                      </p:tavLst>
                                    </p:anim>
                                    <p:animRot by="21600000">
                                      <p:cBhvr>
                                        <p:cTn id="54" dur="750" decel="50000" fill="hold">
                                          <p:stCondLst>
                                            <p:cond delay="0"/>
                                          </p:stCondLst>
                                        </p:cTn>
                                        <p:tgtEl>
                                          <p:spTgt spid="9"/>
                                        </p:tgtEl>
                                        <p:attrNameLst>
                                          <p:attrName>r</p:attrName>
                                        </p:attrNameLst>
                                      </p:cBhvr>
                                    </p:animRot>
                                    <p:animRot by="21600000">
                                      <p:cBhvr>
                                        <p:cTn id="55" dur="375" accel="50000" fill="hold">
                                          <p:stCondLst>
                                            <p:cond delay="225"/>
                                          </p:stCondLst>
                                        </p:cTn>
                                        <p:tgtEl>
                                          <p:spTgt spid="9"/>
                                        </p:tgtEl>
                                        <p:attrNameLst>
                                          <p:attrName>r</p:attrName>
                                        </p:attrNameLst>
                                      </p:cBhvr>
                                    </p:animRot>
                                    <p:animEffect filter="fade">
                                      <p:cBhvr>
                                        <p:cTn id="56" dur="225">
                                          <p:stCondLst>
                                            <p:cond delay="0"/>
                                          </p:stCondLst>
                                        </p:cTn>
                                        <p:tgtEl>
                                          <p:spTgt spid="9"/>
                                        </p:tgtEl>
                                      </p:cBhvr>
                                    </p:animEffect>
                                  </p:childTnLst>
                                </p:cTn>
                              </p:par>
                              <p:par>
                                <p:cTn id="57" presetID="0" presetClass="entr" presetSubtype="0" decel="50000" fill="hold" nodeType="withEffect">
                                  <p:stCondLst>
                                    <p:cond delay="0"/>
                                  </p:stCondLst>
                                  <p:childTnLst>
                                    <p:set>
                                      <p:cBhvr>
                                        <p:cTn id="58" dur="750" fill="hold">
                                          <p:stCondLst>
                                            <p:cond delay="0"/>
                                          </p:stCondLst>
                                        </p:cTn>
                                        <p:tgtEl>
                                          <p:spTgt spid="4"/>
                                        </p:tgtEl>
                                        <p:attrNameLst>
                                          <p:attrName>style.visibility</p:attrName>
                                        </p:attrNameLst>
                                      </p:cBhvr>
                                      <p:to>
                                        <p:strVal val="visible"/>
                                      </p:to>
                                    </p:set>
                                    <p:animScale>
                                      <p:cBhvr>
                                        <p:cTn id="59" dur="225" decel="50000" fill="hold">
                                          <p:stCondLst>
                                            <p:cond delay="0"/>
                                          </p:stCondLst>
                                        </p:cTn>
                                        <p:tgtEl>
                                          <p:spTgt spid="4"/>
                                        </p:tgtEl>
                                      </p:cBhvr>
                                      <p:from x="150000" y="150000"/>
                                      <p:to x="50000" y="50000"/>
                                    </p:animScale>
                                    <p:anim to="" calcmode="lin" valueType="num">
                                      <p:cBhvr>
                                        <p:cTn id="60" dur="225" decel="50000" fill="hold">
                                          <p:stCondLst>
                                            <p:cond delay="0"/>
                                          </p:stCondLst>
                                        </p:cTn>
                                        <p:tgtEl>
                                          <p:spTgt spid="4"/>
                                        </p:tgtEl>
                                        <p:attrNameLst>
                                          <p:attrName>ppt_x</p:attrName>
                                        </p:attrNameLst>
                                      </p:cBhvr>
                                      <p:tavLst>
                                        <p:tav tm="0">
                                          <p:val>
                                            <p:strVal val="#ppt_x-0.05"/>
                                          </p:val>
                                        </p:tav>
                                        <p:tav tm="100000">
                                          <p:val>
                                            <p:strVal val="#ppt_x+0.02"/>
                                          </p:val>
                                        </p:tav>
                                      </p:tavLst>
                                    </p:anim>
                                    <p:animScale>
                                      <p:cBhvr>
                                        <p:cTn id="61" dur="375" accel="50000" fill="hold">
                                          <p:stCondLst>
                                            <p:cond delay="225"/>
                                          </p:stCondLst>
                                        </p:cTn>
                                        <p:tgtEl>
                                          <p:spTgt spid="4"/>
                                        </p:tgtEl>
                                      </p:cBhvr>
                                      <p:from x="50000" y="50000"/>
                                      <p:to x="100000" y="100000"/>
                                    </p:animScale>
                                    <p:anim to="" calcmode="lin" valueType="num">
                                      <p:cBhvr>
                                        <p:cTn id="62" dur="375" accel="50000" fill="hold">
                                          <p:stCondLst>
                                            <p:cond delay="225"/>
                                          </p:stCondLst>
                                        </p:cTn>
                                        <p:tgtEl>
                                          <p:spTgt spid="4"/>
                                        </p:tgtEl>
                                        <p:attrNameLst>
                                          <p:attrName>ppt_x</p:attrName>
                                        </p:attrNameLst>
                                      </p:cBhvr>
                                      <p:tavLst>
                                        <p:tav tm="0">
                                          <p:val>
                                            <p:strVal val="ppt_x"/>
                                          </p:val>
                                        </p:tav>
                                        <p:tav tm="100000">
                                          <p:val>
                                            <p:strVal val="#ppt_x"/>
                                          </p:val>
                                        </p:tav>
                                      </p:tavLst>
                                    </p:anim>
                                    <p:anim to="" calcmode="lin" valueType="num">
                                      <p:cBhvr>
                                        <p:cTn id="63" dur="225" decel="50000" fill="hold">
                                          <p:stCondLst>
                                            <p:cond delay="0"/>
                                          </p:stCondLst>
                                        </p:cTn>
                                        <p:tgtEl>
                                          <p:spTgt spid="4"/>
                                        </p:tgtEl>
                                        <p:attrNameLst>
                                          <p:attrName>ppt_y</p:attrName>
                                        </p:attrNameLst>
                                      </p:cBhvr>
                                      <p:tavLst>
                                        <p:tav tm="0">
                                          <p:val>
                                            <p:strVal val="#ppt_y-0.05"/>
                                          </p:val>
                                        </p:tav>
                                        <p:tav tm="100000">
                                          <p:val>
                                            <p:strVal val="#ppt_y+0.05"/>
                                          </p:val>
                                        </p:tav>
                                      </p:tavLst>
                                    </p:anim>
                                    <p:anim to="" calcmode="lin" valueType="num">
                                      <p:cBhvr>
                                        <p:cTn id="64" dur="375" accel="50000" fill="hold">
                                          <p:stCondLst>
                                            <p:cond delay="225"/>
                                          </p:stCondLst>
                                        </p:cTn>
                                        <p:tgtEl>
                                          <p:spTgt spid="4"/>
                                        </p:tgtEl>
                                        <p:attrNameLst>
                                          <p:attrName>ppt_y</p:attrName>
                                        </p:attrNameLst>
                                      </p:cBhvr>
                                      <p:tavLst>
                                        <p:tav tm="0">
                                          <p:val>
                                            <p:strVal val="ppt_y"/>
                                          </p:val>
                                        </p:tav>
                                        <p:tav tm="100000">
                                          <p:val>
                                            <p:strVal val="#ppt_y"/>
                                          </p:val>
                                        </p:tav>
                                      </p:tavLst>
                                    </p:anim>
                                    <p:animRot by="21600000">
                                      <p:cBhvr>
                                        <p:cTn id="65" dur="750" decel="50000" fill="hold">
                                          <p:stCondLst>
                                            <p:cond delay="0"/>
                                          </p:stCondLst>
                                        </p:cTn>
                                        <p:tgtEl>
                                          <p:spTgt spid="4"/>
                                        </p:tgtEl>
                                        <p:attrNameLst>
                                          <p:attrName>r</p:attrName>
                                        </p:attrNameLst>
                                      </p:cBhvr>
                                    </p:animRot>
                                    <p:animRot by="21600000">
                                      <p:cBhvr>
                                        <p:cTn id="66" dur="375" accel="50000" fill="hold">
                                          <p:stCondLst>
                                            <p:cond delay="225"/>
                                          </p:stCondLst>
                                        </p:cTn>
                                        <p:tgtEl>
                                          <p:spTgt spid="4"/>
                                        </p:tgtEl>
                                        <p:attrNameLst>
                                          <p:attrName>r</p:attrName>
                                        </p:attrNameLst>
                                      </p:cBhvr>
                                    </p:animRot>
                                    <p:animEffect filter="fade">
                                      <p:cBhvr>
                                        <p:cTn id="67" dur="225">
                                          <p:stCondLst>
                                            <p:cond delay="0"/>
                                          </p:stCondLst>
                                        </p:cTn>
                                        <p:tgtEl>
                                          <p:spTgt spid="4"/>
                                        </p:tgtEl>
                                      </p:cBhvr>
                                    </p:animEffect>
                                  </p:childTnLst>
                                </p:cTn>
                              </p:par>
                              <p:par>
                                <p:cTn id="68" presetID="0" presetClass="entr" presetSubtype="0" decel="50000" fill="hold" nodeType="withEffect">
                                  <p:stCondLst>
                                    <p:cond delay="0"/>
                                  </p:stCondLst>
                                  <p:childTnLst>
                                    <p:set>
                                      <p:cBhvr>
                                        <p:cTn id="69" dur="750" fill="hold">
                                          <p:stCondLst>
                                            <p:cond delay="0"/>
                                          </p:stCondLst>
                                        </p:cTn>
                                        <p:tgtEl>
                                          <p:spTgt spid="5"/>
                                        </p:tgtEl>
                                        <p:attrNameLst>
                                          <p:attrName>style.visibility</p:attrName>
                                        </p:attrNameLst>
                                      </p:cBhvr>
                                      <p:to>
                                        <p:strVal val="visible"/>
                                      </p:to>
                                    </p:set>
                                    <p:animScale>
                                      <p:cBhvr>
                                        <p:cTn id="70" dur="225" decel="50000" fill="hold">
                                          <p:stCondLst>
                                            <p:cond delay="0"/>
                                          </p:stCondLst>
                                        </p:cTn>
                                        <p:tgtEl>
                                          <p:spTgt spid="5"/>
                                        </p:tgtEl>
                                      </p:cBhvr>
                                      <p:from x="150000" y="150000"/>
                                      <p:to x="50000" y="50000"/>
                                    </p:animScale>
                                    <p:anim to="" calcmode="lin" valueType="num">
                                      <p:cBhvr>
                                        <p:cTn id="71" dur="225" decel="50000" fill="hold">
                                          <p:stCondLst>
                                            <p:cond delay="0"/>
                                          </p:stCondLst>
                                        </p:cTn>
                                        <p:tgtEl>
                                          <p:spTgt spid="5"/>
                                        </p:tgtEl>
                                        <p:attrNameLst>
                                          <p:attrName>ppt_x</p:attrName>
                                        </p:attrNameLst>
                                      </p:cBhvr>
                                      <p:tavLst>
                                        <p:tav tm="0">
                                          <p:val>
                                            <p:strVal val="#ppt_x-0.05"/>
                                          </p:val>
                                        </p:tav>
                                        <p:tav tm="100000">
                                          <p:val>
                                            <p:strVal val="#ppt_x+0.02"/>
                                          </p:val>
                                        </p:tav>
                                      </p:tavLst>
                                    </p:anim>
                                    <p:animScale>
                                      <p:cBhvr>
                                        <p:cTn id="72" dur="375" accel="50000" fill="hold">
                                          <p:stCondLst>
                                            <p:cond delay="225"/>
                                          </p:stCondLst>
                                        </p:cTn>
                                        <p:tgtEl>
                                          <p:spTgt spid="5"/>
                                        </p:tgtEl>
                                      </p:cBhvr>
                                      <p:from x="50000" y="50000"/>
                                      <p:to x="100000" y="100000"/>
                                    </p:animScale>
                                    <p:anim to="" calcmode="lin" valueType="num">
                                      <p:cBhvr>
                                        <p:cTn id="73" dur="375" accel="50000" fill="hold">
                                          <p:stCondLst>
                                            <p:cond delay="225"/>
                                          </p:stCondLst>
                                        </p:cTn>
                                        <p:tgtEl>
                                          <p:spTgt spid="5"/>
                                        </p:tgtEl>
                                        <p:attrNameLst>
                                          <p:attrName>ppt_x</p:attrName>
                                        </p:attrNameLst>
                                      </p:cBhvr>
                                      <p:tavLst>
                                        <p:tav tm="0">
                                          <p:val>
                                            <p:strVal val="ppt_x"/>
                                          </p:val>
                                        </p:tav>
                                        <p:tav tm="100000">
                                          <p:val>
                                            <p:strVal val="#ppt_x"/>
                                          </p:val>
                                        </p:tav>
                                      </p:tavLst>
                                    </p:anim>
                                    <p:anim to="" calcmode="lin" valueType="num">
                                      <p:cBhvr>
                                        <p:cTn id="74" dur="225" decel="50000" fill="hold">
                                          <p:stCondLst>
                                            <p:cond delay="0"/>
                                          </p:stCondLst>
                                        </p:cTn>
                                        <p:tgtEl>
                                          <p:spTgt spid="5"/>
                                        </p:tgtEl>
                                        <p:attrNameLst>
                                          <p:attrName>ppt_y</p:attrName>
                                        </p:attrNameLst>
                                      </p:cBhvr>
                                      <p:tavLst>
                                        <p:tav tm="0">
                                          <p:val>
                                            <p:strVal val="#ppt_y-0.05"/>
                                          </p:val>
                                        </p:tav>
                                        <p:tav tm="100000">
                                          <p:val>
                                            <p:strVal val="#ppt_y+0.05"/>
                                          </p:val>
                                        </p:tav>
                                      </p:tavLst>
                                    </p:anim>
                                    <p:anim to="" calcmode="lin" valueType="num">
                                      <p:cBhvr>
                                        <p:cTn id="75" dur="375" accel="50000" fill="hold">
                                          <p:stCondLst>
                                            <p:cond delay="225"/>
                                          </p:stCondLst>
                                        </p:cTn>
                                        <p:tgtEl>
                                          <p:spTgt spid="5"/>
                                        </p:tgtEl>
                                        <p:attrNameLst>
                                          <p:attrName>ppt_y</p:attrName>
                                        </p:attrNameLst>
                                      </p:cBhvr>
                                      <p:tavLst>
                                        <p:tav tm="0">
                                          <p:val>
                                            <p:strVal val="ppt_y"/>
                                          </p:val>
                                        </p:tav>
                                        <p:tav tm="100000">
                                          <p:val>
                                            <p:strVal val="#ppt_y"/>
                                          </p:val>
                                        </p:tav>
                                      </p:tavLst>
                                    </p:anim>
                                    <p:animRot by="21600000">
                                      <p:cBhvr>
                                        <p:cTn id="76" dur="750" decel="50000" fill="hold">
                                          <p:stCondLst>
                                            <p:cond delay="0"/>
                                          </p:stCondLst>
                                        </p:cTn>
                                        <p:tgtEl>
                                          <p:spTgt spid="5"/>
                                        </p:tgtEl>
                                        <p:attrNameLst>
                                          <p:attrName>r</p:attrName>
                                        </p:attrNameLst>
                                      </p:cBhvr>
                                    </p:animRot>
                                    <p:animRot by="21600000">
                                      <p:cBhvr>
                                        <p:cTn id="77" dur="375" accel="50000" fill="hold">
                                          <p:stCondLst>
                                            <p:cond delay="225"/>
                                          </p:stCondLst>
                                        </p:cTn>
                                        <p:tgtEl>
                                          <p:spTgt spid="5"/>
                                        </p:tgtEl>
                                        <p:attrNameLst>
                                          <p:attrName>r</p:attrName>
                                        </p:attrNameLst>
                                      </p:cBhvr>
                                    </p:animRot>
                                    <p:animEffect filter="fade">
                                      <p:cBhvr>
                                        <p:cTn id="78" dur="225">
                                          <p:stCondLst>
                                            <p:cond delay="0"/>
                                          </p:stCondLst>
                                        </p:cTn>
                                        <p:tgtEl>
                                          <p:spTgt spid="5"/>
                                        </p:tgtEl>
                                      </p:cBhvr>
                                    </p:animEffect>
                                  </p:childTnLst>
                                </p:cTn>
                              </p:par>
                            </p:childTnLst>
                          </p:cTn>
                        </p:par>
                        <p:par>
                          <p:cTn id="79" fill="hold">
                            <p:stCondLst>
                              <p:cond delay="2649"/>
                            </p:stCondLst>
                            <p:childTnLst>
                              <p:par>
                                <p:cTn id="80" presetID="10" presetClass="entr" presetSubtype="0" fill="hold" nodeType="afterEffect">
                                  <p:stCondLst>
                                    <p:cond delay="0"/>
                                  </p:stCondLst>
                                  <p:childTnLst>
                                    <p:set>
                                      <p:cBhvr>
                                        <p:cTn id="81" dur="1" fill="hold">
                                          <p:stCondLst>
                                            <p:cond delay="0"/>
                                          </p:stCondLst>
                                        </p:cTn>
                                        <p:tgtEl>
                                          <p:spTgt spid="26"/>
                                        </p:tgtEl>
                                        <p:attrNameLst>
                                          <p:attrName>style.visibility</p:attrName>
                                        </p:attrNameLst>
                                      </p:cBhvr>
                                      <p:to>
                                        <p:strVal val="visible"/>
                                      </p:to>
                                    </p:set>
                                    <p:animEffect transition="in" filter="fade">
                                      <p:cBhvr>
                                        <p:cTn id="82"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P spid="49"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txBox="1"/>
          <p:nvPr/>
        </p:nvSpPr>
        <p:spPr>
          <a:xfrm>
            <a:off x="857884" y="195109"/>
            <a:ext cx="3786124" cy="379730"/>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000" b="1" dirty="0">
                <a:solidFill>
                  <a:schemeClr val="tx1"/>
                </a:solidFill>
                <a:latin typeface="Arial" panose="020B0604020202020204" pitchFamily="34" charset="0"/>
                <a:ea typeface="微软雅黑" panose="020B0503020204020204" pitchFamily="34" charset="-122"/>
                <a:sym typeface="Arial" panose="020B0604020202020204" pitchFamily="34" charset="0"/>
              </a:rPr>
              <a:t>1.1 </a:t>
            </a:r>
            <a:r>
              <a:rPr lang="zh-CN" altLang="en-US" sz="2000" b="1" dirty="0">
                <a:solidFill>
                  <a:schemeClr val="tx1"/>
                </a:solidFill>
                <a:latin typeface="Arial" panose="020B0604020202020204" pitchFamily="34" charset="0"/>
                <a:ea typeface="微软雅黑" panose="020B0503020204020204" pitchFamily="34" charset="-122"/>
                <a:sym typeface="Arial" panose="020B0604020202020204" pitchFamily="34" charset="0"/>
              </a:rPr>
              <a:t>应交税费总体情况分析</a:t>
            </a:r>
          </a:p>
        </p:txBody>
      </p:sp>
      <p:graphicFrame>
        <p:nvGraphicFramePr>
          <p:cNvPr id="25" name="图表 24"/>
          <p:cNvGraphicFramePr/>
          <p:nvPr/>
        </p:nvGraphicFramePr>
        <p:xfrm>
          <a:off x="4211960" y="4149080"/>
          <a:ext cx="2592288" cy="223224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表格 7"/>
          <p:cNvGraphicFramePr>
            <a:graphicFrameLocks noGrp="1"/>
          </p:cNvGraphicFramePr>
          <p:nvPr/>
        </p:nvGraphicFramePr>
        <p:xfrm>
          <a:off x="1187624" y="1203598"/>
          <a:ext cx="5238582" cy="3672407"/>
        </p:xfrm>
        <a:graphic>
          <a:graphicData uri="http://schemas.openxmlformats.org/drawingml/2006/table">
            <a:tbl>
              <a:tblPr firstRow="1" bandRow="1">
                <a:tableStyleId>{EB344D84-9AFB-497E-A393-DC336BA19D2E}</a:tableStyleId>
              </a:tblPr>
              <a:tblGrid>
                <a:gridCol w="1151874"/>
                <a:gridCol w="594066"/>
                <a:gridCol w="540060"/>
                <a:gridCol w="762000"/>
                <a:gridCol w="912186"/>
                <a:gridCol w="1278396"/>
              </a:tblGrid>
              <a:tr h="343943">
                <a:tc>
                  <a:txBody>
                    <a:bodyPr/>
                    <a:lstStyle/>
                    <a:p>
                      <a:pPr algn="ctr"/>
                      <a:r>
                        <a:rPr lang="zh-CN" altLang="en-US" sz="1200" dirty="0">
                          <a:latin typeface="Arial" panose="020B0604020202020204" pitchFamily="34" charset="0"/>
                          <a:ea typeface="微软雅黑" panose="020B0503020204020204" pitchFamily="34" charset="-122"/>
                          <a:sym typeface="Arial" panose="020B0604020202020204" pitchFamily="34" charset="0"/>
                        </a:rPr>
                        <a:t>税目</a:t>
                      </a:r>
                    </a:p>
                  </a:txBody>
                  <a:tcPr marL="68580" marR="68580" marT="34290" marB="34290">
                    <a:solidFill>
                      <a:schemeClr val="tx2">
                        <a:lumMod val="40000"/>
                        <a:lumOff val="60000"/>
                      </a:schemeClr>
                    </a:solidFill>
                  </a:tcPr>
                </a:tc>
                <a:tc>
                  <a:txBody>
                    <a:bodyPr/>
                    <a:lstStyle/>
                    <a:p>
                      <a:pPr algn="ctr"/>
                      <a:r>
                        <a:rPr lang="en-US" altLang="zh-CN" sz="1200" dirty="0">
                          <a:latin typeface="Arial" panose="020B0604020202020204" pitchFamily="34" charset="0"/>
                          <a:ea typeface="微软雅黑" panose="020B0503020204020204" pitchFamily="34" charset="-122"/>
                          <a:sym typeface="Arial" panose="020B0604020202020204" pitchFamily="34" charset="0"/>
                        </a:rPr>
                        <a:t>2014</a:t>
                      </a:r>
                      <a:endParaRPr lang="zh-CN" altLang="en-US" sz="1200" dirty="0">
                        <a:latin typeface="Arial" panose="020B0604020202020204" pitchFamily="34" charset="0"/>
                        <a:ea typeface="微软雅黑" panose="020B0503020204020204" pitchFamily="34" charset="-122"/>
                        <a:sym typeface="Arial" panose="020B0604020202020204" pitchFamily="34" charset="0"/>
                      </a:endParaRPr>
                    </a:p>
                  </a:txBody>
                  <a:tcPr marL="68580" marR="68580" marT="34290" marB="34290">
                    <a:solidFill>
                      <a:schemeClr val="tx2">
                        <a:lumMod val="40000"/>
                        <a:lumOff val="60000"/>
                      </a:schemeClr>
                    </a:solidFill>
                  </a:tcPr>
                </a:tc>
                <a:tc>
                  <a:txBody>
                    <a:bodyPr/>
                    <a:lstStyle/>
                    <a:p>
                      <a:pPr algn="ctr"/>
                      <a:r>
                        <a:rPr lang="en-US" altLang="zh-CN" sz="1200" dirty="0">
                          <a:latin typeface="Arial" panose="020B0604020202020204" pitchFamily="34" charset="0"/>
                          <a:ea typeface="微软雅黑" panose="020B0503020204020204" pitchFamily="34" charset="-122"/>
                          <a:sym typeface="Arial" panose="020B0604020202020204" pitchFamily="34" charset="0"/>
                        </a:rPr>
                        <a:t>2015</a:t>
                      </a:r>
                      <a:endParaRPr lang="zh-CN" altLang="en-US" sz="1200" dirty="0">
                        <a:latin typeface="Arial" panose="020B0604020202020204" pitchFamily="34" charset="0"/>
                        <a:ea typeface="微软雅黑" panose="020B0503020204020204" pitchFamily="34" charset="-122"/>
                        <a:sym typeface="Arial" panose="020B0604020202020204" pitchFamily="34" charset="0"/>
                      </a:endParaRPr>
                    </a:p>
                  </a:txBody>
                  <a:tcPr marL="68580" marR="68580" marT="34290" marB="34290">
                    <a:solidFill>
                      <a:schemeClr val="tx2">
                        <a:lumMod val="40000"/>
                        <a:lumOff val="60000"/>
                      </a:schemeClr>
                    </a:solidFill>
                  </a:tcPr>
                </a:tc>
                <a:tc>
                  <a:txBody>
                    <a:bodyPr/>
                    <a:lstStyle/>
                    <a:p>
                      <a:pPr algn="ctr"/>
                      <a:r>
                        <a:rPr lang="en-US" altLang="zh-CN" sz="1200" dirty="0">
                          <a:latin typeface="Arial" panose="020B0604020202020204" pitchFamily="34" charset="0"/>
                          <a:ea typeface="微软雅黑" panose="020B0503020204020204" pitchFamily="34" charset="-122"/>
                          <a:sym typeface="Arial" panose="020B0604020202020204" pitchFamily="34" charset="0"/>
                        </a:rPr>
                        <a:t>2016</a:t>
                      </a:r>
                      <a:endParaRPr lang="zh-CN" altLang="en-US" sz="1200" dirty="0">
                        <a:latin typeface="Arial" panose="020B0604020202020204" pitchFamily="34" charset="0"/>
                        <a:ea typeface="微软雅黑" panose="020B0503020204020204" pitchFamily="34" charset="-122"/>
                        <a:sym typeface="Arial" panose="020B0604020202020204" pitchFamily="34" charset="0"/>
                      </a:endParaRPr>
                    </a:p>
                  </a:txBody>
                  <a:tcPr marL="68580" marR="68580" marT="34290" marB="34290">
                    <a:solidFill>
                      <a:schemeClr val="tx2">
                        <a:lumMod val="40000"/>
                        <a:lumOff val="60000"/>
                      </a:schemeClr>
                    </a:solidFill>
                  </a:tcPr>
                </a:tc>
                <a:tc>
                  <a:txBody>
                    <a:bodyPr/>
                    <a:lstStyle/>
                    <a:p>
                      <a:pPr algn="ctr"/>
                      <a:r>
                        <a:rPr lang="en-US" altLang="zh-CN" sz="1200" dirty="0">
                          <a:latin typeface="Arial" panose="020B0604020202020204" pitchFamily="34" charset="0"/>
                          <a:ea typeface="微软雅黑" panose="020B0503020204020204" pitchFamily="34" charset="-122"/>
                          <a:sym typeface="Arial" panose="020B0604020202020204" pitchFamily="34" charset="0"/>
                        </a:rPr>
                        <a:t>2017</a:t>
                      </a:r>
                      <a:r>
                        <a:rPr lang="zh-CN" altLang="en-US" sz="1200" dirty="0">
                          <a:latin typeface="Arial" panose="020B0604020202020204" pitchFamily="34" charset="0"/>
                          <a:ea typeface="微软雅黑" panose="020B0503020204020204" pitchFamily="34" charset="-122"/>
                          <a:sym typeface="Arial" panose="020B0604020202020204" pitchFamily="34" charset="0"/>
                        </a:rPr>
                        <a:t>上</a:t>
                      </a:r>
                    </a:p>
                  </a:txBody>
                  <a:tcPr marL="68580" marR="68580" marT="34290" marB="34290">
                    <a:solidFill>
                      <a:schemeClr val="tx2">
                        <a:lumMod val="40000"/>
                        <a:lumOff val="60000"/>
                      </a:schemeClr>
                    </a:solidFill>
                  </a:tcPr>
                </a:tc>
                <a:tc>
                  <a:txBody>
                    <a:bodyPr/>
                    <a:lstStyle/>
                    <a:p>
                      <a:pPr algn="ctr"/>
                      <a:r>
                        <a:rPr lang="zh-CN" altLang="en-US" sz="1200" dirty="0">
                          <a:latin typeface="Arial" panose="020B0604020202020204" pitchFamily="34" charset="0"/>
                          <a:ea typeface="微软雅黑" panose="020B0503020204020204" pitchFamily="34" charset="-122"/>
                          <a:sym typeface="Arial" panose="020B0604020202020204" pitchFamily="34" charset="0"/>
                        </a:rPr>
                        <a:t>说明</a:t>
                      </a:r>
                    </a:p>
                  </a:txBody>
                  <a:tcPr marL="68580" marR="68580" marT="34290" marB="34290">
                    <a:solidFill>
                      <a:schemeClr val="tx2">
                        <a:lumMod val="40000"/>
                        <a:lumOff val="60000"/>
                      </a:schemeClr>
                    </a:solidFill>
                  </a:tcPr>
                </a:tc>
              </a:tr>
              <a:tr h="253856">
                <a:tc>
                  <a:txBody>
                    <a:bodyPr/>
                    <a:lstStyle/>
                    <a:p>
                      <a:pPr algn="ctr"/>
                      <a:r>
                        <a:rPr lang="zh-CN" altLang="en-US" sz="800" b="1" dirty="0">
                          <a:latin typeface="Arial" panose="020B0604020202020204" pitchFamily="34" charset="0"/>
                          <a:ea typeface="微软雅黑" panose="020B0503020204020204" pitchFamily="34" charset="-122"/>
                          <a:sym typeface="Arial" panose="020B0604020202020204" pitchFamily="34" charset="0"/>
                        </a:rPr>
                        <a:t>增值税</a:t>
                      </a:r>
                    </a:p>
                  </a:txBody>
                  <a:tcPr marL="68580" marR="68580" marT="34290" marB="34290"/>
                </a:tc>
                <a:tc>
                  <a:txBody>
                    <a:bodyPr/>
                    <a:lstStyle/>
                    <a:p>
                      <a:pPr algn="ctr" fontAlgn="ctr"/>
                      <a:endParaRPr lang="en-US" altLang="zh-CN" sz="8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marL="0" algn="ctr" defTabSz="914400" rtl="0" eaLnBrk="1" fontAlgn="ctr" latinLnBrk="0" hangingPunct="1"/>
                      <a:endParaRPr lang="en-US" altLang="zh-CN" sz="800" b="0" i="0" u="none" strike="noStrike" kern="1200" dirty="0">
                        <a:solidFill>
                          <a:srgbClr val="000000"/>
                        </a:solidFill>
                        <a:latin typeface="Arial" panose="020B0604020202020204" pitchFamily="34" charset="0"/>
                        <a:ea typeface="微软雅黑" panose="020B0503020204020204" pitchFamily="34" charset="-122"/>
                        <a:cs typeface="+mn-cs"/>
                        <a:sym typeface="Arial" panose="020B0604020202020204" pitchFamily="34" charset="0"/>
                      </a:endParaRPr>
                    </a:p>
                  </a:txBody>
                  <a:tcPr marL="0" marR="0" marT="0" marB="0" anchor="ctr"/>
                </a:tc>
                <a:tc>
                  <a:txBody>
                    <a:bodyPr/>
                    <a:lstStyle/>
                    <a:p>
                      <a:pPr algn="ctr" fontAlgn="ctr"/>
                      <a:endParaRPr lang="en-US" altLang="zh-CN" sz="8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marL="0" algn="ctr" defTabSz="914400" rtl="0" eaLnBrk="1" fontAlgn="ctr" latinLnBrk="0" hangingPunct="1"/>
                      <a:endParaRPr lang="zh-CN" altLang="en-US" sz="800" b="0" i="0" u="none" strike="noStrike" kern="1200" dirty="0">
                        <a:solidFill>
                          <a:srgbClr val="000000"/>
                        </a:solidFill>
                        <a:latin typeface="Arial" panose="020B0604020202020204" pitchFamily="34" charset="0"/>
                        <a:ea typeface="微软雅黑" panose="020B0503020204020204" pitchFamily="34" charset="-122"/>
                        <a:cs typeface="+mn-cs"/>
                        <a:sym typeface="Arial" panose="020B0604020202020204" pitchFamily="34" charset="0"/>
                      </a:endParaRPr>
                    </a:p>
                  </a:txBody>
                  <a:tcPr marL="68580" marR="68580" marT="34290" marB="34290"/>
                </a:tc>
              </a:tr>
              <a:tr h="339702">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800" b="1" dirty="0">
                          <a:latin typeface="Arial" panose="020B0604020202020204" pitchFamily="34" charset="0"/>
                          <a:ea typeface="微软雅黑" panose="020B0503020204020204" pitchFamily="34" charset="-122"/>
                          <a:sym typeface="Arial" panose="020B0604020202020204" pitchFamily="34" charset="0"/>
                        </a:rPr>
                        <a:t>增值税税负（账面）</a:t>
                      </a:r>
                    </a:p>
                  </a:txBody>
                  <a:tcPr marL="68580" marR="68580" marT="34290" marB="34290">
                    <a:solidFill>
                      <a:schemeClr val="accent2">
                        <a:lumMod val="20000"/>
                        <a:lumOff val="80000"/>
                      </a:schemeClr>
                    </a:solidFill>
                  </a:tcPr>
                </a:tc>
                <a:tc>
                  <a:txBody>
                    <a:bodyPr/>
                    <a:lstStyle/>
                    <a:p>
                      <a:pPr algn="ctr" fontAlgn="ctr"/>
                      <a:endParaRPr lang="en-US" altLang="zh-CN" sz="8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solidFill>
                      <a:schemeClr val="accent2">
                        <a:lumMod val="20000"/>
                        <a:lumOff val="80000"/>
                      </a:schemeClr>
                    </a:solidFill>
                  </a:tcPr>
                </a:tc>
                <a:tc>
                  <a:txBody>
                    <a:bodyPr/>
                    <a:lstStyle/>
                    <a:p>
                      <a:pPr algn="ctr" fontAlgn="ctr"/>
                      <a:endParaRPr lang="en-US" altLang="zh-CN" sz="8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solidFill>
                      <a:schemeClr val="accent2">
                        <a:lumMod val="20000"/>
                        <a:lumOff val="80000"/>
                      </a:schemeClr>
                    </a:solidFill>
                  </a:tcPr>
                </a:tc>
                <a:tc>
                  <a:txBody>
                    <a:bodyPr/>
                    <a:lstStyle/>
                    <a:p>
                      <a:pPr algn="ctr" fontAlgn="ctr"/>
                      <a:endParaRPr lang="en-US" altLang="zh-CN" sz="800" b="0" i="0" u="none" strike="noStrike">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solidFill>
                      <a:schemeClr val="accent2">
                        <a:lumMod val="20000"/>
                        <a:lumOff val="80000"/>
                      </a:schemeClr>
                    </a:solidFill>
                  </a:tcPr>
                </a:tc>
                <a:tc>
                  <a:txBody>
                    <a:bodyPr/>
                    <a:lstStyle/>
                    <a:p>
                      <a:pPr algn="ctr" fontAlgn="ctr"/>
                      <a:endParaRPr lang="en-US" altLang="zh-CN" sz="800" b="0" i="0" u="none" strike="noStrike">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solidFill>
                      <a:schemeClr val="accent2">
                        <a:lumMod val="20000"/>
                        <a:lumOff val="80000"/>
                      </a:schemeClr>
                    </a:solidFill>
                  </a:tcPr>
                </a:tc>
                <a:tc>
                  <a:txBody>
                    <a:bodyPr/>
                    <a:lstStyle/>
                    <a:p>
                      <a:pPr marL="0" algn="ctr" defTabSz="914400" rtl="0" eaLnBrk="1" fontAlgn="ctr" latinLnBrk="0" hangingPunct="1"/>
                      <a:endParaRPr lang="zh-CN" altLang="en-US" sz="800" b="0" i="0" u="none" strike="noStrike" kern="1200" dirty="0">
                        <a:solidFill>
                          <a:srgbClr val="000000"/>
                        </a:solidFill>
                        <a:latin typeface="Arial" panose="020B0604020202020204" pitchFamily="34" charset="0"/>
                        <a:ea typeface="微软雅黑" panose="020B0503020204020204" pitchFamily="34" charset="-122"/>
                        <a:cs typeface="+mn-cs"/>
                        <a:sym typeface="Arial" panose="020B0604020202020204" pitchFamily="34" charset="0"/>
                      </a:endParaRPr>
                    </a:p>
                  </a:txBody>
                  <a:tcPr marL="68580" marR="68580" marT="34290" marB="34290">
                    <a:solidFill>
                      <a:schemeClr val="accent2">
                        <a:lumMod val="20000"/>
                        <a:lumOff val="80000"/>
                      </a:schemeClr>
                    </a:solidFill>
                  </a:tcPr>
                </a:tc>
              </a:tr>
              <a:tr h="339702">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800" b="1" dirty="0">
                          <a:latin typeface="Arial" panose="020B0604020202020204" pitchFamily="34" charset="0"/>
                          <a:ea typeface="微软雅黑" panose="020B0503020204020204" pitchFamily="34" charset="-122"/>
                          <a:sym typeface="Arial" panose="020B0604020202020204" pitchFamily="34" charset="0"/>
                        </a:rPr>
                        <a:t>增值税税负（申报）</a:t>
                      </a:r>
                    </a:p>
                  </a:txBody>
                  <a:tcPr marL="68580" marR="68580" marT="34290" marB="34290">
                    <a:solidFill>
                      <a:schemeClr val="accent2">
                        <a:lumMod val="20000"/>
                        <a:lumOff val="80000"/>
                      </a:schemeClr>
                    </a:solidFill>
                  </a:tcPr>
                </a:tc>
                <a:tc>
                  <a:txBody>
                    <a:bodyPr/>
                    <a:lstStyle/>
                    <a:p>
                      <a:pPr algn="ctr" fontAlgn="ctr"/>
                      <a:endParaRPr lang="en-US" altLang="zh-CN" sz="8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solidFill>
                      <a:schemeClr val="accent2">
                        <a:lumMod val="20000"/>
                        <a:lumOff val="80000"/>
                      </a:schemeClr>
                    </a:solidFill>
                  </a:tcPr>
                </a:tc>
                <a:tc>
                  <a:txBody>
                    <a:bodyPr/>
                    <a:lstStyle/>
                    <a:p>
                      <a:pPr algn="ctr" fontAlgn="ctr"/>
                      <a:endParaRPr lang="en-US" altLang="zh-CN" sz="8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solidFill>
                      <a:schemeClr val="accent2">
                        <a:lumMod val="20000"/>
                        <a:lumOff val="80000"/>
                      </a:schemeClr>
                    </a:solidFill>
                  </a:tcPr>
                </a:tc>
                <a:tc>
                  <a:txBody>
                    <a:bodyPr/>
                    <a:lstStyle/>
                    <a:p>
                      <a:pPr algn="ctr" fontAlgn="ctr"/>
                      <a:endParaRPr lang="en-US" altLang="zh-CN" sz="8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solidFill>
                      <a:schemeClr val="accent2">
                        <a:lumMod val="20000"/>
                        <a:lumOff val="80000"/>
                      </a:schemeClr>
                    </a:solidFill>
                  </a:tcPr>
                </a:tc>
                <a:tc>
                  <a:txBody>
                    <a:bodyPr/>
                    <a:lstStyle/>
                    <a:p>
                      <a:pPr algn="ctr" fontAlgn="ctr"/>
                      <a:endParaRPr lang="en-US" altLang="zh-CN" sz="8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solidFill>
                      <a:schemeClr val="accent2">
                        <a:lumMod val="20000"/>
                        <a:lumOff val="80000"/>
                      </a:schemeClr>
                    </a:solidFill>
                  </a:tcPr>
                </a:tc>
                <a:tc>
                  <a:txBody>
                    <a:bodyPr/>
                    <a:lstStyle/>
                    <a:p>
                      <a:pPr marL="0" algn="ctr" defTabSz="914400" rtl="0" eaLnBrk="1" fontAlgn="ctr" latinLnBrk="0" hangingPunct="1"/>
                      <a:endParaRPr lang="zh-CN" altLang="en-US" sz="800" b="0" i="0" u="none" strike="noStrike" kern="1200" dirty="0">
                        <a:solidFill>
                          <a:srgbClr val="000000"/>
                        </a:solidFill>
                        <a:latin typeface="Arial" panose="020B0604020202020204" pitchFamily="34" charset="0"/>
                        <a:ea typeface="微软雅黑" panose="020B0503020204020204" pitchFamily="34" charset="-122"/>
                        <a:cs typeface="+mn-cs"/>
                        <a:sym typeface="Arial" panose="020B0604020202020204" pitchFamily="34" charset="0"/>
                      </a:endParaRPr>
                    </a:p>
                  </a:txBody>
                  <a:tcPr marL="68580" marR="68580" marT="34290" marB="34290">
                    <a:solidFill>
                      <a:schemeClr val="accent2">
                        <a:lumMod val="20000"/>
                        <a:lumOff val="80000"/>
                      </a:schemeClr>
                    </a:solidFill>
                  </a:tcPr>
                </a:tc>
              </a:tr>
              <a:tr h="253856">
                <a:tc>
                  <a:txBody>
                    <a:bodyPr/>
                    <a:lstStyle/>
                    <a:p>
                      <a:pPr algn="ctr"/>
                      <a:r>
                        <a:rPr lang="zh-CN" altLang="en-US" sz="800" b="1" dirty="0">
                          <a:latin typeface="Arial" panose="020B0604020202020204" pitchFamily="34" charset="0"/>
                          <a:ea typeface="微软雅黑" panose="020B0503020204020204" pitchFamily="34" charset="-122"/>
                          <a:sym typeface="Arial" panose="020B0604020202020204" pitchFamily="34" charset="0"/>
                        </a:rPr>
                        <a:t>营业税</a:t>
                      </a:r>
                    </a:p>
                  </a:txBody>
                  <a:tcPr marL="68580" marR="68580" marT="34290" marB="34290"/>
                </a:tc>
                <a:tc>
                  <a:txBody>
                    <a:bodyPr/>
                    <a:lstStyle/>
                    <a:p>
                      <a:pPr algn="ctr" fontAlgn="ctr"/>
                      <a:endParaRPr lang="en-US" altLang="zh-CN" sz="8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marL="0" algn="ctr" defTabSz="914400" rtl="0" eaLnBrk="1" fontAlgn="ctr" latinLnBrk="0" hangingPunct="1"/>
                      <a:endParaRPr lang="en-US" altLang="zh-CN" sz="800" b="0" i="0" u="none" strike="noStrike" kern="1200" dirty="0">
                        <a:solidFill>
                          <a:srgbClr val="000000"/>
                        </a:solidFill>
                        <a:latin typeface="Arial" panose="020B0604020202020204" pitchFamily="34" charset="0"/>
                        <a:ea typeface="微软雅黑" panose="020B0503020204020204" pitchFamily="34" charset="-122"/>
                        <a:cs typeface="+mn-cs"/>
                        <a:sym typeface="Arial" panose="020B0604020202020204" pitchFamily="34" charset="0"/>
                      </a:endParaRPr>
                    </a:p>
                  </a:txBody>
                  <a:tcPr marL="0" marR="0" marT="0" marB="0" anchor="ctr"/>
                </a:tc>
                <a:tc>
                  <a:txBody>
                    <a:bodyPr/>
                    <a:lstStyle/>
                    <a:p>
                      <a:pPr algn="ctr" fontAlgn="ctr"/>
                      <a:endParaRPr lang="en-US" altLang="zh-CN" sz="8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marL="0" algn="ctr" defTabSz="914400" rtl="0" eaLnBrk="1" fontAlgn="ctr" latinLnBrk="0" hangingPunct="1"/>
                      <a:endParaRPr lang="zh-CN" altLang="en-US" sz="800" b="0" i="0" u="none" strike="noStrike" kern="1200" dirty="0">
                        <a:solidFill>
                          <a:srgbClr val="000000"/>
                        </a:solidFill>
                        <a:latin typeface="Arial" panose="020B0604020202020204" pitchFamily="34" charset="0"/>
                        <a:ea typeface="微软雅黑" panose="020B0503020204020204" pitchFamily="34" charset="-122"/>
                        <a:cs typeface="+mn-cs"/>
                        <a:sym typeface="Arial" panose="020B0604020202020204" pitchFamily="34" charset="0"/>
                      </a:endParaRPr>
                    </a:p>
                  </a:txBody>
                  <a:tcPr marL="68580" marR="68580" marT="34290" marB="34290"/>
                </a:tc>
              </a:tr>
              <a:tr h="339702">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800" b="1" dirty="0">
                          <a:latin typeface="Arial" panose="020B0604020202020204" pitchFamily="34" charset="0"/>
                          <a:ea typeface="微软雅黑" panose="020B0503020204020204" pitchFamily="34" charset="-122"/>
                          <a:sym typeface="Arial" panose="020B0604020202020204" pitchFamily="34" charset="0"/>
                        </a:rPr>
                        <a:t>地税附加税</a:t>
                      </a:r>
                    </a:p>
                  </a:txBody>
                  <a:tcPr marL="68580" marR="68580" marT="34290" marB="34290"/>
                </a:tc>
                <a:tc>
                  <a:txBody>
                    <a:bodyPr/>
                    <a:lstStyle/>
                    <a:p>
                      <a:pPr algn="ctr" fontAlgn="ctr"/>
                      <a:endParaRPr lang="en-US" altLang="zh-CN" sz="8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marL="0" algn="ctr" defTabSz="914400" rtl="0" eaLnBrk="1" fontAlgn="ctr" latinLnBrk="0" hangingPunct="1"/>
                      <a:endParaRPr lang="en-US" altLang="zh-CN" sz="800" b="0" i="0" u="none" strike="noStrike" kern="1200" dirty="0">
                        <a:solidFill>
                          <a:srgbClr val="000000"/>
                        </a:solidFill>
                        <a:latin typeface="Arial" panose="020B0604020202020204" pitchFamily="34" charset="0"/>
                        <a:ea typeface="微软雅黑" panose="020B0503020204020204" pitchFamily="34" charset="-122"/>
                        <a:cs typeface="+mn-cs"/>
                        <a:sym typeface="Arial" panose="020B0604020202020204" pitchFamily="34" charset="0"/>
                      </a:endParaRPr>
                    </a:p>
                  </a:txBody>
                  <a:tcPr marL="0" marR="0" marT="0" marB="0" anchor="ctr"/>
                </a:tc>
                <a:tc>
                  <a:txBody>
                    <a:bodyPr/>
                    <a:lstStyle/>
                    <a:p>
                      <a:pPr algn="ctr" fontAlgn="ctr"/>
                      <a:endParaRPr lang="en-US" altLang="zh-CN" sz="8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marL="0" algn="ctr" defTabSz="914400" rtl="0" eaLnBrk="1" fontAlgn="ctr" latinLnBrk="0" hangingPunct="1"/>
                      <a:endParaRPr lang="zh-CN" altLang="en-US" sz="800" b="0" i="0" u="none" strike="noStrike" kern="1200" dirty="0">
                        <a:solidFill>
                          <a:srgbClr val="000000"/>
                        </a:solidFill>
                        <a:latin typeface="Arial" panose="020B0604020202020204" pitchFamily="34" charset="0"/>
                        <a:ea typeface="微软雅黑" panose="020B0503020204020204" pitchFamily="34" charset="-122"/>
                        <a:cs typeface="+mn-cs"/>
                        <a:sym typeface="Arial" panose="020B0604020202020204" pitchFamily="34" charset="0"/>
                      </a:endParaRPr>
                    </a:p>
                  </a:txBody>
                  <a:tcPr marL="68580" marR="68580" marT="34290" marB="34290"/>
                </a:tc>
              </a:tr>
              <a:tr h="278510">
                <a:tc>
                  <a:txBody>
                    <a:bodyPr/>
                    <a:lstStyle/>
                    <a:p>
                      <a:pPr algn="ctr"/>
                      <a:r>
                        <a:rPr lang="zh-CN" altLang="en-US" sz="800" b="1" dirty="0">
                          <a:latin typeface="Arial" panose="020B0604020202020204" pitchFamily="34" charset="0"/>
                          <a:ea typeface="微软雅黑" panose="020B0503020204020204" pitchFamily="34" charset="-122"/>
                          <a:sym typeface="Arial" panose="020B0604020202020204" pitchFamily="34" charset="0"/>
                        </a:rPr>
                        <a:t>企业所得税</a:t>
                      </a:r>
                    </a:p>
                  </a:txBody>
                  <a:tcPr marL="68580" marR="68580" marT="34290" marB="34290"/>
                </a:tc>
                <a:tc>
                  <a:txBody>
                    <a:bodyPr/>
                    <a:lstStyle/>
                    <a:p>
                      <a:pPr algn="ctr" fontAlgn="ctr"/>
                      <a:endParaRPr lang="en-US" altLang="zh-CN" sz="8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marL="0" algn="ctr" defTabSz="914400" rtl="0" eaLnBrk="1" fontAlgn="ctr" latinLnBrk="0" hangingPunct="1"/>
                      <a:endParaRPr lang="en-US" altLang="zh-CN" sz="800" b="0" i="0" u="none" strike="noStrike" kern="1200" dirty="0">
                        <a:solidFill>
                          <a:srgbClr val="000000"/>
                        </a:solidFill>
                        <a:latin typeface="Arial" panose="020B0604020202020204" pitchFamily="34" charset="0"/>
                        <a:ea typeface="微软雅黑" panose="020B0503020204020204" pitchFamily="34" charset="-122"/>
                        <a:cs typeface="+mn-cs"/>
                        <a:sym typeface="Arial" panose="020B0604020202020204" pitchFamily="34" charset="0"/>
                      </a:endParaRPr>
                    </a:p>
                  </a:txBody>
                  <a:tcPr marL="0" marR="0" marT="0" marB="0" anchor="ctr"/>
                </a:tc>
                <a:tc>
                  <a:txBody>
                    <a:bodyPr/>
                    <a:lstStyle/>
                    <a:p>
                      <a:pPr algn="ctr" fontAlgn="ctr"/>
                      <a:endParaRPr lang="en-US" altLang="zh-CN" sz="8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marL="0" algn="ctr" defTabSz="914400" rtl="0" eaLnBrk="1" fontAlgn="ctr" latinLnBrk="0" hangingPunct="1"/>
                      <a:endParaRPr lang="zh-CN" altLang="en-US" sz="800" b="0" i="0" u="none" strike="noStrike" kern="1200" dirty="0">
                        <a:solidFill>
                          <a:srgbClr val="000000"/>
                        </a:solidFill>
                        <a:latin typeface="Arial" panose="020B0604020202020204" pitchFamily="34" charset="0"/>
                        <a:ea typeface="微软雅黑" panose="020B0503020204020204" pitchFamily="34" charset="-122"/>
                        <a:cs typeface="+mn-cs"/>
                        <a:sym typeface="Arial" panose="020B0604020202020204" pitchFamily="34" charset="0"/>
                      </a:endParaRPr>
                    </a:p>
                  </a:txBody>
                  <a:tcPr marL="68580" marR="68580" marT="34290" marB="34290"/>
                </a:tc>
              </a:tr>
              <a:tr h="253856">
                <a:tc>
                  <a:txBody>
                    <a:bodyPr/>
                    <a:lstStyle/>
                    <a:p>
                      <a:pPr algn="ctr"/>
                      <a:r>
                        <a:rPr lang="zh-CN" altLang="en-US" sz="800" b="1" dirty="0">
                          <a:latin typeface="Arial" panose="020B0604020202020204" pitchFamily="34" charset="0"/>
                          <a:ea typeface="微软雅黑" panose="020B0503020204020204" pitchFamily="34" charset="-122"/>
                          <a:sym typeface="Arial" panose="020B0604020202020204" pitchFamily="34" charset="0"/>
                        </a:rPr>
                        <a:t>企业所得税税负</a:t>
                      </a:r>
                    </a:p>
                  </a:txBody>
                  <a:tcPr marL="68580" marR="68580" marT="34290" marB="34290">
                    <a:solidFill>
                      <a:schemeClr val="accent2">
                        <a:lumMod val="40000"/>
                        <a:lumOff val="60000"/>
                      </a:schemeClr>
                    </a:solidFill>
                  </a:tcPr>
                </a:tc>
                <a:tc>
                  <a:txBody>
                    <a:bodyPr/>
                    <a:lstStyle/>
                    <a:p>
                      <a:pPr algn="ctr" fontAlgn="ctr"/>
                      <a:endParaRPr lang="en-US" altLang="zh-CN" sz="8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solidFill>
                      <a:schemeClr val="accent2">
                        <a:lumMod val="40000"/>
                        <a:lumOff val="60000"/>
                      </a:schemeClr>
                    </a:solidFill>
                  </a:tcPr>
                </a:tc>
                <a:tc>
                  <a:txBody>
                    <a:bodyPr/>
                    <a:lstStyle/>
                    <a:p>
                      <a:pPr algn="ctr" fontAlgn="ctr"/>
                      <a:endParaRPr lang="en-US" altLang="zh-CN" sz="8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solidFill>
                      <a:schemeClr val="accent2">
                        <a:lumMod val="40000"/>
                        <a:lumOff val="60000"/>
                      </a:schemeClr>
                    </a:solidFill>
                  </a:tcPr>
                </a:tc>
                <a:tc>
                  <a:txBody>
                    <a:bodyPr/>
                    <a:lstStyle/>
                    <a:p>
                      <a:pPr algn="ctr" fontAlgn="ctr"/>
                      <a:endParaRPr lang="en-US" altLang="zh-CN" sz="8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solidFill>
                      <a:schemeClr val="accent2">
                        <a:lumMod val="40000"/>
                        <a:lumOff val="60000"/>
                      </a:schemeClr>
                    </a:solidFill>
                  </a:tcPr>
                </a:tc>
                <a:tc>
                  <a:txBody>
                    <a:bodyPr/>
                    <a:lstStyle/>
                    <a:p>
                      <a:pPr algn="ctr" fontAlgn="ctr"/>
                      <a:endParaRPr lang="en-US" altLang="zh-CN" sz="8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solidFill>
                      <a:schemeClr val="accent2">
                        <a:lumMod val="40000"/>
                        <a:lumOff val="60000"/>
                      </a:schemeClr>
                    </a:solidFill>
                  </a:tcPr>
                </a:tc>
                <a:tc>
                  <a:txBody>
                    <a:bodyPr/>
                    <a:lstStyle/>
                    <a:p>
                      <a:pPr marL="0" algn="ctr" defTabSz="914400" rtl="0" eaLnBrk="1" fontAlgn="ctr" latinLnBrk="0" hangingPunct="1"/>
                      <a:endParaRPr lang="zh-CN" altLang="en-US" sz="800" b="0" i="0" u="none" strike="noStrike" kern="1200" dirty="0">
                        <a:solidFill>
                          <a:srgbClr val="000000"/>
                        </a:solidFill>
                        <a:latin typeface="Arial" panose="020B0604020202020204" pitchFamily="34" charset="0"/>
                        <a:ea typeface="微软雅黑" panose="020B0503020204020204" pitchFamily="34" charset="-122"/>
                        <a:cs typeface="+mn-cs"/>
                        <a:sym typeface="Arial" panose="020B0604020202020204" pitchFamily="34" charset="0"/>
                      </a:endParaRPr>
                    </a:p>
                  </a:txBody>
                  <a:tcPr marL="68580" marR="68580" marT="34290" marB="34290">
                    <a:solidFill>
                      <a:schemeClr val="accent2">
                        <a:lumMod val="40000"/>
                        <a:lumOff val="60000"/>
                      </a:schemeClr>
                    </a:solidFill>
                  </a:tcPr>
                </a:tc>
              </a:tr>
              <a:tr h="253856">
                <a:tc>
                  <a:txBody>
                    <a:bodyPr/>
                    <a:lstStyle/>
                    <a:p>
                      <a:pPr algn="ctr"/>
                      <a:r>
                        <a:rPr lang="zh-CN" altLang="en-US" sz="800" b="1" dirty="0">
                          <a:latin typeface="Arial" panose="020B0604020202020204" pitchFamily="34" charset="0"/>
                          <a:ea typeface="微软雅黑" panose="020B0503020204020204" pitchFamily="34" charset="-122"/>
                          <a:sym typeface="Arial" panose="020B0604020202020204" pitchFamily="34" charset="0"/>
                        </a:rPr>
                        <a:t>房产税</a:t>
                      </a:r>
                    </a:p>
                  </a:txBody>
                  <a:tcPr marL="68580" marR="68580" marT="34290" marB="34290"/>
                </a:tc>
                <a:tc>
                  <a:txBody>
                    <a:bodyPr/>
                    <a:lstStyle/>
                    <a:p>
                      <a:pPr algn="ctr" fontAlgn="ctr"/>
                      <a:endParaRPr lang="en-US" altLang="zh-CN" sz="8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marL="0" algn="ctr" defTabSz="914400" rtl="0" eaLnBrk="1" fontAlgn="ctr" latinLnBrk="0" hangingPunct="1"/>
                      <a:endParaRPr lang="en-US" altLang="zh-CN" sz="800" b="0" i="0" u="none" strike="noStrike" kern="1200" dirty="0">
                        <a:solidFill>
                          <a:srgbClr val="000000"/>
                        </a:solidFill>
                        <a:latin typeface="Arial" panose="020B0604020202020204" pitchFamily="34" charset="0"/>
                        <a:ea typeface="微软雅黑" panose="020B0503020204020204" pitchFamily="34" charset="-122"/>
                        <a:cs typeface="+mn-cs"/>
                        <a:sym typeface="Arial" panose="020B0604020202020204" pitchFamily="34" charset="0"/>
                      </a:endParaRPr>
                    </a:p>
                  </a:txBody>
                  <a:tcPr marL="0" marR="0" marT="0" marB="0" anchor="ctr"/>
                </a:tc>
                <a:tc>
                  <a:txBody>
                    <a:bodyPr/>
                    <a:lstStyle/>
                    <a:p>
                      <a:pPr algn="ctr" fontAlgn="ctr"/>
                      <a:endParaRPr lang="en-US" altLang="zh-CN" sz="8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marL="0" algn="ctr" defTabSz="914400" rtl="0" eaLnBrk="1" fontAlgn="ctr" latinLnBrk="0" hangingPunct="1"/>
                      <a:endParaRPr lang="zh-CN" altLang="en-US" sz="800" b="0" i="0" u="none" strike="noStrike" kern="1200" dirty="0">
                        <a:solidFill>
                          <a:srgbClr val="000000"/>
                        </a:solidFill>
                        <a:latin typeface="Arial" panose="020B0604020202020204" pitchFamily="34" charset="0"/>
                        <a:ea typeface="微软雅黑" panose="020B0503020204020204" pitchFamily="34" charset="-122"/>
                        <a:cs typeface="+mn-cs"/>
                        <a:sym typeface="Arial" panose="020B0604020202020204" pitchFamily="34" charset="0"/>
                      </a:endParaRPr>
                    </a:p>
                  </a:txBody>
                  <a:tcPr marL="68580" marR="68580" marT="34290" marB="34290"/>
                </a:tc>
              </a:tr>
              <a:tr h="253856">
                <a:tc>
                  <a:txBody>
                    <a:bodyPr/>
                    <a:lstStyle/>
                    <a:p>
                      <a:pPr algn="ctr"/>
                      <a:r>
                        <a:rPr lang="zh-CN" altLang="en-US" sz="800" b="1" dirty="0">
                          <a:latin typeface="Arial" panose="020B0604020202020204" pitchFamily="34" charset="0"/>
                          <a:ea typeface="微软雅黑" panose="020B0503020204020204" pitchFamily="34" charset="-122"/>
                          <a:sym typeface="Arial" panose="020B0604020202020204" pitchFamily="34" charset="0"/>
                        </a:rPr>
                        <a:t>印花税</a:t>
                      </a:r>
                    </a:p>
                  </a:txBody>
                  <a:tcPr marL="68580" marR="68580" marT="34290" marB="34290"/>
                </a:tc>
                <a:tc>
                  <a:txBody>
                    <a:bodyPr/>
                    <a:lstStyle/>
                    <a:p>
                      <a:pPr algn="ctr" fontAlgn="ctr"/>
                      <a:endParaRPr lang="en-US" altLang="zh-CN" sz="8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algn="ctr" fontAlgn="ctr"/>
                      <a:endParaRPr lang="en-US" altLang="zh-CN" sz="8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marL="0" algn="ctr" defTabSz="914400" rtl="0" eaLnBrk="1" fontAlgn="ctr" latinLnBrk="0" hangingPunct="1"/>
                      <a:endParaRPr lang="zh-CN" altLang="en-US" sz="800" b="0" i="0" u="none" strike="noStrike" kern="1200" dirty="0">
                        <a:solidFill>
                          <a:srgbClr val="000000"/>
                        </a:solidFill>
                        <a:latin typeface="Arial" panose="020B0604020202020204" pitchFamily="34" charset="0"/>
                        <a:ea typeface="微软雅黑" panose="020B0503020204020204" pitchFamily="34" charset="-122"/>
                        <a:cs typeface="+mn-cs"/>
                        <a:sym typeface="Arial" panose="020B0604020202020204" pitchFamily="34" charset="0"/>
                      </a:endParaRPr>
                    </a:p>
                  </a:txBody>
                  <a:tcPr marL="68580" marR="68580" marT="34290" marB="34290"/>
                </a:tc>
                <a:tc>
                  <a:txBody>
                    <a:bodyPr/>
                    <a:lstStyle/>
                    <a:p>
                      <a:pPr algn="ctr" fontAlgn="ctr"/>
                      <a:endParaRPr lang="en-US" altLang="zh-CN" sz="800" b="0"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tc>
                <a:tc>
                  <a:txBody>
                    <a:bodyPr/>
                    <a:lstStyle/>
                    <a:p>
                      <a:pPr marL="0" algn="ctr" defTabSz="914400" rtl="0" eaLnBrk="1" fontAlgn="ctr" latinLnBrk="0" hangingPunct="1"/>
                      <a:endParaRPr lang="zh-CN" altLang="en-US" sz="800" b="0" i="0" u="none" strike="noStrike" kern="1200" dirty="0">
                        <a:solidFill>
                          <a:srgbClr val="000000"/>
                        </a:solidFill>
                        <a:latin typeface="Arial" panose="020B0604020202020204" pitchFamily="34" charset="0"/>
                        <a:ea typeface="微软雅黑" panose="020B0503020204020204" pitchFamily="34" charset="-122"/>
                        <a:cs typeface="+mn-cs"/>
                        <a:sym typeface="Arial" panose="020B0604020202020204" pitchFamily="34" charset="0"/>
                      </a:endParaRPr>
                    </a:p>
                  </a:txBody>
                  <a:tcPr marL="68580" marR="68580" marT="34290" marB="34290"/>
                </a:tc>
              </a:tr>
              <a:tr h="253856">
                <a:tc>
                  <a:txBody>
                    <a:bodyPr/>
                    <a:lstStyle/>
                    <a:p>
                      <a:pPr algn="ctr"/>
                      <a:r>
                        <a:rPr lang="zh-CN" altLang="en-US" sz="800" b="1" dirty="0">
                          <a:latin typeface="Arial" panose="020B0604020202020204" pitchFamily="34" charset="0"/>
                          <a:ea typeface="微软雅黑" panose="020B0503020204020204" pitchFamily="34" charset="-122"/>
                          <a:sym typeface="Arial" panose="020B0604020202020204" pitchFamily="34" charset="0"/>
                        </a:rPr>
                        <a:t>其它税费</a:t>
                      </a:r>
                    </a:p>
                  </a:txBody>
                  <a:tcPr marL="68580" marR="68580" marT="34290" marB="34290"/>
                </a:tc>
                <a:tc>
                  <a:txBody>
                    <a:bodyPr/>
                    <a:lstStyle/>
                    <a:p>
                      <a:pPr marL="0" algn="ctr" defTabSz="914400" rtl="0" eaLnBrk="1" fontAlgn="ctr" latinLnBrk="0" hangingPunct="1"/>
                      <a:endParaRPr lang="zh-CN" altLang="en-US" sz="800" b="0" i="0" u="none" strike="noStrike" kern="1200" dirty="0">
                        <a:solidFill>
                          <a:srgbClr val="000000"/>
                        </a:solidFill>
                        <a:latin typeface="Arial" panose="020B0604020202020204" pitchFamily="34" charset="0"/>
                        <a:ea typeface="微软雅黑" panose="020B0503020204020204" pitchFamily="34" charset="-122"/>
                        <a:cs typeface="+mn-cs"/>
                        <a:sym typeface="Arial" panose="020B0604020202020204" pitchFamily="34" charset="0"/>
                      </a:endParaRPr>
                    </a:p>
                  </a:txBody>
                  <a:tcPr marL="68580" marR="68580" marT="34290" marB="34290"/>
                </a:tc>
                <a:tc>
                  <a:txBody>
                    <a:bodyPr/>
                    <a:lstStyle/>
                    <a:p>
                      <a:pPr marL="0" algn="ctr" defTabSz="914400" rtl="0" eaLnBrk="1" fontAlgn="ctr" latinLnBrk="0" hangingPunct="1"/>
                      <a:endParaRPr lang="zh-CN" altLang="en-US" sz="800" b="0" i="0" u="none" strike="noStrike" kern="1200" dirty="0">
                        <a:solidFill>
                          <a:srgbClr val="000000"/>
                        </a:solidFill>
                        <a:latin typeface="Arial" panose="020B0604020202020204" pitchFamily="34" charset="0"/>
                        <a:ea typeface="微软雅黑" panose="020B0503020204020204" pitchFamily="34" charset="-122"/>
                        <a:cs typeface="+mn-cs"/>
                        <a:sym typeface="Arial" panose="020B0604020202020204" pitchFamily="34" charset="0"/>
                      </a:endParaRPr>
                    </a:p>
                  </a:txBody>
                  <a:tcPr marL="68580" marR="68580" marT="34290" marB="34290"/>
                </a:tc>
                <a:tc>
                  <a:txBody>
                    <a:bodyPr/>
                    <a:lstStyle/>
                    <a:p>
                      <a:pPr marL="0" algn="ctr" defTabSz="914400" rtl="0" eaLnBrk="1" fontAlgn="ctr" latinLnBrk="0" hangingPunct="1"/>
                      <a:endParaRPr lang="zh-CN" altLang="en-US" sz="800" b="0" i="0" u="none" strike="noStrike" kern="1200" dirty="0">
                        <a:solidFill>
                          <a:srgbClr val="000000"/>
                        </a:solidFill>
                        <a:latin typeface="Arial" panose="020B0604020202020204" pitchFamily="34" charset="0"/>
                        <a:ea typeface="微软雅黑" panose="020B0503020204020204" pitchFamily="34" charset="-122"/>
                        <a:cs typeface="+mn-cs"/>
                        <a:sym typeface="Arial" panose="020B0604020202020204" pitchFamily="34" charset="0"/>
                      </a:endParaRPr>
                    </a:p>
                  </a:txBody>
                  <a:tcPr marL="68580" marR="68580" marT="34290" marB="34290"/>
                </a:tc>
                <a:tc>
                  <a:txBody>
                    <a:bodyPr/>
                    <a:lstStyle/>
                    <a:p>
                      <a:pPr marL="0" algn="ctr" defTabSz="914400" rtl="0" eaLnBrk="1" fontAlgn="ctr" latinLnBrk="0" hangingPunct="1"/>
                      <a:endParaRPr lang="zh-CN" altLang="en-US" sz="800" b="0" i="0" u="none" strike="noStrike" kern="1200" dirty="0">
                        <a:solidFill>
                          <a:srgbClr val="000000"/>
                        </a:solidFill>
                        <a:latin typeface="Arial" panose="020B0604020202020204" pitchFamily="34" charset="0"/>
                        <a:ea typeface="微软雅黑" panose="020B0503020204020204" pitchFamily="34" charset="-122"/>
                        <a:cs typeface="+mn-cs"/>
                        <a:sym typeface="Arial" panose="020B0604020202020204" pitchFamily="34" charset="0"/>
                      </a:endParaRPr>
                    </a:p>
                  </a:txBody>
                  <a:tcPr marL="68580" marR="68580" marT="34290" marB="34290"/>
                </a:tc>
                <a:tc>
                  <a:txBody>
                    <a:bodyPr/>
                    <a:lstStyle/>
                    <a:p>
                      <a:pPr marL="0" algn="ctr" defTabSz="914400" rtl="0" eaLnBrk="1" fontAlgn="ctr" latinLnBrk="0" hangingPunct="1"/>
                      <a:endParaRPr lang="zh-CN" altLang="en-US" sz="800" b="0" i="0" u="none" strike="noStrike" kern="1200" dirty="0">
                        <a:solidFill>
                          <a:srgbClr val="000000"/>
                        </a:solidFill>
                        <a:latin typeface="Arial" panose="020B0604020202020204" pitchFamily="34" charset="0"/>
                        <a:ea typeface="微软雅黑" panose="020B0503020204020204" pitchFamily="34" charset="-122"/>
                        <a:cs typeface="+mn-cs"/>
                        <a:sym typeface="Arial" panose="020B0604020202020204" pitchFamily="34" charset="0"/>
                      </a:endParaRPr>
                    </a:p>
                  </a:txBody>
                  <a:tcPr marL="68580" marR="68580" marT="34290" marB="34290"/>
                </a:tc>
              </a:tr>
              <a:tr h="253856">
                <a:tc>
                  <a:txBody>
                    <a:bodyPr/>
                    <a:lstStyle/>
                    <a:p>
                      <a:pPr algn="ctr"/>
                      <a:r>
                        <a:rPr lang="zh-CN" altLang="en-US" sz="800" b="1" dirty="0">
                          <a:latin typeface="Arial" panose="020B0604020202020204" pitchFamily="34" charset="0"/>
                          <a:ea typeface="微软雅黑" panose="020B0503020204020204" pitchFamily="34" charset="-122"/>
                          <a:sym typeface="Arial" panose="020B0604020202020204" pitchFamily="34" charset="0"/>
                        </a:rPr>
                        <a:t> 合计</a:t>
                      </a:r>
                    </a:p>
                  </a:txBody>
                  <a:tcPr marL="68580" marR="68580" marT="34290" marB="34290"/>
                </a:tc>
                <a:tc>
                  <a:txBody>
                    <a:bodyPr/>
                    <a:lstStyle/>
                    <a:p>
                      <a:pPr marL="0" algn="ctr" defTabSz="914400" rtl="0" eaLnBrk="1" fontAlgn="ctr" latinLnBrk="0" hangingPunct="1"/>
                      <a:endParaRPr lang="zh-CN" altLang="en-US" sz="800" b="0" i="0" u="none" strike="noStrike" kern="1200" dirty="0">
                        <a:solidFill>
                          <a:srgbClr val="000000"/>
                        </a:solidFill>
                        <a:latin typeface="Arial" panose="020B0604020202020204" pitchFamily="34" charset="0"/>
                        <a:ea typeface="微软雅黑" panose="020B0503020204020204" pitchFamily="34" charset="-122"/>
                        <a:cs typeface="+mn-cs"/>
                        <a:sym typeface="Arial" panose="020B0604020202020204" pitchFamily="34" charset="0"/>
                      </a:endParaRPr>
                    </a:p>
                  </a:txBody>
                  <a:tcPr marL="68580" marR="68580" marT="34290" marB="34290"/>
                </a:tc>
                <a:tc>
                  <a:txBody>
                    <a:bodyPr/>
                    <a:lstStyle/>
                    <a:p>
                      <a:pPr marL="0" algn="ctr" defTabSz="914400" rtl="0" eaLnBrk="1" fontAlgn="ctr" latinLnBrk="0" hangingPunct="1"/>
                      <a:endParaRPr lang="zh-CN" altLang="en-US" sz="800" b="0" i="0" u="none" strike="noStrike" kern="1200" dirty="0">
                        <a:solidFill>
                          <a:srgbClr val="000000"/>
                        </a:solidFill>
                        <a:latin typeface="Arial" panose="020B0604020202020204" pitchFamily="34" charset="0"/>
                        <a:ea typeface="微软雅黑" panose="020B0503020204020204" pitchFamily="34" charset="-122"/>
                        <a:cs typeface="+mn-cs"/>
                        <a:sym typeface="Arial" panose="020B0604020202020204" pitchFamily="34" charset="0"/>
                      </a:endParaRPr>
                    </a:p>
                  </a:txBody>
                  <a:tcPr marL="68580" marR="68580" marT="34290" marB="34290"/>
                </a:tc>
                <a:tc>
                  <a:txBody>
                    <a:bodyPr/>
                    <a:lstStyle/>
                    <a:p>
                      <a:pPr marL="0" algn="ctr" defTabSz="914400" rtl="0" eaLnBrk="1" fontAlgn="ctr" latinLnBrk="0" hangingPunct="1"/>
                      <a:endParaRPr lang="zh-CN" altLang="en-US" sz="800" b="0" i="0" u="none" strike="noStrike" kern="1200" dirty="0">
                        <a:solidFill>
                          <a:srgbClr val="000000"/>
                        </a:solidFill>
                        <a:latin typeface="Arial" panose="020B0604020202020204" pitchFamily="34" charset="0"/>
                        <a:ea typeface="微软雅黑" panose="020B0503020204020204" pitchFamily="34" charset="-122"/>
                        <a:cs typeface="+mn-cs"/>
                        <a:sym typeface="Arial" panose="020B0604020202020204" pitchFamily="34" charset="0"/>
                      </a:endParaRPr>
                    </a:p>
                  </a:txBody>
                  <a:tcPr marL="68580" marR="68580" marT="34290" marB="34290"/>
                </a:tc>
                <a:tc>
                  <a:txBody>
                    <a:bodyPr/>
                    <a:lstStyle/>
                    <a:p>
                      <a:pPr marL="0" algn="ctr" defTabSz="914400" rtl="0" eaLnBrk="1" fontAlgn="ctr" latinLnBrk="0" hangingPunct="1"/>
                      <a:endParaRPr lang="zh-CN" altLang="en-US" sz="800" b="0" i="0" u="none" strike="noStrike" kern="1200" dirty="0">
                        <a:solidFill>
                          <a:srgbClr val="000000"/>
                        </a:solidFill>
                        <a:latin typeface="Arial" panose="020B0604020202020204" pitchFamily="34" charset="0"/>
                        <a:ea typeface="微软雅黑" panose="020B0503020204020204" pitchFamily="34" charset="-122"/>
                        <a:cs typeface="+mn-cs"/>
                        <a:sym typeface="Arial" panose="020B0604020202020204" pitchFamily="34" charset="0"/>
                      </a:endParaRPr>
                    </a:p>
                  </a:txBody>
                  <a:tcPr marL="68580" marR="68580" marT="34290" marB="34290"/>
                </a:tc>
                <a:tc>
                  <a:txBody>
                    <a:bodyPr/>
                    <a:lstStyle/>
                    <a:p>
                      <a:pPr marL="0" algn="ctr" defTabSz="914400" rtl="0" eaLnBrk="1" fontAlgn="ctr" latinLnBrk="0" hangingPunct="1"/>
                      <a:endParaRPr lang="zh-CN" altLang="en-US" sz="800" b="0" i="0" u="none" strike="noStrike" kern="1200" dirty="0">
                        <a:solidFill>
                          <a:srgbClr val="000000"/>
                        </a:solidFill>
                        <a:latin typeface="Arial" panose="020B0604020202020204" pitchFamily="34" charset="0"/>
                        <a:ea typeface="微软雅黑" panose="020B0503020204020204" pitchFamily="34" charset="-122"/>
                        <a:cs typeface="+mn-cs"/>
                        <a:sym typeface="Arial" panose="020B0604020202020204" pitchFamily="34" charset="0"/>
                      </a:endParaRPr>
                    </a:p>
                  </a:txBody>
                  <a:tcPr marL="68580" marR="68580" marT="34290" marB="34290"/>
                </a:tc>
              </a:tr>
              <a:tr h="253856">
                <a:tc>
                  <a:txBody>
                    <a:bodyPr/>
                    <a:lstStyle/>
                    <a:p>
                      <a:pPr algn="ctr"/>
                      <a:r>
                        <a:rPr lang="zh-CN" altLang="en-US" sz="800" b="1" dirty="0">
                          <a:latin typeface="Arial" panose="020B0604020202020204" pitchFamily="34" charset="0"/>
                          <a:ea typeface="微软雅黑" panose="020B0503020204020204" pitchFamily="34" charset="-122"/>
                          <a:sym typeface="Arial" panose="020B0604020202020204" pitchFamily="34" charset="0"/>
                        </a:rPr>
                        <a:t>总税负率（账面）</a:t>
                      </a:r>
                    </a:p>
                  </a:txBody>
                  <a:tcPr marL="68580" marR="68580" marT="34290" marB="34290">
                    <a:solidFill>
                      <a:schemeClr val="accent2">
                        <a:lumMod val="60000"/>
                        <a:lumOff val="40000"/>
                      </a:schemeClr>
                    </a:solidFill>
                  </a:tcPr>
                </a:tc>
                <a:tc>
                  <a:txBody>
                    <a:bodyPr/>
                    <a:lstStyle/>
                    <a:p>
                      <a:pPr algn="ctr" fontAlgn="ctr"/>
                      <a:endParaRPr lang="en-US" altLang="zh-CN" sz="800" b="1"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solidFill>
                      <a:schemeClr val="accent2">
                        <a:lumMod val="60000"/>
                        <a:lumOff val="40000"/>
                      </a:schemeClr>
                    </a:solidFill>
                  </a:tcPr>
                </a:tc>
                <a:tc>
                  <a:txBody>
                    <a:bodyPr/>
                    <a:lstStyle/>
                    <a:p>
                      <a:pPr algn="ctr" fontAlgn="ctr"/>
                      <a:endParaRPr lang="en-US" altLang="zh-CN" sz="800" b="1"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solidFill>
                      <a:schemeClr val="accent2">
                        <a:lumMod val="60000"/>
                        <a:lumOff val="40000"/>
                      </a:schemeClr>
                    </a:solidFill>
                  </a:tcPr>
                </a:tc>
                <a:tc>
                  <a:txBody>
                    <a:bodyPr/>
                    <a:lstStyle/>
                    <a:p>
                      <a:pPr algn="ctr" fontAlgn="ctr"/>
                      <a:endParaRPr lang="en-US" altLang="zh-CN" sz="800" b="1"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solidFill>
                      <a:schemeClr val="accent2">
                        <a:lumMod val="60000"/>
                        <a:lumOff val="40000"/>
                      </a:schemeClr>
                    </a:solidFill>
                  </a:tcPr>
                </a:tc>
                <a:tc>
                  <a:txBody>
                    <a:bodyPr/>
                    <a:lstStyle/>
                    <a:p>
                      <a:pPr algn="ctr" fontAlgn="ctr"/>
                      <a:endParaRPr lang="en-US" altLang="zh-CN" sz="800" b="1" i="0" u="none" strike="noStrike"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txBody>
                  <a:tcPr marL="0" marR="0" marT="0" marB="0" anchor="ctr">
                    <a:solidFill>
                      <a:schemeClr val="accent2">
                        <a:lumMod val="60000"/>
                        <a:lumOff val="40000"/>
                      </a:schemeClr>
                    </a:solidFill>
                  </a:tcPr>
                </a:tc>
                <a:tc>
                  <a:txBody>
                    <a:bodyPr/>
                    <a:lstStyle/>
                    <a:p>
                      <a:pPr marL="0" algn="ctr" defTabSz="914400" rtl="0" eaLnBrk="1" fontAlgn="ctr" latinLnBrk="0" hangingPunct="1"/>
                      <a:endParaRPr lang="zh-CN" altLang="en-US" sz="800" b="1" i="0" u="none" strike="noStrike" kern="1200" dirty="0">
                        <a:solidFill>
                          <a:srgbClr val="000000"/>
                        </a:solidFill>
                        <a:latin typeface="Arial" panose="020B0604020202020204" pitchFamily="34" charset="0"/>
                        <a:ea typeface="微软雅黑" panose="020B0503020204020204" pitchFamily="34" charset="-122"/>
                        <a:cs typeface="+mn-cs"/>
                        <a:sym typeface="Arial" panose="020B0604020202020204" pitchFamily="34" charset="0"/>
                      </a:endParaRPr>
                    </a:p>
                  </a:txBody>
                  <a:tcPr marL="68580" marR="68580" marT="34290" marB="34290">
                    <a:solidFill>
                      <a:schemeClr val="accent2">
                        <a:lumMod val="60000"/>
                        <a:lumOff val="40000"/>
                      </a:schemeClr>
                    </a:solidFill>
                  </a:tcPr>
                </a:tc>
              </a:tr>
            </a:tbl>
          </a:graphicData>
        </a:graphic>
      </p:graphicFrame>
      <p:sp>
        <p:nvSpPr>
          <p:cNvPr id="10" name="TextBox 7"/>
          <p:cNvSpPr txBox="1"/>
          <p:nvPr/>
        </p:nvSpPr>
        <p:spPr>
          <a:xfrm>
            <a:off x="5454098" y="987575"/>
            <a:ext cx="972108" cy="219291"/>
          </a:xfrm>
          <a:prstGeom prst="rect">
            <a:avLst/>
          </a:prstGeom>
          <a:noFill/>
        </p:spPr>
        <p:txBody>
          <a:bodyPr wrap="square" rtlCol="0">
            <a:spAutoFit/>
          </a:bodyPr>
          <a:lstStyle/>
          <a:p>
            <a:r>
              <a:rPr lang="zh-CN" altLang="en-US" sz="825" b="1" dirty="0">
                <a:latin typeface="Arial" panose="020B0604020202020204" pitchFamily="34" charset="0"/>
                <a:ea typeface="微软雅黑" panose="020B0503020204020204" pitchFamily="34" charset="-122"/>
                <a:sym typeface="Arial" panose="020B0604020202020204" pitchFamily="34" charset="0"/>
              </a:rPr>
              <a:t>单位：万元</a:t>
            </a:r>
          </a:p>
        </p:txBody>
      </p:sp>
      <p:pic>
        <p:nvPicPr>
          <p:cNvPr id="3" name="图片 2"/>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6732240" y="2211710"/>
            <a:ext cx="2160240" cy="1671423"/>
          </a:xfrm>
          <a:prstGeom prst="rect">
            <a:avLst/>
          </a:prstGeom>
        </p:spPr>
      </p:pic>
    </p:spTree>
  </p:cSld>
  <p:clrMapOvr>
    <a:masterClrMapping/>
  </p:clrMapOvr>
  <p:transition spd="slow" advClick="0" advTm="0">
    <p:cove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18" cstate="print">
            <a:extLst>
              <a:ext uri="{28A0092B-C50C-407E-A947-70E740481C1C}">
                <a14:useLocalDpi xmlns:a14="http://schemas.microsoft.com/office/drawing/2010/main"/>
              </a:ext>
            </a:extLst>
          </a:blip>
          <a:stretch>
            <a:fillRect/>
          </a:stretch>
        </p:blipFill>
        <p:spPr>
          <a:xfrm>
            <a:off x="-1" y="0"/>
            <a:ext cx="9144001" cy="5143500"/>
          </a:xfrm>
          <a:prstGeom prst="rect">
            <a:avLst/>
          </a:prstGeom>
        </p:spPr>
      </p:pic>
      <p:sp>
        <p:nvSpPr>
          <p:cNvPr id="55" name="Rectangle 3"/>
          <p:cNvSpPr txBox="1">
            <a:spLocks noChangeArrowheads="1"/>
          </p:cNvSpPr>
          <p:nvPr/>
        </p:nvSpPr>
        <p:spPr>
          <a:xfrm>
            <a:off x="2410775" y="455071"/>
            <a:ext cx="6543203" cy="1617107"/>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150000"/>
              </a:lnSpc>
            </a:pPr>
            <a:r>
              <a:rPr lang="zh-CN" altLang="en-US" sz="5800" b="1" smtClean="0">
                <a:solidFill>
                  <a:schemeClr val="accent1"/>
                </a:solidFill>
                <a:latin typeface="Arial" panose="020B0604020202020204" pitchFamily="34" charset="0"/>
                <a:ea typeface="微软雅黑" panose="020B0503020204020204" pitchFamily="34" charset="-122"/>
                <a:sym typeface="Arial" panose="020B0604020202020204" pitchFamily="34" charset="0"/>
              </a:rPr>
              <a:t>谢谢观看</a:t>
            </a:r>
            <a:endParaRPr sz="5800" b="1"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cxnSp>
        <p:nvCxnSpPr>
          <p:cNvPr id="56" name="直接连接符 5"/>
          <p:cNvCxnSpPr>
            <a:cxnSpLocks noChangeShapeType="1"/>
          </p:cNvCxnSpPr>
          <p:nvPr/>
        </p:nvCxnSpPr>
        <p:spPr bwMode="auto">
          <a:xfrm flipH="1">
            <a:off x="4209904" y="1995686"/>
            <a:ext cx="4034504" cy="0"/>
          </a:xfrm>
          <a:prstGeom prst="line">
            <a:avLst/>
          </a:prstGeom>
          <a:noFill/>
          <a:ln w="12700">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7" name="矩形 9"/>
          <p:cNvSpPr>
            <a:spLocks noChangeArrowheads="1"/>
          </p:cNvSpPr>
          <p:nvPr/>
        </p:nvSpPr>
        <p:spPr bwMode="auto">
          <a:xfrm>
            <a:off x="8763956" y="1123264"/>
            <a:ext cx="380044" cy="1931107"/>
          </a:xfrm>
          <a:prstGeom prst="rect">
            <a:avLst/>
          </a:prstGeom>
          <a:solidFill>
            <a:schemeClr val="accent1"/>
          </a:solidFill>
          <a:ln>
            <a:noFill/>
          </a:ln>
        </p:spPr>
        <p:txBody>
          <a:bodyPr lIns="68557" tIns="34279" rIns="68557" bIns="34279"/>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ea typeface="微软雅黑" panose="020B0503020204020204" pitchFamily="34" charset="-122"/>
              <a:sym typeface="Arial" panose="020B0604020202020204" pitchFamily="34" charset="0"/>
            </a:endParaRPr>
          </a:p>
        </p:txBody>
      </p:sp>
      <p:sp>
        <p:nvSpPr>
          <p:cNvPr id="59" name="Rectangle 4"/>
          <p:cNvSpPr txBox="1">
            <a:spLocks noChangeArrowheads="1"/>
          </p:cNvSpPr>
          <p:nvPr/>
        </p:nvSpPr>
        <p:spPr>
          <a:xfrm>
            <a:off x="3524857" y="2202679"/>
            <a:ext cx="4814274" cy="197149"/>
          </a:xfrm>
          <a:prstGeom prst="rect">
            <a:avLst/>
          </a:prstGeom>
        </p:spPr>
        <p:txBody>
          <a:bodyPr vert="horz" lIns="91440" tIns="45720" rIns="91440" bIns="45720" rtlCol="0"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r">
              <a:buNone/>
            </a:pPr>
            <a:r>
              <a:rPr lang="zh-CN" altLang="en-US" sz="1600" smtClean="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财务报表丨 数据报告 丨财务分析丨 商业汇报</a:t>
            </a:r>
            <a:endParaRPr lang="zh-CN" altLang="en-US" sz="16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60" name="PA-组合 6"/>
          <p:cNvGrpSpPr/>
          <p:nvPr>
            <p:custDataLst>
              <p:tags r:id="rId1"/>
            </p:custDataLst>
          </p:nvPr>
        </p:nvGrpSpPr>
        <p:grpSpPr>
          <a:xfrm>
            <a:off x="6774758" y="2660436"/>
            <a:ext cx="432048" cy="432834"/>
            <a:chOff x="6084168" y="1274820"/>
            <a:chExt cx="432048" cy="432834"/>
          </a:xfrm>
        </p:grpSpPr>
        <p:sp>
          <p:nvSpPr>
            <p:cNvPr id="61" name="PA-椭圆 22"/>
            <p:cNvSpPr>
              <a:spLocks noChangeArrowheads="1"/>
            </p:cNvSpPr>
            <p:nvPr>
              <p:custDataLst>
                <p:tags r:id="rId14"/>
              </p:custDataLst>
            </p:nvPr>
          </p:nvSpPr>
          <p:spPr bwMode="auto">
            <a:xfrm>
              <a:off x="6084168" y="1274820"/>
              <a:ext cx="432048" cy="432834"/>
            </a:xfrm>
            <a:prstGeom prst="ellipse">
              <a:avLst/>
            </a:prstGeom>
            <a:solidFill>
              <a:schemeClr val="accent1"/>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00">
                <a:solidFill>
                  <a:srgbClr val="FFFFFF"/>
                </a:solidFill>
                <a:ea typeface="微软雅黑" panose="020B0503020204020204" pitchFamily="34" charset="-122"/>
                <a:sym typeface="Arial" panose="020B0604020202020204" pitchFamily="34" charset="0"/>
              </a:endParaRPr>
            </a:p>
          </p:txBody>
        </p:sp>
        <p:sp>
          <p:nvSpPr>
            <p:cNvPr id="62" name="PA-任意多边形 59"/>
            <p:cNvSpPr>
              <a:spLocks noChangeArrowheads="1"/>
            </p:cNvSpPr>
            <p:nvPr>
              <p:custDataLst>
                <p:tags r:id="rId15"/>
              </p:custDataLst>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sz="100">
                <a:latin typeface="Arial" panose="020B0604020202020204" pitchFamily="34" charset="0"/>
                <a:ea typeface="微软雅黑" panose="020B0503020204020204" pitchFamily="34" charset="-122"/>
                <a:sym typeface="Arial" panose="020B0604020202020204" pitchFamily="34" charset="0"/>
              </a:endParaRPr>
            </a:p>
          </p:txBody>
        </p:sp>
      </p:grpSp>
      <p:grpSp>
        <p:nvGrpSpPr>
          <p:cNvPr id="63" name="PA-组合 5"/>
          <p:cNvGrpSpPr/>
          <p:nvPr>
            <p:custDataLst>
              <p:tags r:id="rId2"/>
            </p:custDataLst>
          </p:nvPr>
        </p:nvGrpSpPr>
        <p:grpSpPr>
          <a:xfrm>
            <a:off x="5478614" y="2660829"/>
            <a:ext cx="432048" cy="432048"/>
            <a:chOff x="4788024" y="1275213"/>
            <a:chExt cx="432048" cy="432048"/>
          </a:xfrm>
        </p:grpSpPr>
        <p:sp>
          <p:nvSpPr>
            <p:cNvPr id="64" name="PA-椭圆 65"/>
            <p:cNvSpPr>
              <a:spLocks noChangeArrowheads="1"/>
            </p:cNvSpPr>
            <p:nvPr>
              <p:custDataLst>
                <p:tags r:id="rId12"/>
              </p:custDataLst>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00">
                <a:solidFill>
                  <a:srgbClr val="FFFFFF"/>
                </a:solidFill>
                <a:ea typeface="微软雅黑" panose="020B0503020204020204" pitchFamily="34" charset="-122"/>
                <a:sym typeface="Arial" panose="020B0604020202020204" pitchFamily="34" charset="0"/>
              </a:endParaRPr>
            </a:p>
          </p:txBody>
        </p:sp>
        <p:sp>
          <p:nvSpPr>
            <p:cNvPr id="65" name="PA-任意多边形 110"/>
            <p:cNvSpPr>
              <a:spLocks noChangeArrowheads="1"/>
            </p:cNvSpPr>
            <p:nvPr>
              <p:custDataLst>
                <p:tags r:id="rId13"/>
              </p:custDataLst>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sz="100">
                <a:latin typeface="Arial" panose="020B0604020202020204" pitchFamily="34" charset="0"/>
                <a:ea typeface="微软雅黑" panose="020B0503020204020204" pitchFamily="34" charset="-122"/>
                <a:sym typeface="Arial" panose="020B0604020202020204" pitchFamily="34" charset="0"/>
              </a:endParaRPr>
            </a:p>
          </p:txBody>
        </p:sp>
      </p:grpSp>
      <p:grpSp>
        <p:nvGrpSpPr>
          <p:cNvPr id="66" name="PA-组合 8"/>
          <p:cNvGrpSpPr/>
          <p:nvPr>
            <p:custDataLst>
              <p:tags r:id="rId3"/>
            </p:custDataLst>
          </p:nvPr>
        </p:nvGrpSpPr>
        <p:grpSpPr>
          <a:xfrm>
            <a:off x="6126686" y="2660436"/>
            <a:ext cx="432833" cy="432834"/>
            <a:chOff x="5436096" y="1274820"/>
            <a:chExt cx="432833" cy="432834"/>
          </a:xfrm>
        </p:grpSpPr>
        <p:sp>
          <p:nvSpPr>
            <p:cNvPr id="67" name="PA-椭圆 16"/>
            <p:cNvSpPr>
              <a:spLocks noChangeArrowheads="1"/>
            </p:cNvSpPr>
            <p:nvPr>
              <p:custDataLst>
                <p:tags r:id="rId10"/>
              </p:custDataLst>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00">
                <a:solidFill>
                  <a:srgbClr val="FFFFFF"/>
                </a:solidFill>
                <a:ea typeface="微软雅黑" panose="020B0503020204020204" pitchFamily="34" charset="-122"/>
                <a:sym typeface="Arial" panose="020B0604020202020204" pitchFamily="34" charset="0"/>
              </a:endParaRPr>
            </a:p>
          </p:txBody>
        </p:sp>
        <p:sp>
          <p:nvSpPr>
            <p:cNvPr id="68" name="PA-任意多边形 16"/>
            <p:cNvSpPr>
              <a:spLocks noChangeArrowheads="1"/>
            </p:cNvSpPr>
            <p:nvPr>
              <p:custDataLst>
                <p:tags r:id="rId11"/>
              </p:custDataLst>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sz="100">
                <a:latin typeface="Arial" panose="020B0604020202020204" pitchFamily="34" charset="0"/>
                <a:ea typeface="微软雅黑" panose="020B0503020204020204" pitchFamily="34" charset="-122"/>
                <a:sym typeface="Arial" panose="020B0604020202020204" pitchFamily="34" charset="0"/>
              </a:endParaRPr>
            </a:p>
          </p:txBody>
        </p:sp>
      </p:grpSp>
      <p:grpSp>
        <p:nvGrpSpPr>
          <p:cNvPr id="69" name="PA-组合 3"/>
          <p:cNvGrpSpPr/>
          <p:nvPr>
            <p:custDataLst>
              <p:tags r:id="rId4"/>
            </p:custDataLst>
          </p:nvPr>
        </p:nvGrpSpPr>
        <p:grpSpPr>
          <a:xfrm>
            <a:off x="4182470" y="2660436"/>
            <a:ext cx="432833" cy="432834"/>
            <a:chOff x="3491880" y="1274820"/>
            <a:chExt cx="432833" cy="432834"/>
          </a:xfrm>
        </p:grpSpPr>
        <p:sp>
          <p:nvSpPr>
            <p:cNvPr id="70" name="PA-椭圆 16"/>
            <p:cNvSpPr>
              <a:spLocks noChangeArrowheads="1"/>
            </p:cNvSpPr>
            <p:nvPr>
              <p:custDataLst>
                <p:tags r:id="rId8"/>
              </p:custDataLst>
            </p:nvPr>
          </p:nvSpPr>
          <p:spPr bwMode="auto">
            <a:xfrm>
              <a:off x="3491880" y="1274820"/>
              <a:ext cx="432833" cy="432834"/>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00">
                <a:solidFill>
                  <a:srgbClr val="FFFFFF"/>
                </a:solidFill>
                <a:ea typeface="微软雅黑" panose="020B0503020204020204" pitchFamily="34" charset="-122"/>
                <a:sym typeface="Arial" panose="020B0604020202020204" pitchFamily="34" charset="0"/>
              </a:endParaRPr>
            </a:p>
          </p:txBody>
        </p:sp>
        <p:sp>
          <p:nvSpPr>
            <p:cNvPr id="71" name="PA-任意多边形 75"/>
            <p:cNvSpPr>
              <a:spLocks noChangeArrowheads="1"/>
            </p:cNvSpPr>
            <p:nvPr>
              <p:custDataLst>
                <p:tags r:id="rId9"/>
              </p:custDataLst>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sz="100">
                <a:latin typeface="Arial" panose="020B0604020202020204" pitchFamily="34" charset="0"/>
                <a:ea typeface="微软雅黑" panose="020B0503020204020204" pitchFamily="34" charset="-122"/>
                <a:sym typeface="Arial" panose="020B0604020202020204" pitchFamily="34" charset="0"/>
              </a:endParaRPr>
            </a:p>
          </p:txBody>
        </p:sp>
      </p:grpSp>
      <p:grpSp>
        <p:nvGrpSpPr>
          <p:cNvPr id="72" name="PA-组合 4"/>
          <p:cNvGrpSpPr/>
          <p:nvPr>
            <p:custDataLst>
              <p:tags r:id="rId5"/>
            </p:custDataLst>
          </p:nvPr>
        </p:nvGrpSpPr>
        <p:grpSpPr>
          <a:xfrm>
            <a:off x="4830542" y="2660436"/>
            <a:ext cx="432833" cy="432834"/>
            <a:chOff x="4139952" y="1274820"/>
            <a:chExt cx="432833" cy="432834"/>
          </a:xfrm>
        </p:grpSpPr>
        <p:sp>
          <p:nvSpPr>
            <p:cNvPr id="73" name="PA-椭圆 16"/>
            <p:cNvSpPr>
              <a:spLocks noChangeArrowheads="1"/>
            </p:cNvSpPr>
            <p:nvPr>
              <p:custDataLst>
                <p:tags r:id="rId6"/>
              </p:custDataLst>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00">
                <a:solidFill>
                  <a:srgbClr val="FFFFFF"/>
                </a:solidFill>
                <a:ea typeface="微软雅黑" panose="020B0503020204020204" pitchFamily="34" charset="-122"/>
                <a:sym typeface="Arial" panose="020B0604020202020204" pitchFamily="34" charset="0"/>
              </a:endParaRPr>
            </a:p>
          </p:txBody>
        </p:sp>
        <p:sp>
          <p:nvSpPr>
            <p:cNvPr id="74" name="PA-任意多边形 84"/>
            <p:cNvSpPr>
              <a:spLocks noChangeArrowheads="1"/>
            </p:cNvSpPr>
            <p:nvPr>
              <p:custDataLst>
                <p:tags r:id="rId7"/>
              </p:custDataLst>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sz="100">
                <a:latin typeface="Arial" panose="020B0604020202020204" pitchFamily="34" charset="0"/>
                <a:ea typeface="微软雅黑" panose="020B0503020204020204" pitchFamily="34" charset="-122"/>
                <a:sym typeface="Arial" panose="020B0604020202020204" pitchFamily="34" charset="0"/>
              </a:endParaRPr>
            </a:p>
          </p:txBody>
        </p:sp>
      </p:grpSp>
    </p:spTree>
  </p:cSld>
  <p:clrMapOvr>
    <a:masterClrMapping/>
  </p:clrMapOvr>
  <mc:AlternateContent xmlns:mc="http://schemas.openxmlformats.org/markup-compatibility/2006" xmlns:p14="http://schemas.microsoft.com/office/powerpoint/2010/main">
    <mc:Choice Requires="p14">
      <p:transition spd="slow" p14:dur="1200" advClick="0" advTm="0">
        <p14:flip dir="r"/>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2" presetClass="entr" presetSubtype="0" fill="hold" grpId="0" nodeType="afterEffect">
                                  <p:stCondLst>
                                    <p:cond delay="0"/>
                                  </p:stCondLst>
                                  <p:childTnLst>
                                    <p:set>
                                      <p:cBhvr>
                                        <p:cTn id="6" dur="1" fill="hold">
                                          <p:stCondLst>
                                            <p:cond delay="0"/>
                                          </p:stCondLst>
                                        </p:cTn>
                                        <p:tgtEl>
                                          <p:spTgt spid="55"/>
                                        </p:tgtEl>
                                        <p:attrNameLst>
                                          <p:attrName>style.visibility</p:attrName>
                                        </p:attrNameLst>
                                      </p:cBhvr>
                                      <p:to>
                                        <p:strVal val="visible"/>
                                      </p:to>
                                    </p:set>
                                    <p:animScale>
                                      <p:cBhvr>
                                        <p:cTn id="7" dur="1000" decel="50000" fill="hold">
                                          <p:stCondLst>
                                            <p:cond delay="0"/>
                                          </p:stCondLst>
                                        </p:cTn>
                                        <p:tgtEl>
                                          <p:spTgt spid="55"/>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55"/>
                                        </p:tgtEl>
                                        <p:attrNameLst>
                                          <p:attrName>ppt_x</p:attrName>
                                          <p:attrName>ppt_y</p:attrName>
                                        </p:attrNameLst>
                                      </p:cBhvr>
                                    </p:animMotion>
                                    <p:animEffect transition="in" filter="fade">
                                      <p:cBhvr>
                                        <p:cTn id="9" dur="1000"/>
                                        <p:tgtEl>
                                          <p:spTgt spid="55"/>
                                        </p:tgtEl>
                                      </p:cBhvr>
                                    </p:animEffect>
                                  </p:childTnLst>
                                </p:cTn>
                              </p:par>
                            </p:childTnLst>
                          </p:cTn>
                        </p:par>
                        <p:par>
                          <p:cTn id="10" fill="hold">
                            <p:stCondLst>
                              <p:cond delay="1000"/>
                            </p:stCondLst>
                            <p:childTnLst>
                              <p:par>
                                <p:cTn id="11" presetID="2" presetClass="entr" presetSubtype="8" fill="hold" nodeType="afterEffect">
                                  <p:stCondLst>
                                    <p:cond delay="0"/>
                                  </p:stCondLst>
                                  <p:childTnLst>
                                    <p:set>
                                      <p:cBhvr>
                                        <p:cTn id="12" dur="1" fill="hold">
                                          <p:stCondLst>
                                            <p:cond delay="0"/>
                                          </p:stCondLst>
                                        </p:cTn>
                                        <p:tgtEl>
                                          <p:spTgt spid="56"/>
                                        </p:tgtEl>
                                        <p:attrNameLst>
                                          <p:attrName>style.visibility</p:attrName>
                                        </p:attrNameLst>
                                      </p:cBhvr>
                                      <p:to>
                                        <p:strVal val="visible"/>
                                      </p:to>
                                    </p:set>
                                    <p:anim calcmode="lin" valueType="num">
                                      <p:cBhvr additive="base">
                                        <p:cTn id="13" dur="500" fill="hold"/>
                                        <p:tgtEl>
                                          <p:spTgt spid="56"/>
                                        </p:tgtEl>
                                        <p:attrNameLst>
                                          <p:attrName>ppt_x</p:attrName>
                                        </p:attrNameLst>
                                      </p:cBhvr>
                                      <p:tavLst>
                                        <p:tav tm="0">
                                          <p:val>
                                            <p:strVal val="0-#ppt_w/2"/>
                                          </p:val>
                                        </p:tav>
                                        <p:tav tm="100000">
                                          <p:val>
                                            <p:strVal val="#ppt_x"/>
                                          </p:val>
                                        </p:tav>
                                      </p:tavLst>
                                    </p:anim>
                                    <p:anim calcmode="lin" valueType="num">
                                      <p:cBhvr additive="base">
                                        <p:cTn id="14" dur="500" fill="hold"/>
                                        <p:tgtEl>
                                          <p:spTgt spid="56"/>
                                        </p:tgtEl>
                                        <p:attrNameLst>
                                          <p:attrName>ppt_y</p:attrName>
                                        </p:attrNameLst>
                                      </p:cBhvr>
                                      <p:tavLst>
                                        <p:tav tm="0">
                                          <p:val>
                                            <p:strVal val="#ppt_y"/>
                                          </p:val>
                                        </p:tav>
                                        <p:tav tm="100000">
                                          <p:val>
                                            <p:strVal val="#ppt_y"/>
                                          </p:val>
                                        </p:tav>
                                      </p:tavLst>
                                    </p:anim>
                                  </p:childTnLst>
                                </p:cTn>
                              </p:par>
                            </p:childTnLst>
                          </p:cTn>
                        </p:par>
                        <p:par>
                          <p:cTn id="15" fill="hold">
                            <p:stCondLst>
                              <p:cond delay="1500"/>
                            </p:stCondLst>
                            <p:childTnLst>
                              <p:par>
                                <p:cTn id="16" presetID="42" presetClass="entr" presetSubtype="0" fill="hold" grpId="0" nodeType="afterEffect">
                                  <p:stCondLst>
                                    <p:cond delay="0"/>
                                  </p:stCondLst>
                                  <p:childTnLst>
                                    <p:set>
                                      <p:cBhvr>
                                        <p:cTn id="17" dur="1" fill="hold">
                                          <p:stCondLst>
                                            <p:cond delay="0"/>
                                          </p:stCondLst>
                                        </p:cTn>
                                        <p:tgtEl>
                                          <p:spTgt spid="57"/>
                                        </p:tgtEl>
                                        <p:attrNameLst>
                                          <p:attrName>style.visibility</p:attrName>
                                        </p:attrNameLst>
                                      </p:cBhvr>
                                      <p:to>
                                        <p:strVal val="visible"/>
                                      </p:to>
                                    </p:set>
                                    <p:animEffect transition="in" filter="fade">
                                      <p:cBhvr>
                                        <p:cTn id="18" dur="1000"/>
                                        <p:tgtEl>
                                          <p:spTgt spid="57"/>
                                        </p:tgtEl>
                                      </p:cBhvr>
                                    </p:animEffect>
                                    <p:anim calcmode="lin" valueType="num">
                                      <p:cBhvr>
                                        <p:cTn id="19" dur="1000" fill="hold"/>
                                        <p:tgtEl>
                                          <p:spTgt spid="57"/>
                                        </p:tgtEl>
                                        <p:attrNameLst>
                                          <p:attrName>ppt_x</p:attrName>
                                        </p:attrNameLst>
                                      </p:cBhvr>
                                      <p:tavLst>
                                        <p:tav tm="0">
                                          <p:val>
                                            <p:strVal val="#ppt_x"/>
                                          </p:val>
                                        </p:tav>
                                        <p:tav tm="100000">
                                          <p:val>
                                            <p:strVal val="#ppt_x"/>
                                          </p:val>
                                        </p:tav>
                                      </p:tavLst>
                                    </p:anim>
                                    <p:anim calcmode="lin" valueType="num">
                                      <p:cBhvr>
                                        <p:cTn id="20" dur="1000" fill="hold"/>
                                        <p:tgtEl>
                                          <p:spTgt spid="57"/>
                                        </p:tgtEl>
                                        <p:attrNameLst>
                                          <p:attrName>ppt_y</p:attrName>
                                        </p:attrNameLst>
                                      </p:cBhvr>
                                      <p:tavLst>
                                        <p:tav tm="0">
                                          <p:val>
                                            <p:strVal val="#ppt_y+.1"/>
                                          </p:val>
                                        </p:tav>
                                        <p:tav tm="100000">
                                          <p:val>
                                            <p:strVal val="#ppt_y"/>
                                          </p:val>
                                        </p:tav>
                                      </p:tavLst>
                                    </p:anim>
                                  </p:childTnLst>
                                </p:cTn>
                              </p:par>
                            </p:childTnLst>
                          </p:cTn>
                        </p:par>
                        <p:par>
                          <p:cTn id="21" fill="hold">
                            <p:stCondLst>
                              <p:cond delay="2500"/>
                            </p:stCondLst>
                            <p:childTnLst>
                              <p:par>
                                <p:cTn id="22" presetID="31" presetClass="entr" presetSubtype="0" fill="hold" grpId="0" nodeType="afterEffect">
                                  <p:stCondLst>
                                    <p:cond delay="0"/>
                                  </p:stCondLst>
                                  <p:childTnLst>
                                    <p:set>
                                      <p:cBhvr>
                                        <p:cTn id="23" dur="1" fill="hold">
                                          <p:stCondLst>
                                            <p:cond delay="0"/>
                                          </p:stCondLst>
                                        </p:cTn>
                                        <p:tgtEl>
                                          <p:spTgt spid="59"/>
                                        </p:tgtEl>
                                        <p:attrNameLst>
                                          <p:attrName>style.visibility</p:attrName>
                                        </p:attrNameLst>
                                      </p:cBhvr>
                                      <p:to>
                                        <p:strVal val="visible"/>
                                      </p:to>
                                    </p:set>
                                    <p:anim calcmode="lin" valueType="num">
                                      <p:cBhvr>
                                        <p:cTn id="24" dur="1000" fill="hold"/>
                                        <p:tgtEl>
                                          <p:spTgt spid="59"/>
                                        </p:tgtEl>
                                        <p:attrNameLst>
                                          <p:attrName>ppt_w</p:attrName>
                                        </p:attrNameLst>
                                      </p:cBhvr>
                                      <p:tavLst>
                                        <p:tav tm="0">
                                          <p:val>
                                            <p:fltVal val="0"/>
                                          </p:val>
                                        </p:tav>
                                        <p:tav tm="100000">
                                          <p:val>
                                            <p:strVal val="#ppt_w"/>
                                          </p:val>
                                        </p:tav>
                                      </p:tavLst>
                                    </p:anim>
                                    <p:anim calcmode="lin" valueType="num">
                                      <p:cBhvr>
                                        <p:cTn id="25" dur="1000" fill="hold"/>
                                        <p:tgtEl>
                                          <p:spTgt spid="59"/>
                                        </p:tgtEl>
                                        <p:attrNameLst>
                                          <p:attrName>ppt_h</p:attrName>
                                        </p:attrNameLst>
                                      </p:cBhvr>
                                      <p:tavLst>
                                        <p:tav tm="0">
                                          <p:val>
                                            <p:fltVal val="0"/>
                                          </p:val>
                                        </p:tav>
                                        <p:tav tm="100000">
                                          <p:val>
                                            <p:strVal val="#ppt_h"/>
                                          </p:val>
                                        </p:tav>
                                      </p:tavLst>
                                    </p:anim>
                                    <p:anim calcmode="lin" valueType="num">
                                      <p:cBhvr>
                                        <p:cTn id="26" dur="1000" fill="hold"/>
                                        <p:tgtEl>
                                          <p:spTgt spid="59"/>
                                        </p:tgtEl>
                                        <p:attrNameLst>
                                          <p:attrName>style.rotation</p:attrName>
                                        </p:attrNameLst>
                                      </p:cBhvr>
                                      <p:tavLst>
                                        <p:tav tm="0">
                                          <p:val>
                                            <p:fltVal val="90"/>
                                          </p:val>
                                        </p:tav>
                                        <p:tav tm="100000">
                                          <p:val>
                                            <p:fltVal val="0"/>
                                          </p:val>
                                        </p:tav>
                                      </p:tavLst>
                                    </p:anim>
                                    <p:animEffect transition="in" filter="fade">
                                      <p:cBhvr>
                                        <p:cTn id="27" dur="1000"/>
                                        <p:tgtEl>
                                          <p:spTgt spid="59"/>
                                        </p:tgtEl>
                                      </p:cBhvr>
                                    </p:animEffect>
                                  </p:childTnLst>
                                </p:cTn>
                              </p:par>
                            </p:childTnLst>
                          </p:cTn>
                        </p:par>
                        <p:par>
                          <p:cTn id="28" fill="hold">
                            <p:stCondLst>
                              <p:cond delay="3500"/>
                            </p:stCondLst>
                            <p:childTnLst>
                              <p:par>
                                <p:cTn id="29" presetID="0" presetClass="entr" presetSubtype="0" decel="50000" fill="hold" nodeType="afterEffect">
                                  <p:stCondLst>
                                    <p:cond delay="0"/>
                                  </p:stCondLst>
                                  <p:childTnLst>
                                    <p:set>
                                      <p:cBhvr>
                                        <p:cTn id="30" dur="750" fill="hold">
                                          <p:stCondLst>
                                            <p:cond delay="0"/>
                                          </p:stCondLst>
                                        </p:cTn>
                                        <p:tgtEl>
                                          <p:spTgt spid="60"/>
                                        </p:tgtEl>
                                        <p:attrNameLst>
                                          <p:attrName>style.visibility</p:attrName>
                                        </p:attrNameLst>
                                      </p:cBhvr>
                                      <p:to>
                                        <p:strVal val="visible"/>
                                      </p:to>
                                    </p:set>
                                    <p:animScale>
                                      <p:cBhvr>
                                        <p:cTn id="31" dur="225" decel="50000" fill="hold">
                                          <p:stCondLst>
                                            <p:cond delay="0"/>
                                          </p:stCondLst>
                                        </p:cTn>
                                        <p:tgtEl>
                                          <p:spTgt spid="60"/>
                                        </p:tgtEl>
                                      </p:cBhvr>
                                      <p:from x="150000" y="150000"/>
                                      <p:to x="50000" y="50000"/>
                                    </p:animScale>
                                    <p:anim to="" calcmode="lin" valueType="num">
                                      <p:cBhvr>
                                        <p:cTn id="32" dur="225" decel="50000" fill="hold">
                                          <p:stCondLst>
                                            <p:cond delay="0"/>
                                          </p:stCondLst>
                                        </p:cTn>
                                        <p:tgtEl>
                                          <p:spTgt spid="60"/>
                                        </p:tgtEl>
                                        <p:attrNameLst>
                                          <p:attrName>ppt_x</p:attrName>
                                        </p:attrNameLst>
                                      </p:cBhvr>
                                      <p:tavLst>
                                        <p:tav tm="0">
                                          <p:val>
                                            <p:strVal val="#ppt_x-0.05"/>
                                          </p:val>
                                        </p:tav>
                                        <p:tav tm="100000">
                                          <p:val>
                                            <p:strVal val="#ppt_x+0.02"/>
                                          </p:val>
                                        </p:tav>
                                      </p:tavLst>
                                    </p:anim>
                                    <p:animScale>
                                      <p:cBhvr>
                                        <p:cTn id="33" dur="375" accel="50000" fill="hold">
                                          <p:stCondLst>
                                            <p:cond delay="225"/>
                                          </p:stCondLst>
                                        </p:cTn>
                                        <p:tgtEl>
                                          <p:spTgt spid="60"/>
                                        </p:tgtEl>
                                      </p:cBhvr>
                                      <p:from x="50000" y="50000"/>
                                      <p:to x="100000" y="100000"/>
                                    </p:animScale>
                                    <p:anim to="" calcmode="lin" valueType="num">
                                      <p:cBhvr>
                                        <p:cTn id="34" dur="375" accel="50000" fill="hold">
                                          <p:stCondLst>
                                            <p:cond delay="225"/>
                                          </p:stCondLst>
                                        </p:cTn>
                                        <p:tgtEl>
                                          <p:spTgt spid="60"/>
                                        </p:tgtEl>
                                        <p:attrNameLst>
                                          <p:attrName>ppt_x</p:attrName>
                                        </p:attrNameLst>
                                      </p:cBhvr>
                                      <p:tavLst>
                                        <p:tav tm="0">
                                          <p:val>
                                            <p:strVal val="ppt_x"/>
                                          </p:val>
                                        </p:tav>
                                        <p:tav tm="100000">
                                          <p:val>
                                            <p:strVal val="#ppt_x"/>
                                          </p:val>
                                        </p:tav>
                                      </p:tavLst>
                                    </p:anim>
                                    <p:anim to="" calcmode="lin" valueType="num">
                                      <p:cBhvr>
                                        <p:cTn id="35" dur="225" decel="50000" fill="hold">
                                          <p:stCondLst>
                                            <p:cond delay="0"/>
                                          </p:stCondLst>
                                        </p:cTn>
                                        <p:tgtEl>
                                          <p:spTgt spid="60"/>
                                        </p:tgtEl>
                                        <p:attrNameLst>
                                          <p:attrName>ppt_y</p:attrName>
                                        </p:attrNameLst>
                                      </p:cBhvr>
                                      <p:tavLst>
                                        <p:tav tm="0">
                                          <p:val>
                                            <p:strVal val="#ppt_y-0.05"/>
                                          </p:val>
                                        </p:tav>
                                        <p:tav tm="100000">
                                          <p:val>
                                            <p:strVal val="#ppt_y+0.05"/>
                                          </p:val>
                                        </p:tav>
                                      </p:tavLst>
                                    </p:anim>
                                    <p:anim to="" calcmode="lin" valueType="num">
                                      <p:cBhvr>
                                        <p:cTn id="36" dur="375" accel="50000" fill="hold">
                                          <p:stCondLst>
                                            <p:cond delay="225"/>
                                          </p:stCondLst>
                                        </p:cTn>
                                        <p:tgtEl>
                                          <p:spTgt spid="60"/>
                                        </p:tgtEl>
                                        <p:attrNameLst>
                                          <p:attrName>ppt_y</p:attrName>
                                        </p:attrNameLst>
                                      </p:cBhvr>
                                      <p:tavLst>
                                        <p:tav tm="0">
                                          <p:val>
                                            <p:strVal val="ppt_y"/>
                                          </p:val>
                                        </p:tav>
                                        <p:tav tm="100000">
                                          <p:val>
                                            <p:strVal val="#ppt_y"/>
                                          </p:val>
                                        </p:tav>
                                      </p:tavLst>
                                    </p:anim>
                                    <p:animRot by="21600000">
                                      <p:cBhvr>
                                        <p:cTn id="37" dur="750" decel="50000" fill="hold">
                                          <p:stCondLst>
                                            <p:cond delay="0"/>
                                          </p:stCondLst>
                                        </p:cTn>
                                        <p:tgtEl>
                                          <p:spTgt spid="60"/>
                                        </p:tgtEl>
                                        <p:attrNameLst>
                                          <p:attrName>r</p:attrName>
                                        </p:attrNameLst>
                                      </p:cBhvr>
                                    </p:animRot>
                                    <p:animRot by="21600000">
                                      <p:cBhvr>
                                        <p:cTn id="38" dur="375" accel="50000" fill="hold">
                                          <p:stCondLst>
                                            <p:cond delay="225"/>
                                          </p:stCondLst>
                                        </p:cTn>
                                        <p:tgtEl>
                                          <p:spTgt spid="60"/>
                                        </p:tgtEl>
                                        <p:attrNameLst>
                                          <p:attrName>r</p:attrName>
                                        </p:attrNameLst>
                                      </p:cBhvr>
                                    </p:animRot>
                                    <p:animEffect filter="fade">
                                      <p:cBhvr>
                                        <p:cTn id="39" dur="225">
                                          <p:stCondLst>
                                            <p:cond delay="0"/>
                                          </p:stCondLst>
                                        </p:cTn>
                                        <p:tgtEl>
                                          <p:spTgt spid="60"/>
                                        </p:tgtEl>
                                      </p:cBhvr>
                                    </p:animEffect>
                                  </p:childTnLst>
                                </p:cTn>
                              </p:par>
                              <p:par>
                                <p:cTn id="40" presetID="0" presetClass="entr" presetSubtype="0" decel="50000" fill="hold" nodeType="withEffect">
                                  <p:stCondLst>
                                    <p:cond delay="0"/>
                                  </p:stCondLst>
                                  <p:childTnLst>
                                    <p:set>
                                      <p:cBhvr>
                                        <p:cTn id="41" dur="750" fill="hold">
                                          <p:stCondLst>
                                            <p:cond delay="0"/>
                                          </p:stCondLst>
                                        </p:cTn>
                                        <p:tgtEl>
                                          <p:spTgt spid="63"/>
                                        </p:tgtEl>
                                        <p:attrNameLst>
                                          <p:attrName>style.visibility</p:attrName>
                                        </p:attrNameLst>
                                      </p:cBhvr>
                                      <p:to>
                                        <p:strVal val="visible"/>
                                      </p:to>
                                    </p:set>
                                    <p:animScale>
                                      <p:cBhvr>
                                        <p:cTn id="42" dur="225" decel="50000" fill="hold">
                                          <p:stCondLst>
                                            <p:cond delay="0"/>
                                          </p:stCondLst>
                                        </p:cTn>
                                        <p:tgtEl>
                                          <p:spTgt spid="63"/>
                                        </p:tgtEl>
                                      </p:cBhvr>
                                      <p:from x="150000" y="150000"/>
                                      <p:to x="50000" y="50000"/>
                                    </p:animScale>
                                    <p:anim to="" calcmode="lin" valueType="num">
                                      <p:cBhvr>
                                        <p:cTn id="43" dur="225" decel="50000" fill="hold">
                                          <p:stCondLst>
                                            <p:cond delay="0"/>
                                          </p:stCondLst>
                                        </p:cTn>
                                        <p:tgtEl>
                                          <p:spTgt spid="63"/>
                                        </p:tgtEl>
                                        <p:attrNameLst>
                                          <p:attrName>ppt_x</p:attrName>
                                        </p:attrNameLst>
                                      </p:cBhvr>
                                      <p:tavLst>
                                        <p:tav tm="0">
                                          <p:val>
                                            <p:strVal val="#ppt_x-0.05"/>
                                          </p:val>
                                        </p:tav>
                                        <p:tav tm="100000">
                                          <p:val>
                                            <p:strVal val="#ppt_x+0.02"/>
                                          </p:val>
                                        </p:tav>
                                      </p:tavLst>
                                    </p:anim>
                                    <p:animScale>
                                      <p:cBhvr>
                                        <p:cTn id="44" dur="375" accel="50000" fill="hold">
                                          <p:stCondLst>
                                            <p:cond delay="225"/>
                                          </p:stCondLst>
                                        </p:cTn>
                                        <p:tgtEl>
                                          <p:spTgt spid="63"/>
                                        </p:tgtEl>
                                      </p:cBhvr>
                                      <p:from x="50000" y="50000"/>
                                      <p:to x="100000" y="100000"/>
                                    </p:animScale>
                                    <p:anim to="" calcmode="lin" valueType="num">
                                      <p:cBhvr>
                                        <p:cTn id="45" dur="375" accel="50000" fill="hold">
                                          <p:stCondLst>
                                            <p:cond delay="225"/>
                                          </p:stCondLst>
                                        </p:cTn>
                                        <p:tgtEl>
                                          <p:spTgt spid="63"/>
                                        </p:tgtEl>
                                        <p:attrNameLst>
                                          <p:attrName>ppt_x</p:attrName>
                                        </p:attrNameLst>
                                      </p:cBhvr>
                                      <p:tavLst>
                                        <p:tav tm="0">
                                          <p:val>
                                            <p:strVal val="ppt_x"/>
                                          </p:val>
                                        </p:tav>
                                        <p:tav tm="100000">
                                          <p:val>
                                            <p:strVal val="#ppt_x"/>
                                          </p:val>
                                        </p:tav>
                                      </p:tavLst>
                                    </p:anim>
                                    <p:anim to="" calcmode="lin" valueType="num">
                                      <p:cBhvr>
                                        <p:cTn id="46" dur="225" decel="50000" fill="hold">
                                          <p:stCondLst>
                                            <p:cond delay="0"/>
                                          </p:stCondLst>
                                        </p:cTn>
                                        <p:tgtEl>
                                          <p:spTgt spid="63"/>
                                        </p:tgtEl>
                                        <p:attrNameLst>
                                          <p:attrName>ppt_y</p:attrName>
                                        </p:attrNameLst>
                                      </p:cBhvr>
                                      <p:tavLst>
                                        <p:tav tm="0">
                                          <p:val>
                                            <p:strVal val="#ppt_y-0.05"/>
                                          </p:val>
                                        </p:tav>
                                        <p:tav tm="100000">
                                          <p:val>
                                            <p:strVal val="#ppt_y+0.05"/>
                                          </p:val>
                                        </p:tav>
                                      </p:tavLst>
                                    </p:anim>
                                    <p:anim to="" calcmode="lin" valueType="num">
                                      <p:cBhvr>
                                        <p:cTn id="47" dur="375" accel="50000" fill="hold">
                                          <p:stCondLst>
                                            <p:cond delay="225"/>
                                          </p:stCondLst>
                                        </p:cTn>
                                        <p:tgtEl>
                                          <p:spTgt spid="63"/>
                                        </p:tgtEl>
                                        <p:attrNameLst>
                                          <p:attrName>ppt_y</p:attrName>
                                        </p:attrNameLst>
                                      </p:cBhvr>
                                      <p:tavLst>
                                        <p:tav tm="0">
                                          <p:val>
                                            <p:strVal val="ppt_y"/>
                                          </p:val>
                                        </p:tav>
                                        <p:tav tm="100000">
                                          <p:val>
                                            <p:strVal val="#ppt_y"/>
                                          </p:val>
                                        </p:tav>
                                      </p:tavLst>
                                    </p:anim>
                                    <p:animRot by="21600000">
                                      <p:cBhvr>
                                        <p:cTn id="48" dur="750" decel="50000" fill="hold">
                                          <p:stCondLst>
                                            <p:cond delay="0"/>
                                          </p:stCondLst>
                                        </p:cTn>
                                        <p:tgtEl>
                                          <p:spTgt spid="63"/>
                                        </p:tgtEl>
                                        <p:attrNameLst>
                                          <p:attrName>r</p:attrName>
                                        </p:attrNameLst>
                                      </p:cBhvr>
                                    </p:animRot>
                                    <p:animRot by="21600000">
                                      <p:cBhvr>
                                        <p:cTn id="49" dur="375" accel="50000" fill="hold">
                                          <p:stCondLst>
                                            <p:cond delay="225"/>
                                          </p:stCondLst>
                                        </p:cTn>
                                        <p:tgtEl>
                                          <p:spTgt spid="63"/>
                                        </p:tgtEl>
                                        <p:attrNameLst>
                                          <p:attrName>r</p:attrName>
                                        </p:attrNameLst>
                                      </p:cBhvr>
                                    </p:animRot>
                                    <p:animEffect filter="fade">
                                      <p:cBhvr>
                                        <p:cTn id="50" dur="225">
                                          <p:stCondLst>
                                            <p:cond delay="0"/>
                                          </p:stCondLst>
                                        </p:cTn>
                                        <p:tgtEl>
                                          <p:spTgt spid="63"/>
                                        </p:tgtEl>
                                      </p:cBhvr>
                                    </p:animEffect>
                                  </p:childTnLst>
                                </p:cTn>
                              </p:par>
                              <p:par>
                                <p:cTn id="51" presetID="0" presetClass="entr" presetSubtype="0" decel="50000" fill="hold" nodeType="withEffect">
                                  <p:stCondLst>
                                    <p:cond delay="0"/>
                                  </p:stCondLst>
                                  <p:childTnLst>
                                    <p:set>
                                      <p:cBhvr>
                                        <p:cTn id="52" dur="750" fill="hold">
                                          <p:stCondLst>
                                            <p:cond delay="0"/>
                                          </p:stCondLst>
                                        </p:cTn>
                                        <p:tgtEl>
                                          <p:spTgt spid="66"/>
                                        </p:tgtEl>
                                        <p:attrNameLst>
                                          <p:attrName>style.visibility</p:attrName>
                                        </p:attrNameLst>
                                      </p:cBhvr>
                                      <p:to>
                                        <p:strVal val="visible"/>
                                      </p:to>
                                    </p:set>
                                    <p:animScale>
                                      <p:cBhvr>
                                        <p:cTn id="53" dur="225" decel="50000" fill="hold">
                                          <p:stCondLst>
                                            <p:cond delay="0"/>
                                          </p:stCondLst>
                                        </p:cTn>
                                        <p:tgtEl>
                                          <p:spTgt spid="66"/>
                                        </p:tgtEl>
                                      </p:cBhvr>
                                      <p:from x="150000" y="150000"/>
                                      <p:to x="50000" y="50000"/>
                                    </p:animScale>
                                    <p:anim to="" calcmode="lin" valueType="num">
                                      <p:cBhvr>
                                        <p:cTn id="54" dur="225" decel="50000" fill="hold">
                                          <p:stCondLst>
                                            <p:cond delay="0"/>
                                          </p:stCondLst>
                                        </p:cTn>
                                        <p:tgtEl>
                                          <p:spTgt spid="66"/>
                                        </p:tgtEl>
                                        <p:attrNameLst>
                                          <p:attrName>ppt_x</p:attrName>
                                        </p:attrNameLst>
                                      </p:cBhvr>
                                      <p:tavLst>
                                        <p:tav tm="0">
                                          <p:val>
                                            <p:strVal val="#ppt_x-0.05"/>
                                          </p:val>
                                        </p:tav>
                                        <p:tav tm="100000">
                                          <p:val>
                                            <p:strVal val="#ppt_x+0.02"/>
                                          </p:val>
                                        </p:tav>
                                      </p:tavLst>
                                    </p:anim>
                                    <p:animScale>
                                      <p:cBhvr>
                                        <p:cTn id="55" dur="375" accel="50000" fill="hold">
                                          <p:stCondLst>
                                            <p:cond delay="225"/>
                                          </p:stCondLst>
                                        </p:cTn>
                                        <p:tgtEl>
                                          <p:spTgt spid="66"/>
                                        </p:tgtEl>
                                      </p:cBhvr>
                                      <p:from x="50000" y="50000"/>
                                      <p:to x="100000" y="100000"/>
                                    </p:animScale>
                                    <p:anim to="" calcmode="lin" valueType="num">
                                      <p:cBhvr>
                                        <p:cTn id="56" dur="375" accel="50000" fill="hold">
                                          <p:stCondLst>
                                            <p:cond delay="225"/>
                                          </p:stCondLst>
                                        </p:cTn>
                                        <p:tgtEl>
                                          <p:spTgt spid="66"/>
                                        </p:tgtEl>
                                        <p:attrNameLst>
                                          <p:attrName>ppt_x</p:attrName>
                                        </p:attrNameLst>
                                      </p:cBhvr>
                                      <p:tavLst>
                                        <p:tav tm="0">
                                          <p:val>
                                            <p:strVal val="ppt_x"/>
                                          </p:val>
                                        </p:tav>
                                        <p:tav tm="100000">
                                          <p:val>
                                            <p:strVal val="#ppt_x"/>
                                          </p:val>
                                        </p:tav>
                                      </p:tavLst>
                                    </p:anim>
                                    <p:anim to="" calcmode="lin" valueType="num">
                                      <p:cBhvr>
                                        <p:cTn id="57" dur="225" decel="50000" fill="hold">
                                          <p:stCondLst>
                                            <p:cond delay="0"/>
                                          </p:stCondLst>
                                        </p:cTn>
                                        <p:tgtEl>
                                          <p:spTgt spid="66"/>
                                        </p:tgtEl>
                                        <p:attrNameLst>
                                          <p:attrName>ppt_y</p:attrName>
                                        </p:attrNameLst>
                                      </p:cBhvr>
                                      <p:tavLst>
                                        <p:tav tm="0">
                                          <p:val>
                                            <p:strVal val="#ppt_y-0.05"/>
                                          </p:val>
                                        </p:tav>
                                        <p:tav tm="100000">
                                          <p:val>
                                            <p:strVal val="#ppt_y+0.05"/>
                                          </p:val>
                                        </p:tav>
                                      </p:tavLst>
                                    </p:anim>
                                    <p:anim to="" calcmode="lin" valueType="num">
                                      <p:cBhvr>
                                        <p:cTn id="58" dur="375" accel="50000" fill="hold">
                                          <p:stCondLst>
                                            <p:cond delay="225"/>
                                          </p:stCondLst>
                                        </p:cTn>
                                        <p:tgtEl>
                                          <p:spTgt spid="66"/>
                                        </p:tgtEl>
                                        <p:attrNameLst>
                                          <p:attrName>ppt_y</p:attrName>
                                        </p:attrNameLst>
                                      </p:cBhvr>
                                      <p:tavLst>
                                        <p:tav tm="0">
                                          <p:val>
                                            <p:strVal val="ppt_y"/>
                                          </p:val>
                                        </p:tav>
                                        <p:tav tm="100000">
                                          <p:val>
                                            <p:strVal val="#ppt_y"/>
                                          </p:val>
                                        </p:tav>
                                      </p:tavLst>
                                    </p:anim>
                                    <p:animRot by="21600000">
                                      <p:cBhvr>
                                        <p:cTn id="59" dur="750" decel="50000" fill="hold">
                                          <p:stCondLst>
                                            <p:cond delay="0"/>
                                          </p:stCondLst>
                                        </p:cTn>
                                        <p:tgtEl>
                                          <p:spTgt spid="66"/>
                                        </p:tgtEl>
                                        <p:attrNameLst>
                                          <p:attrName>r</p:attrName>
                                        </p:attrNameLst>
                                      </p:cBhvr>
                                    </p:animRot>
                                    <p:animRot by="21600000">
                                      <p:cBhvr>
                                        <p:cTn id="60" dur="375" accel="50000" fill="hold">
                                          <p:stCondLst>
                                            <p:cond delay="225"/>
                                          </p:stCondLst>
                                        </p:cTn>
                                        <p:tgtEl>
                                          <p:spTgt spid="66"/>
                                        </p:tgtEl>
                                        <p:attrNameLst>
                                          <p:attrName>r</p:attrName>
                                        </p:attrNameLst>
                                      </p:cBhvr>
                                    </p:animRot>
                                    <p:animEffect filter="fade">
                                      <p:cBhvr>
                                        <p:cTn id="61" dur="225">
                                          <p:stCondLst>
                                            <p:cond delay="0"/>
                                          </p:stCondLst>
                                        </p:cTn>
                                        <p:tgtEl>
                                          <p:spTgt spid="66"/>
                                        </p:tgtEl>
                                      </p:cBhvr>
                                    </p:animEffect>
                                  </p:childTnLst>
                                </p:cTn>
                              </p:par>
                              <p:par>
                                <p:cTn id="62" presetID="0" presetClass="entr" presetSubtype="0" decel="50000" fill="hold" nodeType="withEffect">
                                  <p:stCondLst>
                                    <p:cond delay="0"/>
                                  </p:stCondLst>
                                  <p:childTnLst>
                                    <p:set>
                                      <p:cBhvr>
                                        <p:cTn id="63" dur="750" fill="hold">
                                          <p:stCondLst>
                                            <p:cond delay="0"/>
                                          </p:stCondLst>
                                        </p:cTn>
                                        <p:tgtEl>
                                          <p:spTgt spid="69"/>
                                        </p:tgtEl>
                                        <p:attrNameLst>
                                          <p:attrName>style.visibility</p:attrName>
                                        </p:attrNameLst>
                                      </p:cBhvr>
                                      <p:to>
                                        <p:strVal val="visible"/>
                                      </p:to>
                                    </p:set>
                                    <p:animScale>
                                      <p:cBhvr>
                                        <p:cTn id="64" dur="225" decel="50000" fill="hold">
                                          <p:stCondLst>
                                            <p:cond delay="0"/>
                                          </p:stCondLst>
                                        </p:cTn>
                                        <p:tgtEl>
                                          <p:spTgt spid="69"/>
                                        </p:tgtEl>
                                      </p:cBhvr>
                                      <p:from x="150000" y="150000"/>
                                      <p:to x="50000" y="50000"/>
                                    </p:animScale>
                                    <p:anim to="" calcmode="lin" valueType="num">
                                      <p:cBhvr>
                                        <p:cTn id="65" dur="225" decel="50000" fill="hold">
                                          <p:stCondLst>
                                            <p:cond delay="0"/>
                                          </p:stCondLst>
                                        </p:cTn>
                                        <p:tgtEl>
                                          <p:spTgt spid="69"/>
                                        </p:tgtEl>
                                        <p:attrNameLst>
                                          <p:attrName>ppt_x</p:attrName>
                                        </p:attrNameLst>
                                      </p:cBhvr>
                                      <p:tavLst>
                                        <p:tav tm="0">
                                          <p:val>
                                            <p:strVal val="#ppt_x-0.05"/>
                                          </p:val>
                                        </p:tav>
                                        <p:tav tm="100000">
                                          <p:val>
                                            <p:strVal val="#ppt_x+0.02"/>
                                          </p:val>
                                        </p:tav>
                                      </p:tavLst>
                                    </p:anim>
                                    <p:animScale>
                                      <p:cBhvr>
                                        <p:cTn id="66" dur="375" accel="50000" fill="hold">
                                          <p:stCondLst>
                                            <p:cond delay="225"/>
                                          </p:stCondLst>
                                        </p:cTn>
                                        <p:tgtEl>
                                          <p:spTgt spid="69"/>
                                        </p:tgtEl>
                                      </p:cBhvr>
                                      <p:from x="50000" y="50000"/>
                                      <p:to x="100000" y="100000"/>
                                    </p:animScale>
                                    <p:anim to="" calcmode="lin" valueType="num">
                                      <p:cBhvr>
                                        <p:cTn id="67" dur="375" accel="50000" fill="hold">
                                          <p:stCondLst>
                                            <p:cond delay="225"/>
                                          </p:stCondLst>
                                        </p:cTn>
                                        <p:tgtEl>
                                          <p:spTgt spid="69"/>
                                        </p:tgtEl>
                                        <p:attrNameLst>
                                          <p:attrName>ppt_x</p:attrName>
                                        </p:attrNameLst>
                                      </p:cBhvr>
                                      <p:tavLst>
                                        <p:tav tm="0">
                                          <p:val>
                                            <p:strVal val="ppt_x"/>
                                          </p:val>
                                        </p:tav>
                                        <p:tav tm="100000">
                                          <p:val>
                                            <p:strVal val="#ppt_x"/>
                                          </p:val>
                                        </p:tav>
                                      </p:tavLst>
                                    </p:anim>
                                    <p:anim to="" calcmode="lin" valueType="num">
                                      <p:cBhvr>
                                        <p:cTn id="68" dur="225" decel="50000" fill="hold">
                                          <p:stCondLst>
                                            <p:cond delay="0"/>
                                          </p:stCondLst>
                                        </p:cTn>
                                        <p:tgtEl>
                                          <p:spTgt spid="69"/>
                                        </p:tgtEl>
                                        <p:attrNameLst>
                                          <p:attrName>ppt_y</p:attrName>
                                        </p:attrNameLst>
                                      </p:cBhvr>
                                      <p:tavLst>
                                        <p:tav tm="0">
                                          <p:val>
                                            <p:strVal val="#ppt_y-0.05"/>
                                          </p:val>
                                        </p:tav>
                                        <p:tav tm="100000">
                                          <p:val>
                                            <p:strVal val="#ppt_y+0.05"/>
                                          </p:val>
                                        </p:tav>
                                      </p:tavLst>
                                    </p:anim>
                                    <p:anim to="" calcmode="lin" valueType="num">
                                      <p:cBhvr>
                                        <p:cTn id="69" dur="375" accel="50000" fill="hold">
                                          <p:stCondLst>
                                            <p:cond delay="225"/>
                                          </p:stCondLst>
                                        </p:cTn>
                                        <p:tgtEl>
                                          <p:spTgt spid="69"/>
                                        </p:tgtEl>
                                        <p:attrNameLst>
                                          <p:attrName>ppt_y</p:attrName>
                                        </p:attrNameLst>
                                      </p:cBhvr>
                                      <p:tavLst>
                                        <p:tav tm="0">
                                          <p:val>
                                            <p:strVal val="ppt_y"/>
                                          </p:val>
                                        </p:tav>
                                        <p:tav tm="100000">
                                          <p:val>
                                            <p:strVal val="#ppt_y"/>
                                          </p:val>
                                        </p:tav>
                                      </p:tavLst>
                                    </p:anim>
                                    <p:animRot by="21600000">
                                      <p:cBhvr>
                                        <p:cTn id="70" dur="750" decel="50000" fill="hold">
                                          <p:stCondLst>
                                            <p:cond delay="0"/>
                                          </p:stCondLst>
                                        </p:cTn>
                                        <p:tgtEl>
                                          <p:spTgt spid="69"/>
                                        </p:tgtEl>
                                        <p:attrNameLst>
                                          <p:attrName>r</p:attrName>
                                        </p:attrNameLst>
                                      </p:cBhvr>
                                    </p:animRot>
                                    <p:animRot by="21600000">
                                      <p:cBhvr>
                                        <p:cTn id="71" dur="375" accel="50000" fill="hold">
                                          <p:stCondLst>
                                            <p:cond delay="225"/>
                                          </p:stCondLst>
                                        </p:cTn>
                                        <p:tgtEl>
                                          <p:spTgt spid="69"/>
                                        </p:tgtEl>
                                        <p:attrNameLst>
                                          <p:attrName>r</p:attrName>
                                        </p:attrNameLst>
                                      </p:cBhvr>
                                    </p:animRot>
                                    <p:animEffect filter="fade">
                                      <p:cBhvr>
                                        <p:cTn id="72" dur="225">
                                          <p:stCondLst>
                                            <p:cond delay="0"/>
                                          </p:stCondLst>
                                        </p:cTn>
                                        <p:tgtEl>
                                          <p:spTgt spid="69"/>
                                        </p:tgtEl>
                                      </p:cBhvr>
                                    </p:animEffect>
                                  </p:childTnLst>
                                </p:cTn>
                              </p:par>
                              <p:par>
                                <p:cTn id="73" presetID="0" presetClass="entr" presetSubtype="0" decel="50000" fill="hold" nodeType="withEffect">
                                  <p:stCondLst>
                                    <p:cond delay="0"/>
                                  </p:stCondLst>
                                  <p:childTnLst>
                                    <p:set>
                                      <p:cBhvr>
                                        <p:cTn id="74" dur="750" fill="hold">
                                          <p:stCondLst>
                                            <p:cond delay="0"/>
                                          </p:stCondLst>
                                        </p:cTn>
                                        <p:tgtEl>
                                          <p:spTgt spid="72"/>
                                        </p:tgtEl>
                                        <p:attrNameLst>
                                          <p:attrName>style.visibility</p:attrName>
                                        </p:attrNameLst>
                                      </p:cBhvr>
                                      <p:to>
                                        <p:strVal val="visible"/>
                                      </p:to>
                                    </p:set>
                                    <p:animScale>
                                      <p:cBhvr>
                                        <p:cTn id="75" dur="225" decel="50000" fill="hold">
                                          <p:stCondLst>
                                            <p:cond delay="0"/>
                                          </p:stCondLst>
                                        </p:cTn>
                                        <p:tgtEl>
                                          <p:spTgt spid="72"/>
                                        </p:tgtEl>
                                      </p:cBhvr>
                                      <p:from x="150000" y="150000"/>
                                      <p:to x="50000" y="50000"/>
                                    </p:animScale>
                                    <p:anim to="" calcmode="lin" valueType="num">
                                      <p:cBhvr>
                                        <p:cTn id="76" dur="225" decel="50000" fill="hold">
                                          <p:stCondLst>
                                            <p:cond delay="0"/>
                                          </p:stCondLst>
                                        </p:cTn>
                                        <p:tgtEl>
                                          <p:spTgt spid="72"/>
                                        </p:tgtEl>
                                        <p:attrNameLst>
                                          <p:attrName>ppt_x</p:attrName>
                                        </p:attrNameLst>
                                      </p:cBhvr>
                                      <p:tavLst>
                                        <p:tav tm="0">
                                          <p:val>
                                            <p:strVal val="#ppt_x-0.05"/>
                                          </p:val>
                                        </p:tav>
                                        <p:tav tm="100000">
                                          <p:val>
                                            <p:strVal val="#ppt_x+0.02"/>
                                          </p:val>
                                        </p:tav>
                                      </p:tavLst>
                                    </p:anim>
                                    <p:animScale>
                                      <p:cBhvr>
                                        <p:cTn id="77" dur="375" accel="50000" fill="hold">
                                          <p:stCondLst>
                                            <p:cond delay="225"/>
                                          </p:stCondLst>
                                        </p:cTn>
                                        <p:tgtEl>
                                          <p:spTgt spid="72"/>
                                        </p:tgtEl>
                                      </p:cBhvr>
                                      <p:from x="50000" y="50000"/>
                                      <p:to x="100000" y="100000"/>
                                    </p:animScale>
                                    <p:anim to="" calcmode="lin" valueType="num">
                                      <p:cBhvr>
                                        <p:cTn id="78" dur="375" accel="50000" fill="hold">
                                          <p:stCondLst>
                                            <p:cond delay="225"/>
                                          </p:stCondLst>
                                        </p:cTn>
                                        <p:tgtEl>
                                          <p:spTgt spid="72"/>
                                        </p:tgtEl>
                                        <p:attrNameLst>
                                          <p:attrName>ppt_x</p:attrName>
                                        </p:attrNameLst>
                                      </p:cBhvr>
                                      <p:tavLst>
                                        <p:tav tm="0">
                                          <p:val>
                                            <p:strVal val="ppt_x"/>
                                          </p:val>
                                        </p:tav>
                                        <p:tav tm="100000">
                                          <p:val>
                                            <p:strVal val="#ppt_x"/>
                                          </p:val>
                                        </p:tav>
                                      </p:tavLst>
                                    </p:anim>
                                    <p:anim to="" calcmode="lin" valueType="num">
                                      <p:cBhvr>
                                        <p:cTn id="79" dur="225" decel="50000" fill="hold">
                                          <p:stCondLst>
                                            <p:cond delay="0"/>
                                          </p:stCondLst>
                                        </p:cTn>
                                        <p:tgtEl>
                                          <p:spTgt spid="72"/>
                                        </p:tgtEl>
                                        <p:attrNameLst>
                                          <p:attrName>ppt_y</p:attrName>
                                        </p:attrNameLst>
                                      </p:cBhvr>
                                      <p:tavLst>
                                        <p:tav tm="0">
                                          <p:val>
                                            <p:strVal val="#ppt_y-0.05"/>
                                          </p:val>
                                        </p:tav>
                                        <p:tav tm="100000">
                                          <p:val>
                                            <p:strVal val="#ppt_y+0.05"/>
                                          </p:val>
                                        </p:tav>
                                      </p:tavLst>
                                    </p:anim>
                                    <p:anim to="" calcmode="lin" valueType="num">
                                      <p:cBhvr>
                                        <p:cTn id="80" dur="375" accel="50000" fill="hold">
                                          <p:stCondLst>
                                            <p:cond delay="225"/>
                                          </p:stCondLst>
                                        </p:cTn>
                                        <p:tgtEl>
                                          <p:spTgt spid="72"/>
                                        </p:tgtEl>
                                        <p:attrNameLst>
                                          <p:attrName>ppt_y</p:attrName>
                                        </p:attrNameLst>
                                      </p:cBhvr>
                                      <p:tavLst>
                                        <p:tav tm="0">
                                          <p:val>
                                            <p:strVal val="ppt_y"/>
                                          </p:val>
                                        </p:tav>
                                        <p:tav tm="100000">
                                          <p:val>
                                            <p:strVal val="#ppt_y"/>
                                          </p:val>
                                        </p:tav>
                                      </p:tavLst>
                                    </p:anim>
                                    <p:animRot by="21600000">
                                      <p:cBhvr>
                                        <p:cTn id="81" dur="750" decel="50000" fill="hold">
                                          <p:stCondLst>
                                            <p:cond delay="0"/>
                                          </p:stCondLst>
                                        </p:cTn>
                                        <p:tgtEl>
                                          <p:spTgt spid="72"/>
                                        </p:tgtEl>
                                        <p:attrNameLst>
                                          <p:attrName>r</p:attrName>
                                        </p:attrNameLst>
                                      </p:cBhvr>
                                    </p:animRot>
                                    <p:animRot by="21600000">
                                      <p:cBhvr>
                                        <p:cTn id="82" dur="375" accel="50000" fill="hold">
                                          <p:stCondLst>
                                            <p:cond delay="225"/>
                                          </p:stCondLst>
                                        </p:cTn>
                                        <p:tgtEl>
                                          <p:spTgt spid="72"/>
                                        </p:tgtEl>
                                        <p:attrNameLst>
                                          <p:attrName>r</p:attrName>
                                        </p:attrNameLst>
                                      </p:cBhvr>
                                    </p:animRot>
                                    <p:animEffect filter="fade">
                                      <p:cBhvr>
                                        <p:cTn id="83" dur="225">
                                          <p:stCondLst>
                                            <p:cond delay="0"/>
                                          </p:stCondLst>
                                        </p:cTn>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p:bldP spid="57" grpId="0" animBg="1"/>
      <p:bldP spid="59" grpId="0"/>
    </p:bldLst>
  </p:timing>
</p:sld>
</file>

<file path=ppt/tags/tag1.xml><?xml version="1.0" encoding="utf-8"?>
<p:tagLst xmlns:a="http://schemas.openxmlformats.org/drawingml/2006/main" xmlns:r="http://schemas.openxmlformats.org/officeDocument/2006/relationships" xmlns:p="http://schemas.openxmlformats.org/presentationml/2006/main">
  <p:tag name="PA" val="v5.0.4"/>
  <p:tag name="RESOURCELIBID" val="449"/>
</p:tagLst>
</file>

<file path=ppt/tags/tag2.xml><?xml version="1.0" encoding="utf-8"?>
<p:tagLst xmlns:a="http://schemas.openxmlformats.org/drawingml/2006/main" xmlns:r="http://schemas.openxmlformats.org/officeDocument/2006/relationships" xmlns:p="http://schemas.openxmlformats.org/presentationml/2006/main">
  <p:tag name="PA" val="v5.0.4"/>
  <p:tag name="RESOURCELIBID" val="449"/>
</p:tagLst>
</file>

<file path=ppt/tags/tag3.xml><?xml version="1.0" encoding="utf-8"?>
<p:tagLst xmlns:a="http://schemas.openxmlformats.org/drawingml/2006/main" xmlns:r="http://schemas.openxmlformats.org/officeDocument/2006/relationships" xmlns:p="http://schemas.openxmlformats.org/presentationml/2006/main">
  <p:tag name="PA" val="v5.0.4"/>
  <p:tag name="RESOURCELIBID" val="449"/>
</p:tagLst>
</file>

<file path=ppt/tags/tag4.xml><?xml version="1.0" encoding="utf-8"?>
<p:tagLst xmlns:a="http://schemas.openxmlformats.org/drawingml/2006/main" xmlns:r="http://schemas.openxmlformats.org/officeDocument/2006/relationships" xmlns:p="http://schemas.openxmlformats.org/presentationml/2006/main">
  <p:tag name="PA" val="v5.0.4"/>
  <p:tag name="RESOURCELIBID" val="449"/>
</p:tagLst>
</file>

<file path=ppt/tags/tag5.xml><?xml version="1.0" encoding="utf-8"?>
<p:tagLst xmlns:a="http://schemas.openxmlformats.org/drawingml/2006/main" xmlns:r="http://schemas.openxmlformats.org/officeDocument/2006/relationships" xmlns:p="http://schemas.openxmlformats.org/presentationml/2006/main">
  <p:tag name="PA" val="v5.0.4"/>
  <p:tag name="RESOURCELIBID" val="449"/>
</p:tagLst>
</file>

<file path=ppt/tags/tag6.xml><?xml version="1.0" encoding="utf-8"?>
<p:tagLst xmlns:a="http://schemas.openxmlformats.org/drawingml/2006/main" xmlns:r="http://schemas.openxmlformats.org/officeDocument/2006/relationships" xmlns:p="http://schemas.openxmlformats.org/presentationml/2006/main">
  <p:tag name="PA" val="v5.0.4"/>
</p:tagLst>
</file>

<file path=ppt/tags/tag7.xml><?xml version="1.0" encoding="utf-8"?>
<p:tagLst xmlns:a="http://schemas.openxmlformats.org/drawingml/2006/main" xmlns:r="http://schemas.openxmlformats.org/officeDocument/2006/relationships" xmlns:p="http://schemas.openxmlformats.org/presentationml/2006/main">
  <p:tag name="PA" val="v5.0.4"/>
</p:tagLst>
</file>

<file path=ppt/tags/tag8.xml><?xml version="1.0" encoding="utf-8"?>
<p:tagLst xmlns:a="http://schemas.openxmlformats.org/drawingml/2006/main" xmlns:r="http://schemas.openxmlformats.org/officeDocument/2006/relationships" xmlns:p="http://schemas.openxmlformats.org/presentationml/2006/main">
  <p:tag name="PA" val="v5.0.4"/>
</p:tagLst>
</file>

<file path=ppt/tags/tag9.xml><?xml version="1.0" encoding="utf-8"?>
<p:tagLst xmlns:a="http://schemas.openxmlformats.org/drawingml/2006/main" xmlns:r="http://schemas.openxmlformats.org/officeDocument/2006/relationships" xmlns:p="http://schemas.openxmlformats.org/presentationml/2006/main">
  <p:tag name="PA" val="v5.0.4"/>
</p:tagLst>
</file>

<file path=ppt/tags/tag10.xml><?xml version="1.0" encoding="utf-8"?>
<p:tagLst xmlns:a="http://schemas.openxmlformats.org/drawingml/2006/main" xmlns:r="http://schemas.openxmlformats.org/officeDocument/2006/relationships" xmlns:p="http://schemas.openxmlformats.org/presentationml/2006/main">
  <p:tag name="PA" val="v5.0.4"/>
</p:tagLst>
</file>

<file path=ppt/tags/tag11.xml><?xml version="1.0" encoding="utf-8"?>
<p:tagLst xmlns:a="http://schemas.openxmlformats.org/drawingml/2006/main" xmlns:r="http://schemas.openxmlformats.org/officeDocument/2006/relationships" xmlns:p="http://schemas.openxmlformats.org/presentationml/2006/main">
  <p:tag name="PA" val="v5.0.4"/>
</p:tagLst>
</file>

<file path=ppt/tags/tag12.xml><?xml version="1.0" encoding="utf-8"?>
<p:tagLst xmlns:a="http://schemas.openxmlformats.org/drawingml/2006/main" xmlns:r="http://schemas.openxmlformats.org/officeDocument/2006/relationships" xmlns:p="http://schemas.openxmlformats.org/presentationml/2006/main">
  <p:tag name="PA" val="v5.0.4"/>
</p:tagLst>
</file>

<file path=ppt/tags/tag13.xml><?xml version="1.0" encoding="utf-8"?>
<p:tagLst xmlns:a="http://schemas.openxmlformats.org/drawingml/2006/main" xmlns:r="http://schemas.openxmlformats.org/officeDocument/2006/relationships" xmlns:p="http://schemas.openxmlformats.org/presentationml/2006/main">
  <p:tag name="PA" val="v5.0.4"/>
</p:tagLst>
</file>

<file path=ppt/tags/tag14.xml><?xml version="1.0" encoding="utf-8"?>
<p:tagLst xmlns:a="http://schemas.openxmlformats.org/drawingml/2006/main" xmlns:r="http://schemas.openxmlformats.org/officeDocument/2006/relationships" xmlns:p="http://schemas.openxmlformats.org/presentationml/2006/main">
  <p:tag name="PA" val="v5.0.4"/>
</p:tagLst>
</file>

<file path=ppt/tags/tag15.xml><?xml version="1.0" encoding="utf-8"?>
<p:tagLst xmlns:a="http://schemas.openxmlformats.org/drawingml/2006/main" xmlns:r="http://schemas.openxmlformats.org/officeDocument/2006/relationships" xmlns:p="http://schemas.openxmlformats.org/presentationml/2006/main">
  <p:tag name="PA" val="v5.0.4"/>
</p:tagLst>
</file>

<file path=ppt/tags/tag16.xml><?xml version="1.0" encoding="utf-8"?>
<p:tagLst xmlns:a="http://schemas.openxmlformats.org/drawingml/2006/main" xmlns:r="http://schemas.openxmlformats.org/officeDocument/2006/relationships" xmlns:p="http://schemas.openxmlformats.org/presentationml/2006/main">
  <p:tag name="PA" val="v5.0.4"/>
  <p:tag name="RESOURCELIBID" val="449"/>
</p:tagLst>
</file>

<file path=ppt/tags/tag17.xml><?xml version="1.0" encoding="utf-8"?>
<p:tagLst xmlns:a="http://schemas.openxmlformats.org/drawingml/2006/main" xmlns:r="http://schemas.openxmlformats.org/officeDocument/2006/relationships" xmlns:p="http://schemas.openxmlformats.org/presentationml/2006/main">
  <p:tag name="PA" val="v5.0.4"/>
  <p:tag name="RESOURCELIBID" val="449"/>
</p:tagLst>
</file>

<file path=ppt/tags/tag18.xml><?xml version="1.0" encoding="utf-8"?>
<p:tagLst xmlns:a="http://schemas.openxmlformats.org/drawingml/2006/main" xmlns:r="http://schemas.openxmlformats.org/officeDocument/2006/relationships" xmlns:p="http://schemas.openxmlformats.org/presentationml/2006/main">
  <p:tag name="PA" val="v5.0.4"/>
  <p:tag name="RESOURCELIBID" val="449"/>
</p:tagLst>
</file>

<file path=ppt/tags/tag19.xml><?xml version="1.0" encoding="utf-8"?>
<p:tagLst xmlns:a="http://schemas.openxmlformats.org/drawingml/2006/main" xmlns:r="http://schemas.openxmlformats.org/officeDocument/2006/relationships" xmlns:p="http://schemas.openxmlformats.org/presentationml/2006/main">
  <p:tag name="PA" val="v5.0.4"/>
  <p:tag name="RESOURCELIBID" val="449"/>
</p:tagLst>
</file>

<file path=ppt/tags/tag20.xml><?xml version="1.0" encoding="utf-8"?>
<p:tagLst xmlns:a="http://schemas.openxmlformats.org/drawingml/2006/main" xmlns:r="http://schemas.openxmlformats.org/officeDocument/2006/relationships" xmlns:p="http://schemas.openxmlformats.org/presentationml/2006/main">
  <p:tag name="PA" val="v5.0.4"/>
  <p:tag name="RESOURCELIBID" val="449"/>
</p:tagLst>
</file>

<file path=ppt/tags/tag21.xml><?xml version="1.0" encoding="utf-8"?>
<p:tagLst xmlns:a="http://schemas.openxmlformats.org/drawingml/2006/main" xmlns:r="http://schemas.openxmlformats.org/officeDocument/2006/relationships" xmlns:p="http://schemas.openxmlformats.org/presentationml/2006/main">
  <p:tag name="PA" val="v5.0.4"/>
</p:tagLst>
</file>

<file path=ppt/tags/tag22.xml><?xml version="1.0" encoding="utf-8"?>
<p:tagLst xmlns:a="http://schemas.openxmlformats.org/drawingml/2006/main" xmlns:r="http://schemas.openxmlformats.org/officeDocument/2006/relationships" xmlns:p="http://schemas.openxmlformats.org/presentationml/2006/main">
  <p:tag name="PA" val="v5.0.4"/>
</p:tagLst>
</file>

<file path=ppt/tags/tag23.xml><?xml version="1.0" encoding="utf-8"?>
<p:tagLst xmlns:a="http://schemas.openxmlformats.org/drawingml/2006/main" xmlns:r="http://schemas.openxmlformats.org/officeDocument/2006/relationships" xmlns:p="http://schemas.openxmlformats.org/presentationml/2006/main">
  <p:tag name="PA" val="v5.0.4"/>
</p:tagLst>
</file>

<file path=ppt/tags/tag24.xml><?xml version="1.0" encoding="utf-8"?>
<p:tagLst xmlns:a="http://schemas.openxmlformats.org/drawingml/2006/main" xmlns:r="http://schemas.openxmlformats.org/officeDocument/2006/relationships" xmlns:p="http://schemas.openxmlformats.org/presentationml/2006/main">
  <p:tag name="PA" val="v5.0.4"/>
</p:tagLst>
</file>

<file path=ppt/tags/tag25.xml><?xml version="1.0" encoding="utf-8"?>
<p:tagLst xmlns:a="http://schemas.openxmlformats.org/drawingml/2006/main" xmlns:r="http://schemas.openxmlformats.org/officeDocument/2006/relationships" xmlns:p="http://schemas.openxmlformats.org/presentationml/2006/main">
  <p:tag name="PA" val="v5.0.4"/>
</p:tagLst>
</file>

<file path=ppt/tags/tag26.xml><?xml version="1.0" encoding="utf-8"?>
<p:tagLst xmlns:a="http://schemas.openxmlformats.org/drawingml/2006/main" xmlns:r="http://schemas.openxmlformats.org/officeDocument/2006/relationships" xmlns:p="http://schemas.openxmlformats.org/presentationml/2006/main">
  <p:tag name="PA" val="v5.0.4"/>
</p:tagLst>
</file>

<file path=ppt/tags/tag27.xml><?xml version="1.0" encoding="utf-8"?>
<p:tagLst xmlns:a="http://schemas.openxmlformats.org/drawingml/2006/main" xmlns:r="http://schemas.openxmlformats.org/officeDocument/2006/relationships" xmlns:p="http://schemas.openxmlformats.org/presentationml/2006/main">
  <p:tag name="PA" val="v5.0.4"/>
</p:tagLst>
</file>

<file path=ppt/tags/tag28.xml><?xml version="1.0" encoding="utf-8"?>
<p:tagLst xmlns:a="http://schemas.openxmlformats.org/drawingml/2006/main" xmlns:r="http://schemas.openxmlformats.org/officeDocument/2006/relationships" xmlns:p="http://schemas.openxmlformats.org/presentationml/2006/main">
  <p:tag name="PA" val="v5.0.4"/>
</p:tagLst>
</file>

<file path=ppt/tags/tag29.xml><?xml version="1.0" encoding="utf-8"?>
<p:tagLst xmlns:a="http://schemas.openxmlformats.org/drawingml/2006/main" xmlns:r="http://schemas.openxmlformats.org/officeDocument/2006/relationships" xmlns:p="http://schemas.openxmlformats.org/presentationml/2006/main">
  <p:tag name="PA" val="v5.0.4"/>
</p:tagLst>
</file>

<file path=ppt/tags/tag30.xml><?xml version="1.0" encoding="utf-8"?>
<p:tagLst xmlns:a="http://schemas.openxmlformats.org/drawingml/2006/main" xmlns:r="http://schemas.openxmlformats.org/officeDocument/2006/relationships" xmlns:p="http://schemas.openxmlformats.org/presentationml/2006/main">
  <p:tag name="PA" val="v5.0.4"/>
</p:tagLst>
</file>

<file path=ppt/tags/tag31.xml><?xml version="1.0" encoding="utf-8"?>
<p:tagLst xmlns:a="http://schemas.openxmlformats.org/drawingml/2006/main" xmlns:r="http://schemas.openxmlformats.org/officeDocument/2006/relationships" xmlns:p="http://schemas.openxmlformats.org/presentationml/2006/main">
  <p:tag name="PA" val="v5.0.4"/>
  <p:tag name="RESOURCELIBID" val="449"/>
</p:tagLst>
</file>

<file path=ppt/tags/tag32.xml><?xml version="1.0" encoding="utf-8"?>
<p:tagLst xmlns:a="http://schemas.openxmlformats.org/drawingml/2006/main" xmlns:r="http://schemas.openxmlformats.org/officeDocument/2006/relationships" xmlns:p="http://schemas.openxmlformats.org/presentationml/2006/main">
  <p:tag name="PA" val="v5.0.4"/>
  <p:tag name="RESOURCELIBID" val="449"/>
</p:tagLst>
</file>

<file path=ppt/tags/tag33.xml><?xml version="1.0" encoding="utf-8"?>
<p:tagLst xmlns:a="http://schemas.openxmlformats.org/drawingml/2006/main" xmlns:r="http://schemas.openxmlformats.org/officeDocument/2006/relationships" xmlns:p="http://schemas.openxmlformats.org/presentationml/2006/main">
  <p:tag name="PA" val="v5.0.4"/>
  <p:tag name="RESOURCELIBID" val="449"/>
</p:tagLst>
</file>

<file path=ppt/tags/tag34.xml><?xml version="1.0" encoding="utf-8"?>
<p:tagLst xmlns:a="http://schemas.openxmlformats.org/drawingml/2006/main" xmlns:r="http://schemas.openxmlformats.org/officeDocument/2006/relationships" xmlns:p="http://schemas.openxmlformats.org/presentationml/2006/main">
  <p:tag name="PA" val="v5.0.4"/>
  <p:tag name="RESOURCELIBID" val="449"/>
</p:tagLst>
</file>

<file path=ppt/tags/tag35.xml><?xml version="1.0" encoding="utf-8"?>
<p:tagLst xmlns:a="http://schemas.openxmlformats.org/drawingml/2006/main" xmlns:r="http://schemas.openxmlformats.org/officeDocument/2006/relationships" xmlns:p="http://schemas.openxmlformats.org/presentationml/2006/main">
  <p:tag name="PA" val="v5.0.4"/>
  <p:tag name="RESOURCELIBID" val="449"/>
</p:tagLst>
</file>

<file path=ppt/tags/tag36.xml><?xml version="1.0" encoding="utf-8"?>
<p:tagLst xmlns:a="http://schemas.openxmlformats.org/drawingml/2006/main" xmlns:r="http://schemas.openxmlformats.org/officeDocument/2006/relationships" xmlns:p="http://schemas.openxmlformats.org/presentationml/2006/main">
  <p:tag name="PA" val="v5.0.4"/>
</p:tagLst>
</file>

<file path=ppt/tags/tag37.xml><?xml version="1.0" encoding="utf-8"?>
<p:tagLst xmlns:a="http://schemas.openxmlformats.org/drawingml/2006/main" xmlns:r="http://schemas.openxmlformats.org/officeDocument/2006/relationships" xmlns:p="http://schemas.openxmlformats.org/presentationml/2006/main">
  <p:tag name="PA" val="v5.0.4"/>
</p:tagLst>
</file>

<file path=ppt/tags/tag38.xml><?xml version="1.0" encoding="utf-8"?>
<p:tagLst xmlns:a="http://schemas.openxmlformats.org/drawingml/2006/main" xmlns:r="http://schemas.openxmlformats.org/officeDocument/2006/relationships" xmlns:p="http://schemas.openxmlformats.org/presentationml/2006/main">
  <p:tag name="PA" val="v5.0.4"/>
</p:tagLst>
</file>

<file path=ppt/tags/tag39.xml><?xml version="1.0" encoding="utf-8"?>
<p:tagLst xmlns:a="http://schemas.openxmlformats.org/drawingml/2006/main" xmlns:r="http://schemas.openxmlformats.org/officeDocument/2006/relationships" xmlns:p="http://schemas.openxmlformats.org/presentationml/2006/main">
  <p:tag name="PA" val="v5.0.4"/>
</p:tagLst>
</file>

<file path=ppt/tags/tag40.xml><?xml version="1.0" encoding="utf-8"?>
<p:tagLst xmlns:a="http://schemas.openxmlformats.org/drawingml/2006/main" xmlns:r="http://schemas.openxmlformats.org/officeDocument/2006/relationships" xmlns:p="http://schemas.openxmlformats.org/presentationml/2006/main">
  <p:tag name="PA" val="v5.0.4"/>
</p:tagLst>
</file>

<file path=ppt/tags/tag41.xml><?xml version="1.0" encoding="utf-8"?>
<p:tagLst xmlns:a="http://schemas.openxmlformats.org/drawingml/2006/main" xmlns:r="http://schemas.openxmlformats.org/officeDocument/2006/relationships" xmlns:p="http://schemas.openxmlformats.org/presentationml/2006/main">
  <p:tag name="PA" val="v5.0.4"/>
</p:tagLst>
</file>

<file path=ppt/tags/tag42.xml><?xml version="1.0" encoding="utf-8"?>
<p:tagLst xmlns:a="http://schemas.openxmlformats.org/drawingml/2006/main" xmlns:r="http://schemas.openxmlformats.org/officeDocument/2006/relationships" xmlns:p="http://schemas.openxmlformats.org/presentationml/2006/main">
  <p:tag name="PA" val="v5.0.4"/>
</p:tagLst>
</file>

<file path=ppt/tags/tag43.xml><?xml version="1.0" encoding="utf-8"?>
<p:tagLst xmlns:a="http://schemas.openxmlformats.org/drawingml/2006/main" xmlns:r="http://schemas.openxmlformats.org/officeDocument/2006/relationships" xmlns:p="http://schemas.openxmlformats.org/presentationml/2006/main">
  <p:tag name="PA" val="v5.0.4"/>
</p:tagLst>
</file>

<file path=ppt/tags/tag44.xml><?xml version="1.0" encoding="utf-8"?>
<p:tagLst xmlns:a="http://schemas.openxmlformats.org/drawingml/2006/main" xmlns:r="http://schemas.openxmlformats.org/officeDocument/2006/relationships" xmlns:p="http://schemas.openxmlformats.org/presentationml/2006/main">
  <p:tag name="PA" val="v5.0.4"/>
</p:tagLst>
</file>

<file path=ppt/tags/tag45.xml><?xml version="1.0" encoding="utf-8"?>
<p:tagLst xmlns:a="http://schemas.openxmlformats.org/drawingml/2006/main" xmlns:r="http://schemas.openxmlformats.org/officeDocument/2006/relationships" xmlns:p="http://schemas.openxmlformats.org/presentationml/2006/main">
  <p:tag name="PA" val="v5.0.4"/>
</p:tagLst>
</file>

<file path=ppt/tags/tag46.xml><?xml version="1.0" encoding="utf-8"?>
<p:tagLst xmlns:a="http://schemas.openxmlformats.org/drawingml/2006/main" xmlns:r="http://schemas.openxmlformats.org/officeDocument/2006/relationships" xmlns:p="http://schemas.openxmlformats.org/presentationml/2006/main">
  <p:tag name="PA" val="v5.0.4"/>
  <p:tag name="RESOURCELIBID" val="449"/>
</p:tagLst>
</file>

<file path=ppt/tags/tag47.xml><?xml version="1.0" encoding="utf-8"?>
<p:tagLst xmlns:a="http://schemas.openxmlformats.org/drawingml/2006/main" xmlns:r="http://schemas.openxmlformats.org/officeDocument/2006/relationships" xmlns:p="http://schemas.openxmlformats.org/presentationml/2006/main">
  <p:tag name="PA" val="v5.0.4"/>
  <p:tag name="RESOURCELIBID" val="449"/>
</p:tagLst>
</file>

<file path=ppt/tags/tag48.xml><?xml version="1.0" encoding="utf-8"?>
<p:tagLst xmlns:a="http://schemas.openxmlformats.org/drawingml/2006/main" xmlns:r="http://schemas.openxmlformats.org/officeDocument/2006/relationships" xmlns:p="http://schemas.openxmlformats.org/presentationml/2006/main">
  <p:tag name="PA" val="v5.0.4"/>
  <p:tag name="RESOURCELIBID" val="449"/>
</p:tagLst>
</file>

<file path=ppt/tags/tag49.xml><?xml version="1.0" encoding="utf-8"?>
<p:tagLst xmlns:a="http://schemas.openxmlformats.org/drawingml/2006/main" xmlns:r="http://schemas.openxmlformats.org/officeDocument/2006/relationships" xmlns:p="http://schemas.openxmlformats.org/presentationml/2006/main">
  <p:tag name="PA" val="v5.0.4"/>
  <p:tag name="RESOURCELIBID" val="449"/>
</p:tagLst>
</file>

<file path=ppt/tags/tag50.xml><?xml version="1.0" encoding="utf-8"?>
<p:tagLst xmlns:a="http://schemas.openxmlformats.org/drawingml/2006/main" xmlns:r="http://schemas.openxmlformats.org/officeDocument/2006/relationships" xmlns:p="http://schemas.openxmlformats.org/presentationml/2006/main">
  <p:tag name="PA" val="v5.0.4"/>
  <p:tag name="RESOURCELIBID" val="449"/>
</p:tagLst>
</file>

<file path=ppt/tags/tag51.xml><?xml version="1.0" encoding="utf-8"?>
<p:tagLst xmlns:a="http://schemas.openxmlformats.org/drawingml/2006/main" xmlns:r="http://schemas.openxmlformats.org/officeDocument/2006/relationships" xmlns:p="http://schemas.openxmlformats.org/presentationml/2006/main">
  <p:tag name="PA" val="v5.0.4"/>
</p:tagLst>
</file>

<file path=ppt/tags/tag52.xml><?xml version="1.0" encoding="utf-8"?>
<p:tagLst xmlns:a="http://schemas.openxmlformats.org/drawingml/2006/main" xmlns:r="http://schemas.openxmlformats.org/officeDocument/2006/relationships" xmlns:p="http://schemas.openxmlformats.org/presentationml/2006/main">
  <p:tag name="PA" val="v5.0.4"/>
</p:tagLst>
</file>

<file path=ppt/tags/tag53.xml><?xml version="1.0" encoding="utf-8"?>
<p:tagLst xmlns:a="http://schemas.openxmlformats.org/drawingml/2006/main" xmlns:r="http://schemas.openxmlformats.org/officeDocument/2006/relationships" xmlns:p="http://schemas.openxmlformats.org/presentationml/2006/main">
  <p:tag name="PA" val="v5.0.4"/>
</p:tagLst>
</file>

<file path=ppt/tags/tag54.xml><?xml version="1.0" encoding="utf-8"?>
<p:tagLst xmlns:a="http://schemas.openxmlformats.org/drawingml/2006/main" xmlns:r="http://schemas.openxmlformats.org/officeDocument/2006/relationships" xmlns:p="http://schemas.openxmlformats.org/presentationml/2006/main">
  <p:tag name="PA" val="v5.0.4"/>
</p:tagLst>
</file>

<file path=ppt/tags/tag55.xml><?xml version="1.0" encoding="utf-8"?>
<p:tagLst xmlns:a="http://schemas.openxmlformats.org/drawingml/2006/main" xmlns:r="http://schemas.openxmlformats.org/officeDocument/2006/relationships" xmlns:p="http://schemas.openxmlformats.org/presentationml/2006/main">
  <p:tag name="PA" val="v5.0.4"/>
</p:tagLst>
</file>

<file path=ppt/tags/tag56.xml><?xml version="1.0" encoding="utf-8"?>
<p:tagLst xmlns:a="http://schemas.openxmlformats.org/drawingml/2006/main" xmlns:r="http://schemas.openxmlformats.org/officeDocument/2006/relationships" xmlns:p="http://schemas.openxmlformats.org/presentationml/2006/main">
  <p:tag name="PA" val="v5.0.4"/>
</p:tagLst>
</file>

<file path=ppt/tags/tag57.xml><?xml version="1.0" encoding="utf-8"?>
<p:tagLst xmlns:a="http://schemas.openxmlformats.org/drawingml/2006/main" xmlns:r="http://schemas.openxmlformats.org/officeDocument/2006/relationships" xmlns:p="http://schemas.openxmlformats.org/presentationml/2006/main">
  <p:tag name="PA" val="v5.0.4"/>
</p:tagLst>
</file>

<file path=ppt/tags/tag58.xml><?xml version="1.0" encoding="utf-8"?>
<p:tagLst xmlns:a="http://schemas.openxmlformats.org/drawingml/2006/main" xmlns:r="http://schemas.openxmlformats.org/officeDocument/2006/relationships" xmlns:p="http://schemas.openxmlformats.org/presentationml/2006/main">
  <p:tag name="PA" val="v5.0.4"/>
</p:tagLst>
</file>

<file path=ppt/tags/tag59.xml><?xml version="1.0" encoding="utf-8"?>
<p:tagLst xmlns:a="http://schemas.openxmlformats.org/drawingml/2006/main" xmlns:r="http://schemas.openxmlformats.org/officeDocument/2006/relationships" xmlns:p="http://schemas.openxmlformats.org/presentationml/2006/main">
  <p:tag name="PA" val="v5.0.4"/>
</p:tagLst>
</file>

<file path=ppt/tags/tag60.xml><?xml version="1.0" encoding="utf-8"?>
<p:tagLst xmlns:a="http://schemas.openxmlformats.org/drawingml/2006/main" xmlns:r="http://schemas.openxmlformats.org/officeDocument/2006/relationships" xmlns:p="http://schemas.openxmlformats.org/presentationml/2006/main">
  <p:tag name="PA" val="v5.0.4"/>
</p:tagLst>
</file>

<file path=ppt/tags/tag61.xml><?xml version="1.0" encoding="utf-8"?>
<p:tagLst xmlns:a="http://schemas.openxmlformats.org/drawingml/2006/main" xmlns:r="http://schemas.openxmlformats.org/officeDocument/2006/relationships" xmlns:p="http://schemas.openxmlformats.org/presentationml/2006/main">
  <p:tag name="PA" val="v5.0.4"/>
  <p:tag name="RESOURCELIBID" val="449"/>
</p:tagLst>
</file>

<file path=ppt/tags/tag62.xml><?xml version="1.0" encoding="utf-8"?>
<p:tagLst xmlns:a="http://schemas.openxmlformats.org/drawingml/2006/main" xmlns:r="http://schemas.openxmlformats.org/officeDocument/2006/relationships" xmlns:p="http://schemas.openxmlformats.org/presentationml/2006/main">
  <p:tag name="PA" val="v5.0.4"/>
  <p:tag name="RESOURCELIBID" val="449"/>
</p:tagLst>
</file>

<file path=ppt/tags/tag63.xml><?xml version="1.0" encoding="utf-8"?>
<p:tagLst xmlns:a="http://schemas.openxmlformats.org/drawingml/2006/main" xmlns:r="http://schemas.openxmlformats.org/officeDocument/2006/relationships" xmlns:p="http://schemas.openxmlformats.org/presentationml/2006/main">
  <p:tag name="PA" val="v5.0.4"/>
  <p:tag name="RESOURCELIBID" val="449"/>
</p:tagLst>
</file>

<file path=ppt/tags/tag64.xml><?xml version="1.0" encoding="utf-8"?>
<p:tagLst xmlns:a="http://schemas.openxmlformats.org/drawingml/2006/main" xmlns:r="http://schemas.openxmlformats.org/officeDocument/2006/relationships" xmlns:p="http://schemas.openxmlformats.org/presentationml/2006/main">
  <p:tag name="PA" val="v5.0.4"/>
  <p:tag name="RESOURCELIBID" val="449"/>
</p:tagLst>
</file>

<file path=ppt/tags/tag65.xml><?xml version="1.0" encoding="utf-8"?>
<p:tagLst xmlns:a="http://schemas.openxmlformats.org/drawingml/2006/main" xmlns:r="http://schemas.openxmlformats.org/officeDocument/2006/relationships" xmlns:p="http://schemas.openxmlformats.org/presentationml/2006/main">
  <p:tag name="PA" val="v5.0.4"/>
  <p:tag name="RESOURCELIBID" val="449"/>
</p:tagLst>
</file>

<file path=ppt/tags/tag66.xml><?xml version="1.0" encoding="utf-8"?>
<p:tagLst xmlns:a="http://schemas.openxmlformats.org/drawingml/2006/main" xmlns:r="http://schemas.openxmlformats.org/officeDocument/2006/relationships" xmlns:p="http://schemas.openxmlformats.org/presentationml/2006/main">
  <p:tag name="PA" val="v5.0.4"/>
</p:tagLst>
</file>

<file path=ppt/tags/tag67.xml><?xml version="1.0" encoding="utf-8"?>
<p:tagLst xmlns:a="http://schemas.openxmlformats.org/drawingml/2006/main" xmlns:r="http://schemas.openxmlformats.org/officeDocument/2006/relationships" xmlns:p="http://schemas.openxmlformats.org/presentationml/2006/main">
  <p:tag name="PA" val="v5.0.4"/>
</p:tagLst>
</file>

<file path=ppt/tags/tag68.xml><?xml version="1.0" encoding="utf-8"?>
<p:tagLst xmlns:a="http://schemas.openxmlformats.org/drawingml/2006/main" xmlns:r="http://schemas.openxmlformats.org/officeDocument/2006/relationships" xmlns:p="http://schemas.openxmlformats.org/presentationml/2006/main">
  <p:tag name="PA" val="v5.0.4"/>
</p:tagLst>
</file>

<file path=ppt/tags/tag69.xml><?xml version="1.0" encoding="utf-8"?>
<p:tagLst xmlns:a="http://schemas.openxmlformats.org/drawingml/2006/main" xmlns:r="http://schemas.openxmlformats.org/officeDocument/2006/relationships" xmlns:p="http://schemas.openxmlformats.org/presentationml/2006/main">
  <p:tag name="PA" val="v5.0.4"/>
</p:tagLst>
</file>

<file path=ppt/tags/tag70.xml><?xml version="1.0" encoding="utf-8"?>
<p:tagLst xmlns:a="http://schemas.openxmlformats.org/drawingml/2006/main" xmlns:r="http://schemas.openxmlformats.org/officeDocument/2006/relationships" xmlns:p="http://schemas.openxmlformats.org/presentationml/2006/main">
  <p:tag name="PA" val="v5.0.4"/>
</p:tagLst>
</file>

<file path=ppt/tags/tag71.xml><?xml version="1.0" encoding="utf-8"?>
<p:tagLst xmlns:a="http://schemas.openxmlformats.org/drawingml/2006/main" xmlns:r="http://schemas.openxmlformats.org/officeDocument/2006/relationships" xmlns:p="http://schemas.openxmlformats.org/presentationml/2006/main">
  <p:tag name="PA" val="v5.0.4"/>
</p:tagLst>
</file>

<file path=ppt/tags/tag72.xml><?xml version="1.0" encoding="utf-8"?>
<p:tagLst xmlns:a="http://schemas.openxmlformats.org/drawingml/2006/main" xmlns:r="http://schemas.openxmlformats.org/officeDocument/2006/relationships" xmlns:p="http://schemas.openxmlformats.org/presentationml/2006/main">
  <p:tag name="PA" val="v5.0.4"/>
</p:tagLst>
</file>

<file path=ppt/tags/tag73.xml><?xml version="1.0" encoding="utf-8"?>
<p:tagLst xmlns:a="http://schemas.openxmlformats.org/drawingml/2006/main" xmlns:r="http://schemas.openxmlformats.org/officeDocument/2006/relationships" xmlns:p="http://schemas.openxmlformats.org/presentationml/2006/main">
  <p:tag name="PA" val="v5.0.4"/>
</p:tagLst>
</file>

<file path=ppt/tags/tag74.xml><?xml version="1.0" encoding="utf-8"?>
<p:tagLst xmlns:a="http://schemas.openxmlformats.org/drawingml/2006/main" xmlns:r="http://schemas.openxmlformats.org/officeDocument/2006/relationships" xmlns:p="http://schemas.openxmlformats.org/presentationml/2006/main">
  <p:tag name="PA" val="v5.0.4"/>
</p:tagLst>
</file>

<file path=ppt/tags/tag75.xml><?xml version="1.0" encoding="utf-8"?>
<p:tagLst xmlns:a="http://schemas.openxmlformats.org/drawingml/2006/main" xmlns:r="http://schemas.openxmlformats.org/officeDocument/2006/relationships" xmlns:p="http://schemas.openxmlformats.org/presentationml/2006/main">
  <p:tag name="PA" val="v5.0.4"/>
</p:tagLst>
</file>

<file path=ppt/tags/tag76.xml><?xml version="1.0" encoding="utf-8"?>
<p:tagLst xmlns:a="http://schemas.openxmlformats.org/drawingml/2006/main" xmlns:r="http://schemas.openxmlformats.org/officeDocument/2006/relationships" xmlns:p="http://schemas.openxmlformats.org/presentationml/2006/main">
  <p:tag name="PA" val="v5.0.4"/>
  <p:tag name="RESOURCELIBID" val="449"/>
</p:tagLst>
</file>

<file path=ppt/tags/tag77.xml><?xml version="1.0" encoding="utf-8"?>
<p:tagLst xmlns:a="http://schemas.openxmlformats.org/drawingml/2006/main" xmlns:r="http://schemas.openxmlformats.org/officeDocument/2006/relationships" xmlns:p="http://schemas.openxmlformats.org/presentationml/2006/main">
  <p:tag name="PA" val="v5.0.4"/>
  <p:tag name="RESOURCELIBID" val="449"/>
</p:tagLst>
</file>

<file path=ppt/tags/tag78.xml><?xml version="1.0" encoding="utf-8"?>
<p:tagLst xmlns:a="http://schemas.openxmlformats.org/drawingml/2006/main" xmlns:r="http://schemas.openxmlformats.org/officeDocument/2006/relationships" xmlns:p="http://schemas.openxmlformats.org/presentationml/2006/main">
  <p:tag name="PA" val="v5.0.4"/>
  <p:tag name="RESOURCELIBID" val="449"/>
</p:tagLst>
</file>

<file path=ppt/tags/tag79.xml><?xml version="1.0" encoding="utf-8"?>
<p:tagLst xmlns:a="http://schemas.openxmlformats.org/drawingml/2006/main" xmlns:r="http://schemas.openxmlformats.org/officeDocument/2006/relationships" xmlns:p="http://schemas.openxmlformats.org/presentationml/2006/main">
  <p:tag name="PA" val="v5.0.4"/>
  <p:tag name="RESOURCELIBID" val="449"/>
</p:tagLst>
</file>

<file path=ppt/tags/tag80.xml><?xml version="1.0" encoding="utf-8"?>
<p:tagLst xmlns:a="http://schemas.openxmlformats.org/drawingml/2006/main" xmlns:r="http://schemas.openxmlformats.org/officeDocument/2006/relationships" xmlns:p="http://schemas.openxmlformats.org/presentationml/2006/main">
  <p:tag name="PA" val="v5.0.4"/>
  <p:tag name="RESOURCELIBID" val="449"/>
</p:tagLst>
</file>

<file path=ppt/tags/tag81.xml><?xml version="1.0" encoding="utf-8"?>
<p:tagLst xmlns:a="http://schemas.openxmlformats.org/drawingml/2006/main" xmlns:r="http://schemas.openxmlformats.org/officeDocument/2006/relationships" xmlns:p="http://schemas.openxmlformats.org/presentationml/2006/main">
  <p:tag name="PA" val="v5.0.4"/>
</p:tagLst>
</file>

<file path=ppt/tags/tag82.xml><?xml version="1.0" encoding="utf-8"?>
<p:tagLst xmlns:a="http://schemas.openxmlformats.org/drawingml/2006/main" xmlns:r="http://schemas.openxmlformats.org/officeDocument/2006/relationships" xmlns:p="http://schemas.openxmlformats.org/presentationml/2006/main">
  <p:tag name="PA" val="v5.0.4"/>
</p:tagLst>
</file>

<file path=ppt/tags/tag83.xml><?xml version="1.0" encoding="utf-8"?>
<p:tagLst xmlns:a="http://schemas.openxmlformats.org/drawingml/2006/main" xmlns:r="http://schemas.openxmlformats.org/officeDocument/2006/relationships" xmlns:p="http://schemas.openxmlformats.org/presentationml/2006/main">
  <p:tag name="PA" val="v5.0.4"/>
</p:tagLst>
</file>

<file path=ppt/tags/tag84.xml><?xml version="1.0" encoding="utf-8"?>
<p:tagLst xmlns:a="http://schemas.openxmlformats.org/drawingml/2006/main" xmlns:r="http://schemas.openxmlformats.org/officeDocument/2006/relationships" xmlns:p="http://schemas.openxmlformats.org/presentationml/2006/main">
  <p:tag name="PA" val="v5.0.4"/>
</p:tagLst>
</file>

<file path=ppt/tags/tag85.xml><?xml version="1.0" encoding="utf-8"?>
<p:tagLst xmlns:a="http://schemas.openxmlformats.org/drawingml/2006/main" xmlns:r="http://schemas.openxmlformats.org/officeDocument/2006/relationships" xmlns:p="http://schemas.openxmlformats.org/presentationml/2006/main">
  <p:tag name="PA" val="v5.0.4"/>
</p:tagLst>
</file>

<file path=ppt/tags/tag86.xml><?xml version="1.0" encoding="utf-8"?>
<p:tagLst xmlns:a="http://schemas.openxmlformats.org/drawingml/2006/main" xmlns:r="http://schemas.openxmlformats.org/officeDocument/2006/relationships" xmlns:p="http://schemas.openxmlformats.org/presentationml/2006/main">
  <p:tag name="PA" val="v5.0.4"/>
</p:tagLst>
</file>

<file path=ppt/tags/tag87.xml><?xml version="1.0" encoding="utf-8"?>
<p:tagLst xmlns:a="http://schemas.openxmlformats.org/drawingml/2006/main" xmlns:r="http://schemas.openxmlformats.org/officeDocument/2006/relationships" xmlns:p="http://schemas.openxmlformats.org/presentationml/2006/main">
  <p:tag name="PA" val="v5.0.4"/>
</p:tagLst>
</file>

<file path=ppt/tags/tag88.xml><?xml version="1.0" encoding="utf-8"?>
<p:tagLst xmlns:a="http://schemas.openxmlformats.org/drawingml/2006/main" xmlns:r="http://schemas.openxmlformats.org/officeDocument/2006/relationships" xmlns:p="http://schemas.openxmlformats.org/presentationml/2006/main">
  <p:tag name="PA" val="v5.0.4"/>
</p:tagLst>
</file>

<file path=ppt/tags/tag89.xml><?xml version="1.0" encoding="utf-8"?>
<p:tagLst xmlns:a="http://schemas.openxmlformats.org/drawingml/2006/main" xmlns:r="http://schemas.openxmlformats.org/officeDocument/2006/relationships" xmlns:p="http://schemas.openxmlformats.org/presentationml/2006/main">
  <p:tag name="PA" val="v5.0.4"/>
</p:tagLst>
</file>

<file path=ppt/tags/tag90.xml><?xml version="1.0" encoding="utf-8"?>
<p:tagLst xmlns:a="http://schemas.openxmlformats.org/drawingml/2006/main" xmlns:r="http://schemas.openxmlformats.org/officeDocument/2006/relationships" xmlns:p="http://schemas.openxmlformats.org/presentationml/2006/main">
  <p:tag name="PA" val="v5.0.4"/>
</p:tagLst>
</file>

<file path=ppt/tags/tag91.xml><?xml version="1.0" encoding="utf-8"?>
<p:tagLst xmlns:a="http://schemas.openxmlformats.org/drawingml/2006/main" xmlns:r="http://schemas.openxmlformats.org/officeDocument/2006/relationships" xmlns:p="http://schemas.openxmlformats.org/presentationml/2006/main">
  <p:tag name="PA" val="v5.0.4"/>
  <p:tag name="RESOURCELIBID" val="449"/>
</p:tagLst>
</file>

<file path=ppt/tags/tag92.xml><?xml version="1.0" encoding="utf-8"?>
<p:tagLst xmlns:a="http://schemas.openxmlformats.org/drawingml/2006/main" xmlns:r="http://schemas.openxmlformats.org/officeDocument/2006/relationships" xmlns:p="http://schemas.openxmlformats.org/presentationml/2006/main">
  <p:tag name="PA" val="v5.0.4"/>
  <p:tag name="RESOURCELIBID" val="449"/>
</p:tagLst>
</file>

<file path=ppt/tags/tag93.xml><?xml version="1.0" encoding="utf-8"?>
<p:tagLst xmlns:a="http://schemas.openxmlformats.org/drawingml/2006/main" xmlns:r="http://schemas.openxmlformats.org/officeDocument/2006/relationships" xmlns:p="http://schemas.openxmlformats.org/presentationml/2006/main">
  <p:tag name="PA" val="v5.0.4"/>
  <p:tag name="RESOURCELIBID" val="449"/>
</p:tagLst>
</file>

<file path=ppt/tags/tag94.xml><?xml version="1.0" encoding="utf-8"?>
<p:tagLst xmlns:a="http://schemas.openxmlformats.org/drawingml/2006/main" xmlns:r="http://schemas.openxmlformats.org/officeDocument/2006/relationships" xmlns:p="http://schemas.openxmlformats.org/presentationml/2006/main">
  <p:tag name="PA" val="v5.0.4"/>
  <p:tag name="RESOURCELIBID" val="449"/>
</p:tagLst>
</file>

<file path=ppt/tags/tag95.xml><?xml version="1.0" encoding="utf-8"?>
<p:tagLst xmlns:a="http://schemas.openxmlformats.org/drawingml/2006/main" xmlns:r="http://schemas.openxmlformats.org/officeDocument/2006/relationships" xmlns:p="http://schemas.openxmlformats.org/presentationml/2006/main">
  <p:tag name="PA" val="v5.0.4"/>
  <p:tag name="RESOURCELIBID" val="449"/>
</p:tagLst>
</file>

<file path=ppt/tags/tag96.xml><?xml version="1.0" encoding="utf-8"?>
<p:tagLst xmlns:a="http://schemas.openxmlformats.org/drawingml/2006/main" xmlns:r="http://schemas.openxmlformats.org/officeDocument/2006/relationships" xmlns:p="http://schemas.openxmlformats.org/presentationml/2006/main">
  <p:tag name="PA" val="v5.0.4"/>
</p:tagLst>
</file>

<file path=ppt/tags/tag97.xml><?xml version="1.0" encoding="utf-8"?>
<p:tagLst xmlns:a="http://schemas.openxmlformats.org/drawingml/2006/main" xmlns:r="http://schemas.openxmlformats.org/officeDocument/2006/relationships" xmlns:p="http://schemas.openxmlformats.org/presentationml/2006/main">
  <p:tag name="PA" val="v5.0.4"/>
</p:tagLst>
</file>

<file path=ppt/tags/tag98.xml><?xml version="1.0" encoding="utf-8"?>
<p:tagLst xmlns:a="http://schemas.openxmlformats.org/drawingml/2006/main" xmlns:r="http://schemas.openxmlformats.org/officeDocument/2006/relationships" xmlns:p="http://schemas.openxmlformats.org/presentationml/2006/main">
  <p:tag name="PA" val="v5.0.4"/>
</p:tagLst>
</file>

<file path=ppt/tags/tag99.xml><?xml version="1.0" encoding="utf-8"?>
<p:tagLst xmlns:a="http://schemas.openxmlformats.org/drawingml/2006/main" xmlns:r="http://schemas.openxmlformats.org/officeDocument/2006/relationships" xmlns:p="http://schemas.openxmlformats.org/presentationml/2006/main">
  <p:tag name="PA" val="v5.0.4"/>
</p:tagLst>
</file>

<file path=ppt/tags/tag100.xml><?xml version="1.0" encoding="utf-8"?>
<p:tagLst xmlns:a="http://schemas.openxmlformats.org/drawingml/2006/main" xmlns:r="http://schemas.openxmlformats.org/officeDocument/2006/relationships" xmlns:p="http://schemas.openxmlformats.org/presentationml/2006/main">
  <p:tag name="PA" val="v5.0.4"/>
</p:tagLst>
</file>

<file path=ppt/tags/tag101.xml><?xml version="1.0" encoding="utf-8"?>
<p:tagLst xmlns:a="http://schemas.openxmlformats.org/drawingml/2006/main" xmlns:r="http://schemas.openxmlformats.org/officeDocument/2006/relationships" xmlns:p="http://schemas.openxmlformats.org/presentationml/2006/main">
  <p:tag name="PA" val="v5.0.4"/>
</p:tagLst>
</file>

<file path=ppt/tags/tag102.xml><?xml version="1.0" encoding="utf-8"?>
<p:tagLst xmlns:a="http://schemas.openxmlformats.org/drawingml/2006/main" xmlns:r="http://schemas.openxmlformats.org/officeDocument/2006/relationships" xmlns:p="http://schemas.openxmlformats.org/presentationml/2006/main">
  <p:tag name="PA" val="v5.0.4"/>
</p:tagLst>
</file>

<file path=ppt/tags/tag103.xml><?xml version="1.0" encoding="utf-8"?>
<p:tagLst xmlns:a="http://schemas.openxmlformats.org/drawingml/2006/main" xmlns:r="http://schemas.openxmlformats.org/officeDocument/2006/relationships" xmlns:p="http://schemas.openxmlformats.org/presentationml/2006/main">
  <p:tag name="PA" val="v5.0.4"/>
</p:tagLst>
</file>

<file path=ppt/tags/tag104.xml><?xml version="1.0" encoding="utf-8"?>
<p:tagLst xmlns:a="http://schemas.openxmlformats.org/drawingml/2006/main" xmlns:r="http://schemas.openxmlformats.org/officeDocument/2006/relationships" xmlns:p="http://schemas.openxmlformats.org/presentationml/2006/main">
  <p:tag name="PA" val="v5.0.4"/>
</p:tagLst>
</file>

<file path=ppt/tags/tag105.xml><?xml version="1.0" encoding="utf-8"?>
<p:tagLst xmlns:a="http://schemas.openxmlformats.org/drawingml/2006/main" xmlns:r="http://schemas.openxmlformats.org/officeDocument/2006/relationships" xmlns:p="http://schemas.openxmlformats.org/presentationml/2006/main">
  <p:tag name="PA" val="v5.0.4"/>
</p:tagLst>
</file>

<file path=ppt/tags/tag106.xml><?xml version="1.0" encoding="utf-8"?>
<p:tagLst xmlns:a="http://schemas.openxmlformats.org/drawingml/2006/main" xmlns:r="http://schemas.openxmlformats.org/officeDocument/2006/relationships" xmlns:p="http://schemas.openxmlformats.org/presentationml/2006/main">
  <p:tag name="PA" val="v5.0.4"/>
  <p:tag name="RESOURCELIBID" val="449"/>
</p:tagLst>
</file>

<file path=ppt/tags/tag107.xml><?xml version="1.0" encoding="utf-8"?>
<p:tagLst xmlns:a="http://schemas.openxmlformats.org/drawingml/2006/main" xmlns:r="http://schemas.openxmlformats.org/officeDocument/2006/relationships" xmlns:p="http://schemas.openxmlformats.org/presentationml/2006/main">
  <p:tag name="PA" val="v5.0.4"/>
  <p:tag name="RESOURCELIBID" val="449"/>
</p:tagLst>
</file>

<file path=ppt/tags/tag108.xml><?xml version="1.0" encoding="utf-8"?>
<p:tagLst xmlns:a="http://schemas.openxmlformats.org/drawingml/2006/main" xmlns:r="http://schemas.openxmlformats.org/officeDocument/2006/relationships" xmlns:p="http://schemas.openxmlformats.org/presentationml/2006/main">
  <p:tag name="PA" val="v5.0.4"/>
  <p:tag name="RESOURCELIBID" val="449"/>
</p:tagLst>
</file>

<file path=ppt/tags/tag109.xml><?xml version="1.0" encoding="utf-8"?>
<p:tagLst xmlns:a="http://schemas.openxmlformats.org/drawingml/2006/main" xmlns:r="http://schemas.openxmlformats.org/officeDocument/2006/relationships" xmlns:p="http://schemas.openxmlformats.org/presentationml/2006/main">
  <p:tag name="PA" val="v5.0.4"/>
  <p:tag name="RESOURCELIBID" val="449"/>
</p:tagLst>
</file>

<file path=ppt/tags/tag110.xml><?xml version="1.0" encoding="utf-8"?>
<p:tagLst xmlns:a="http://schemas.openxmlformats.org/drawingml/2006/main" xmlns:r="http://schemas.openxmlformats.org/officeDocument/2006/relationships" xmlns:p="http://schemas.openxmlformats.org/presentationml/2006/main">
  <p:tag name="PA" val="v5.0.4"/>
  <p:tag name="RESOURCELIBID" val="449"/>
</p:tagLst>
</file>

<file path=ppt/tags/tag111.xml><?xml version="1.0" encoding="utf-8"?>
<p:tagLst xmlns:a="http://schemas.openxmlformats.org/drawingml/2006/main" xmlns:r="http://schemas.openxmlformats.org/officeDocument/2006/relationships" xmlns:p="http://schemas.openxmlformats.org/presentationml/2006/main">
  <p:tag name="PA" val="v5.0.4"/>
</p:tagLst>
</file>

<file path=ppt/tags/tag112.xml><?xml version="1.0" encoding="utf-8"?>
<p:tagLst xmlns:a="http://schemas.openxmlformats.org/drawingml/2006/main" xmlns:r="http://schemas.openxmlformats.org/officeDocument/2006/relationships" xmlns:p="http://schemas.openxmlformats.org/presentationml/2006/main">
  <p:tag name="PA" val="v5.0.4"/>
</p:tagLst>
</file>

<file path=ppt/tags/tag113.xml><?xml version="1.0" encoding="utf-8"?>
<p:tagLst xmlns:a="http://schemas.openxmlformats.org/drawingml/2006/main" xmlns:r="http://schemas.openxmlformats.org/officeDocument/2006/relationships" xmlns:p="http://schemas.openxmlformats.org/presentationml/2006/main">
  <p:tag name="PA" val="v5.0.4"/>
</p:tagLst>
</file>

<file path=ppt/tags/tag114.xml><?xml version="1.0" encoding="utf-8"?>
<p:tagLst xmlns:a="http://schemas.openxmlformats.org/drawingml/2006/main" xmlns:r="http://schemas.openxmlformats.org/officeDocument/2006/relationships" xmlns:p="http://schemas.openxmlformats.org/presentationml/2006/main">
  <p:tag name="PA" val="v5.0.4"/>
</p:tagLst>
</file>

<file path=ppt/tags/tag115.xml><?xml version="1.0" encoding="utf-8"?>
<p:tagLst xmlns:a="http://schemas.openxmlformats.org/drawingml/2006/main" xmlns:r="http://schemas.openxmlformats.org/officeDocument/2006/relationships" xmlns:p="http://schemas.openxmlformats.org/presentationml/2006/main">
  <p:tag name="PA" val="v5.0.4"/>
</p:tagLst>
</file>

<file path=ppt/tags/tag116.xml><?xml version="1.0" encoding="utf-8"?>
<p:tagLst xmlns:a="http://schemas.openxmlformats.org/drawingml/2006/main" xmlns:r="http://schemas.openxmlformats.org/officeDocument/2006/relationships" xmlns:p="http://schemas.openxmlformats.org/presentationml/2006/main">
  <p:tag name="PA" val="v5.0.4"/>
</p:tagLst>
</file>

<file path=ppt/tags/tag117.xml><?xml version="1.0" encoding="utf-8"?>
<p:tagLst xmlns:a="http://schemas.openxmlformats.org/drawingml/2006/main" xmlns:r="http://schemas.openxmlformats.org/officeDocument/2006/relationships" xmlns:p="http://schemas.openxmlformats.org/presentationml/2006/main">
  <p:tag name="PA" val="v5.0.4"/>
</p:tagLst>
</file>

<file path=ppt/tags/tag118.xml><?xml version="1.0" encoding="utf-8"?>
<p:tagLst xmlns:a="http://schemas.openxmlformats.org/drawingml/2006/main" xmlns:r="http://schemas.openxmlformats.org/officeDocument/2006/relationships" xmlns:p="http://schemas.openxmlformats.org/presentationml/2006/main">
  <p:tag name="PA" val="v5.0.4"/>
</p:tagLst>
</file>

<file path=ppt/tags/tag119.xml><?xml version="1.0" encoding="utf-8"?>
<p:tagLst xmlns:a="http://schemas.openxmlformats.org/drawingml/2006/main" xmlns:r="http://schemas.openxmlformats.org/officeDocument/2006/relationships" xmlns:p="http://schemas.openxmlformats.org/presentationml/2006/main">
  <p:tag name="PA" val="v5.0.4"/>
</p:tagLst>
</file>

<file path=ppt/tags/tag120.xml><?xml version="1.0" encoding="utf-8"?>
<p:tagLst xmlns:a="http://schemas.openxmlformats.org/drawingml/2006/main" xmlns:r="http://schemas.openxmlformats.org/officeDocument/2006/relationships" xmlns:p="http://schemas.openxmlformats.org/presentationml/2006/main">
  <p:tag name="PA" val="v5.0.4"/>
</p:tagLst>
</file>

<file path=ppt/tags/tag121.xml><?xml version="1.0" encoding="utf-8"?>
<p:tagLst xmlns:a="http://schemas.openxmlformats.org/drawingml/2006/main" xmlns:r="http://schemas.openxmlformats.org/officeDocument/2006/relationships" xmlns:p="http://schemas.openxmlformats.org/presentationml/2006/main">
  <p:tag name="PA" val="v5.0.4"/>
  <p:tag name="RESOURCELIBID" val="449"/>
</p:tagLst>
</file>

<file path=ppt/tags/tag122.xml><?xml version="1.0" encoding="utf-8"?>
<p:tagLst xmlns:a="http://schemas.openxmlformats.org/drawingml/2006/main" xmlns:r="http://schemas.openxmlformats.org/officeDocument/2006/relationships" xmlns:p="http://schemas.openxmlformats.org/presentationml/2006/main">
  <p:tag name="PA" val="v5.0.4"/>
  <p:tag name="RESOURCELIBID" val="449"/>
</p:tagLst>
</file>

<file path=ppt/tags/tag123.xml><?xml version="1.0" encoding="utf-8"?>
<p:tagLst xmlns:a="http://schemas.openxmlformats.org/drawingml/2006/main" xmlns:r="http://schemas.openxmlformats.org/officeDocument/2006/relationships" xmlns:p="http://schemas.openxmlformats.org/presentationml/2006/main">
  <p:tag name="PA" val="v5.0.4"/>
  <p:tag name="RESOURCELIBID" val="449"/>
</p:tagLst>
</file>

<file path=ppt/tags/tag124.xml><?xml version="1.0" encoding="utf-8"?>
<p:tagLst xmlns:a="http://schemas.openxmlformats.org/drawingml/2006/main" xmlns:r="http://schemas.openxmlformats.org/officeDocument/2006/relationships" xmlns:p="http://schemas.openxmlformats.org/presentationml/2006/main">
  <p:tag name="PA" val="v5.0.4"/>
  <p:tag name="RESOURCELIBID" val="449"/>
</p:tagLst>
</file>

<file path=ppt/tags/tag125.xml><?xml version="1.0" encoding="utf-8"?>
<p:tagLst xmlns:a="http://schemas.openxmlformats.org/drawingml/2006/main" xmlns:r="http://schemas.openxmlformats.org/officeDocument/2006/relationships" xmlns:p="http://schemas.openxmlformats.org/presentationml/2006/main">
  <p:tag name="PA" val="v5.0.4"/>
  <p:tag name="RESOURCELIBID" val="449"/>
</p:tagLst>
</file>

<file path=ppt/tags/tag126.xml><?xml version="1.0" encoding="utf-8"?>
<p:tagLst xmlns:a="http://schemas.openxmlformats.org/drawingml/2006/main" xmlns:r="http://schemas.openxmlformats.org/officeDocument/2006/relationships" xmlns:p="http://schemas.openxmlformats.org/presentationml/2006/main">
  <p:tag name="PA" val="v5.0.4"/>
</p:tagLst>
</file>

<file path=ppt/tags/tag127.xml><?xml version="1.0" encoding="utf-8"?>
<p:tagLst xmlns:a="http://schemas.openxmlformats.org/drawingml/2006/main" xmlns:r="http://schemas.openxmlformats.org/officeDocument/2006/relationships" xmlns:p="http://schemas.openxmlformats.org/presentationml/2006/main">
  <p:tag name="PA" val="v5.0.4"/>
</p:tagLst>
</file>

<file path=ppt/tags/tag128.xml><?xml version="1.0" encoding="utf-8"?>
<p:tagLst xmlns:a="http://schemas.openxmlformats.org/drawingml/2006/main" xmlns:r="http://schemas.openxmlformats.org/officeDocument/2006/relationships" xmlns:p="http://schemas.openxmlformats.org/presentationml/2006/main">
  <p:tag name="PA" val="v5.0.4"/>
</p:tagLst>
</file>

<file path=ppt/tags/tag129.xml><?xml version="1.0" encoding="utf-8"?>
<p:tagLst xmlns:a="http://schemas.openxmlformats.org/drawingml/2006/main" xmlns:r="http://schemas.openxmlformats.org/officeDocument/2006/relationships" xmlns:p="http://schemas.openxmlformats.org/presentationml/2006/main">
  <p:tag name="PA" val="v5.0.4"/>
</p:tagLst>
</file>

<file path=ppt/tags/tag130.xml><?xml version="1.0" encoding="utf-8"?>
<p:tagLst xmlns:a="http://schemas.openxmlformats.org/drawingml/2006/main" xmlns:r="http://schemas.openxmlformats.org/officeDocument/2006/relationships" xmlns:p="http://schemas.openxmlformats.org/presentationml/2006/main">
  <p:tag name="PA" val="v5.0.4"/>
</p:tagLst>
</file>

<file path=ppt/tags/tag131.xml><?xml version="1.0" encoding="utf-8"?>
<p:tagLst xmlns:a="http://schemas.openxmlformats.org/drawingml/2006/main" xmlns:r="http://schemas.openxmlformats.org/officeDocument/2006/relationships" xmlns:p="http://schemas.openxmlformats.org/presentationml/2006/main">
  <p:tag name="PA" val="v5.0.4"/>
</p:tagLst>
</file>

<file path=ppt/tags/tag132.xml><?xml version="1.0" encoding="utf-8"?>
<p:tagLst xmlns:a="http://schemas.openxmlformats.org/drawingml/2006/main" xmlns:r="http://schemas.openxmlformats.org/officeDocument/2006/relationships" xmlns:p="http://schemas.openxmlformats.org/presentationml/2006/main">
  <p:tag name="PA" val="v5.0.4"/>
</p:tagLst>
</file>

<file path=ppt/tags/tag133.xml><?xml version="1.0" encoding="utf-8"?>
<p:tagLst xmlns:a="http://schemas.openxmlformats.org/drawingml/2006/main" xmlns:r="http://schemas.openxmlformats.org/officeDocument/2006/relationships" xmlns:p="http://schemas.openxmlformats.org/presentationml/2006/main">
  <p:tag name="PA" val="v5.0.4"/>
</p:tagLst>
</file>

<file path=ppt/tags/tag134.xml><?xml version="1.0" encoding="utf-8"?>
<p:tagLst xmlns:a="http://schemas.openxmlformats.org/drawingml/2006/main" xmlns:r="http://schemas.openxmlformats.org/officeDocument/2006/relationships" xmlns:p="http://schemas.openxmlformats.org/presentationml/2006/main">
  <p:tag name="PA" val="v5.0.4"/>
</p:tagLst>
</file>

<file path=ppt/tags/tag135.xml><?xml version="1.0" encoding="utf-8"?>
<p:tagLst xmlns:a="http://schemas.openxmlformats.org/drawingml/2006/main" xmlns:r="http://schemas.openxmlformats.org/officeDocument/2006/relationships" xmlns:p="http://schemas.openxmlformats.org/presentationml/2006/main">
  <p:tag name="PA" val="v5.0.4"/>
</p:tagLst>
</file>

<file path=ppt/theme/theme1.xml><?xml version="1.0" encoding="utf-8"?>
<a:theme xmlns:a="http://schemas.openxmlformats.org/drawingml/2006/main" name="Office 主题">
  <a:themeElements>
    <a:clrScheme name="自定义 237">
      <a:dk1>
        <a:sysClr val="windowText" lastClr="000000"/>
      </a:dk1>
      <a:lt1>
        <a:sysClr val="window" lastClr="FFFFFF"/>
      </a:lt1>
      <a:dk2>
        <a:srgbClr val="1F497D"/>
      </a:dk2>
      <a:lt2>
        <a:srgbClr val="EEECE1"/>
      </a:lt2>
      <a:accent1>
        <a:srgbClr val="005DA2"/>
      </a:accent1>
      <a:accent2>
        <a:srgbClr val="C4C7CB"/>
      </a:accent2>
      <a:accent3>
        <a:srgbClr val="7F7F7F"/>
      </a:accent3>
      <a:accent4>
        <a:srgbClr val="7F7F7F"/>
      </a:accent4>
      <a:accent5>
        <a:srgbClr val="7F7F7F"/>
      </a:accent5>
      <a:accent6>
        <a:srgbClr val="7F7F7F"/>
      </a:accent6>
      <a:hlink>
        <a:srgbClr val="17365D"/>
      </a:hlink>
      <a:folHlink>
        <a:srgbClr val="548DD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sz="1200" dirty="0" smtClean="0">
            <a:solidFill>
              <a:schemeClr val="tx1">
                <a:lumMod val="75000"/>
                <a:lumOff val="25000"/>
              </a:schemeClr>
            </a:solidFill>
            <a:latin typeface="微软雅黑" panose="020B0503020204020204" pitchFamily="34" charset="-122"/>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2034</Words>
  <Application>Microsoft Macintosh PowerPoint</Application>
  <PresentationFormat>全屏显示(16:9)</PresentationFormat>
  <Paragraphs>498</Paragraphs>
  <Slides>30</Slides>
  <Notes>30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30</vt:i4>
      </vt:variant>
    </vt:vector>
  </HeadingPairs>
  <TitlesOfParts>
    <vt:vector size="38" baseType="lpstr">
      <vt:lpstr>Calibri</vt:lpstr>
      <vt:lpstr>Open Sans Light</vt:lpstr>
      <vt:lpstr>楷体</vt:lpstr>
      <vt:lpstr>宋体</vt:lpstr>
      <vt:lpstr>微软雅黑</vt:lpstr>
      <vt:lpstr>微软雅黑 Light</vt:lpstr>
      <vt:lpstr>Arial</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15.0036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Microsoft Office 用户</cp:lastModifiedBy>
  <cp:revision>3</cp:revision>
  <dcterms:created xsi:type="dcterms:W3CDTF">2019-05-14T02:25:00Z</dcterms:created>
  <dcterms:modified xsi:type="dcterms:W3CDTF">2020-03-13T12:08:37Z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2052-10.1.0.7698</vt:lpwstr>
  </property>
</Properties>
</file>