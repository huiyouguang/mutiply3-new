
<file path=[Content_Types].xml><?xml version="1.0" encoding="utf-8"?>
<Types xmlns="http://schemas.openxmlformats.org/package/2006/content-types">
  <Default Extension="xml" ContentType="application/xml"/>
  <Default Extension="jpeg" ContentType="image/jpeg"/>
  <Default Extension="mp3" ContentType="audio/mpeg"/>
  <Default Extension="rels" ContentType="application/vnd.openxmlformats-package.relationships+xml"/>
  <Default Extension="xlsx" ContentType="application/vnd.openxmlformats-officedocument.spreadsheetml.sheet"/>
  <Default Extension="wdp" ContentType="image/vnd.ms-photo"/>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6.xml" ContentType="application/vnd.openxmlformats-officedocument.drawingml.char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3.xml" ContentType="application/vnd.openxmlformats-officedocument.presentationml.notesSlide+xml"/>
  <Override PartName="/ppt/charts/chart7.xml" ContentType="application/vnd.openxmlformats-officedocument.drawingml.chart+xml"/>
  <Override PartName="/ppt/notesSlides/notesSlide14.xml" ContentType="application/vnd.openxmlformats-officedocument.presentationml.notesSlide+xml"/>
  <Override PartName="/ppt/charts/chart8.xml" ContentType="application/vnd.openxmlformats-officedocument.drawingml.chart+xml"/>
  <Override PartName="/ppt/theme/themeOverride1.xml" ContentType="application/vnd.openxmlformats-officedocument.themeOverride+xml"/>
  <Override PartName="/ppt/tags/tag5.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9.xml" ContentType="application/vnd.openxmlformats-officedocument.drawingml.chart+xml"/>
  <Override PartName="/ppt/theme/themeOverride2.xml" ContentType="application/vnd.openxmlformats-officedocument.themeOverr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24.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25.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9" r:id="rId4"/>
    <p:sldId id="304" r:id="rId5"/>
    <p:sldId id="282" r:id="rId6"/>
    <p:sldId id="305" r:id="rId7"/>
    <p:sldId id="307" r:id="rId8"/>
    <p:sldId id="308" r:id="rId9"/>
    <p:sldId id="269" r:id="rId10"/>
    <p:sldId id="263" r:id="rId11"/>
    <p:sldId id="309" r:id="rId12"/>
    <p:sldId id="310" r:id="rId13"/>
    <p:sldId id="313" r:id="rId14"/>
    <p:sldId id="283" r:id="rId15"/>
    <p:sldId id="314" r:id="rId16"/>
    <p:sldId id="335" r:id="rId17"/>
    <p:sldId id="311" r:id="rId18"/>
    <p:sldId id="260" r:id="rId19"/>
    <p:sldId id="274" r:id="rId20"/>
    <p:sldId id="336" r:id="rId21"/>
    <p:sldId id="273" r:id="rId22"/>
    <p:sldId id="339" r:id="rId23"/>
    <p:sldId id="340" r:id="rId24"/>
    <p:sldId id="342" r:id="rId25"/>
    <p:sldId id="343" r:id="rId26"/>
    <p:sldId id="344" r:id="rId27"/>
    <p:sldId id="261" r:id="rId28"/>
    <p:sldId id="346" r:id="rId29"/>
    <p:sldId id="345" r:id="rId30"/>
    <p:sldId id="270" r:id="rId31"/>
    <p:sldId id="281" r:id="rId32"/>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FFC000"/>
    <a:srgbClr val="262626"/>
    <a:srgbClr val="F6F4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24"/>
  </p:normalViewPr>
  <p:slideViewPr>
    <p:cSldViewPr snapToGrid="0">
      <p:cViewPr>
        <p:scale>
          <a:sx n="68" d="100"/>
          <a:sy n="68" d="100"/>
        </p:scale>
        <p:origin x="2280" y="102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notesMaster" Target="notesMasters/notesMaster1.xml"/><Relationship Id="rId34" Type="http://schemas.openxmlformats.org/officeDocument/2006/relationships/tags" Target="tags/tag1.xml"/><Relationship Id="rId35" Type="http://schemas.openxmlformats.org/officeDocument/2006/relationships/presProps" Target="presProps.xml"/><Relationship Id="rId36" Type="http://schemas.openxmlformats.org/officeDocument/2006/relationships/viewProps" Target="viewProp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5.xlsx"/></Relationships>
</file>

<file path=ppt/charts/_rels/chart6.xml.rels><?xml version="1.0" encoding="UTF-8" standalone="yes"?>
<Relationships xmlns="http://schemas.openxmlformats.org/package/2006/relationships"><Relationship Id="rId1" Type="http://schemas.openxmlformats.org/officeDocument/2006/relationships/oleObject" Target="file:////E:\&#36130;&#21153;&#31649;&#29702;&#37096;\&#36130;&#21153;&#25910;&#20837;&#20998;&#26512;\&#36130;&#21153;&#25910;&#20837;&#20998;&#26512;\&#25910;&#20837;&#26469;&#28304;&#20998;&#26512;&#34920;\&#25910;&#20837;&#26469;&#28304;&#20998;&#26512;-2015&#24180;4&#26376;.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E:\&#36130;&#21153;&#31649;&#29702;&#37096;\&#36130;&#21153;&#25910;&#20837;&#20998;&#26512;\&#36130;&#21153;&#25910;&#20837;&#20998;&#26512;\&#25910;&#20837;&#26469;&#28304;&#20998;&#26512;&#34920;\&#25910;&#20837;&#26469;&#28304;&#20998;&#26512;-2015&#24180;4&#26376;.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E:\&#36130;&#21153;&#31649;&#29702;&#37096;\&#36130;&#21153;&#25910;&#20837;&#20998;&#26512;\&#36130;&#21153;&#25910;&#20837;&#20998;&#26512;\&#25910;&#20837;&#26469;&#28304;&#20998;&#26512;&#34920;\&#25910;&#20837;&#26469;&#28304;&#20998;&#26512;-2015&#24180;4&#26376;.xlsx" TargetMode="External"/></Relationships>
</file>

<file path=ppt/charts/_rels/chart9.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file:////D:\0111\My%20Documents\2014&#24180;&#25991;&#26723;\2014&#24180;&#36130;&#21153;&#20998;&#26512;\2014&#24180;&#21508;&#22320;&#24066;&#25910;&#20837;&#23436;&#25104;&#23545;&#27604;&#22270;&#65288;PPT&#65289;.xlsx" TargetMode="External"/></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___6.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___7.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___8.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___9.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solidFill>
              <a:schemeClr val="bg1">
                <a:lumMod val="50000"/>
              </a:schemeClr>
            </a:solidFill>
          </c:spPr>
          <c:dPt>
            <c:idx val="0"/>
            <c:bubble3D val="0"/>
            <c:spPr>
              <a:solidFill>
                <a:srgbClr val="FFC000"/>
              </a:solidFill>
            </c:spPr>
          </c:dPt>
          <c:dPt>
            <c:idx val="1"/>
            <c:bubble3D val="0"/>
            <c:spPr>
              <a:solidFill>
                <a:srgbClr val="BDBDBD"/>
              </a:solidFill>
            </c:spPr>
          </c:dPt>
          <c:dLbls>
            <c:delete val="1"/>
          </c:dLbls>
          <c:cat>
            <c:numRef>
              <c:f>Sheet1!$A$2:$A$3</c:f>
              <c:numCache>
                <c:formatCode>General</c:formatCode>
                <c:ptCount val="2"/>
                <c:pt idx="0">
                  <c:v>2010.0</c:v>
                </c:pt>
                <c:pt idx="1">
                  <c:v>2012.0</c:v>
                </c:pt>
              </c:numCache>
            </c:numRef>
          </c:cat>
          <c:val>
            <c:numRef>
              <c:f>Sheet1!$B$2:$B$3</c:f>
              <c:numCache>
                <c:formatCode>0%</c:formatCode>
                <c:ptCount val="2"/>
                <c:pt idx="0">
                  <c:v>0.750000000000008</c:v>
                </c:pt>
                <c:pt idx="1">
                  <c:v>0.25</c:v>
                </c:pt>
              </c:numCache>
            </c:numRef>
          </c:val>
        </c:ser>
        <c:dLbls>
          <c:showLegendKey val="0"/>
          <c:showVal val="1"/>
          <c:showCatName val="0"/>
          <c:showSerName val="0"/>
          <c:showPercent val="0"/>
          <c:showBubbleSize val="0"/>
          <c:showLeaderLines val="1"/>
        </c:dLbls>
        <c:firstSliceAng val="328"/>
      </c:pieChart>
      <c:spPr>
        <a:noFill/>
        <a:ln>
          <a:noFill/>
        </a:ln>
        <a:effectLst/>
      </c:spPr>
    </c:plotArea>
    <c:plotVisOnly val="1"/>
    <c:dispBlanksAs val="zero"/>
    <c:showDLblsOverMax val="0"/>
  </c:chart>
  <c:txPr>
    <a:bodyPr/>
    <a:lstStyle/>
    <a:p>
      <a:pPr>
        <a:defRPr lang="zh-CN" sz="1800">
          <a:latin typeface="+mn-lt"/>
          <a:ea typeface="+mn-ea"/>
          <a:cs typeface="+mn-ea"/>
          <a:sym typeface="+mn-lt"/>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rgbClr val="404040"/>
              </a:solidFill>
            </c:spPr>
          </c:dPt>
          <c:dPt>
            <c:idx val="1"/>
            <c:bubble3D val="0"/>
            <c:spPr>
              <a:solidFill>
                <a:schemeClr val="bg1">
                  <a:lumMod val="75000"/>
                </a:schemeClr>
              </a:solidFill>
            </c:spPr>
          </c:dPt>
          <c:dLbls>
            <c:delete val="1"/>
          </c:dLbls>
          <c:cat>
            <c:numRef>
              <c:f>Sheet1!$A$2:$A$3</c:f>
              <c:numCache>
                <c:formatCode>General</c:formatCode>
                <c:ptCount val="2"/>
                <c:pt idx="0">
                  <c:v>2010.0</c:v>
                </c:pt>
                <c:pt idx="1">
                  <c:v>2012.0</c:v>
                </c:pt>
              </c:numCache>
            </c:numRef>
          </c:cat>
          <c:val>
            <c:numRef>
              <c:f>Sheet1!$B$2:$B$3</c:f>
              <c:numCache>
                <c:formatCode>0%</c:formatCode>
                <c:ptCount val="2"/>
                <c:pt idx="0">
                  <c:v>0.600000000000001</c:v>
                </c:pt>
                <c:pt idx="1">
                  <c:v>0.4</c:v>
                </c:pt>
              </c:numCache>
            </c:numRef>
          </c:val>
        </c:ser>
        <c:dLbls>
          <c:showLegendKey val="0"/>
          <c:showVal val="1"/>
          <c:showCatName val="0"/>
          <c:showSerName val="0"/>
          <c:showPercent val="0"/>
          <c:showBubbleSize val="0"/>
          <c:showLeaderLines val="1"/>
        </c:dLbls>
        <c:firstSliceAng val="328"/>
      </c:pieChart>
      <c:spPr>
        <a:noFill/>
        <a:ln>
          <a:noFill/>
        </a:ln>
        <a:effectLst/>
      </c:spPr>
    </c:plotArea>
    <c:plotVisOnly val="1"/>
    <c:dispBlanksAs val="zero"/>
    <c:showDLblsOverMax val="0"/>
  </c:chart>
  <c:txPr>
    <a:bodyPr/>
    <a:lstStyle/>
    <a:p>
      <a:pPr>
        <a:defRPr lang="zh-CN" sz="1800">
          <a:latin typeface="+mn-lt"/>
          <a:ea typeface="+mn-ea"/>
          <a:cs typeface="+mn-ea"/>
          <a:sym typeface="+mn-lt"/>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rgbClr val="FFC000"/>
              </a:solidFill>
            </c:spPr>
          </c:dPt>
          <c:dPt>
            <c:idx val="1"/>
            <c:bubble3D val="0"/>
            <c:spPr>
              <a:solidFill>
                <a:schemeClr val="bg1">
                  <a:lumMod val="75000"/>
                </a:schemeClr>
              </a:solidFill>
            </c:spPr>
          </c:dPt>
          <c:dLbls>
            <c:delete val="1"/>
          </c:dLbls>
          <c:cat>
            <c:numRef>
              <c:f>Sheet1!$A$2:$A$3</c:f>
              <c:numCache>
                <c:formatCode>General</c:formatCode>
                <c:ptCount val="2"/>
                <c:pt idx="0">
                  <c:v>2010.0</c:v>
                </c:pt>
                <c:pt idx="1">
                  <c:v>2012.0</c:v>
                </c:pt>
              </c:numCache>
            </c:numRef>
          </c:cat>
          <c:val>
            <c:numRef>
              <c:f>Sheet1!$B$2:$B$3</c:f>
              <c:numCache>
                <c:formatCode>0%</c:formatCode>
                <c:ptCount val="2"/>
                <c:pt idx="0">
                  <c:v>0.45</c:v>
                </c:pt>
                <c:pt idx="1">
                  <c:v>0.600000000000001</c:v>
                </c:pt>
              </c:numCache>
            </c:numRef>
          </c:val>
        </c:ser>
        <c:dLbls>
          <c:showLegendKey val="0"/>
          <c:showVal val="1"/>
          <c:showCatName val="0"/>
          <c:showSerName val="0"/>
          <c:showPercent val="0"/>
          <c:showBubbleSize val="0"/>
          <c:showLeaderLines val="1"/>
        </c:dLbls>
        <c:firstSliceAng val="328"/>
      </c:pieChart>
      <c:spPr>
        <a:noFill/>
        <a:ln>
          <a:noFill/>
        </a:ln>
        <a:effectLst/>
      </c:spPr>
    </c:plotArea>
    <c:plotVisOnly val="1"/>
    <c:dispBlanksAs val="zero"/>
    <c:showDLblsOverMax val="0"/>
  </c:chart>
  <c:txPr>
    <a:bodyPr/>
    <a:lstStyle/>
    <a:p>
      <a:pPr>
        <a:defRPr lang="zh-CN" sz="1800">
          <a:latin typeface="+mn-lt"/>
          <a:ea typeface="+mn-ea"/>
          <a:cs typeface="+mn-ea"/>
          <a:sym typeface="+mn-lt"/>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rgbClr val="FFC000"/>
              </a:solidFill>
            </c:spPr>
          </c:dPt>
          <c:dPt>
            <c:idx val="1"/>
            <c:bubble3D val="0"/>
            <c:spPr>
              <a:solidFill>
                <a:schemeClr val="bg1">
                  <a:lumMod val="75000"/>
                </a:schemeClr>
              </a:solidFill>
            </c:spPr>
          </c:dPt>
          <c:dLbls>
            <c:delete val="1"/>
          </c:dLbls>
          <c:cat>
            <c:numRef>
              <c:f>Sheet1!$A$2:$A$3</c:f>
              <c:numCache>
                <c:formatCode>General</c:formatCode>
                <c:ptCount val="2"/>
                <c:pt idx="0">
                  <c:v>2010.0</c:v>
                </c:pt>
                <c:pt idx="1">
                  <c:v>2012.0</c:v>
                </c:pt>
              </c:numCache>
            </c:numRef>
          </c:cat>
          <c:val>
            <c:numRef>
              <c:f>Sheet1!$B$2:$B$3</c:f>
              <c:numCache>
                <c:formatCode>0%</c:formatCode>
                <c:ptCount val="2"/>
                <c:pt idx="0">
                  <c:v>0.9</c:v>
                </c:pt>
                <c:pt idx="1">
                  <c:v>0.1</c:v>
                </c:pt>
              </c:numCache>
            </c:numRef>
          </c:val>
        </c:ser>
        <c:dLbls>
          <c:showLegendKey val="0"/>
          <c:showVal val="1"/>
          <c:showCatName val="0"/>
          <c:showSerName val="0"/>
          <c:showPercent val="0"/>
          <c:showBubbleSize val="0"/>
          <c:showLeaderLines val="1"/>
        </c:dLbls>
        <c:firstSliceAng val="328"/>
      </c:pieChart>
      <c:spPr>
        <a:noFill/>
        <a:ln>
          <a:noFill/>
        </a:ln>
        <a:effectLst/>
      </c:spPr>
    </c:plotArea>
    <c:plotVisOnly val="1"/>
    <c:dispBlanksAs val="zero"/>
    <c:showDLblsOverMax val="0"/>
  </c:chart>
  <c:txPr>
    <a:bodyPr/>
    <a:lstStyle/>
    <a:p>
      <a:pPr>
        <a:defRPr lang="zh-CN" sz="1800">
          <a:latin typeface="+mn-lt"/>
          <a:ea typeface="+mn-ea"/>
          <a:cs typeface="+mn-ea"/>
          <a:sym typeface="+mn-lt"/>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explosion val="7"/>
            <c:spPr>
              <a:solidFill>
                <a:srgbClr val="404040"/>
              </a:solidFill>
            </c:spPr>
          </c:dPt>
          <c:dPt>
            <c:idx val="1"/>
            <c:bubble3D val="0"/>
            <c:spPr>
              <a:solidFill>
                <a:schemeClr val="bg1">
                  <a:lumMod val="75000"/>
                </a:schemeClr>
              </a:solidFill>
            </c:spPr>
          </c:dPt>
          <c:dLbls>
            <c:delete val="1"/>
          </c:dLbls>
          <c:cat>
            <c:numRef>
              <c:f>Sheet1!$A$2:$A$3</c:f>
              <c:numCache>
                <c:formatCode>General</c:formatCode>
                <c:ptCount val="2"/>
                <c:pt idx="0">
                  <c:v>2010.0</c:v>
                </c:pt>
                <c:pt idx="1">
                  <c:v>2012.0</c:v>
                </c:pt>
              </c:numCache>
            </c:numRef>
          </c:cat>
          <c:val>
            <c:numRef>
              <c:f>Sheet1!$B$2:$B$3</c:f>
              <c:numCache>
                <c:formatCode>0%</c:formatCode>
                <c:ptCount val="2"/>
                <c:pt idx="0">
                  <c:v>0.2</c:v>
                </c:pt>
                <c:pt idx="1">
                  <c:v>0.8</c:v>
                </c:pt>
              </c:numCache>
            </c:numRef>
          </c:val>
        </c:ser>
        <c:dLbls>
          <c:showLegendKey val="0"/>
          <c:showVal val="1"/>
          <c:showCatName val="0"/>
          <c:showSerName val="0"/>
          <c:showPercent val="0"/>
          <c:showBubbleSize val="0"/>
          <c:showLeaderLines val="1"/>
        </c:dLbls>
        <c:firstSliceAng val="328"/>
      </c:pieChart>
      <c:spPr>
        <a:noFill/>
        <a:ln>
          <a:noFill/>
        </a:ln>
        <a:effectLst/>
      </c:spPr>
    </c:plotArea>
    <c:plotVisOnly val="1"/>
    <c:dispBlanksAs val="zero"/>
    <c:showDLblsOverMax val="0"/>
  </c:chart>
  <c:txPr>
    <a:bodyPr/>
    <a:lstStyle/>
    <a:p>
      <a:pPr>
        <a:defRPr lang="zh-CN" sz="1800">
          <a:latin typeface="+mn-lt"/>
          <a:ea typeface="+mn-ea"/>
          <a:cs typeface="+mn-ea"/>
          <a:sym typeface="+mn-lt"/>
        </a:defRPr>
      </a:pPr>
      <a:endParaRPr lang="zh-CN"/>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
          <c:y val="0.0514005540974045"/>
          <c:w val="0.970509007467077"/>
          <c:h val="0.794544446917734"/>
        </c:manualLayout>
      </c:layout>
      <c:lineChart>
        <c:grouping val="standard"/>
        <c:varyColors val="0"/>
        <c:ser>
          <c:idx val="0"/>
          <c:order val="0"/>
          <c:tx>
            <c:strRef>
              <c:f>'PPT1'!$A$4</c:f>
              <c:strCache>
                <c:ptCount val="1"/>
                <c:pt idx="0">
                  <c:v>2014-账面口径</c:v>
                </c:pt>
              </c:strCache>
            </c:strRef>
          </c:tx>
          <c:marker>
            <c:symbol val="diamond"/>
            <c:size val="3"/>
          </c:marker>
          <c:dLbls>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7"/>
              <c:delete val="1"/>
              <c:extLst>
                <c:ext xmlns:c15="http://schemas.microsoft.com/office/drawing/2012/chart" uri="{CE6537A1-D6FC-4f65-9D91-7224C49458BB}"/>
              </c:extLst>
            </c:dLbl>
            <c:dLbl>
              <c:idx val="8"/>
              <c:delete val="1"/>
              <c:extLst>
                <c:ext xmlns:c15="http://schemas.microsoft.com/office/drawing/2012/chart" uri="{CE6537A1-D6FC-4f65-9D91-7224C49458BB}"/>
              </c:extLst>
            </c:dLbl>
            <c:dLbl>
              <c:idx val="9"/>
              <c:delete val="1"/>
              <c:extLst>
                <c:ext xmlns:c15="http://schemas.microsoft.com/office/drawing/2012/chart" uri="{CE6537A1-D6FC-4f65-9D91-7224C49458BB}"/>
              </c:extLst>
            </c:dLbl>
            <c:dLbl>
              <c:idx val="10"/>
              <c:delete val="1"/>
              <c:extLst>
                <c:ext xmlns:c15="http://schemas.microsoft.com/office/drawing/2012/chart" uri="{CE6537A1-D6FC-4f65-9D91-7224C49458BB}"/>
              </c:extLst>
            </c:dLbl>
            <c:dLbl>
              <c:idx val="11"/>
              <c:delete val="1"/>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'PPT1'!$B$3:$M$3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'PPT1'!$B$4:$M$4</c:f>
              <c:numCache>
                <c:formatCode>0_ </c:formatCode>
                <c:ptCount val="12"/>
                <c:pt idx="0">
                  <c:v>7332.3706</c:v>
                </c:pt>
                <c:pt idx="1">
                  <c:v>7025.86082600001</c:v>
                </c:pt>
                <c:pt idx="2">
                  <c:v>7020.243037</c:v>
                </c:pt>
                <c:pt idx="3">
                  <c:v>6777.423874</c:v>
                </c:pt>
                <c:pt idx="4">
                  <c:v>6998.793215</c:v>
                </c:pt>
                <c:pt idx="5">
                  <c:v>6406.64125805661</c:v>
                </c:pt>
                <c:pt idx="6">
                  <c:v>6280.247047951299</c:v>
                </c:pt>
                <c:pt idx="7">
                  <c:v>6161.20288200906</c:v>
                </c:pt>
                <c:pt idx="8">
                  <c:v>6226.44086409434</c:v>
                </c:pt>
                <c:pt idx="9">
                  <c:v>5955.65223144075</c:v>
                </c:pt>
                <c:pt idx="10">
                  <c:v>5753.83596073585</c:v>
                </c:pt>
                <c:pt idx="11">
                  <c:v>5807.383491242139</c:v>
                </c:pt>
              </c:numCache>
            </c:numRef>
          </c:val>
          <c:smooth val="1"/>
        </c:ser>
        <c:ser>
          <c:idx val="1"/>
          <c:order val="1"/>
          <c:tx>
            <c:strRef>
              <c:f>'PPT1'!$A$5</c:f>
              <c:strCache>
                <c:ptCount val="1"/>
                <c:pt idx="0">
                  <c:v>2014-可比口径</c:v>
                </c:pt>
              </c:strCache>
            </c:strRef>
          </c:tx>
          <c:spPr>
            <a:ln w="19050" cap="rnd" cmpd="sng" algn="ctr">
              <a:solidFill>
                <a:srgbClr val="92D050"/>
              </a:solidFill>
              <a:prstDash val="solid"/>
              <a:round/>
            </a:ln>
          </c:spPr>
          <c:marker>
            <c:symbol val="square"/>
            <c:size val="3"/>
            <c:spPr>
              <a:solidFill>
                <a:srgbClr val="92D050"/>
              </a:solidFill>
              <a:ln w="6350" cap="flat" cmpd="sng" algn="ctr">
                <a:solidFill>
                  <a:srgbClr val="92D050"/>
                </a:solidFill>
                <a:prstDash val="solid"/>
                <a:round/>
              </a:ln>
            </c:spPr>
          </c:marker>
          <c:dLbls>
            <c:dLbl>
              <c:idx val="0"/>
              <c:layout>
                <c:manualLayout>
                  <c:x val="0.00192400192400194"/>
                  <c:y val="-0.0787037037037037"/>
                </c:manualLayout>
              </c:layout>
              <c:dLblPos val="b"/>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'PPT1'!$B$3:$M$3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'PPT1'!$B$5:$M$5</c:f>
              <c:numCache>
                <c:formatCode>0_ </c:formatCode>
                <c:ptCount val="12"/>
                <c:pt idx="0">
                  <c:v>6825.42076750943</c:v>
                </c:pt>
                <c:pt idx="1">
                  <c:v>6536.13483458491</c:v>
                </c:pt>
                <c:pt idx="2">
                  <c:v>6533.186702</c:v>
                </c:pt>
                <c:pt idx="3">
                  <c:v>6309.401335132069</c:v>
                </c:pt>
                <c:pt idx="4">
                  <c:v>6512.24559403774</c:v>
                </c:pt>
                <c:pt idx="5">
                  <c:v>6406.64125805661</c:v>
                </c:pt>
                <c:pt idx="6">
                  <c:v>6280.247047951299</c:v>
                </c:pt>
                <c:pt idx="7">
                  <c:v>6161.20288200906</c:v>
                </c:pt>
                <c:pt idx="8">
                  <c:v>6226.44086409434</c:v>
                </c:pt>
                <c:pt idx="9">
                  <c:v>5955.65223144075</c:v>
                </c:pt>
                <c:pt idx="10">
                  <c:v>5753.83596073585</c:v>
                </c:pt>
                <c:pt idx="11">
                  <c:v>5807.383491242139</c:v>
                </c:pt>
              </c:numCache>
            </c:numRef>
          </c:val>
          <c:smooth val="1"/>
        </c:ser>
        <c:ser>
          <c:idx val="2"/>
          <c:order val="2"/>
          <c:tx>
            <c:strRef>
              <c:f>'PPT1'!$A$6</c:f>
              <c:strCache>
                <c:ptCount val="1"/>
                <c:pt idx="0">
                  <c:v>2015年</c:v>
                </c:pt>
              </c:strCache>
            </c:strRef>
          </c:tx>
          <c:spPr>
            <a:ln w="19050" cap="rnd" cmpd="sng" algn="ctr">
              <a:solidFill>
                <a:srgbClr val="C00000"/>
              </a:solidFill>
              <a:prstDash val="solid"/>
              <a:round/>
            </a:ln>
          </c:spPr>
          <c:marker>
            <c:symbol val="triangle"/>
            <c:size val="3"/>
            <c:spPr>
              <a:solidFill>
                <a:schemeClr val="accent2"/>
              </a:solidFill>
              <a:ln w="6350" cap="flat" cmpd="sng" algn="ctr">
                <a:solidFill>
                  <a:srgbClr val="C00000"/>
                </a:solidFill>
                <a:prstDash val="solid"/>
                <a:round/>
              </a:ln>
            </c:spPr>
          </c:marker>
          <c:dLbls>
            <c:dLbl>
              <c:idx val="0"/>
              <c:layout>
                <c:manualLayout>
                  <c:x val="-0.0288600288600289"/>
                  <c:y val="0.0509259259259259"/>
                </c:manualLayout>
              </c:layout>
              <c:dLblPos val="r"/>
              <c:showLegendKey val="0"/>
              <c:showVal val="1"/>
              <c:showCatName val="0"/>
              <c:showSerName val="0"/>
              <c:showPercent val="0"/>
              <c:showBubbleSize val="0"/>
              <c:extLst>
                <c:ext xmlns:c15="http://schemas.microsoft.com/office/drawing/2012/chart" uri="{CE6537A1-D6FC-4f65-9D91-7224C49458BB}"/>
              </c:extLst>
            </c:dLbl>
            <c:dLbl>
              <c:idx val="1"/>
              <c:layout>
                <c:manualLayout>
                  <c:x val="-0.0518366611546666"/>
                  <c:y val="-0.0370368711330104"/>
                </c:manualLayout>
              </c:layout>
              <c:dLblPos val="r"/>
              <c:showLegendKey val="0"/>
              <c:showVal val="1"/>
              <c:showCatName val="0"/>
              <c:showSerName val="0"/>
              <c:showPercent val="0"/>
              <c:showBubbleSize val="0"/>
              <c:extLst>
                <c:ext xmlns:c15="http://schemas.microsoft.com/office/drawing/2012/chart" uri="{CE6537A1-D6FC-4f65-9D91-7224C49458BB}"/>
              </c:extLst>
            </c:dLbl>
            <c:dLbl>
              <c:idx val="2"/>
              <c:layout>
                <c:manualLayout>
                  <c:x val="-0.0517619285438836"/>
                  <c:y val="0.0558890226490104"/>
                </c:manualLayout>
              </c:layout>
              <c:dLblPos val="r"/>
              <c:showLegendKey val="0"/>
              <c:showVal val="1"/>
              <c:showCatName val="0"/>
              <c:showSerName val="0"/>
              <c:showPercent val="0"/>
              <c:showBubbleSize val="0"/>
              <c:extLst>
                <c:ext xmlns:c15="http://schemas.microsoft.com/office/drawing/2012/chart" uri="{CE6537A1-D6FC-4f65-9D91-7224C49458BB}"/>
              </c:extLst>
            </c:dLbl>
            <c:dLbl>
              <c:idx val="3"/>
              <c:layout>
                <c:manualLayout>
                  <c:x val="-0.00962000962000967"/>
                  <c:y val="-0.00925962379702537"/>
                </c:manualLayout>
              </c:layout>
              <c:dLblPos val="r"/>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'PPT1'!$B$3:$M$3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'PPT1'!$B$6:$M$6</c:f>
              <c:numCache>
                <c:formatCode>0_ </c:formatCode>
                <c:ptCount val="12"/>
                <c:pt idx="0">
                  <c:v>6668.8756481391</c:v>
                </c:pt>
                <c:pt idx="1">
                  <c:v>6701.4776208155</c:v>
                </c:pt>
                <c:pt idx="2">
                  <c:v>6902.419736122</c:v>
                </c:pt>
                <c:pt idx="3">
                  <c:v>6553.040125</c:v>
                </c:pt>
              </c:numCache>
            </c:numRef>
          </c:val>
          <c:smooth val="1"/>
        </c:ser>
        <c:dLbls>
          <c:showLegendKey val="0"/>
          <c:showVal val="0"/>
          <c:showCatName val="0"/>
          <c:showSerName val="0"/>
          <c:showPercent val="0"/>
          <c:showBubbleSize val="0"/>
        </c:dLbls>
        <c:marker val="1"/>
        <c:smooth val="0"/>
        <c:axId val="-2096980864"/>
        <c:axId val="-2096979088"/>
      </c:lineChart>
      <c:catAx>
        <c:axId val="-2096980864"/>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2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2096979088"/>
        <c:crosses val="autoZero"/>
        <c:auto val="1"/>
        <c:lblAlgn val="ctr"/>
        <c:lblOffset val="100"/>
        <c:noMultiLvlLbl val="0"/>
      </c:catAx>
      <c:valAx>
        <c:axId val="-2096979088"/>
        <c:scaling>
          <c:orientation val="minMax"/>
          <c:max val="8000.0"/>
          <c:min val="5000.0"/>
        </c:scaling>
        <c:delete val="1"/>
        <c:axPos val="l"/>
        <c:numFmt formatCode="0_ " sourceLinked="1"/>
        <c:majorTickMark val="out"/>
        <c:minorTickMark val="none"/>
        <c:tickLblPos val="nextTo"/>
        <c:crossAx val="-2096980864"/>
        <c:crosses val="autoZero"/>
        <c:crossBetween val="between"/>
      </c:valAx>
    </c:plotArea>
    <c:legend>
      <c:legendPos val="r"/>
      <c:layout>
        <c:manualLayout>
          <c:xMode val="edge"/>
          <c:yMode val="edge"/>
          <c:x val="0.191265031265031"/>
          <c:y val="0.0457203266258385"/>
          <c:w val="0.765872139415675"/>
          <c:h val="0.121521945173521"/>
        </c:manualLayout>
      </c:layout>
      <c:overlay val="0"/>
      <c:txPr>
        <a:bodyPr rot="0" spcFirstLastPara="0" vertOverflow="ellipsis" vert="horz" wrap="square" anchor="ctr" anchorCtr="1"/>
        <a:lstStyle/>
        <a:p>
          <a:pPr>
            <a:defRPr lang="zh-CN" sz="12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txPr>
    <a:bodyPr/>
    <a:lstStyle/>
    <a:p>
      <a:pPr>
        <a:defRPr lang="zh-CN" sz="1200">
          <a:latin typeface="微软雅黑" panose="020B0503020204020204" charset="-122"/>
          <a:ea typeface="微软雅黑" panose="020B0503020204020204" charset="-122"/>
        </a:defRPr>
      </a:pPr>
      <a:endParaRPr lang="zh-CN"/>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
          <c:y val="0.0269559816473322"/>
          <c:w val="1.0"/>
          <c:h val="0.762988920278098"/>
        </c:manualLayout>
      </c:layout>
      <c:barChart>
        <c:barDir val="col"/>
        <c:grouping val="stacked"/>
        <c:varyColors val="0"/>
        <c:ser>
          <c:idx val="0"/>
          <c:order val="0"/>
          <c:tx>
            <c:strRef>
              <c:f>'PPT1'!$E$51</c:f>
              <c:strCache>
                <c:ptCount val="1"/>
                <c:pt idx="0">
                  <c:v>A</c:v>
                </c:pt>
              </c:strCache>
            </c:strRef>
          </c:tx>
          <c:spPr>
            <a:solidFill>
              <a:schemeClr val="bg1"/>
            </a:solidFill>
          </c:spPr>
          <c:invertIfNegative val="0"/>
          <c:dPt>
            <c:idx val="0"/>
            <c:invertIfNegative val="0"/>
            <c:bubble3D val="0"/>
            <c:spPr>
              <a:solidFill>
                <a:srgbClr val="C00000"/>
              </a:solidFill>
            </c:spPr>
          </c:dPt>
          <c:dPt>
            <c:idx val="1"/>
            <c:invertIfNegative val="0"/>
            <c:bubble3D val="0"/>
            <c:spPr>
              <a:solidFill>
                <a:schemeClr val="bg1">
                  <a:lumMod val="65000"/>
                </a:schemeClr>
              </a:solidFill>
            </c:spPr>
          </c:dPt>
          <c:dPt>
            <c:idx val="2"/>
            <c:invertIfNegative val="0"/>
            <c:bubble3D val="0"/>
            <c:spPr>
              <a:solidFill>
                <a:schemeClr val="bg1">
                  <a:lumMod val="65000"/>
                </a:schemeClr>
              </a:solidFill>
            </c:spPr>
          </c:dPt>
          <c:dPt>
            <c:idx val="3"/>
            <c:invertIfNegative val="0"/>
            <c:bubble3D val="0"/>
            <c:spPr>
              <a:solidFill>
                <a:schemeClr val="bg1">
                  <a:lumMod val="65000"/>
                </a:schemeClr>
              </a:solidFill>
            </c:spPr>
          </c:dPt>
          <c:dPt>
            <c:idx val="4"/>
            <c:invertIfNegative val="0"/>
            <c:bubble3D val="0"/>
            <c:spPr>
              <a:solidFill>
                <a:schemeClr val="bg1">
                  <a:lumMod val="65000"/>
                </a:schemeClr>
              </a:solidFill>
            </c:spPr>
          </c:dPt>
          <c:dPt>
            <c:idx val="5"/>
            <c:invertIfNegative val="0"/>
            <c:bubble3D val="0"/>
            <c:spPr>
              <a:solidFill>
                <a:schemeClr val="bg1">
                  <a:lumMod val="65000"/>
                </a:schemeClr>
              </a:solidFill>
            </c:spPr>
          </c:dPt>
          <c:dPt>
            <c:idx val="6"/>
            <c:invertIfNegative val="0"/>
            <c:bubble3D val="0"/>
            <c:spPr>
              <a:solidFill>
                <a:schemeClr val="bg1">
                  <a:lumMod val="65000"/>
                </a:schemeClr>
              </a:solidFill>
            </c:spPr>
          </c:dPt>
          <c:dPt>
            <c:idx val="7"/>
            <c:invertIfNegative val="0"/>
            <c:bubble3D val="0"/>
            <c:spPr>
              <a:solidFill>
                <a:srgbClr val="C00000"/>
              </a:solidFill>
            </c:spPr>
          </c:dPt>
          <c:cat>
            <c:strRef>
              <c:f>'PPT1'!$D$52:$D$59</c:f>
              <c:strCache>
                <c:ptCount val="8"/>
                <c:pt idx="0">
                  <c:v>3月</c:v>
                </c:pt>
                <c:pt idx="1">
                  <c:v>固网宽带
减收</c:v>
                </c:pt>
                <c:pt idx="2">
                  <c:v>移动电话
减收</c:v>
                </c:pt>
                <c:pt idx="3">
                  <c:v>ICT减收</c:v>
                </c:pt>
                <c:pt idx="4">
                  <c:v>号百传媒
减收</c:v>
                </c:pt>
                <c:pt idx="5">
                  <c:v>网间结算</c:v>
                </c:pt>
                <c:pt idx="6">
                  <c:v>其他</c:v>
                </c:pt>
                <c:pt idx="7">
                  <c:v>4月</c:v>
                </c:pt>
              </c:strCache>
            </c:strRef>
          </c:cat>
          <c:val>
            <c:numRef>
              <c:f>'PPT1'!$E$52:$E$59</c:f>
              <c:numCache>
                <c:formatCode>0.0_ </c:formatCode>
                <c:ptCount val="8"/>
                <c:pt idx="0">
                  <c:v>6902.419736122</c:v>
                </c:pt>
                <c:pt idx="1">
                  <c:v>6801.84566112201</c:v>
                </c:pt>
                <c:pt idx="2">
                  <c:v>6732.956572122</c:v>
                </c:pt>
                <c:pt idx="3">
                  <c:v>6669.379353121999</c:v>
                </c:pt>
                <c:pt idx="4">
                  <c:v>6612.476932122</c:v>
                </c:pt>
                <c:pt idx="5">
                  <c:v>6572.130300122</c:v>
                </c:pt>
                <c:pt idx="6">
                  <c:v>6553.040125</c:v>
                </c:pt>
                <c:pt idx="7">
                  <c:v>6553.040125</c:v>
                </c:pt>
              </c:numCache>
            </c:numRef>
          </c:val>
        </c:ser>
        <c:ser>
          <c:idx val="1"/>
          <c:order val="1"/>
          <c:tx>
            <c:strRef>
              <c:f>'PPT1'!$F$51</c:f>
              <c:strCache>
                <c:ptCount val="1"/>
                <c:pt idx="0">
                  <c:v>B</c:v>
                </c:pt>
              </c:strCache>
            </c:strRef>
          </c:tx>
          <c:spPr>
            <a:solidFill>
              <a:srgbClr val="C00000"/>
            </a:solidFill>
          </c:spPr>
          <c:invertIfNegative val="0"/>
          <c:dLbls>
            <c:dLbl>
              <c:idx val="0"/>
              <c:layout>
                <c:manualLayout>
                  <c:x val="0.0"/>
                  <c:y val="-0.0370370370370371"/>
                </c:manualLayout>
              </c:layout>
              <c:tx>
                <c:rich>
                  <a:bodyPr/>
                  <a:lstStyle/>
                  <a:p>
                    <a:r>
                      <a:rPr lang="en-US" altLang="en-US"/>
                      <a:t>6902</a:t>
                    </a:r>
                  </a:p>
                </c:rich>
              </c:tx>
              <c:dLblPos val="ctr"/>
              <c:showLegendKey val="0"/>
              <c:showVal val="1"/>
              <c:showCatName val="0"/>
              <c:showSerName val="0"/>
              <c:showPercent val="0"/>
              <c:showBubbleSize val="0"/>
              <c:extLst>
                <c:ext xmlns:c15="http://schemas.microsoft.com/office/drawing/2012/chart" uri="{CE6537A1-D6FC-4f65-9D91-7224C49458BB}"/>
              </c:extLst>
            </c:dLbl>
            <c:dLbl>
              <c:idx val="1"/>
              <c:layout>
                <c:manualLayout>
                  <c:x val="-0.00254452926208654"/>
                  <c:y val="-0.0837244464160298"/>
                </c:manualLayout>
              </c:layout>
              <c:tx>
                <c:rich>
                  <a:bodyPr/>
                  <a:lstStyle/>
                  <a:p>
                    <a:r>
                      <a:rPr lang="en-US" altLang="en-US"/>
                      <a:t>-100.6 </a:t>
                    </a:r>
                  </a:p>
                </c:rich>
              </c:tx>
              <c:dLblPos val="ctr"/>
              <c:showLegendKey val="0"/>
              <c:showVal val="1"/>
              <c:showCatName val="0"/>
              <c:showSerName val="0"/>
              <c:showPercent val="0"/>
              <c:showBubbleSize val="0"/>
              <c:extLst>
                <c:ext xmlns:c15="http://schemas.microsoft.com/office/drawing/2012/chart" uri="{CE6537A1-D6FC-4f65-9D91-7224C49458BB}"/>
              </c:extLst>
            </c:dLbl>
            <c:dLbl>
              <c:idx val="2"/>
              <c:layout>
                <c:manualLayout>
                  <c:x val="0.00295906713950832"/>
                  <c:y val="-0.0874281911944106"/>
                </c:manualLayout>
              </c:layout>
              <c:tx>
                <c:rich>
                  <a:bodyPr/>
                  <a:lstStyle/>
                  <a:p>
                    <a:r>
                      <a:rPr lang="en-US" altLang="en-US"/>
                      <a:t>-68.9 </a:t>
                    </a:r>
                  </a:p>
                </c:rich>
              </c:tx>
              <c:dLblPos val="ctr"/>
              <c:showLegendKey val="0"/>
              <c:showVal val="1"/>
              <c:showCatName val="0"/>
              <c:showSerName val="0"/>
              <c:showPercent val="0"/>
              <c:showBubbleSize val="0"/>
              <c:extLst>
                <c:ext xmlns:c15="http://schemas.microsoft.com/office/drawing/2012/chart" uri="{CE6537A1-D6FC-4f65-9D91-7224C49458BB}"/>
              </c:extLst>
            </c:dLbl>
            <c:dLbl>
              <c:idx val="3"/>
              <c:layout>
                <c:manualLayout>
                  <c:x val="-0.00212999138466471"/>
                  <c:y val="-0.094105208679901"/>
                </c:manualLayout>
              </c:layout>
              <c:tx>
                <c:rich>
                  <a:bodyPr/>
                  <a:lstStyle/>
                  <a:p>
                    <a:r>
                      <a:rPr lang="en-US" altLang="en-US"/>
                      <a:t>-63.6 </a:t>
                    </a:r>
                  </a:p>
                </c:rich>
              </c:tx>
              <c:dLblPos val="ctr"/>
              <c:showLegendKey val="0"/>
              <c:showVal val="1"/>
              <c:showCatName val="0"/>
              <c:showSerName val="0"/>
              <c:showPercent val="0"/>
              <c:showBubbleSize val="0"/>
              <c:extLst>
                <c:ext xmlns:c15="http://schemas.microsoft.com/office/drawing/2012/chart" uri="{CE6537A1-D6FC-4f65-9D91-7224C49458BB}"/>
              </c:extLst>
            </c:dLbl>
            <c:dLbl>
              <c:idx val="4"/>
              <c:layout>
                <c:manualLayout>
                  <c:x val="0.0"/>
                  <c:y val="-0.0592592592592593"/>
                </c:manualLayout>
              </c:layout>
              <c:tx>
                <c:rich>
                  <a:bodyPr/>
                  <a:lstStyle/>
                  <a:p>
                    <a:r>
                      <a:rPr lang="en-US" altLang="en-US"/>
                      <a:t>-56.9 </a:t>
                    </a:r>
                  </a:p>
                </c:rich>
              </c:tx>
              <c:dLblPos val="ctr"/>
              <c:showLegendKey val="0"/>
              <c:showVal val="1"/>
              <c:showCatName val="0"/>
              <c:showSerName val="0"/>
              <c:showPercent val="0"/>
              <c:showBubbleSize val="0"/>
              <c:extLst>
                <c:ext xmlns:c15="http://schemas.microsoft.com/office/drawing/2012/chart" uri="{CE6537A1-D6FC-4f65-9D91-7224C49458BB}"/>
              </c:extLst>
            </c:dLbl>
            <c:dLbl>
              <c:idx val="5"/>
              <c:layout>
                <c:manualLayout>
                  <c:x val="-0.002129925095398"/>
                  <c:y val="-0.0666666666666667"/>
                </c:manualLayout>
              </c:layout>
              <c:tx>
                <c:rich>
                  <a:bodyPr/>
                  <a:lstStyle/>
                  <a:p>
                    <a:r>
                      <a:rPr lang="en-US" altLang="en-US"/>
                      <a:t>-40.3 </a:t>
                    </a:r>
                  </a:p>
                </c:rich>
              </c:tx>
              <c:dLblPos val="ctr"/>
              <c:showLegendKey val="0"/>
              <c:showVal val="1"/>
              <c:showCatName val="0"/>
              <c:showSerName val="0"/>
              <c:showPercent val="0"/>
              <c:showBubbleSize val="0"/>
              <c:extLst>
                <c:ext xmlns:c15="http://schemas.microsoft.com/office/drawing/2012/chart" uri="{CE6537A1-D6FC-4f65-9D91-7224C49458BB}"/>
              </c:extLst>
            </c:dLbl>
            <c:dLbl>
              <c:idx val="6"/>
              <c:layout>
                <c:manualLayout>
                  <c:x val="0.0"/>
                  <c:y val="-0.0370370370370371"/>
                </c:manualLayout>
              </c:layout>
              <c:tx>
                <c:rich>
                  <a:bodyPr/>
                  <a:lstStyle/>
                  <a:p>
                    <a:r>
                      <a:rPr lang="en-US" altLang="en-US"/>
                      <a:t>-19.1 </a:t>
                    </a:r>
                  </a:p>
                </c:rich>
              </c:tx>
              <c:dLblPos val="ctr"/>
              <c:showLegendKey val="0"/>
              <c:showVal val="1"/>
              <c:showCatName val="0"/>
              <c:showSerName val="0"/>
              <c:showPercent val="0"/>
              <c:showBubbleSize val="0"/>
              <c:extLst>
                <c:ext xmlns:c15="http://schemas.microsoft.com/office/drawing/2012/chart" uri="{CE6537A1-D6FC-4f65-9D91-7224C49458BB}"/>
              </c:extLst>
            </c:dLbl>
            <c:dLbl>
              <c:idx val="7"/>
              <c:layout>
                <c:manualLayout>
                  <c:x val="0.0"/>
                  <c:y val="-0.0328638497652584"/>
                </c:manualLayout>
              </c:layout>
              <c:tx>
                <c:rich>
                  <a:bodyPr/>
                  <a:lstStyle/>
                  <a:p>
                    <a:r>
                      <a:rPr lang="en-US" altLang="en-US"/>
                      <a:t>6553</a:t>
                    </a:r>
                  </a:p>
                </c:rich>
              </c:tx>
              <c:dLblPos val="ctr"/>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'PPT1'!$D$52:$D$59</c:f>
              <c:strCache>
                <c:ptCount val="8"/>
                <c:pt idx="0">
                  <c:v>3月</c:v>
                </c:pt>
                <c:pt idx="1">
                  <c:v>固网宽带
减收</c:v>
                </c:pt>
                <c:pt idx="2">
                  <c:v>移动电话
减收</c:v>
                </c:pt>
                <c:pt idx="3">
                  <c:v>ICT减收</c:v>
                </c:pt>
                <c:pt idx="4">
                  <c:v>号百传媒
减收</c:v>
                </c:pt>
                <c:pt idx="5">
                  <c:v>网间结算</c:v>
                </c:pt>
                <c:pt idx="6">
                  <c:v>其他</c:v>
                </c:pt>
                <c:pt idx="7">
                  <c:v>4月</c:v>
                </c:pt>
              </c:strCache>
            </c:strRef>
          </c:cat>
          <c:val>
            <c:numRef>
              <c:f>'PPT1'!$F$52:$F$59</c:f>
              <c:numCache>
                <c:formatCode>0.0_ </c:formatCode>
                <c:ptCount val="8"/>
                <c:pt idx="0">
                  <c:v>0.0</c:v>
                </c:pt>
                <c:pt idx="1">
                  <c:v>100.574075</c:v>
                </c:pt>
                <c:pt idx="2">
                  <c:v>68.8890890000002</c:v>
                </c:pt>
                <c:pt idx="3">
                  <c:v>63.577219</c:v>
                </c:pt>
                <c:pt idx="4">
                  <c:v>56.902421</c:v>
                </c:pt>
                <c:pt idx="5">
                  <c:v>40.346632</c:v>
                </c:pt>
                <c:pt idx="6">
                  <c:v>19.0901751219988</c:v>
                </c:pt>
                <c:pt idx="7">
                  <c:v>0.0</c:v>
                </c:pt>
              </c:numCache>
            </c:numRef>
          </c:val>
        </c:ser>
        <c:dLbls>
          <c:showLegendKey val="0"/>
          <c:showVal val="0"/>
          <c:showCatName val="0"/>
          <c:showSerName val="0"/>
          <c:showPercent val="0"/>
          <c:showBubbleSize val="0"/>
        </c:dLbls>
        <c:gapWidth val="150"/>
        <c:overlap val="100"/>
        <c:axId val="-2093346000"/>
        <c:axId val="-2093746112"/>
      </c:barChart>
      <c:catAx>
        <c:axId val="-2093346000"/>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2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2093746112"/>
        <c:crosses val="autoZero"/>
        <c:auto val="1"/>
        <c:lblAlgn val="ctr"/>
        <c:lblOffset val="100"/>
        <c:noMultiLvlLbl val="0"/>
      </c:catAx>
      <c:valAx>
        <c:axId val="-2093746112"/>
        <c:scaling>
          <c:orientation val="minMax"/>
          <c:max val="6950.0"/>
          <c:min val="6300.0"/>
        </c:scaling>
        <c:delete val="1"/>
        <c:axPos val="l"/>
        <c:numFmt formatCode="0.0_ " sourceLinked="1"/>
        <c:majorTickMark val="out"/>
        <c:minorTickMark val="none"/>
        <c:tickLblPos val="nextTo"/>
        <c:crossAx val="-2093346000"/>
        <c:crosses val="autoZero"/>
        <c:crossBetween val="between"/>
      </c:valAx>
    </c:plotArea>
    <c:plotVisOnly val="1"/>
    <c:dispBlanksAs val="gap"/>
    <c:showDLblsOverMax val="0"/>
  </c:chart>
  <c:txPr>
    <a:bodyPr/>
    <a:lstStyle/>
    <a:p>
      <a:pPr>
        <a:defRPr lang="zh-CN" sz="1200">
          <a:latin typeface="微软雅黑" panose="020B0503020204020204" charset="-122"/>
          <a:ea typeface="微软雅黑" panose="020B0503020204020204" charset="-122"/>
        </a:defRPr>
      </a:pPr>
      <a:endParaRPr lang="zh-CN"/>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
          <c:y val="0.0269559816473322"/>
          <c:w val="1.0"/>
          <c:h val="0.762988920278098"/>
        </c:manualLayout>
      </c:layout>
      <c:barChart>
        <c:barDir val="col"/>
        <c:grouping val="stacked"/>
        <c:varyColors val="0"/>
        <c:ser>
          <c:idx val="0"/>
          <c:order val="0"/>
          <c:tx>
            <c:strRef>
              <c:f>'PPT1'!$E$51</c:f>
              <c:strCache>
                <c:ptCount val="1"/>
                <c:pt idx="0">
                  <c:v>A</c:v>
                </c:pt>
              </c:strCache>
            </c:strRef>
          </c:tx>
          <c:spPr>
            <a:solidFill>
              <a:schemeClr val="bg1"/>
            </a:solidFill>
          </c:spPr>
          <c:invertIfNegative val="0"/>
          <c:dPt>
            <c:idx val="0"/>
            <c:invertIfNegative val="0"/>
            <c:bubble3D val="0"/>
            <c:spPr>
              <a:solidFill>
                <a:srgbClr val="C00000"/>
              </a:solidFill>
            </c:spPr>
          </c:dPt>
          <c:dPt>
            <c:idx val="1"/>
            <c:invertIfNegative val="0"/>
            <c:bubble3D val="0"/>
            <c:spPr>
              <a:solidFill>
                <a:schemeClr val="bg1">
                  <a:lumMod val="65000"/>
                </a:schemeClr>
              </a:solidFill>
            </c:spPr>
          </c:dPt>
          <c:dPt>
            <c:idx val="2"/>
            <c:invertIfNegative val="0"/>
            <c:bubble3D val="0"/>
            <c:spPr>
              <a:solidFill>
                <a:schemeClr val="bg1">
                  <a:lumMod val="65000"/>
                </a:schemeClr>
              </a:solidFill>
            </c:spPr>
          </c:dPt>
          <c:dPt>
            <c:idx val="3"/>
            <c:invertIfNegative val="0"/>
            <c:bubble3D val="0"/>
            <c:spPr>
              <a:solidFill>
                <a:schemeClr val="bg1">
                  <a:lumMod val="65000"/>
                </a:schemeClr>
              </a:solidFill>
            </c:spPr>
          </c:dPt>
          <c:dPt>
            <c:idx val="4"/>
            <c:invertIfNegative val="0"/>
            <c:bubble3D val="0"/>
            <c:spPr>
              <a:solidFill>
                <a:schemeClr val="bg1">
                  <a:lumMod val="65000"/>
                </a:schemeClr>
              </a:solidFill>
            </c:spPr>
          </c:dPt>
          <c:dPt>
            <c:idx val="5"/>
            <c:invertIfNegative val="0"/>
            <c:bubble3D val="0"/>
            <c:spPr>
              <a:solidFill>
                <a:schemeClr val="bg1">
                  <a:lumMod val="65000"/>
                </a:schemeClr>
              </a:solidFill>
            </c:spPr>
          </c:dPt>
          <c:dPt>
            <c:idx val="6"/>
            <c:invertIfNegative val="0"/>
            <c:bubble3D val="0"/>
            <c:spPr>
              <a:solidFill>
                <a:schemeClr val="bg1">
                  <a:lumMod val="65000"/>
                </a:schemeClr>
              </a:solidFill>
            </c:spPr>
          </c:dPt>
          <c:dPt>
            <c:idx val="7"/>
            <c:invertIfNegative val="0"/>
            <c:bubble3D val="0"/>
            <c:spPr>
              <a:solidFill>
                <a:srgbClr val="C00000"/>
              </a:solidFill>
            </c:spPr>
          </c:dPt>
          <c:cat>
            <c:strRef>
              <c:f>'PPT1'!$D$52:$D$59</c:f>
              <c:strCache>
                <c:ptCount val="8"/>
                <c:pt idx="0">
                  <c:v>3月</c:v>
                </c:pt>
                <c:pt idx="1">
                  <c:v>固网宽带
减收</c:v>
                </c:pt>
                <c:pt idx="2">
                  <c:v>移动电话
减收</c:v>
                </c:pt>
                <c:pt idx="3">
                  <c:v>ICT减收</c:v>
                </c:pt>
                <c:pt idx="4">
                  <c:v>号百传媒
减收</c:v>
                </c:pt>
                <c:pt idx="5">
                  <c:v>网间结算</c:v>
                </c:pt>
                <c:pt idx="6">
                  <c:v>其他</c:v>
                </c:pt>
                <c:pt idx="7">
                  <c:v>4月</c:v>
                </c:pt>
              </c:strCache>
            </c:strRef>
          </c:cat>
          <c:val>
            <c:numRef>
              <c:f>'PPT1'!$E$52:$E$59</c:f>
              <c:numCache>
                <c:formatCode>0.0_ </c:formatCode>
                <c:ptCount val="8"/>
                <c:pt idx="0">
                  <c:v>6902.419736122</c:v>
                </c:pt>
                <c:pt idx="1">
                  <c:v>6801.84566112201</c:v>
                </c:pt>
                <c:pt idx="2">
                  <c:v>6732.956572122</c:v>
                </c:pt>
                <c:pt idx="3">
                  <c:v>6669.379353121999</c:v>
                </c:pt>
                <c:pt idx="4">
                  <c:v>6612.476932122</c:v>
                </c:pt>
                <c:pt idx="5">
                  <c:v>6572.130300122</c:v>
                </c:pt>
                <c:pt idx="6">
                  <c:v>6553.040125</c:v>
                </c:pt>
                <c:pt idx="7">
                  <c:v>6553.040125</c:v>
                </c:pt>
              </c:numCache>
            </c:numRef>
          </c:val>
        </c:ser>
        <c:ser>
          <c:idx val="1"/>
          <c:order val="1"/>
          <c:tx>
            <c:strRef>
              <c:f>'PPT1'!$F$51</c:f>
              <c:strCache>
                <c:ptCount val="1"/>
                <c:pt idx="0">
                  <c:v>B</c:v>
                </c:pt>
              </c:strCache>
            </c:strRef>
          </c:tx>
          <c:spPr>
            <a:solidFill>
              <a:srgbClr val="C00000"/>
            </a:solidFill>
          </c:spPr>
          <c:invertIfNegative val="0"/>
          <c:dLbls>
            <c:dLbl>
              <c:idx val="0"/>
              <c:layout>
                <c:manualLayout>
                  <c:x val="0.0"/>
                  <c:y val="-0.0370370370370371"/>
                </c:manualLayout>
              </c:layout>
              <c:tx>
                <c:rich>
                  <a:bodyPr/>
                  <a:lstStyle/>
                  <a:p>
                    <a:r>
                      <a:rPr lang="en-US" altLang="en-US"/>
                      <a:t>6902</a:t>
                    </a:r>
                  </a:p>
                </c:rich>
              </c:tx>
              <c:dLblPos val="ctr"/>
              <c:showLegendKey val="0"/>
              <c:showVal val="1"/>
              <c:showCatName val="0"/>
              <c:showSerName val="0"/>
              <c:showPercent val="0"/>
              <c:showBubbleSize val="0"/>
              <c:extLst>
                <c:ext xmlns:c15="http://schemas.microsoft.com/office/drawing/2012/chart" uri="{CE6537A1-D6FC-4f65-9D91-7224C49458BB}"/>
              </c:extLst>
            </c:dLbl>
            <c:dLbl>
              <c:idx val="1"/>
              <c:layout>
                <c:manualLayout>
                  <c:x val="-0.00254452926208654"/>
                  <c:y val="-0.0837244464160298"/>
                </c:manualLayout>
              </c:layout>
              <c:tx>
                <c:rich>
                  <a:bodyPr/>
                  <a:lstStyle/>
                  <a:p>
                    <a:r>
                      <a:rPr lang="en-US" altLang="en-US"/>
                      <a:t>-100.6 </a:t>
                    </a:r>
                  </a:p>
                </c:rich>
              </c:tx>
              <c:dLblPos val="ctr"/>
              <c:showLegendKey val="0"/>
              <c:showVal val="1"/>
              <c:showCatName val="0"/>
              <c:showSerName val="0"/>
              <c:showPercent val="0"/>
              <c:showBubbleSize val="0"/>
              <c:extLst>
                <c:ext xmlns:c15="http://schemas.microsoft.com/office/drawing/2012/chart" uri="{CE6537A1-D6FC-4f65-9D91-7224C49458BB}"/>
              </c:extLst>
            </c:dLbl>
            <c:dLbl>
              <c:idx val="2"/>
              <c:layout>
                <c:manualLayout>
                  <c:x val="0.00295906713950832"/>
                  <c:y val="-0.0874281911944106"/>
                </c:manualLayout>
              </c:layout>
              <c:tx>
                <c:rich>
                  <a:bodyPr/>
                  <a:lstStyle/>
                  <a:p>
                    <a:r>
                      <a:rPr lang="en-US" altLang="en-US"/>
                      <a:t>-68.9 </a:t>
                    </a:r>
                  </a:p>
                </c:rich>
              </c:tx>
              <c:dLblPos val="ctr"/>
              <c:showLegendKey val="0"/>
              <c:showVal val="1"/>
              <c:showCatName val="0"/>
              <c:showSerName val="0"/>
              <c:showPercent val="0"/>
              <c:showBubbleSize val="0"/>
              <c:extLst>
                <c:ext xmlns:c15="http://schemas.microsoft.com/office/drawing/2012/chart" uri="{CE6537A1-D6FC-4f65-9D91-7224C49458BB}"/>
              </c:extLst>
            </c:dLbl>
            <c:dLbl>
              <c:idx val="3"/>
              <c:layout>
                <c:manualLayout>
                  <c:x val="-0.00212999138466471"/>
                  <c:y val="-0.094105208679901"/>
                </c:manualLayout>
              </c:layout>
              <c:tx>
                <c:rich>
                  <a:bodyPr/>
                  <a:lstStyle/>
                  <a:p>
                    <a:r>
                      <a:rPr lang="en-US" altLang="en-US"/>
                      <a:t>-63.6 </a:t>
                    </a:r>
                  </a:p>
                </c:rich>
              </c:tx>
              <c:dLblPos val="ctr"/>
              <c:showLegendKey val="0"/>
              <c:showVal val="1"/>
              <c:showCatName val="0"/>
              <c:showSerName val="0"/>
              <c:showPercent val="0"/>
              <c:showBubbleSize val="0"/>
              <c:extLst>
                <c:ext xmlns:c15="http://schemas.microsoft.com/office/drawing/2012/chart" uri="{CE6537A1-D6FC-4f65-9D91-7224C49458BB}"/>
              </c:extLst>
            </c:dLbl>
            <c:dLbl>
              <c:idx val="4"/>
              <c:layout>
                <c:manualLayout>
                  <c:x val="0.0"/>
                  <c:y val="-0.0592592592592593"/>
                </c:manualLayout>
              </c:layout>
              <c:tx>
                <c:rich>
                  <a:bodyPr/>
                  <a:lstStyle/>
                  <a:p>
                    <a:r>
                      <a:rPr lang="en-US" altLang="en-US"/>
                      <a:t>-56.9 </a:t>
                    </a:r>
                  </a:p>
                </c:rich>
              </c:tx>
              <c:dLblPos val="ctr"/>
              <c:showLegendKey val="0"/>
              <c:showVal val="1"/>
              <c:showCatName val="0"/>
              <c:showSerName val="0"/>
              <c:showPercent val="0"/>
              <c:showBubbleSize val="0"/>
              <c:extLst>
                <c:ext xmlns:c15="http://schemas.microsoft.com/office/drawing/2012/chart" uri="{CE6537A1-D6FC-4f65-9D91-7224C49458BB}"/>
              </c:extLst>
            </c:dLbl>
            <c:dLbl>
              <c:idx val="5"/>
              <c:layout>
                <c:manualLayout>
                  <c:x val="-0.002129925095398"/>
                  <c:y val="-0.0666666666666667"/>
                </c:manualLayout>
              </c:layout>
              <c:tx>
                <c:rich>
                  <a:bodyPr/>
                  <a:lstStyle/>
                  <a:p>
                    <a:r>
                      <a:rPr lang="en-US" altLang="en-US"/>
                      <a:t>-40.3 </a:t>
                    </a:r>
                  </a:p>
                </c:rich>
              </c:tx>
              <c:dLblPos val="ctr"/>
              <c:showLegendKey val="0"/>
              <c:showVal val="1"/>
              <c:showCatName val="0"/>
              <c:showSerName val="0"/>
              <c:showPercent val="0"/>
              <c:showBubbleSize val="0"/>
              <c:extLst>
                <c:ext xmlns:c15="http://schemas.microsoft.com/office/drawing/2012/chart" uri="{CE6537A1-D6FC-4f65-9D91-7224C49458BB}"/>
              </c:extLst>
            </c:dLbl>
            <c:dLbl>
              <c:idx val="6"/>
              <c:layout>
                <c:manualLayout>
                  <c:x val="0.0"/>
                  <c:y val="-0.0370370370370371"/>
                </c:manualLayout>
              </c:layout>
              <c:tx>
                <c:rich>
                  <a:bodyPr/>
                  <a:lstStyle/>
                  <a:p>
                    <a:r>
                      <a:rPr lang="en-US" altLang="en-US"/>
                      <a:t>-19.1 </a:t>
                    </a:r>
                  </a:p>
                </c:rich>
              </c:tx>
              <c:dLblPos val="ctr"/>
              <c:showLegendKey val="0"/>
              <c:showVal val="1"/>
              <c:showCatName val="0"/>
              <c:showSerName val="0"/>
              <c:showPercent val="0"/>
              <c:showBubbleSize val="0"/>
              <c:extLst>
                <c:ext xmlns:c15="http://schemas.microsoft.com/office/drawing/2012/chart" uri="{CE6537A1-D6FC-4f65-9D91-7224C49458BB}"/>
              </c:extLst>
            </c:dLbl>
            <c:dLbl>
              <c:idx val="7"/>
              <c:layout>
                <c:manualLayout>
                  <c:x val="0.0"/>
                  <c:y val="-0.0328638497652584"/>
                </c:manualLayout>
              </c:layout>
              <c:tx>
                <c:rich>
                  <a:bodyPr/>
                  <a:lstStyle/>
                  <a:p>
                    <a:r>
                      <a:rPr lang="en-US" altLang="en-US"/>
                      <a:t>6553</a:t>
                    </a:r>
                  </a:p>
                </c:rich>
              </c:tx>
              <c:dLblPos val="ctr"/>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'PPT1'!$D$52:$D$59</c:f>
              <c:strCache>
                <c:ptCount val="8"/>
                <c:pt idx="0">
                  <c:v>3月</c:v>
                </c:pt>
                <c:pt idx="1">
                  <c:v>固网宽带
减收</c:v>
                </c:pt>
                <c:pt idx="2">
                  <c:v>移动电话
减收</c:v>
                </c:pt>
                <c:pt idx="3">
                  <c:v>ICT减收</c:v>
                </c:pt>
                <c:pt idx="4">
                  <c:v>号百传媒
减收</c:v>
                </c:pt>
                <c:pt idx="5">
                  <c:v>网间结算</c:v>
                </c:pt>
                <c:pt idx="6">
                  <c:v>其他</c:v>
                </c:pt>
                <c:pt idx="7">
                  <c:v>4月</c:v>
                </c:pt>
              </c:strCache>
            </c:strRef>
          </c:cat>
          <c:val>
            <c:numRef>
              <c:f>'PPT1'!$F$52:$F$59</c:f>
              <c:numCache>
                <c:formatCode>0.0_ </c:formatCode>
                <c:ptCount val="8"/>
                <c:pt idx="0">
                  <c:v>0.0</c:v>
                </c:pt>
                <c:pt idx="1">
                  <c:v>100.574075</c:v>
                </c:pt>
                <c:pt idx="2">
                  <c:v>68.8890890000002</c:v>
                </c:pt>
                <c:pt idx="3">
                  <c:v>63.577219</c:v>
                </c:pt>
                <c:pt idx="4">
                  <c:v>56.902421</c:v>
                </c:pt>
                <c:pt idx="5">
                  <c:v>40.346632</c:v>
                </c:pt>
                <c:pt idx="6">
                  <c:v>19.0901751219988</c:v>
                </c:pt>
                <c:pt idx="7">
                  <c:v>0.0</c:v>
                </c:pt>
              </c:numCache>
            </c:numRef>
          </c:val>
        </c:ser>
        <c:dLbls>
          <c:showLegendKey val="0"/>
          <c:showVal val="0"/>
          <c:showCatName val="0"/>
          <c:showSerName val="0"/>
          <c:showPercent val="0"/>
          <c:showBubbleSize val="0"/>
        </c:dLbls>
        <c:gapWidth val="150"/>
        <c:overlap val="100"/>
        <c:axId val="-2093412304"/>
        <c:axId val="-2093409984"/>
      </c:barChart>
      <c:catAx>
        <c:axId val="-2093412304"/>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2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2093409984"/>
        <c:crosses val="autoZero"/>
        <c:auto val="1"/>
        <c:lblAlgn val="ctr"/>
        <c:lblOffset val="100"/>
        <c:noMultiLvlLbl val="0"/>
      </c:catAx>
      <c:valAx>
        <c:axId val="-2093409984"/>
        <c:scaling>
          <c:orientation val="minMax"/>
          <c:max val="6950.0"/>
          <c:min val="6300.0"/>
        </c:scaling>
        <c:delete val="1"/>
        <c:axPos val="l"/>
        <c:numFmt formatCode="0.0_ " sourceLinked="1"/>
        <c:majorTickMark val="out"/>
        <c:minorTickMark val="none"/>
        <c:tickLblPos val="nextTo"/>
        <c:crossAx val="-2093412304"/>
        <c:crosses val="autoZero"/>
        <c:crossBetween val="between"/>
      </c:valAx>
    </c:plotArea>
    <c:plotVisOnly val="1"/>
    <c:dispBlanksAs val="gap"/>
    <c:showDLblsOverMax val="0"/>
  </c:chart>
  <c:txPr>
    <a:bodyPr/>
    <a:lstStyle/>
    <a:p>
      <a:pPr>
        <a:defRPr lang="zh-CN" sz="1200">
          <a:latin typeface="微软雅黑" panose="020B0503020204020204" charset="-122"/>
          <a:ea typeface="微软雅黑" panose="020B0503020204020204" charset="-122"/>
        </a:defRPr>
      </a:pPr>
      <a:endParaRPr lang="zh-CN"/>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00215323651794189"/>
          <c:y val="0.00638888916836786"/>
          <c:w val="0.970754548297363"/>
          <c:h val="0.8211638487962"/>
        </c:manualLayout>
      </c:layout>
      <c:barChart>
        <c:barDir val="col"/>
        <c:grouping val="clustered"/>
        <c:varyColors val="0"/>
        <c:ser>
          <c:idx val="1"/>
          <c:order val="0"/>
          <c:tx>
            <c:strRef>
              <c:f>全业务!$A$2</c:f>
              <c:strCache>
                <c:ptCount val="1"/>
                <c:pt idx="0">
                  <c:v>完成率</c:v>
                </c:pt>
              </c:strCache>
            </c:strRef>
          </c:tx>
          <c:spPr>
            <a:solidFill>
              <a:sysClr val="windowText" lastClr="000000">
                <a:lumMod val="50000"/>
                <a:lumOff val="50000"/>
              </a:sysClr>
            </a:solidFill>
            <a:ln w="12700">
              <a:noFill/>
              <a:prstDash val="solid"/>
            </a:ln>
          </c:spPr>
          <c:invertIfNegative val="0"/>
          <c:dPt>
            <c:idx val="0"/>
            <c:invertIfNegative val="0"/>
            <c:bubble3D val="0"/>
            <c:spPr>
              <a:solidFill>
                <a:srgbClr val="FFC000"/>
              </a:solidFill>
              <a:ln w="12700">
                <a:noFill/>
                <a:prstDash val="solid"/>
              </a:ln>
            </c:spPr>
          </c:dPt>
          <c:dLbls>
            <c:dLbl>
              <c:idx val="0"/>
              <c:spPr>
                <a:noFill/>
                <a:ln w="25400">
                  <a:noFill/>
                </a:ln>
                <a:effectLst/>
              </c:spPr>
              <c:txPr>
                <a:bodyPr rot="0" spcFirstLastPara="0" vertOverflow="ellipsis" vert="horz" wrap="square" lIns="38100" tIns="19050" rIns="38100" bIns="19050" anchor="ctr" anchorCtr="1"/>
                <a:lstStyle/>
                <a:p>
                  <a:pPr>
                    <a:defRPr lang="zh-CN" sz="1000" b="1" i="0" u="none" strike="noStrike" kern="1200" baseline="0">
                      <a:solidFill>
                        <a:schemeClr val="bg1"/>
                      </a:solidFill>
                      <a:latin typeface="+mn-lt"/>
                      <a:ea typeface="楷体_GB2312"/>
                      <a:cs typeface="楷体_GB2312"/>
                    </a:defRPr>
                  </a:pPr>
                  <a:endParaRPr lang="zh-CN"/>
                </a:p>
              </c:txPr>
              <c:dLblPos val="ctr"/>
              <c:showLegendKey val="0"/>
              <c:showVal val="1"/>
              <c:showCatName val="0"/>
              <c:showSerName val="0"/>
              <c:showPercent val="0"/>
              <c:showBubbleSize val="0"/>
            </c:dLbl>
            <c:spPr>
              <a:noFill/>
              <a:ln w="25400">
                <a:noFill/>
              </a:ln>
              <a:effectLst/>
            </c:spPr>
            <c:txPr>
              <a:bodyPr rot="0" spcFirstLastPara="0" vertOverflow="ellipsis" vert="horz" wrap="square" lIns="38100" tIns="19050" rIns="38100" bIns="19050" anchor="ctr" anchorCtr="1"/>
              <a:lstStyle/>
              <a:p>
                <a:pPr>
                  <a:defRPr lang="zh-CN" sz="1000" b="1" i="0" u="none" strike="noStrike" kern="1200" baseline="0">
                    <a:solidFill>
                      <a:srgbClr val="000000"/>
                    </a:solidFill>
                    <a:latin typeface="+mn-lt"/>
                    <a:ea typeface="楷体_GB2312"/>
                    <a:cs typeface="楷体_GB231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全业务!$B$1:$J$1</c:f>
              <c:strCache>
                <c:ptCount val="9"/>
                <c:pt idx="0">
                  <c:v>南平</c:v>
                </c:pt>
                <c:pt idx="1">
                  <c:v>莆田</c:v>
                </c:pt>
                <c:pt idx="2">
                  <c:v>泉州</c:v>
                </c:pt>
                <c:pt idx="3">
                  <c:v>漳州</c:v>
                </c:pt>
                <c:pt idx="4">
                  <c:v>宁德</c:v>
                </c:pt>
                <c:pt idx="5">
                  <c:v>福州</c:v>
                </c:pt>
                <c:pt idx="6">
                  <c:v>厦门</c:v>
                </c:pt>
                <c:pt idx="7">
                  <c:v>龙岩</c:v>
                </c:pt>
                <c:pt idx="8">
                  <c:v>三明</c:v>
                </c:pt>
              </c:strCache>
            </c:strRef>
          </c:cat>
          <c:val>
            <c:numRef>
              <c:f>全业务!$B$2:$J$2</c:f>
              <c:numCache>
                <c:formatCode>0.00%</c:formatCode>
                <c:ptCount val="9"/>
                <c:pt idx="0">
                  <c:v>0.337247851227139</c:v>
                </c:pt>
                <c:pt idx="1">
                  <c:v>0.326428978961509</c:v>
                </c:pt>
                <c:pt idx="2">
                  <c:v>0.323773027196395</c:v>
                </c:pt>
                <c:pt idx="3">
                  <c:v>0.321998635484677</c:v>
                </c:pt>
                <c:pt idx="4">
                  <c:v>0.319247099508161</c:v>
                </c:pt>
                <c:pt idx="5">
                  <c:v>0.319045725139154</c:v>
                </c:pt>
                <c:pt idx="6">
                  <c:v>0.317560538487865</c:v>
                </c:pt>
                <c:pt idx="7">
                  <c:v>0.313768393843047</c:v>
                </c:pt>
                <c:pt idx="8">
                  <c:v>0.309375923495012</c:v>
                </c:pt>
              </c:numCache>
            </c:numRef>
          </c:val>
        </c:ser>
        <c:dLbls>
          <c:showLegendKey val="0"/>
          <c:showVal val="1"/>
          <c:showCatName val="0"/>
          <c:showSerName val="0"/>
          <c:showPercent val="0"/>
          <c:showBubbleSize val="0"/>
        </c:dLbls>
        <c:gapWidth val="150"/>
        <c:axId val="1952027568"/>
        <c:axId val="1995676480"/>
      </c:barChart>
      <c:lineChart>
        <c:grouping val="standard"/>
        <c:varyColors val="0"/>
        <c:ser>
          <c:idx val="0"/>
          <c:order val="1"/>
          <c:tx>
            <c:strRef>
              <c:f>全业务!$A$3</c:f>
              <c:strCache>
                <c:ptCount val="1"/>
                <c:pt idx="0">
                  <c:v>同比增幅</c:v>
                </c:pt>
              </c:strCache>
            </c:strRef>
          </c:tx>
          <c:spPr>
            <a:ln w="38100" cap="rnd" cmpd="sng" algn="ctr">
              <a:solidFill>
                <a:srgbClr val="FF0000"/>
              </a:solidFill>
              <a:prstDash val="solid"/>
              <a:round/>
            </a:ln>
          </c:spPr>
          <c:marker>
            <c:symbol val="diamond"/>
            <c:size val="9"/>
            <c:spPr>
              <a:solidFill>
                <a:srgbClr val="FF0000"/>
              </a:solidFill>
              <a:ln w="9525" cap="flat" cmpd="sng" algn="ctr">
                <a:solidFill>
                  <a:srgbClr val="FF0000"/>
                </a:solidFill>
                <a:prstDash val="solid"/>
                <a:round/>
              </a:ln>
            </c:spPr>
          </c:marker>
          <c:dLbls>
            <c:dLbl>
              <c:idx val="0"/>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chemeClr val="bg1"/>
                      </a:solidFill>
                      <a:latin typeface="Arial" panose="020B0604020202020204"/>
                      <a:ea typeface="Arial" panose="020B0604020202020204"/>
                      <a:cs typeface="Arial" panose="020B0604020202020204"/>
                    </a:defRPr>
                  </a:pPr>
                  <a:endParaRPr lang="zh-CN"/>
                </a:p>
              </c:txPr>
              <c:dLblPos val="b"/>
              <c:showLegendKey val="0"/>
              <c:showVal val="1"/>
              <c:showCatName val="0"/>
              <c:showSerName val="0"/>
              <c:showPercent val="0"/>
              <c:showBubbleSize val="0"/>
            </c:dLbl>
            <c:dLbl>
              <c:idx val="6"/>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chemeClr val="tx1"/>
                      </a:solidFill>
                      <a:latin typeface="Arial" panose="020B0604020202020204"/>
                      <a:ea typeface="Arial" panose="020B0604020202020204"/>
                      <a:cs typeface="Arial" panose="020B0604020202020204"/>
                    </a:defRPr>
                  </a:pPr>
                  <a:endParaRPr lang="zh-CN"/>
                </a:p>
              </c:txPr>
              <c:dLblPos val="b"/>
              <c:showLegendKey val="0"/>
              <c:showVal val="1"/>
              <c:showCatName val="0"/>
              <c:showSerName val="0"/>
              <c:showPercent val="0"/>
              <c:showBubbleSize val="0"/>
            </c:dLbl>
            <c:dLbl>
              <c:idx val="8"/>
              <c:tx>
                <c:rich>
                  <a:bodyPr rot="0" spcFirstLastPara="0" vertOverflow="ellipsis" vert="horz" wrap="square" lIns="38100" tIns="19050" rIns="38100" bIns="19050" anchor="ctr" anchorCtr="1"/>
                  <a:lstStyle/>
                  <a:p>
                    <a:pPr>
                      <a:defRPr lang="zh-CN" sz="1000" b="1" i="0" u="none" strike="noStrike" kern="1200" baseline="0">
                        <a:solidFill>
                          <a:srgbClr val="FF0000"/>
                        </a:solidFill>
                        <a:latin typeface="Arial" panose="020B0604020202020204"/>
                        <a:ea typeface="Arial" panose="020B0604020202020204"/>
                        <a:cs typeface="Arial" panose="020B0604020202020204"/>
                      </a:defRPr>
                    </a:pPr>
                    <a:r>
                      <a:rPr lang="en-US" altLang="en-US" baseline="0" dirty="0">
                        <a:solidFill>
                          <a:schemeClr val="tx1"/>
                        </a:solidFill>
                      </a:rPr>
                      <a:t>-1.34%</a:t>
                    </a:r>
                  </a:p>
                </c:rich>
              </c:tx>
              <c:spPr>
                <a:noFill/>
                <a:ln>
                  <a:noFill/>
                </a:ln>
                <a:effectLst/>
              </c:spPr>
              <c:dLblPos val="b"/>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rgbClr val="000000"/>
                    </a:solidFill>
                    <a:latin typeface="Arial" panose="020B0604020202020204"/>
                    <a:ea typeface="Arial" panose="020B0604020202020204"/>
                    <a:cs typeface="Arial" panose="020B0604020202020204"/>
                  </a:defRPr>
                </a:pPr>
                <a:endParaRPr lang="zh-CN"/>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全业务!$B$1:$J$1</c:f>
              <c:strCache>
                <c:ptCount val="9"/>
                <c:pt idx="0">
                  <c:v>南平</c:v>
                </c:pt>
                <c:pt idx="1">
                  <c:v>莆田</c:v>
                </c:pt>
                <c:pt idx="2">
                  <c:v>泉州</c:v>
                </c:pt>
                <c:pt idx="3">
                  <c:v>漳州</c:v>
                </c:pt>
                <c:pt idx="4">
                  <c:v>宁德</c:v>
                </c:pt>
                <c:pt idx="5">
                  <c:v>福州</c:v>
                </c:pt>
                <c:pt idx="6">
                  <c:v>厦门</c:v>
                </c:pt>
                <c:pt idx="7">
                  <c:v>龙岩</c:v>
                </c:pt>
                <c:pt idx="8">
                  <c:v>三明</c:v>
                </c:pt>
              </c:strCache>
            </c:strRef>
          </c:cat>
          <c:val>
            <c:numRef>
              <c:f>全业务!$B$3:$J$3</c:f>
              <c:numCache>
                <c:formatCode>0.00%</c:formatCode>
                <c:ptCount val="9"/>
                <c:pt idx="0">
                  <c:v>0.0387395777685404</c:v>
                </c:pt>
                <c:pt idx="1">
                  <c:v>0.0234315095574613</c:v>
                </c:pt>
                <c:pt idx="2">
                  <c:v>-0.0124263402893378</c:v>
                </c:pt>
                <c:pt idx="3">
                  <c:v>-0.00216392374793716</c:v>
                </c:pt>
                <c:pt idx="4">
                  <c:v>-0.0214435933239028</c:v>
                </c:pt>
                <c:pt idx="5">
                  <c:v>-0.00804996967604383</c:v>
                </c:pt>
                <c:pt idx="6">
                  <c:v>-0.0178011563646132</c:v>
                </c:pt>
                <c:pt idx="7">
                  <c:v>-0.0261072718125509</c:v>
                </c:pt>
                <c:pt idx="8">
                  <c:v>-0.0305604211143761</c:v>
                </c:pt>
              </c:numCache>
            </c:numRef>
          </c:val>
          <c:smooth val="1"/>
        </c:ser>
        <c:dLbls>
          <c:showLegendKey val="0"/>
          <c:showVal val="1"/>
          <c:showCatName val="0"/>
          <c:showSerName val="0"/>
          <c:showPercent val="0"/>
          <c:showBubbleSize val="0"/>
        </c:dLbls>
        <c:marker val="1"/>
        <c:smooth val="0"/>
        <c:axId val="-2093713056"/>
        <c:axId val="-2093862144"/>
      </c:lineChart>
      <c:catAx>
        <c:axId val="1952027568"/>
        <c:scaling>
          <c:orientation val="minMax"/>
        </c:scaling>
        <c:delete val="0"/>
        <c:axPos val="b"/>
        <c:numFmt formatCode="General" sourceLinked="1"/>
        <c:majorTickMark val="in"/>
        <c:minorTickMark val="none"/>
        <c:tickLblPos val="nextTo"/>
        <c:spPr>
          <a:ln w="3175" cap="flat" cmpd="sng" algn="ctr">
            <a:solidFill>
              <a:srgbClr val="000000"/>
            </a:solidFill>
            <a:prstDash val="solid"/>
            <a:round/>
          </a:ln>
        </c:spPr>
        <c:txPr>
          <a:bodyPr rot="0" spcFirstLastPara="0" vertOverflow="ellipsis" vert="horz" wrap="square" anchor="ctr" anchorCtr="1"/>
          <a:lstStyle/>
          <a:p>
            <a:pPr>
              <a:defRPr lang="zh-CN" sz="1400" b="0" i="0" u="none" strike="noStrike" kern="1200" baseline="0">
                <a:solidFill>
                  <a:srgbClr val="000000"/>
                </a:solidFill>
                <a:latin typeface="微软雅黑" panose="020B0503020204020204" charset="-122"/>
                <a:ea typeface="微软雅黑" panose="020B0503020204020204" charset="-122"/>
                <a:cs typeface="宋体" panose="02010600030101010101" pitchFamily="2" charset="-122"/>
              </a:defRPr>
            </a:pPr>
            <a:endParaRPr lang="zh-CN"/>
          </a:p>
        </c:txPr>
        <c:crossAx val="1995676480"/>
        <c:crosses val="autoZero"/>
        <c:auto val="0"/>
        <c:lblAlgn val="ctr"/>
        <c:lblOffset val="100"/>
        <c:tickLblSkip val="1"/>
        <c:noMultiLvlLbl val="0"/>
      </c:catAx>
      <c:valAx>
        <c:axId val="1995676480"/>
        <c:scaling>
          <c:orientation val="minMax"/>
        </c:scaling>
        <c:delete val="0"/>
        <c:axPos val="l"/>
        <c:numFmt formatCode="0.00%" sourceLinked="1"/>
        <c:majorTickMark val="none"/>
        <c:minorTickMark val="none"/>
        <c:tickLblPos val="none"/>
        <c:spPr>
          <a:ln w="9525" cap="flat" cmpd="sng" algn="ctr">
            <a:noFill/>
            <a:prstDash val="solid"/>
            <a:round/>
          </a:ln>
        </c:spPr>
        <c:txPr>
          <a:bodyPr rot="-60000000" spcFirstLastPara="0" vertOverflow="ellipsis" vert="horz" wrap="square" anchor="ctr" anchorCtr="1"/>
          <a:lstStyle/>
          <a:p>
            <a:pPr>
              <a:defRPr lang="zh-CN" sz="1000" b="0" i="0" u="none" strike="noStrike" kern="1200" baseline="0">
                <a:solidFill>
                  <a:srgbClr val="000000"/>
                </a:solidFill>
                <a:latin typeface="Arial" panose="020B0604020202020204"/>
                <a:ea typeface="Arial" panose="020B0604020202020204"/>
                <a:cs typeface="Arial" panose="020B0604020202020204"/>
              </a:defRPr>
            </a:pPr>
            <a:endParaRPr lang="zh-CN"/>
          </a:p>
        </c:txPr>
        <c:crossAx val="1952027568"/>
        <c:crosses val="autoZero"/>
        <c:crossBetween val="between"/>
      </c:valAx>
      <c:catAx>
        <c:axId val="-2093713056"/>
        <c:scaling>
          <c:orientation val="minMax"/>
        </c:scaling>
        <c:delete val="1"/>
        <c:axPos val="b"/>
        <c:numFmt formatCode="General" sourceLinked="1"/>
        <c:majorTickMark val="out"/>
        <c:minorTickMark val="none"/>
        <c:tickLblPos val="none"/>
        <c:crossAx val="-2093862144"/>
        <c:crossesAt val="0.0"/>
        <c:auto val="0"/>
        <c:lblAlgn val="ctr"/>
        <c:lblOffset val="100"/>
        <c:noMultiLvlLbl val="0"/>
      </c:catAx>
      <c:valAx>
        <c:axId val="-2093862144"/>
        <c:scaling>
          <c:orientation val="minMax"/>
          <c:max val="0.1"/>
          <c:min val="-0.2"/>
        </c:scaling>
        <c:delete val="0"/>
        <c:axPos val="r"/>
        <c:numFmt formatCode="0.00%" sourceLinked="1"/>
        <c:majorTickMark val="none"/>
        <c:minorTickMark val="none"/>
        <c:tickLblPos val="none"/>
        <c:spPr>
          <a:ln w="3175" cap="flat" cmpd="sng" algn="ctr">
            <a:solidFill>
              <a:srgbClr val="000000"/>
            </a:solidFill>
            <a:prstDash val="solid"/>
            <a:round/>
          </a:ln>
        </c:spPr>
        <c:txPr>
          <a:bodyPr rot="-60000000" spcFirstLastPara="0" vertOverflow="ellipsis" vert="horz" wrap="square" anchor="ctr" anchorCtr="1"/>
          <a:lstStyle/>
          <a:p>
            <a:pPr>
              <a:defRPr lang="zh-CN" sz="1000" b="0" i="0" u="none" strike="noStrike" kern="1200" baseline="0">
                <a:solidFill>
                  <a:srgbClr val="000000"/>
                </a:solidFill>
                <a:latin typeface="Arial" panose="020B0604020202020204"/>
                <a:ea typeface="Arial" panose="020B0604020202020204"/>
                <a:cs typeface="Arial" panose="020B0604020202020204"/>
              </a:defRPr>
            </a:pPr>
            <a:endParaRPr lang="zh-CN"/>
          </a:p>
        </c:txPr>
        <c:crossAx val="-2093713056"/>
        <c:crosses val="max"/>
        <c:crossBetween val="between"/>
        <c:majorUnit val="0.0400000000000001"/>
        <c:minorUnit val="0.0200000000000001"/>
      </c:valAx>
      <c:spPr>
        <a:noFill/>
        <a:ln w="25400">
          <a:noFill/>
        </a:ln>
      </c:spPr>
    </c:plotArea>
    <c:legend>
      <c:legendPos val="b"/>
      <c:layout>
        <c:manualLayout>
          <c:xMode val="edge"/>
          <c:yMode val="edge"/>
          <c:x val="0.617210473672021"/>
          <c:y val="0.00478621569878749"/>
          <c:w val="0.345598090143011"/>
          <c:h val="0.0902193637712558"/>
        </c:manualLayout>
      </c:layout>
      <c:overlay val="0"/>
      <c:spPr>
        <a:noFill/>
        <a:ln w="3175">
          <a:noFill/>
          <a:prstDash val="solid"/>
        </a:ln>
      </c:spPr>
      <c:txPr>
        <a:bodyPr rot="0" spcFirstLastPara="0" vertOverflow="ellipsis" vert="horz" wrap="square" anchor="ctr" anchorCtr="1"/>
        <a:lstStyle/>
        <a:p>
          <a:pPr>
            <a:defRPr lang="zh-CN" sz="1400" b="0" i="0" u="none" strike="noStrike" kern="1200" baseline="0">
              <a:solidFill>
                <a:srgbClr val="000000"/>
              </a:solidFill>
              <a:latin typeface="微软雅黑" panose="020B0503020204020204" charset="-122"/>
              <a:ea typeface="微软雅黑" panose="020B0503020204020204" charset="-122"/>
              <a:cs typeface="宋体" panose="02010600030101010101" pitchFamily="2" charset="-122"/>
            </a:defRPr>
          </a:pPr>
          <a:endParaRPr lang="zh-CN"/>
        </a:p>
      </c:txPr>
    </c:legend>
    <c:plotVisOnly val="1"/>
    <c:dispBlanksAs val="gap"/>
    <c:showDLblsOverMax val="0"/>
  </c:chart>
  <c:spPr>
    <a:noFill/>
    <a:ln w="9525">
      <a:noFill/>
    </a:ln>
  </c:spPr>
  <c:txPr>
    <a:bodyPr/>
    <a:lstStyle/>
    <a:p>
      <a:pPr>
        <a:defRPr lang="zh-CN" sz="1000" b="0" i="0" u="none" strike="noStrike" baseline="0">
          <a:solidFill>
            <a:srgbClr val="000000"/>
          </a:solidFill>
          <a:latin typeface="Arial" panose="020B0604020202020204"/>
          <a:ea typeface="Arial" panose="020B0604020202020204"/>
          <a:cs typeface="Arial" panose="020B0604020202020204"/>
        </a:defRPr>
      </a:pPr>
      <a:endParaRPr lang="zh-CN"/>
    </a:p>
  </c:txPr>
  <c:externalData r:id="rId2">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85000"/>
              </a:schemeClr>
            </a:solidFill>
            <a:ln>
              <a:solidFill>
                <a:schemeClr val="bg1"/>
              </a:solidFill>
            </a:ln>
          </c:spPr>
          <c:dPt>
            <c:idx val="0"/>
            <c:bubble3D val="0"/>
            <c:spPr>
              <a:solidFill>
                <a:srgbClr val="404040"/>
              </a:solidFill>
              <a:ln>
                <a:solidFill>
                  <a:schemeClr val="bg1"/>
                </a:solidFill>
              </a:ln>
            </c:spPr>
          </c:dPt>
          <c:dPt>
            <c:idx val="1"/>
            <c:bubble3D val="0"/>
            <c:spPr>
              <a:solidFill>
                <a:srgbClr val="404040"/>
              </a:solidFill>
              <a:ln>
                <a:solidFill>
                  <a:schemeClr val="bg1"/>
                </a:solidFill>
              </a:ln>
            </c:spPr>
          </c:dPt>
          <c:dPt>
            <c:idx val="2"/>
            <c:bubble3D val="0"/>
            <c:spPr>
              <a:solidFill>
                <a:srgbClr val="404040"/>
              </a:solidFill>
              <a:ln>
                <a:solidFill>
                  <a:schemeClr val="bg1"/>
                </a:solidFill>
              </a:ln>
            </c:spPr>
          </c:dPt>
          <c:dPt>
            <c:idx val="3"/>
            <c:bubble3D val="0"/>
            <c:spPr>
              <a:solidFill>
                <a:srgbClr val="404040"/>
              </a:solidFill>
              <a:ln>
                <a:solidFill>
                  <a:schemeClr val="bg1"/>
                </a:solidFill>
              </a:ln>
            </c:spPr>
          </c:dPt>
          <c:dPt>
            <c:idx val="4"/>
            <c:bubble3D val="0"/>
            <c:spPr>
              <a:solidFill>
                <a:srgbClr val="404040"/>
              </a:solidFill>
              <a:ln>
                <a:solidFill>
                  <a:schemeClr val="bg1"/>
                </a:solidFill>
              </a:ln>
            </c:spPr>
          </c:dPt>
          <c:dPt>
            <c:idx val="5"/>
            <c:bubble3D val="0"/>
          </c:dPt>
          <c:dPt>
            <c:idx val="6"/>
            <c:bubble3D val="0"/>
          </c:dPt>
          <c:dPt>
            <c:idx val="7"/>
            <c:bubble3D val="0"/>
          </c:dPt>
          <c:dPt>
            <c:idx val="8"/>
            <c:bubble3D val="0"/>
          </c:dPt>
          <c:dPt>
            <c:idx val="9"/>
            <c:bubble3D val="0"/>
          </c:dPt>
          <c:cat>
            <c:strRef>
              <c:f>Sheet1!$A$2:$A$11</c:f>
              <c:strCache>
                <c:ptCount val="10"/>
                <c:pt idx="0">
                  <c:v>1st Qtr</c:v>
                </c:pt>
                <c:pt idx="1">
                  <c:v>2nd Qtr</c:v>
                </c:pt>
                <c:pt idx="2">
                  <c:v>1st Qtr</c:v>
                </c:pt>
                <c:pt idx="3">
                  <c:v>1st Qtr</c:v>
                </c:pt>
                <c:pt idx="4">
                  <c:v>1st Qtr</c:v>
                </c:pt>
                <c:pt idx="5">
                  <c:v>1st Qtr</c:v>
                </c:pt>
                <c:pt idx="6">
                  <c:v>1st Qtr</c:v>
                </c:pt>
                <c:pt idx="7">
                  <c:v>1st Qtr</c:v>
                </c:pt>
                <c:pt idx="8">
                  <c:v>1st Qtr</c:v>
                </c:pt>
                <c:pt idx="9">
                  <c:v>1st Qtr</c:v>
                </c:pt>
              </c:strCache>
            </c:strRef>
          </c:cat>
          <c:val>
            <c:numRef>
              <c:f>Sheet1!$B$2:$B$11</c:f>
              <c:numCache>
                <c:formatCode>General</c:formatCode>
                <c:ptCount val="10"/>
                <c:pt idx="0">
                  <c:v>10.0</c:v>
                </c:pt>
                <c:pt idx="1">
                  <c:v>10.0</c:v>
                </c:pt>
                <c:pt idx="2">
                  <c:v>10.0</c:v>
                </c:pt>
                <c:pt idx="3">
                  <c:v>10.0</c:v>
                </c:pt>
                <c:pt idx="4">
                  <c:v>10.0</c:v>
                </c:pt>
                <c:pt idx="5">
                  <c:v>10.0</c:v>
                </c:pt>
                <c:pt idx="6">
                  <c:v>10.0</c:v>
                </c:pt>
                <c:pt idx="7">
                  <c:v>10.0</c:v>
                </c:pt>
                <c:pt idx="8">
                  <c:v>10.0</c:v>
                </c:pt>
                <c:pt idx="9">
                  <c:v>10.0</c:v>
                </c:pt>
              </c:numCache>
            </c:numRef>
          </c:val>
        </c:ser>
        <c:dLbls>
          <c:showLegendKey val="0"/>
          <c:showVal val="0"/>
          <c:showCatName val="0"/>
          <c:showSerName val="0"/>
          <c:showPercent val="0"/>
          <c:showBubbleSize val="0"/>
          <c:showLeaderLines val="1"/>
        </c:dLbls>
        <c:firstSliceAng val="0"/>
        <c:holeSize val="80"/>
      </c:doughnutChart>
    </c:plotArea>
    <c:plotVisOnly val="1"/>
    <c:dispBlanksAs val="zero"/>
    <c:showDLblsOverMax val="0"/>
  </c:chart>
  <c:spPr>
    <a:ln>
      <a:noFill/>
    </a:ln>
  </c:spPr>
  <c:txPr>
    <a:bodyPr/>
    <a:lstStyle/>
    <a:p>
      <a:pPr>
        <a:defRPr lang="zh-CN" sz="1800" baseline="-25000">
          <a:latin typeface="+mn-lt"/>
          <a:ea typeface="+mn-ea"/>
          <a:cs typeface="+mn-ea"/>
          <a:sym typeface="+mn-lt"/>
        </a:defRPr>
      </a:pPr>
      <a:endParaRPr lang="zh-CN"/>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85000"/>
              </a:schemeClr>
            </a:solidFill>
            <a:ln>
              <a:solidFill>
                <a:schemeClr val="bg1"/>
              </a:solidFill>
            </a:ln>
          </c:spPr>
          <c:dPt>
            <c:idx val="0"/>
            <c:bubble3D val="0"/>
            <c:spPr>
              <a:solidFill>
                <a:srgbClr val="FFC000"/>
              </a:solidFill>
              <a:ln>
                <a:solidFill>
                  <a:schemeClr val="bg1"/>
                </a:solidFill>
              </a:ln>
            </c:spPr>
          </c:dPt>
          <c:dPt>
            <c:idx val="1"/>
            <c:bubble3D val="0"/>
            <c:spPr>
              <a:solidFill>
                <a:srgbClr val="FFC000"/>
              </a:solidFill>
              <a:ln>
                <a:solidFill>
                  <a:schemeClr val="bg1"/>
                </a:solidFill>
              </a:ln>
            </c:spPr>
          </c:dPt>
          <c:dPt>
            <c:idx val="2"/>
            <c:bubble3D val="0"/>
            <c:spPr>
              <a:solidFill>
                <a:srgbClr val="FFC000"/>
              </a:solidFill>
              <a:ln>
                <a:solidFill>
                  <a:schemeClr val="bg1"/>
                </a:solidFill>
              </a:ln>
            </c:spPr>
          </c:dPt>
          <c:dPt>
            <c:idx val="3"/>
            <c:bubble3D val="0"/>
            <c:spPr>
              <a:solidFill>
                <a:srgbClr val="FFC000"/>
              </a:solidFill>
              <a:ln>
                <a:solidFill>
                  <a:schemeClr val="bg1"/>
                </a:solidFill>
              </a:ln>
            </c:spPr>
          </c:dPt>
          <c:dPt>
            <c:idx val="4"/>
            <c:bubble3D val="0"/>
            <c:spPr>
              <a:solidFill>
                <a:srgbClr val="FFC000"/>
              </a:solidFill>
              <a:ln>
                <a:solidFill>
                  <a:schemeClr val="bg1"/>
                </a:solidFill>
              </a:ln>
            </c:spPr>
          </c:dPt>
          <c:dPt>
            <c:idx val="5"/>
            <c:bubble3D val="0"/>
            <c:spPr>
              <a:solidFill>
                <a:srgbClr val="FFC000"/>
              </a:solidFill>
              <a:ln>
                <a:solidFill>
                  <a:schemeClr val="bg1"/>
                </a:solidFill>
              </a:ln>
            </c:spPr>
          </c:dPt>
          <c:dPt>
            <c:idx val="6"/>
            <c:bubble3D val="0"/>
            <c:spPr>
              <a:solidFill>
                <a:srgbClr val="FFC000"/>
              </a:solidFill>
              <a:ln>
                <a:solidFill>
                  <a:schemeClr val="bg1"/>
                </a:solidFill>
              </a:ln>
            </c:spPr>
          </c:dPt>
          <c:dPt>
            <c:idx val="7"/>
            <c:bubble3D val="0"/>
          </c:dPt>
          <c:dPt>
            <c:idx val="8"/>
            <c:bubble3D val="0"/>
          </c:dPt>
          <c:dPt>
            <c:idx val="9"/>
            <c:bubble3D val="0"/>
          </c:dPt>
          <c:cat>
            <c:strRef>
              <c:f>Sheet1!$A$2:$A$11</c:f>
              <c:strCache>
                <c:ptCount val="10"/>
                <c:pt idx="0">
                  <c:v>1st Qtr</c:v>
                </c:pt>
                <c:pt idx="1">
                  <c:v>2nd Qtr</c:v>
                </c:pt>
                <c:pt idx="2">
                  <c:v>1st Qtr</c:v>
                </c:pt>
                <c:pt idx="3">
                  <c:v>1st Qtr</c:v>
                </c:pt>
                <c:pt idx="4">
                  <c:v>1st Qtr</c:v>
                </c:pt>
                <c:pt idx="5">
                  <c:v>1st Qtr</c:v>
                </c:pt>
                <c:pt idx="6">
                  <c:v>1st Qtr</c:v>
                </c:pt>
                <c:pt idx="7">
                  <c:v>1st Qtr</c:v>
                </c:pt>
                <c:pt idx="8">
                  <c:v>1st Qtr</c:v>
                </c:pt>
                <c:pt idx="9">
                  <c:v>1st Qtr</c:v>
                </c:pt>
              </c:strCache>
            </c:strRef>
          </c:cat>
          <c:val>
            <c:numRef>
              <c:f>Sheet1!$B$2:$B$11</c:f>
              <c:numCache>
                <c:formatCode>General</c:formatCode>
                <c:ptCount val="10"/>
                <c:pt idx="0">
                  <c:v>10.0</c:v>
                </c:pt>
                <c:pt idx="1">
                  <c:v>10.0</c:v>
                </c:pt>
                <c:pt idx="2">
                  <c:v>10.0</c:v>
                </c:pt>
                <c:pt idx="3">
                  <c:v>10.0</c:v>
                </c:pt>
                <c:pt idx="4">
                  <c:v>10.0</c:v>
                </c:pt>
                <c:pt idx="5">
                  <c:v>10.0</c:v>
                </c:pt>
                <c:pt idx="6">
                  <c:v>10.0</c:v>
                </c:pt>
                <c:pt idx="7">
                  <c:v>10.0</c:v>
                </c:pt>
                <c:pt idx="8">
                  <c:v>10.0</c:v>
                </c:pt>
                <c:pt idx="9">
                  <c:v>10.0</c:v>
                </c:pt>
              </c:numCache>
            </c:numRef>
          </c:val>
        </c:ser>
        <c:dLbls>
          <c:showLegendKey val="0"/>
          <c:showVal val="0"/>
          <c:showCatName val="0"/>
          <c:showSerName val="0"/>
          <c:showPercent val="0"/>
          <c:showBubbleSize val="0"/>
          <c:showLeaderLines val="1"/>
        </c:dLbls>
        <c:firstSliceAng val="0"/>
        <c:holeSize val="80"/>
      </c:doughnutChart>
    </c:plotArea>
    <c:plotVisOnly val="1"/>
    <c:dispBlanksAs val="zero"/>
    <c:showDLblsOverMax val="0"/>
  </c:chart>
  <c:spPr>
    <a:ln>
      <a:noFill/>
    </a:ln>
  </c:spPr>
  <c:txPr>
    <a:bodyPr/>
    <a:lstStyle/>
    <a:p>
      <a:pPr>
        <a:defRPr lang="zh-CN" sz="1800" baseline="-25000">
          <a:latin typeface="+mn-lt"/>
          <a:ea typeface="+mn-ea"/>
          <a:cs typeface="+mn-ea"/>
          <a:sym typeface="+mn-lt"/>
        </a:defRPr>
      </a:pPr>
      <a:endParaRPr lang="zh-CN"/>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85000"/>
              </a:schemeClr>
            </a:solidFill>
            <a:ln>
              <a:solidFill>
                <a:schemeClr val="bg1"/>
              </a:solidFill>
            </a:ln>
          </c:spPr>
          <c:explosion val="2"/>
          <c:dPt>
            <c:idx val="0"/>
            <c:bubble3D val="0"/>
            <c:spPr>
              <a:solidFill>
                <a:srgbClr val="404040"/>
              </a:solidFill>
              <a:ln>
                <a:solidFill>
                  <a:schemeClr val="bg1"/>
                </a:solidFill>
              </a:ln>
            </c:spPr>
          </c:dPt>
          <c:dPt>
            <c:idx val="1"/>
            <c:bubble3D val="0"/>
            <c:spPr>
              <a:solidFill>
                <a:srgbClr val="404040"/>
              </a:solidFill>
              <a:ln>
                <a:solidFill>
                  <a:schemeClr val="bg1"/>
                </a:solidFill>
              </a:ln>
            </c:spPr>
          </c:dPt>
          <c:dPt>
            <c:idx val="2"/>
            <c:bubble3D val="0"/>
            <c:spPr>
              <a:solidFill>
                <a:srgbClr val="404040"/>
              </a:solidFill>
              <a:ln>
                <a:solidFill>
                  <a:schemeClr val="bg1"/>
                </a:solidFill>
              </a:ln>
            </c:spPr>
          </c:dPt>
          <c:dPt>
            <c:idx val="3"/>
            <c:bubble3D val="0"/>
            <c:spPr>
              <a:solidFill>
                <a:srgbClr val="404040"/>
              </a:solidFill>
              <a:ln>
                <a:solidFill>
                  <a:schemeClr val="bg1"/>
                </a:solidFill>
              </a:ln>
            </c:spPr>
          </c:dPt>
          <c:dPt>
            <c:idx val="4"/>
            <c:bubble3D val="0"/>
            <c:spPr>
              <a:solidFill>
                <a:srgbClr val="404040"/>
              </a:solidFill>
              <a:ln>
                <a:solidFill>
                  <a:schemeClr val="bg1"/>
                </a:solidFill>
              </a:ln>
            </c:spPr>
          </c:dPt>
          <c:dPt>
            <c:idx val="5"/>
            <c:bubble3D val="0"/>
            <c:spPr>
              <a:solidFill>
                <a:srgbClr val="404040"/>
              </a:solidFill>
              <a:ln>
                <a:solidFill>
                  <a:schemeClr val="bg1"/>
                </a:solidFill>
              </a:ln>
            </c:spPr>
          </c:dPt>
          <c:dPt>
            <c:idx val="6"/>
            <c:bubble3D val="0"/>
            <c:spPr>
              <a:solidFill>
                <a:srgbClr val="BDBDBD"/>
              </a:solidFill>
              <a:ln>
                <a:solidFill>
                  <a:schemeClr val="bg1"/>
                </a:solidFill>
              </a:ln>
            </c:spPr>
          </c:dPt>
          <c:dPt>
            <c:idx val="7"/>
            <c:bubble3D val="0"/>
          </c:dPt>
          <c:dPt>
            <c:idx val="8"/>
            <c:bubble3D val="0"/>
          </c:dPt>
          <c:dPt>
            <c:idx val="9"/>
            <c:bubble3D val="0"/>
          </c:dPt>
          <c:cat>
            <c:strRef>
              <c:f>Sheet1!$A$2:$A$11</c:f>
              <c:strCache>
                <c:ptCount val="10"/>
                <c:pt idx="0">
                  <c:v>1st Qtr</c:v>
                </c:pt>
                <c:pt idx="1">
                  <c:v>2nd Qtr</c:v>
                </c:pt>
                <c:pt idx="2">
                  <c:v>1st Qtr</c:v>
                </c:pt>
                <c:pt idx="3">
                  <c:v>1st Qtr</c:v>
                </c:pt>
                <c:pt idx="4">
                  <c:v>1st Qtr</c:v>
                </c:pt>
                <c:pt idx="5">
                  <c:v>1st Qtr</c:v>
                </c:pt>
                <c:pt idx="6">
                  <c:v>1st Qtr</c:v>
                </c:pt>
                <c:pt idx="7">
                  <c:v>1st Qtr</c:v>
                </c:pt>
                <c:pt idx="8">
                  <c:v>1st Qtr</c:v>
                </c:pt>
                <c:pt idx="9">
                  <c:v>1st Qtr</c:v>
                </c:pt>
              </c:strCache>
            </c:strRef>
          </c:cat>
          <c:val>
            <c:numRef>
              <c:f>Sheet1!$B$2:$B$11</c:f>
              <c:numCache>
                <c:formatCode>General</c:formatCode>
                <c:ptCount val="10"/>
                <c:pt idx="0">
                  <c:v>10.0</c:v>
                </c:pt>
                <c:pt idx="1">
                  <c:v>10.0</c:v>
                </c:pt>
                <c:pt idx="2">
                  <c:v>10.0</c:v>
                </c:pt>
                <c:pt idx="3">
                  <c:v>10.0</c:v>
                </c:pt>
                <c:pt idx="4">
                  <c:v>10.0</c:v>
                </c:pt>
                <c:pt idx="5">
                  <c:v>10.0</c:v>
                </c:pt>
                <c:pt idx="6">
                  <c:v>10.0</c:v>
                </c:pt>
                <c:pt idx="7">
                  <c:v>10.0</c:v>
                </c:pt>
                <c:pt idx="8">
                  <c:v>10.0</c:v>
                </c:pt>
                <c:pt idx="9">
                  <c:v>10.0</c:v>
                </c:pt>
              </c:numCache>
            </c:numRef>
          </c:val>
        </c:ser>
        <c:dLbls>
          <c:showLegendKey val="0"/>
          <c:showVal val="0"/>
          <c:showCatName val="0"/>
          <c:showSerName val="0"/>
          <c:showPercent val="0"/>
          <c:showBubbleSize val="0"/>
          <c:showLeaderLines val="1"/>
        </c:dLbls>
        <c:firstSliceAng val="0"/>
        <c:holeSize val="80"/>
      </c:doughnutChart>
    </c:plotArea>
    <c:plotVisOnly val="1"/>
    <c:dispBlanksAs val="zero"/>
    <c:showDLblsOverMax val="0"/>
  </c:chart>
  <c:spPr>
    <a:ln>
      <a:noFill/>
    </a:ln>
  </c:spPr>
  <c:txPr>
    <a:bodyPr/>
    <a:lstStyle/>
    <a:p>
      <a:pPr>
        <a:defRPr lang="zh-CN" sz="1800" baseline="-25000">
          <a:latin typeface="+mn-lt"/>
          <a:ea typeface="+mn-ea"/>
          <a:cs typeface="+mn-ea"/>
          <a:sym typeface="+mn-lt"/>
        </a:defRPr>
      </a:pPr>
      <a:endParaRPr lang="zh-CN"/>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85000"/>
              </a:schemeClr>
            </a:solidFill>
            <a:ln>
              <a:solidFill>
                <a:schemeClr val="bg1"/>
              </a:solidFill>
            </a:ln>
          </c:spPr>
          <c:dPt>
            <c:idx val="0"/>
            <c:bubble3D val="0"/>
            <c:spPr>
              <a:solidFill>
                <a:srgbClr val="BDBDBD"/>
              </a:solidFill>
              <a:ln>
                <a:solidFill>
                  <a:schemeClr val="bg1"/>
                </a:solidFill>
              </a:ln>
            </c:spPr>
          </c:dPt>
          <c:dPt>
            <c:idx val="1"/>
            <c:bubble3D val="0"/>
            <c:spPr>
              <a:solidFill>
                <a:srgbClr val="FFC000"/>
              </a:solidFill>
              <a:ln>
                <a:solidFill>
                  <a:schemeClr val="bg1"/>
                </a:solidFill>
              </a:ln>
            </c:spPr>
          </c:dPt>
          <c:dPt>
            <c:idx val="2"/>
            <c:bubble3D val="0"/>
            <c:spPr>
              <a:solidFill>
                <a:srgbClr val="FFC000"/>
              </a:solidFill>
              <a:ln>
                <a:solidFill>
                  <a:schemeClr val="bg1"/>
                </a:solidFill>
              </a:ln>
            </c:spPr>
          </c:dPt>
          <c:dPt>
            <c:idx val="3"/>
            <c:bubble3D val="0"/>
            <c:spPr>
              <a:solidFill>
                <a:srgbClr val="FFC000"/>
              </a:solidFill>
              <a:ln>
                <a:solidFill>
                  <a:schemeClr val="bg1"/>
                </a:solidFill>
              </a:ln>
            </c:spPr>
          </c:dPt>
          <c:dPt>
            <c:idx val="4"/>
            <c:bubble3D val="0"/>
            <c:spPr>
              <a:solidFill>
                <a:srgbClr val="FFC000"/>
              </a:solidFill>
              <a:ln>
                <a:solidFill>
                  <a:schemeClr val="bg1"/>
                </a:solidFill>
              </a:ln>
            </c:spPr>
          </c:dPt>
          <c:dPt>
            <c:idx val="5"/>
            <c:bubble3D val="0"/>
            <c:spPr>
              <a:solidFill>
                <a:srgbClr val="FFC000"/>
              </a:solidFill>
              <a:ln>
                <a:solidFill>
                  <a:schemeClr val="bg1"/>
                </a:solidFill>
              </a:ln>
            </c:spPr>
          </c:dPt>
          <c:dPt>
            <c:idx val="6"/>
            <c:bubble3D val="0"/>
            <c:spPr>
              <a:solidFill>
                <a:srgbClr val="BDBDBD"/>
              </a:solidFill>
              <a:ln>
                <a:solidFill>
                  <a:schemeClr val="bg1"/>
                </a:solidFill>
              </a:ln>
            </c:spPr>
          </c:dPt>
          <c:dPt>
            <c:idx val="7"/>
            <c:bubble3D val="0"/>
          </c:dPt>
          <c:dPt>
            <c:idx val="8"/>
            <c:bubble3D val="0"/>
          </c:dPt>
          <c:dPt>
            <c:idx val="9"/>
            <c:bubble3D val="0"/>
          </c:dPt>
          <c:cat>
            <c:strRef>
              <c:f>Sheet1!$A$2:$A$11</c:f>
              <c:strCache>
                <c:ptCount val="10"/>
                <c:pt idx="0">
                  <c:v>1st Qtr</c:v>
                </c:pt>
                <c:pt idx="1">
                  <c:v>2nd Qtr</c:v>
                </c:pt>
                <c:pt idx="2">
                  <c:v>1st Qtr</c:v>
                </c:pt>
                <c:pt idx="3">
                  <c:v>1st Qtr</c:v>
                </c:pt>
                <c:pt idx="4">
                  <c:v>1st Qtr</c:v>
                </c:pt>
                <c:pt idx="5">
                  <c:v>1st Qtr</c:v>
                </c:pt>
                <c:pt idx="6">
                  <c:v>1st Qtr</c:v>
                </c:pt>
                <c:pt idx="7">
                  <c:v>1st Qtr</c:v>
                </c:pt>
                <c:pt idx="8">
                  <c:v>1st Qtr</c:v>
                </c:pt>
                <c:pt idx="9">
                  <c:v>1st Qtr</c:v>
                </c:pt>
              </c:strCache>
            </c:strRef>
          </c:cat>
          <c:val>
            <c:numRef>
              <c:f>Sheet1!$B$2:$B$11</c:f>
              <c:numCache>
                <c:formatCode>General</c:formatCode>
                <c:ptCount val="10"/>
                <c:pt idx="0">
                  <c:v>10.0</c:v>
                </c:pt>
                <c:pt idx="1">
                  <c:v>10.0</c:v>
                </c:pt>
                <c:pt idx="2">
                  <c:v>10.0</c:v>
                </c:pt>
                <c:pt idx="3">
                  <c:v>10.0</c:v>
                </c:pt>
                <c:pt idx="4">
                  <c:v>10.0</c:v>
                </c:pt>
                <c:pt idx="5">
                  <c:v>10.0</c:v>
                </c:pt>
                <c:pt idx="6">
                  <c:v>10.0</c:v>
                </c:pt>
                <c:pt idx="7">
                  <c:v>10.0</c:v>
                </c:pt>
                <c:pt idx="8">
                  <c:v>10.0</c:v>
                </c:pt>
                <c:pt idx="9">
                  <c:v>10.0</c:v>
                </c:pt>
              </c:numCache>
            </c:numRef>
          </c:val>
        </c:ser>
        <c:dLbls>
          <c:showLegendKey val="0"/>
          <c:showVal val="0"/>
          <c:showCatName val="0"/>
          <c:showSerName val="0"/>
          <c:showPercent val="0"/>
          <c:showBubbleSize val="0"/>
          <c:showLeaderLines val="1"/>
        </c:dLbls>
        <c:firstSliceAng val="0"/>
        <c:holeSize val="80"/>
      </c:doughnutChart>
    </c:plotArea>
    <c:plotVisOnly val="1"/>
    <c:dispBlanksAs val="zero"/>
    <c:showDLblsOverMax val="0"/>
  </c:chart>
  <c:spPr>
    <a:ln>
      <a:noFill/>
    </a:ln>
  </c:spPr>
  <c:txPr>
    <a:bodyPr/>
    <a:lstStyle/>
    <a:p>
      <a:pPr>
        <a:defRPr lang="zh-CN" sz="1800" baseline="-25000">
          <a:latin typeface="+mn-lt"/>
          <a:ea typeface="+mn-ea"/>
          <a:cs typeface="+mn-ea"/>
          <a:sym typeface="+mn-lt"/>
        </a:defRPr>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85FF85-21FD-498F-8A70-45EDB652C291}" type="datetimeFigureOut">
              <a:rPr lang="zh-CN" altLang="en-US" smtClean="0"/>
              <a:t>2020/3/13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72756A-F568-4845-BC64-65A3D5ACFEF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72756A-F568-4845-BC64-65A3D5ACFEF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72756A-F568-4845-BC64-65A3D5ACFEF5}"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72756A-F568-4845-BC64-65A3D5ACFEF5}"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927DC7C-EA85-41EA-BE8E-3BC04B9579CE}" type="slidenum">
              <a:rPr lang="zh-CN" altLang="en-US" smtClean="0"/>
              <a:t>4</a:t>
            </a:fld>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72756A-F568-4845-BC64-65A3D5ACFEF5}"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72756A-F568-4845-BC64-65A3D5ACFEF5}"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72756A-F568-4845-BC64-65A3D5ACFEF5}"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72756A-F568-4845-BC64-65A3D5ACFEF5}"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02D9DD-01DF-444B-BD84-959D36071C80}"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02D9DD-01DF-444B-BD84-959D36071C80}"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87638" y="514350"/>
            <a:ext cx="4570412" cy="257175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927DC7C-EA85-41EA-BE8E-3BC04B9579CE}" type="slidenum">
              <a:rPr lang="zh-CN" altLang="en-US" smtClean="0"/>
              <a:t>12</a:t>
            </a:fld>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817B53A-DA1F-4DAF-8070-2ED7D5997F15}"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72756A-F568-4845-BC64-65A3D5ACFEF5}"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608965">
              <a:defRPr/>
            </a:pPr>
            <a:fld id="{4B636076-A19B-40B1-9348-53EEF495B45E}" type="slidenum">
              <a:rPr lang="zh-CN" altLang="en-US" smtClean="0">
                <a:solidFill>
                  <a:prstClr val="black"/>
                </a:solidFill>
                <a:latin typeface="等线" panose="02010600030101010101" charset="-122"/>
                <a:ea typeface="等线" panose="02010600030101010101" charset="-122"/>
              </a:rPr>
              <a:t>15</a:t>
            </a:fld>
            <a:endParaRPr lang="zh-CN" altLang="en-US">
              <a:solidFill>
                <a:prstClr val="black"/>
              </a:solidFill>
              <a:latin typeface="等线" panose="02010600030101010101" charset="-122"/>
              <a:ea typeface="等线" panose="02010600030101010101"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927DC7C-EA85-41EA-BE8E-3BC04B9579CE}" type="slidenum">
              <a:rPr lang="zh-CN" altLang="en-US" smtClean="0"/>
              <a:t>16</a:t>
            </a:fld>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927DC7C-EA85-41EA-BE8E-3BC04B9579CE}" type="slidenum">
              <a:rPr lang="zh-CN" altLang="en-US" smtClean="0"/>
              <a:t>17</a:t>
            </a:fld>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72756A-F568-4845-BC64-65A3D5ACFEF5}"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87638" y="514350"/>
            <a:ext cx="4570412" cy="257175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t>20</a:t>
            </a:fld>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02D9DD-01DF-444B-BD84-959D36071C80}"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49053F-4412-4C93-ACBC-CC268CCDB349}"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72756A-F568-4845-BC64-65A3D5ACFEF5}"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0CA1BD3-0F9C-4FEF-8983-E9301C6629A2}"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D8E374D-6E28-41D4-B529-E46F9BB59559}"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defTabSz="914400">
              <a:defRPr/>
            </a:pPr>
            <a:fld id="{C2BB0C27-A995-44E3-A6BD-144667A36975}" type="slidenum">
              <a:rPr lang="zh-CN" altLang="en-US" smtClean="0">
                <a:solidFill>
                  <a:prstClr val="black"/>
                </a:solidFill>
              </a:rPr>
              <a:t>26</a:t>
            </a:fld>
            <a:endParaRPr lang="zh-CN" altLang="en-US">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72756A-F568-4845-BC64-65A3D5ACFEF5}"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649053F-4412-4C93-ACBC-CC268CCDB349}"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72756A-F568-4845-BC64-65A3D5ACFEF5}"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02D9DD-01DF-444B-BD84-959D36071C80}"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72756A-F568-4845-BC64-65A3D5ACFEF5}" type="slidenum">
              <a:rPr lang="zh-CN" altLang="en-US" smtClean="0"/>
              <a:t>31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5A5FA5D8-2B42-4571-9C61-7FFB578B671F}" type="datetimeFigureOut">
              <a:rPr lang="zh-CN" altLang="en-US" smtClean="0"/>
              <a:t>2020/3/13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78FD51-F34D-48A0-AF79-FAA16276E0B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A5FA5D8-2B42-4571-9C61-7FFB578B671F}" type="datetimeFigureOut">
              <a:rPr lang="zh-CN" altLang="en-US" smtClean="0"/>
              <a:t>2020/3/13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78FD51-F34D-48A0-AF79-FAA16276E0B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5A5FA5D8-2B42-4571-9C61-7FFB578B671F}" type="datetimeFigureOut">
              <a:rPr lang="zh-CN" altLang="en-US" smtClean="0"/>
              <a:t>2020/3/13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78FD51-F34D-48A0-AF79-FAA16276E0B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A5FA5D8-2B42-4571-9C61-7FFB578B671F}" type="datetimeFigureOut">
              <a:rPr lang="zh-CN" altLang="en-US" smtClean="0"/>
              <a:t>2020/3/13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D78FD51-F34D-48A0-AF79-FAA16276E0B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A5FA5D8-2B42-4571-9C61-7FFB578B671F}" type="datetimeFigureOut">
              <a:rPr lang="zh-CN" altLang="en-US" smtClean="0"/>
              <a:t>2020/3/13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D78FD51-F34D-48A0-AF79-FAA16276E0B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A5FA5D8-2B42-4571-9C61-7FFB578B671F}" type="datetimeFigureOut">
              <a:rPr lang="zh-CN" altLang="en-US" smtClean="0"/>
              <a:t>2020/3/13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D78FD51-F34D-48A0-AF79-FAA16276E0B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A5FA5D8-2B42-4571-9C61-7FFB578B671F}" type="datetimeFigureOut">
              <a:rPr lang="zh-CN" altLang="en-US" smtClean="0"/>
              <a:t>2020/3/13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D78FD51-F34D-48A0-AF79-FAA16276E0B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5A5FA5D8-2B42-4571-9C61-7FFB578B671F}" type="datetimeFigureOut">
              <a:rPr lang="zh-CN" altLang="en-US" smtClean="0"/>
              <a:t>2020/3/13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D78FD51-F34D-48A0-AF79-FAA16276E0B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5A5FA5D8-2B42-4571-9C61-7FFB578B671F}" type="datetimeFigureOut">
              <a:rPr lang="zh-CN" altLang="en-US" smtClean="0"/>
              <a:t>2020/3/13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D78FD51-F34D-48A0-AF79-FAA16276E0B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A5FA5D8-2B42-4571-9C61-7FFB578B671F}" type="datetimeFigureOut">
              <a:rPr lang="zh-CN" altLang="en-US" smtClean="0"/>
              <a:t>2020/3/13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78FD51-F34D-48A0-AF79-FAA16276E0B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A5FA5D8-2B42-4571-9C61-7FFB578B671F}" type="datetimeFigureOut">
              <a:rPr lang="zh-CN" altLang="en-US" smtClean="0"/>
              <a:t>2020/3/13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78FD51-F34D-48A0-AF79-FAA16276E0B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Main Title+ SubTitle+Number">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2336800" y="1015620"/>
            <a:ext cx="7518400" cy="471365"/>
          </a:xfrm>
          <a:prstGeom prst="rect">
            <a:avLst/>
          </a:prstGeom>
        </p:spPr>
        <p:txBody>
          <a:bodyPr wrap="none" lIns="0" tIns="0" rIns="0" bIns="0" anchor="ctr">
            <a:noAutofit/>
          </a:bodyPr>
          <a:lstStyle>
            <a:lvl1pPr algn="ctr">
              <a:defRPr sz="2400" b="1" baseline="0">
                <a:solidFill>
                  <a:schemeClr val="tx1">
                    <a:lumMod val="50000"/>
                    <a:lumOff val="50000"/>
                  </a:schemeClr>
                </a:solidFill>
              </a:defRPr>
            </a:lvl1pPr>
          </a:lstStyle>
          <a:p>
            <a:r>
              <a:rPr lang="en-US" dirty="0"/>
              <a:t>Click To Edit Master Title Style</a:t>
            </a:r>
          </a:p>
        </p:txBody>
      </p:sp>
      <p:sp>
        <p:nvSpPr>
          <p:cNvPr id="11" name="Text Placeholder 3"/>
          <p:cNvSpPr>
            <a:spLocks noGrp="1"/>
          </p:cNvSpPr>
          <p:nvPr>
            <p:ph type="body" sz="half" idx="2" hasCustomPrompt="1"/>
          </p:nvPr>
        </p:nvSpPr>
        <p:spPr>
          <a:xfrm>
            <a:off x="3352800" y="1484941"/>
            <a:ext cx="5486400" cy="267661"/>
          </a:xfrm>
          <a:prstGeom prst="rect">
            <a:avLst/>
          </a:prstGeom>
        </p:spPr>
        <p:txBody>
          <a:bodyPr wrap="none" lIns="0" tIns="0" rIns="0" bIns="0" anchor="ctr">
            <a:noAutofit/>
          </a:bodyPr>
          <a:lstStyle>
            <a:lvl1pPr marL="0" indent="0" algn="ctr">
              <a:buNone/>
              <a:defRPr sz="1200" b="1" baseline="0">
                <a:solidFill>
                  <a:schemeClr val="bg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Subtext Goes Here</a:t>
            </a:r>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animEffect transition="in" filter="fade">
                                      <p:cBhvr>
                                        <p:cTn id="11"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build="p">
        <p:tmplLst>
          <p:tmpl lvl="1">
            <p:tnLst>
              <p:par>
                <p:cTn presetID="10" presetClass="entr" presetSubtype="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6" name="Title 15"/>
          <p:cNvSpPr>
            <a:spLocks noGrp="1"/>
          </p:cNvSpPr>
          <p:nvPr>
            <p:ph type="title"/>
          </p:nvPr>
        </p:nvSpPr>
        <p:spPr>
          <a:xfrm>
            <a:off x="1524001" y="669926"/>
            <a:ext cx="9144000" cy="535812"/>
          </a:xfrm>
        </p:spPr>
        <p:txBody>
          <a:bodyPr>
            <a:noAutofit/>
          </a:bodyPr>
          <a:lstStyle>
            <a:lvl1pPr algn="ctr">
              <a:defRPr sz="3600" b="0">
                <a:solidFill>
                  <a:schemeClr val="bg1">
                    <a:lumMod val="95000"/>
                  </a:schemeClr>
                </a:solidFill>
                <a:latin typeface="Sinkin Sans 200 X Light" pitchFamily="50" charset="0"/>
              </a:defRPr>
            </a:lvl1pPr>
          </a:lstStyle>
          <a:p>
            <a:r>
              <a:rPr lang="en-US" dirty="0"/>
              <a:t>Click to edit Master title style</a:t>
            </a:r>
            <a:endParaRPr lang="en-GB" dirty="0"/>
          </a:p>
        </p:txBody>
      </p:sp>
      <p:sp>
        <p:nvSpPr>
          <p:cNvPr id="18" name="Text Placeholder 17"/>
          <p:cNvSpPr>
            <a:spLocks noGrp="1"/>
          </p:cNvSpPr>
          <p:nvPr>
            <p:ph type="body" sz="quarter" idx="14" hasCustomPrompt="1"/>
          </p:nvPr>
        </p:nvSpPr>
        <p:spPr>
          <a:xfrm>
            <a:off x="1524000" y="2998770"/>
            <a:ext cx="2971800" cy="812800"/>
          </a:xfrm>
        </p:spPr>
        <p:txBody>
          <a:bodyPr lIns="0" tIns="0" rIns="0" bIns="0">
            <a:normAutofit/>
          </a:bodyPr>
          <a:lstStyle>
            <a:lvl1pPr marL="0" indent="0">
              <a:lnSpc>
                <a:spcPts val="1700"/>
              </a:lnSpc>
              <a:buNone/>
              <a:defRPr sz="950">
                <a:solidFill>
                  <a:schemeClr val="bg1">
                    <a:lumMod val="95000"/>
                  </a:schemeClr>
                </a:solidFill>
                <a:latin typeface="Sinkin Sans 300 Light" pitchFamily="50" charset="0"/>
              </a:defRPr>
            </a:lvl1pPr>
          </a:lstStyle>
          <a:p>
            <a:pPr lvl="0"/>
            <a:r>
              <a:rPr lang="en-US" dirty="0"/>
              <a:t>Click to edit Master text  styles </a:t>
            </a:r>
            <a:r>
              <a:rPr lang="en-US" dirty="0" err="1"/>
              <a:t>lorem</a:t>
            </a:r>
            <a:r>
              <a:rPr lang="en-US" dirty="0"/>
              <a:t> </a:t>
            </a:r>
            <a:r>
              <a:rPr lang="en-US" dirty="0" err="1"/>
              <a:t>ipsum</a:t>
            </a:r>
            <a:r>
              <a:rPr lang="en-US" dirty="0"/>
              <a:t> dolor sit </a:t>
            </a:r>
            <a:r>
              <a:rPr lang="en-US" dirty="0" err="1"/>
              <a:t>amet</a:t>
            </a:r>
            <a:r>
              <a:rPr lang="en-US" dirty="0"/>
              <a:t> </a:t>
            </a:r>
            <a:r>
              <a:rPr lang="en-US" dirty="0" err="1"/>
              <a:t>aleh</a:t>
            </a:r>
            <a:r>
              <a:rPr lang="en-US" dirty="0"/>
              <a:t> </a:t>
            </a:r>
            <a:r>
              <a:rPr lang="en-US" dirty="0" err="1"/>
              <a:t>pue</a:t>
            </a:r>
            <a:r>
              <a:rPr lang="en-US" dirty="0"/>
              <a:t> h </a:t>
            </a:r>
            <a:r>
              <a:rPr lang="en-US" dirty="0" err="1"/>
              <a:t>om</a:t>
            </a:r>
            <a:r>
              <a:rPr lang="en-US" dirty="0"/>
              <a:t> </a:t>
            </a:r>
            <a:r>
              <a:rPr lang="en-US" dirty="0" err="1"/>
              <a:t>alah</a:t>
            </a:r>
            <a:r>
              <a:rPr lang="en-US" dirty="0"/>
              <a:t> </a:t>
            </a:r>
            <a:r>
              <a:rPr lang="en-US" dirty="0" err="1"/>
              <a:t>hai</a:t>
            </a:r>
            <a:r>
              <a:rPr lang="en-US" dirty="0"/>
              <a:t> </a:t>
            </a:r>
            <a:r>
              <a:rPr lang="en-US" dirty="0" err="1"/>
              <a:t>meutuwah</a:t>
            </a:r>
            <a:r>
              <a:rPr lang="en-US" dirty="0"/>
              <a:t> </a:t>
            </a:r>
            <a:r>
              <a:rPr lang="en-US" dirty="0" err="1"/>
              <a:t>ka</a:t>
            </a:r>
            <a:r>
              <a:rPr lang="en-US" dirty="0"/>
              <a:t> </a:t>
            </a:r>
            <a:r>
              <a:rPr lang="en-US" dirty="0" err="1"/>
              <a:t>abeh</a:t>
            </a:r>
            <a:r>
              <a:rPr lang="en-US" dirty="0"/>
              <a:t> </a:t>
            </a:r>
            <a:r>
              <a:rPr lang="en-US" dirty="0" err="1"/>
              <a:t>cara</a:t>
            </a:r>
            <a:r>
              <a:rPr lang="en-US" dirty="0"/>
              <a:t> </a:t>
            </a:r>
            <a:r>
              <a:rPr lang="en-US" dirty="0" err="1"/>
              <a:t>mita</a:t>
            </a:r>
            <a:r>
              <a:rPr lang="en-US" dirty="0"/>
              <a:t> </a:t>
            </a:r>
            <a:r>
              <a:rPr lang="en-US" dirty="0" err="1"/>
              <a:t>peng</a:t>
            </a:r>
            <a:endParaRPr lang="en-US" dirty="0"/>
          </a:p>
        </p:txBody>
      </p:sp>
      <p:sp>
        <p:nvSpPr>
          <p:cNvPr id="19" name="Text Placeholder 17"/>
          <p:cNvSpPr>
            <a:spLocks noGrp="1"/>
          </p:cNvSpPr>
          <p:nvPr>
            <p:ph type="body" sz="quarter" idx="15" hasCustomPrompt="1"/>
          </p:nvPr>
        </p:nvSpPr>
        <p:spPr>
          <a:xfrm>
            <a:off x="7404100" y="3000340"/>
            <a:ext cx="2971800" cy="812800"/>
          </a:xfrm>
        </p:spPr>
        <p:txBody>
          <a:bodyPr lIns="0" tIns="0" rIns="0" bIns="0">
            <a:normAutofit/>
          </a:bodyPr>
          <a:lstStyle>
            <a:lvl1pPr marL="0" indent="0">
              <a:lnSpc>
                <a:spcPts val="1700"/>
              </a:lnSpc>
              <a:buNone/>
              <a:defRPr sz="950">
                <a:solidFill>
                  <a:schemeClr val="bg1">
                    <a:lumMod val="95000"/>
                  </a:schemeClr>
                </a:solidFill>
                <a:latin typeface="Sinkin Sans 300 Light" pitchFamily="50" charset="0"/>
              </a:defRPr>
            </a:lvl1pPr>
          </a:lstStyle>
          <a:p>
            <a:pPr lvl="0"/>
            <a:r>
              <a:rPr lang="en-US" dirty="0"/>
              <a:t>Click to edit Master text  styles </a:t>
            </a:r>
            <a:r>
              <a:rPr lang="en-US" dirty="0" err="1"/>
              <a:t>lorem</a:t>
            </a:r>
            <a:r>
              <a:rPr lang="en-US" dirty="0"/>
              <a:t> </a:t>
            </a:r>
            <a:r>
              <a:rPr lang="en-US" dirty="0" err="1"/>
              <a:t>ipsum</a:t>
            </a:r>
            <a:r>
              <a:rPr lang="en-US" dirty="0"/>
              <a:t> dolor sit </a:t>
            </a:r>
            <a:r>
              <a:rPr lang="en-US" dirty="0" err="1"/>
              <a:t>amet</a:t>
            </a:r>
            <a:r>
              <a:rPr lang="en-US" dirty="0"/>
              <a:t> </a:t>
            </a:r>
            <a:r>
              <a:rPr lang="en-US" dirty="0" err="1"/>
              <a:t>aleh</a:t>
            </a:r>
            <a:r>
              <a:rPr lang="en-US" dirty="0"/>
              <a:t> </a:t>
            </a:r>
            <a:r>
              <a:rPr lang="en-US" dirty="0" err="1"/>
              <a:t>pue</a:t>
            </a:r>
            <a:r>
              <a:rPr lang="en-US" dirty="0"/>
              <a:t> h </a:t>
            </a:r>
            <a:r>
              <a:rPr lang="en-US" dirty="0" err="1"/>
              <a:t>om</a:t>
            </a:r>
            <a:r>
              <a:rPr lang="en-US" dirty="0"/>
              <a:t> </a:t>
            </a:r>
            <a:r>
              <a:rPr lang="en-US" dirty="0" err="1"/>
              <a:t>alah</a:t>
            </a:r>
            <a:r>
              <a:rPr lang="en-US" dirty="0"/>
              <a:t> </a:t>
            </a:r>
            <a:r>
              <a:rPr lang="en-US" dirty="0" err="1"/>
              <a:t>hai</a:t>
            </a:r>
            <a:r>
              <a:rPr lang="en-US" dirty="0"/>
              <a:t> </a:t>
            </a:r>
            <a:r>
              <a:rPr lang="en-US" dirty="0" err="1"/>
              <a:t>meutuwah</a:t>
            </a:r>
            <a:r>
              <a:rPr lang="en-US" dirty="0"/>
              <a:t> </a:t>
            </a:r>
            <a:r>
              <a:rPr lang="en-US" dirty="0" err="1"/>
              <a:t>ka</a:t>
            </a:r>
            <a:r>
              <a:rPr lang="en-US" dirty="0"/>
              <a:t> </a:t>
            </a:r>
            <a:r>
              <a:rPr lang="en-US" dirty="0" err="1"/>
              <a:t>abeh</a:t>
            </a:r>
            <a:r>
              <a:rPr lang="en-US" dirty="0"/>
              <a:t> </a:t>
            </a:r>
            <a:r>
              <a:rPr lang="en-US" dirty="0" err="1"/>
              <a:t>cara</a:t>
            </a:r>
            <a:r>
              <a:rPr lang="en-US" dirty="0"/>
              <a:t> </a:t>
            </a:r>
            <a:r>
              <a:rPr lang="en-US" dirty="0" err="1"/>
              <a:t>mita</a:t>
            </a:r>
            <a:r>
              <a:rPr lang="en-US" dirty="0"/>
              <a:t> </a:t>
            </a:r>
            <a:r>
              <a:rPr lang="en-US" dirty="0" err="1"/>
              <a:t>peng</a:t>
            </a:r>
            <a:endParaRPr lang="en-US" dirty="0"/>
          </a:p>
        </p:txBody>
      </p:sp>
      <p:sp>
        <p:nvSpPr>
          <p:cNvPr id="21" name="Content Placeholder 20"/>
          <p:cNvSpPr>
            <a:spLocks noGrp="1"/>
          </p:cNvSpPr>
          <p:nvPr>
            <p:ph sz="quarter" idx="16" hasCustomPrompt="1"/>
          </p:nvPr>
        </p:nvSpPr>
        <p:spPr>
          <a:xfrm>
            <a:off x="1524000" y="2547522"/>
            <a:ext cx="4711700" cy="292100"/>
          </a:xfrm>
        </p:spPr>
        <p:txBody>
          <a:bodyPr lIns="0" tIns="0" rIns="0" bIns="0">
            <a:normAutofit/>
          </a:bodyPr>
          <a:lstStyle>
            <a:lvl1pPr marL="0" indent="0">
              <a:buNone/>
              <a:defRPr sz="1400">
                <a:solidFill>
                  <a:schemeClr val="bg1">
                    <a:lumMod val="95000"/>
                  </a:schemeClr>
                </a:solidFill>
                <a:latin typeface="Sinkin Sans 300 Light" pitchFamily="50" charset="0"/>
              </a:defRPr>
            </a:lvl1pPr>
          </a:lstStyle>
          <a:p>
            <a:pPr lvl="0"/>
            <a:r>
              <a:rPr lang="en-GB" dirty="0"/>
              <a:t>Click to edit Content Heading</a:t>
            </a:r>
          </a:p>
        </p:txBody>
      </p:sp>
      <p:sp>
        <p:nvSpPr>
          <p:cNvPr id="22" name="Content Placeholder 20"/>
          <p:cNvSpPr>
            <a:spLocks noGrp="1"/>
          </p:cNvSpPr>
          <p:nvPr>
            <p:ph sz="quarter" idx="17" hasCustomPrompt="1"/>
          </p:nvPr>
        </p:nvSpPr>
        <p:spPr>
          <a:xfrm>
            <a:off x="6534151" y="2547522"/>
            <a:ext cx="4133850" cy="292100"/>
          </a:xfrm>
        </p:spPr>
        <p:txBody>
          <a:bodyPr lIns="0" tIns="0" rIns="0" bIns="0">
            <a:normAutofit/>
          </a:bodyPr>
          <a:lstStyle>
            <a:lvl1pPr marL="0" indent="0">
              <a:buNone/>
              <a:defRPr sz="1400">
                <a:solidFill>
                  <a:schemeClr val="bg1">
                    <a:lumMod val="95000"/>
                  </a:schemeClr>
                </a:solidFill>
                <a:latin typeface="Sinkin Sans 300 Light" pitchFamily="50" charset="0"/>
              </a:defRPr>
            </a:lvl1pPr>
          </a:lstStyle>
          <a:p>
            <a:pPr lvl="0"/>
            <a:r>
              <a:rPr lang="en-GB" dirty="0"/>
              <a:t>Click to edit Content Heading</a:t>
            </a:r>
          </a:p>
        </p:txBody>
      </p:sp>
      <p:sp>
        <p:nvSpPr>
          <p:cNvPr id="23" name="Text Placeholder 17"/>
          <p:cNvSpPr>
            <a:spLocks noGrp="1"/>
          </p:cNvSpPr>
          <p:nvPr>
            <p:ph type="body" sz="quarter" idx="18" hasCustomPrompt="1"/>
          </p:nvPr>
        </p:nvSpPr>
        <p:spPr>
          <a:xfrm>
            <a:off x="1524001" y="1285443"/>
            <a:ext cx="9144000" cy="248082"/>
          </a:xfrm>
        </p:spPr>
        <p:txBody>
          <a:bodyPr lIns="0" tIns="0" rIns="0" bIns="0">
            <a:normAutofit/>
          </a:bodyPr>
          <a:lstStyle>
            <a:lvl1pPr marL="0" indent="0" algn="ctr">
              <a:lnSpc>
                <a:spcPts val="1400"/>
              </a:lnSpc>
              <a:buNone/>
              <a:defRPr sz="1000">
                <a:solidFill>
                  <a:schemeClr val="bg1">
                    <a:lumMod val="95000"/>
                  </a:schemeClr>
                </a:solidFill>
                <a:latin typeface="Sinkin Sans 300 Light" pitchFamily="50" charset="0"/>
              </a:defRPr>
            </a:lvl1pPr>
          </a:lstStyle>
          <a:p>
            <a:pPr lvl="0"/>
            <a:r>
              <a:rPr lang="en-GB" dirty="0"/>
              <a:t>write your relevant text here</a:t>
            </a:r>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Vertical Title and Text">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336800" y="1015620"/>
            <a:ext cx="7518400" cy="471365"/>
          </a:xfrm>
          <a:prstGeom prst="rect">
            <a:avLst/>
          </a:prstGeom>
        </p:spPr>
        <p:txBody>
          <a:bodyPr wrap="none" lIns="0" tIns="0" rIns="0" bIns="0" anchor="ctr">
            <a:noAutofit/>
          </a:bodyPr>
          <a:lstStyle>
            <a:lvl1pPr algn="ctr">
              <a:defRPr sz="2400"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484941"/>
            <a:ext cx="5486400" cy="267661"/>
          </a:xfrm>
          <a:prstGeom prst="rect">
            <a:avLst/>
          </a:prstGeom>
        </p:spPr>
        <p:txBody>
          <a:bodyPr wrap="none" lIns="0" tIns="0" rIns="0" bIns="0" anchor="ctr">
            <a:noAutofit/>
          </a:bodyPr>
          <a:lstStyle>
            <a:lvl1pPr marL="0" indent="0" algn="ctr">
              <a:buNone/>
              <a:defRPr sz="1200" b="1" baseline="0">
                <a:solidFill>
                  <a:schemeClr val="bg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Subtext Goes Here</a:t>
            </a:r>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fade">
                                      <p:cBhvr>
                                        <p:cTn id="11"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tmplLst>
          <p:tmpl lvl="1">
            <p:tnLst>
              <p:par>
                <p:cTn presetID="10" presetClass="entr" presetSubtype="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First Slide">
    <p:spTree>
      <p:nvGrpSpPr>
        <p:cNvPr id="1" name=""/>
        <p:cNvGrpSpPr/>
        <p:nvPr/>
      </p:nvGrpSpPr>
      <p:grpSpPr>
        <a:xfrm>
          <a:off x="0" y="0"/>
          <a:ext cx="0" cy="0"/>
          <a:chOff x="0" y="0"/>
          <a:chExt cx="0" cy="0"/>
        </a:xfrm>
      </p:grpSpPr>
      <p:sp>
        <p:nvSpPr>
          <p:cNvPr id="15" name="Picture Placeholder 2"/>
          <p:cNvSpPr>
            <a:spLocks noGrp="1"/>
          </p:cNvSpPr>
          <p:nvPr>
            <p:ph type="pic" sz="quarter" idx="17"/>
          </p:nvPr>
        </p:nvSpPr>
        <p:spPr>
          <a:xfrm>
            <a:off x="4064000" y="441961"/>
            <a:ext cx="4368800" cy="3083564"/>
          </a:xfrm>
          <a:custGeom>
            <a:avLst/>
            <a:gdLst/>
            <a:ahLst/>
            <a:cxnLst/>
            <a:rect l="l" t="t" r="r" b="b"/>
            <a:pathLst>
              <a:path w="3276600" h="3124200">
                <a:moveTo>
                  <a:pt x="3028950" y="0"/>
                </a:moveTo>
                <a:cubicBezTo>
                  <a:pt x="3165723" y="0"/>
                  <a:pt x="3276600" y="110877"/>
                  <a:pt x="3276600" y="247650"/>
                </a:cubicBezTo>
                <a:lnTo>
                  <a:pt x="3276600" y="2876550"/>
                </a:lnTo>
                <a:cubicBezTo>
                  <a:pt x="3276600" y="3013323"/>
                  <a:pt x="3165723" y="3124200"/>
                  <a:pt x="3028950" y="3124200"/>
                </a:cubicBezTo>
                <a:cubicBezTo>
                  <a:pt x="2892177" y="3124200"/>
                  <a:pt x="2781300" y="3013323"/>
                  <a:pt x="2781300" y="2876550"/>
                </a:cubicBezTo>
                <a:lnTo>
                  <a:pt x="2781300" y="247650"/>
                </a:lnTo>
                <a:cubicBezTo>
                  <a:pt x="2781300" y="110877"/>
                  <a:pt x="2892177" y="0"/>
                  <a:pt x="3028950" y="0"/>
                </a:cubicBezTo>
                <a:close/>
                <a:moveTo>
                  <a:pt x="2317750" y="0"/>
                </a:moveTo>
                <a:cubicBezTo>
                  <a:pt x="2454523" y="0"/>
                  <a:pt x="2565400" y="110877"/>
                  <a:pt x="2565400" y="247650"/>
                </a:cubicBezTo>
                <a:lnTo>
                  <a:pt x="2565400" y="2876550"/>
                </a:lnTo>
                <a:cubicBezTo>
                  <a:pt x="2565400" y="3013323"/>
                  <a:pt x="2454523" y="3124200"/>
                  <a:pt x="2317750" y="3124200"/>
                </a:cubicBezTo>
                <a:cubicBezTo>
                  <a:pt x="2180977" y="3124200"/>
                  <a:pt x="2070100" y="3013323"/>
                  <a:pt x="2070100" y="2876550"/>
                </a:cubicBezTo>
                <a:lnTo>
                  <a:pt x="2070100" y="247650"/>
                </a:lnTo>
                <a:cubicBezTo>
                  <a:pt x="2070100" y="110877"/>
                  <a:pt x="2180977" y="0"/>
                  <a:pt x="2317750" y="0"/>
                </a:cubicBezTo>
                <a:close/>
                <a:moveTo>
                  <a:pt x="1606550" y="0"/>
                </a:moveTo>
                <a:cubicBezTo>
                  <a:pt x="1743323" y="0"/>
                  <a:pt x="1854200" y="110877"/>
                  <a:pt x="1854200" y="247650"/>
                </a:cubicBezTo>
                <a:lnTo>
                  <a:pt x="1854200" y="2876550"/>
                </a:lnTo>
                <a:cubicBezTo>
                  <a:pt x="1854200" y="3013323"/>
                  <a:pt x="1743323" y="3124200"/>
                  <a:pt x="1606550" y="3124200"/>
                </a:cubicBezTo>
                <a:cubicBezTo>
                  <a:pt x="1469777" y="3124200"/>
                  <a:pt x="1358900" y="3013323"/>
                  <a:pt x="1358900" y="2876550"/>
                </a:cubicBezTo>
                <a:lnTo>
                  <a:pt x="1358900" y="247650"/>
                </a:lnTo>
                <a:cubicBezTo>
                  <a:pt x="1358900" y="110877"/>
                  <a:pt x="1469777" y="0"/>
                  <a:pt x="1606550" y="0"/>
                </a:cubicBezTo>
                <a:close/>
                <a:moveTo>
                  <a:pt x="958850" y="0"/>
                </a:moveTo>
                <a:cubicBezTo>
                  <a:pt x="1095623" y="0"/>
                  <a:pt x="1206500" y="110877"/>
                  <a:pt x="1206500" y="247650"/>
                </a:cubicBezTo>
                <a:lnTo>
                  <a:pt x="1206500" y="2876550"/>
                </a:lnTo>
                <a:cubicBezTo>
                  <a:pt x="1206500" y="3013323"/>
                  <a:pt x="1095623" y="3124200"/>
                  <a:pt x="958850" y="3124200"/>
                </a:cubicBezTo>
                <a:cubicBezTo>
                  <a:pt x="822077" y="3124200"/>
                  <a:pt x="711200" y="3013323"/>
                  <a:pt x="711200" y="2876550"/>
                </a:cubicBezTo>
                <a:lnTo>
                  <a:pt x="711200" y="247650"/>
                </a:lnTo>
                <a:cubicBezTo>
                  <a:pt x="711200" y="110877"/>
                  <a:pt x="822077" y="0"/>
                  <a:pt x="958850" y="0"/>
                </a:cubicBezTo>
                <a:close/>
                <a:moveTo>
                  <a:pt x="247650" y="0"/>
                </a:moveTo>
                <a:cubicBezTo>
                  <a:pt x="384423" y="0"/>
                  <a:pt x="495300" y="110877"/>
                  <a:pt x="495300" y="247650"/>
                </a:cubicBezTo>
                <a:lnTo>
                  <a:pt x="495300" y="2876550"/>
                </a:lnTo>
                <a:cubicBezTo>
                  <a:pt x="495300" y="3013323"/>
                  <a:pt x="384423" y="3124200"/>
                  <a:pt x="247650" y="3124200"/>
                </a:cubicBezTo>
                <a:cubicBezTo>
                  <a:pt x="110877" y="3124200"/>
                  <a:pt x="0" y="3013323"/>
                  <a:pt x="0" y="2876550"/>
                </a:cubicBezTo>
                <a:lnTo>
                  <a:pt x="0" y="247650"/>
                </a:lnTo>
                <a:cubicBezTo>
                  <a:pt x="0" y="110877"/>
                  <a:pt x="110877" y="0"/>
                  <a:pt x="247650" y="0"/>
                </a:cubicBezTo>
                <a:close/>
              </a:path>
            </a:pathLst>
          </a:custGeom>
          <a:effectLst/>
        </p:spPr>
        <p:txBody>
          <a:bodyPr vert="horz" lIns="95057" tIns="47529" rIns="95057" bIns="47529"/>
          <a:lstStyle>
            <a:lvl1pPr marL="0" indent="0" algn="ctr">
              <a:buNone/>
              <a:defRPr sz="1080">
                <a:solidFill>
                  <a:srgbClr val="7F7F7F"/>
                </a:solidFill>
                <a:latin typeface="Lato Regular"/>
                <a:cs typeface="Lato Regular"/>
              </a:defRPr>
            </a:lvl1pPr>
          </a:lstStyle>
          <a:p>
            <a:endParaRPr lang="en-US" dirty="0"/>
          </a:p>
        </p:txBody>
      </p:sp>
      <p:sp>
        <p:nvSpPr>
          <p:cNvPr id="8" name="Text Placeholder 7"/>
          <p:cNvSpPr>
            <a:spLocks noGrp="1"/>
          </p:cNvSpPr>
          <p:nvPr>
            <p:ph type="body" sz="quarter" idx="10" hasCustomPrompt="1"/>
          </p:nvPr>
        </p:nvSpPr>
        <p:spPr>
          <a:xfrm>
            <a:off x="3954706" y="3801452"/>
            <a:ext cx="4511964" cy="431780"/>
          </a:xfrm>
          <a:prstGeom prst="rect">
            <a:avLst/>
          </a:prstGeom>
        </p:spPr>
        <p:txBody>
          <a:bodyPr vert="horz" lIns="0" tIns="40504" rIns="0" bIns="40504" anchor="ctr"/>
          <a:lstStyle>
            <a:lvl1pPr marL="0" indent="0" algn="ctr">
              <a:lnSpc>
                <a:spcPct val="100000"/>
              </a:lnSpc>
              <a:spcBef>
                <a:spcPts val="0"/>
              </a:spcBef>
              <a:buNone/>
              <a:defRPr sz="4200" b="1">
                <a:solidFill>
                  <a:schemeClr val="bg1"/>
                </a:solidFill>
                <a:latin typeface="Lato Hairline"/>
                <a:cs typeface="Lato Hairline"/>
              </a:defRPr>
            </a:lvl1pPr>
          </a:lstStyle>
          <a:p>
            <a:pPr lvl="0"/>
            <a:r>
              <a:rPr lang="es-ES_tradnl" dirty="0"/>
              <a:t>TITLE HERE</a:t>
            </a:r>
          </a:p>
        </p:txBody>
      </p:sp>
      <p:sp>
        <p:nvSpPr>
          <p:cNvPr id="9" name="Text Placeholder 7"/>
          <p:cNvSpPr>
            <a:spLocks noGrp="1"/>
          </p:cNvSpPr>
          <p:nvPr>
            <p:ph type="body" sz="quarter" idx="11" hasCustomPrompt="1"/>
          </p:nvPr>
        </p:nvSpPr>
        <p:spPr>
          <a:xfrm>
            <a:off x="3954706" y="4385250"/>
            <a:ext cx="4511964" cy="228451"/>
          </a:xfrm>
          <a:prstGeom prst="rect">
            <a:avLst/>
          </a:prstGeom>
        </p:spPr>
        <p:txBody>
          <a:bodyPr vert="horz" lIns="0" tIns="40504" rIns="0" bIns="40504" anchor="ctr"/>
          <a:lstStyle>
            <a:lvl1pPr marL="0" indent="0" algn="ctr">
              <a:lnSpc>
                <a:spcPct val="100000"/>
              </a:lnSpc>
              <a:spcBef>
                <a:spcPts val="0"/>
              </a:spcBef>
              <a:spcAft>
                <a:spcPts val="0"/>
              </a:spcAft>
              <a:buNone/>
              <a:defRPr sz="1800" b="0">
                <a:solidFill>
                  <a:schemeClr val="accent3"/>
                </a:solidFill>
                <a:latin typeface="Lato Light" panose="020F0502020204030203"/>
                <a:cs typeface="Lato Light" panose="020F0502020204030203"/>
              </a:defRPr>
            </a:lvl1pPr>
          </a:lstStyle>
          <a:p>
            <a:pPr lvl="0"/>
            <a:r>
              <a:rPr lang="es-ES_tradnl" dirty="0" err="1"/>
              <a:t>Ultimate</a:t>
            </a:r>
            <a:r>
              <a:rPr lang="es-ES_tradnl" dirty="0"/>
              <a:t> </a:t>
            </a:r>
            <a:r>
              <a:rPr lang="es-ES_tradnl" dirty="0" err="1"/>
              <a:t>Powerpoint</a:t>
            </a:r>
            <a:r>
              <a:rPr lang="es-ES_tradnl" dirty="0"/>
              <a:t> </a:t>
            </a:r>
            <a:r>
              <a:rPr lang="es-ES_tradnl" dirty="0" err="1"/>
              <a:t>Template</a:t>
            </a:r>
            <a:endParaRPr lang="es-ES_tradnl" dirty="0"/>
          </a:p>
        </p:txBody>
      </p:sp>
      <p:sp>
        <p:nvSpPr>
          <p:cNvPr id="10" name="Text Placeholder 2"/>
          <p:cNvSpPr>
            <a:spLocks noGrp="1"/>
          </p:cNvSpPr>
          <p:nvPr>
            <p:ph type="body" sz="quarter" idx="16" hasCustomPrompt="1"/>
          </p:nvPr>
        </p:nvSpPr>
        <p:spPr>
          <a:xfrm>
            <a:off x="3975167" y="4817825"/>
            <a:ext cx="4488039" cy="1536868"/>
          </a:xfrm>
          <a:prstGeom prst="rect">
            <a:avLst/>
          </a:prstGeom>
        </p:spPr>
        <p:txBody>
          <a:bodyPr vert="horz" lIns="0" tIns="0" rIns="0" bIns="0"/>
          <a:lstStyle>
            <a:lvl1pPr marL="0" indent="0" algn="ctr">
              <a:lnSpc>
                <a:spcPct val="130000"/>
              </a:lnSpc>
              <a:buNone/>
              <a:defRPr sz="1440">
                <a:solidFill>
                  <a:schemeClr val="tx1">
                    <a:lumMod val="50000"/>
                    <a:lumOff val="50000"/>
                  </a:schemeClr>
                </a:solidFill>
                <a:latin typeface="Lato Regular"/>
                <a:cs typeface="Lato Regular"/>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a:t>
            </a:r>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400"/>
                                        <p:tgtEl>
                                          <p:spTgt spid="15"/>
                                        </p:tgtEl>
                                      </p:cBhvr>
                                    </p:animEffect>
                                  </p:childTnLst>
                                </p:cTn>
                              </p:par>
                              <p:par>
                                <p:cTn id="8" presetID="42" presetClass="entr" presetSubtype="0" fill="hold" grpId="0" nodeType="withEffect">
                                  <p:stCondLst>
                                    <p:cond delay="20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400"/>
                                        <p:tgtEl>
                                          <p:spTgt spid="8">
                                            <p:txEl>
                                              <p:pRg st="0" end="0"/>
                                            </p:txEl>
                                          </p:spTgt>
                                        </p:tgtEl>
                                      </p:cBhvr>
                                    </p:animEffect>
                                    <p:anim calcmode="lin" valueType="num">
                                      <p:cBhvr>
                                        <p:cTn id="11" dur="4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2" dur="400" fill="hold"/>
                                        <p:tgtEl>
                                          <p:spTgt spid="8">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20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500"/>
                                        <p:tgtEl>
                                          <p:spTgt spid="9">
                                            <p:txEl>
                                              <p:pRg st="0" end="0"/>
                                            </p:txEl>
                                          </p:spTgt>
                                        </p:tgtEl>
                                      </p:cBhvr>
                                    </p:animEffect>
                                    <p:anim calcmode="lin" valueType="num">
                                      <p:cBhvr>
                                        <p:cTn id="16"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7" dur="500" fill="hold"/>
                                        <p:tgtEl>
                                          <p:spTgt spid="9">
                                            <p:txEl>
                                              <p:pRg st="0" end="0"/>
                                            </p:txEl>
                                          </p:spTgt>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800"/>
                                  </p:st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fade">
                                      <p:cBhvr>
                                        <p:cTn id="20"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build="p">
        <p:tmplLst>
          <p:tmpl lvl="1">
            <p:tnLst>
              <p:par>
                <p:cTn presetID="42" presetClass="entr" presetSubtype="0" fill="hold" nodeType="withEffect">
                  <p:stCondLst>
                    <p:cond delay="200"/>
                  </p:stCondLst>
                  <p:childTnLst>
                    <p:set>
                      <p:cBhvr>
                        <p:cTn dur="1" fill="hold">
                          <p:stCondLst>
                            <p:cond delay="0"/>
                          </p:stCondLst>
                        </p:cTn>
                        <p:tgtEl>
                          <p:spTgt spid="8"/>
                        </p:tgtEl>
                        <p:attrNameLst>
                          <p:attrName>style.visibility</p:attrName>
                        </p:attrNameLst>
                      </p:cBhvr>
                      <p:to>
                        <p:strVal val="visible"/>
                      </p:to>
                    </p:set>
                    <p:animEffect transition="in" filter="fade">
                      <p:cBhvr>
                        <p:cTn dur="400"/>
                        <p:tgtEl>
                          <p:spTgt spid="8"/>
                        </p:tgtEl>
                      </p:cBhvr>
                    </p:animEffect>
                    <p:anim calcmode="lin" valueType="num">
                      <p:cBhvr>
                        <p:cTn dur="400" fill="hold"/>
                        <p:tgtEl>
                          <p:spTgt spid="8"/>
                        </p:tgtEl>
                        <p:attrNameLst>
                          <p:attrName>ppt_x</p:attrName>
                        </p:attrNameLst>
                      </p:cBhvr>
                      <p:tavLst>
                        <p:tav tm="0">
                          <p:val>
                            <p:strVal val="#ppt_x"/>
                          </p:val>
                        </p:tav>
                        <p:tav tm="100000">
                          <p:val>
                            <p:strVal val="#ppt_x"/>
                          </p:val>
                        </p:tav>
                      </p:tavLst>
                    </p:anim>
                    <p:anim calcmode="lin" valueType="num">
                      <p:cBhvr>
                        <p:cTn dur="400" fill="hold"/>
                        <p:tgtEl>
                          <p:spTgt spid="8"/>
                        </p:tgtEl>
                        <p:attrNameLst>
                          <p:attrName>ppt_y</p:attrName>
                        </p:attrNameLst>
                      </p:cBhvr>
                      <p:tavLst>
                        <p:tav tm="0">
                          <p:val>
                            <p:strVal val="#ppt_y+.1"/>
                          </p:val>
                        </p:tav>
                        <p:tav tm="100000">
                          <p:val>
                            <p:strVal val="#ppt_y"/>
                          </p:val>
                        </p:tav>
                      </p:tavLst>
                    </p:anim>
                  </p:childTnLst>
                </p:cTn>
              </p:par>
            </p:tnLst>
          </p:tmpl>
        </p:tmplLst>
      </p:bldP>
      <p:bldP spid="9" grpId="0" build="p">
        <p:tmplLst>
          <p:tmpl lvl="1">
            <p:tnLst>
              <p:par>
                <p:cTn presetID="42" presetClass="entr" presetSubtype="0" fill="hold" nodeType="withEffect">
                  <p:stCondLst>
                    <p:cond delay="20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anim calcmode="lin" valueType="num">
                      <p:cBhvr>
                        <p:cTn dur="500" fill="hold"/>
                        <p:tgtEl>
                          <p:spTgt spid="9"/>
                        </p:tgtEl>
                        <p:attrNameLst>
                          <p:attrName>ppt_x</p:attrName>
                        </p:attrNameLst>
                      </p:cBhvr>
                      <p:tavLst>
                        <p:tav tm="0">
                          <p:val>
                            <p:strVal val="#ppt_x"/>
                          </p:val>
                        </p:tav>
                        <p:tav tm="100000">
                          <p:val>
                            <p:strVal val="#ppt_x"/>
                          </p:val>
                        </p:tav>
                      </p:tavLst>
                    </p:anim>
                    <p:anim calcmode="lin" valueType="num">
                      <p:cBhvr>
                        <p:cTn dur="500" fill="hold"/>
                        <p:tgtEl>
                          <p:spTgt spid="9"/>
                        </p:tgtEl>
                        <p:attrNameLst>
                          <p:attrName>ppt_y</p:attrName>
                        </p:attrNameLst>
                      </p:cBhvr>
                      <p:tavLst>
                        <p:tav tm="0">
                          <p:val>
                            <p:strVal val="#ppt_y+.1"/>
                          </p:val>
                        </p:tav>
                        <p:tav tm="100000">
                          <p:val>
                            <p:strVal val="#ppt_y"/>
                          </p:val>
                        </p:tav>
                      </p:tavLst>
                    </p:anim>
                  </p:childTnLst>
                </p:cTn>
              </p:par>
            </p:tnLst>
          </p:tmpl>
        </p:tmplLst>
      </p:bldP>
      <p:bldP spid="10" grpId="0" build="p">
        <p:tmplLst>
          <p:tmpl lvl="1">
            <p:tnLst>
              <p:par>
                <p:cTn presetID="10" presetClass="entr" presetSubtype="0" fill="hold" nodeType="withEffect">
                  <p:stCondLst>
                    <p:cond delay="8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01_Title Slide">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6"/>
            <a:ext cx="10515600" cy="642040"/>
          </a:xfrm>
          <a:prstGeom prst="rect">
            <a:avLst/>
          </a:prstGeom>
        </p:spPr>
        <p:txBody>
          <a:bodyPr/>
          <a:lstStyle>
            <a:lvl1pPr>
              <a:defRPr sz="3200">
                <a:solidFill>
                  <a:schemeClr val="tx2"/>
                </a:solidFill>
                <a:latin typeface="+mn-lt"/>
              </a:defRPr>
            </a:lvl1pPr>
          </a:lstStyle>
          <a:p>
            <a:r>
              <a:rPr lang="en-US"/>
              <a:t>Click to edit Master title style</a:t>
            </a:r>
            <a:endParaRPr lang="id-ID"/>
          </a:p>
        </p:txBody>
      </p:sp>
      <p:sp>
        <p:nvSpPr>
          <p:cNvPr id="19" name="Text Placeholder 4"/>
          <p:cNvSpPr>
            <a:spLocks noGrp="1"/>
          </p:cNvSpPr>
          <p:nvPr>
            <p:ph type="body" sz="quarter" idx="10" hasCustomPrompt="1"/>
          </p:nvPr>
        </p:nvSpPr>
        <p:spPr>
          <a:xfrm>
            <a:off x="838200" y="827434"/>
            <a:ext cx="10515600" cy="406400"/>
          </a:xfrm>
        </p:spPr>
        <p:txBody>
          <a:bodyPr>
            <a:normAutofit/>
          </a:bodyPr>
          <a:lstStyle>
            <a:lvl1pPr marL="0" indent="0" algn="ctr">
              <a:lnSpc>
                <a:spcPct val="86000"/>
              </a:lnSpc>
              <a:spcBef>
                <a:spcPts val="0"/>
              </a:spcBef>
              <a:buNone/>
              <a:defRPr sz="1600" baseline="0">
                <a:solidFill>
                  <a:schemeClr val="bg1">
                    <a:lumMod val="50000"/>
                  </a:schemeClr>
                </a:solidFill>
              </a:defRPr>
            </a:lvl1pPr>
          </a:lstStyle>
          <a:p>
            <a:pPr lvl="0"/>
            <a:r>
              <a:rPr lang="en-US" dirty="0"/>
              <a:t>Click here to edit subtitle</a:t>
            </a:r>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13" presetClass="entr" presetSubtype="32" fill="hold" grpId="0" nodeType="withEffect">
                                  <p:stCondLst>
                                    <p:cond delay="600"/>
                                  </p:stCondLst>
                                  <p:childTnLst>
                                    <p:set>
                                      <p:cBhvr>
                                        <p:cTn id="11" dur="1" fill="hold">
                                          <p:stCondLst>
                                            <p:cond delay="0"/>
                                          </p:stCondLst>
                                        </p:cTn>
                                        <p:tgtEl>
                                          <p:spTgt spid="19">
                                            <p:txEl>
                                              <p:pRg st="0" end="0"/>
                                            </p:txEl>
                                          </p:spTgt>
                                        </p:tgtEl>
                                        <p:attrNameLst>
                                          <p:attrName>style.visibility</p:attrName>
                                        </p:attrNameLst>
                                      </p:cBhvr>
                                      <p:to>
                                        <p:strVal val="visible"/>
                                      </p:to>
                                    </p:set>
                                    <p:animEffect transition="in" filter="plus(out)">
                                      <p:cBhvr>
                                        <p:cTn id="12" dur="20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build="p">
        <p:tmplLst>
          <p:tmpl lvl="1">
            <p:tnLst>
              <p:par>
                <p:cTn presetID="13" presetClass="entr" presetSubtype="32" fill="hold" nodeType="withEffect">
                  <p:stCondLst>
                    <p:cond delay="600"/>
                  </p:stCondLst>
                  <p:childTnLst>
                    <p:set>
                      <p:cBhvr>
                        <p:cTn dur="1" fill="hold">
                          <p:stCondLst>
                            <p:cond delay="0"/>
                          </p:stCondLst>
                        </p:cTn>
                        <p:tgtEl>
                          <p:spTgt spid="19"/>
                        </p:tgtEl>
                        <p:attrNameLst>
                          <p:attrName>style.visibility</p:attrName>
                        </p:attrNameLst>
                      </p:cBhvr>
                      <p:to>
                        <p:strVal val="visible"/>
                      </p:to>
                    </p:set>
                    <p:animEffect transition="in" filter="plus(out)">
                      <p:cBhvr>
                        <p:cTn dur="2000"/>
                        <p:tgtEl>
                          <p:spTgt spid="19"/>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第一章">
    <p:spTree>
      <p:nvGrpSpPr>
        <p:cNvPr id="1" name=""/>
        <p:cNvGrpSpPr/>
        <p:nvPr/>
      </p:nvGrpSpPr>
      <p:grpSpPr>
        <a:xfrm>
          <a:off x="0" y="0"/>
          <a:ext cx="0" cy="0"/>
          <a:chOff x="0" y="0"/>
          <a:chExt cx="0" cy="0"/>
        </a:xfrm>
      </p:grpSpPr>
      <p:cxnSp>
        <p:nvCxnSpPr>
          <p:cNvPr id="14" name="直接连接符 13"/>
          <p:cNvCxnSpPr/>
          <p:nvPr userDrawn="1"/>
        </p:nvCxnSpPr>
        <p:spPr>
          <a:xfrm flipH="1">
            <a:off x="0" y="1265519"/>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第五章">
    <p:spTree>
      <p:nvGrpSpPr>
        <p:cNvPr id="1" name=""/>
        <p:cNvGrpSpPr/>
        <p:nvPr/>
      </p:nvGrpSpPr>
      <p:grpSpPr>
        <a:xfrm>
          <a:off x="0" y="0"/>
          <a:ext cx="0" cy="0"/>
          <a:chOff x="0" y="0"/>
          <a:chExt cx="0" cy="0"/>
        </a:xfrm>
      </p:grpSpPr>
      <p:cxnSp>
        <p:nvCxnSpPr>
          <p:cNvPr id="14" name="直接连接符 13"/>
          <p:cNvCxnSpPr/>
          <p:nvPr userDrawn="1"/>
        </p:nvCxnSpPr>
        <p:spPr>
          <a:xfrm flipH="1">
            <a:off x="0" y="1265519"/>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第四章">
    <p:spTree>
      <p:nvGrpSpPr>
        <p:cNvPr id="1" name=""/>
        <p:cNvGrpSpPr/>
        <p:nvPr/>
      </p:nvGrpSpPr>
      <p:grpSpPr>
        <a:xfrm>
          <a:off x="0" y="0"/>
          <a:ext cx="0" cy="0"/>
          <a:chOff x="0" y="0"/>
          <a:chExt cx="0" cy="0"/>
        </a:xfrm>
      </p:grpSpPr>
      <p:cxnSp>
        <p:nvCxnSpPr>
          <p:cNvPr id="14" name="直接连接符 13"/>
          <p:cNvCxnSpPr/>
          <p:nvPr userDrawn="1"/>
        </p:nvCxnSpPr>
        <p:spPr>
          <a:xfrm flipH="1">
            <a:off x="0" y="1265519"/>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theme" Target="../theme/theme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5FA5D8-2B42-4571-9C61-7FFB578B671F}" type="datetimeFigureOut">
              <a:rPr lang="zh-CN" altLang="en-US" smtClean="0"/>
              <a:t>2020/3/13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78FD51-F34D-48A0-AF79-FAA16276E0B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Relationship Id="rId1" Type="http://schemas.microsoft.com/office/2007/relationships/media" Target="../media/media1.mp3"/><Relationship Id="rId2" Type="http://schemas.openxmlformats.org/officeDocument/2006/relationships/audio" Target="../media/media1.mp3"/></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png"/><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5" Type="http://schemas.microsoft.com/office/2007/relationships/hdphoto" Target="../media/hdphoto1.wdp"/><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 Id="rId6" Type="http://schemas.openxmlformats.org/officeDocument/2006/relationships/chart" Target="../charts/chart4.xml"/><Relationship Id="rId7" Type="http://schemas.openxmlformats.org/officeDocument/2006/relationships/chart" Target="../charts/chart5.xml"/><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chart" Target="../charts/chart6.xml"/><Relationship Id="rId1" Type="http://schemas.openxmlformats.org/officeDocument/2006/relationships/slideLayout" Target="../slideLayouts/slideLayout1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tags" Target="../tags/tag4.xml"/><Relationship Id="rId4" Type="http://schemas.openxmlformats.org/officeDocument/2006/relationships/slideLayout" Target="../slideLayouts/slideLayout7.xml"/><Relationship Id="rId5" Type="http://schemas.openxmlformats.org/officeDocument/2006/relationships/notesSlide" Target="../notesSlides/notesSlide13.xml"/><Relationship Id="rId6" Type="http://schemas.openxmlformats.org/officeDocument/2006/relationships/chart" Target="../charts/chart7.xml"/><Relationship Id="rId7" Type="http://schemas.openxmlformats.org/officeDocument/2006/relationships/image" Target="../media/image13.png"/><Relationship Id="rId1" Type="http://schemas.openxmlformats.org/officeDocument/2006/relationships/tags" Target="../tags/tag2.xml"/><Relationship Id="rId2" Type="http://schemas.openxmlformats.org/officeDocument/2006/relationships/tags" Target="../tags/tag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chart" Target="../charts/chart8.xml"/><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4" Type="http://schemas.openxmlformats.org/officeDocument/2006/relationships/notesSlide" Target="../notesSlides/notesSlide15.xml"/><Relationship Id="rId1" Type="http://schemas.openxmlformats.org/officeDocument/2006/relationships/themeOverride" Target="../theme/themeOverride1.xml"/><Relationship Id="rId2" Type="http://schemas.openxmlformats.org/officeDocument/2006/relationships/tags" Target="../tags/tag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1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chart" Target="../charts/chart9.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chart" Target="../charts/chart10.xml"/><Relationship Id="rId4" Type="http://schemas.openxmlformats.org/officeDocument/2006/relationships/chart" Target="../charts/chart11.xml"/><Relationship Id="rId5" Type="http://schemas.openxmlformats.org/officeDocument/2006/relationships/chart" Target="../charts/chart12.xml"/><Relationship Id="rId6" Type="http://schemas.openxmlformats.org/officeDocument/2006/relationships/chart" Target="../charts/chart13.xml"/><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17.jpeg"/><Relationship Id="rId1" Type="http://schemas.openxmlformats.org/officeDocument/2006/relationships/slideLayout" Target="../slideLayouts/slideLayout1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4" Type="http://schemas.openxmlformats.org/officeDocument/2006/relationships/image" Target="../media/image19.jpeg"/><Relationship Id="rId5" Type="http://schemas.openxmlformats.org/officeDocument/2006/relationships/image" Target="../media/image20.jpeg"/><Relationship Id="rId6" Type="http://schemas.openxmlformats.org/officeDocument/2006/relationships/image" Target="../media/image21.jpeg"/><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1" Type="http://schemas.openxmlformats.org/officeDocument/2006/relationships/tags" Target="../tags/tag16.xml"/><Relationship Id="rId12" Type="http://schemas.openxmlformats.org/officeDocument/2006/relationships/tags" Target="../tags/tag17.xml"/><Relationship Id="rId13" Type="http://schemas.openxmlformats.org/officeDocument/2006/relationships/tags" Target="../tags/tag18.xml"/><Relationship Id="rId14" Type="http://schemas.openxmlformats.org/officeDocument/2006/relationships/tags" Target="../tags/tag19.xml"/><Relationship Id="rId15" Type="http://schemas.openxmlformats.org/officeDocument/2006/relationships/slideLayout" Target="../slideLayouts/slideLayout7.xml"/><Relationship Id="rId16" Type="http://schemas.openxmlformats.org/officeDocument/2006/relationships/notesSlide" Target="../notesSlides/notesSlide24.xml"/><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tags" Target="../tags/tag10.xml"/><Relationship Id="rId6" Type="http://schemas.openxmlformats.org/officeDocument/2006/relationships/tags" Target="../tags/tag11.xml"/><Relationship Id="rId7" Type="http://schemas.openxmlformats.org/officeDocument/2006/relationships/tags" Target="../tags/tag12.xml"/><Relationship Id="rId8" Type="http://schemas.openxmlformats.org/officeDocument/2006/relationships/tags" Target="../tags/tag13.xml"/><Relationship Id="rId9" Type="http://schemas.openxmlformats.org/officeDocument/2006/relationships/tags" Target="../tags/tag14.xml"/><Relationship Id="rId10" Type="http://schemas.openxmlformats.org/officeDocument/2006/relationships/tags" Target="../tags/tag15.xml"/></Relationships>
</file>

<file path=ppt/slides/_rels/slide25.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tags" Target="../tags/tag21.xml"/><Relationship Id="rId3" Type="http://schemas.openxmlformats.org/officeDocument/2006/relationships/tags" Target="../tags/tag22.xml"/><Relationship Id="rId4" Type="http://schemas.openxmlformats.org/officeDocument/2006/relationships/tags" Target="../tags/tag23.xml"/><Relationship Id="rId5" Type="http://schemas.openxmlformats.org/officeDocument/2006/relationships/tags" Target="../tags/tag24.xml"/><Relationship Id="rId6" Type="http://schemas.openxmlformats.org/officeDocument/2006/relationships/tags" Target="../tags/tag25.xml"/><Relationship Id="rId7" Type="http://schemas.openxmlformats.org/officeDocument/2006/relationships/tags" Target="../tags/tag26.xml"/><Relationship Id="rId8" Type="http://schemas.openxmlformats.org/officeDocument/2006/relationships/tags" Target="../tags/tag27.xml"/><Relationship Id="rId9" Type="http://schemas.openxmlformats.org/officeDocument/2006/relationships/tags" Target="../tags/tag28.xml"/><Relationship Id="rId10" Type="http://schemas.openxmlformats.org/officeDocument/2006/relationships/tags" Target="../tags/tag29.xml"/><Relationship Id="rId11" Type="http://schemas.openxmlformats.org/officeDocument/2006/relationships/tags" Target="../tags/tag30.xml"/><Relationship Id="rId12" Type="http://schemas.openxmlformats.org/officeDocument/2006/relationships/tags" Target="../tags/tag31.xml"/><Relationship Id="rId13" Type="http://schemas.openxmlformats.org/officeDocument/2006/relationships/tags" Target="../tags/tag32.xml"/><Relationship Id="rId14" Type="http://schemas.openxmlformats.org/officeDocument/2006/relationships/tags" Target="../tags/tag33.xml"/><Relationship Id="rId15" Type="http://schemas.openxmlformats.org/officeDocument/2006/relationships/tags" Target="../tags/tag34.xml"/><Relationship Id="rId16" Type="http://schemas.openxmlformats.org/officeDocument/2006/relationships/tags" Target="../tags/tag35.xml"/><Relationship Id="rId17" Type="http://schemas.openxmlformats.org/officeDocument/2006/relationships/tags" Target="../tags/tag36.xml"/><Relationship Id="rId18" Type="http://schemas.openxmlformats.org/officeDocument/2006/relationships/tags" Target="../tags/tag37.xml"/><Relationship Id="rId19" Type="http://schemas.openxmlformats.org/officeDocument/2006/relationships/tags" Target="../tags/tag38.xml"/><Relationship Id="rId30" Type="http://schemas.openxmlformats.org/officeDocument/2006/relationships/tags" Target="../tags/tag49.xml"/><Relationship Id="rId31" Type="http://schemas.openxmlformats.org/officeDocument/2006/relationships/tags" Target="../tags/tag50.xml"/><Relationship Id="rId32" Type="http://schemas.openxmlformats.org/officeDocument/2006/relationships/tags" Target="../tags/tag51.xml"/><Relationship Id="rId33" Type="http://schemas.openxmlformats.org/officeDocument/2006/relationships/tags" Target="../tags/tag52.xml"/><Relationship Id="rId34" Type="http://schemas.openxmlformats.org/officeDocument/2006/relationships/tags" Target="../tags/tag53.xml"/><Relationship Id="rId35" Type="http://schemas.openxmlformats.org/officeDocument/2006/relationships/tags" Target="../tags/tag54.xml"/><Relationship Id="rId36" Type="http://schemas.openxmlformats.org/officeDocument/2006/relationships/tags" Target="../tags/tag55.xml"/><Relationship Id="rId37" Type="http://schemas.openxmlformats.org/officeDocument/2006/relationships/tags" Target="../tags/tag56.xml"/><Relationship Id="rId38" Type="http://schemas.openxmlformats.org/officeDocument/2006/relationships/tags" Target="../tags/tag57.xml"/><Relationship Id="rId39" Type="http://schemas.openxmlformats.org/officeDocument/2006/relationships/tags" Target="../tags/tag58.xml"/><Relationship Id="rId50" Type="http://schemas.openxmlformats.org/officeDocument/2006/relationships/tags" Target="../tags/tag69.xml"/><Relationship Id="rId51" Type="http://schemas.openxmlformats.org/officeDocument/2006/relationships/tags" Target="../tags/tag70.xml"/><Relationship Id="rId52" Type="http://schemas.openxmlformats.org/officeDocument/2006/relationships/tags" Target="../tags/tag71.xml"/><Relationship Id="rId53" Type="http://schemas.openxmlformats.org/officeDocument/2006/relationships/tags" Target="../tags/tag72.xml"/><Relationship Id="rId54" Type="http://schemas.openxmlformats.org/officeDocument/2006/relationships/tags" Target="../tags/tag73.xml"/><Relationship Id="rId55" Type="http://schemas.openxmlformats.org/officeDocument/2006/relationships/tags" Target="../tags/tag74.xml"/><Relationship Id="rId56" Type="http://schemas.openxmlformats.org/officeDocument/2006/relationships/tags" Target="../tags/tag75.xml"/><Relationship Id="rId57" Type="http://schemas.openxmlformats.org/officeDocument/2006/relationships/tags" Target="../tags/tag76.xml"/><Relationship Id="rId58" Type="http://schemas.openxmlformats.org/officeDocument/2006/relationships/tags" Target="../tags/tag77.xml"/><Relationship Id="rId59" Type="http://schemas.openxmlformats.org/officeDocument/2006/relationships/tags" Target="../tags/tag78.xml"/><Relationship Id="rId70" Type="http://schemas.openxmlformats.org/officeDocument/2006/relationships/tags" Target="../tags/tag89.xml"/><Relationship Id="rId71" Type="http://schemas.openxmlformats.org/officeDocument/2006/relationships/tags" Target="../tags/tag90.xml"/><Relationship Id="rId72" Type="http://schemas.openxmlformats.org/officeDocument/2006/relationships/tags" Target="../tags/tag91.xml"/><Relationship Id="rId73" Type="http://schemas.openxmlformats.org/officeDocument/2006/relationships/tags" Target="../tags/tag92.xml"/><Relationship Id="rId74" Type="http://schemas.openxmlformats.org/officeDocument/2006/relationships/tags" Target="../tags/tag93.xml"/><Relationship Id="rId75" Type="http://schemas.openxmlformats.org/officeDocument/2006/relationships/tags" Target="../tags/tag94.xml"/><Relationship Id="rId76" Type="http://schemas.openxmlformats.org/officeDocument/2006/relationships/tags" Target="../tags/tag95.xml"/><Relationship Id="rId77" Type="http://schemas.openxmlformats.org/officeDocument/2006/relationships/tags" Target="../tags/tag96.xml"/><Relationship Id="rId78" Type="http://schemas.openxmlformats.org/officeDocument/2006/relationships/tags" Target="../tags/tag97.xml"/><Relationship Id="rId79" Type="http://schemas.openxmlformats.org/officeDocument/2006/relationships/tags" Target="../tags/tag98.xml"/><Relationship Id="rId20" Type="http://schemas.openxmlformats.org/officeDocument/2006/relationships/tags" Target="../tags/tag39.xml"/><Relationship Id="rId21" Type="http://schemas.openxmlformats.org/officeDocument/2006/relationships/tags" Target="../tags/tag40.xml"/><Relationship Id="rId22" Type="http://schemas.openxmlformats.org/officeDocument/2006/relationships/tags" Target="../tags/tag41.xml"/><Relationship Id="rId23" Type="http://schemas.openxmlformats.org/officeDocument/2006/relationships/tags" Target="../tags/tag42.xml"/><Relationship Id="rId24" Type="http://schemas.openxmlformats.org/officeDocument/2006/relationships/tags" Target="../tags/tag43.xml"/><Relationship Id="rId25" Type="http://schemas.openxmlformats.org/officeDocument/2006/relationships/tags" Target="../tags/tag44.xml"/><Relationship Id="rId26" Type="http://schemas.openxmlformats.org/officeDocument/2006/relationships/tags" Target="../tags/tag45.xml"/><Relationship Id="rId27" Type="http://schemas.openxmlformats.org/officeDocument/2006/relationships/tags" Target="../tags/tag46.xml"/><Relationship Id="rId28" Type="http://schemas.openxmlformats.org/officeDocument/2006/relationships/tags" Target="../tags/tag47.xml"/><Relationship Id="rId29" Type="http://schemas.openxmlformats.org/officeDocument/2006/relationships/tags" Target="../tags/tag48.xml"/><Relationship Id="rId40" Type="http://schemas.openxmlformats.org/officeDocument/2006/relationships/tags" Target="../tags/tag59.xml"/><Relationship Id="rId41" Type="http://schemas.openxmlformats.org/officeDocument/2006/relationships/tags" Target="../tags/tag60.xml"/><Relationship Id="rId42" Type="http://schemas.openxmlformats.org/officeDocument/2006/relationships/tags" Target="../tags/tag61.xml"/><Relationship Id="rId43" Type="http://schemas.openxmlformats.org/officeDocument/2006/relationships/tags" Target="../tags/tag62.xml"/><Relationship Id="rId44" Type="http://schemas.openxmlformats.org/officeDocument/2006/relationships/tags" Target="../tags/tag63.xml"/><Relationship Id="rId45" Type="http://schemas.openxmlformats.org/officeDocument/2006/relationships/tags" Target="../tags/tag64.xml"/><Relationship Id="rId46" Type="http://schemas.openxmlformats.org/officeDocument/2006/relationships/tags" Target="../tags/tag65.xml"/><Relationship Id="rId47" Type="http://schemas.openxmlformats.org/officeDocument/2006/relationships/tags" Target="../tags/tag66.xml"/><Relationship Id="rId48" Type="http://schemas.openxmlformats.org/officeDocument/2006/relationships/tags" Target="../tags/tag67.xml"/><Relationship Id="rId49" Type="http://schemas.openxmlformats.org/officeDocument/2006/relationships/tags" Target="../tags/tag68.xml"/><Relationship Id="rId60" Type="http://schemas.openxmlformats.org/officeDocument/2006/relationships/tags" Target="../tags/tag79.xml"/><Relationship Id="rId61" Type="http://schemas.openxmlformats.org/officeDocument/2006/relationships/tags" Target="../tags/tag80.xml"/><Relationship Id="rId62" Type="http://schemas.openxmlformats.org/officeDocument/2006/relationships/tags" Target="../tags/tag81.xml"/><Relationship Id="rId63" Type="http://schemas.openxmlformats.org/officeDocument/2006/relationships/tags" Target="../tags/tag82.xml"/><Relationship Id="rId64" Type="http://schemas.openxmlformats.org/officeDocument/2006/relationships/tags" Target="../tags/tag83.xml"/><Relationship Id="rId65" Type="http://schemas.openxmlformats.org/officeDocument/2006/relationships/tags" Target="../tags/tag84.xml"/><Relationship Id="rId66" Type="http://schemas.openxmlformats.org/officeDocument/2006/relationships/tags" Target="../tags/tag85.xml"/><Relationship Id="rId67" Type="http://schemas.openxmlformats.org/officeDocument/2006/relationships/tags" Target="../tags/tag86.xml"/><Relationship Id="rId68" Type="http://schemas.openxmlformats.org/officeDocument/2006/relationships/tags" Target="../tags/tag87.xml"/><Relationship Id="rId69" Type="http://schemas.openxmlformats.org/officeDocument/2006/relationships/tags" Target="../tags/tag88.xml"/><Relationship Id="rId80" Type="http://schemas.openxmlformats.org/officeDocument/2006/relationships/tags" Target="../tags/tag99.xml"/><Relationship Id="rId81" Type="http://schemas.openxmlformats.org/officeDocument/2006/relationships/tags" Target="../tags/tag100.xml"/><Relationship Id="rId82" Type="http://schemas.openxmlformats.org/officeDocument/2006/relationships/tags" Target="../tags/tag101.xml"/><Relationship Id="rId83" Type="http://schemas.openxmlformats.org/officeDocument/2006/relationships/tags" Target="../tags/tag102.xml"/><Relationship Id="rId84" Type="http://schemas.openxmlformats.org/officeDocument/2006/relationships/tags" Target="../tags/tag103.xml"/><Relationship Id="rId85" Type="http://schemas.openxmlformats.org/officeDocument/2006/relationships/slideLayout" Target="../slideLayouts/slideLayout7.xml"/><Relationship Id="rId8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tags" Target="../tags/tag106.xml"/><Relationship Id="rId4" Type="http://schemas.openxmlformats.org/officeDocument/2006/relationships/tags" Target="../tags/tag107.xml"/><Relationship Id="rId5" Type="http://schemas.openxmlformats.org/officeDocument/2006/relationships/tags" Target="../tags/tag108.xml"/><Relationship Id="rId6" Type="http://schemas.openxmlformats.org/officeDocument/2006/relationships/tags" Target="../tags/tag109.xml"/><Relationship Id="rId7" Type="http://schemas.openxmlformats.org/officeDocument/2006/relationships/tags" Target="../tags/tag110.xml"/><Relationship Id="rId8" Type="http://schemas.openxmlformats.org/officeDocument/2006/relationships/slideLayout" Target="../slideLayouts/slideLayout7.xml"/><Relationship Id="rId9" Type="http://schemas.openxmlformats.org/officeDocument/2006/relationships/notesSlide" Target="../notesSlides/notesSlide26.xml"/><Relationship Id="rId10" Type="http://schemas.openxmlformats.org/officeDocument/2006/relationships/image" Target="../media/image22.jpeg"/><Relationship Id="rId11" Type="http://schemas.openxmlformats.org/officeDocument/2006/relationships/image" Target="../media/image23.jpeg"/><Relationship Id="rId1" Type="http://schemas.openxmlformats.org/officeDocument/2006/relationships/tags" Target="../tags/tag104.xml"/><Relationship Id="rId2" Type="http://schemas.openxmlformats.org/officeDocument/2006/relationships/tags" Target="../tags/tag105.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image" Target="../media/image24.jpe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1" y="5430129"/>
            <a:ext cx="12192000" cy="1427871"/>
          </a:xfrm>
          <a:prstGeom prst="rect">
            <a:avLst/>
          </a:prstGeom>
          <a:solidFill>
            <a:srgbClr val="404040">
              <a:alpha val="2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p:cNvSpPr/>
          <p:nvPr/>
        </p:nvSpPr>
        <p:spPr>
          <a:xfrm>
            <a:off x="1" y="0"/>
            <a:ext cx="12192000" cy="5430129"/>
          </a:xfrm>
          <a:prstGeom prst="rect">
            <a:avLst/>
          </a:prstGeom>
          <a:solidFill>
            <a:srgbClr val="FFC00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4" name="图片 3"/>
          <p:cNvPicPr>
            <a:picLocks noChangeAspect="1"/>
          </p:cNvPicPr>
          <p:nvPr/>
        </p:nvPicPr>
        <p:blipFill>
          <a:blip r:embed="rId5"/>
          <a:stretch>
            <a:fillRect/>
          </a:stretch>
        </p:blipFill>
        <p:spPr>
          <a:xfrm>
            <a:off x="1360" y="364477"/>
            <a:ext cx="4026080" cy="2583017"/>
          </a:xfrm>
          <a:prstGeom prst="rect">
            <a:avLst/>
          </a:prstGeom>
        </p:spPr>
      </p:pic>
      <p:pic>
        <p:nvPicPr>
          <p:cNvPr id="5" name="图片 4"/>
          <p:cNvPicPr>
            <a:picLocks noChangeAspect="1"/>
          </p:cNvPicPr>
          <p:nvPr/>
        </p:nvPicPr>
        <p:blipFill>
          <a:blip r:embed="rId6"/>
          <a:stretch>
            <a:fillRect/>
          </a:stretch>
        </p:blipFill>
        <p:spPr>
          <a:xfrm>
            <a:off x="886265" y="3431549"/>
            <a:ext cx="5844734" cy="3426451"/>
          </a:xfrm>
          <a:prstGeom prst="rect">
            <a:avLst/>
          </a:prstGeom>
        </p:spPr>
      </p:pic>
      <p:grpSp>
        <p:nvGrpSpPr>
          <p:cNvPr id="30" name="组合 29"/>
          <p:cNvGrpSpPr/>
          <p:nvPr/>
        </p:nvGrpSpPr>
        <p:grpSpPr>
          <a:xfrm>
            <a:off x="6201186" y="1097279"/>
            <a:ext cx="5348389" cy="4051495"/>
            <a:chOff x="6201186" y="1097279"/>
            <a:chExt cx="5348389" cy="4051495"/>
          </a:xfrm>
        </p:grpSpPr>
        <p:sp>
          <p:nvSpPr>
            <p:cNvPr id="24" name="文本框 12"/>
            <p:cNvSpPr txBox="1"/>
            <p:nvPr/>
          </p:nvSpPr>
          <p:spPr>
            <a:xfrm>
              <a:off x="6520759" y="1874834"/>
              <a:ext cx="4709160" cy="2099945"/>
            </a:xfrm>
            <a:prstGeom prst="rect">
              <a:avLst/>
            </a:prstGeom>
            <a:noFill/>
            <a:effectLst/>
          </p:spPr>
          <p:txBody>
            <a:bodyPr wrap="none" lIns="68580" tIns="34290" rIns="68580" bIns="34290" rtlCol="0">
              <a:spAutoFit/>
            </a:bodyPr>
            <a:lstStyle/>
            <a:p>
              <a:pPr algn="ctr">
                <a:lnSpc>
                  <a:spcPct val="110000"/>
                </a:lnSpc>
              </a:pPr>
              <a:r>
                <a:rPr lang="zh-CN" altLang="en-US" sz="6000" b="1" dirty="0">
                  <a:solidFill>
                    <a:schemeClr val="tx1">
                      <a:lumMod val="75000"/>
                      <a:lumOff val="25000"/>
                    </a:schemeClr>
                  </a:solidFill>
                  <a:latin typeface="微软雅黑" panose="020B0503020204020204" charset="-122"/>
                  <a:ea typeface="微软雅黑" panose="020B0503020204020204" charset="-122"/>
                  <a:sym typeface="+mn-ea"/>
                </a:rPr>
                <a:t>财务预算及</a:t>
              </a:r>
            </a:p>
            <a:p>
              <a:pPr algn="ctr">
                <a:lnSpc>
                  <a:spcPct val="110000"/>
                </a:lnSpc>
              </a:pPr>
              <a:r>
                <a:rPr lang="zh-CN" altLang="en-US" sz="6000" b="1" dirty="0">
                  <a:solidFill>
                    <a:schemeClr val="tx1">
                      <a:lumMod val="75000"/>
                      <a:lumOff val="25000"/>
                    </a:schemeClr>
                  </a:solidFill>
                  <a:latin typeface="微软雅黑" panose="020B0503020204020204" charset="-122"/>
                  <a:ea typeface="微软雅黑" panose="020B0503020204020204" charset="-122"/>
                  <a:sym typeface="+mn-ea"/>
                </a:rPr>
                <a:t>经营分析报告</a:t>
              </a:r>
              <a:endParaRPr lang="zh-CN" altLang="en-US" sz="6000" b="1" dirty="0">
                <a:solidFill>
                  <a:schemeClr val="tx1">
                    <a:lumMod val="75000"/>
                    <a:lumOff val="25000"/>
                  </a:schemeClr>
                </a:solidFill>
                <a:latin typeface="微软雅黑" panose="020B0503020204020204" charset="-122"/>
                <a:ea typeface="微软雅黑" panose="020B0503020204020204" charset="-122"/>
                <a:cs typeface="+mn-ea"/>
                <a:sym typeface="+mn-ea"/>
              </a:endParaRPr>
            </a:p>
          </p:txBody>
        </p:sp>
        <p:sp>
          <p:nvSpPr>
            <p:cNvPr id="25" name="TextBox 7"/>
            <p:cNvSpPr>
              <a:spLocks noChangeArrowheads="1"/>
            </p:cNvSpPr>
            <p:nvPr/>
          </p:nvSpPr>
          <p:spPr bwMode="auto">
            <a:xfrm>
              <a:off x="6300377" y="4054714"/>
              <a:ext cx="505911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en-US" sz="1600" dirty="0">
                  <a:solidFill>
                    <a:schemeClr val="bg1"/>
                  </a:solidFill>
                  <a:latin typeface="微软雅黑" panose="020B0503020204020204" charset="-122"/>
                  <a:ea typeface="微软雅黑" panose="020B0503020204020204" charset="-122"/>
                  <a:sym typeface="+mn-ea"/>
                </a:rPr>
                <a:t>适 用 于 互 联 网 </a:t>
              </a:r>
              <a:r>
                <a:rPr lang="en-US" altLang="zh-CN" sz="1600" dirty="0">
                  <a:solidFill>
                    <a:schemeClr val="bg1"/>
                  </a:solidFill>
                  <a:latin typeface="微软雅黑" panose="020B0503020204020204" charset="-122"/>
                  <a:ea typeface="微软雅黑" panose="020B0503020204020204" charset="-122"/>
                  <a:sym typeface="+mn-ea"/>
                </a:rPr>
                <a:t>/ </a:t>
              </a:r>
              <a:r>
                <a:rPr lang="zh-CN" altLang="en-US" sz="1600" dirty="0">
                  <a:solidFill>
                    <a:schemeClr val="bg1"/>
                  </a:solidFill>
                  <a:latin typeface="微软雅黑" panose="020B0503020204020204" charset="-122"/>
                  <a:ea typeface="微软雅黑" panose="020B0503020204020204" charset="-122"/>
                  <a:sym typeface="+mn-ea"/>
                </a:rPr>
                <a:t>科 技 </a:t>
              </a:r>
              <a:r>
                <a:rPr lang="en-US" altLang="zh-CN" sz="1600" dirty="0">
                  <a:solidFill>
                    <a:schemeClr val="bg1"/>
                  </a:solidFill>
                  <a:latin typeface="微软雅黑" panose="020B0503020204020204" charset="-122"/>
                  <a:ea typeface="微软雅黑" panose="020B0503020204020204" charset="-122"/>
                  <a:sym typeface="+mn-ea"/>
                </a:rPr>
                <a:t>/ I T / </a:t>
              </a:r>
              <a:r>
                <a:rPr lang="zh-CN" altLang="en-US" sz="1600" dirty="0">
                  <a:solidFill>
                    <a:schemeClr val="bg1"/>
                  </a:solidFill>
                  <a:latin typeface="微软雅黑" panose="020B0503020204020204" charset="-122"/>
                  <a:ea typeface="微软雅黑" panose="020B0503020204020204" charset="-122"/>
                  <a:sym typeface="+mn-ea"/>
                </a:rPr>
                <a:t>通 信 </a:t>
              </a:r>
              <a:r>
                <a:rPr lang="en-US" altLang="zh-CN" sz="1600" dirty="0">
                  <a:solidFill>
                    <a:schemeClr val="bg1"/>
                  </a:solidFill>
                  <a:latin typeface="微软雅黑" panose="020B0503020204020204" charset="-122"/>
                  <a:ea typeface="微软雅黑" panose="020B0503020204020204" charset="-122"/>
                  <a:sym typeface="+mn-ea"/>
                </a:rPr>
                <a:t>/ </a:t>
              </a:r>
              <a:r>
                <a:rPr lang="zh-CN" altLang="en-US" sz="1600" dirty="0">
                  <a:solidFill>
                    <a:schemeClr val="bg1"/>
                  </a:solidFill>
                  <a:latin typeface="微软雅黑" panose="020B0503020204020204" charset="-122"/>
                  <a:ea typeface="微软雅黑" panose="020B0503020204020204" charset="-122"/>
                  <a:sym typeface="+mn-ea"/>
                </a:rPr>
                <a:t>金 融 </a:t>
              </a:r>
              <a:r>
                <a:rPr lang="en-US" altLang="zh-CN" sz="1600" dirty="0">
                  <a:solidFill>
                    <a:schemeClr val="bg1"/>
                  </a:solidFill>
                  <a:latin typeface="微软雅黑" panose="020B0503020204020204" charset="-122"/>
                  <a:ea typeface="微软雅黑" panose="020B0503020204020204" charset="-122"/>
                  <a:sym typeface="+mn-ea"/>
                </a:rPr>
                <a:t>/ </a:t>
              </a:r>
              <a:r>
                <a:rPr lang="zh-CN" altLang="en-US" sz="1600" dirty="0">
                  <a:solidFill>
                    <a:schemeClr val="bg1"/>
                  </a:solidFill>
                  <a:latin typeface="微软雅黑" panose="020B0503020204020204" charset="-122"/>
                  <a:ea typeface="微软雅黑" panose="020B0503020204020204" charset="-122"/>
                  <a:sym typeface="+mn-ea"/>
                </a:rPr>
                <a:t>房 地 产 </a:t>
              </a:r>
              <a:r>
                <a:rPr lang="en-US" altLang="zh-CN" sz="1600" dirty="0">
                  <a:solidFill>
                    <a:schemeClr val="bg1"/>
                  </a:solidFill>
                  <a:latin typeface="微软雅黑" panose="020B0503020204020204" charset="-122"/>
                  <a:ea typeface="微软雅黑" panose="020B0503020204020204" charset="-122"/>
                  <a:sym typeface="+mn-ea"/>
                </a:rPr>
                <a:t>/ </a:t>
              </a:r>
              <a:r>
                <a:rPr lang="zh-CN" altLang="en-US" sz="1600" dirty="0">
                  <a:solidFill>
                    <a:schemeClr val="bg1"/>
                  </a:solidFill>
                  <a:latin typeface="微软雅黑" panose="020B0503020204020204" charset="-122"/>
                  <a:ea typeface="微软雅黑" panose="020B0503020204020204" charset="-122"/>
                  <a:sym typeface="+mn-ea"/>
                </a:rPr>
                <a:t>汽 车 </a:t>
              </a:r>
              <a:r>
                <a:rPr lang="en-US" altLang="zh-CN" sz="1600" dirty="0">
                  <a:solidFill>
                    <a:schemeClr val="bg1"/>
                  </a:solidFill>
                  <a:latin typeface="微软雅黑" panose="020B0503020204020204" charset="-122"/>
                  <a:ea typeface="微软雅黑" panose="020B0503020204020204" charset="-122"/>
                  <a:sym typeface="+mn-ea"/>
                </a:rPr>
                <a:t>/ </a:t>
              </a:r>
              <a:r>
                <a:rPr lang="zh-CN" altLang="en-US" sz="1600" dirty="0">
                  <a:solidFill>
                    <a:schemeClr val="bg1"/>
                  </a:solidFill>
                  <a:latin typeface="微软雅黑" panose="020B0503020204020204" charset="-122"/>
                  <a:ea typeface="微软雅黑" panose="020B0503020204020204" charset="-122"/>
                  <a:sym typeface="+mn-ea"/>
                </a:rPr>
                <a:t>电 子 等 公 司</a:t>
              </a:r>
              <a:endParaRPr lang="zh-CN" altLang="en-US" sz="1600" b="1" dirty="0">
                <a:solidFill>
                  <a:srgbClr val="404040"/>
                </a:solidFill>
                <a:cs typeface="+mn-ea"/>
                <a:sym typeface="+mn-lt"/>
              </a:endParaRPr>
            </a:p>
          </p:txBody>
        </p:sp>
        <p:sp>
          <p:nvSpPr>
            <p:cNvPr id="3" name="文本框 2"/>
            <p:cNvSpPr txBox="1"/>
            <p:nvPr/>
          </p:nvSpPr>
          <p:spPr>
            <a:xfrm>
              <a:off x="7163030" y="4678729"/>
              <a:ext cx="3708856" cy="337185"/>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微软雅黑" panose="020B0503020204020204" charset="-122"/>
                  <a:ea typeface="微软雅黑" panose="020B0503020204020204" charset="-122"/>
                  <a:sym typeface="+mn-ea"/>
                </a:rPr>
                <a:t>汇报人： 财务部</a:t>
              </a:r>
              <a:endParaRPr lang="zh-CN" altLang="en-US" sz="1600" dirty="0">
                <a:solidFill>
                  <a:schemeClr val="tx1">
                    <a:lumMod val="75000"/>
                    <a:lumOff val="25000"/>
                  </a:schemeClr>
                </a:solidFill>
                <a:latin typeface="微软雅黑" panose="020B0503020204020204" charset="-122"/>
                <a:ea typeface="微软雅黑" panose="020B0503020204020204" charset="-122"/>
                <a:cs typeface="+mn-ea"/>
                <a:sym typeface="+mn-ea"/>
              </a:endParaRPr>
            </a:p>
          </p:txBody>
        </p:sp>
        <p:grpSp>
          <p:nvGrpSpPr>
            <p:cNvPr id="29" name="组合 28"/>
            <p:cNvGrpSpPr/>
            <p:nvPr/>
          </p:nvGrpSpPr>
          <p:grpSpPr>
            <a:xfrm>
              <a:off x="6201186" y="1097279"/>
              <a:ext cx="5348389" cy="4051495"/>
              <a:chOff x="6201186" y="1097279"/>
              <a:chExt cx="5348389" cy="4051495"/>
            </a:xfrm>
          </p:grpSpPr>
          <p:cxnSp>
            <p:nvCxnSpPr>
              <p:cNvPr id="10" name="直接连接符 9"/>
              <p:cNvCxnSpPr/>
              <p:nvPr/>
            </p:nvCxnSpPr>
            <p:spPr>
              <a:xfrm flipV="1">
                <a:off x="6201186" y="1097279"/>
                <a:ext cx="0" cy="746708"/>
              </a:xfrm>
              <a:prstGeom prst="line">
                <a:avLst/>
              </a:prstGeom>
              <a:ln w="6985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201186" y="1125415"/>
                <a:ext cx="5348389" cy="0"/>
              </a:xfrm>
              <a:prstGeom prst="line">
                <a:avLst/>
              </a:prstGeom>
              <a:ln w="6985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1521440" y="1125415"/>
                <a:ext cx="0" cy="4023359"/>
              </a:xfrm>
              <a:prstGeom prst="line">
                <a:avLst/>
              </a:prstGeom>
              <a:ln w="6985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6730999" y="5148774"/>
                <a:ext cx="4818576" cy="0"/>
              </a:xfrm>
              <a:prstGeom prst="line">
                <a:avLst/>
              </a:prstGeom>
              <a:ln w="69850">
                <a:solidFill>
                  <a:srgbClr val="404040"/>
                </a:solidFill>
              </a:ln>
            </p:spPr>
            <p:style>
              <a:lnRef idx="1">
                <a:schemeClr val="accent1"/>
              </a:lnRef>
              <a:fillRef idx="0">
                <a:schemeClr val="accent1"/>
              </a:fillRef>
              <a:effectRef idx="0">
                <a:schemeClr val="accent1"/>
              </a:effectRef>
              <a:fontRef idx="minor">
                <a:schemeClr val="tx1"/>
              </a:fontRef>
            </p:style>
          </p:cxnSp>
        </p:grpSp>
      </p:grpSp>
      <p:pic>
        <p:nvPicPr>
          <p:cNvPr id="31" name="Two Steps From Hell - Victory">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655810" y="-66932"/>
            <a:ext cx="609600" cy="609600"/>
          </a:xfrm>
          <a:prstGeom prst="rect">
            <a:avLst/>
          </a:prstGeom>
        </p:spPr>
      </p:pic>
      <p:sp>
        <p:nvSpPr>
          <p:cNvPr id="8" name="文本框 7"/>
          <p:cNvSpPr txBox="1"/>
          <p:nvPr/>
        </p:nvSpPr>
        <p:spPr>
          <a:xfrm>
            <a:off x="7111533" y="1298045"/>
            <a:ext cx="3239990" cy="707886"/>
          </a:xfrm>
          <a:prstGeom prst="rect">
            <a:avLst/>
          </a:prstGeom>
          <a:noFill/>
        </p:spPr>
        <p:txBody>
          <a:bodyPr wrap="none" rtlCol="0">
            <a:spAutoFit/>
          </a:bodyPr>
          <a:lstStyle/>
          <a:p>
            <a:pPr algn="ctr"/>
            <a:r>
              <a:rPr lang="en-US" altLang="zh-CN" sz="4000" b="1" dirty="0" smtClean="0">
                <a:solidFill>
                  <a:srgbClr val="404040"/>
                </a:solidFill>
                <a:latin typeface="微软雅黑" panose="020B0503020204020204" charset="-122"/>
                <a:ea typeface="微软雅黑" panose="020B0503020204020204" charset="-122"/>
              </a:rPr>
              <a:t>2019 </a:t>
            </a:r>
            <a:r>
              <a:rPr lang="en-US" altLang="zh-CN" sz="4000" b="1" dirty="0">
                <a:solidFill>
                  <a:srgbClr val="404040"/>
                </a:solidFill>
                <a:latin typeface="微软雅黑" panose="020B0503020204020204" charset="-122"/>
                <a:ea typeface="微软雅黑" panose="020B0503020204020204" charset="-122"/>
              </a:rPr>
              <a:t>- </a:t>
            </a:r>
            <a:r>
              <a:rPr lang="en-US" altLang="zh-CN" sz="4000" b="1" dirty="0" smtClean="0">
                <a:solidFill>
                  <a:srgbClr val="404040"/>
                </a:solidFill>
                <a:latin typeface="微软雅黑" panose="020B0503020204020204" charset="-122"/>
                <a:ea typeface="微软雅黑" panose="020B0503020204020204" charset="-122"/>
              </a:rPr>
              <a:t>2020</a:t>
            </a:r>
            <a:endParaRPr lang="en-US" altLang="zh-CN" sz="4000" b="1" dirty="0">
              <a:solidFill>
                <a:srgbClr val="40404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spd="slow" p14:dur="1300" advTm="1000">
        <p14:pan dir="u"/>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1"/>
                                        </p:tgtEl>
                                      </p:cBhvr>
                                    </p:cmd>
                                  </p:childTnLst>
                                </p:cTn>
                              </p:par>
                              <p:par>
                                <p:cTn id="7" presetID="2" presetClass="entr" presetSubtype="2" fill="hold" nodeType="withEffect">
                                  <p:stCondLst>
                                    <p:cond delay="500"/>
                                  </p:stCondLst>
                                  <p:childTnLst>
                                    <p:set>
                                      <p:cBhvr>
                                        <p:cTn id="8" dur="1" fill="hold">
                                          <p:stCondLst>
                                            <p:cond delay="0"/>
                                          </p:stCondLst>
                                        </p:cTn>
                                        <p:tgtEl>
                                          <p:spTgt spid="5"/>
                                        </p:tgtEl>
                                        <p:attrNameLst>
                                          <p:attrName>style.visibility</p:attrName>
                                        </p:attrNameLst>
                                      </p:cBhvr>
                                      <p:to>
                                        <p:strVal val="visible"/>
                                      </p:to>
                                    </p:set>
                                    <p:anim calcmode="lin" valueType="num">
                                      <p:cBhvr additive="base">
                                        <p:cTn id="9" dur="500" fill="hold"/>
                                        <p:tgtEl>
                                          <p:spTgt spid="5"/>
                                        </p:tgtEl>
                                        <p:attrNameLst>
                                          <p:attrName>ppt_x</p:attrName>
                                        </p:attrNameLst>
                                      </p:cBhvr>
                                      <p:tavLst>
                                        <p:tav tm="0">
                                          <p:val>
                                            <p:strVal val="1+#ppt_w/2"/>
                                          </p:val>
                                        </p:tav>
                                        <p:tav tm="100000">
                                          <p:val>
                                            <p:strVal val="#ppt_x"/>
                                          </p:val>
                                        </p:tav>
                                      </p:tavLst>
                                    </p:anim>
                                    <p:anim calcmode="lin" valueType="num">
                                      <p:cBhvr additive="base">
                                        <p:cTn id="10" dur="500" fill="hold"/>
                                        <p:tgtEl>
                                          <p:spTgt spid="5"/>
                                        </p:tgtEl>
                                        <p:attrNameLst>
                                          <p:attrName>ppt_y</p:attrName>
                                        </p:attrNameLst>
                                      </p:cBhvr>
                                      <p:tavLst>
                                        <p:tav tm="0">
                                          <p:val>
                                            <p:strVal val="#ppt_y"/>
                                          </p:val>
                                        </p:tav>
                                        <p:tav tm="100000">
                                          <p:val>
                                            <p:strVal val="#ppt_y"/>
                                          </p:val>
                                        </p:tav>
                                      </p:tavLst>
                                    </p:anim>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childTnLst>
                                </p:cTn>
                              </p:par>
                              <p:par>
                                <p:cTn id="14" presetID="63" presetClass="path" presetSubtype="0" accel="50000" decel="50000" fill="hold" nodeType="withEffect">
                                  <p:stCondLst>
                                    <p:cond delay="0"/>
                                  </p:stCondLst>
                                  <p:childTnLst>
                                    <p:animMotion origin="layout" path="M -0.36146 -0.08333 L 2.22222E-6 -3.7037E-7 " pathEditMode="relative" rAng="0" ptsTypes="AA">
                                      <p:cBhvr>
                                        <p:cTn id="15" dur="2000" fill="hold"/>
                                        <p:tgtEl>
                                          <p:spTgt spid="4"/>
                                        </p:tgtEl>
                                        <p:attrNameLst>
                                          <p:attrName>ppt_x</p:attrName>
                                          <p:attrName>ppt_y</p:attrName>
                                        </p:attrNameLst>
                                      </p:cBhvr>
                                      <p:rCtr x="18073" y="4167"/>
                                    </p:animMotion>
                                  </p:childTnLst>
                                </p:cTn>
                              </p:par>
                            </p:childTnLst>
                          </p:cTn>
                        </p:par>
                        <p:par>
                          <p:cTn id="16" fill="hold">
                            <p:stCondLst>
                              <p:cond delay="0"/>
                            </p:stCondLst>
                            <p:childTnLst>
                              <p:par>
                                <p:cTn id="17" presetID="26"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down)">
                                      <p:cBhvr>
                                        <p:cTn id="19" dur="580">
                                          <p:stCondLst>
                                            <p:cond delay="0"/>
                                          </p:stCondLst>
                                        </p:cTn>
                                        <p:tgtEl>
                                          <p:spTgt spid="30"/>
                                        </p:tgtEl>
                                      </p:cBhvr>
                                    </p:animEffect>
                                    <p:anim calcmode="lin" valueType="num">
                                      <p:cBhvr>
                                        <p:cTn id="20" dur="1822"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30"/>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30"/>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30"/>
                                        </p:tgtEl>
                                        <p:attrNameLst>
                                          <p:attrName>ppt_y</p:attrName>
                                        </p:attrNameLst>
                                      </p:cBhvr>
                                      <p:tavLst>
                                        <p:tav tm="0" fmla="#ppt_y-sin(pi*$)/81">
                                          <p:val>
                                            <p:fltVal val="0"/>
                                          </p:val>
                                        </p:tav>
                                        <p:tav tm="100000">
                                          <p:val>
                                            <p:fltVal val="1"/>
                                          </p:val>
                                        </p:tav>
                                      </p:tavLst>
                                    </p:anim>
                                    <p:animScale>
                                      <p:cBhvr>
                                        <p:cTn id="25" dur="26">
                                          <p:stCondLst>
                                            <p:cond delay="650"/>
                                          </p:stCondLst>
                                        </p:cTn>
                                        <p:tgtEl>
                                          <p:spTgt spid="30"/>
                                        </p:tgtEl>
                                      </p:cBhvr>
                                      <p:to x="100000" y="60000"/>
                                    </p:animScale>
                                    <p:animScale>
                                      <p:cBhvr>
                                        <p:cTn id="26" dur="166" decel="50000">
                                          <p:stCondLst>
                                            <p:cond delay="676"/>
                                          </p:stCondLst>
                                        </p:cTn>
                                        <p:tgtEl>
                                          <p:spTgt spid="30"/>
                                        </p:tgtEl>
                                      </p:cBhvr>
                                      <p:to x="100000" y="100000"/>
                                    </p:animScale>
                                    <p:animScale>
                                      <p:cBhvr>
                                        <p:cTn id="27" dur="26">
                                          <p:stCondLst>
                                            <p:cond delay="1312"/>
                                          </p:stCondLst>
                                        </p:cTn>
                                        <p:tgtEl>
                                          <p:spTgt spid="30"/>
                                        </p:tgtEl>
                                      </p:cBhvr>
                                      <p:to x="100000" y="80000"/>
                                    </p:animScale>
                                    <p:animScale>
                                      <p:cBhvr>
                                        <p:cTn id="28" dur="166" decel="50000">
                                          <p:stCondLst>
                                            <p:cond delay="1338"/>
                                          </p:stCondLst>
                                        </p:cTn>
                                        <p:tgtEl>
                                          <p:spTgt spid="30"/>
                                        </p:tgtEl>
                                      </p:cBhvr>
                                      <p:to x="100000" y="100000"/>
                                    </p:animScale>
                                    <p:animScale>
                                      <p:cBhvr>
                                        <p:cTn id="29" dur="26">
                                          <p:stCondLst>
                                            <p:cond delay="1642"/>
                                          </p:stCondLst>
                                        </p:cTn>
                                        <p:tgtEl>
                                          <p:spTgt spid="30"/>
                                        </p:tgtEl>
                                      </p:cBhvr>
                                      <p:to x="100000" y="90000"/>
                                    </p:animScale>
                                    <p:animScale>
                                      <p:cBhvr>
                                        <p:cTn id="30" dur="166" decel="50000">
                                          <p:stCondLst>
                                            <p:cond delay="1668"/>
                                          </p:stCondLst>
                                        </p:cTn>
                                        <p:tgtEl>
                                          <p:spTgt spid="30"/>
                                        </p:tgtEl>
                                      </p:cBhvr>
                                      <p:to x="100000" y="100000"/>
                                    </p:animScale>
                                    <p:animScale>
                                      <p:cBhvr>
                                        <p:cTn id="31" dur="26">
                                          <p:stCondLst>
                                            <p:cond delay="1808"/>
                                          </p:stCondLst>
                                        </p:cTn>
                                        <p:tgtEl>
                                          <p:spTgt spid="30"/>
                                        </p:tgtEl>
                                      </p:cBhvr>
                                      <p:to x="100000" y="95000"/>
                                    </p:animScale>
                                    <p:animScale>
                                      <p:cBhvr>
                                        <p:cTn id="32" dur="166" decel="50000">
                                          <p:stCondLst>
                                            <p:cond delay="1834"/>
                                          </p:stCondLst>
                                        </p:cTn>
                                        <p:tgtEl>
                                          <p:spTgt spid="30"/>
                                        </p:tgtEl>
                                      </p:cBhvr>
                                      <p:to x="100000" y="100000"/>
                                    </p:animScale>
                                  </p:childTnLst>
                                </p:cTn>
                              </p:par>
                              <p:par>
                                <p:cTn id="33" presetID="53" presetClass="entr" presetSubtype="16"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ppt_w</p:attrName>
                                        </p:attrNameLst>
                                      </p:cBhvr>
                                      <p:tavLst>
                                        <p:tav tm="0">
                                          <p:val>
                                            <p:fltVal val="0"/>
                                          </p:val>
                                        </p:tav>
                                        <p:tav tm="100000">
                                          <p:val>
                                            <p:strVal val="#ppt_w"/>
                                          </p:val>
                                        </p:tav>
                                      </p:tavLst>
                                    </p:anim>
                                    <p:anim calcmode="lin" valueType="num">
                                      <p:cBhvr>
                                        <p:cTn id="36" dur="500" fill="hold"/>
                                        <p:tgtEl>
                                          <p:spTgt spid="8"/>
                                        </p:tgtEl>
                                        <p:attrNameLst>
                                          <p:attrName>ppt_h</p:attrName>
                                        </p:attrNameLst>
                                      </p:cBhvr>
                                      <p:tavLst>
                                        <p:tav tm="0">
                                          <p:val>
                                            <p:fltVal val="0"/>
                                          </p:val>
                                        </p:tav>
                                        <p:tav tm="100000">
                                          <p:val>
                                            <p:strVal val="#ppt_h"/>
                                          </p:val>
                                        </p:tav>
                                      </p:tavLst>
                                    </p:anim>
                                    <p:animEffect transition="in" filter="fade">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38" repeatCount="indefinite" fill="hold" display="0">
                  <p:stCondLst>
                    <p:cond delay="indefinite"/>
                  </p:stCondLst>
                  <p:endCondLst>
                    <p:cond evt="onStopAudio" delay="0">
                      <p:tgtEl>
                        <p:sldTgt/>
                      </p:tgtEl>
                    </p:cond>
                  </p:endCondLst>
                </p:cTn>
                <p:tgtEl>
                  <p:spTgt spid="31"/>
                </p:tgtEl>
              </p:cMediaNode>
            </p:audio>
          </p:childTnLst>
        </p:cTn>
      </p:par>
    </p:tnLst>
    <p:bldLst>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5822302"/>
            <a:ext cx="12192000" cy="1035698"/>
          </a:xfrm>
          <a:prstGeom prst="rect">
            <a:avLst/>
          </a:prstGeom>
          <a:solidFill>
            <a:srgbClr val="404040">
              <a:alpha val="5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矩形 3"/>
          <p:cNvSpPr/>
          <p:nvPr/>
        </p:nvSpPr>
        <p:spPr>
          <a:xfrm>
            <a:off x="0" y="877077"/>
            <a:ext cx="4833257"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7221894" y="877077"/>
            <a:ext cx="4970106"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文本框 5"/>
          <p:cNvSpPr txBox="1"/>
          <p:nvPr/>
        </p:nvSpPr>
        <p:spPr>
          <a:xfrm>
            <a:off x="4702629" y="411787"/>
            <a:ext cx="2537926" cy="1354217"/>
          </a:xfrm>
          <a:prstGeom prst="rect">
            <a:avLst/>
          </a:prstGeom>
          <a:noFill/>
        </p:spPr>
        <p:txBody>
          <a:bodyPr wrap="square" rtlCol="0">
            <a:spAutoFit/>
          </a:bodyPr>
          <a:lstStyle/>
          <a:p>
            <a:pPr algn="ctr"/>
            <a:r>
              <a:rPr lang="zh-CN" altLang="en-US" sz="5400" b="1" dirty="0">
                <a:cs typeface="+mn-ea"/>
                <a:sym typeface="+mn-lt"/>
              </a:rPr>
              <a:t>目录</a:t>
            </a:r>
            <a:endParaRPr lang="en-US" altLang="zh-CN" sz="5400" b="1" dirty="0">
              <a:cs typeface="+mn-ea"/>
              <a:sym typeface="+mn-lt"/>
            </a:endParaRPr>
          </a:p>
          <a:p>
            <a:pPr algn="ctr"/>
            <a:r>
              <a:rPr lang="en-US" altLang="zh-CN" sz="2800" dirty="0">
                <a:solidFill>
                  <a:srgbClr val="404040"/>
                </a:solidFill>
                <a:cs typeface="+mn-ea"/>
                <a:sym typeface="+mn-lt"/>
              </a:rPr>
              <a:t>Contents</a:t>
            </a:r>
            <a:endParaRPr lang="zh-CN" altLang="en-US" sz="2800" dirty="0">
              <a:solidFill>
                <a:srgbClr val="404040"/>
              </a:solidFill>
              <a:cs typeface="+mn-ea"/>
              <a:sym typeface="+mn-lt"/>
            </a:endParaRPr>
          </a:p>
        </p:txBody>
      </p:sp>
      <p:sp>
        <p:nvSpPr>
          <p:cNvPr id="7" name="矩形 6"/>
          <p:cNvSpPr/>
          <p:nvPr/>
        </p:nvSpPr>
        <p:spPr>
          <a:xfrm>
            <a:off x="0" y="6373144"/>
            <a:ext cx="12192000"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2685415" y="2011045"/>
            <a:ext cx="3099435" cy="460375"/>
          </a:xfrm>
          <a:prstGeom prst="rect">
            <a:avLst/>
          </a:prstGeom>
          <a:noFill/>
        </p:spPr>
        <p:txBody>
          <a:bodyPr wrap="square" rtlCol="0">
            <a:spAutoFit/>
          </a:bodyPr>
          <a:lstStyle/>
          <a:p>
            <a:pPr algn="l"/>
            <a:r>
              <a:rPr lang="zh-CN" altLang="en-US" sz="2400" dirty="0">
                <a:solidFill>
                  <a:schemeClr val="bg2">
                    <a:lumMod val="50000"/>
                  </a:schemeClr>
                </a:solidFill>
                <a:latin typeface="微软雅黑" panose="020B0503020204020204" charset="-122"/>
                <a:ea typeface="微软雅黑" panose="020B0503020204020204" charset="-122"/>
                <a:cs typeface="微软雅黑" panose="020B0503020204020204" charset="-122"/>
                <a:sym typeface="+mn-ea"/>
              </a:rPr>
              <a:t>主要指标完成情况</a:t>
            </a:r>
            <a:endParaRPr lang="en-US" altLang="zh-CN" sz="2400" dirty="0">
              <a:solidFill>
                <a:schemeClr val="bg2">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16" name="文本框 15"/>
          <p:cNvSpPr txBox="1"/>
          <p:nvPr/>
        </p:nvSpPr>
        <p:spPr>
          <a:xfrm>
            <a:off x="7558405" y="2011045"/>
            <a:ext cx="3072130" cy="460375"/>
          </a:xfrm>
          <a:prstGeom prst="rect">
            <a:avLst/>
          </a:prstGeom>
          <a:noFill/>
        </p:spPr>
        <p:txBody>
          <a:bodyPr wrap="square" rtlCol="0">
            <a:spAutoFit/>
          </a:bodyPr>
          <a:lstStyle/>
          <a:p>
            <a:pPr algn="l"/>
            <a:r>
              <a:rPr lang="zh-CN" altLang="en-US" sz="2400" dirty="0">
                <a:solidFill>
                  <a:schemeClr val="bg2">
                    <a:lumMod val="50000"/>
                  </a:schemeClr>
                </a:solidFill>
                <a:latin typeface="微软雅黑" panose="020B0503020204020204" charset="-122"/>
                <a:ea typeface="微软雅黑" panose="020B0503020204020204" charset="-122"/>
                <a:cs typeface="微软雅黑" panose="020B0503020204020204" charset="-122"/>
                <a:sym typeface="+mn-ea"/>
              </a:rPr>
              <a:t>收入完成状况分析</a:t>
            </a:r>
          </a:p>
        </p:txBody>
      </p:sp>
      <p:sp>
        <p:nvSpPr>
          <p:cNvPr id="21" name="文本框 20"/>
          <p:cNvSpPr txBox="1"/>
          <p:nvPr/>
        </p:nvSpPr>
        <p:spPr>
          <a:xfrm>
            <a:off x="2686050" y="3322320"/>
            <a:ext cx="3098800" cy="460375"/>
          </a:xfrm>
          <a:prstGeom prst="rect">
            <a:avLst/>
          </a:prstGeom>
          <a:noFill/>
        </p:spPr>
        <p:txBody>
          <a:bodyPr wrap="square" rtlCol="0">
            <a:spAutoFit/>
          </a:bodyPr>
          <a:lstStyle/>
          <a:p>
            <a:pPr algn="l"/>
            <a:r>
              <a:rPr lang="zh-CN" altLang="en-US" sz="2400" dirty="0">
                <a:solidFill>
                  <a:schemeClr val="bg2">
                    <a:lumMod val="50000"/>
                  </a:schemeClr>
                </a:solidFill>
                <a:latin typeface="微软雅黑" panose="020B0503020204020204" charset="-122"/>
                <a:ea typeface="微软雅黑" panose="020B0503020204020204" charset="-122"/>
                <a:cs typeface="微软雅黑" panose="020B0503020204020204" charset="-122"/>
                <a:sym typeface="+mn-ea"/>
              </a:rPr>
              <a:t>成本费用完成情况</a:t>
            </a:r>
          </a:p>
        </p:txBody>
      </p:sp>
      <p:sp>
        <p:nvSpPr>
          <p:cNvPr id="26" name="文本框 25"/>
          <p:cNvSpPr txBox="1"/>
          <p:nvPr/>
        </p:nvSpPr>
        <p:spPr>
          <a:xfrm>
            <a:off x="7706360" y="3322320"/>
            <a:ext cx="2776855" cy="460375"/>
          </a:xfrm>
          <a:prstGeom prst="rect">
            <a:avLst/>
          </a:prstGeom>
          <a:noFill/>
        </p:spPr>
        <p:txBody>
          <a:bodyPr wrap="square" rtlCol="0">
            <a:spAutoFit/>
          </a:bodyPr>
          <a:lstStyle/>
          <a:p>
            <a:pPr algn="l"/>
            <a:r>
              <a:rPr lang="zh-CN" altLang="en-US" sz="2400" dirty="0">
                <a:solidFill>
                  <a:schemeClr val="bg2">
                    <a:lumMod val="50000"/>
                  </a:schemeClr>
                </a:solidFill>
                <a:latin typeface="微软雅黑" panose="020B0503020204020204" charset="-122"/>
                <a:ea typeface="微软雅黑" panose="020B0503020204020204" charset="-122"/>
                <a:cs typeface="微软雅黑" panose="020B0503020204020204" charset="-122"/>
                <a:sym typeface="+mn-ea"/>
              </a:rPr>
              <a:t>财务专题分析</a:t>
            </a:r>
          </a:p>
        </p:txBody>
      </p:sp>
      <p:sp>
        <p:nvSpPr>
          <p:cNvPr id="29" name="椭圆 28"/>
          <p:cNvSpPr/>
          <p:nvPr/>
        </p:nvSpPr>
        <p:spPr>
          <a:xfrm>
            <a:off x="1718945" y="1791335"/>
            <a:ext cx="899795" cy="899795"/>
          </a:xfrm>
          <a:prstGeom prst="ellipse">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cs typeface="+mn-ea"/>
                <a:sym typeface="+mn-lt"/>
              </a:rPr>
              <a:t>01</a:t>
            </a:r>
            <a:endParaRPr lang="zh-CN" altLang="en-US" sz="2800" dirty="0">
              <a:cs typeface="+mn-ea"/>
              <a:sym typeface="+mn-lt"/>
            </a:endParaRPr>
          </a:p>
        </p:txBody>
      </p:sp>
      <p:sp>
        <p:nvSpPr>
          <p:cNvPr id="50" name="椭圆 49"/>
          <p:cNvSpPr/>
          <p:nvPr/>
        </p:nvSpPr>
        <p:spPr>
          <a:xfrm>
            <a:off x="1718945" y="3182620"/>
            <a:ext cx="899795" cy="899795"/>
          </a:xfrm>
          <a:prstGeom prst="ellipse">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cs typeface="+mn-ea"/>
                <a:sym typeface="+mn-lt"/>
              </a:rPr>
              <a:t>03</a:t>
            </a:r>
            <a:endParaRPr lang="zh-CN" altLang="en-US" sz="2800" dirty="0">
              <a:cs typeface="+mn-ea"/>
              <a:sym typeface="+mn-lt"/>
            </a:endParaRPr>
          </a:p>
        </p:txBody>
      </p:sp>
      <p:sp>
        <p:nvSpPr>
          <p:cNvPr id="51" name="椭圆 50"/>
          <p:cNvSpPr/>
          <p:nvPr/>
        </p:nvSpPr>
        <p:spPr>
          <a:xfrm>
            <a:off x="6480810" y="1791335"/>
            <a:ext cx="899795" cy="899795"/>
          </a:xfrm>
          <a:prstGeom prst="ellipse">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cs typeface="+mn-ea"/>
                <a:sym typeface="+mn-lt"/>
              </a:rPr>
              <a:t>02</a:t>
            </a:r>
            <a:endParaRPr lang="zh-CN" altLang="en-US" sz="2800" dirty="0">
              <a:cs typeface="+mn-ea"/>
              <a:sym typeface="+mn-lt"/>
            </a:endParaRPr>
          </a:p>
        </p:txBody>
      </p:sp>
      <p:sp>
        <p:nvSpPr>
          <p:cNvPr id="52" name="椭圆 51"/>
          <p:cNvSpPr/>
          <p:nvPr/>
        </p:nvSpPr>
        <p:spPr>
          <a:xfrm>
            <a:off x="6480810" y="3181350"/>
            <a:ext cx="899795" cy="899795"/>
          </a:xfrm>
          <a:prstGeom prst="ellipse">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cs typeface="+mn-ea"/>
                <a:sym typeface="+mn-lt"/>
              </a:rPr>
              <a:t>04</a:t>
            </a:r>
            <a:endParaRPr lang="zh-CN" altLang="en-US" sz="2800" dirty="0">
              <a:cs typeface="+mn-ea"/>
              <a:sym typeface="+mn-lt"/>
            </a:endParaRPr>
          </a:p>
        </p:txBody>
      </p:sp>
      <p:sp>
        <p:nvSpPr>
          <p:cNvPr id="2" name="文本框 1"/>
          <p:cNvSpPr txBox="1"/>
          <p:nvPr/>
        </p:nvSpPr>
        <p:spPr>
          <a:xfrm>
            <a:off x="2686685" y="4749165"/>
            <a:ext cx="3098800" cy="460375"/>
          </a:xfrm>
          <a:prstGeom prst="rect">
            <a:avLst/>
          </a:prstGeom>
          <a:noFill/>
        </p:spPr>
        <p:txBody>
          <a:bodyPr wrap="square" rtlCol="0">
            <a:spAutoFit/>
          </a:bodyPr>
          <a:lstStyle/>
          <a:p>
            <a:pPr fontAlgn="auto">
              <a:spcBef>
                <a:spcPts val="0"/>
              </a:spcBef>
              <a:spcAft>
                <a:spcPts val="0"/>
              </a:spcAft>
              <a:defRPr/>
            </a:pPr>
            <a:r>
              <a:rPr lang="zh-CN" altLang="en-US" sz="2400" dirty="0">
                <a:solidFill>
                  <a:schemeClr val="bg2">
                    <a:lumMod val="50000"/>
                  </a:schemeClr>
                </a:solidFill>
                <a:latin typeface="微软雅黑" panose="020B0503020204020204" charset="-122"/>
                <a:ea typeface="微软雅黑" panose="020B0503020204020204" charset="-122"/>
                <a:sym typeface="+mn-ea"/>
              </a:rPr>
              <a:t>年度财务预算分析</a:t>
            </a:r>
            <a:endParaRPr lang="zh-CN" altLang="en-US" sz="2400" dirty="0">
              <a:solidFill>
                <a:schemeClr val="bg2">
                  <a:lumMod val="5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 name="椭圆 2"/>
          <p:cNvSpPr/>
          <p:nvPr/>
        </p:nvSpPr>
        <p:spPr>
          <a:xfrm>
            <a:off x="1718945" y="4495800"/>
            <a:ext cx="899795" cy="899795"/>
          </a:xfrm>
          <a:prstGeom prst="ellipse">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cs typeface="+mn-ea"/>
                <a:sym typeface="+mn-lt"/>
              </a:rPr>
              <a:t>05</a:t>
            </a:r>
            <a:endParaRPr lang="zh-CN" altLang="en-US" sz="2800"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anim calcmode="lin" valueType="num">
                                      <p:cBhvr>
                                        <p:cTn id="17" dur="1000" fill="hold"/>
                                        <p:tgtEl>
                                          <p:spTgt spid="6"/>
                                        </p:tgtEl>
                                        <p:attrNameLst>
                                          <p:attrName>ppt_x</p:attrName>
                                        </p:attrNameLst>
                                      </p:cBhvr>
                                      <p:tavLst>
                                        <p:tav tm="0">
                                          <p:val>
                                            <p:strVal val="#ppt_x"/>
                                          </p:val>
                                        </p:tav>
                                        <p:tav tm="100000">
                                          <p:val>
                                            <p:strVal val="#ppt_x"/>
                                          </p:val>
                                        </p:tav>
                                      </p:tavLst>
                                    </p:anim>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par>
                          <p:cTn id="19" fill="hold">
                            <p:stCondLst>
                              <p:cond delay="1500"/>
                            </p:stCondLst>
                            <p:childTnLst>
                              <p:par>
                                <p:cTn id="20" presetID="53" presetClass="entr" presetSubtype="16" fill="hold" grpId="0" nodeType="afterEffect">
                                  <p:stCondLst>
                                    <p:cond delay="0"/>
                                  </p:stCondLst>
                                  <p:childTnLst>
                                    <p:set>
                                      <p:cBhvr>
                                        <p:cTn id="21" dur="1" fill="hold">
                                          <p:stCondLst>
                                            <p:cond delay="0"/>
                                          </p:stCondLst>
                                        </p:cTn>
                                        <p:tgtEl>
                                          <p:spTgt spid="29"/>
                                        </p:tgtEl>
                                        <p:attrNameLst>
                                          <p:attrName>style.visibility</p:attrName>
                                        </p:attrNameLst>
                                      </p:cBhvr>
                                      <p:to>
                                        <p:strVal val="visible"/>
                                      </p:to>
                                    </p:set>
                                    <p:anim calcmode="lin" valueType="num">
                                      <p:cBhvr>
                                        <p:cTn id="22" dur="500" fill="hold"/>
                                        <p:tgtEl>
                                          <p:spTgt spid="29"/>
                                        </p:tgtEl>
                                        <p:attrNameLst>
                                          <p:attrName>ppt_w</p:attrName>
                                        </p:attrNameLst>
                                      </p:cBhvr>
                                      <p:tavLst>
                                        <p:tav tm="0">
                                          <p:val>
                                            <p:fltVal val="0"/>
                                          </p:val>
                                        </p:tav>
                                        <p:tav tm="100000">
                                          <p:val>
                                            <p:strVal val="#ppt_w"/>
                                          </p:val>
                                        </p:tav>
                                      </p:tavLst>
                                    </p:anim>
                                    <p:anim calcmode="lin" valueType="num">
                                      <p:cBhvr>
                                        <p:cTn id="23" dur="500" fill="hold"/>
                                        <p:tgtEl>
                                          <p:spTgt spid="29"/>
                                        </p:tgtEl>
                                        <p:attrNameLst>
                                          <p:attrName>ppt_h</p:attrName>
                                        </p:attrNameLst>
                                      </p:cBhvr>
                                      <p:tavLst>
                                        <p:tav tm="0">
                                          <p:val>
                                            <p:fltVal val="0"/>
                                          </p:val>
                                        </p:tav>
                                        <p:tav tm="100000">
                                          <p:val>
                                            <p:strVal val="#ppt_h"/>
                                          </p:val>
                                        </p:tav>
                                      </p:tavLst>
                                    </p:anim>
                                    <p:animEffect transition="in" filter="fade">
                                      <p:cBhvr>
                                        <p:cTn id="24" dur="500"/>
                                        <p:tgtEl>
                                          <p:spTgt spid="29"/>
                                        </p:tgtEl>
                                      </p:cBhvr>
                                    </p:animEffect>
                                  </p:childTnLst>
                                </p:cTn>
                              </p:par>
                            </p:childTnLst>
                          </p:cTn>
                        </p:par>
                        <p:par>
                          <p:cTn id="25" fill="hold">
                            <p:stCondLst>
                              <p:cond delay="2000"/>
                            </p:stCondLst>
                            <p:childTnLst>
                              <p:par>
                                <p:cTn id="26" presetID="42"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par>
                          <p:cTn id="31" fill="hold">
                            <p:stCondLst>
                              <p:cond delay="3000"/>
                            </p:stCondLst>
                            <p:childTnLst>
                              <p:par>
                                <p:cTn id="32" presetID="53" presetClass="entr" presetSubtype="16" fill="hold" grpId="0" nodeType="afterEffect">
                                  <p:stCondLst>
                                    <p:cond delay="0"/>
                                  </p:stCondLst>
                                  <p:childTnLst>
                                    <p:set>
                                      <p:cBhvr>
                                        <p:cTn id="33" dur="1" fill="hold">
                                          <p:stCondLst>
                                            <p:cond delay="0"/>
                                          </p:stCondLst>
                                        </p:cTn>
                                        <p:tgtEl>
                                          <p:spTgt spid="51"/>
                                        </p:tgtEl>
                                        <p:attrNameLst>
                                          <p:attrName>style.visibility</p:attrName>
                                        </p:attrNameLst>
                                      </p:cBhvr>
                                      <p:to>
                                        <p:strVal val="visible"/>
                                      </p:to>
                                    </p:set>
                                    <p:anim calcmode="lin" valueType="num">
                                      <p:cBhvr>
                                        <p:cTn id="34" dur="500" fill="hold"/>
                                        <p:tgtEl>
                                          <p:spTgt spid="51"/>
                                        </p:tgtEl>
                                        <p:attrNameLst>
                                          <p:attrName>ppt_w</p:attrName>
                                        </p:attrNameLst>
                                      </p:cBhvr>
                                      <p:tavLst>
                                        <p:tav tm="0">
                                          <p:val>
                                            <p:fltVal val="0"/>
                                          </p:val>
                                        </p:tav>
                                        <p:tav tm="100000">
                                          <p:val>
                                            <p:strVal val="#ppt_w"/>
                                          </p:val>
                                        </p:tav>
                                      </p:tavLst>
                                    </p:anim>
                                    <p:anim calcmode="lin" valueType="num">
                                      <p:cBhvr>
                                        <p:cTn id="35" dur="500" fill="hold"/>
                                        <p:tgtEl>
                                          <p:spTgt spid="51"/>
                                        </p:tgtEl>
                                        <p:attrNameLst>
                                          <p:attrName>ppt_h</p:attrName>
                                        </p:attrNameLst>
                                      </p:cBhvr>
                                      <p:tavLst>
                                        <p:tav tm="0">
                                          <p:val>
                                            <p:fltVal val="0"/>
                                          </p:val>
                                        </p:tav>
                                        <p:tav tm="100000">
                                          <p:val>
                                            <p:strVal val="#ppt_h"/>
                                          </p:val>
                                        </p:tav>
                                      </p:tavLst>
                                    </p:anim>
                                    <p:animEffect transition="in" filter="fade">
                                      <p:cBhvr>
                                        <p:cTn id="36" dur="500"/>
                                        <p:tgtEl>
                                          <p:spTgt spid="51"/>
                                        </p:tgtEl>
                                      </p:cBhvr>
                                    </p:animEffect>
                                  </p:childTnLst>
                                </p:cTn>
                              </p:par>
                            </p:childTnLst>
                          </p:cTn>
                        </p:par>
                        <p:par>
                          <p:cTn id="37" fill="hold">
                            <p:stCondLst>
                              <p:cond delay="3500"/>
                            </p:stCondLst>
                            <p:childTnLst>
                              <p:par>
                                <p:cTn id="38" presetID="42" presetClass="entr" presetSubtype="0" fill="hold" grpId="0" nodeType="after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1000"/>
                                        <p:tgtEl>
                                          <p:spTgt spid="16"/>
                                        </p:tgtEl>
                                      </p:cBhvr>
                                    </p:animEffect>
                                    <p:anim calcmode="lin" valueType="num">
                                      <p:cBhvr>
                                        <p:cTn id="41" dur="1000" fill="hold"/>
                                        <p:tgtEl>
                                          <p:spTgt spid="16"/>
                                        </p:tgtEl>
                                        <p:attrNameLst>
                                          <p:attrName>ppt_x</p:attrName>
                                        </p:attrNameLst>
                                      </p:cBhvr>
                                      <p:tavLst>
                                        <p:tav tm="0">
                                          <p:val>
                                            <p:strVal val="#ppt_x"/>
                                          </p:val>
                                        </p:tav>
                                        <p:tav tm="100000">
                                          <p:val>
                                            <p:strVal val="#ppt_x"/>
                                          </p:val>
                                        </p:tav>
                                      </p:tavLst>
                                    </p:anim>
                                    <p:anim calcmode="lin" valueType="num">
                                      <p:cBhvr>
                                        <p:cTn id="42" dur="1000" fill="hold"/>
                                        <p:tgtEl>
                                          <p:spTgt spid="16"/>
                                        </p:tgtEl>
                                        <p:attrNameLst>
                                          <p:attrName>ppt_y</p:attrName>
                                        </p:attrNameLst>
                                      </p:cBhvr>
                                      <p:tavLst>
                                        <p:tav tm="0">
                                          <p:val>
                                            <p:strVal val="#ppt_y+.1"/>
                                          </p:val>
                                        </p:tav>
                                        <p:tav tm="100000">
                                          <p:val>
                                            <p:strVal val="#ppt_y"/>
                                          </p:val>
                                        </p:tav>
                                      </p:tavLst>
                                    </p:anim>
                                  </p:childTnLst>
                                </p:cTn>
                              </p:par>
                            </p:childTnLst>
                          </p:cTn>
                        </p:par>
                        <p:par>
                          <p:cTn id="43" fill="hold">
                            <p:stCondLst>
                              <p:cond delay="4500"/>
                            </p:stCondLst>
                            <p:childTnLst>
                              <p:par>
                                <p:cTn id="44" presetID="53" presetClass="entr" presetSubtype="16" fill="hold" grpId="0" nodeType="afterEffect">
                                  <p:stCondLst>
                                    <p:cond delay="0"/>
                                  </p:stCondLst>
                                  <p:childTnLst>
                                    <p:set>
                                      <p:cBhvr>
                                        <p:cTn id="45" dur="1" fill="hold">
                                          <p:stCondLst>
                                            <p:cond delay="0"/>
                                          </p:stCondLst>
                                        </p:cTn>
                                        <p:tgtEl>
                                          <p:spTgt spid="50"/>
                                        </p:tgtEl>
                                        <p:attrNameLst>
                                          <p:attrName>style.visibility</p:attrName>
                                        </p:attrNameLst>
                                      </p:cBhvr>
                                      <p:to>
                                        <p:strVal val="visible"/>
                                      </p:to>
                                    </p:set>
                                    <p:anim calcmode="lin" valueType="num">
                                      <p:cBhvr>
                                        <p:cTn id="46" dur="500" fill="hold"/>
                                        <p:tgtEl>
                                          <p:spTgt spid="50"/>
                                        </p:tgtEl>
                                        <p:attrNameLst>
                                          <p:attrName>ppt_w</p:attrName>
                                        </p:attrNameLst>
                                      </p:cBhvr>
                                      <p:tavLst>
                                        <p:tav tm="0">
                                          <p:val>
                                            <p:fltVal val="0"/>
                                          </p:val>
                                        </p:tav>
                                        <p:tav tm="100000">
                                          <p:val>
                                            <p:strVal val="#ppt_w"/>
                                          </p:val>
                                        </p:tav>
                                      </p:tavLst>
                                    </p:anim>
                                    <p:anim calcmode="lin" valueType="num">
                                      <p:cBhvr>
                                        <p:cTn id="47" dur="500" fill="hold"/>
                                        <p:tgtEl>
                                          <p:spTgt spid="50"/>
                                        </p:tgtEl>
                                        <p:attrNameLst>
                                          <p:attrName>ppt_h</p:attrName>
                                        </p:attrNameLst>
                                      </p:cBhvr>
                                      <p:tavLst>
                                        <p:tav tm="0">
                                          <p:val>
                                            <p:fltVal val="0"/>
                                          </p:val>
                                        </p:tav>
                                        <p:tav tm="100000">
                                          <p:val>
                                            <p:strVal val="#ppt_h"/>
                                          </p:val>
                                        </p:tav>
                                      </p:tavLst>
                                    </p:anim>
                                    <p:animEffect transition="in" filter="fade">
                                      <p:cBhvr>
                                        <p:cTn id="48" dur="500"/>
                                        <p:tgtEl>
                                          <p:spTgt spid="50"/>
                                        </p:tgtEl>
                                      </p:cBhvr>
                                    </p:animEffect>
                                  </p:childTnLst>
                                </p:cTn>
                              </p:par>
                            </p:childTnLst>
                          </p:cTn>
                        </p:par>
                        <p:par>
                          <p:cTn id="49" fill="hold">
                            <p:stCondLst>
                              <p:cond delay="5000"/>
                            </p:stCondLst>
                            <p:childTnLst>
                              <p:par>
                                <p:cTn id="50" presetID="42" presetClass="entr" presetSubtype="0" fill="hold" grpId="0" nodeType="after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1000"/>
                                        <p:tgtEl>
                                          <p:spTgt spid="21"/>
                                        </p:tgtEl>
                                      </p:cBhvr>
                                    </p:animEffect>
                                    <p:anim calcmode="lin" valueType="num">
                                      <p:cBhvr>
                                        <p:cTn id="53" dur="1000" fill="hold"/>
                                        <p:tgtEl>
                                          <p:spTgt spid="21"/>
                                        </p:tgtEl>
                                        <p:attrNameLst>
                                          <p:attrName>ppt_x</p:attrName>
                                        </p:attrNameLst>
                                      </p:cBhvr>
                                      <p:tavLst>
                                        <p:tav tm="0">
                                          <p:val>
                                            <p:strVal val="#ppt_x"/>
                                          </p:val>
                                        </p:tav>
                                        <p:tav tm="100000">
                                          <p:val>
                                            <p:strVal val="#ppt_x"/>
                                          </p:val>
                                        </p:tav>
                                      </p:tavLst>
                                    </p:anim>
                                    <p:anim calcmode="lin" valueType="num">
                                      <p:cBhvr>
                                        <p:cTn id="54" dur="1000" fill="hold"/>
                                        <p:tgtEl>
                                          <p:spTgt spid="21"/>
                                        </p:tgtEl>
                                        <p:attrNameLst>
                                          <p:attrName>ppt_y</p:attrName>
                                        </p:attrNameLst>
                                      </p:cBhvr>
                                      <p:tavLst>
                                        <p:tav tm="0">
                                          <p:val>
                                            <p:strVal val="#ppt_y+.1"/>
                                          </p:val>
                                        </p:tav>
                                        <p:tav tm="100000">
                                          <p:val>
                                            <p:strVal val="#ppt_y"/>
                                          </p:val>
                                        </p:tav>
                                      </p:tavLst>
                                    </p:anim>
                                  </p:childTnLst>
                                </p:cTn>
                              </p:par>
                            </p:childTnLst>
                          </p:cTn>
                        </p:par>
                        <p:par>
                          <p:cTn id="55" fill="hold">
                            <p:stCondLst>
                              <p:cond delay="6000"/>
                            </p:stCondLst>
                            <p:childTnLst>
                              <p:par>
                                <p:cTn id="56" presetID="53" presetClass="entr" presetSubtype="16" fill="hold" grpId="0" nodeType="afterEffect">
                                  <p:stCondLst>
                                    <p:cond delay="0"/>
                                  </p:stCondLst>
                                  <p:childTnLst>
                                    <p:set>
                                      <p:cBhvr>
                                        <p:cTn id="57" dur="1" fill="hold">
                                          <p:stCondLst>
                                            <p:cond delay="0"/>
                                          </p:stCondLst>
                                        </p:cTn>
                                        <p:tgtEl>
                                          <p:spTgt spid="52"/>
                                        </p:tgtEl>
                                        <p:attrNameLst>
                                          <p:attrName>style.visibility</p:attrName>
                                        </p:attrNameLst>
                                      </p:cBhvr>
                                      <p:to>
                                        <p:strVal val="visible"/>
                                      </p:to>
                                    </p:set>
                                    <p:anim calcmode="lin" valueType="num">
                                      <p:cBhvr>
                                        <p:cTn id="58" dur="500" fill="hold"/>
                                        <p:tgtEl>
                                          <p:spTgt spid="52"/>
                                        </p:tgtEl>
                                        <p:attrNameLst>
                                          <p:attrName>ppt_w</p:attrName>
                                        </p:attrNameLst>
                                      </p:cBhvr>
                                      <p:tavLst>
                                        <p:tav tm="0">
                                          <p:val>
                                            <p:fltVal val="0"/>
                                          </p:val>
                                        </p:tav>
                                        <p:tav tm="100000">
                                          <p:val>
                                            <p:strVal val="#ppt_w"/>
                                          </p:val>
                                        </p:tav>
                                      </p:tavLst>
                                    </p:anim>
                                    <p:anim calcmode="lin" valueType="num">
                                      <p:cBhvr>
                                        <p:cTn id="59" dur="500" fill="hold"/>
                                        <p:tgtEl>
                                          <p:spTgt spid="52"/>
                                        </p:tgtEl>
                                        <p:attrNameLst>
                                          <p:attrName>ppt_h</p:attrName>
                                        </p:attrNameLst>
                                      </p:cBhvr>
                                      <p:tavLst>
                                        <p:tav tm="0">
                                          <p:val>
                                            <p:fltVal val="0"/>
                                          </p:val>
                                        </p:tav>
                                        <p:tav tm="100000">
                                          <p:val>
                                            <p:strVal val="#ppt_h"/>
                                          </p:val>
                                        </p:tav>
                                      </p:tavLst>
                                    </p:anim>
                                    <p:animEffect transition="in" filter="fade">
                                      <p:cBhvr>
                                        <p:cTn id="60" dur="500"/>
                                        <p:tgtEl>
                                          <p:spTgt spid="52"/>
                                        </p:tgtEl>
                                      </p:cBhvr>
                                    </p:animEffect>
                                  </p:childTnLst>
                                </p:cTn>
                              </p:par>
                            </p:childTnLst>
                          </p:cTn>
                        </p:par>
                        <p:par>
                          <p:cTn id="61" fill="hold">
                            <p:stCondLst>
                              <p:cond delay="6500"/>
                            </p:stCondLst>
                            <p:childTnLst>
                              <p:par>
                                <p:cTn id="62" presetID="42" presetClass="entr" presetSubtype="0" fill="hold" grpId="0"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1000"/>
                                        <p:tgtEl>
                                          <p:spTgt spid="26"/>
                                        </p:tgtEl>
                                      </p:cBhvr>
                                    </p:animEffect>
                                    <p:anim calcmode="lin" valueType="num">
                                      <p:cBhvr>
                                        <p:cTn id="65" dur="1000" fill="hold"/>
                                        <p:tgtEl>
                                          <p:spTgt spid="26"/>
                                        </p:tgtEl>
                                        <p:attrNameLst>
                                          <p:attrName>ppt_x</p:attrName>
                                        </p:attrNameLst>
                                      </p:cBhvr>
                                      <p:tavLst>
                                        <p:tav tm="0">
                                          <p:val>
                                            <p:strVal val="#ppt_x"/>
                                          </p:val>
                                        </p:tav>
                                        <p:tav tm="100000">
                                          <p:val>
                                            <p:strVal val="#ppt_x"/>
                                          </p:val>
                                        </p:tav>
                                      </p:tavLst>
                                    </p:anim>
                                    <p:anim calcmode="lin" valueType="num">
                                      <p:cBhvr>
                                        <p:cTn id="66" dur="1000" fill="hold"/>
                                        <p:tgtEl>
                                          <p:spTgt spid="26"/>
                                        </p:tgtEl>
                                        <p:attrNameLst>
                                          <p:attrName>ppt_y</p:attrName>
                                        </p:attrNameLst>
                                      </p:cBhvr>
                                      <p:tavLst>
                                        <p:tav tm="0">
                                          <p:val>
                                            <p:strVal val="#ppt_y+.1"/>
                                          </p:val>
                                        </p:tav>
                                        <p:tav tm="100000">
                                          <p:val>
                                            <p:strVal val="#ppt_y"/>
                                          </p:val>
                                        </p:tav>
                                      </p:tavLst>
                                    </p:anim>
                                  </p:childTnLst>
                                </p:cTn>
                              </p:par>
                            </p:childTnLst>
                          </p:cTn>
                        </p:par>
                        <p:par>
                          <p:cTn id="67" fill="hold">
                            <p:stCondLst>
                              <p:cond delay="7500"/>
                            </p:stCondLst>
                            <p:childTnLst>
                              <p:par>
                                <p:cTn id="68" presetID="2" presetClass="entr" presetSubtype="8" fill="hold" grpId="0" nodeType="afterEffect">
                                  <p:stCondLst>
                                    <p:cond delay="0"/>
                                  </p:stCondLst>
                                  <p:childTnLst>
                                    <p:set>
                                      <p:cBhvr>
                                        <p:cTn id="69" dur="1" fill="hold">
                                          <p:stCondLst>
                                            <p:cond delay="0"/>
                                          </p:stCondLst>
                                        </p:cTn>
                                        <p:tgtEl>
                                          <p:spTgt spid="7"/>
                                        </p:tgtEl>
                                        <p:attrNameLst>
                                          <p:attrName>style.visibility</p:attrName>
                                        </p:attrNameLst>
                                      </p:cBhvr>
                                      <p:to>
                                        <p:strVal val="visible"/>
                                      </p:to>
                                    </p:set>
                                    <p:anim calcmode="lin" valueType="num">
                                      <p:cBhvr additive="base">
                                        <p:cTn id="70" dur="500" fill="hold"/>
                                        <p:tgtEl>
                                          <p:spTgt spid="7"/>
                                        </p:tgtEl>
                                        <p:attrNameLst>
                                          <p:attrName>ppt_x</p:attrName>
                                        </p:attrNameLst>
                                      </p:cBhvr>
                                      <p:tavLst>
                                        <p:tav tm="0">
                                          <p:val>
                                            <p:strVal val="0-#ppt_w/2"/>
                                          </p:val>
                                        </p:tav>
                                        <p:tav tm="100000">
                                          <p:val>
                                            <p:strVal val="#ppt_x"/>
                                          </p:val>
                                        </p:tav>
                                      </p:tavLst>
                                    </p:anim>
                                    <p:anim calcmode="lin" valueType="num">
                                      <p:cBhvr additive="base">
                                        <p:cTn id="71" dur="500" fill="hold"/>
                                        <p:tgtEl>
                                          <p:spTgt spid="7"/>
                                        </p:tgtEl>
                                        <p:attrNameLst>
                                          <p:attrName>ppt_y</p:attrName>
                                        </p:attrNameLst>
                                      </p:cBhvr>
                                      <p:tavLst>
                                        <p:tav tm="0">
                                          <p:val>
                                            <p:strVal val="#ppt_y"/>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8"/>
                                        </p:tgtEl>
                                        <p:attrNameLst>
                                          <p:attrName>style.visibility</p:attrName>
                                        </p:attrNameLst>
                                      </p:cBhvr>
                                      <p:to>
                                        <p:strVal val="visible"/>
                                      </p:to>
                                    </p:set>
                                    <p:anim calcmode="lin" valueType="num">
                                      <p:cBhvr additive="base">
                                        <p:cTn id="74" dur="500" fill="hold"/>
                                        <p:tgtEl>
                                          <p:spTgt spid="8"/>
                                        </p:tgtEl>
                                        <p:attrNameLst>
                                          <p:attrName>ppt_x</p:attrName>
                                        </p:attrNameLst>
                                      </p:cBhvr>
                                      <p:tavLst>
                                        <p:tav tm="0">
                                          <p:val>
                                            <p:strVal val="#ppt_x"/>
                                          </p:val>
                                        </p:tav>
                                        <p:tav tm="100000">
                                          <p:val>
                                            <p:strVal val="#ppt_x"/>
                                          </p:val>
                                        </p:tav>
                                      </p:tavLst>
                                    </p:anim>
                                    <p:anim calcmode="lin" valueType="num">
                                      <p:cBhvr additive="base">
                                        <p:cTn id="75" dur="500" fill="hold"/>
                                        <p:tgtEl>
                                          <p:spTgt spid="8"/>
                                        </p:tgtEl>
                                        <p:attrNameLst>
                                          <p:attrName>ppt_y</p:attrName>
                                        </p:attrNameLst>
                                      </p:cBhvr>
                                      <p:tavLst>
                                        <p:tav tm="0">
                                          <p:val>
                                            <p:strVal val="1+#ppt_h/2"/>
                                          </p:val>
                                        </p:tav>
                                        <p:tav tm="100000">
                                          <p:val>
                                            <p:strVal val="#ppt_y"/>
                                          </p:val>
                                        </p:tav>
                                      </p:tavLst>
                                    </p:anim>
                                  </p:childTnLst>
                                </p:cTn>
                              </p:par>
                            </p:childTnLst>
                          </p:cTn>
                        </p:par>
                        <p:par>
                          <p:cTn id="76" fill="hold">
                            <p:stCondLst>
                              <p:cond delay="8000"/>
                            </p:stCondLst>
                            <p:childTnLst>
                              <p:par>
                                <p:cTn id="77" presetID="53" presetClass="entr" presetSubtype="16" fill="hold" grpId="0" nodeType="afterEffect">
                                  <p:stCondLst>
                                    <p:cond delay="0"/>
                                  </p:stCondLst>
                                  <p:childTnLst>
                                    <p:set>
                                      <p:cBhvr>
                                        <p:cTn id="78" dur="1" fill="hold">
                                          <p:stCondLst>
                                            <p:cond delay="0"/>
                                          </p:stCondLst>
                                        </p:cTn>
                                        <p:tgtEl>
                                          <p:spTgt spid="3"/>
                                        </p:tgtEl>
                                        <p:attrNameLst>
                                          <p:attrName>style.visibility</p:attrName>
                                        </p:attrNameLst>
                                      </p:cBhvr>
                                      <p:to>
                                        <p:strVal val="visible"/>
                                      </p:to>
                                    </p:set>
                                    <p:anim calcmode="lin" valueType="num">
                                      <p:cBhvr>
                                        <p:cTn id="79" dur="500" fill="hold"/>
                                        <p:tgtEl>
                                          <p:spTgt spid="3"/>
                                        </p:tgtEl>
                                        <p:attrNameLst>
                                          <p:attrName>ppt_w</p:attrName>
                                        </p:attrNameLst>
                                      </p:cBhvr>
                                      <p:tavLst>
                                        <p:tav tm="0">
                                          <p:val>
                                            <p:fltVal val="0"/>
                                          </p:val>
                                        </p:tav>
                                        <p:tav tm="100000">
                                          <p:val>
                                            <p:strVal val="#ppt_w"/>
                                          </p:val>
                                        </p:tav>
                                      </p:tavLst>
                                    </p:anim>
                                    <p:anim calcmode="lin" valueType="num">
                                      <p:cBhvr>
                                        <p:cTn id="80" dur="500" fill="hold"/>
                                        <p:tgtEl>
                                          <p:spTgt spid="3"/>
                                        </p:tgtEl>
                                        <p:attrNameLst>
                                          <p:attrName>ppt_h</p:attrName>
                                        </p:attrNameLst>
                                      </p:cBhvr>
                                      <p:tavLst>
                                        <p:tav tm="0">
                                          <p:val>
                                            <p:fltVal val="0"/>
                                          </p:val>
                                        </p:tav>
                                        <p:tav tm="100000">
                                          <p:val>
                                            <p:strVal val="#ppt_h"/>
                                          </p:val>
                                        </p:tav>
                                      </p:tavLst>
                                    </p:anim>
                                    <p:animEffect transition="in" filter="fade">
                                      <p:cBhvr>
                                        <p:cTn id="81" dur="500"/>
                                        <p:tgtEl>
                                          <p:spTgt spid="3"/>
                                        </p:tgtEl>
                                      </p:cBhvr>
                                    </p:animEffect>
                                  </p:childTnLst>
                                </p:cTn>
                              </p:par>
                            </p:childTnLst>
                          </p:cTn>
                        </p:par>
                        <p:par>
                          <p:cTn id="82" fill="hold">
                            <p:stCondLst>
                              <p:cond delay="8500"/>
                            </p:stCondLst>
                            <p:childTnLst>
                              <p:par>
                                <p:cTn id="83" presetID="42" presetClass="entr" presetSubtype="0" fill="hold" grpId="0" nodeType="afterEffect">
                                  <p:stCondLst>
                                    <p:cond delay="0"/>
                                  </p:stCondLst>
                                  <p:childTnLst>
                                    <p:set>
                                      <p:cBhvr>
                                        <p:cTn id="84" dur="1" fill="hold">
                                          <p:stCondLst>
                                            <p:cond delay="0"/>
                                          </p:stCondLst>
                                        </p:cTn>
                                        <p:tgtEl>
                                          <p:spTgt spid="2"/>
                                        </p:tgtEl>
                                        <p:attrNameLst>
                                          <p:attrName>style.visibility</p:attrName>
                                        </p:attrNameLst>
                                      </p:cBhvr>
                                      <p:to>
                                        <p:strVal val="visible"/>
                                      </p:to>
                                    </p:set>
                                    <p:animEffect transition="in" filter="fade">
                                      <p:cBhvr>
                                        <p:cTn id="85" dur="1000"/>
                                        <p:tgtEl>
                                          <p:spTgt spid="2"/>
                                        </p:tgtEl>
                                      </p:cBhvr>
                                    </p:animEffect>
                                    <p:anim calcmode="lin" valueType="num">
                                      <p:cBhvr>
                                        <p:cTn id="86" dur="1000" fill="hold"/>
                                        <p:tgtEl>
                                          <p:spTgt spid="2"/>
                                        </p:tgtEl>
                                        <p:attrNameLst>
                                          <p:attrName>ppt_x</p:attrName>
                                        </p:attrNameLst>
                                      </p:cBhvr>
                                      <p:tavLst>
                                        <p:tav tm="0">
                                          <p:val>
                                            <p:strVal val="#ppt_x"/>
                                          </p:val>
                                        </p:tav>
                                        <p:tav tm="100000">
                                          <p:val>
                                            <p:strVal val="#ppt_x"/>
                                          </p:val>
                                        </p:tav>
                                      </p:tavLst>
                                    </p:anim>
                                    <p:anim calcmode="lin" valueType="num">
                                      <p:cBhvr>
                                        <p:cTn id="8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animBg="1"/>
      <p:bldP spid="5" grpId="0" animBg="1"/>
      <p:bldP spid="6" grpId="0"/>
      <p:bldP spid="7" grpId="0" bldLvl="0" animBg="1"/>
      <p:bldP spid="11" grpId="0"/>
      <p:bldP spid="16" grpId="0"/>
      <p:bldP spid="21" grpId="0"/>
      <p:bldP spid="26" grpId="0"/>
      <p:bldP spid="29" grpId="0" bldLvl="0" animBg="1"/>
      <p:bldP spid="50" grpId="0" bldLvl="0" animBg="1"/>
      <p:bldP spid="51" grpId="0" bldLvl="0" animBg="1"/>
      <p:bldP spid="52" grpId="0" bldLvl="0" animBg="1"/>
      <p:bldP spid="2" grpId="0"/>
      <p:bldP spid="3"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1" y="5430129"/>
            <a:ext cx="12192000" cy="1427871"/>
          </a:xfrm>
          <a:prstGeom prst="rect">
            <a:avLst/>
          </a:prstGeom>
          <a:solidFill>
            <a:srgbClr val="404040">
              <a:alpha val="2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矩形 5"/>
          <p:cNvSpPr/>
          <p:nvPr/>
        </p:nvSpPr>
        <p:spPr>
          <a:xfrm>
            <a:off x="1" y="0"/>
            <a:ext cx="12192000" cy="5430129"/>
          </a:xfrm>
          <a:prstGeom prst="rect">
            <a:avLst/>
          </a:prstGeom>
          <a:solidFill>
            <a:srgbClr val="FFC00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pic>
        <p:nvPicPr>
          <p:cNvPr id="4" name="图片 3"/>
          <p:cNvPicPr>
            <a:picLocks noChangeAspect="1"/>
          </p:cNvPicPr>
          <p:nvPr/>
        </p:nvPicPr>
        <p:blipFill>
          <a:blip r:embed="rId3"/>
          <a:stretch>
            <a:fillRect/>
          </a:stretch>
        </p:blipFill>
        <p:spPr>
          <a:xfrm>
            <a:off x="1360" y="364477"/>
            <a:ext cx="4026080" cy="2583017"/>
          </a:xfrm>
          <a:prstGeom prst="rect">
            <a:avLst/>
          </a:prstGeom>
        </p:spPr>
      </p:pic>
      <p:pic>
        <p:nvPicPr>
          <p:cNvPr id="5" name="图片 4"/>
          <p:cNvPicPr>
            <a:picLocks noChangeAspect="1"/>
          </p:cNvPicPr>
          <p:nvPr/>
        </p:nvPicPr>
        <p:blipFill>
          <a:blip r:embed="rId4"/>
          <a:stretch>
            <a:fillRect/>
          </a:stretch>
        </p:blipFill>
        <p:spPr>
          <a:xfrm>
            <a:off x="886265" y="3431549"/>
            <a:ext cx="5844734" cy="3426451"/>
          </a:xfrm>
          <a:prstGeom prst="rect">
            <a:avLst/>
          </a:prstGeom>
        </p:spPr>
      </p:pic>
      <p:sp>
        <p:nvSpPr>
          <p:cNvPr id="15" name="文本框 14"/>
          <p:cNvSpPr txBox="1"/>
          <p:nvPr/>
        </p:nvSpPr>
        <p:spPr>
          <a:xfrm>
            <a:off x="5507355" y="2588260"/>
            <a:ext cx="5746115" cy="829945"/>
          </a:xfrm>
          <a:prstGeom prst="rect">
            <a:avLst/>
          </a:prstGeom>
          <a:noFill/>
        </p:spPr>
        <p:txBody>
          <a:bodyPr wrap="square" rtlCol="0">
            <a:spAutoFit/>
          </a:bodyPr>
          <a:lstStyle/>
          <a:p>
            <a:pPr algn="dist"/>
            <a:r>
              <a:rPr lang="zh-CN" altLang="en-US" sz="4800" b="1" dirty="0">
                <a:solidFill>
                  <a:srgbClr val="262626"/>
                </a:solidFill>
                <a:latin typeface="微软雅黑" panose="020B0503020204020204" charset="-122"/>
                <a:ea typeface="微软雅黑" panose="020B0503020204020204" charset="-122"/>
                <a:cs typeface="微软雅黑" panose="020B0503020204020204" charset="-122"/>
                <a:sym typeface="+mn-ea"/>
              </a:rPr>
              <a:t>主要指标完成情况</a:t>
            </a:r>
          </a:p>
        </p:txBody>
      </p:sp>
      <p:sp>
        <p:nvSpPr>
          <p:cNvPr id="2" name="文本框 1"/>
          <p:cNvSpPr txBox="1"/>
          <p:nvPr/>
        </p:nvSpPr>
        <p:spPr>
          <a:xfrm>
            <a:off x="4478695" y="1520176"/>
            <a:ext cx="4030824" cy="1107996"/>
          </a:xfrm>
          <a:prstGeom prst="rect">
            <a:avLst/>
          </a:prstGeom>
          <a:noFill/>
        </p:spPr>
        <p:txBody>
          <a:bodyPr wrap="square" rtlCol="0">
            <a:spAutoFit/>
          </a:bodyPr>
          <a:lstStyle/>
          <a:p>
            <a:r>
              <a:rPr lang="en-US" altLang="zh-CN" sz="6600" dirty="0">
                <a:solidFill>
                  <a:schemeClr val="tx1">
                    <a:lumMod val="85000"/>
                    <a:lumOff val="15000"/>
                  </a:schemeClr>
                </a:solidFill>
                <a:cs typeface="+mn-ea"/>
                <a:sym typeface="+mn-lt"/>
              </a:rPr>
              <a:t>Part One</a:t>
            </a:r>
            <a:endParaRPr lang="zh-CN" altLang="en-US" sz="6600" dirty="0">
              <a:solidFill>
                <a:schemeClr val="tx1">
                  <a:lumMod val="85000"/>
                  <a:lumOff val="15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300" advTm="1000">
        <p14:pan dir="u"/>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 presetClass="entr" presetSubtype="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63" presetClass="path" presetSubtype="0" accel="50000" decel="50000" fill="hold" nodeType="withEffect">
                                  <p:stCondLst>
                                    <p:cond delay="0"/>
                                  </p:stCondLst>
                                  <p:childTnLst>
                                    <p:animMotion origin="layout" path="M -0.36146 -0.08333 L 2.22222E-6 -3.7037E-7 " pathEditMode="relative" rAng="0" ptsTypes="AA">
                                      <p:cBhvr>
                                        <p:cTn id="13" dur="2000" fill="hold"/>
                                        <p:tgtEl>
                                          <p:spTgt spid="4"/>
                                        </p:tgtEl>
                                        <p:attrNameLst>
                                          <p:attrName>ppt_x</p:attrName>
                                          <p:attrName>ppt_y</p:attrName>
                                        </p:attrNameLst>
                                      </p:cBhvr>
                                      <p:rCtr x="18073" y="4167"/>
                                    </p:animMotion>
                                  </p:childTnLst>
                                </p:cTn>
                              </p:par>
                            </p:childTnLst>
                          </p:cTn>
                        </p:par>
                        <p:par>
                          <p:cTn id="14" fill="hold">
                            <p:stCondLst>
                              <p:cond delay="1000"/>
                            </p:stCondLst>
                            <p:childTnLst>
                              <p:par>
                                <p:cTn id="15" presetID="12" presetClass="entr" presetSubtype="8"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p:tgtEl>
                                          <p:spTgt spid="2"/>
                                        </p:tgtEl>
                                        <p:attrNameLst>
                                          <p:attrName>ppt_x</p:attrName>
                                        </p:attrNameLst>
                                      </p:cBhvr>
                                      <p:tavLst>
                                        <p:tav tm="0">
                                          <p:val>
                                            <p:strVal val="#ppt_x-#ppt_w*1.125000"/>
                                          </p:val>
                                        </p:tav>
                                        <p:tav tm="100000">
                                          <p:val>
                                            <p:strVal val="#ppt_x"/>
                                          </p:val>
                                        </p:tav>
                                      </p:tavLst>
                                    </p:anim>
                                    <p:animEffect transition="in" filter="wipe(right)">
                                      <p:cBhvr>
                                        <p:cTn id="18" dur="500"/>
                                        <p:tgtEl>
                                          <p:spTgt spid="2"/>
                                        </p:tgtEl>
                                      </p:cBhvr>
                                    </p:animEffect>
                                  </p:childTnLst>
                                </p:cTn>
                              </p:par>
                            </p:childTnLst>
                          </p:cTn>
                        </p:par>
                        <p:par>
                          <p:cTn id="19" fill="hold">
                            <p:stCondLst>
                              <p:cond delay="1500"/>
                            </p:stCondLst>
                            <p:childTnLst>
                              <p:par>
                                <p:cTn id="20" presetID="12" presetClass="entr" presetSubtype="8"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500"/>
                                        <p:tgtEl>
                                          <p:spTgt spid="15"/>
                                        </p:tgtEl>
                                        <p:attrNameLst>
                                          <p:attrName>ppt_x</p:attrName>
                                        </p:attrNameLst>
                                      </p:cBhvr>
                                      <p:tavLst>
                                        <p:tav tm="0">
                                          <p:val>
                                            <p:strVal val="#ppt_x-#ppt_w*1.125000"/>
                                          </p:val>
                                        </p:tav>
                                        <p:tav tm="100000">
                                          <p:val>
                                            <p:strVal val="#ppt_x"/>
                                          </p:val>
                                        </p:tav>
                                      </p:tavLst>
                                    </p:anim>
                                    <p:animEffect transition="in" filter="wipe(righ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组合 2"/>
          <p:cNvGrpSpPr/>
          <p:nvPr/>
        </p:nvGrpSpPr>
        <p:grpSpPr>
          <a:xfrm>
            <a:off x="0" y="1892785"/>
            <a:ext cx="12192000" cy="4586796"/>
            <a:chOff x="0" y="1419589"/>
            <a:chExt cx="9144000" cy="3440097"/>
          </a:xfrm>
        </p:grpSpPr>
        <p:sp>
          <p:nvSpPr>
            <p:cNvPr id="30" name="Freeform 6"/>
            <p:cNvSpPr/>
            <p:nvPr/>
          </p:nvSpPr>
          <p:spPr bwMode="auto">
            <a:xfrm>
              <a:off x="0" y="2285557"/>
              <a:ext cx="9144000" cy="1763811"/>
            </a:xfrm>
            <a:custGeom>
              <a:avLst/>
              <a:gdLst>
                <a:gd name="T0" fmla="*/ 0 w 7807"/>
                <a:gd name="T1" fmla="*/ 505 h 1481"/>
                <a:gd name="T2" fmla="*/ 1455 w 7807"/>
                <a:gd name="T3" fmla="*/ 442 h 1481"/>
                <a:gd name="T4" fmla="*/ 2192 w 7807"/>
                <a:gd name="T5" fmla="*/ 1360 h 1481"/>
                <a:gd name="T6" fmla="*/ 4134 w 7807"/>
                <a:gd name="T7" fmla="*/ 408 h 1481"/>
                <a:gd name="T8" fmla="*/ 5917 w 7807"/>
                <a:gd name="T9" fmla="*/ 1481 h 1481"/>
                <a:gd name="T10" fmla="*/ 6744 w 7807"/>
                <a:gd name="T11" fmla="*/ 302 h 1481"/>
                <a:gd name="T12" fmla="*/ 7807 w 7807"/>
                <a:gd name="T13" fmla="*/ 0 h 1481"/>
              </a:gdLst>
              <a:ahLst/>
              <a:cxnLst>
                <a:cxn ang="0">
                  <a:pos x="T0" y="T1"/>
                </a:cxn>
                <a:cxn ang="0">
                  <a:pos x="T2" y="T3"/>
                </a:cxn>
                <a:cxn ang="0">
                  <a:pos x="T4" y="T5"/>
                </a:cxn>
                <a:cxn ang="0">
                  <a:pos x="T6" y="T7"/>
                </a:cxn>
                <a:cxn ang="0">
                  <a:pos x="T8" y="T9"/>
                </a:cxn>
                <a:cxn ang="0">
                  <a:pos x="T10" y="T11"/>
                </a:cxn>
                <a:cxn ang="0">
                  <a:pos x="T12" y="T13"/>
                </a:cxn>
              </a:cxnLst>
              <a:rect l="0" t="0" r="r" b="b"/>
              <a:pathLst>
                <a:path w="7807" h="1481">
                  <a:moveTo>
                    <a:pt x="0" y="505"/>
                  </a:moveTo>
                  <a:lnTo>
                    <a:pt x="1455" y="442"/>
                  </a:lnTo>
                  <a:lnTo>
                    <a:pt x="2192" y="1360"/>
                  </a:lnTo>
                  <a:lnTo>
                    <a:pt x="4134" y="408"/>
                  </a:lnTo>
                  <a:lnTo>
                    <a:pt x="5917" y="1481"/>
                  </a:lnTo>
                  <a:lnTo>
                    <a:pt x="6744" y="302"/>
                  </a:lnTo>
                  <a:lnTo>
                    <a:pt x="7807" y="0"/>
                  </a:lnTo>
                </a:path>
              </a:pathLst>
            </a:custGeom>
            <a:noFill/>
            <a:ln w="28575" cap="flat">
              <a:solidFill>
                <a:srgbClr val="FFC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4134" tIns="47066" rIns="94134" bIns="47066" numCol="1" anchor="t" anchorCtr="0" compatLnSpc="1"/>
            <a:lstStyle/>
            <a:p>
              <a:endParaRPr lang="zh-CN" altLang="en-US" sz="2400" dirty="0"/>
            </a:p>
          </p:txBody>
        </p:sp>
        <p:sp>
          <p:nvSpPr>
            <p:cNvPr id="31" name="椭圆 30"/>
            <p:cNvSpPr/>
            <p:nvPr/>
          </p:nvSpPr>
          <p:spPr>
            <a:xfrm>
              <a:off x="601028" y="1675811"/>
              <a:ext cx="1796415" cy="1796415"/>
            </a:xfrm>
            <a:prstGeom prst="ellipse">
              <a:avLst/>
            </a:prstGeom>
            <a:blipFill rotWithShape="1">
              <a:blip r:embed="rId3"/>
              <a:stretch>
                <a:fillRect/>
              </a:stretch>
            </a:blipFill>
            <a:ln>
              <a:solidFill>
                <a:srgbClr val="7B8294"/>
              </a:solidFill>
            </a:ln>
          </p:spPr>
          <p:style>
            <a:lnRef idx="2">
              <a:schemeClr val="accent1">
                <a:shade val="50000"/>
              </a:schemeClr>
            </a:lnRef>
            <a:fillRef idx="1">
              <a:schemeClr val="accent1"/>
            </a:fillRef>
            <a:effectRef idx="0">
              <a:schemeClr val="accent1"/>
            </a:effectRef>
            <a:fontRef idx="minor">
              <a:schemeClr val="lt1"/>
            </a:fontRef>
          </p:style>
          <p:txBody>
            <a:bodyPr lIns="94134" tIns="47066" rIns="94134" bIns="47066" rtlCol="0" anchor="ctr"/>
            <a:lstStyle/>
            <a:p>
              <a:pPr algn="ctr"/>
              <a:endParaRPr lang="zh-CN" altLang="en-US" sz="2400"/>
            </a:p>
          </p:txBody>
        </p:sp>
        <p:sp>
          <p:nvSpPr>
            <p:cNvPr id="32" name="椭圆 31"/>
            <p:cNvSpPr/>
            <p:nvPr/>
          </p:nvSpPr>
          <p:spPr>
            <a:xfrm>
              <a:off x="2033588" y="3278869"/>
              <a:ext cx="1382078" cy="1382554"/>
            </a:xfrm>
            <a:prstGeom prst="ellipse">
              <a:avLst/>
            </a:prstGeom>
            <a:blipFill rotWithShape="1">
              <a:blip r:embed="rId4"/>
              <a:stretch>
                <a:fillRect/>
              </a:stretch>
            </a:blipFill>
            <a:ln>
              <a:solidFill>
                <a:srgbClr val="7B8294"/>
              </a:solidFill>
            </a:ln>
          </p:spPr>
          <p:style>
            <a:lnRef idx="2">
              <a:schemeClr val="accent1">
                <a:shade val="50000"/>
              </a:schemeClr>
            </a:lnRef>
            <a:fillRef idx="1">
              <a:schemeClr val="accent1"/>
            </a:fillRef>
            <a:effectRef idx="0">
              <a:schemeClr val="accent1"/>
            </a:effectRef>
            <a:fontRef idx="minor">
              <a:schemeClr val="lt1"/>
            </a:fontRef>
          </p:style>
          <p:txBody>
            <a:bodyPr lIns="94134" tIns="47066" rIns="94134" bIns="47066" rtlCol="0" anchor="ctr"/>
            <a:lstStyle/>
            <a:p>
              <a:pPr algn="ctr"/>
              <a:endParaRPr lang="zh-CN" altLang="en-US" sz="2400"/>
            </a:p>
          </p:txBody>
        </p:sp>
        <p:sp>
          <p:nvSpPr>
            <p:cNvPr id="33" name="椭圆 32"/>
            <p:cNvSpPr/>
            <p:nvPr/>
          </p:nvSpPr>
          <p:spPr>
            <a:xfrm>
              <a:off x="3499136" y="1419589"/>
              <a:ext cx="2700652" cy="2701059"/>
            </a:xfrm>
            <a:prstGeom prst="ellipse">
              <a:avLst/>
            </a:prstGeom>
            <a:blipFill dpi="0" rotWithShape="1">
              <a:blip r:embed="rId5"/>
              <a:srcRect/>
              <a:stretch>
                <a:fillRect/>
              </a:stretch>
            </a:blipFill>
            <a:ln>
              <a:solidFill>
                <a:srgbClr val="7B8294"/>
              </a:solidFill>
            </a:ln>
          </p:spPr>
          <p:style>
            <a:lnRef idx="2">
              <a:schemeClr val="accent1">
                <a:shade val="50000"/>
              </a:schemeClr>
            </a:lnRef>
            <a:fillRef idx="1">
              <a:schemeClr val="accent1"/>
            </a:fillRef>
            <a:effectRef idx="0">
              <a:schemeClr val="accent1"/>
            </a:effectRef>
            <a:fontRef idx="minor">
              <a:schemeClr val="lt1"/>
            </a:fontRef>
          </p:style>
          <p:txBody>
            <a:bodyPr lIns="94134" tIns="47066" rIns="94134" bIns="47066" rtlCol="0" anchor="ctr"/>
            <a:lstStyle/>
            <a:p>
              <a:pPr algn="ctr"/>
              <a:endParaRPr lang="zh-CN" altLang="en-US" sz="2400"/>
            </a:p>
          </p:txBody>
        </p:sp>
        <p:sp>
          <p:nvSpPr>
            <p:cNvPr id="34" name="椭圆 33"/>
            <p:cNvSpPr/>
            <p:nvPr/>
          </p:nvSpPr>
          <p:spPr>
            <a:xfrm>
              <a:off x="6084365" y="3185029"/>
              <a:ext cx="1674404" cy="1674657"/>
            </a:xfrm>
            <a:prstGeom prst="ellipse">
              <a:avLst/>
            </a:prstGeom>
            <a:blipFill>
              <a:blip r:embed="rId6"/>
              <a:stretch>
                <a:fillRect/>
              </a:stretch>
            </a:blipFill>
            <a:ln>
              <a:solidFill>
                <a:srgbClr val="7B8294"/>
              </a:solidFill>
            </a:ln>
          </p:spPr>
          <p:style>
            <a:lnRef idx="2">
              <a:schemeClr val="accent1">
                <a:shade val="50000"/>
              </a:schemeClr>
            </a:lnRef>
            <a:fillRef idx="1">
              <a:schemeClr val="accent1"/>
            </a:fillRef>
            <a:effectRef idx="0">
              <a:schemeClr val="accent1"/>
            </a:effectRef>
            <a:fontRef idx="minor">
              <a:schemeClr val="lt1"/>
            </a:fontRef>
          </p:style>
          <p:txBody>
            <a:bodyPr lIns="94134" tIns="47066" rIns="94134" bIns="47066" rtlCol="0" anchor="ctr"/>
            <a:lstStyle/>
            <a:p>
              <a:pPr algn="ctr"/>
              <a:endParaRPr lang="zh-CN" altLang="en-US" sz="2400"/>
            </a:p>
          </p:txBody>
        </p:sp>
        <p:sp>
          <p:nvSpPr>
            <p:cNvPr id="35" name="椭圆 34"/>
            <p:cNvSpPr/>
            <p:nvPr/>
          </p:nvSpPr>
          <p:spPr>
            <a:xfrm>
              <a:off x="7326630" y="1675812"/>
              <a:ext cx="1471613" cy="1472565"/>
            </a:xfrm>
            <a:prstGeom prst="ellipse">
              <a:avLst/>
            </a:prstGeom>
            <a:blipFill rotWithShape="1">
              <a:blip r:embed="rId7"/>
              <a:stretch>
                <a:fillRect/>
              </a:stretch>
            </a:blipFill>
            <a:ln>
              <a:solidFill>
                <a:srgbClr val="7B8294"/>
              </a:solidFill>
            </a:ln>
          </p:spPr>
          <p:style>
            <a:lnRef idx="2">
              <a:schemeClr val="accent1">
                <a:shade val="50000"/>
              </a:schemeClr>
            </a:lnRef>
            <a:fillRef idx="1">
              <a:schemeClr val="accent1"/>
            </a:fillRef>
            <a:effectRef idx="0">
              <a:schemeClr val="accent1"/>
            </a:effectRef>
            <a:fontRef idx="minor">
              <a:schemeClr val="lt1"/>
            </a:fontRef>
          </p:style>
          <p:txBody>
            <a:bodyPr lIns="94134" tIns="47066" rIns="94134" bIns="47066" rtlCol="0" anchor="ctr"/>
            <a:lstStyle/>
            <a:p>
              <a:pPr algn="ctr"/>
              <a:endParaRPr lang="zh-CN" altLang="en-US" sz="2400"/>
            </a:p>
          </p:txBody>
        </p:sp>
        <p:sp>
          <p:nvSpPr>
            <p:cNvPr id="36" name="椭圆 35"/>
            <p:cNvSpPr/>
            <p:nvPr/>
          </p:nvSpPr>
          <p:spPr>
            <a:xfrm>
              <a:off x="3499136" y="1419589"/>
              <a:ext cx="2700652" cy="2701059"/>
            </a:xfrm>
            <a:prstGeom prst="ellipse">
              <a:avLst/>
            </a:prstGeom>
            <a:solidFill>
              <a:srgbClr val="161D25">
                <a:alpha val="80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4134" tIns="47066" rIns="94134" bIns="47066" rtlCol="0" anchor="ctr"/>
            <a:lstStyle/>
            <a:p>
              <a:pPr algn="l"/>
              <a:endParaRPr lang="zh-CN" altLang="en-US" sz="1400" dirty="0">
                <a:solidFill>
                  <a:schemeClr val="bg1"/>
                </a:solidFill>
                <a:latin typeface="微软雅黑" panose="020B0503020204020204" charset="-122"/>
                <a:ea typeface="微软雅黑" panose="020B0503020204020204" charset="-122"/>
                <a:sym typeface="+mn-ea"/>
              </a:endParaRPr>
            </a:p>
          </p:txBody>
        </p:sp>
        <p:sp>
          <p:nvSpPr>
            <p:cNvPr id="37" name="椭圆 36"/>
            <p:cNvSpPr/>
            <p:nvPr/>
          </p:nvSpPr>
          <p:spPr>
            <a:xfrm>
              <a:off x="6084365" y="3185029"/>
              <a:ext cx="1674404" cy="1674657"/>
            </a:xfrm>
            <a:prstGeom prst="ellipse">
              <a:avLst/>
            </a:prstGeom>
            <a:solidFill>
              <a:srgbClr val="161D25">
                <a:alpha val="80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4134" tIns="47066" rIns="94134" bIns="47066" rtlCol="0" anchor="ctr"/>
            <a:lstStyle/>
            <a:p>
              <a:pPr algn="ctr"/>
              <a:r>
                <a:rPr lang="en-US" sz="1600" dirty="0">
                  <a:solidFill>
                    <a:schemeClr val="bg1"/>
                  </a:solidFill>
                  <a:latin typeface="微软雅黑" panose="020B0503020204020204" charset="-122"/>
                  <a:ea typeface="微软雅黑" panose="020B0503020204020204" charset="-122"/>
                </a:rPr>
                <a:t> </a:t>
              </a:r>
            </a:p>
          </p:txBody>
        </p:sp>
      </p:grpSp>
      <p:sp>
        <p:nvSpPr>
          <p:cNvPr id="2" name="文本框 1"/>
          <p:cNvSpPr txBox="1"/>
          <p:nvPr/>
        </p:nvSpPr>
        <p:spPr>
          <a:xfrm>
            <a:off x="4923155" y="3047365"/>
            <a:ext cx="3230880" cy="2138045"/>
          </a:xfrm>
          <a:prstGeom prst="rect">
            <a:avLst/>
          </a:prstGeom>
          <a:noFill/>
        </p:spPr>
        <p:txBody>
          <a:bodyPr wrap="none" rtlCol="0">
            <a:spAutoFit/>
          </a:bodyPr>
          <a:lstStyle/>
          <a:p>
            <a:pPr algn="l">
              <a:lnSpc>
                <a:spcPct val="120000"/>
              </a:lnSpc>
            </a:pPr>
            <a:r>
              <a:rPr lang="zh-CN" altLang="en-US" sz="1600" dirty="0">
                <a:solidFill>
                  <a:schemeClr val="bg1"/>
                </a:solidFill>
                <a:latin typeface="微软雅黑" panose="020B0503020204020204" charset="-122"/>
                <a:ea typeface="微软雅黑" panose="020B0503020204020204" charset="-122"/>
                <a:sym typeface="+mn-ea"/>
              </a:rPr>
              <a:t>财务报表包括资产负债表、损益表</a:t>
            </a:r>
          </a:p>
          <a:p>
            <a:pPr algn="l">
              <a:lnSpc>
                <a:spcPct val="120000"/>
              </a:lnSpc>
            </a:pPr>
            <a:r>
              <a:rPr lang="zh-CN" altLang="en-US" sz="1600" dirty="0">
                <a:solidFill>
                  <a:schemeClr val="bg1"/>
                </a:solidFill>
                <a:latin typeface="微软雅黑" panose="020B0503020204020204" charset="-122"/>
                <a:ea typeface="微软雅黑" panose="020B0503020204020204" charset="-122"/>
                <a:sym typeface="+mn-ea"/>
              </a:rPr>
              <a:t>现金流量表或财务状况变动表、附</a:t>
            </a:r>
          </a:p>
          <a:p>
            <a:pPr algn="l">
              <a:lnSpc>
                <a:spcPct val="120000"/>
              </a:lnSpc>
            </a:pPr>
            <a:r>
              <a:rPr lang="zh-CN" altLang="en-US" sz="1600" dirty="0">
                <a:solidFill>
                  <a:schemeClr val="bg1"/>
                </a:solidFill>
                <a:latin typeface="微软雅黑" panose="020B0503020204020204" charset="-122"/>
                <a:ea typeface="微软雅黑" panose="020B0503020204020204" charset="-122"/>
                <a:sym typeface="+mn-ea"/>
              </a:rPr>
              <a:t>表和</a:t>
            </a:r>
            <a:r>
              <a:rPr lang="zh-CN" altLang="en-US" sz="1600" u="sng" dirty="0">
                <a:solidFill>
                  <a:schemeClr val="bg1"/>
                </a:solidFill>
                <a:latin typeface="微软雅黑" panose="020B0503020204020204" charset="-122"/>
                <a:ea typeface="微软雅黑" panose="020B0503020204020204" charset="-122"/>
                <a:sym typeface="+mn-ea"/>
              </a:rPr>
              <a:t>附注</a:t>
            </a:r>
            <a:r>
              <a:rPr lang="zh-CN" altLang="en-US" sz="1600" dirty="0">
                <a:solidFill>
                  <a:schemeClr val="bg1"/>
                </a:solidFill>
                <a:latin typeface="微软雅黑" panose="020B0503020204020204" charset="-122"/>
                <a:ea typeface="微软雅黑" panose="020B0503020204020204" charset="-122"/>
                <a:sym typeface="+mn-ea"/>
              </a:rPr>
              <a:t>。财务报表是财务报告的</a:t>
            </a:r>
          </a:p>
          <a:p>
            <a:pPr algn="l">
              <a:lnSpc>
                <a:spcPct val="120000"/>
              </a:lnSpc>
            </a:pPr>
            <a:r>
              <a:rPr lang="zh-CN" altLang="en-US" sz="1600" dirty="0">
                <a:solidFill>
                  <a:schemeClr val="bg1"/>
                </a:solidFill>
                <a:latin typeface="微软雅黑" panose="020B0503020204020204" charset="-122"/>
                <a:ea typeface="微软雅黑" panose="020B0503020204020204" charset="-122"/>
                <a:sym typeface="+mn-ea"/>
              </a:rPr>
              <a:t>主要部分，不包括董事报告、管理</a:t>
            </a:r>
          </a:p>
          <a:p>
            <a:pPr algn="l">
              <a:lnSpc>
                <a:spcPct val="120000"/>
              </a:lnSpc>
            </a:pPr>
            <a:r>
              <a:rPr lang="zh-CN" altLang="en-US" sz="1600" dirty="0">
                <a:solidFill>
                  <a:schemeClr val="bg1"/>
                </a:solidFill>
                <a:latin typeface="微软雅黑" panose="020B0503020204020204" charset="-122"/>
                <a:ea typeface="微软雅黑" panose="020B0503020204020204" charset="-122"/>
                <a:sym typeface="+mn-ea"/>
              </a:rPr>
              <a:t>分析及财务情况说明书等列入财务</a:t>
            </a:r>
          </a:p>
          <a:p>
            <a:pPr algn="l">
              <a:lnSpc>
                <a:spcPct val="120000"/>
              </a:lnSpc>
            </a:pPr>
            <a:r>
              <a:rPr lang="zh-CN" altLang="en-US" sz="1600" dirty="0">
                <a:solidFill>
                  <a:schemeClr val="bg1"/>
                </a:solidFill>
                <a:latin typeface="微软雅黑" panose="020B0503020204020204" charset="-122"/>
                <a:ea typeface="微软雅黑" panose="020B0503020204020204" charset="-122"/>
                <a:sym typeface="+mn-ea"/>
              </a:rPr>
              <a:t>报告或年度报告的资料</a:t>
            </a:r>
            <a:endParaRPr lang="zh-CN" altLang="en-US" dirty="0">
              <a:solidFill>
                <a:schemeClr val="bg1"/>
              </a:solidFill>
              <a:latin typeface="微软雅黑" panose="020B0503020204020204" charset="-122"/>
              <a:ea typeface="微软雅黑" panose="020B0503020204020204" charset="-122"/>
              <a:sym typeface="+mn-ea"/>
            </a:endParaRPr>
          </a:p>
          <a:p>
            <a:endParaRPr lang="zh-CN" altLang="en-US"/>
          </a:p>
        </p:txBody>
      </p:sp>
      <p:sp>
        <p:nvSpPr>
          <p:cNvPr id="40" name="矩形 39"/>
          <p:cNvSpPr/>
          <p:nvPr/>
        </p:nvSpPr>
        <p:spPr>
          <a:xfrm>
            <a:off x="5604277" y="2535253"/>
            <a:ext cx="1723549" cy="400110"/>
          </a:xfrm>
          <a:prstGeom prst="rect">
            <a:avLst/>
          </a:prstGeom>
        </p:spPr>
        <p:txBody>
          <a:bodyPr wrap="none">
            <a:spAutoFit/>
          </a:bodyPr>
          <a:lstStyle/>
          <a:p>
            <a:r>
              <a:rPr lang="zh-CN" altLang="en-US" sz="2000" b="1" dirty="0">
                <a:solidFill>
                  <a:schemeClr val="bg1"/>
                </a:solidFill>
                <a:latin typeface="微软雅黑" panose="020B0503020204020204" charset="-122"/>
                <a:ea typeface="微软雅黑" panose="020B0503020204020204" charset="-122"/>
              </a:rPr>
              <a:t>财务报表说明</a:t>
            </a:r>
          </a:p>
        </p:txBody>
      </p:sp>
      <p:sp>
        <p:nvSpPr>
          <p:cNvPr id="15" name="矩形 14"/>
          <p:cNvSpPr/>
          <p:nvPr/>
        </p:nvSpPr>
        <p:spPr>
          <a:xfrm>
            <a:off x="8252051" y="4731977"/>
            <a:ext cx="2011680" cy="1291590"/>
          </a:xfrm>
          <a:prstGeom prst="rect">
            <a:avLst/>
          </a:prstGeom>
        </p:spPr>
        <p:txBody>
          <a:bodyPr wrap="none">
            <a:spAutoFit/>
          </a:bodyPr>
          <a:lstStyle/>
          <a:p>
            <a:pPr algn="ctr"/>
            <a:r>
              <a:rPr lang="en-US" altLang="zh-CN" sz="5400" b="1" dirty="0">
                <a:solidFill>
                  <a:schemeClr val="bg1"/>
                </a:solidFill>
                <a:latin typeface="Impact" panose="020B0806030902050204" pitchFamily="34" charset="0"/>
                <a:ea typeface="微软雅黑" panose="020B0503020204020204" charset="-122"/>
              </a:rPr>
              <a:t>2018</a:t>
            </a:r>
            <a:endParaRPr lang="en-US" altLang="zh-CN" sz="7200" b="1" dirty="0">
              <a:solidFill>
                <a:schemeClr val="bg1"/>
              </a:solidFill>
              <a:latin typeface="Impact" panose="020B0806030902050204" pitchFamily="34" charset="0"/>
              <a:ea typeface="微软雅黑" panose="020B0503020204020204" charset="-122"/>
            </a:endParaRPr>
          </a:p>
          <a:p>
            <a:pPr algn="ctr"/>
            <a:r>
              <a:rPr lang="zh-CN" altLang="en-US" sz="2400" b="1" dirty="0">
                <a:solidFill>
                  <a:schemeClr val="bg1"/>
                </a:solidFill>
                <a:latin typeface="微软雅黑" panose="020B0503020204020204" charset="-122"/>
                <a:ea typeface="微软雅黑" panose="020B0503020204020204" charset="-122"/>
              </a:rPr>
              <a:t>年度财务报告</a:t>
            </a:r>
          </a:p>
        </p:txBody>
      </p:sp>
      <p:sp>
        <p:nvSpPr>
          <p:cNvPr id="78" name="矩形 77"/>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9" name="矩形 78"/>
          <p:cNvSpPr/>
          <p:nvPr/>
        </p:nvSpPr>
        <p:spPr>
          <a:xfrm>
            <a:off x="-11017" y="-30458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0" name="文本框 79"/>
          <p:cNvSpPr txBox="1"/>
          <p:nvPr/>
        </p:nvSpPr>
        <p:spPr>
          <a:xfrm>
            <a:off x="418455" y="373596"/>
            <a:ext cx="2787500" cy="398780"/>
          </a:xfrm>
          <a:prstGeom prst="rect">
            <a:avLst/>
          </a:prstGeom>
          <a:noFill/>
        </p:spPr>
        <p:txBody>
          <a:bodyPr wrap="square" rtlCol="0">
            <a:spAutoFit/>
          </a:bodyPr>
          <a:lstStyle/>
          <a:p>
            <a:r>
              <a:rPr lang="zh-CN" altLang="en-US" sz="2000" b="1" dirty="0">
                <a:cs typeface="+mn-ea"/>
                <a:sym typeface="+mn-lt"/>
              </a:rPr>
              <a:t>主要指标完成情况</a:t>
            </a:r>
          </a:p>
        </p:txBody>
      </p:sp>
      <p:cxnSp>
        <p:nvCxnSpPr>
          <p:cNvPr id="82" name="直接连接符 81"/>
          <p:cNvCxnSpPr/>
          <p:nvPr/>
        </p:nvCxnSpPr>
        <p:spPr>
          <a:xfrm>
            <a:off x="-157" y="773370"/>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par>
                                <p:cTn id="21" presetID="22" presetClass="entr" presetSubtype="8"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left)">
                                      <p:cBhvr>
                                        <p:cTn id="23" dur="500"/>
                                        <p:tgtEl>
                                          <p:spTgt spid="4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left)">
                                      <p:cBhvr>
                                        <p:cTn id="2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 name="矩形 77"/>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9" name="矩形 78"/>
          <p:cNvSpPr/>
          <p:nvPr/>
        </p:nvSpPr>
        <p:spPr>
          <a:xfrm>
            <a:off x="-11017" y="-30458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0" name="文本框 79"/>
          <p:cNvSpPr txBox="1"/>
          <p:nvPr/>
        </p:nvSpPr>
        <p:spPr>
          <a:xfrm>
            <a:off x="418455" y="373596"/>
            <a:ext cx="2787500" cy="398780"/>
          </a:xfrm>
          <a:prstGeom prst="rect">
            <a:avLst/>
          </a:prstGeom>
          <a:noFill/>
        </p:spPr>
        <p:txBody>
          <a:bodyPr wrap="square" rtlCol="0">
            <a:spAutoFit/>
          </a:bodyPr>
          <a:lstStyle/>
          <a:p>
            <a:r>
              <a:rPr lang="zh-CN" altLang="en-US" sz="2000" b="1" dirty="0">
                <a:cs typeface="+mn-ea"/>
                <a:sym typeface="+mn-lt"/>
              </a:rPr>
              <a:t>主要指标完成情况</a:t>
            </a:r>
          </a:p>
        </p:txBody>
      </p:sp>
      <p:cxnSp>
        <p:nvCxnSpPr>
          <p:cNvPr id="82" name="直接连接符 81"/>
          <p:cNvCxnSpPr/>
          <p:nvPr/>
        </p:nvCxnSpPr>
        <p:spPr>
          <a:xfrm>
            <a:off x="-157" y="773370"/>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 name="表格 1"/>
          <p:cNvGraphicFramePr>
            <a:graphicFrameLocks noGrp="1"/>
          </p:cNvGraphicFramePr>
          <p:nvPr/>
        </p:nvGraphicFramePr>
        <p:xfrm>
          <a:off x="1297305" y="1250950"/>
          <a:ext cx="9291320" cy="3486150"/>
        </p:xfrm>
        <a:graphic>
          <a:graphicData uri="http://schemas.openxmlformats.org/drawingml/2006/table">
            <a:tbl>
              <a:tblPr>
                <a:tableStyleId>{5C22544A-7EE6-4342-B048-85BDC9FD1C3A}</a:tableStyleId>
              </a:tblPr>
              <a:tblGrid>
                <a:gridCol w="2407285"/>
                <a:gridCol w="1202690"/>
                <a:gridCol w="1080135"/>
                <a:gridCol w="1132840"/>
                <a:gridCol w="1028065"/>
                <a:gridCol w="1272540"/>
                <a:gridCol w="1167765"/>
              </a:tblGrid>
              <a:tr h="443230">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600" b="1" u="none" strike="noStrike" cap="none" normalizeH="0" baseline="0" dirty="0">
                          <a:ln>
                            <a:noFill/>
                          </a:ln>
                          <a:solidFill>
                            <a:schemeClr val="bg1"/>
                          </a:solidFill>
                          <a:effectLst/>
                          <a:latin typeface="微软雅黑" panose="020B0503020204020204" charset="-122"/>
                          <a:ea typeface="微软雅黑" panose="020B0503020204020204" charset="-122"/>
                        </a:rPr>
                        <a:t>主要指标</a:t>
                      </a:r>
                      <a:endParaRPr kumimoji="0" lang="zh-CN" altLang="en-US" sz="1600" b="1" i="0" u="none" strike="noStrike" cap="none" normalizeH="0" baseline="0" dirty="0">
                        <a:ln>
                          <a:noFill/>
                        </a:ln>
                        <a:solidFill>
                          <a:schemeClr val="bg1"/>
                        </a:solidFill>
                        <a:effectLst/>
                        <a:latin typeface="微软雅黑" panose="020B0503020204020204" charset="-122"/>
                        <a:ea typeface="微软雅黑" panose="020B0503020204020204" charset="-122"/>
                      </a:endParaRPr>
                    </a:p>
                  </a:txBody>
                  <a:tcPr marL="0" marR="0" marT="0" marB="0" anchor="ctr" horzOverflow="overflow">
                    <a:solidFill>
                      <a:srgbClr val="FFC000"/>
                    </a:solidFill>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600" b="1" u="none" strike="noStrike" cap="none" normalizeH="0" baseline="0" dirty="0">
                          <a:ln>
                            <a:noFill/>
                          </a:ln>
                          <a:solidFill>
                            <a:schemeClr val="bg1"/>
                          </a:solidFill>
                          <a:effectLst/>
                          <a:latin typeface="微软雅黑" panose="020B0503020204020204" charset="-122"/>
                          <a:ea typeface="微软雅黑" panose="020B0503020204020204" charset="-122"/>
                        </a:rPr>
                        <a:t>预算</a:t>
                      </a:r>
                      <a:endParaRPr kumimoji="0" lang="zh-CN" altLang="en-US" sz="1600" b="1" i="0" u="none" strike="noStrike" cap="none" normalizeH="0" baseline="0" dirty="0">
                        <a:ln>
                          <a:noFill/>
                        </a:ln>
                        <a:solidFill>
                          <a:schemeClr val="bg1"/>
                        </a:solidFill>
                        <a:effectLst/>
                        <a:latin typeface="微软雅黑" panose="020B0503020204020204" charset="-122"/>
                        <a:ea typeface="微软雅黑" panose="020B0503020204020204" charset="-122"/>
                      </a:endParaRPr>
                    </a:p>
                  </a:txBody>
                  <a:tcPr marL="0" marR="0" marT="0" marB="0" anchor="ctr" horzOverflow="overflow">
                    <a:solidFill>
                      <a:srgbClr val="FFC000"/>
                    </a:solidFill>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600" b="1" u="none" strike="noStrike" cap="none" normalizeH="0" baseline="0" dirty="0">
                          <a:ln>
                            <a:noFill/>
                          </a:ln>
                          <a:solidFill>
                            <a:schemeClr val="bg1"/>
                          </a:solidFill>
                          <a:effectLst/>
                          <a:latin typeface="微软雅黑" panose="020B0503020204020204" charset="-122"/>
                          <a:ea typeface="微软雅黑" panose="020B0503020204020204" charset="-122"/>
                        </a:rPr>
                        <a:t>实绩</a:t>
                      </a:r>
                      <a:endParaRPr kumimoji="0" lang="zh-CN" altLang="en-US" sz="1600" b="1" i="0" u="none" strike="noStrike" cap="none" normalizeH="0" baseline="0" dirty="0">
                        <a:ln>
                          <a:noFill/>
                        </a:ln>
                        <a:solidFill>
                          <a:schemeClr val="bg1"/>
                        </a:solidFill>
                        <a:effectLst/>
                        <a:latin typeface="微软雅黑" panose="020B0503020204020204" charset="-122"/>
                        <a:ea typeface="微软雅黑" panose="020B0503020204020204" charset="-122"/>
                      </a:endParaRPr>
                    </a:p>
                  </a:txBody>
                  <a:tcPr marL="0" marR="0" marT="0" marB="0" anchor="ctr" horzOverflow="overflow">
                    <a:solidFill>
                      <a:srgbClr val="FFC000"/>
                    </a:solidFill>
                  </a:tcPr>
                </a:tc>
                <a:tc grid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600" b="1" u="none" strike="noStrike" cap="none" normalizeH="0" baseline="0" dirty="0">
                          <a:ln>
                            <a:noFill/>
                          </a:ln>
                          <a:solidFill>
                            <a:schemeClr val="bg1"/>
                          </a:solidFill>
                          <a:effectLst/>
                          <a:latin typeface="微软雅黑" panose="020B0503020204020204" charset="-122"/>
                          <a:ea typeface="微软雅黑" panose="020B0503020204020204" charset="-122"/>
                        </a:rPr>
                        <a:t>增幅</a:t>
                      </a:r>
                      <a:endParaRPr kumimoji="0" lang="zh-CN" altLang="en-US" sz="1600" b="1" i="0" u="none" strike="noStrike" cap="none" normalizeH="0" baseline="0" dirty="0">
                        <a:ln>
                          <a:noFill/>
                        </a:ln>
                        <a:solidFill>
                          <a:schemeClr val="bg1"/>
                        </a:solidFill>
                        <a:effectLst/>
                        <a:latin typeface="微软雅黑" panose="020B0503020204020204" charset="-122"/>
                        <a:ea typeface="微软雅黑" panose="020B0503020204020204" charset="-122"/>
                      </a:endParaRPr>
                    </a:p>
                  </a:txBody>
                  <a:tcPr marL="0" marR="0" marT="0" marB="0" anchor="ctr" horzOverflow="overflow">
                    <a:solidFill>
                      <a:srgbClr val="FFC000"/>
                    </a:solidFill>
                  </a:tcPr>
                </a:tc>
                <a:tc hMerge="1">
                  <a:txBody>
                    <a:bodyPr/>
                    <a:lstStyle/>
                    <a:p>
                      <a:endParaRPr lang="zh-CN"/>
                    </a:p>
                  </a:txBody>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600" b="1" u="none" strike="noStrike" cap="none" normalizeH="0" baseline="0" dirty="0">
                          <a:ln>
                            <a:noFill/>
                          </a:ln>
                          <a:solidFill>
                            <a:schemeClr val="bg1"/>
                          </a:solidFill>
                          <a:effectLst/>
                          <a:latin typeface="微软雅黑" panose="020B0503020204020204" charset="-122"/>
                          <a:ea typeface="微软雅黑" panose="020B0503020204020204" charset="-122"/>
                        </a:rPr>
                        <a:t>完成</a:t>
                      </a:r>
                      <a:endParaRPr kumimoji="0" lang="en-US" altLang="zh-CN" sz="1600" b="1" u="none" strike="noStrike" cap="none" normalizeH="0" baseline="0" dirty="0">
                        <a:ln>
                          <a:noFill/>
                        </a:ln>
                        <a:solidFill>
                          <a:schemeClr val="bg1"/>
                        </a:solidFill>
                        <a:effectLst/>
                        <a:latin typeface="微软雅黑" panose="020B0503020204020204" charset="-122"/>
                        <a:ea typeface="微软雅黑" panose="020B0503020204020204" charset="-122"/>
                      </a:endParaRPr>
                    </a:p>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600" b="1" u="none" strike="noStrike" cap="none" normalizeH="0" baseline="0" dirty="0">
                          <a:ln>
                            <a:noFill/>
                          </a:ln>
                          <a:solidFill>
                            <a:schemeClr val="bg1"/>
                          </a:solidFill>
                          <a:effectLst/>
                          <a:latin typeface="微软雅黑" panose="020B0503020204020204" charset="-122"/>
                          <a:ea typeface="微软雅黑" panose="020B0503020204020204" charset="-122"/>
                        </a:rPr>
                        <a:t>预算</a:t>
                      </a:r>
                      <a:endParaRPr kumimoji="0" lang="zh-CN" altLang="en-US" sz="1600" b="1" i="0" u="none" strike="noStrike" cap="none" normalizeH="0" baseline="0" dirty="0">
                        <a:ln>
                          <a:noFill/>
                        </a:ln>
                        <a:solidFill>
                          <a:schemeClr val="bg1"/>
                        </a:solidFill>
                        <a:effectLst/>
                        <a:latin typeface="微软雅黑" panose="020B0503020204020204" charset="-122"/>
                        <a:ea typeface="微软雅黑" panose="020B0503020204020204" charset="-122"/>
                      </a:endParaRPr>
                    </a:p>
                  </a:txBody>
                  <a:tcPr marL="0" marR="0" marT="0" marB="0" anchor="ctr" horzOverflow="overflow">
                    <a:solidFill>
                      <a:srgbClr val="FFC000"/>
                    </a:solidFill>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600" b="1" u="none" strike="noStrike" cap="none" normalizeH="0" baseline="0" dirty="0">
                          <a:ln>
                            <a:noFill/>
                          </a:ln>
                          <a:solidFill>
                            <a:schemeClr val="bg1"/>
                          </a:solidFill>
                          <a:effectLst/>
                          <a:latin typeface="微软雅黑" panose="020B0503020204020204" charset="-122"/>
                          <a:ea typeface="微软雅黑" panose="020B0503020204020204" charset="-122"/>
                        </a:rPr>
                        <a:t>与时</a:t>
                      </a:r>
                      <a:endParaRPr kumimoji="0" lang="en-US" altLang="zh-CN" sz="1600" b="1" u="none" strike="noStrike" cap="none" normalizeH="0" baseline="0" dirty="0">
                        <a:ln>
                          <a:noFill/>
                        </a:ln>
                        <a:solidFill>
                          <a:schemeClr val="bg1"/>
                        </a:solidFill>
                        <a:effectLst/>
                        <a:latin typeface="微软雅黑" panose="020B0503020204020204" charset="-122"/>
                        <a:ea typeface="微软雅黑" panose="020B0503020204020204" charset="-122"/>
                      </a:endParaRPr>
                    </a:p>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600" b="1" u="none" strike="noStrike" cap="none" normalizeH="0" baseline="0" dirty="0">
                          <a:ln>
                            <a:noFill/>
                          </a:ln>
                          <a:solidFill>
                            <a:schemeClr val="bg1"/>
                          </a:solidFill>
                          <a:effectLst/>
                          <a:latin typeface="微软雅黑" panose="020B0503020204020204" charset="-122"/>
                          <a:ea typeface="微软雅黑" panose="020B0503020204020204" charset="-122"/>
                        </a:rPr>
                        <a:t>序差</a:t>
                      </a:r>
                      <a:endParaRPr kumimoji="0" lang="zh-CN" altLang="en-US" sz="1600" b="1" i="0" u="none" strike="noStrike" cap="none" normalizeH="0" baseline="0" dirty="0">
                        <a:ln>
                          <a:noFill/>
                        </a:ln>
                        <a:solidFill>
                          <a:schemeClr val="bg1"/>
                        </a:solidFill>
                        <a:effectLst/>
                        <a:latin typeface="微软雅黑" panose="020B0503020204020204" charset="-122"/>
                        <a:ea typeface="微软雅黑" panose="020B0503020204020204" charset="-122"/>
                      </a:endParaRPr>
                    </a:p>
                  </a:txBody>
                  <a:tcPr marL="0" marR="0" marT="0" marB="0" anchor="ctr" horzOverflow="overflow">
                    <a:solidFill>
                      <a:srgbClr val="FFC000"/>
                    </a:solidFill>
                  </a:tcPr>
                </a:tc>
              </a:tr>
              <a:tr h="457200">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600" b="1" u="none" strike="noStrike" cap="none" normalizeH="0" baseline="0" dirty="0">
                          <a:ln>
                            <a:noFill/>
                          </a:ln>
                          <a:solidFill>
                            <a:schemeClr val="bg1"/>
                          </a:solidFill>
                          <a:effectLst/>
                          <a:latin typeface="微软雅黑" panose="020B0503020204020204" charset="-122"/>
                          <a:ea typeface="微软雅黑" panose="020B0503020204020204" charset="-122"/>
                        </a:rPr>
                        <a:t>账面</a:t>
                      </a:r>
                      <a:endParaRPr kumimoji="0" lang="zh-CN" altLang="en-US" sz="1600" b="1" i="0" u="none" strike="noStrike" cap="none" normalizeH="0" baseline="0" dirty="0">
                        <a:ln>
                          <a:noFill/>
                        </a:ln>
                        <a:solidFill>
                          <a:schemeClr val="bg1"/>
                        </a:solidFill>
                        <a:effectLst/>
                        <a:latin typeface="微软雅黑" panose="020B0503020204020204" charset="-122"/>
                        <a:ea typeface="微软雅黑" panose="020B0503020204020204" charset="-122"/>
                      </a:endParaRPr>
                    </a:p>
                  </a:txBody>
                  <a:tcPr marL="0" marR="0" marT="0" marB="0" anchor="ctr" horzOverflow="overflow">
                    <a:solidFill>
                      <a:srgbClr val="FFC000"/>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600" b="1" u="none" strike="noStrike" cap="none" normalizeH="0" baseline="0" dirty="0">
                          <a:ln>
                            <a:noFill/>
                          </a:ln>
                          <a:solidFill>
                            <a:schemeClr val="bg1"/>
                          </a:solidFill>
                          <a:effectLst/>
                          <a:latin typeface="微软雅黑" panose="020B0503020204020204" charset="-122"/>
                          <a:ea typeface="微软雅黑" panose="020B0503020204020204" charset="-122"/>
                        </a:rPr>
                        <a:t>可比</a:t>
                      </a:r>
                      <a:endParaRPr kumimoji="0" lang="zh-CN" altLang="en-US" sz="1600" b="1" i="0" u="none" strike="noStrike" cap="none" normalizeH="0" baseline="0" dirty="0">
                        <a:ln>
                          <a:noFill/>
                        </a:ln>
                        <a:solidFill>
                          <a:schemeClr val="bg1"/>
                        </a:solidFill>
                        <a:effectLst/>
                        <a:latin typeface="微软雅黑" panose="020B0503020204020204" charset="-122"/>
                        <a:ea typeface="微软雅黑" panose="020B0503020204020204" charset="-122"/>
                      </a:endParaRPr>
                    </a:p>
                  </a:txBody>
                  <a:tcPr marL="0" marR="0" marT="0" marB="0" anchor="ctr" horzOverflow="overflow">
                    <a:solidFill>
                      <a:srgbClr val="FFC000"/>
                    </a:solidFill>
                  </a:tcPr>
                </a:tc>
                <a:tc vMerge="1">
                  <a:txBody>
                    <a:bodyPr/>
                    <a:lstStyle/>
                    <a:p>
                      <a:endParaRPr lang="zh-CN"/>
                    </a:p>
                  </a:txBody>
                  <a:tcPr/>
                </a:tc>
                <a:tc vMerge="1">
                  <a:txBody>
                    <a:bodyPr/>
                    <a:lstStyle/>
                    <a:p>
                      <a:endParaRPr lang="zh-CN"/>
                    </a:p>
                  </a:txBody>
                  <a:tcPr/>
                </a:tc>
              </a:tr>
              <a:tr h="521970">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charset="-122"/>
                          <a:ea typeface="微软雅黑" panose="020B0503020204020204" charset="-122"/>
                        </a:rPr>
                        <a:t>预算口径收入</a:t>
                      </a:r>
                      <a:r>
                        <a:rPr kumimoji="0" lang="en-US" altLang="zh-CN" sz="1400" u="none" strike="noStrike" cap="none" normalizeH="0" baseline="0" dirty="0">
                          <a:ln>
                            <a:noFill/>
                          </a:ln>
                          <a:effectLst/>
                          <a:latin typeface="微软雅黑" panose="020B0503020204020204" charset="-122"/>
                          <a:ea typeface="微软雅黑" panose="020B0503020204020204" charset="-122"/>
                        </a:rPr>
                        <a:t>-</a:t>
                      </a:r>
                      <a:r>
                        <a:rPr kumimoji="0" lang="zh-CN" altLang="en-US" sz="1400" u="none" strike="noStrike" cap="none" normalizeH="0" baseline="0" dirty="0">
                          <a:ln>
                            <a:noFill/>
                          </a:ln>
                          <a:effectLst/>
                          <a:latin typeface="微软雅黑" panose="020B0503020204020204" charset="-122"/>
                          <a:ea typeface="微软雅黑" panose="020B0503020204020204" charset="-122"/>
                        </a:rPr>
                        <a:t>当月</a:t>
                      </a:r>
                      <a:endParaRPr kumimoji="0" lang="zh-CN" altLang="en-US" sz="1400" b="1" i="0" u="none" strike="noStrike" cap="none" normalizeH="0" baseline="0" dirty="0">
                        <a:ln>
                          <a:noFill/>
                        </a:ln>
                        <a:solidFill>
                          <a:srgbClr val="000000"/>
                        </a:solidFill>
                        <a:effectLst/>
                        <a:latin typeface="微软雅黑" panose="020B0503020204020204" charset="-122"/>
                        <a:ea typeface="微软雅黑" panose="020B0503020204020204" charset="-122"/>
                      </a:endParaRPr>
                    </a:p>
                  </a:txBody>
                  <a:tcPr marL="0" marR="0" marT="0" marB="0" anchor="ctr" horzOverflow="overflow">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6,848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6,553</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-3.31%</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3.86%</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7.97%</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-0.36%</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r>
              <a:tr h="548640">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charset="-122"/>
                          <a:ea typeface="微软雅黑" panose="020B0503020204020204" charset="-122"/>
                        </a:rPr>
                        <a:t>预算口径收入</a:t>
                      </a:r>
                      <a:r>
                        <a:rPr kumimoji="0" lang="en-US" altLang="zh-CN" sz="1400" u="none" strike="noStrike" cap="none" normalizeH="0" baseline="0" dirty="0">
                          <a:ln>
                            <a:noFill/>
                          </a:ln>
                          <a:effectLst/>
                          <a:latin typeface="微软雅黑" panose="020B0503020204020204" charset="-122"/>
                          <a:ea typeface="微软雅黑" panose="020B0503020204020204" charset="-122"/>
                        </a:rPr>
                        <a:t>-</a:t>
                      </a:r>
                      <a:r>
                        <a:rPr kumimoji="0" lang="zh-CN" altLang="en-US" sz="1400" u="none" strike="noStrike" cap="none" normalizeH="0" baseline="0" dirty="0">
                          <a:ln>
                            <a:noFill/>
                          </a:ln>
                          <a:effectLst/>
                          <a:latin typeface="微软雅黑" panose="020B0503020204020204" charset="-122"/>
                          <a:ea typeface="微软雅黑" panose="020B0503020204020204" charset="-122"/>
                        </a:rPr>
                        <a:t>累计</a:t>
                      </a:r>
                      <a:endParaRPr kumimoji="0" lang="zh-CN" altLang="en-US" sz="1400" b="1" i="0" u="none" strike="noStrike" cap="none" normalizeH="0" baseline="0" dirty="0">
                        <a:ln>
                          <a:noFill/>
                        </a:ln>
                        <a:solidFill>
                          <a:srgbClr val="000000"/>
                        </a:solidFill>
                        <a:effectLst/>
                        <a:latin typeface="微软雅黑" panose="020B0503020204020204" charset="-122"/>
                        <a:ea typeface="微软雅黑" panose="020B0503020204020204" charset="-122"/>
                      </a:endParaRPr>
                    </a:p>
                  </a:txBody>
                  <a:tcPr marL="0" marR="0" marT="0" marB="0" anchor="ctr" horzOverflow="overflow">
                    <a:solidFill>
                      <a:schemeClr val="bg1">
                        <a:lumMod val="75000"/>
                      </a:schemeClr>
                    </a:solidFill>
                  </a:tcPr>
                </a:tc>
                <a:tc>
                  <a:txBody>
                    <a:bodyPr/>
                    <a:lstStyle/>
                    <a:p>
                      <a:pPr algn="ctr" fontAlgn="ctr"/>
                      <a:r>
                        <a:rPr lang="zh-CN" altLang="en-US" sz="1400" u="none" strike="noStrike" dirty="0">
                          <a:latin typeface="微软雅黑" panose="020B0503020204020204" charset="-122"/>
                          <a:ea typeface="微软雅黑" panose="020B0503020204020204" charset="-122"/>
                        </a:rPr>
                        <a:t> </a:t>
                      </a:r>
                      <a:r>
                        <a:rPr lang="en-US" altLang="zh-CN" sz="1400" u="none" strike="noStrike" dirty="0">
                          <a:latin typeface="微软雅黑" panose="020B0503020204020204" charset="-122"/>
                          <a:ea typeface="微软雅黑" panose="020B0503020204020204" charset="-122"/>
                        </a:rPr>
                        <a:t>82,181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26,826</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-4.72%</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2.34%</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32.64%</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-0.69%</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75000"/>
                      </a:schemeClr>
                    </a:solidFill>
                  </a:tcPr>
                </a:tc>
              </a:tr>
              <a:tr h="548005">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charset="-122"/>
                          <a:ea typeface="微软雅黑" panose="020B0503020204020204" charset="-122"/>
                        </a:rPr>
                        <a:t>考核口径收入</a:t>
                      </a:r>
                      <a:r>
                        <a:rPr kumimoji="0" lang="en-US" altLang="zh-CN" sz="1400" u="none" strike="noStrike" cap="none" normalizeH="0" baseline="0" dirty="0">
                          <a:ln>
                            <a:noFill/>
                          </a:ln>
                          <a:effectLst/>
                          <a:latin typeface="微软雅黑" panose="020B0503020204020204" charset="-122"/>
                          <a:ea typeface="微软雅黑" panose="020B0503020204020204" charset="-122"/>
                        </a:rPr>
                        <a:t>-</a:t>
                      </a:r>
                      <a:r>
                        <a:rPr kumimoji="0" lang="zh-CN" altLang="en-US" sz="1400" u="none" strike="noStrike" cap="none" normalizeH="0" baseline="0" dirty="0">
                          <a:ln>
                            <a:noFill/>
                          </a:ln>
                          <a:effectLst/>
                          <a:latin typeface="微软雅黑" panose="020B0503020204020204" charset="-122"/>
                          <a:ea typeface="微软雅黑" panose="020B0503020204020204" charset="-122"/>
                        </a:rPr>
                        <a:t>累计</a:t>
                      </a:r>
                      <a:endParaRPr kumimoji="0" lang="zh-CN" altLang="en-US" sz="1400" b="1" i="0" u="none" strike="noStrike" cap="none" normalizeH="0" baseline="0" dirty="0">
                        <a:ln>
                          <a:noFill/>
                        </a:ln>
                        <a:solidFill>
                          <a:srgbClr val="000000"/>
                        </a:solidFill>
                        <a:effectLst/>
                        <a:latin typeface="微软雅黑" panose="020B0503020204020204" charset="-122"/>
                        <a:ea typeface="微软雅黑" panose="020B0503020204020204" charset="-122"/>
                      </a:endParaRPr>
                    </a:p>
                  </a:txBody>
                  <a:tcPr marL="0" marR="0" marT="0" marB="0" anchor="ctr" horzOverflow="overflow">
                    <a:solidFill>
                      <a:schemeClr val="bg1">
                        <a:lumMod val="85000"/>
                      </a:schemeClr>
                    </a:solidFill>
                  </a:tcPr>
                </a:tc>
                <a:tc>
                  <a:txBody>
                    <a:bodyPr/>
                    <a:lstStyle/>
                    <a:p>
                      <a:pPr algn="ctr" fontAlgn="ctr"/>
                      <a:r>
                        <a:rPr lang="zh-CN" altLang="en-US" sz="1400" u="none" strike="noStrike" dirty="0">
                          <a:latin typeface="微软雅黑" panose="020B0503020204020204" charset="-122"/>
                          <a:ea typeface="微软雅黑" panose="020B0503020204020204" charset="-122"/>
                        </a:rPr>
                        <a:t> </a:t>
                      </a:r>
                      <a:r>
                        <a:rPr lang="en-US" altLang="zh-CN" sz="1400" u="none" strike="noStrike" dirty="0">
                          <a:latin typeface="微软雅黑" panose="020B0503020204020204" charset="-122"/>
                          <a:ea typeface="微软雅黑" panose="020B0503020204020204" charset="-122"/>
                        </a:rPr>
                        <a:t>82,181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26,654</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32.43%</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-0.90%</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r>
              <a:tr h="494030">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charset="-122"/>
                          <a:ea typeface="微软雅黑" panose="020B0503020204020204" charset="-122"/>
                        </a:rPr>
                        <a:t>净利润</a:t>
                      </a:r>
                      <a:endParaRPr kumimoji="0" lang="zh-CN" altLang="en-US" sz="1400" b="1" i="0" u="none" strike="noStrike" cap="none" normalizeH="0" baseline="0" dirty="0">
                        <a:ln>
                          <a:noFill/>
                        </a:ln>
                        <a:solidFill>
                          <a:srgbClr val="000000"/>
                        </a:solidFill>
                        <a:effectLst/>
                        <a:latin typeface="微软雅黑" panose="020B0503020204020204" charset="-122"/>
                        <a:ea typeface="微软雅黑" panose="020B0503020204020204" charset="-122"/>
                      </a:endParaRPr>
                    </a:p>
                  </a:txBody>
                  <a:tcPr marL="0" marR="0" marT="0" marB="0" anchor="ctr" horzOverflow="overflow">
                    <a:solidFill>
                      <a:schemeClr val="bg1">
                        <a:lumMod val="7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pPr>
                      <a:r>
                        <a:rPr lang="en-US" altLang="zh-CN" sz="1400" u="none" strike="noStrike" kern="1200" dirty="0">
                          <a:latin typeface="微软雅黑" panose="020B0503020204020204" charset="-122"/>
                          <a:ea typeface="微软雅黑" panose="020B0503020204020204" charset="-122"/>
                        </a:rPr>
                        <a:t>11,543</a:t>
                      </a:r>
                      <a:endParaRPr lang="en-US" altLang="zh-CN" sz="1400" b="0" i="0" u="none" strike="noStrike" kern="1200" dirty="0">
                        <a:solidFill>
                          <a:schemeClr val="tx1"/>
                        </a:solidFill>
                        <a:latin typeface="微软雅黑" panose="020B0503020204020204" charset="-122"/>
                        <a:ea typeface="微软雅黑" panose="020B0503020204020204" charset="-122"/>
                        <a:cs typeface="+mn-cs"/>
                      </a:endParaRPr>
                    </a:p>
                  </a:txBody>
                  <a:tcPr marL="0" marR="0" marT="0" marB="0" anchor="ctr" horzOverflow="overflow">
                    <a:solidFill>
                      <a:schemeClr val="bg1">
                        <a:lumMod val="7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pPr>
                      <a:r>
                        <a:rPr lang="en-US" altLang="zh-CN" sz="1400" u="none" strike="noStrike" kern="1200" dirty="0">
                          <a:latin typeface="微软雅黑" panose="020B0503020204020204" charset="-122"/>
                          <a:ea typeface="微软雅黑" panose="020B0503020204020204" charset="-122"/>
                        </a:rPr>
                        <a:t>3,935</a:t>
                      </a:r>
                      <a:endParaRPr lang="en-US" altLang="zh-CN" sz="1400" b="0" i="0" u="none" strike="noStrike" kern="1200" dirty="0">
                        <a:solidFill>
                          <a:schemeClr val="tx1"/>
                        </a:solidFill>
                        <a:latin typeface="微软雅黑" panose="020B0503020204020204" charset="-122"/>
                        <a:ea typeface="微软雅黑" panose="020B0503020204020204" charset="-122"/>
                        <a:cs typeface="+mn-cs"/>
                      </a:endParaRPr>
                    </a:p>
                  </a:txBody>
                  <a:tcPr marL="0" marR="0" marT="0" marB="0" anchor="ctr" horzOverflow="overflow">
                    <a:solidFill>
                      <a:schemeClr val="bg1">
                        <a:lumMod val="7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pPr>
                      <a:r>
                        <a:rPr lang="en-US" altLang="zh-CN" sz="1400" u="none" strike="noStrike" kern="1200" dirty="0">
                          <a:latin typeface="微软雅黑" panose="020B0503020204020204" charset="-122"/>
                          <a:ea typeface="微软雅黑" panose="020B0503020204020204" charset="-122"/>
                        </a:rPr>
                        <a:t>-20.77%</a:t>
                      </a:r>
                      <a:endParaRPr lang="en-US" altLang="zh-CN" sz="1400" b="0" i="0" u="none" strike="noStrike" kern="1200" dirty="0">
                        <a:solidFill>
                          <a:schemeClr val="tx1"/>
                        </a:solidFill>
                        <a:latin typeface="微软雅黑" panose="020B0503020204020204" charset="-122"/>
                        <a:ea typeface="微软雅黑" panose="020B0503020204020204" charset="-122"/>
                        <a:cs typeface="+mn-cs"/>
                      </a:endParaRPr>
                    </a:p>
                  </a:txBody>
                  <a:tcPr marL="0" marR="0" marT="0" marB="0" anchor="ctr" horzOverflow="overflow">
                    <a:solidFill>
                      <a:schemeClr val="bg1">
                        <a:lumMod val="7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pPr>
                      <a:endParaRPr lang="en-US" altLang="zh-CN" sz="1400" b="0" i="0" u="none" strike="noStrike" kern="1200" dirty="0">
                        <a:solidFill>
                          <a:schemeClr val="tx1"/>
                        </a:solidFill>
                        <a:latin typeface="微软雅黑" panose="020B0503020204020204" charset="-122"/>
                        <a:ea typeface="微软雅黑" panose="020B0503020204020204" charset="-122"/>
                        <a:cs typeface="+mn-cs"/>
                      </a:endParaRPr>
                    </a:p>
                  </a:txBody>
                  <a:tcPr marL="0" marR="0" marT="0" marB="0" anchor="ctr" horzOverflow="overflow">
                    <a:solidFill>
                      <a:schemeClr val="bg1">
                        <a:lumMod val="7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pPr>
                      <a:r>
                        <a:rPr lang="en-US" altLang="zh-CN" sz="1400" u="none" strike="noStrike" kern="1200" dirty="0">
                          <a:latin typeface="微软雅黑" panose="020B0503020204020204" charset="-122"/>
                          <a:ea typeface="微软雅黑" panose="020B0503020204020204" charset="-122"/>
                        </a:rPr>
                        <a:t>34.09%</a:t>
                      </a:r>
                      <a:endParaRPr lang="en-US" altLang="zh-CN" sz="1400" b="0" i="0" u="none" strike="noStrike" kern="1200" dirty="0">
                        <a:solidFill>
                          <a:schemeClr val="tx1"/>
                        </a:solidFill>
                        <a:latin typeface="微软雅黑" panose="020B0503020204020204" charset="-122"/>
                        <a:ea typeface="微软雅黑" panose="020B0503020204020204" charset="-122"/>
                        <a:cs typeface="+mn-cs"/>
                      </a:endParaRPr>
                    </a:p>
                  </a:txBody>
                  <a:tcPr marL="0" marR="0" marT="0" marB="0" anchor="ctr" horzOverflow="overflow">
                    <a:solidFill>
                      <a:schemeClr val="bg1">
                        <a:lumMod val="7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pPr>
                      <a:r>
                        <a:rPr lang="en-US" altLang="zh-CN" sz="1400" u="none" strike="noStrike" kern="1200" dirty="0">
                          <a:latin typeface="微软雅黑" panose="020B0503020204020204" charset="-122"/>
                          <a:ea typeface="微软雅黑" panose="020B0503020204020204" charset="-122"/>
                        </a:rPr>
                        <a:t>0.76%</a:t>
                      </a:r>
                      <a:endParaRPr lang="en-US" altLang="zh-CN" sz="1400" b="0" i="0" u="none" strike="noStrike" kern="1200" dirty="0">
                        <a:solidFill>
                          <a:schemeClr val="tx1"/>
                        </a:solidFill>
                        <a:latin typeface="微软雅黑" panose="020B0503020204020204" charset="-122"/>
                        <a:ea typeface="微软雅黑" panose="020B0503020204020204" charset="-122"/>
                        <a:cs typeface="+mn-cs"/>
                      </a:endParaRPr>
                    </a:p>
                  </a:txBody>
                  <a:tcPr marL="0" marR="0" marT="0" marB="0" anchor="ctr" horzOverflow="overflow">
                    <a:solidFill>
                      <a:schemeClr val="bg1">
                        <a:lumMod val="75000"/>
                      </a:schemeClr>
                    </a:solidFill>
                  </a:tcPr>
                </a:tc>
              </a:tr>
              <a:tr h="473075">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charset="-122"/>
                          <a:ea typeface="微软雅黑" panose="020B0503020204020204" charset="-122"/>
                        </a:rPr>
                        <a:t>资本性支出</a:t>
                      </a:r>
                      <a:endParaRPr kumimoji="0" lang="zh-CN" altLang="en-US" sz="1400" b="1" i="0" u="none" strike="noStrike" cap="none" normalizeH="0" baseline="0" dirty="0">
                        <a:ln>
                          <a:noFill/>
                        </a:ln>
                        <a:solidFill>
                          <a:srgbClr val="000000"/>
                        </a:solidFill>
                        <a:effectLst/>
                        <a:latin typeface="微软雅黑" panose="020B0503020204020204" charset="-122"/>
                        <a:ea typeface="微软雅黑" panose="020B0503020204020204" charset="-122"/>
                      </a:endParaRPr>
                    </a:p>
                  </a:txBody>
                  <a:tcPr marL="0" marR="0" marT="0" marB="0" anchor="ctr" horzOverflow="overflow">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30,266</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4,700</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4.14%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endParaRPr kumimoji="0" lang="en-US" altLang="zh-CN" sz="1400" b="1" i="0" u="none" strike="noStrike" cap="none" normalizeH="0" baseline="0" dirty="0">
                        <a:ln>
                          <a:noFill/>
                        </a:ln>
                        <a:solidFill>
                          <a:srgbClr val="000000"/>
                        </a:solidFill>
                        <a:effectLst/>
                        <a:latin typeface="微软雅黑" panose="020B0503020204020204" charset="-122"/>
                        <a:ea typeface="微软雅黑" panose="020B0503020204020204" charset="-122"/>
                      </a:endParaRPr>
                    </a:p>
                  </a:txBody>
                  <a:tcPr marL="0" marR="0" marT="0" marB="0" anchor="ctr" horzOverflow="overflow">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15.53%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-17.80 %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r>
            </a:tbl>
          </a:graphicData>
        </a:graphic>
      </p:graphicFrame>
      <p:sp>
        <p:nvSpPr>
          <p:cNvPr id="9" name="TextBox 10"/>
          <p:cNvSpPr txBox="1"/>
          <p:nvPr/>
        </p:nvSpPr>
        <p:spPr>
          <a:xfrm>
            <a:off x="1489624" y="5109006"/>
            <a:ext cx="9435548" cy="1198880"/>
          </a:xfrm>
          <a:prstGeom prst="rect">
            <a:avLst/>
          </a:prstGeom>
          <a:noFill/>
        </p:spPr>
        <p:txBody>
          <a:bodyPr wrap="square">
            <a:spAutoFit/>
          </a:bodyPr>
          <a:lstStyle/>
          <a:p>
            <a:pPr marL="285750" indent="-285750">
              <a:lnSpc>
                <a:spcPct val="150000"/>
              </a:lnSpc>
              <a:buClr>
                <a:srgbClr val="FFC000"/>
              </a:buClr>
              <a:buFont typeface="Wingdings" panose="05000000000000000000" charset="0"/>
              <a:buChar char="n"/>
              <a:defRPr/>
            </a:pPr>
            <a:r>
              <a:rPr lang="zh-CN" altLang="en-US" sz="1600" dirty="0">
                <a:latin typeface="微软雅黑" panose="020B0503020204020204" charset="-122"/>
                <a:ea typeface="微软雅黑" panose="020B0503020204020204" charset="-122"/>
              </a:rPr>
              <a:t>预算口径收入累计缺口</a:t>
            </a:r>
            <a:r>
              <a:rPr lang="en-US" altLang="zh-CN" sz="1600" dirty="0">
                <a:latin typeface="微软雅黑" panose="020B0503020204020204" charset="-122"/>
                <a:ea typeface="微软雅黑" panose="020B0503020204020204" charset="-122"/>
              </a:rPr>
              <a:t>568</a:t>
            </a:r>
            <a:r>
              <a:rPr lang="zh-CN" altLang="en-US" sz="1600" dirty="0">
                <a:latin typeface="微软雅黑" panose="020B0503020204020204" charset="-122"/>
                <a:ea typeface="微软雅黑" panose="020B0503020204020204" charset="-122"/>
              </a:rPr>
              <a:t>万元，可比增幅低于目标增幅</a:t>
            </a:r>
            <a:r>
              <a:rPr lang="en-US" altLang="zh-CN" sz="1600" dirty="0">
                <a:latin typeface="微软雅黑" panose="020B0503020204020204" charset="-122"/>
                <a:ea typeface="微软雅黑" panose="020B0503020204020204" charset="-122"/>
              </a:rPr>
              <a:t>(9.13%)6.79%,</a:t>
            </a:r>
            <a:r>
              <a:rPr lang="zh-CN" altLang="en-US" sz="1600" dirty="0">
                <a:latin typeface="微软雅黑" panose="020B0503020204020204" charset="-122"/>
                <a:ea typeface="微软雅黑" panose="020B0503020204020204" charset="-122"/>
              </a:rPr>
              <a:t>账面增幅低于目标增幅（</a:t>
            </a:r>
            <a:r>
              <a:rPr lang="en-US" altLang="zh-CN" sz="1600" dirty="0">
                <a:latin typeface="微软雅黑" panose="020B0503020204020204" charset="-122"/>
                <a:ea typeface="微软雅黑" panose="020B0503020204020204" charset="-122"/>
              </a:rPr>
              <a:t>5.70%</a:t>
            </a:r>
            <a:r>
              <a:rPr lang="zh-CN" altLang="en-US"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10.43%</a:t>
            </a:r>
            <a:r>
              <a:rPr lang="zh-CN" altLang="en-US" sz="1600" dirty="0">
                <a:latin typeface="微软雅黑" panose="020B0503020204020204" charset="-122"/>
                <a:ea typeface="微软雅黑" panose="020B0503020204020204" charset="-122"/>
              </a:rPr>
              <a:t>，考核口径收入缺口</a:t>
            </a:r>
            <a:r>
              <a:rPr lang="en-US" altLang="zh-CN" sz="1600" dirty="0">
                <a:latin typeface="微软雅黑" panose="020B0503020204020204" charset="-122"/>
                <a:ea typeface="微软雅黑" panose="020B0503020204020204" charset="-122"/>
              </a:rPr>
              <a:t>740</a:t>
            </a:r>
            <a:r>
              <a:rPr lang="zh-CN" altLang="en-US" sz="1600" dirty="0">
                <a:latin typeface="微软雅黑" panose="020B0503020204020204" charset="-122"/>
                <a:ea typeface="微软雅黑" panose="020B0503020204020204" charset="-122"/>
              </a:rPr>
              <a:t>万元</a:t>
            </a:r>
          </a:p>
          <a:p>
            <a:pPr marL="285750" indent="-285750">
              <a:lnSpc>
                <a:spcPct val="150000"/>
              </a:lnSpc>
              <a:buClr>
                <a:srgbClr val="FFC000"/>
              </a:buClr>
              <a:buFont typeface="Wingdings" panose="05000000000000000000" charset="0"/>
              <a:buChar char="n"/>
              <a:defRPr/>
            </a:pPr>
            <a:r>
              <a:rPr lang="zh-CN" altLang="en-US" sz="1600" dirty="0">
                <a:latin typeface="微软雅黑" panose="020B0503020204020204" charset="-122"/>
                <a:ea typeface="微软雅黑" panose="020B0503020204020204" charset="-122"/>
              </a:rPr>
              <a:t>净利润累计完成</a:t>
            </a:r>
            <a:r>
              <a:rPr lang="en-US" altLang="zh-CN" sz="1600" dirty="0">
                <a:latin typeface="微软雅黑" panose="020B0503020204020204" charset="-122"/>
                <a:ea typeface="微软雅黑" panose="020B0503020204020204" charset="-122"/>
              </a:rPr>
              <a:t>3,935.36</a:t>
            </a:r>
            <a:r>
              <a:rPr lang="zh-CN" altLang="en-US" sz="1600" dirty="0">
                <a:latin typeface="微软雅黑" panose="020B0503020204020204" charset="-122"/>
                <a:ea typeface="微软雅黑" panose="020B0503020204020204" charset="-122"/>
              </a:rPr>
              <a:t>万元，高于时序进度</a:t>
            </a:r>
            <a:r>
              <a:rPr lang="en-US" altLang="zh-CN" sz="1600" dirty="0">
                <a:latin typeface="微软雅黑" panose="020B0503020204020204" charset="-122"/>
                <a:ea typeface="微软雅黑" panose="020B0503020204020204" charset="-122"/>
              </a:rPr>
              <a:t>87.69</a:t>
            </a:r>
            <a:r>
              <a:rPr lang="zh-CN" altLang="en-US" sz="1600" dirty="0">
                <a:latin typeface="微软雅黑" panose="020B0503020204020204" charset="-122"/>
                <a:ea typeface="微软雅黑" panose="020B0503020204020204" charset="-122"/>
              </a:rPr>
              <a:t>万元（</a:t>
            </a:r>
            <a:r>
              <a:rPr lang="en-US" altLang="zh-CN" sz="1600" dirty="0">
                <a:latin typeface="微软雅黑" panose="020B0503020204020204" charset="-122"/>
                <a:ea typeface="微软雅黑" panose="020B0503020204020204" charset="-122"/>
              </a:rPr>
              <a:t>0.76%</a:t>
            </a:r>
            <a:r>
              <a:rPr lang="zh-CN" altLang="en-US" sz="1600" dirty="0">
                <a:latin typeface="微软雅黑" panose="020B0503020204020204" charset="-122"/>
                <a:ea typeface="微软雅黑" panose="020B0503020204020204" charset="-122"/>
              </a:rPr>
              <a:t>） </a:t>
            </a:r>
          </a:p>
        </p:txBody>
      </p:sp>
      <p:sp>
        <p:nvSpPr>
          <p:cNvPr id="57" name="TextBox 14"/>
          <p:cNvSpPr txBox="1"/>
          <p:nvPr/>
        </p:nvSpPr>
        <p:spPr>
          <a:xfrm>
            <a:off x="9405635" y="773408"/>
            <a:ext cx="1071880" cy="306705"/>
          </a:xfrm>
          <a:prstGeom prst="rect">
            <a:avLst/>
          </a:prstGeom>
          <a:noFill/>
        </p:spPr>
        <p:txBody>
          <a:bodyPr wrap="none" rtlCol="0">
            <a:spAutoFit/>
          </a:bodyPr>
          <a:lstStyle/>
          <a:p>
            <a:pPr algn="r"/>
            <a:r>
              <a:rPr lang="zh-CN" altLang="en-US" sz="1400" dirty="0">
                <a:latin typeface="微软雅黑" panose="020B0503020204020204" charset="-122"/>
                <a:ea typeface="微软雅黑" panose="020B0503020204020204" charset="-122"/>
              </a:rPr>
              <a:t>单位：万元</a:t>
            </a:r>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up)">
                                      <p:cBhvr>
                                        <p:cTn id="7" dur="50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9" name="矩形 78"/>
          <p:cNvSpPr/>
          <p:nvPr/>
        </p:nvSpPr>
        <p:spPr>
          <a:xfrm>
            <a:off x="-11017" y="-30458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0" name="文本框 79"/>
          <p:cNvSpPr txBox="1"/>
          <p:nvPr/>
        </p:nvSpPr>
        <p:spPr>
          <a:xfrm>
            <a:off x="418455" y="373596"/>
            <a:ext cx="2787500" cy="398780"/>
          </a:xfrm>
          <a:prstGeom prst="rect">
            <a:avLst/>
          </a:prstGeom>
          <a:noFill/>
        </p:spPr>
        <p:txBody>
          <a:bodyPr wrap="square" rtlCol="0">
            <a:spAutoFit/>
          </a:bodyPr>
          <a:lstStyle/>
          <a:p>
            <a:r>
              <a:rPr lang="zh-CN" altLang="en-US" sz="2000" b="1" dirty="0">
                <a:cs typeface="+mn-ea"/>
                <a:sym typeface="+mn-lt"/>
              </a:rPr>
              <a:t>主要指标完成情况</a:t>
            </a:r>
          </a:p>
        </p:txBody>
      </p:sp>
      <p:cxnSp>
        <p:nvCxnSpPr>
          <p:cNvPr id="82" name="直接连接符 81"/>
          <p:cNvCxnSpPr/>
          <p:nvPr/>
        </p:nvCxnSpPr>
        <p:spPr>
          <a:xfrm>
            <a:off x="-157" y="773370"/>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855435" y="3086739"/>
            <a:ext cx="3988645" cy="2346652"/>
          </a:xfrm>
          <a:prstGeom prst="rect">
            <a:avLst/>
          </a:prstGeom>
          <a:solidFill>
            <a:schemeClr val="bg1">
              <a:lumMod val="95000"/>
            </a:schemeClr>
          </a:solidFill>
          <a:ln w="22225" cmpd="sng">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57" name="矩形 56"/>
          <p:cNvSpPr/>
          <p:nvPr/>
        </p:nvSpPr>
        <p:spPr>
          <a:xfrm>
            <a:off x="2074718" y="4634948"/>
            <a:ext cx="1730531" cy="338554"/>
          </a:xfrm>
          <a:prstGeom prst="rect">
            <a:avLst/>
          </a:prstGeom>
        </p:spPr>
        <p:txBody>
          <a:bodyPr wrap="square">
            <a:spAutoFit/>
          </a:bodyPr>
          <a:lstStyle/>
          <a:p>
            <a:pPr fontAlgn="ctr"/>
            <a:r>
              <a:rPr lang="en-US" altLang="zh-CN" sz="1600" dirty="0">
                <a:latin typeface="微软雅黑" panose="020B0503020204020204" charset="-122"/>
                <a:ea typeface="微软雅黑" panose="020B0503020204020204" charset="-122"/>
              </a:rPr>
              <a:t>2</a:t>
            </a:r>
            <a:r>
              <a:rPr lang="zh-CN" altLang="en-US" sz="1600" dirty="0">
                <a:latin typeface="微软雅黑" panose="020B0503020204020204" charset="-122"/>
                <a:ea typeface="微软雅黑" panose="020B0503020204020204" charset="-122"/>
              </a:rPr>
              <a:t>、考核口径收入</a:t>
            </a:r>
          </a:p>
        </p:txBody>
      </p:sp>
      <p:sp>
        <p:nvSpPr>
          <p:cNvPr id="58" name="矩形 57"/>
          <p:cNvSpPr/>
          <p:nvPr/>
        </p:nvSpPr>
        <p:spPr>
          <a:xfrm>
            <a:off x="1855435" y="3086739"/>
            <a:ext cx="3988645" cy="517191"/>
          </a:xfrm>
          <a:prstGeom prst="rect">
            <a:avLst/>
          </a:prstGeom>
          <a:solidFill>
            <a:srgbClr val="FFC000"/>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zh-CN" altLang="en-US" dirty="0">
                <a:solidFill>
                  <a:srgbClr val="404040"/>
                </a:solidFill>
                <a:latin typeface="微软雅黑" panose="020B0503020204020204" charset="-122"/>
                <a:ea typeface="微软雅黑" panose="020B0503020204020204" charset="-122"/>
              </a:rPr>
              <a:t>考核口径收入计算过程</a:t>
            </a:r>
          </a:p>
        </p:txBody>
      </p:sp>
      <p:sp>
        <p:nvSpPr>
          <p:cNvPr id="59" name="矩形 58"/>
          <p:cNvSpPr/>
          <p:nvPr/>
        </p:nvSpPr>
        <p:spPr>
          <a:xfrm>
            <a:off x="2074545" y="3826510"/>
            <a:ext cx="3769995" cy="583565"/>
          </a:xfrm>
          <a:prstGeom prst="rect">
            <a:avLst/>
          </a:prstGeom>
        </p:spPr>
        <p:txBody>
          <a:bodyPr wrap="square">
            <a:spAutoFit/>
          </a:bodyPr>
          <a:lstStyle/>
          <a:p>
            <a:pPr fontAlgn="ctr"/>
            <a:r>
              <a:rPr lang="en-US" altLang="zh-CN" sz="1600" dirty="0">
                <a:latin typeface="微软雅黑" panose="020B0503020204020204" charset="-122"/>
                <a:ea typeface="微软雅黑" panose="020B0503020204020204" charset="-122"/>
              </a:rPr>
              <a:t>1</a:t>
            </a:r>
            <a:r>
              <a:rPr lang="zh-CN" altLang="en-US" sz="1600" dirty="0">
                <a:latin typeface="微软雅黑" panose="020B0503020204020204" charset="-122"/>
                <a:ea typeface="微软雅黑" panose="020B0503020204020204" charset="-122"/>
              </a:rPr>
              <a:t>、预算口径收入，</a:t>
            </a:r>
            <a:r>
              <a:rPr lang="zh-CN" altLang="en-US" sz="1600" dirty="0">
                <a:latin typeface="微软雅黑" panose="020B0503020204020204" charset="-122"/>
                <a:ea typeface="微软雅黑" panose="020B0503020204020204" charset="-122"/>
                <a:sym typeface="+mn-ea"/>
              </a:rPr>
              <a:t>应收账款增加额</a:t>
            </a:r>
            <a:endParaRPr lang="zh-CN" altLang="en-US" sz="1600" dirty="0">
              <a:latin typeface="微软雅黑" panose="020B0503020204020204" charset="-122"/>
              <a:ea typeface="微软雅黑" panose="020B0503020204020204" charset="-122"/>
            </a:endParaRPr>
          </a:p>
          <a:p>
            <a:pPr fontAlgn="ctr"/>
            <a:endParaRPr lang="zh-CN" altLang="en-US" sz="1600" dirty="0">
              <a:latin typeface="微软雅黑" panose="020B0503020204020204" charset="-122"/>
              <a:ea typeface="微软雅黑" panose="020B0503020204020204" charset="-122"/>
            </a:endParaRPr>
          </a:p>
        </p:txBody>
      </p:sp>
      <p:sp>
        <p:nvSpPr>
          <p:cNvPr id="72" name="矩形 71"/>
          <p:cNvSpPr/>
          <p:nvPr/>
        </p:nvSpPr>
        <p:spPr>
          <a:xfrm>
            <a:off x="6334539" y="3088199"/>
            <a:ext cx="4028662" cy="2358444"/>
          </a:xfrm>
          <a:prstGeom prst="rect">
            <a:avLst/>
          </a:prstGeom>
          <a:solidFill>
            <a:schemeClr val="bg1">
              <a:lumMod val="95000"/>
            </a:schemeClr>
          </a:solidFill>
          <a:ln w="22225" cmpd="sng">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1" name="矩形 80"/>
          <p:cNvSpPr/>
          <p:nvPr/>
        </p:nvSpPr>
        <p:spPr>
          <a:xfrm>
            <a:off x="6429544" y="4246844"/>
            <a:ext cx="3748127" cy="338554"/>
          </a:xfrm>
          <a:prstGeom prst="rect">
            <a:avLst/>
          </a:prstGeom>
        </p:spPr>
        <p:txBody>
          <a:bodyPr wrap="square">
            <a:spAutoFit/>
          </a:bodyPr>
          <a:lstStyle/>
          <a:p>
            <a:pPr fontAlgn="ctr"/>
            <a:r>
              <a:rPr lang="en-US" altLang="zh-CN" sz="1600" dirty="0">
                <a:latin typeface="微软雅黑" panose="020B0503020204020204" charset="-122"/>
                <a:ea typeface="微软雅黑" panose="020B0503020204020204" charset="-122"/>
              </a:rPr>
              <a:t>2</a:t>
            </a:r>
            <a:r>
              <a:rPr lang="zh-CN" altLang="en-US" sz="1600" dirty="0">
                <a:latin typeface="微软雅黑" panose="020B0503020204020204" charset="-122"/>
                <a:ea typeface="微软雅黑" panose="020B0503020204020204" charset="-122"/>
              </a:rPr>
              <a:t>、应收账款增加额抵减收入</a:t>
            </a:r>
            <a:r>
              <a:rPr lang="en-US" altLang="zh-CN" sz="1600" dirty="0">
                <a:latin typeface="微软雅黑" panose="020B0503020204020204" charset="-122"/>
                <a:ea typeface="微软雅黑" panose="020B0503020204020204" charset="-122"/>
              </a:rPr>
              <a:t>172</a:t>
            </a:r>
            <a:r>
              <a:rPr lang="zh-CN" altLang="en-US" sz="1600" dirty="0">
                <a:latin typeface="微软雅黑" panose="020B0503020204020204" charset="-122"/>
                <a:ea typeface="微软雅黑" panose="020B0503020204020204" charset="-122"/>
              </a:rPr>
              <a:t>万元</a:t>
            </a:r>
          </a:p>
        </p:txBody>
      </p:sp>
      <p:sp>
        <p:nvSpPr>
          <p:cNvPr id="83" name="矩形 82"/>
          <p:cNvSpPr/>
          <p:nvPr/>
        </p:nvSpPr>
        <p:spPr>
          <a:xfrm>
            <a:off x="6756917" y="4788887"/>
            <a:ext cx="2850909" cy="338554"/>
          </a:xfrm>
          <a:prstGeom prst="rect">
            <a:avLst/>
          </a:prstGeom>
        </p:spPr>
        <p:txBody>
          <a:bodyPr wrap="square">
            <a:spAutoFit/>
          </a:bodyPr>
          <a:lstStyle/>
          <a:p>
            <a:pPr fontAlgn="ctr"/>
            <a:r>
              <a:rPr lang="zh-CN" altLang="en-US" sz="1600" dirty="0">
                <a:latin typeface="微软雅黑" panose="020B0503020204020204" charset="-122"/>
                <a:ea typeface="微软雅黑" panose="020B0503020204020204" charset="-122"/>
              </a:rPr>
              <a:t>考核口径收入缺口</a:t>
            </a:r>
            <a:r>
              <a:rPr lang="en-US" altLang="zh-CN" sz="1600" dirty="0">
                <a:latin typeface="微软雅黑" panose="020B0503020204020204" charset="-122"/>
                <a:ea typeface="微软雅黑" panose="020B0503020204020204" charset="-122"/>
              </a:rPr>
              <a:t>740</a:t>
            </a:r>
            <a:r>
              <a:rPr lang="zh-CN" altLang="en-US" sz="1600" dirty="0">
                <a:latin typeface="微软雅黑" panose="020B0503020204020204" charset="-122"/>
                <a:ea typeface="微软雅黑" panose="020B0503020204020204" charset="-122"/>
              </a:rPr>
              <a:t>万元</a:t>
            </a:r>
          </a:p>
        </p:txBody>
      </p:sp>
      <p:sp>
        <p:nvSpPr>
          <p:cNvPr id="84" name="矩形 83"/>
          <p:cNvSpPr/>
          <p:nvPr/>
        </p:nvSpPr>
        <p:spPr>
          <a:xfrm>
            <a:off x="6334539" y="3088199"/>
            <a:ext cx="4028662" cy="517191"/>
          </a:xfrm>
          <a:prstGeom prst="rect">
            <a:avLst/>
          </a:prstGeom>
          <a:solidFill>
            <a:srgbClr val="FFC000"/>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zh-CN" altLang="en-US" dirty="0">
                <a:solidFill>
                  <a:srgbClr val="404040"/>
                </a:solidFill>
                <a:latin typeface="微软雅黑" panose="020B0503020204020204" charset="-122"/>
                <a:ea typeface="微软雅黑" panose="020B0503020204020204" charset="-122"/>
              </a:rPr>
              <a:t>考核口径收入缺口构成</a:t>
            </a:r>
          </a:p>
        </p:txBody>
      </p:sp>
      <p:sp>
        <p:nvSpPr>
          <p:cNvPr id="86" name="矩形 85"/>
          <p:cNvSpPr/>
          <p:nvPr/>
        </p:nvSpPr>
        <p:spPr>
          <a:xfrm>
            <a:off x="6438452" y="3768557"/>
            <a:ext cx="3328401" cy="338554"/>
          </a:xfrm>
          <a:prstGeom prst="rect">
            <a:avLst/>
          </a:prstGeom>
        </p:spPr>
        <p:txBody>
          <a:bodyPr wrap="square">
            <a:spAutoFit/>
          </a:bodyPr>
          <a:lstStyle/>
          <a:p>
            <a:pPr fontAlgn="ctr"/>
            <a:r>
              <a:rPr lang="en-US" altLang="zh-CN" sz="1600" dirty="0">
                <a:latin typeface="微软雅黑" panose="020B0503020204020204" charset="-122"/>
                <a:ea typeface="微软雅黑" panose="020B0503020204020204" charset="-122"/>
              </a:rPr>
              <a:t>1</a:t>
            </a:r>
            <a:r>
              <a:rPr lang="zh-CN" altLang="en-US" sz="1600" dirty="0">
                <a:latin typeface="微软雅黑" panose="020B0503020204020204" charset="-122"/>
                <a:ea typeface="微软雅黑" panose="020B0503020204020204" charset="-122"/>
              </a:rPr>
              <a:t>、预算口径收入缺口</a:t>
            </a:r>
            <a:r>
              <a:rPr lang="en-US" altLang="zh-CN" sz="1600" dirty="0">
                <a:latin typeface="微软雅黑" panose="020B0503020204020204" charset="-122"/>
                <a:ea typeface="微软雅黑" panose="020B0503020204020204" charset="-122"/>
              </a:rPr>
              <a:t>568</a:t>
            </a:r>
            <a:r>
              <a:rPr lang="zh-CN" altLang="en-US" sz="1600" dirty="0">
                <a:latin typeface="微软雅黑" panose="020B0503020204020204" charset="-122"/>
                <a:ea typeface="微软雅黑" panose="020B0503020204020204" charset="-122"/>
              </a:rPr>
              <a:t>万元</a:t>
            </a:r>
          </a:p>
        </p:txBody>
      </p:sp>
      <p:sp>
        <p:nvSpPr>
          <p:cNvPr id="87" name="TextBox 2"/>
          <p:cNvSpPr txBox="1"/>
          <p:nvPr/>
        </p:nvSpPr>
        <p:spPr bwMode="auto">
          <a:xfrm>
            <a:off x="1815548" y="5520275"/>
            <a:ext cx="8574155" cy="807875"/>
          </a:xfrm>
          <a:prstGeom prst="rect">
            <a:avLst/>
          </a:prstGeom>
          <a:noFill/>
          <a:ln>
            <a:noFill/>
          </a:ln>
        </p:spPr>
        <p:txBody>
          <a:bodyPr wrap="square" lIns="68543" tIns="34271" rIns="68543" bIns="34271">
            <a:spAutoFit/>
          </a:bodyPr>
          <a:lstStyle/>
          <a:p>
            <a:pPr>
              <a:lnSpc>
                <a:spcPct val="150000"/>
              </a:lnSpc>
              <a:buClr>
                <a:schemeClr val="accent1">
                  <a:lumMod val="75000"/>
                </a:schemeClr>
              </a:buClr>
              <a:defRPr/>
            </a:pPr>
            <a:r>
              <a:rPr lang="zh-CN" altLang="en-US" sz="1600" dirty="0">
                <a:latin typeface="微软雅黑" panose="020B0503020204020204" charset="-122"/>
                <a:ea typeface="微软雅黑" panose="020B0503020204020204" charset="-122"/>
              </a:rPr>
              <a:t>备注：</a:t>
            </a:r>
            <a:endParaRPr lang="en-US" altLang="zh-CN" sz="1600" dirty="0">
              <a:latin typeface="微软雅黑" panose="020B0503020204020204" charset="-122"/>
              <a:ea typeface="微软雅黑" panose="020B0503020204020204" charset="-122"/>
            </a:endParaRPr>
          </a:p>
          <a:p>
            <a:pPr>
              <a:lnSpc>
                <a:spcPct val="150000"/>
              </a:lnSpc>
              <a:buClr>
                <a:schemeClr val="accent1">
                  <a:lumMod val="75000"/>
                </a:schemeClr>
              </a:buClr>
              <a:defRPr/>
            </a:pPr>
            <a:r>
              <a:rPr lang="zh-CN" altLang="en-US" sz="1600" dirty="0">
                <a:latin typeface="微软雅黑" panose="020B0503020204020204" charset="-122"/>
                <a:ea typeface="微软雅黑" panose="020B0503020204020204" charset="-122"/>
              </a:rPr>
              <a:t>应收账款占收比基准值暂按省公司上年下达目标</a:t>
            </a:r>
            <a:r>
              <a:rPr lang="en-US" altLang="zh-CN" sz="1600" dirty="0">
                <a:latin typeface="微软雅黑" panose="020B0503020204020204" charset="-122"/>
                <a:ea typeface="微软雅黑" panose="020B0503020204020204" charset="-122"/>
              </a:rPr>
              <a:t>8.06%</a:t>
            </a:r>
            <a:r>
              <a:rPr lang="zh-CN" altLang="en-US" sz="1600" dirty="0">
                <a:latin typeface="微软雅黑" panose="020B0503020204020204" charset="-122"/>
                <a:ea typeface="微软雅黑" panose="020B0503020204020204" charset="-122"/>
              </a:rPr>
              <a:t>。</a:t>
            </a:r>
          </a:p>
        </p:txBody>
      </p:sp>
      <p:sp>
        <p:nvSpPr>
          <p:cNvPr id="88" name="矩形 87"/>
          <p:cNvSpPr/>
          <p:nvPr/>
        </p:nvSpPr>
        <p:spPr>
          <a:xfrm>
            <a:off x="1855305" y="1725572"/>
            <a:ext cx="3988905" cy="1364974"/>
          </a:xfrm>
          <a:prstGeom prst="rect">
            <a:avLst/>
          </a:prstGeom>
          <a:blipFill dpi="0" rotWithShape="1">
            <a:blip r:embed="rId3">
              <a:grayscl/>
              <a:extLst>
                <a:ext uri="{28A0092B-C50C-407E-A947-70E740481C1C}">
                  <a14:useLocalDpi xmlns:a14="http://schemas.microsoft.com/office/drawing/2010/main"/>
                </a:ext>
              </a:extLst>
            </a:blip>
            <a:srcRect/>
            <a:stretch>
              <a:fillRect/>
            </a:stretch>
          </a:blip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p:cNvSpPr/>
          <p:nvPr/>
        </p:nvSpPr>
        <p:spPr>
          <a:xfrm>
            <a:off x="6337853" y="1729408"/>
            <a:ext cx="4022035" cy="1364974"/>
          </a:xfrm>
          <a:prstGeom prst="rect">
            <a:avLst/>
          </a:prstGeom>
          <a:blipFill dpi="0" rotWithShape="1">
            <a:blip r:embed="rId4" cstate="print">
              <a:grayscl/>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a:ext>
              </a:extLst>
            </a:blip>
            <a:srcRect/>
            <a:stretch>
              <a:fillRect/>
            </a:stretch>
          </a:blip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fade">
                                      <p:cBhvr>
                                        <p:cTn id="12" dur="1000"/>
                                        <p:tgtEl>
                                          <p:spTgt spid="57"/>
                                        </p:tgtEl>
                                      </p:cBhvr>
                                    </p:animEffect>
                                    <p:anim calcmode="lin" valueType="num">
                                      <p:cBhvr>
                                        <p:cTn id="13" dur="1000" fill="hold"/>
                                        <p:tgtEl>
                                          <p:spTgt spid="57"/>
                                        </p:tgtEl>
                                        <p:attrNameLst>
                                          <p:attrName>ppt_x</p:attrName>
                                        </p:attrNameLst>
                                      </p:cBhvr>
                                      <p:tavLst>
                                        <p:tav tm="0">
                                          <p:val>
                                            <p:strVal val="#ppt_x"/>
                                          </p:val>
                                        </p:tav>
                                        <p:tav tm="100000">
                                          <p:val>
                                            <p:strVal val="#ppt_x"/>
                                          </p:val>
                                        </p:tav>
                                      </p:tavLst>
                                    </p:anim>
                                    <p:anim calcmode="lin" valueType="num">
                                      <p:cBhvr>
                                        <p:cTn id="14" dur="1000" fill="hold"/>
                                        <p:tgtEl>
                                          <p:spTgt spid="5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fade">
                                      <p:cBhvr>
                                        <p:cTn id="17" dur="1000"/>
                                        <p:tgtEl>
                                          <p:spTgt spid="58"/>
                                        </p:tgtEl>
                                      </p:cBhvr>
                                    </p:animEffect>
                                    <p:anim calcmode="lin" valueType="num">
                                      <p:cBhvr>
                                        <p:cTn id="18" dur="1000" fill="hold"/>
                                        <p:tgtEl>
                                          <p:spTgt spid="58"/>
                                        </p:tgtEl>
                                        <p:attrNameLst>
                                          <p:attrName>ppt_x</p:attrName>
                                        </p:attrNameLst>
                                      </p:cBhvr>
                                      <p:tavLst>
                                        <p:tav tm="0">
                                          <p:val>
                                            <p:strVal val="#ppt_x"/>
                                          </p:val>
                                        </p:tav>
                                        <p:tav tm="100000">
                                          <p:val>
                                            <p:strVal val="#ppt_x"/>
                                          </p:val>
                                        </p:tav>
                                      </p:tavLst>
                                    </p:anim>
                                    <p:anim calcmode="lin" valueType="num">
                                      <p:cBhvr>
                                        <p:cTn id="19" dur="1000" fill="hold"/>
                                        <p:tgtEl>
                                          <p:spTgt spid="5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9"/>
                                        </p:tgtEl>
                                        <p:attrNameLst>
                                          <p:attrName>style.visibility</p:attrName>
                                        </p:attrNameLst>
                                      </p:cBhvr>
                                      <p:to>
                                        <p:strVal val="visible"/>
                                      </p:to>
                                    </p:set>
                                    <p:animEffect transition="in" filter="fade">
                                      <p:cBhvr>
                                        <p:cTn id="22" dur="1000"/>
                                        <p:tgtEl>
                                          <p:spTgt spid="59"/>
                                        </p:tgtEl>
                                      </p:cBhvr>
                                    </p:animEffect>
                                    <p:anim calcmode="lin" valueType="num">
                                      <p:cBhvr>
                                        <p:cTn id="23" dur="1000" fill="hold"/>
                                        <p:tgtEl>
                                          <p:spTgt spid="59"/>
                                        </p:tgtEl>
                                        <p:attrNameLst>
                                          <p:attrName>ppt_x</p:attrName>
                                        </p:attrNameLst>
                                      </p:cBhvr>
                                      <p:tavLst>
                                        <p:tav tm="0">
                                          <p:val>
                                            <p:strVal val="#ppt_x"/>
                                          </p:val>
                                        </p:tav>
                                        <p:tav tm="100000">
                                          <p:val>
                                            <p:strVal val="#ppt_x"/>
                                          </p:val>
                                        </p:tav>
                                      </p:tavLst>
                                    </p:anim>
                                    <p:anim calcmode="lin" valueType="num">
                                      <p:cBhvr>
                                        <p:cTn id="24" dur="1000" fill="hold"/>
                                        <p:tgtEl>
                                          <p:spTgt spid="5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8"/>
                                        </p:tgtEl>
                                        <p:attrNameLst>
                                          <p:attrName>style.visibility</p:attrName>
                                        </p:attrNameLst>
                                      </p:cBhvr>
                                      <p:to>
                                        <p:strVal val="visible"/>
                                      </p:to>
                                    </p:set>
                                    <p:animEffect transition="in" filter="fade">
                                      <p:cBhvr>
                                        <p:cTn id="27" dur="1000"/>
                                        <p:tgtEl>
                                          <p:spTgt spid="88"/>
                                        </p:tgtEl>
                                      </p:cBhvr>
                                    </p:animEffect>
                                    <p:anim calcmode="lin" valueType="num">
                                      <p:cBhvr>
                                        <p:cTn id="28" dur="1000" fill="hold"/>
                                        <p:tgtEl>
                                          <p:spTgt spid="88"/>
                                        </p:tgtEl>
                                        <p:attrNameLst>
                                          <p:attrName>ppt_x</p:attrName>
                                        </p:attrNameLst>
                                      </p:cBhvr>
                                      <p:tavLst>
                                        <p:tav tm="0">
                                          <p:val>
                                            <p:strVal val="#ppt_x"/>
                                          </p:val>
                                        </p:tav>
                                        <p:tav tm="100000">
                                          <p:val>
                                            <p:strVal val="#ppt_x"/>
                                          </p:val>
                                        </p:tav>
                                      </p:tavLst>
                                    </p:anim>
                                    <p:anim calcmode="lin" valueType="num">
                                      <p:cBhvr>
                                        <p:cTn id="29" dur="1000" fill="hold"/>
                                        <p:tgtEl>
                                          <p:spTgt spid="8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72"/>
                                        </p:tgtEl>
                                        <p:attrNameLst>
                                          <p:attrName>style.visibility</p:attrName>
                                        </p:attrNameLst>
                                      </p:cBhvr>
                                      <p:to>
                                        <p:strVal val="visible"/>
                                      </p:to>
                                    </p:set>
                                    <p:animEffect transition="in" filter="fade">
                                      <p:cBhvr>
                                        <p:cTn id="34" dur="1000"/>
                                        <p:tgtEl>
                                          <p:spTgt spid="72"/>
                                        </p:tgtEl>
                                      </p:cBhvr>
                                    </p:animEffect>
                                    <p:anim calcmode="lin" valueType="num">
                                      <p:cBhvr>
                                        <p:cTn id="35" dur="1000" fill="hold"/>
                                        <p:tgtEl>
                                          <p:spTgt spid="72"/>
                                        </p:tgtEl>
                                        <p:attrNameLst>
                                          <p:attrName>ppt_x</p:attrName>
                                        </p:attrNameLst>
                                      </p:cBhvr>
                                      <p:tavLst>
                                        <p:tav tm="0">
                                          <p:val>
                                            <p:strVal val="#ppt_x"/>
                                          </p:val>
                                        </p:tav>
                                        <p:tav tm="100000">
                                          <p:val>
                                            <p:strVal val="#ppt_x"/>
                                          </p:val>
                                        </p:tav>
                                      </p:tavLst>
                                    </p:anim>
                                    <p:anim calcmode="lin" valueType="num">
                                      <p:cBhvr>
                                        <p:cTn id="36" dur="1000" fill="hold"/>
                                        <p:tgtEl>
                                          <p:spTgt spid="72"/>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81"/>
                                        </p:tgtEl>
                                        <p:attrNameLst>
                                          <p:attrName>style.visibility</p:attrName>
                                        </p:attrNameLst>
                                      </p:cBhvr>
                                      <p:to>
                                        <p:strVal val="visible"/>
                                      </p:to>
                                    </p:set>
                                    <p:animEffect transition="in" filter="fade">
                                      <p:cBhvr>
                                        <p:cTn id="39" dur="1000"/>
                                        <p:tgtEl>
                                          <p:spTgt spid="81"/>
                                        </p:tgtEl>
                                      </p:cBhvr>
                                    </p:animEffect>
                                    <p:anim calcmode="lin" valueType="num">
                                      <p:cBhvr>
                                        <p:cTn id="40" dur="1000" fill="hold"/>
                                        <p:tgtEl>
                                          <p:spTgt spid="81"/>
                                        </p:tgtEl>
                                        <p:attrNameLst>
                                          <p:attrName>ppt_x</p:attrName>
                                        </p:attrNameLst>
                                      </p:cBhvr>
                                      <p:tavLst>
                                        <p:tav tm="0">
                                          <p:val>
                                            <p:strVal val="#ppt_x"/>
                                          </p:val>
                                        </p:tav>
                                        <p:tav tm="100000">
                                          <p:val>
                                            <p:strVal val="#ppt_x"/>
                                          </p:val>
                                        </p:tav>
                                      </p:tavLst>
                                    </p:anim>
                                    <p:anim calcmode="lin" valueType="num">
                                      <p:cBhvr>
                                        <p:cTn id="41" dur="1000" fill="hold"/>
                                        <p:tgtEl>
                                          <p:spTgt spid="8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83"/>
                                        </p:tgtEl>
                                        <p:attrNameLst>
                                          <p:attrName>style.visibility</p:attrName>
                                        </p:attrNameLst>
                                      </p:cBhvr>
                                      <p:to>
                                        <p:strVal val="visible"/>
                                      </p:to>
                                    </p:set>
                                    <p:animEffect transition="in" filter="fade">
                                      <p:cBhvr>
                                        <p:cTn id="44" dur="1000"/>
                                        <p:tgtEl>
                                          <p:spTgt spid="83"/>
                                        </p:tgtEl>
                                      </p:cBhvr>
                                    </p:animEffect>
                                    <p:anim calcmode="lin" valueType="num">
                                      <p:cBhvr>
                                        <p:cTn id="45" dur="1000" fill="hold"/>
                                        <p:tgtEl>
                                          <p:spTgt spid="83"/>
                                        </p:tgtEl>
                                        <p:attrNameLst>
                                          <p:attrName>ppt_x</p:attrName>
                                        </p:attrNameLst>
                                      </p:cBhvr>
                                      <p:tavLst>
                                        <p:tav tm="0">
                                          <p:val>
                                            <p:strVal val="#ppt_x"/>
                                          </p:val>
                                        </p:tav>
                                        <p:tav tm="100000">
                                          <p:val>
                                            <p:strVal val="#ppt_x"/>
                                          </p:val>
                                        </p:tav>
                                      </p:tavLst>
                                    </p:anim>
                                    <p:anim calcmode="lin" valueType="num">
                                      <p:cBhvr>
                                        <p:cTn id="46" dur="1000" fill="hold"/>
                                        <p:tgtEl>
                                          <p:spTgt spid="83"/>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84"/>
                                        </p:tgtEl>
                                        <p:attrNameLst>
                                          <p:attrName>style.visibility</p:attrName>
                                        </p:attrNameLst>
                                      </p:cBhvr>
                                      <p:to>
                                        <p:strVal val="visible"/>
                                      </p:to>
                                    </p:set>
                                    <p:animEffect transition="in" filter="fade">
                                      <p:cBhvr>
                                        <p:cTn id="49" dur="1000"/>
                                        <p:tgtEl>
                                          <p:spTgt spid="84"/>
                                        </p:tgtEl>
                                      </p:cBhvr>
                                    </p:animEffect>
                                    <p:anim calcmode="lin" valueType="num">
                                      <p:cBhvr>
                                        <p:cTn id="50" dur="1000" fill="hold"/>
                                        <p:tgtEl>
                                          <p:spTgt spid="84"/>
                                        </p:tgtEl>
                                        <p:attrNameLst>
                                          <p:attrName>ppt_x</p:attrName>
                                        </p:attrNameLst>
                                      </p:cBhvr>
                                      <p:tavLst>
                                        <p:tav tm="0">
                                          <p:val>
                                            <p:strVal val="#ppt_x"/>
                                          </p:val>
                                        </p:tav>
                                        <p:tav tm="100000">
                                          <p:val>
                                            <p:strVal val="#ppt_x"/>
                                          </p:val>
                                        </p:tav>
                                      </p:tavLst>
                                    </p:anim>
                                    <p:anim calcmode="lin" valueType="num">
                                      <p:cBhvr>
                                        <p:cTn id="51" dur="1000" fill="hold"/>
                                        <p:tgtEl>
                                          <p:spTgt spid="84"/>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86"/>
                                        </p:tgtEl>
                                        <p:attrNameLst>
                                          <p:attrName>style.visibility</p:attrName>
                                        </p:attrNameLst>
                                      </p:cBhvr>
                                      <p:to>
                                        <p:strVal val="visible"/>
                                      </p:to>
                                    </p:set>
                                    <p:animEffect transition="in" filter="fade">
                                      <p:cBhvr>
                                        <p:cTn id="54" dur="1000"/>
                                        <p:tgtEl>
                                          <p:spTgt spid="86"/>
                                        </p:tgtEl>
                                      </p:cBhvr>
                                    </p:animEffect>
                                    <p:anim calcmode="lin" valueType="num">
                                      <p:cBhvr>
                                        <p:cTn id="55" dur="1000" fill="hold"/>
                                        <p:tgtEl>
                                          <p:spTgt spid="86"/>
                                        </p:tgtEl>
                                        <p:attrNameLst>
                                          <p:attrName>ppt_x</p:attrName>
                                        </p:attrNameLst>
                                      </p:cBhvr>
                                      <p:tavLst>
                                        <p:tav tm="0">
                                          <p:val>
                                            <p:strVal val="#ppt_x"/>
                                          </p:val>
                                        </p:tav>
                                        <p:tav tm="100000">
                                          <p:val>
                                            <p:strVal val="#ppt_x"/>
                                          </p:val>
                                        </p:tav>
                                      </p:tavLst>
                                    </p:anim>
                                    <p:anim calcmode="lin" valueType="num">
                                      <p:cBhvr>
                                        <p:cTn id="56" dur="1000" fill="hold"/>
                                        <p:tgtEl>
                                          <p:spTgt spid="86"/>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89"/>
                                        </p:tgtEl>
                                        <p:attrNameLst>
                                          <p:attrName>style.visibility</p:attrName>
                                        </p:attrNameLst>
                                      </p:cBhvr>
                                      <p:to>
                                        <p:strVal val="visible"/>
                                      </p:to>
                                    </p:set>
                                    <p:animEffect transition="in" filter="fade">
                                      <p:cBhvr>
                                        <p:cTn id="59" dur="1000"/>
                                        <p:tgtEl>
                                          <p:spTgt spid="89"/>
                                        </p:tgtEl>
                                      </p:cBhvr>
                                    </p:animEffect>
                                    <p:anim calcmode="lin" valueType="num">
                                      <p:cBhvr>
                                        <p:cTn id="60" dur="1000" fill="hold"/>
                                        <p:tgtEl>
                                          <p:spTgt spid="89"/>
                                        </p:tgtEl>
                                        <p:attrNameLst>
                                          <p:attrName>ppt_x</p:attrName>
                                        </p:attrNameLst>
                                      </p:cBhvr>
                                      <p:tavLst>
                                        <p:tav tm="0">
                                          <p:val>
                                            <p:strVal val="#ppt_x"/>
                                          </p:val>
                                        </p:tav>
                                        <p:tav tm="100000">
                                          <p:val>
                                            <p:strVal val="#ppt_x"/>
                                          </p:val>
                                        </p:tav>
                                      </p:tavLst>
                                    </p:anim>
                                    <p:anim calcmode="lin" valueType="num">
                                      <p:cBhvr>
                                        <p:cTn id="61" dur="1000" fill="hold"/>
                                        <p:tgtEl>
                                          <p:spTgt spid="89"/>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87"/>
                                        </p:tgtEl>
                                        <p:attrNameLst>
                                          <p:attrName>style.visibility</p:attrName>
                                        </p:attrNameLst>
                                      </p:cBhvr>
                                      <p:to>
                                        <p:strVal val="visible"/>
                                      </p:to>
                                    </p:set>
                                    <p:animEffect transition="in" filter="wipe(left)">
                                      <p:cBhvr>
                                        <p:cTn id="66"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57" grpId="0"/>
      <p:bldP spid="58" grpId="0" bldLvl="0" animBg="1"/>
      <p:bldP spid="59" grpId="0"/>
      <p:bldP spid="72" grpId="0" bldLvl="0" animBg="1"/>
      <p:bldP spid="81" grpId="0"/>
      <p:bldP spid="83" grpId="0"/>
      <p:bldP spid="84" grpId="0" bldLvl="0" animBg="1"/>
      <p:bldP spid="86" grpId="0"/>
      <p:bldP spid="87" grpId="0"/>
      <p:bldP spid="88" grpId="0" bldLvl="0" animBg="1"/>
      <p:bldP spid="89"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9" name="矩形 78"/>
          <p:cNvSpPr/>
          <p:nvPr/>
        </p:nvSpPr>
        <p:spPr>
          <a:xfrm>
            <a:off x="-11017" y="-30458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0" name="文本框 79"/>
          <p:cNvSpPr txBox="1"/>
          <p:nvPr/>
        </p:nvSpPr>
        <p:spPr>
          <a:xfrm>
            <a:off x="418455" y="373596"/>
            <a:ext cx="2787500" cy="398780"/>
          </a:xfrm>
          <a:prstGeom prst="rect">
            <a:avLst/>
          </a:prstGeom>
          <a:noFill/>
        </p:spPr>
        <p:txBody>
          <a:bodyPr wrap="square" rtlCol="0">
            <a:spAutoFit/>
          </a:bodyPr>
          <a:lstStyle/>
          <a:p>
            <a:r>
              <a:rPr lang="zh-CN" altLang="en-US" sz="2000" b="1" dirty="0">
                <a:cs typeface="+mn-ea"/>
                <a:sym typeface="+mn-lt"/>
              </a:rPr>
              <a:t>主要指标完成情况</a:t>
            </a:r>
          </a:p>
        </p:txBody>
      </p:sp>
      <p:cxnSp>
        <p:nvCxnSpPr>
          <p:cNvPr id="82" name="直接连接符 81"/>
          <p:cNvCxnSpPr/>
          <p:nvPr/>
        </p:nvCxnSpPr>
        <p:spPr>
          <a:xfrm>
            <a:off x="-157" y="773370"/>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3" name="表格 22"/>
          <p:cNvGraphicFramePr>
            <a:graphicFrameLocks noGrp="1"/>
          </p:cNvGraphicFramePr>
          <p:nvPr/>
        </p:nvGraphicFramePr>
        <p:xfrm>
          <a:off x="419100" y="1190625"/>
          <a:ext cx="11229975" cy="5236210"/>
        </p:xfrm>
        <a:graphic>
          <a:graphicData uri="http://schemas.openxmlformats.org/drawingml/2006/table">
            <a:tbl>
              <a:tblPr>
                <a:tableStyleId>{21E4AEA4-8DFA-4A89-87EB-49C32662AFE0}</a:tableStyleId>
              </a:tblPr>
              <a:tblGrid>
                <a:gridCol w="2315210"/>
                <a:gridCol w="1559560"/>
                <a:gridCol w="991870"/>
                <a:gridCol w="946150"/>
                <a:gridCol w="925830"/>
                <a:gridCol w="861060"/>
                <a:gridCol w="871855"/>
                <a:gridCol w="860425"/>
                <a:gridCol w="904875"/>
                <a:gridCol w="993140"/>
              </a:tblGrid>
              <a:tr h="337820">
                <a:tc rowSpan="2">
                  <a:txBody>
                    <a:bodyPr/>
                    <a:lstStyle/>
                    <a:p>
                      <a:pPr algn="ctr" fontAlgn="ctr"/>
                      <a:r>
                        <a:rPr lang="zh-CN" altLang="en-US" sz="1600" b="1" u="none" strike="noStrike" dirty="0">
                          <a:solidFill>
                            <a:schemeClr val="bg1"/>
                          </a:solidFill>
                          <a:latin typeface="微软雅黑" panose="020B0503020204020204" charset="-122"/>
                          <a:ea typeface="微软雅黑" panose="020B0503020204020204" charset="-122"/>
                        </a:rPr>
                        <a:t>项目</a:t>
                      </a:r>
                      <a:endParaRPr lang="zh-CN" altLang="en-US" sz="1600" b="1" i="0" u="none" strike="noStrike" dirty="0">
                        <a:solidFill>
                          <a:schemeClr val="bg1"/>
                        </a:solidFill>
                        <a:latin typeface="微软雅黑" panose="020B0503020204020204" charset="-122"/>
                        <a:ea typeface="微软雅黑" panose="020B0503020204020204" charset="-122"/>
                      </a:endParaRPr>
                    </a:p>
                  </a:txBody>
                  <a:tcPr marL="0" marR="0" marT="0" marB="0" anchor="ctr">
                    <a:solidFill>
                      <a:srgbClr val="FFC000"/>
                    </a:solidFill>
                  </a:tcPr>
                </a:tc>
                <a:tc rowSpan="2">
                  <a:txBody>
                    <a:bodyPr/>
                    <a:lstStyle/>
                    <a:p>
                      <a:pPr algn="ctr" fontAlgn="ctr"/>
                      <a:r>
                        <a:rPr lang="zh-CN" altLang="en-US" sz="1600" b="1" u="none" strike="noStrike" dirty="0">
                          <a:solidFill>
                            <a:schemeClr val="bg1"/>
                          </a:solidFill>
                          <a:latin typeface="微软雅黑" panose="020B0503020204020204" charset="-122"/>
                          <a:ea typeface="微软雅黑" panose="020B0503020204020204" charset="-122"/>
                        </a:rPr>
                        <a:t>成本预算</a:t>
                      </a:r>
                    </a:p>
                    <a:p>
                      <a:pPr algn="ctr" fontAlgn="ctr"/>
                      <a:r>
                        <a:rPr lang="zh-CN" altLang="en-US" sz="1600" b="1" u="none" strike="noStrike" dirty="0">
                          <a:solidFill>
                            <a:schemeClr val="bg1"/>
                          </a:solidFill>
                          <a:latin typeface="微软雅黑" panose="020B0503020204020204" charset="-122"/>
                          <a:ea typeface="微软雅黑" panose="020B0503020204020204" charset="-122"/>
                        </a:rPr>
                        <a:t>分配额度</a:t>
                      </a:r>
                      <a:endParaRPr lang="zh-CN" altLang="en-US" sz="1600" b="1" i="0" u="none" strike="noStrike" dirty="0">
                        <a:solidFill>
                          <a:schemeClr val="bg1"/>
                        </a:solidFill>
                        <a:latin typeface="微软雅黑" panose="020B0503020204020204" charset="-122"/>
                        <a:ea typeface="微软雅黑" panose="020B0503020204020204" charset="-122"/>
                      </a:endParaRPr>
                    </a:p>
                  </a:txBody>
                  <a:tcPr marL="0" marR="0" marT="0" marB="0" anchor="ctr">
                    <a:solidFill>
                      <a:srgbClr val="FFC000"/>
                    </a:solidFill>
                  </a:tcPr>
                </a:tc>
                <a:tc rowSpan="2">
                  <a:txBody>
                    <a:bodyPr/>
                    <a:lstStyle/>
                    <a:p>
                      <a:pPr algn="ctr" fontAlgn="ctr"/>
                      <a:r>
                        <a:rPr lang="zh-CN" altLang="en-US" sz="1600" b="1" u="none" strike="noStrike" dirty="0">
                          <a:solidFill>
                            <a:schemeClr val="bg1"/>
                          </a:solidFill>
                          <a:latin typeface="微软雅黑" panose="020B0503020204020204" charset="-122"/>
                          <a:ea typeface="微软雅黑" panose="020B0503020204020204" charset="-122"/>
                        </a:rPr>
                        <a:t>本年累计</a:t>
                      </a:r>
                      <a:endParaRPr lang="zh-CN" altLang="en-US" sz="1600" b="1" i="0" u="none" strike="noStrike" dirty="0">
                        <a:solidFill>
                          <a:schemeClr val="bg1"/>
                        </a:solidFill>
                        <a:latin typeface="微软雅黑" panose="020B0503020204020204" charset="-122"/>
                        <a:ea typeface="微软雅黑" panose="020B0503020204020204" charset="-122"/>
                      </a:endParaRPr>
                    </a:p>
                  </a:txBody>
                  <a:tcPr marL="0" marR="0" marT="0" marB="0" anchor="ctr">
                    <a:solidFill>
                      <a:srgbClr val="FFC000"/>
                    </a:solidFill>
                  </a:tcPr>
                </a:tc>
                <a:tc rowSpan="2">
                  <a:txBody>
                    <a:bodyPr/>
                    <a:lstStyle/>
                    <a:p>
                      <a:pPr algn="ctr" fontAlgn="ctr"/>
                      <a:r>
                        <a:rPr lang="zh-CN" altLang="en-US" sz="1600" b="1" u="none" strike="noStrike" dirty="0">
                          <a:solidFill>
                            <a:schemeClr val="bg1"/>
                          </a:solidFill>
                          <a:latin typeface="微软雅黑" panose="020B0503020204020204" charset="-122"/>
                          <a:ea typeface="微软雅黑" panose="020B0503020204020204" charset="-122"/>
                        </a:rPr>
                        <a:t>占比</a:t>
                      </a:r>
                      <a:r>
                        <a:rPr lang="en-US" altLang="zh-CN" sz="1600" b="1" u="none" strike="noStrike" dirty="0">
                          <a:solidFill>
                            <a:schemeClr val="bg1"/>
                          </a:solidFill>
                          <a:latin typeface="微软雅黑" panose="020B0503020204020204" charset="-122"/>
                          <a:ea typeface="微软雅黑" panose="020B0503020204020204" charset="-122"/>
                        </a:rPr>
                        <a:t>%</a:t>
                      </a:r>
                      <a:endParaRPr lang="en-US" altLang="zh-CN" sz="1600" b="1" i="0" u="none" strike="noStrike" dirty="0">
                        <a:solidFill>
                          <a:schemeClr val="bg1"/>
                        </a:solidFill>
                        <a:latin typeface="微软雅黑" panose="020B0503020204020204" charset="-122"/>
                        <a:ea typeface="微软雅黑" panose="020B0503020204020204" charset="-122"/>
                      </a:endParaRPr>
                    </a:p>
                  </a:txBody>
                  <a:tcPr marL="0" marR="0" marT="0" marB="0" anchor="ctr">
                    <a:solidFill>
                      <a:srgbClr val="FFC000"/>
                    </a:solidFill>
                  </a:tcPr>
                </a:tc>
                <a:tc rowSpan="2">
                  <a:txBody>
                    <a:bodyPr/>
                    <a:lstStyle/>
                    <a:p>
                      <a:pPr algn="ctr" fontAlgn="ctr"/>
                      <a:r>
                        <a:rPr lang="zh-CN" altLang="en-US" sz="1600" b="1" u="none" strike="noStrike" dirty="0">
                          <a:solidFill>
                            <a:schemeClr val="bg1"/>
                          </a:solidFill>
                          <a:latin typeface="微软雅黑" panose="020B0503020204020204" charset="-122"/>
                          <a:ea typeface="微软雅黑" panose="020B0503020204020204" charset="-122"/>
                        </a:rPr>
                        <a:t>预算</a:t>
                      </a:r>
                      <a:br>
                        <a:rPr lang="zh-CN" altLang="en-US" sz="1600" b="1" u="none" strike="noStrike" dirty="0">
                          <a:solidFill>
                            <a:schemeClr val="bg1"/>
                          </a:solidFill>
                          <a:latin typeface="微软雅黑" panose="020B0503020204020204" charset="-122"/>
                          <a:ea typeface="微软雅黑" panose="020B0503020204020204" charset="-122"/>
                        </a:rPr>
                      </a:br>
                      <a:r>
                        <a:rPr lang="zh-CN" altLang="en-US" sz="1600" b="1" u="none" strike="noStrike" dirty="0">
                          <a:solidFill>
                            <a:schemeClr val="bg1"/>
                          </a:solidFill>
                          <a:latin typeface="微软雅黑" panose="020B0503020204020204" charset="-122"/>
                          <a:ea typeface="微软雅黑" panose="020B0503020204020204" charset="-122"/>
                        </a:rPr>
                        <a:t>进度</a:t>
                      </a:r>
                      <a:r>
                        <a:rPr lang="en-US" altLang="zh-CN" sz="1600" b="1" u="none" strike="noStrike" dirty="0">
                          <a:solidFill>
                            <a:schemeClr val="bg1"/>
                          </a:solidFill>
                          <a:latin typeface="微软雅黑" panose="020B0503020204020204" charset="-122"/>
                          <a:ea typeface="微软雅黑" panose="020B0503020204020204" charset="-122"/>
                        </a:rPr>
                        <a:t>%</a:t>
                      </a:r>
                      <a:endParaRPr lang="en-US" altLang="zh-CN" sz="1600" b="1" i="0" u="none" strike="noStrike" dirty="0">
                        <a:solidFill>
                          <a:schemeClr val="bg1"/>
                        </a:solidFill>
                        <a:latin typeface="微软雅黑" panose="020B0503020204020204" charset="-122"/>
                        <a:ea typeface="微软雅黑" panose="020B0503020204020204" charset="-122"/>
                      </a:endParaRPr>
                    </a:p>
                  </a:txBody>
                  <a:tcPr marL="0" marR="0" marT="0" marB="0" anchor="ctr">
                    <a:solidFill>
                      <a:srgbClr val="FFC000"/>
                    </a:solidFill>
                  </a:tcPr>
                </a:tc>
                <a:tc gridSpan="2">
                  <a:txBody>
                    <a:bodyPr/>
                    <a:lstStyle/>
                    <a:p>
                      <a:pPr algn="ctr" fontAlgn="ctr"/>
                      <a:r>
                        <a:rPr lang="zh-CN" altLang="en-US" sz="1600" b="1" u="none" strike="noStrike" dirty="0">
                          <a:solidFill>
                            <a:schemeClr val="bg1"/>
                          </a:solidFill>
                          <a:latin typeface="微软雅黑" panose="020B0503020204020204" charset="-122"/>
                          <a:ea typeface="微软雅黑" panose="020B0503020204020204" charset="-122"/>
                        </a:rPr>
                        <a:t>与预算目标值比</a:t>
                      </a:r>
                      <a:endParaRPr lang="zh-CN" altLang="en-US" sz="1600" b="1" i="0" u="none" strike="noStrike" dirty="0">
                        <a:solidFill>
                          <a:schemeClr val="bg1"/>
                        </a:solidFill>
                        <a:latin typeface="微软雅黑" panose="020B0503020204020204" charset="-122"/>
                        <a:ea typeface="微软雅黑" panose="020B0503020204020204" charset="-122"/>
                      </a:endParaRPr>
                    </a:p>
                  </a:txBody>
                  <a:tcPr marL="0" marR="0" marT="0" marB="0" anchor="ctr">
                    <a:solidFill>
                      <a:srgbClr val="FFC000"/>
                    </a:solidFill>
                  </a:tcPr>
                </a:tc>
                <a:tc hMerge="1">
                  <a:txBody>
                    <a:bodyPr/>
                    <a:lstStyle/>
                    <a:p>
                      <a:endParaRPr lang="zh-CN"/>
                    </a:p>
                  </a:txBody>
                  <a:tcPr/>
                </a:tc>
                <a:tc rowSpan="2">
                  <a:txBody>
                    <a:bodyPr/>
                    <a:lstStyle/>
                    <a:p>
                      <a:pPr algn="ctr" fontAlgn="ctr"/>
                      <a:r>
                        <a:rPr lang="zh-CN" altLang="en-US" sz="1600" b="1" u="none" strike="noStrike" dirty="0">
                          <a:solidFill>
                            <a:schemeClr val="bg1"/>
                          </a:solidFill>
                          <a:latin typeface="微软雅黑" panose="020B0503020204020204" charset="-122"/>
                          <a:ea typeface="微软雅黑" panose="020B0503020204020204" charset="-122"/>
                        </a:rPr>
                        <a:t>上年同期</a:t>
                      </a:r>
                      <a:endParaRPr lang="zh-CN" altLang="en-US" sz="1600" b="1" i="0" u="none" strike="noStrike" dirty="0">
                        <a:solidFill>
                          <a:schemeClr val="bg1"/>
                        </a:solidFill>
                        <a:latin typeface="微软雅黑" panose="020B0503020204020204" charset="-122"/>
                        <a:ea typeface="微软雅黑" panose="020B0503020204020204" charset="-122"/>
                      </a:endParaRPr>
                    </a:p>
                  </a:txBody>
                  <a:tcPr marL="0" marR="0" marT="0" marB="0" anchor="ctr">
                    <a:solidFill>
                      <a:srgbClr val="FFC000"/>
                    </a:solidFill>
                  </a:tcPr>
                </a:tc>
                <a:tc gridSpan="2">
                  <a:txBody>
                    <a:bodyPr/>
                    <a:lstStyle/>
                    <a:p>
                      <a:pPr algn="ctr" fontAlgn="ctr"/>
                      <a:r>
                        <a:rPr lang="zh-CN" altLang="en-US" sz="1600" b="1" u="none" strike="noStrike" dirty="0">
                          <a:solidFill>
                            <a:schemeClr val="bg1"/>
                          </a:solidFill>
                          <a:latin typeface="微软雅黑" panose="020B0503020204020204" charset="-122"/>
                          <a:ea typeface="微软雅黑" panose="020B0503020204020204" charset="-122"/>
                        </a:rPr>
                        <a:t>与上年同期比</a:t>
                      </a:r>
                      <a:endParaRPr lang="zh-CN" altLang="en-US" sz="1600" b="1" i="0" u="none" strike="noStrike" dirty="0">
                        <a:solidFill>
                          <a:schemeClr val="bg1"/>
                        </a:solidFill>
                        <a:latin typeface="微软雅黑" panose="020B0503020204020204" charset="-122"/>
                        <a:ea typeface="微软雅黑" panose="020B0503020204020204" charset="-122"/>
                      </a:endParaRPr>
                    </a:p>
                  </a:txBody>
                  <a:tcPr marL="0" marR="0" marT="0" marB="0" anchor="ctr">
                    <a:solidFill>
                      <a:srgbClr val="FFC000"/>
                    </a:solidFill>
                  </a:tcPr>
                </a:tc>
                <a:tc hMerge="1">
                  <a:txBody>
                    <a:bodyPr/>
                    <a:lstStyle/>
                    <a:p>
                      <a:endParaRPr lang="zh-CN"/>
                    </a:p>
                  </a:txBody>
                  <a:tcPr/>
                </a:tc>
              </a:tr>
              <a:tr h="338455">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600" b="1" u="none" strike="noStrike" dirty="0">
                          <a:solidFill>
                            <a:schemeClr val="bg1"/>
                          </a:solidFill>
                          <a:latin typeface="微软雅黑" panose="020B0503020204020204" charset="-122"/>
                          <a:ea typeface="微软雅黑" panose="020B0503020204020204" charset="-122"/>
                        </a:rPr>
                        <a:t>增幅</a:t>
                      </a:r>
                      <a:r>
                        <a:rPr lang="en-US" altLang="zh-CN" sz="1600" b="1" u="none" strike="noStrike" dirty="0">
                          <a:solidFill>
                            <a:schemeClr val="bg1"/>
                          </a:solidFill>
                          <a:latin typeface="微软雅黑" panose="020B0503020204020204" charset="-122"/>
                          <a:ea typeface="微软雅黑" panose="020B0503020204020204" charset="-122"/>
                        </a:rPr>
                        <a:t>%</a:t>
                      </a:r>
                      <a:endParaRPr lang="en-US" altLang="zh-CN" sz="1600" b="1" i="0" u="none" strike="noStrike" dirty="0">
                        <a:solidFill>
                          <a:schemeClr val="bg1"/>
                        </a:solidFill>
                        <a:latin typeface="微软雅黑" panose="020B0503020204020204" charset="-122"/>
                        <a:ea typeface="微软雅黑" panose="020B0503020204020204" charset="-122"/>
                      </a:endParaRPr>
                    </a:p>
                  </a:txBody>
                  <a:tcPr marL="0" marR="0" marT="0" marB="0" anchor="ctr">
                    <a:solidFill>
                      <a:srgbClr val="FFC000"/>
                    </a:solidFill>
                  </a:tcPr>
                </a:tc>
                <a:tc>
                  <a:txBody>
                    <a:bodyPr/>
                    <a:lstStyle/>
                    <a:p>
                      <a:pPr algn="ctr" fontAlgn="ctr"/>
                      <a:r>
                        <a:rPr lang="zh-CN" altLang="en-US" sz="1600" b="1" u="none" strike="noStrike" dirty="0">
                          <a:solidFill>
                            <a:schemeClr val="bg1"/>
                          </a:solidFill>
                          <a:latin typeface="微软雅黑" panose="020B0503020204020204" charset="-122"/>
                          <a:ea typeface="微软雅黑" panose="020B0503020204020204" charset="-122"/>
                        </a:rPr>
                        <a:t>金额</a:t>
                      </a:r>
                      <a:endParaRPr lang="zh-CN" altLang="en-US" sz="1600" b="1" i="0" u="none" strike="noStrike" dirty="0">
                        <a:solidFill>
                          <a:schemeClr val="bg1"/>
                        </a:solidFill>
                        <a:latin typeface="微软雅黑" panose="020B0503020204020204" charset="-122"/>
                        <a:ea typeface="微软雅黑" panose="020B0503020204020204" charset="-122"/>
                      </a:endParaRPr>
                    </a:p>
                  </a:txBody>
                  <a:tcPr marL="0" marR="0" marT="0" marB="0" anchor="ctr">
                    <a:solidFill>
                      <a:srgbClr val="FFC000"/>
                    </a:solidFill>
                  </a:tcPr>
                </a:tc>
                <a:tc vMerge="1">
                  <a:txBody>
                    <a:bodyPr/>
                    <a:lstStyle/>
                    <a:p>
                      <a:endParaRPr lang="zh-CN"/>
                    </a:p>
                  </a:txBody>
                  <a:tcPr/>
                </a:tc>
                <a:tc>
                  <a:txBody>
                    <a:bodyPr/>
                    <a:lstStyle/>
                    <a:p>
                      <a:pPr algn="ctr" fontAlgn="ctr"/>
                      <a:r>
                        <a:rPr lang="zh-CN" altLang="en-US" sz="1600" b="1" u="none" strike="noStrike" dirty="0">
                          <a:solidFill>
                            <a:schemeClr val="bg1"/>
                          </a:solidFill>
                          <a:latin typeface="微软雅黑" panose="020B0503020204020204" charset="-122"/>
                          <a:ea typeface="微软雅黑" panose="020B0503020204020204" charset="-122"/>
                        </a:rPr>
                        <a:t>增幅</a:t>
                      </a:r>
                      <a:r>
                        <a:rPr lang="en-US" altLang="zh-CN" sz="1600" b="1" u="none" strike="noStrike" dirty="0">
                          <a:solidFill>
                            <a:schemeClr val="bg1"/>
                          </a:solidFill>
                          <a:latin typeface="微软雅黑" panose="020B0503020204020204" charset="-122"/>
                          <a:ea typeface="微软雅黑" panose="020B0503020204020204" charset="-122"/>
                        </a:rPr>
                        <a:t>%</a:t>
                      </a:r>
                      <a:endParaRPr lang="en-US" altLang="zh-CN" sz="1600" b="1" i="0" u="none" strike="noStrike" dirty="0">
                        <a:solidFill>
                          <a:schemeClr val="bg1"/>
                        </a:solidFill>
                        <a:latin typeface="微软雅黑" panose="020B0503020204020204" charset="-122"/>
                        <a:ea typeface="微软雅黑" panose="020B0503020204020204" charset="-122"/>
                      </a:endParaRPr>
                    </a:p>
                  </a:txBody>
                  <a:tcPr marL="0" marR="0" marT="0" marB="0" anchor="ctr">
                    <a:solidFill>
                      <a:srgbClr val="FFC000"/>
                    </a:solidFill>
                  </a:tcPr>
                </a:tc>
                <a:tc>
                  <a:txBody>
                    <a:bodyPr/>
                    <a:lstStyle/>
                    <a:p>
                      <a:pPr algn="ctr" fontAlgn="ctr"/>
                      <a:r>
                        <a:rPr lang="zh-CN" altLang="en-US" sz="1600" b="1" u="none" strike="noStrike" dirty="0">
                          <a:solidFill>
                            <a:schemeClr val="bg1"/>
                          </a:solidFill>
                          <a:latin typeface="微软雅黑" panose="020B0503020204020204" charset="-122"/>
                          <a:ea typeface="微软雅黑" panose="020B0503020204020204" charset="-122"/>
                        </a:rPr>
                        <a:t>金额</a:t>
                      </a:r>
                      <a:endParaRPr lang="zh-CN" altLang="en-US" sz="1600" b="1" i="0" u="none" strike="noStrike" dirty="0">
                        <a:solidFill>
                          <a:schemeClr val="bg1"/>
                        </a:solidFill>
                        <a:latin typeface="微软雅黑" panose="020B0503020204020204" charset="-122"/>
                        <a:ea typeface="微软雅黑" panose="020B0503020204020204" charset="-122"/>
                      </a:endParaRPr>
                    </a:p>
                  </a:txBody>
                  <a:tcPr marL="0" marR="0" marT="0" marB="0" anchor="ctr">
                    <a:solidFill>
                      <a:srgbClr val="FFC000"/>
                    </a:solidFill>
                  </a:tcPr>
                </a:tc>
              </a:tr>
              <a:tr h="514985">
                <a:tc>
                  <a:txBody>
                    <a:bodyPr/>
                    <a:lstStyle/>
                    <a:p>
                      <a:pPr marL="71755" algn="l" fontAlgn="ctr"/>
                      <a:r>
                        <a:rPr lang="zh-CN" altLang="en-US" sz="1400" u="none" strike="noStrike" dirty="0">
                          <a:latin typeface="微软雅黑" panose="020B0503020204020204" charset="-122"/>
                          <a:ea typeface="微软雅黑" panose="020B0503020204020204" charset="-122"/>
                        </a:rPr>
                        <a:t>一、销售费用（含坏账、积分兑换）</a:t>
                      </a:r>
                      <a:endParaRPr lang="zh-CN" altLang="en-US"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10,422.0</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a:latin typeface="微软雅黑" panose="020B0503020204020204" charset="-122"/>
                          <a:ea typeface="微软雅黑" panose="020B0503020204020204" charset="-122"/>
                        </a:rPr>
                        <a:t>3,082.66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a:latin typeface="微软雅黑" panose="020B0503020204020204" charset="-122"/>
                          <a:ea typeface="微软雅黑" panose="020B0503020204020204" charset="-122"/>
                        </a:rPr>
                        <a:t>100.00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a:latin typeface="微软雅黑" panose="020B0503020204020204" charset="-122"/>
                          <a:ea typeface="微软雅黑" panose="020B0503020204020204" charset="-122"/>
                        </a:rPr>
                        <a:t>29.58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a:latin typeface="微软雅黑" panose="020B0503020204020204" charset="-122"/>
                          <a:ea typeface="微软雅黑" panose="020B0503020204020204" charset="-122"/>
                        </a:rPr>
                        <a:t>-3.75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a:latin typeface="微软雅黑" panose="020B0503020204020204" charset="-122"/>
                          <a:ea typeface="微软雅黑" panose="020B0503020204020204" charset="-122"/>
                        </a:rPr>
                        <a:t>-391.34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a:latin typeface="微软雅黑" panose="020B0503020204020204" charset="-122"/>
                          <a:ea typeface="微软雅黑" panose="020B0503020204020204" charset="-122"/>
                        </a:rPr>
                        <a:t>4,757.44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-35.20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-1,674.78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r>
              <a:tr h="337185">
                <a:tc>
                  <a:txBody>
                    <a:bodyPr/>
                    <a:lstStyle/>
                    <a:p>
                      <a:pPr marL="71755" algn="l" fontAlgn="ctr"/>
                      <a:r>
                        <a:rPr lang="en-US" altLang="zh-CN" sz="1400" u="none" strike="noStrike" dirty="0">
                          <a:latin typeface="微软雅黑" panose="020B0503020204020204" charset="-122"/>
                          <a:ea typeface="微软雅黑" panose="020B0503020204020204" charset="-122"/>
                        </a:rPr>
                        <a:t>1</a:t>
                      </a:r>
                      <a:r>
                        <a:rPr lang="zh-CN" altLang="en-US" sz="1400" u="none" strike="noStrike" dirty="0">
                          <a:latin typeface="微软雅黑" panose="020B0503020204020204" charset="-122"/>
                          <a:ea typeface="微软雅黑" panose="020B0503020204020204" charset="-122"/>
                        </a:rPr>
                        <a:t>、宣传及客户服务费</a:t>
                      </a:r>
                      <a:endParaRPr lang="zh-CN" altLang="en-US"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305.0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99.96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3.24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32.77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-0.56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-1.71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358.42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-72.11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-258.46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r>
              <a:tr h="502285">
                <a:tc>
                  <a:txBody>
                    <a:bodyPr/>
                    <a:lstStyle/>
                    <a:p>
                      <a:pPr marL="71755" algn="l" fontAlgn="ctr"/>
                      <a:r>
                        <a:rPr lang="zh-CN" altLang="en-US" sz="1400" u="none" strike="noStrike" dirty="0">
                          <a:latin typeface="微软雅黑" panose="020B0503020204020204" charset="-122"/>
                          <a:ea typeface="微软雅黑" panose="020B0503020204020204" charset="-122"/>
                        </a:rPr>
                        <a:t>其中：客户服务费（不含终端）</a:t>
                      </a:r>
                      <a:endParaRPr lang="zh-CN" altLang="en-US" sz="1400" b="0" i="0" u="none" strike="noStrike" dirty="0">
                        <a:latin typeface="微软雅黑" panose="020B0503020204020204" charset="-122"/>
                        <a:ea typeface="微软雅黑" panose="020B0503020204020204" charset="-122"/>
                      </a:endParaRPr>
                    </a:p>
                  </a:txBody>
                  <a:tcPr marL="11430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196.0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51.64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1.68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26.35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-6.98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-13.69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99.24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-47.96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-47.59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r>
              <a:tr h="338455">
                <a:tc>
                  <a:txBody>
                    <a:bodyPr/>
                    <a:lstStyle/>
                    <a:p>
                      <a:pPr marL="71755" algn="l" fontAlgn="ctr"/>
                      <a:r>
                        <a:rPr lang="en-US" altLang="zh-CN" sz="1400" u="none" strike="noStrike" dirty="0">
                          <a:latin typeface="微软雅黑" panose="020B0503020204020204" charset="-122"/>
                          <a:ea typeface="微软雅黑" panose="020B0503020204020204" charset="-122"/>
                        </a:rPr>
                        <a:t>2</a:t>
                      </a:r>
                      <a:r>
                        <a:rPr lang="zh-CN" altLang="en-US" sz="1400" u="none" strike="noStrike" dirty="0">
                          <a:latin typeface="微软雅黑" panose="020B0503020204020204" charset="-122"/>
                          <a:ea typeface="微软雅黑" panose="020B0503020204020204" charset="-122"/>
                        </a:rPr>
                        <a:t>、展览广告费</a:t>
                      </a:r>
                      <a:endParaRPr lang="zh-CN" altLang="en-US"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110</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6.75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0.22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6.14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-27.19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-29.91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129.74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-94.79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-122.99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r>
              <a:tr h="337185">
                <a:tc>
                  <a:txBody>
                    <a:bodyPr/>
                    <a:lstStyle/>
                    <a:p>
                      <a:pPr marL="71755" algn="l" fontAlgn="ctr"/>
                      <a:r>
                        <a:rPr lang="en-US" altLang="zh-CN" sz="1400" u="none" strike="noStrike" dirty="0">
                          <a:latin typeface="微软雅黑" panose="020B0503020204020204" charset="-122"/>
                          <a:ea typeface="微软雅黑" panose="020B0503020204020204" charset="-122"/>
                        </a:rPr>
                        <a:t>3</a:t>
                      </a:r>
                      <a:r>
                        <a:rPr lang="zh-CN" altLang="en-US" sz="1400" u="none" strike="noStrike" dirty="0">
                          <a:latin typeface="微软雅黑" panose="020B0503020204020204" charset="-122"/>
                          <a:ea typeface="微软雅黑" panose="020B0503020204020204" charset="-122"/>
                        </a:rPr>
                        <a:t>、代办费</a:t>
                      </a:r>
                      <a:endParaRPr lang="zh-CN" altLang="en-US"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6,822</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2,180.01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70.72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31.96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a:latin typeface="微软雅黑" panose="020B0503020204020204" charset="-122"/>
                          <a:ea typeface="微软雅黑" panose="020B0503020204020204" charset="-122"/>
                        </a:rPr>
                        <a:t>-1.38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a:latin typeface="微软雅黑" panose="020B0503020204020204" charset="-122"/>
                          <a:ea typeface="微软雅黑" panose="020B0503020204020204" charset="-122"/>
                        </a:rPr>
                        <a:t>-93.99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2,480.84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a:latin typeface="微软雅黑" panose="020B0503020204020204" charset="-122"/>
                          <a:ea typeface="微软雅黑" panose="020B0503020204020204" charset="-122"/>
                        </a:rPr>
                        <a:t>-12.13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a:latin typeface="微软雅黑" panose="020B0503020204020204" charset="-122"/>
                          <a:ea typeface="微软雅黑" panose="020B0503020204020204" charset="-122"/>
                        </a:rPr>
                        <a:t>-300.83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75000"/>
                      </a:schemeClr>
                    </a:solidFill>
                  </a:tcPr>
                </a:tc>
              </a:tr>
              <a:tr h="338455">
                <a:tc>
                  <a:txBody>
                    <a:bodyPr/>
                    <a:lstStyle/>
                    <a:p>
                      <a:pPr marL="71755" algn="l" fontAlgn="ctr"/>
                      <a:r>
                        <a:rPr lang="zh-CN" altLang="en-US" sz="1400" u="none" strike="noStrike" dirty="0">
                          <a:latin typeface="微软雅黑" panose="020B0503020204020204" charset="-122"/>
                          <a:ea typeface="微软雅黑" panose="020B0503020204020204" charset="-122"/>
                        </a:rPr>
                        <a:t>其中：实业代办费</a:t>
                      </a:r>
                      <a:endParaRPr lang="zh-CN" altLang="en-US"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2,560</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780.53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25.32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30.49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-2.84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-72.80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796.75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-2.04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-16.22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r>
              <a:tr h="501650">
                <a:tc>
                  <a:txBody>
                    <a:bodyPr/>
                    <a:lstStyle/>
                    <a:p>
                      <a:pPr marL="71755" algn="l" fontAlgn="ctr"/>
                      <a:r>
                        <a:rPr lang="zh-CN" altLang="en-US" sz="1400" u="none" strike="noStrike" dirty="0">
                          <a:latin typeface="微软雅黑" panose="020B0503020204020204" charset="-122"/>
                          <a:ea typeface="微软雅黑" panose="020B0503020204020204" charset="-122"/>
                        </a:rPr>
                        <a:t>其中：社会代办费（含渠道补贴）</a:t>
                      </a:r>
                      <a:endParaRPr lang="zh-CN" altLang="en-US" sz="1400" b="0" i="0" u="none" strike="noStrike" dirty="0">
                        <a:latin typeface="微软雅黑" panose="020B0503020204020204" charset="-122"/>
                        <a:ea typeface="微软雅黑" panose="020B0503020204020204" charset="-122"/>
                      </a:endParaRPr>
                    </a:p>
                  </a:txBody>
                  <a:tcPr marL="11430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4,262</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a:latin typeface="微软雅黑" panose="020B0503020204020204" charset="-122"/>
                          <a:ea typeface="微软雅黑" panose="020B0503020204020204" charset="-122"/>
                        </a:rPr>
                        <a:t>1,399.48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a:latin typeface="微软雅黑" panose="020B0503020204020204" charset="-122"/>
                          <a:ea typeface="微软雅黑" panose="020B0503020204020204" charset="-122"/>
                        </a:rPr>
                        <a:t>45.40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a:latin typeface="微软雅黑" panose="020B0503020204020204" charset="-122"/>
                          <a:ea typeface="微软雅黑" panose="020B0503020204020204" charset="-122"/>
                        </a:rPr>
                        <a:t>32.84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-0.50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-21.19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1,684.09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-16.90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-284.61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r>
              <a:tr h="337185">
                <a:tc>
                  <a:txBody>
                    <a:bodyPr/>
                    <a:lstStyle/>
                    <a:p>
                      <a:pPr marL="71755" algn="l" fontAlgn="ctr"/>
                      <a:r>
                        <a:rPr lang="en-US" altLang="zh-CN" sz="1400" u="none" strike="noStrike" dirty="0">
                          <a:latin typeface="微软雅黑" panose="020B0503020204020204" charset="-122"/>
                          <a:ea typeface="微软雅黑" panose="020B0503020204020204" charset="-122"/>
                        </a:rPr>
                        <a:t>4</a:t>
                      </a:r>
                      <a:r>
                        <a:rPr lang="zh-CN" altLang="en-US" sz="1400" u="none" strike="noStrike" dirty="0">
                          <a:latin typeface="微软雅黑" panose="020B0503020204020204" charset="-122"/>
                          <a:ea typeface="微软雅黑" panose="020B0503020204020204" charset="-122"/>
                        </a:rPr>
                        <a:t>、终端促销费</a:t>
                      </a:r>
                      <a:endParaRPr lang="zh-CN" altLang="en-US"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795.00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379.69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12.32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47.76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14.43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114.69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1,510.16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-74.86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-1,130.47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r>
              <a:tr h="339090">
                <a:tc>
                  <a:txBody>
                    <a:bodyPr/>
                    <a:lstStyle/>
                    <a:p>
                      <a:pPr marL="71755" algn="l" fontAlgn="ctr"/>
                      <a:r>
                        <a:rPr lang="zh-CN" altLang="en-US" sz="1400" u="none" strike="noStrike" dirty="0">
                          <a:latin typeface="微软雅黑" panose="020B0503020204020204" charset="-122"/>
                          <a:ea typeface="微软雅黑" panose="020B0503020204020204" charset="-122"/>
                        </a:rPr>
                        <a:t>（</a:t>
                      </a:r>
                      <a:r>
                        <a:rPr lang="en-US" altLang="zh-CN" sz="1400" u="none" strike="noStrike" dirty="0">
                          <a:latin typeface="微软雅黑" panose="020B0503020204020204" charset="-122"/>
                          <a:ea typeface="微软雅黑" panose="020B0503020204020204" charset="-122"/>
                        </a:rPr>
                        <a:t>1</a:t>
                      </a:r>
                      <a:r>
                        <a:rPr lang="zh-CN" altLang="en-US" sz="1400" u="none" strike="noStrike" dirty="0">
                          <a:latin typeface="微软雅黑" panose="020B0503020204020204" charset="-122"/>
                          <a:ea typeface="微软雅黑" panose="020B0503020204020204" charset="-122"/>
                        </a:rPr>
                        <a:t>）手机终端费用</a:t>
                      </a:r>
                      <a:endParaRPr lang="zh-CN" altLang="en-US"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a:latin typeface="微软雅黑" panose="020B0503020204020204" charset="-122"/>
                          <a:ea typeface="微软雅黑" panose="020B0503020204020204" charset="-122"/>
                        </a:rPr>
                        <a:t>735</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a:latin typeface="微软雅黑" panose="020B0503020204020204" charset="-122"/>
                          <a:ea typeface="微软雅黑" panose="020B0503020204020204" charset="-122"/>
                        </a:rPr>
                        <a:t>357.15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a:latin typeface="微软雅黑" panose="020B0503020204020204" charset="-122"/>
                          <a:ea typeface="微软雅黑" panose="020B0503020204020204" charset="-122"/>
                        </a:rPr>
                        <a:t>11.59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a:latin typeface="微软雅黑" panose="020B0503020204020204" charset="-122"/>
                          <a:ea typeface="微软雅黑" panose="020B0503020204020204" charset="-122"/>
                        </a:rPr>
                        <a:t>48.59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a:latin typeface="微软雅黑" panose="020B0503020204020204" charset="-122"/>
                          <a:ea typeface="微软雅黑" panose="020B0503020204020204" charset="-122"/>
                        </a:rPr>
                        <a:t>15.26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a:latin typeface="微软雅黑" panose="020B0503020204020204" charset="-122"/>
                          <a:ea typeface="微软雅黑" panose="020B0503020204020204" charset="-122"/>
                        </a:rPr>
                        <a:t>112.15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1,415.26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-74.76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-1,058.11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r>
              <a:tr h="337820">
                <a:tc>
                  <a:txBody>
                    <a:bodyPr/>
                    <a:lstStyle/>
                    <a:p>
                      <a:pPr marL="71755" algn="l" fontAlgn="ctr"/>
                      <a:r>
                        <a:rPr lang="zh-CN" altLang="en-US" sz="1400" u="none" strike="noStrike" dirty="0">
                          <a:latin typeface="微软雅黑" panose="020B0503020204020204" charset="-122"/>
                          <a:ea typeface="微软雅黑" panose="020B0503020204020204" charset="-122"/>
                        </a:rPr>
                        <a:t>（</a:t>
                      </a:r>
                      <a:r>
                        <a:rPr lang="en-US" altLang="zh-CN" sz="1400" u="none" strike="noStrike" dirty="0">
                          <a:latin typeface="微软雅黑" panose="020B0503020204020204" charset="-122"/>
                          <a:ea typeface="微软雅黑" panose="020B0503020204020204" charset="-122"/>
                        </a:rPr>
                        <a:t>2</a:t>
                      </a:r>
                      <a:r>
                        <a:rPr lang="zh-CN" altLang="en-US" sz="1400" u="none" strike="noStrike" dirty="0">
                          <a:latin typeface="微软雅黑" panose="020B0503020204020204" charset="-122"/>
                          <a:ea typeface="微软雅黑" panose="020B0503020204020204" charset="-122"/>
                        </a:rPr>
                        <a:t>）其他终端费用</a:t>
                      </a:r>
                      <a:endParaRPr lang="zh-CN" altLang="en-US"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a:latin typeface="微软雅黑" panose="020B0503020204020204" charset="-122"/>
                          <a:ea typeface="微软雅黑" panose="020B0503020204020204" charset="-122"/>
                        </a:rPr>
                        <a:t>60.00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22.55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0.73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37.58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4.24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2.55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94.90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-76.24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-72.36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r>
              <a:tr h="337820">
                <a:tc>
                  <a:txBody>
                    <a:bodyPr/>
                    <a:lstStyle/>
                    <a:p>
                      <a:pPr marL="71755" algn="l" fontAlgn="ctr"/>
                      <a:r>
                        <a:rPr lang="en-US" altLang="zh-CN" sz="1400" u="none" strike="noStrike" dirty="0">
                          <a:latin typeface="微软雅黑" panose="020B0503020204020204" charset="-122"/>
                          <a:ea typeface="微软雅黑" panose="020B0503020204020204" charset="-122"/>
                        </a:rPr>
                        <a:t>5</a:t>
                      </a:r>
                      <a:r>
                        <a:rPr lang="zh-CN" altLang="en-US" sz="1400" u="none" strike="noStrike" dirty="0">
                          <a:latin typeface="微软雅黑" panose="020B0503020204020204" charset="-122"/>
                          <a:ea typeface="微软雅黑" panose="020B0503020204020204" charset="-122"/>
                        </a:rPr>
                        <a:t>、坏账准备</a:t>
                      </a:r>
                      <a:endParaRPr lang="zh-CN" altLang="en-US"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1,300</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384.65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12.48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29.59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a:latin typeface="微软雅黑" panose="020B0503020204020204" charset="-122"/>
                          <a:ea typeface="微软雅黑" panose="020B0503020204020204" charset="-122"/>
                        </a:rPr>
                        <a:t>-3.74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a:latin typeface="微软雅黑" panose="020B0503020204020204" charset="-122"/>
                          <a:ea typeface="微软雅黑" panose="020B0503020204020204" charset="-122"/>
                        </a:rPr>
                        <a:t>-48.68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a:latin typeface="微软雅黑" panose="020B0503020204020204" charset="-122"/>
                          <a:ea typeface="微软雅黑" panose="020B0503020204020204" charset="-122"/>
                        </a:rPr>
                        <a:t>349.94 </a:t>
                      </a:r>
                      <a:endParaRPr lang="en-US" altLang="zh-CN" sz="1400" b="0" i="0" u="none" strike="noStrike">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9.92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34.71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75000"/>
                      </a:schemeClr>
                    </a:solidFill>
                  </a:tcPr>
                </a:tc>
              </a:tr>
              <a:tr h="337820">
                <a:tc>
                  <a:txBody>
                    <a:bodyPr/>
                    <a:lstStyle/>
                    <a:p>
                      <a:pPr marL="71755" algn="l" fontAlgn="ctr"/>
                      <a:r>
                        <a:rPr lang="en-US" altLang="zh-CN" sz="1400" u="none" strike="noStrike" dirty="0">
                          <a:latin typeface="微软雅黑" panose="020B0503020204020204" charset="-122"/>
                          <a:ea typeface="微软雅黑" panose="020B0503020204020204" charset="-122"/>
                        </a:rPr>
                        <a:t>6</a:t>
                      </a:r>
                      <a:r>
                        <a:rPr lang="zh-CN" altLang="en-US" sz="1400" u="none" strike="noStrike" dirty="0">
                          <a:latin typeface="微软雅黑" panose="020B0503020204020204" charset="-122"/>
                          <a:ea typeface="微软雅黑" panose="020B0503020204020204" charset="-122"/>
                        </a:rPr>
                        <a:t>、积分兑换支出</a:t>
                      </a:r>
                      <a:endParaRPr lang="zh-CN" altLang="en-US"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60</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14.88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0.48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24.80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-8.53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-5.12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58.07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-74.37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-43.19 </a:t>
                      </a:r>
                      <a:endParaRPr lang="en-US" altLang="zh-CN" sz="1400" b="0" i="0" u="none" strike="noStrike" dirty="0">
                        <a:latin typeface="微软雅黑" panose="020B0503020204020204" charset="-122"/>
                        <a:ea typeface="微软雅黑" panose="020B0503020204020204" charset="-122"/>
                      </a:endParaRPr>
                    </a:p>
                  </a:txBody>
                  <a:tcPr marL="0" marR="0" marT="0" marB="0" anchor="ctr">
                    <a:solidFill>
                      <a:schemeClr val="bg1">
                        <a:lumMod val="85000"/>
                      </a:schemeClr>
                    </a:solidFill>
                  </a:tcPr>
                </a:tc>
              </a:tr>
            </a:tbl>
          </a:graphicData>
        </a:graphic>
      </p:graphicFrame>
      <p:sp>
        <p:nvSpPr>
          <p:cNvPr id="24" name="Text Box 14" descr="蓝色砂纸"/>
          <p:cNvSpPr txBox="1">
            <a:spLocks noChangeArrowheads="1"/>
          </p:cNvSpPr>
          <p:nvPr/>
        </p:nvSpPr>
        <p:spPr bwMode="auto">
          <a:xfrm>
            <a:off x="10508987" y="772270"/>
            <a:ext cx="1139573" cy="305435"/>
          </a:xfrm>
          <a:prstGeom prst="rect">
            <a:avLst/>
          </a:prstGeom>
          <a:noFill/>
          <a:ln w="9525" algn="ctr">
            <a:noFill/>
            <a:miter lim="800000"/>
          </a:ln>
        </p:spPr>
        <p:txBody>
          <a:bodyPr wrap="square" lIns="91391" tIns="45695" rIns="91391" bIns="45695">
            <a:spAutoFit/>
          </a:bodyPr>
          <a:lstStyle/>
          <a:p>
            <a:pPr algn="r">
              <a:spcBef>
                <a:spcPct val="50000"/>
              </a:spcBef>
            </a:pPr>
            <a:r>
              <a:rPr lang="zh-CN" altLang="en-US" sz="1400" dirty="0">
                <a:latin typeface="微软雅黑" panose="020B0503020204020204" charset="-122"/>
                <a:ea typeface="微软雅黑" panose="020B0503020204020204" charset="-122"/>
              </a:rPr>
              <a:t>单位：万元</a:t>
            </a:r>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500"/>
                                        <p:tgtEl>
                                          <p:spTgt spid="2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up)">
                                      <p:cBhvr>
                                        <p:cTn id="1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1" y="5430129"/>
            <a:ext cx="12192000" cy="1427871"/>
          </a:xfrm>
          <a:prstGeom prst="rect">
            <a:avLst/>
          </a:prstGeom>
          <a:solidFill>
            <a:srgbClr val="404040">
              <a:alpha val="2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矩形 5"/>
          <p:cNvSpPr/>
          <p:nvPr/>
        </p:nvSpPr>
        <p:spPr>
          <a:xfrm>
            <a:off x="1" y="0"/>
            <a:ext cx="12192000" cy="5430129"/>
          </a:xfrm>
          <a:prstGeom prst="rect">
            <a:avLst/>
          </a:prstGeom>
          <a:solidFill>
            <a:srgbClr val="FFC00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pic>
        <p:nvPicPr>
          <p:cNvPr id="4" name="图片 3"/>
          <p:cNvPicPr>
            <a:picLocks noChangeAspect="1"/>
          </p:cNvPicPr>
          <p:nvPr/>
        </p:nvPicPr>
        <p:blipFill>
          <a:blip r:embed="rId3"/>
          <a:stretch>
            <a:fillRect/>
          </a:stretch>
        </p:blipFill>
        <p:spPr>
          <a:xfrm>
            <a:off x="1360" y="364477"/>
            <a:ext cx="4026080" cy="2583017"/>
          </a:xfrm>
          <a:prstGeom prst="rect">
            <a:avLst/>
          </a:prstGeom>
        </p:spPr>
      </p:pic>
      <p:pic>
        <p:nvPicPr>
          <p:cNvPr id="5" name="图片 4"/>
          <p:cNvPicPr>
            <a:picLocks noChangeAspect="1"/>
          </p:cNvPicPr>
          <p:nvPr/>
        </p:nvPicPr>
        <p:blipFill>
          <a:blip r:embed="rId4"/>
          <a:stretch>
            <a:fillRect/>
          </a:stretch>
        </p:blipFill>
        <p:spPr>
          <a:xfrm>
            <a:off x="886265" y="3431549"/>
            <a:ext cx="5844734" cy="3426451"/>
          </a:xfrm>
          <a:prstGeom prst="rect">
            <a:avLst/>
          </a:prstGeom>
        </p:spPr>
      </p:pic>
      <p:sp>
        <p:nvSpPr>
          <p:cNvPr id="15" name="文本框 14"/>
          <p:cNvSpPr txBox="1"/>
          <p:nvPr/>
        </p:nvSpPr>
        <p:spPr>
          <a:xfrm>
            <a:off x="5507355" y="2588260"/>
            <a:ext cx="5746115" cy="829945"/>
          </a:xfrm>
          <a:prstGeom prst="rect">
            <a:avLst/>
          </a:prstGeom>
          <a:noFill/>
        </p:spPr>
        <p:txBody>
          <a:bodyPr wrap="square" rtlCol="0">
            <a:spAutoFit/>
          </a:bodyPr>
          <a:lstStyle/>
          <a:p>
            <a:pPr algn="dist"/>
            <a:r>
              <a:rPr lang="zh-CN" altLang="en-US" sz="4800" b="1" dirty="0">
                <a:solidFill>
                  <a:srgbClr val="262626"/>
                </a:solidFill>
                <a:latin typeface="微软雅黑" panose="020B0503020204020204" charset="-122"/>
                <a:ea typeface="微软雅黑" panose="020B0503020204020204" charset="-122"/>
                <a:sym typeface="+mn-ea"/>
              </a:rPr>
              <a:t>收入完成状况分析</a:t>
            </a:r>
            <a:endParaRPr lang="zh-CN" altLang="en-US" sz="4800" b="1" dirty="0">
              <a:solidFill>
                <a:srgbClr val="262626"/>
              </a:solidFill>
              <a:latin typeface="微软雅黑" panose="020B0503020204020204" charset="-122"/>
              <a:ea typeface="微软雅黑" panose="020B0503020204020204" charset="-122"/>
              <a:cs typeface="微软雅黑" panose="020B0503020204020204" charset="-122"/>
              <a:sym typeface="+mn-ea"/>
            </a:endParaRPr>
          </a:p>
        </p:txBody>
      </p:sp>
      <p:sp>
        <p:nvSpPr>
          <p:cNvPr id="2" name="文本框 1"/>
          <p:cNvSpPr txBox="1"/>
          <p:nvPr/>
        </p:nvSpPr>
        <p:spPr>
          <a:xfrm>
            <a:off x="4478695" y="1520176"/>
            <a:ext cx="4030824" cy="1107996"/>
          </a:xfrm>
          <a:prstGeom prst="rect">
            <a:avLst/>
          </a:prstGeom>
          <a:noFill/>
        </p:spPr>
        <p:txBody>
          <a:bodyPr wrap="square" rtlCol="0">
            <a:spAutoFit/>
          </a:bodyPr>
          <a:lstStyle/>
          <a:p>
            <a:r>
              <a:rPr lang="en-US" altLang="zh-CN" sz="6600" dirty="0">
                <a:solidFill>
                  <a:schemeClr val="tx1">
                    <a:lumMod val="85000"/>
                    <a:lumOff val="15000"/>
                  </a:schemeClr>
                </a:solidFill>
                <a:cs typeface="+mn-ea"/>
                <a:sym typeface="+mn-lt"/>
              </a:rPr>
              <a:t>Part One</a:t>
            </a:r>
            <a:endParaRPr lang="zh-CN" altLang="en-US" sz="6600" dirty="0">
              <a:solidFill>
                <a:schemeClr val="tx1">
                  <a:lumMod val="85000"/>
                  <a:lumOff val="15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300" advTm="1000">
        <p14:pan dir="u"/>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 presetClass="entr" presetSubtype="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63" presetClass="path" presetSubtype="0" accel="50000" decel="50000" fill="hold" nodeType="withEffect">
                                  <p:stCondLst>
                                    <p:cond delay="0"/>
                                  </p:stCondLst>
                                  <p:childTnLst>
                                    <p:animMotion origin="layout" path="M -0.36146 -0.08333 L 2.22222E-6 -3.7037E-7 " pathEditMode="relative" rAng="0" ptsTypes="AA">
                                      <p:cBhvr>
                                        <p:cTn id="13" dur="2000" fill="hold"/>
                                        <p:tgtEl>
                                          <p:spTgt spid="4"/>
                                        </p:tgtEl>
                                        <p:attrNameLst>
                                          <p:attrName>ppt_x</p:attrName>
                                          <p:attrName>ppt_y</p:attrName>
                                        </p:attrNameLst>
                                      </p:cBhvr>
                                      <p:rCtr x="18073" y="4167"/>
                                    </p:animMotion>
                                  </p:childTnLst>
                                </p:cTn>
                              </p:par>
                            </p:childTnLst>
                          </p:cTn>
                        </p:par>
                        <p:par>
                          <p:cTn id="14" fill="hold">
                            <p:stCondLst>
                              <p:cond delay="1000"/>
                            </p:stCondLst>
                            <p:childTnLst>
                              <p:par>
                                <p:cTn id="15" presetID="12" presetClass="entr" presetSubtype="8"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p:tgtEl>
                                          <p:spTgt spid="2"/>
                                        </p:tgtEl>
                                        <p:attrNameLst>
                                          <p:attrName>ppt_x</p:attrName>
                                        </p:attrNameLst>
                                      </p:cBhvr>
                                      <p:tavLst>
                                        <p:tav tm="0">
                                          <p:val>
                                            <p:strVal val="#ppt_x-#ppt_w*1.125000"/>
                                          </p:val>
                                        </p:tav>
                                        <p:tav tm="100000">
                                          <p:val>
                                            <p:strVal val="#ppt_x"/>
                                          </p:val>
                                        </p:tav>
                                      </p:tavLst>
                                    </p:anim>
                                    <p:animEffect transition="in" filter="wipe(right)">
                                      <p:cBhvr>
                                        <p:cTn id="18" dur="500"/>
                                        <p:tgtEl>
                                          <p:spTgt spid="2"/>
                                        </p:tgtEl>
                                      </p:cBhvr>
                                    </p:animEffect>
                                  </p:childTnLst>
                                </p:cTn>
                              </p:par>
                            </p:childTnLst>
                          </p:cTn>
                        </p:par>
                        <p:par>
                          <p:cTn id="19" fill="hold">
                            <p:stCondLst>
                              <p:cond delay="1500"/>
                            </p:stCondLst>
                            <p:childTnLst>
                              <p:par>
                                <p:cTn id="20" presetID="12" presetClass="entr" presetSubtype="8"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500"/>
                                        <p:tgtEl>
                                          <p:spTgt spid="15"/>
                                        </p:tgtEl>
                                        <p:attrNameLst>
                                          <p:attrName>ppt_x</p:attrName>
                                        </p:attrNameLst>
                                      </p:cBhvr>
                                      <p:tavLst>
                                        <p:tav tm="0">
                                          <p:val>
                                            <p:strVal val="#ppt_x-#ppt_w*1.125000"/>
                                          </p:val>
                                        </p:tav>
                                        <p:tav tm="100000">
                                          <p:val>
                                            <p:strVal val="#ppt_x"/>
                                          </p:val>
                                        </p:tav>
                                      </p:tavLst>
                                    </p:anim>
                                    <p:animEffect transition="in" filter="wipe(righ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Box 48"/>
          <p:cNvSpPr txBox="1"/>
          <p:nvPr/>
        </p:nvSpPr>
        <p:spPr>
          <a:xfrm>
            <a:off x="1000539" y="4314926"/>
            <a:ext cx="1965573" cy="1370965"/>
          </a:xfrm>
          <a:prstGeom prst="rect">
            <a:avLst/>
          </a:prstGeom>
          <a:noFill/>
        </p:spPr>
        <p:txBody>
          <a:bodyPr wrap="square" rtlCol="0">
            <a:spAutoFit/>
          </a:bodyPr>
          <a:lstStyle/>
          <a:p>
            <a:pPr algn="l">
              <a:lnSpc>
                <a:spcPct val="130000"/>
              </a:lnSpc>
              <a:spcBef>
                <a:spcPct val="20000"/>
              </a:spcBef>
              <a:defRPr/>
            </a:pP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终端用户收入减收</a:t>
            </a: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50.1</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万元（主要是春节结束停保用户上升</a:t>
            </a:r>
            <a:endParaRPr lang="zh-CN" altLang="en-US" sz="1600" dirty="0">
              <a:solidFill>
                <a:schemeClr val="bg2">
                  <a:lumMod val="50000"/>
                </a:schemeClr>
              </a:solidFill>
              <a:latin typeface="微软雅黑" panose="020B0503020204020204" charset="-122"/>
              <a:ea typeface="微软雅黑" panose="020B0503020204020204" charset="-122"/>
              <a:cs typeface="+mn-ea"/>
              <a:sym typeface="Wingdings" panose="05000000000000000000" pitchFamily="2" charset="2"/>
            </a:endParaRPr>
          </a:p>
        </p:txBody>
      </p:sp>
      <p:sp>
        <p:nvSpPr>
          <p:cNvPr id="55" name="TextBox 49"/>
          <p:cNvSpPr txBox="1"/>
          <p:nvPr/>
        </p:nvSpPr>
        <p:spPr>
          <a:xfrm>
            <a:off x="3122903" y="4314926"/>
            <a:ext cx="1965573" cy="730885"/>
          </a:xfrm>
          <a:prstGeom prst="rect">
            <a:avLst/>
          </a:prstGeom>
          <a:noFill/>
        </p:spPr>
        <p:txBody>
          <a:bodyPr wrap="square" rtlCol="0">
            <a:spAutoFit/>
          </a:bodyPr>
          <a:lstStyle/>
          <a:p>
            <a:pPr algn="l">
              <a:lnSpc>
                <a:spcPct val="130000"/>
              </a:lnSpc>
              <a:spcBef>
                <a:spcPct val="20000"/>
              </a:spcBef>
              <a:defRPr/>
            </a:pP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3</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月份停保用户净增</a:t>
            </a: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2.2</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万）</a:t>
            </a:r>
            <a:endParaRPr lang="zh-CN" altLang="en-US" sz="1600" dirty="0">
              <a:solidFill>
                <a:schemeClr val="bg2">
                  <a:lumMod val="50000"/>
                </a:schemeClr>
              </a:solidFill>
              <a:latin typeface="微软雅黑" panose="020B0503020204020204" charset="-122"/>
              <a:ea typeface="微软雅黑" panose="020B0503020204020204" charset="-122"/>
              <a:cs typeface="+mn-ea"/>
              <a:sym typeface="Wingdings" panose="05000000000000000000" pitchFamily="2" charset="2"/>
            </a:endParaRPr>
          </a:p>
        </p:txBody>
      </p:sp>
      <p:sp>
        <p:nvSpPr>
          <p:cNvPr id="56" name="TextBox 51"/>
          <p:cNvSpPr txBox="1"/>
          <p:nvPr/>
        </p:nvSpPr>
        <p:spPr>
          <a:xfrm>
            <a:off x="5066720" y="4314926"/>
            <a:ext cx="1965573" cy="1050925"/>
          </a:xfrm>
          <a:prstGeom prst="rect">
            <a:avLst/>
          </a:prstGeom>
          <a:noFill/>
        </p:spPr>
        <p:txBody>
          <a:bodyPr wrap="square" rtlCol="0">
            <a:spAutoFit/>
          </a:bodyPr>
          <a:lstStyle/>
          <a:p>
            <a:pPr algn="l">
              <a:lnSpc>
                <a:spcPct val="130000"/>
              </a:lnSpc>
              <a:spcBef>
                <a:spcPct val="20000"/>
              </a:spcBef>
              <a:defRPr/>
            </a:pP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装移机收入减</a:t>
            </a: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27.1</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万元（新装减少</a:t>
            </a: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1804</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户）</a:t>
            </a:r>
            <a:endParaRPr lang="zh-CN" altLang="en-US" sz="1600" dirty="0">
              <a:solidFill>
                <a:schemeClr val="bg2">
                  <a:lumMod val="50000"/>
                </a:schemeClr>
              </a:solidFill>
              <a:latin typeface="微软雅黑" panose="020B0503020204020204" charset="-122"/>
              <a:ea typeface="微软雅黑" panose="020B0503020204020204" charset="-122"/>
              <a:cs typeface="+mn-ea"/>
              <a:sym typeface="Wingdings" panose="05000000000000000000" pitchFamily="2" charset="2"/>
            </a:endParaRPr>
          </a:p>
        </p:txBody>
      </p:sp>
      <p:sp>
        <p:nvSpPr>
          <p:cNvPr id="57" name="TextBox 52"/>
          <p:cNvSpPr txBox="1"/>
          <p:nvPr/>
        </p:nvSpPr>
        <p:spPr>
          <a:xfrm>
            <a:off x="7075998" y="4314926"/>
            <a:ext cx="1965573" cy="1370965"/>
          </a:xfrm>
          <a:prstGeom prst="rect">
            <a:avLst/>
          </a:prstGeom>
          <a:noFill/>
        </p:spPr>
        <p:txBody>
          <a:bodyPr wrap="square" rtlCol="0">
            <a:spAutoFit/>
          </a:bodyPr>
          <a:lstStyle/>
          <a:p>
            <a:pPr algn="l">
              <a:lnSpc>
                <a:spcPct val="130000"/>
              </a:lnSpc>
              <a:spcBef>
                <a:spcPct val="20000"/>
              </a:spcBef>
              <a:defRPr/>
            </a:pP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专线收入减</a:t>
            </a: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22.8</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万元（主要是上月仙游校校通半年出账引起）</a:t>
            </a:r>
            <a:endParaRPr lang="zh-CN" altLang="en-US" sz="1600" dirty="0">
              <a:solidFill>
                <a:schemeClr val="bg2">
                  <a:lumMod val="50000"/>
                </a:schemeClr>
              </a:solidFill>
              <a:latin typeface="微软雅黑" panose="020B0503020204020204" charset="-122"/>
              <a:ea typeface="微软雅黑" panose="020B0503020204020204" charset="-122"/>
              <a:cs typeface="+mn-ea"/>
              <a:sym typeface="Wingdings" panose="05000000000000000000" pitchFamily="2" charset="2"/>
            </a:endParaRPr>
          </a:p>
        </p:txBody>
      </p:sp>
      <p:sp>
        <p:nvSpPr>
          <p:cNvPr id="58" name="TextBox 54"/>
          <p:cNvSpPr txBox="1"/>
          <p:nvPr/>
        </p:nvSpPr>
        <p:spPr>
          <a:xfrm>
            <a:off x="9196403" y="4314926"/>
            <a:ext cx="1965573" cy="829945"/>
          </a:xfrm>
          <a:prstGeom prst="rect">
            <a:avLst/>
          </a:prstGeom>
          <a:noFill/>
        </p:spPr>
        <p:txBody>
          <a:bodyPr wrap="square" rtlCol="0">
            <a:spAutoFit/>
          </a:bodyPr>
          <a:lstStyle/>
          <a:p>
            <a:pPr algn="l">
              <a:spcBef>
                <a:spcPct val="20000"/>
              </a:spcBef>
              <a:defRPr/>
            </a:pP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移动用户减收</a:t>
            </a: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60.9</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万元（主要是通话费减收</a:t>
            </a: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58.1</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万元）</a:t>
            </a:r>
            <a:endParaRPr lang="zh-CN" altLang="en-US" sz="1600" dirty="0">
              <a:solidFill>
                <a:schemeClr val="bg2">
                  <a:lumMod val="50000"/>
                </a:schemeClr>
              </a:solidFill>
              <a:latin typeface="微软雅黑" panose="020B0503020204020204" charset="-122"/>
              <a:ea typeface="微软雅黑" panose="020B0503020204020204" charset="-122"/>
              <a:cs typeface="+mn-ea"/>
              <a:sym typeface="Wingdings" panose="05000000000000000000" pitchFamily="2" charset="2"/>
            </a:endParaRPr>
          </a:p>
        </p:txBody>
      </p:sp>
      <p:grpSp>
        <p:nvGrpSpPr>
          <p:cNvPr id="2" name="组合 1"/>
          <p:cNvGrpSpPr/>
          <p:nvPr/>
        </p:nvGrpSpPr>
        <p:grpSpPr>
          <a:xfrm>
            <a:off x="865774" y="1993692"/>
            <a:ext cx="2001168" cy="2158426"/>
            <a:chOff x="1199149" y="1993692"/>
            <a:chExt cx="2001168" cy="2158426"/>
          </a:xfrm>
        </p:grpSpPr>
        <p:sp>
          <p:nvSpPr>
            <p:cNvPr id="49" name="Rounded Rectangle 42"/>
            <p:cNvSpPr/>
            <p:nvPr/>
          </p:nvSpPr>
          <p:spPr bwMode="auto">
            <a:xfrm>
              <a:off x="1667886" y="3763982"/>
              <a:ext cx="1153079" cy="388136"/>
            </a:xfrm>
            <a:prstGeom prst="roundRect">
              <a:avLst>
                <a:gd name="adj" fmla="val 47917"/>
              </a:avLst>
            </a:prstGeom>
            <a:solidFill>
              <a:srgbClr val="FFC000"/>
            </a:solidFill>
            <a:ln w="9525">
              <a:noFill/>
              <a:round/>
            </a:ln>
          </p:spPr>
          <p:txBody>
            <a:bodyPr vert="horz" wrap="square" lIns="91440" tIns="45720" rIns="91440" bIns="45720" numCol="1" rtlCol="0" anchor="ctr" anchorCtr="0" compatLnSpc="1"/>
            <a:lstStyle/>
            <a:p>
              <a:pPr algn="ctr"/>
              <a:r>
                <a:rPr lang="zh-CN" altLang="en-US" sz="1600" b="1" dirty="0">
                  <a:solidFill>
                    <a:schemeClr val="bg1"/>
                  </a:solidFill>
                  <a:cs typeface="+mn-ea"/>
                  <a:sym typeface="+mn-lt"/>
                </a:rPr>
                <a:t>项目</a:t>
              </a:r>
              <a:r>
                <a:rPr lang="en-US" altLang="zh-CN" sz="1600" b="1" dirty="0">
                  <a:solidFill>
                    <a:schemeClr val="bg1"/>
                  </a:solidFill>
                  <a:cs typeface="+mn-ea"/>
                  <a:sym typeface="+mn-lt"/>
                </a:rPr>
                <a:t>A</a:t>
              </a:r>
              <a:endParaRPr lang="en-US" sz="1600" b="1" dirty="0">
                <a:solidFill>
                  <a:schemeClr val="bg1"/>
                </a:solidFill>
                <a:cs typeface="+mn-ea"/>
                <a:sym typeface="+mn-lt"/>
              </a:endParaRPr>
            </a:p>
          </p:txBody>
        </p:sp>
        <p:graphicFrame>
          <p:nvGraphicFramePr>
            <p:cNvPr id="59" name="Chart 55"/>
            <p:cNvGraphicFramePr/>
            <p:nvPr/>
          </p:nvGraphicFramePr>
          <p:xfrm>
            <a:off x="1199149" y="1993692"/>
            <a:ext cx="2001168" cy="1645276"/>
          </p:xfrm>
          <a:graphic>
            <a:graphicData uri="http://schemas.openxmlformats.org/drawingml/2006/chart">
              <c:chart xmlns:c="http://schemas.openxmlformats.org/drawingml/2006/chart" xmlns:r="http://schemas.openxmlformats.org/officeDocument/2006/relationships" r:id="rId3"/>
            </a:graphicData>
          </a:graphic>
        </p:graphicFrame>
        <p:grpSp>
          <p:nvGrpSpPr>
            <p:cNvPr id="64" name="Group 33"/>
            <p:cNvGrpSpPr/>
            <p:nvPr/>
          </p:nvGrpSpPr>
          <p:grpSpPr>
            <a:xfrm>
              <a:off x="2721215" y="2052796"/>
              <a:ext cx="440143" cy="366787"/>
              <a:chOff x="6703460" y="2542946"/>
              <a:chExt cx="345641" cy="288035"/>
            </a:xfrm>
          </p:grpSpPr>
          <p:sp>
            <p:nvSpPr>
              <p:cNvPr id="77" name="Down Arrow Callout 79"/>
              <p:cNvSpPr/>
              <p:nvPr/>
            </p:nvSpPr>
            <p:spPr>
              <a:xfrm>
                <a:off x="6703460" y="2542946"/>
                <a:ext cx="345641" cy="288035"/>
              </a:xfrm>
              <a:prstGeom prst="downArrowCallout">
                <a:avLst>
                  <a:gd name="adj1" fmla="val 25000"/>
                  <a:gd name="adj2" fmla="val 25000"/>
                  <a:gd name="adj3" fmla="val 25000"/>
                  <a:gd name="adj4" fmla="val 7500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78" name="Rectangle 80"/>
              <p:cNvSpPr/>
              <p:nvPr/>
            </p:nvSpPr>
            <p:spPr>
              <a:xfrm>
                <a:off x="6740326" y="2582326"/>
                <a:ext cx="271908" cy="120847"/>
              </a:xfrm>
              <a:prstGeom prst="rect">
                <a:avLst/>
              </a:prstGeom>
              <a:noFill/>
            </p:spPr>
            <p:txBody>
              <a:bodyPr wrap="none" lIns="0" tIns="0" rIns="0" bIns="0" anchor="ctr">
                <a:spAutoFit/>
              </a:bodyPr>
              <a:lstStyle/>
              <a:p>
                <a:pPr algn="ctr"/>
                <a:r>
                  <a:rPr lang="en-US" sz="1000" b="1" dirty="0">
                    <a:solidFill>
                      <a:schemeClr val="bg1"/>
                    </a:solidFill>
                    <a:cs typeface="+mn-ea"/>
                    <a:sym typeface="+mn-lt"/>
                  </a:rPr>
                  <a:t>75%</a:t>
                </a:r>
              </a:p>
            </p:txBody>
          </p:sp>
        </p:grpSp>
      </p:grpSp>
      <p:grpSp>
        <p:nvGrpSpPr>
          <p:cNvPr id="3" name="组合 2"/>
          <p:cNvGrpSpPr/>
          <p:nvPr/>
        </p:nvGrpSpPr>
        <p:grpSpPr>
          <a:xfrm>
            <a:off x="2972244" y="1993692"/>
            <a:ext cx="2001168" cy="2134747"/>
            <a:chOff x="3099244" y="1993692"/>
            <a:chExt cx="2001168" cy="2134747"/>
          </a:xfrm>
        </p:grpSpPr>
        <p:sp>
          <p:nvSpPr>
            <p:cNvPr id="50" name="Rounded Rectangle 43"/>
            <p:cNvSpPr/>
            <p:nvPr/>
          </p:nvSpPr>
          <p:spPr bwMode="auto">
            <a:xfrm>
              <a:off x="3633359" y="3740303"/>
              <a:ext cx="1153079" cy="388136"/>
            </a:xfrm>
            <a:prstGeom prst="roundRect">
              <a:avLst>
                <a:gd name="adj" fmla="val 47917"/>
              </a:avLst>
            </a:prstGeom>
            <a:solidFill>
              <a:srgbClr val="404040"/>
            </a:solidFill>
            <a:ln w="9525">
              <a:noFill/>
              <a:round/>
            </a:ln>
          </p:spPr>
          <p:txBody>
            <a:bodyPr vert="horz" wrap="square" lIns="91440" tIns="45720" rIns="91440" bIns="45720" numCol="1" rtlCol="0" anchor="ctr" anchorCtr="0" compatLnSpc="1"/>
            <a:lstStyle/>
            <a:p>
              <a:pPr algn="ctr"/>
              <a:r>
                <a:rPr lang="zh-CN" altLang="en-US" sz="1600" b="1" dirty="0">
                  <a:solidFill>
                    <a:schemeClr val="bg1"/>
                  </a:solidFill>
                  <a:cs typeface="+mn-ea"/>
                  <a:sym typeface="+mn-lt"/>
                </a:rPr>
                <a:t>项目</a:t>
              </a:r>
              <a:r>
                <a:rPr lang="en-US" altLang="zh-CN" sz="1600" b="1" dirty="0">
                  <a:solidFill>
                    <a:schemeClr val="bg1"/>
                  </a:solidFill>
                  <a:cs typeface="+mn-ea"/>
                  <a:sym typeface="+mn-lt"/>
                </a:rPr>
                <a:t>B</a:t>
              </a:r>
            </a:p>
          </p:txBody>
        </p:sp>
        <p:graphicFrame>
          <p:nvGraphicFramePr>
            <p:cNvPr id="60" name="Chart 57"/>
            <p:cNvGraphicFramePr/>
            <p:nvPr/>
          </p:nvGraphicFramePr>
          <p:xfrm>
            <a:off x="3099244" y="1993692"/>
            <a:ext cx="2001168" cy="1645276"/>
          </p:xfrm>
          <a:graphic>
            <a:graphicData uri="http://schemas.openxmlformats.org/drawingml/2006/chart">
              <c:chart xmlns:c="http://schemas.openxmlformats.org/drawingml/2006/chart" xmlns:r="http://schemas.openxmlformats.org/officeDocument/2006/relationships" r:id="rId4"/>
            </a:graphicData>
          </a:graphic>
        </p:graphicFrame>
        <p:grpSp>
          <p:nvGrpSpPr>
            <p:cNvPr id="65" name="Group 34"/>
            <p:cNvGrpSpPr/>
            <p:nvPr/>
          </p:nvGrpSpPr>
          <p:grpSpPr>
            <a:xfrm>
              <a:off x="4571672" y="2052796"/>
              <a:ext cx="440143" cy="366787"/>
              <a:chOff x="6703460" y="2542946"/>
              <a:chExt cx="345641" cy="288035"/>
            </a:xfrm>
          </p:grpSpPr>
          <p:sp>
            <p:nvSpPr>
              <p:cNvPr id="75" name="Down Arrow Callout 82"/>
              <p:cNvSpPr/>
              <p:nvPr/>
            </p:nvSpPr>
            <p:spPr>
              <a:xfrm>
                <a:off x="6703460" y="2542946"/>
                <a:ext cx="345641" cy="288035"/>
              </a:xfrm>
              <a:prstGeom prst="downArrowCallout">
                <a:avLst>
                  <a:gd name="adj1" fmla="val 25000"/>
                  <a:gd name="adj2" fmla="val 25000"/>
                  <a:gd name="adj3" fmla="val 25000"/>
                  <a:gd name="adj4" fmla="val 75000"/>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76" name="Rectangle 83"/>
              <p:cNvSpPr/>
              <p:nvPr/>
            </p:nvSpPr>
            <p:spPr>
              <a:xfrm>
                <a:off x="6740327" y="2582326"/>
                <a:ext cx="271908" cy="120847"/>
              </a:xfrm>
              <a:prstGeom prst="rect">
                <a:avLst/>
              </a:prstGeom>
              <a:noFill/>
            </p:spPr>
            <p:txBody>
              <a:bodyPr wrap="none" lIns="0" tIns="0" rIns="0" bIns="0" anchor="ctr">
                <a:spAutoFit/>
              </a:bodyPr>
              <a:lstStyle/>
              <a:p>
                <a:pPr algn="ctr"/>
                <a:r>
                  <a:rPr lang="en-US" sz="1000" b="1" dirty="0">
                    <a:solidFill>
                      <a:schemeClr val="bg1"/>
                    </a:solidFill>
                    <a:cs typeface="+mn-ea"/>
                    <a:sym typeface="+mn-lt"/>
                  </a:rPr>
                  <a:t>60%</a:t>
                </a:r>
              </a:p>
            </p:txBody>
          </p:sp>
        </p:grpSp>
      </p:grpSp>
      <p:grpSp>
        <p:nvGrpSpPr>
          <p:cNvPr id="5" name="组合 4"/>
          <p:cNvGrpSpPr/>
          <p:nvPr/>
        </p:nvGrpSpPr>
        <p:grpSpPr>
          <a:xfrm>
            <a:off x="4999339" y="1993692"/>
            <a:ext cx="2001168" cy="2134747"/>
            <a:chOff x="4999339" y="1993692"/>
            <a:chExt cx="2001168" cy="2134747"/>
          </a:xfrm>
        </p:grpSpPr>
        <p:sp>
          <p:nvSpPr>
            <p:cNvPr id="51" name="Rounded Rectangle 44"/>
            <p:cNvSpPr/>
            <p:nvPr/>
          </p:nvSpPr>
          <p:spPr bwMode="auto">
            <a:xfrm>
              <a:off x="5530136" y="3740303"/>
              <a:ext cx="1153079" cy="388136"/>
            </a:xfrm>
            <a:prstGeom prst="roundRect">
              <a:avLst>
                <a:gd name="adj" fmla="val 47917"/>
              </a:avLst>
            </a:prstGeom>
            <a:solidFill>
              <a:srgbClr val="FFC000"/>
            </a:solidFill>
            <a:ln w="9525">
              <a:noFill/>
              <a:round/>
            </a:ln>
          </p:spPr>
          <p:txBody>
            <a:bodyPr vert="horz" wrap="square" lIns="91440" tIns="45720" rIns="91440" bIns="45720" numCol="1" rtlCol="0" anchor="ctr" anchorCtr="0" compatLnSpc="1"/>
            <a:lstStyle/>
            <a:p>
              <a:pPr algn="ctr"/>
              <a:r>
                <a:rPr lang="zh-CN" altLang="en-US" sz="1600" b="1" dirty="0">
                  <a:solidFill>
                    <a:schemeClr val="bg1"/>
                  </a:solidFill>
                  <a:cs typeface="+mn-ea"/>
                  <a:sym typeface="+mn-lt"/>
                </a:rPr>
                <a:t>项目</a:t>
              </a:r>
              <a:r>
                <a:rPr lang="en-US" altLang="zh-CN" sz="1600" b="1" dirty="0">
                  <a:solidFill>
                    <a:schemeClr val="bg1"/>
                  </a:solidFill>
                  <a:cs typeface="+mn-ea"/>
                  <a:sym typeface="+mn-lt"/>
                </a:rPr>
                <a:t>C</a:t>
              </a:r>
            </a:p>
          </p:txBody>
        </p:sp>
        <p:graphicFrame>
          <p:nvGraphicFramePr>
            <p:cNvPr id="61" name="Chart 59"/>
            <p:cNvGraphicFramePr/>
            <p:nvPr/>
          </p:nvGraphicFramePr>
          <p:xfrm>
            <a:off x="4999339" y="1993692"/>
            <a:ext cx="2001168" cy="1645276"/>
          </p:xfrm>
          <a:graphic>
            <a:graphicData uri="http://schemas.openxmlformats.org/drawingml/2006/chart">
              <c:chart xmlns:c="http://schemas.openxmlformats.org/drawingml/2006/chart" xmlns:r="http://schemas.openxmlformats.org/officeDocument/2006/relationships" r:id="rId5"/>
            </a:graphicData>
          </a:graphic>
        </p:graphicFrame>
        <p:grpSp>
          <p:nvGrpSpPr>
            <p:cNvPr id="66" name="Group 37"/>
            <p:cNvGrpSpPr/>
            <p:nvPr/>
          </p:nvGrpSpPr>
          <p:grpSpPr>
            <a:xfrm>
              <a:off x="6422128" y="2052796"/>
              <a:ext cx="440143" cy="366787"/>
              <a:chOff x="6703460" y="2542946"/>
              <a:chExt cx="345641" cy="288035"/>
            </a:xfrm>
          </p:grpSpPr>
          <p:sp>
            <p:nvSpPr>
              <p:cNvPr id="73" name="Down Arrow Callout 85"/>
              <p:cNvSpPr/>
              <p:nvPr/>
            </p:nvSpPr>
            <p:spPr>
              <a:xfrm>
                <a:off x="6703460" y="2542946"/>
                <a:ext cx="345641" cy="288035"/>
              </a:xfrm>
              <a:prstGeom prst="downArrowCallout">
                <a:avLst>
                  <a:gd name="adj1" fmla="val 25000"/>
                  <a:gd name="adj2" fmla="val 25000"/>
                  <a:gd name="adj3" fmla="val 25000"/>
                  <a:gd name="adj4" fmla="val 7500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74" name="Rectangle 86"/>
              <p:cNvSpPr/>
              <p:nvPr/>
            </p:nvSpPr>
            <p:spPr>
              <a:xfrm>
                <a:off x="6740326" y="2582326"/>
                <a:ext cx="271908" cy="120847"/>
              </a:xfrm>
              <a:prstGeom prst="rect">
                <a:avLst/>
              </a:prstGeom>
              <a:noFill/>
            </p:spPr>
            <p:txBody>
              <a:bodyPr wrap="none" lIns="0" tIns="0" rIns="0" bIns="0" anchor="ctr">
                <a:spAutoFit/>
              </a:bodyPr>
              <a:lstStyle/>
              <a:p>
                <a:pPr algn="ctr"/>
                <a:r>
                  <a:rPr lang="en-US" sz="1000" b="1" dirty="0">
                    <a:solidFill>
                      <a:schemeClr val="bg1"/>
                    </a:solidFill>
                    <a:cs typeface="+mn-ea"/>
                    <a:sym typeface="+mn-lt"/>
                  </a:rPr>
                  <a:t>45%</a:t>
                </a:r>
              </a:p>
            </p:txBody>
          </p:sp>
        </p:grpSp>
      </p:grpSp>
      <p:grpSp>
        <p:nvGrpSpPr>
          <p:cNvPr id="7" name="组合 6"/>
          <p:cNvGrpSpPr/>
          <p:nvPr/>
        </p:nvGrpSpPr>
        <p:grpSpPr>
          <a:xfrm>
            <a:off x="9196403" y="1993692"/>
            <a:ext cx="2001168" cy="2134747"/>
            <a:chOff x="8799528" y="1993692"/>
            <a:chExt cx="2001168" cy="2134747"/>
          </a:xfrm>
        </p:grpSpPr>
        <p:sp>
          <p:nvSpPr>
            <p:cNvPr id="53" name="Rounded Rectangle 46"/>
            <p:cNvSpPr/>
            <p:nvPr/>
          </p:nvSpPr>
          <p:spPr bwMode="auto">
            <a:xfrm>
              <a:off x="9253650" y="3740303"/>
              <a:ext cx="1153079" cy="388136"/>
            </a:xfrm>
            <a:prstGeom prst="roundRect">
              <a:avLst>
                <a:gd name="adj" fmla="val 47917"/>
              </a:avLst>
            </a:prstGeom>
            <a:solidFill>
              <a:srgbClr val="FFC000"/>
            </a:solidFill>
            <a:ln w="9525">
              <a:noFill/>
              <a:round/>
            </a:ln>
          </p:spPr>
          <p:txBody>
            <a:bodyPr vert="horz" wrap="square" lIns="91440" tIns="45720" rIns="91440" bIns="45720" numCol="1" rtlCol="0" anchor="ctr" anchorCtr="0" compatLnSpc="1"/>
            <a:lstStyle/>
            <a:p>
              <a:pPr algn="ctr"/>
              <a:r>
                <a:rPr lang="zh-CN" altLang="en-US" sz="1600" b="1" dirty="0">
                  <a:solidFill>
                    <a:schemeClr val="bg1"/>
                  </a:solidFill>
                  <a:cs typeface="+mn-ea"/>
                  <a:sym typeface="+mn-lt"/>
                </a:rPr>
                <a:t>项目</a:t>
              </a:r>
              <a:r>
                <a:rPr lang="en-US" altLang="zh-CN" sz="1600" b="1" dirty="0">
                  <a:solidFill>
                    <a:schemeClr val="bg1"/>
                  </a:solidFill>
                  <a:cs typeface="+mn-ea"/>
                  <a:sym typeface="+mn-lt"/>
                </a:rPr>
                <a:t>E</a:t>
              </a:r>
            </a:p>
          </p:txBody>
        </p:sp>
        <p:graphicFrame>
          <p:nvGraphicFramePr>
            <p:cNvPr id="63" name="Chart 62"/>
            <p:cNvGraphicFramePr/>
            <p:nvPr/>
          </p:nvGraphicFramePr>
          <p:xfrm>
            <a:off x="8799528" y="1993692"/>
            <a:ext cx="2001168" cy="1645276"/>
          </p:xfrm>
          <a:graphic>
            <a:graphicData uri="http://schemas.openxmlformats.org/drawingml/2006/chart">
              <c:chart xmlns:c="http://schemas.openxmlformats.org/drawingml/2006/chart" xmlns:r="http://schemas.openxmlformats.org/officeDocument/2006/relationships" r:id="rId6"/>
            </a:graphicData>
          </a:graphic>
        </p:graphicFrame>
        <p:grpSp>
          <p:nvGrpSpPr>
            <p:cNvPr id="67" name="Group 40"/>
            <p:cNvGrpSpPr/>
            <p:nvPr/>
          </p:nvGrpSpPr>
          <p:grpSpPr>
            <a:xfrm>
              <a:off x="10123041" y="2052796"/>
              <a:ext cx="440143" cy="366787"/>
              <a:chOff x="6703460" y="2542946"/>
              <a:chExt cx="345641" cy="288035"/>
            </a:xfrm>
          </p:grpSpPr>
          <p:sp>
            <p:nvSpPr>
              <p:cNvPr id="71" name="Down Arrow Callout 88"/>
              <p:cNvSpPr/>
              <p:nvPr/>
            </p:nvSpPr>
            <p:spPr>
              <a:xfrm>
                <a:off x="6703460" y="2542946"/>
                <a:ext cx="345641" cy="288035"/>
              </a:xfrm>
              <a:prstGeom prst="downArrowCallout">
                <a:avLst>
                  <a:gd name="adj1" fmla="val 25000"/>
                  <a:gd name="adj2" fmla="val 25000"/>
                  <a:gd name="adj3" fmla="val 25000"/>
                  <a:gd name="adj4" fmla="val 7500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72" name="Rectangle 89"/>
              <p:cNvSpPr/>
              <p:nvPr/>
            </p:nvSpPr>
            <p:spPr>
              <a:xfrm>
                <a:off x="6740327" y="2582326"/>
                <a:ext cx="271908" cy="120847"/>
              </a:xfrm>
              <a:prstGeom prst="rect">
                <a:avLst/>
              </a:prstGeom>
              <a:noFill/>
            </p:spPr>
            <p:txBody>
              <a:bodyPr wrap="none" lIns="0" tIns="0" rIns="0" bIns="0" anchor="ctr">
                <a:spAutoFit/>
              </a:bodyPr>
              <a:lstStyle/>
              <a:p>
                <a:pPr algn="ctr"/>
                <a:r>
                  <a:rPr lang="en-US" sz="1000" b="1" dirty="0">
                    <a:solidFill>
                      <a:schemeClr val="bg1"/>
                    </a:solidFill>
                    <a:cs typeface="+mn-ea"/>
                    <a:sym typeface="+mn-lt"/>
                  </a:rPr>
                  <a:t>90%</a:t>
                </a:r>
              </a:p>
            </p:txBody>
          </p:sp>
        </p:grpSp>
      </p:grpSp>
      <p:grpSp>
        <p:nvGrpSpPr>
          <p:cNvPr id="6" name="组合 5"/>
          <p:cNvGrpSpPr/>
          <p:nvPr/>
        </p:nvGrpSpPr>
        <p:grpSpPr>
          <a:xfrm>
            <a:off x="7042309" y="1993692"/>
            <a:ext cx="2001168" cy="2134747"/>
            <a:chOff x="6899434" y="1993692"/>
            <a:chExt cx="2001168" cy="2134747"/>
          </a:xfrm>
        </p:grpSpPr>
        <p:sp>
          <p:nvSpPr>
            <p:cNvPr id="52" name="Rounded Rectangle 45"/>
            <p:cNvSpPr/>
            <p:nvPr/>
          </p:nvSpPr>
          <p:spPr bwMode="auto">
            <a:xfrm>
              <a:off x="7388100" y="3740303"/>
              <a:ext cx="1153079" cy="388136"/>
            </a:xfrm>
            <a:prstGeom prst="roundRect">
              <a:avLst>
                <a:gd name="adj" fmla="val 47917"/>
              </a:avLst>
            </a:prstGeom>
            <a:solidFill>
              <a:srgbClr val="404040"/>
            </a:solidFill>
            <a:ln w="9525">
              <a:noFill/>
              <a:round/>
            </a:ln>
          </p:spPr>
          <p:txBody>
            <a:bodyPr vert="horz" wrap="square" lIns="91440" tIns="45720" rIns="91440" bIns="45720" numCol="1" rtlCol="0" anchor="ctr" anchorCtr="0" compatLnSpc="1"/>
            <a:lstStyle/>
            <a:p>
              <a:pPr algn="ctr"/>
              <a:r>
                <a:rPr lang="zh-CN" altLang="en-US" sz="1600" b="1" dirty="0">
                  <a:solidFill>
                    <a:schemeClr val="bg1"/>
                  </a:solidFill>
                  <a:cs typeface="+mn-ea"/>
                  <a:sym typeface="+mn-lt"/>
                </a:rPr>
                <a:t>项目</a:t>
              </a:r>
              <a:r>
                <a:rPr lang="en-US" altLang="zh-CN" sz="1600" b="1" dirty="0">
                  <a:solidFill>
                    <a:schemeClr val="bg1"/>
                  </a:solidFill>
                  <a:cs typeface="+mn-ea"/>
                  <a:sym typeface="+mn-lt"/>
                </a:rPr>
                <a:t>D</a:t>
              </a:r>
            </a:p>
          </p:txBody>
        </p:sp>
        <p:graphicFrame>
          <p:nvGraphicFramePr>
            <p:cNvPr id="62" name="Chart 61"/>
            <p:cNvGraphicFramePr/>
            <p:nvPr/>
          </p:nvGraphicFramePr>
          <p:xfrm>
            <a:off x="6899434" y="1993692"/>
            <a:ext cx="2001168" cy="1645276"/>
          </p:xfrm>
          <a:graphic>
            <a:graphicData uri="http://schemas.openxmlformats.org/drawingml/2006/chart">
              <c:chart xmlns:c="http://schemas.openxmlformats.org/drawingml/2006/chart" xmlns:r="http://schemas.openxmlformats.org/officeDocument/2006/relationships" r:id="rId7"/>
            </a:graphicData>
          </a:graphic>
        </p:graphicFrame>
        <p:grpSp>
          <p:nvGrpSpPr>
            <p:cNvPr id="68" name="Group 37"/>
            <p:cNvGrpSpPr/>
            <p:nvPr/>
          </p:nvGrpSpPr>
          <p:grpSpPr>
            <a:xfrm>
              <a:off x="8272584" y="2052796"/>
              <a:ext cx="440143" cy="366787"/>
              <a:chOff x="6703460" y="2542946"/>
              <a:chExt cx="345641" cy="288035"/>
            </a:xfrm>
          </p:grpSpPr>
          <p:sp>
            <p:nvSpPr>
              <p:cNvPr id="69" name="Down Arrow Callout 91"/>
              <p:cNvSpPr/>
              <p:nvPr/>
            </p:nvSpPr>
            <p:spPr>
              <a:xfrm>
                <a:off x="6703460" y="2542946"/>
                <a:ext cx="345641" cy="288035"/>
              </a:xfrm>
              <a:prstGeom prst="downArrowCallout">
                <a:avLst>
                  <a:gd name="adj1" fmla="val 25000"/>
                  <a:gd name="adj2" fmla="val 25000"/>
                  <a:gd name="adj3" fmla="val 25000"/>
                  <a:gd name="adj4" fmla="val 75000"/>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70" name="Rectangle 92"/>
              <p:cNvSpPr/>
              <p:nvPr/>
            </p:nvSpPr>
            <p:spPr>
              <a:xfrm>
                <a:off x="6740326" y="2582326"/>
                <a:ext cx="271908" cy="120847"/>
              </a:xfrm>
              <a:prstGeom prst="rect">
                <a:avLst/>
              </a:prstGeom>
            </p:spPr>
            <p:txBody>
              <a:bodyPr wrap="none" lIns="0" tIns="0" rIns="0" bIns="0" anchor="ctr">
                <a:spAutoFit/>
              </a:bodyPr>
              <a:lstStyle/>
              <a:p>
                <a:pPr algn="ctr"/>
                <a:r>
                  <a:rPr lang="en-US" sz="1000" b="1" dirty="0">
                    <a:solidFill>
                      <a:schemeClr val="bg1"/>
                    </a:solidFill>
                    <a:cs typeface="+mn-ea"/>
                    <a:sym typeface="+mn-lt"/>
                  </a:rPr>
                  <a:t>20%</a:t>
                </a:r>
              </a:p>
            </p:txBody>
          </p:sp>
        </p:grpSp>
      </p:grpSp>
      <p:sp>
        <p:nvSpPr>
          <p:cNvPr id="43" name="矩形 42"/>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矩形 43"/>
          <p:cNvSpPr/>
          <p:nvPr/>
        </p:nvSpPr>
        <p:spPr>
          <a:xfrm>
            <a:off x="-11017" y="-30458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文本框 44"/>
          <p:cNvSpPr txBox="1"/>
          <p:nvPr/>
        </p:nvSpPr>
        <p:spPr>
          <a:xfrm>
            <a:off x="418455" y="312001"/>
            <a:ext cx="2787500" cy="398780"/>
          </a:xfrm>
          <a:prstGeom prst="rect">
            <a:avLst/>
          </a:prstGeom>
          <a:noFill/>
        </p:spPr>
        <p:txBody>
          <a:bodyPr wrap="square" rtlCol="0">
            <a:spAutoFit/>
          </a:bodyPr>
          <a:lstStyle/>
          <a:p>
            <a:r>
              <a:rPr lang="zh-CN" altLang="en-US" sz="2000" b="1" dirty="0">
                <a:cs typeface="+mn-ea"/>
                <a:sym typeface="+mn-lt"/>
              </a:rPr>
              <a:t>环比数据分析</a:t>
            </a:r>
          </a:p>
        </p:txBody>
      </p:sp>
      <p:cxnSp>
        <p:nvCxnSpPr>
          <p:cNvPr id="46" name="直接连接符 45"/>
          <p:cNvCxnSpPr/>
          <p:nvPr/>
        </p:nvCxnSpPr>
        <p:spPr>
          <a:xfrm>
            <a:off x="4923" y="710505"/>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18465" y="910590"/>
            <a:ext cx="8549005" cy="411480"/>
          </a:xfrm>
          <a:prstGeom prst="rect">
            <a:avLst/>
          </a:prstGeom>
          <a:noFill/>
        </p:spPr>
        <p:txBody>
          <a:bodyPr wrap="square" rtlCol="0" anchor="t">
            <a:spAutoFit/>
          </a:bodyPr>
          <a:lstStyle/>
          <a:p>
            <a:pPr marL="342900" indent="-342900">
              <a:lnSpc>
                <a:spcPts val="2500"/>
              </a:lnSpc>
              <a:buAutoNum type="arabicPeriod"/>
            </a:pPr>
            <a:r>
              <a:rPr lang="zh-CN" altLang="en-US" dirty="0">
                <a:latin typeface="微软雅黑" panose="020B0503020204020204" charset="-122"/>
                <a:ea typeface="微软雅黑" panose="020B0503020204020204" charset="-122"/>
                <a:sym typeface="Wingdings" panose="05000000000000000000" pitchFamily="2" charset="2"/>
              </a:rPr>
              <a:t>脱机收入环比减</a:t>
            </a:r>
            <a:r>
              <a:rPr lang="en-US" altLang="zh-CN" dirty="0">
                <a:latin typeface="微软雅黑" panose="020B0503020204020204" charset="-122"/>
                <a:ea typeface="微软雅黑" panose="020B0503020204020204" charset="-122"/>
                <a:sym typeface="Wingdings" panose="05000000000000000000" pitchFamily="2" charset="2"/>
              </a:rPr>
              <a:t>295.6</a:t>
            </a:r>
            <a:r>
              <a:rPr lang="zh-CN" altLang="en-US" dirty="0">
                <a:latin typeface="微软雅黑" panose="020B0503020204020204" charset="-122"/>
                <a:ea typeface="微软雅黑" panose="020B0503020204020204" charset="-122"/>
                <a:sym typeface="Wingdings" panose="05000000000000000000" pitchFamily="2" charset="2"/>
              </a:rPr>
              <a:t>万元，分别为：固网宽带减</a:t>
            </a:r>
            <a:r>
              <a:rPr lang="en-US" altLang="zh-CN" dirty="0">
                <a:latin typeface="微软雅黑" panose="020B0503020204020204" charset="-122"/>
                <a:ea typeface="微软雅黑" panose="020B0503020204020204" charset="-122"/>
                <a:sym typeface="Wingdings" panose="05000000000000000000" pitchFamily="2" charset="2"/>
              </a:rPr>
              <a:t>100.7</a:t>
            </a:r>
            <a:r>
              <a:rPr lang="zh-CN" altLang="en-US" dirty="0">
                <a:latin typeface="微软雅黑" panose="020B0503020204020204" charset="-122"/>
                <a:ea typeface="微软雅黑" panose="020B0503020204020204" charset="-122"/>
                <a:sym typeface="Wingdings" panose="05000000000000000000" pitchFamily="2" charset="2"/>
              </a:rPr>
              <a:t>万元，其中</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fade">
                                      <p:cBhvr>
                                        <p:cTn id="31" dur="1000"/>
                                        <p:tgtEl>
                                          <p:spTgt spid="54"/>
                                        </p:tgtEl>
                                      </p:cBhvr>
                                    </p:animEffect>
                                    <p:anim calcmode="lin" valueType="num">
                                      <p:cBhvr>
                                        <p:cTn id="32" dur="1000" fill="hold"/>
                                        <p:tgtEl>
                                          <p:spTgt spid="54"/>
                                        </p:tgtEl>
                                        <p:attrNameLst>
                                          <p:attrName>ppt_x</p:attrName>
                                        </p:attrNameLst>
                                      </p:cBhvr>
                                      <p:tavLst>
                                        <p:tav tm="0">
                                          <p:val>
                                            <p:strVal val="#ppt_x"/>
                                          </p:val>
                                        </p:tav>
                                        <p:tav tm="100000">
                                          <p:val>
                                            <p:strVal val="#ppt_x"/>
                                          </p:val>
                                        </p:tav>
                                      </p:tavLst>
                                    </p:anim>
                                    <p:anim calcmode="lin" valueType="num">
                                      <p:cBhvr>
                                        <p:cTn id="33" dur="1000" fill="hold"/>
                                        <p:tgtEl>
                                          <p:spTgt spid="54"/>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fade">
                                      <p:cBhvr>
                                        <p:cTn id="36" dur="1000"/>
                                        <p:tgtEl>
                                          <p:spTgt spid="55"/>
                                        </p:tgtEl>
                                      </p:cBhvr>
                                    </p:animEffect>
                                    <p:anim calcmode="lin" valueType="num">
                                      <p:cBhvr>
                                        <p:cTn id="37" dur="1000" fill="hold"/>
                                        <p:tgtEl>
                                          <p:spTgt spid="55"/>
                                        </p:tgtEl>
                                        <p:attrNameLst>
                                          <p:attrName>ppt_x</p:attrName>
                                        </p:attrNameLst>
                                      </p:cBhvr>
                                      <p:tavLst>
                                        <p:tav tm="0">
                                          <p:val>
                                            <p:strVal val="#ppt_x"/>
                                          </p:val>
                                        </p:tav>
                                        <p:tav tm="100000">
                                          <p:val>
                                            <p:strVal val="#ppt_x"/>
                                          </p:val>
                                        </p:tav>
                                      </p:tavLst>
                                    </p:anim>
                                    <p:anim calcmode="lin" valueType="num">
                                      <p:cBhvr>
                                        <p:cTn id="38" dur="1000" fill="hold"/>
                                        <p:tgtEl>
                                          <p:spTgt spid="55"/>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56"/>
                                        </p:tgtEl>
                                        <p:attrNameLst>
                                          <p:attrName>style.visibility</p:attrName>
                                        </p:attrNameLst>
                                      </p:cBhvr>
                                      <p:to>
                                        <p:strVal val="visible"/>
                                      </p:to>
                                    </p:set>
                                    <p:animEffect transition="in" filter="fade">
                                      <p:cBhvr>
                                        <p:cTn id="41" dur="1000"/>
                                        <p:tgtEl>
                                          <p:spTgt spid="56"/>
                                        </p:tgtEl>
                                      </p:cBhvr>
                                    </p:animEffect>
                                    <p:anim calcmode="lin" valueType="num">
                                      <p:cBhvr>
                                        <p:cTn id="42" dur="1000" fill="hold"/>
                                        <p:tgtEl>
                                          <p:spTgt spid="56"/>
                                        </p:tgtEl>
                                        <p:attrNameLst>
                                          <p:attrName>ppt_x</p:attrName>
                                        </p:attrNameLst>
                                      </p:cBhvr>
                                      <p:tavLst>
                                        <p:tav tm="0">
                                          <p:val>
                                            <p:strVal val="#ppt_x"/>
                                          </p:val>
                                        </p:tav>
                                        <p:tav tm="100000">
                                          <p:val>
                                            <p:strVal val="#ppt_x"/>
                                          </p:val>
                                        </p:tav>
                                      </p:tavLst>
                                    </p:anim>
                                    <p:anim calcmode="lin" valueType="num">
                                      <p:cBhvr>
                                        <p:cTn id="43" dur="1000" fill="hold"/>
                                        <p:tgtEl>
                                          <p:spTgt spid="56"/>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57"/>
                                        </p:tgtEl>
                                        <p:attrNameLst>
                                          <p:attrName>style.visibility</p:attrName>
                                        </p:attrNameLst>
                                      </p:cBhvr>
                                      <p:to>
                                        <p:strVal val="visible"/>
                                      </p:to>
                                    </p:set>
                                    <p:animEffect transition="in" filter="fade">
                                      <p:cBhvr>
                                        <p:cTn id="46" dur="1000"/>
                                        <p:tgtEl>
                                          <p:spTgt spid="57"/>
                                        </p:tgtEl>
                                      </p:cBhvr>
                                    </p:animEffect>
                                    <p:anim calcmode="lin" valueType="num">
                                      <p:cBhvr>
                                        <p:cTn id="47" dur="1000" fill="hold"/>
                                        <p:tgtEl>
                                          <p:spTgt spid="57"/>
                                        </p:tgtEl>
                                        <p:attrNameLst>
                                          <p:attrName>ppt_x</p:attrName>
                                        </p:attrNameLst>
                                      </p:cBhvr>
                                      <p:tavLst>
                                        <p:tav tm="0">
                                          <p:val>
                                            <p:strVal val="#ppt_x"/>
                                          </p:val>
                                        </p:tav>
                                        <p:tav tm="100000">
                                          <p:val>
                                            <p:strVal val="#ppt_x"/>
                                          </p:val>
                                        </p:tav>
                                      </p:tavLst>
                                    </p:anim>
                                    <p:anim calcmode="lin" valueType="num">
                                      <p:cBhvr>
                                        <p:cTn id="48" dur="1000" fill="hold"/>
                                        <p:tgtEl>
                                          <p:spTgt spid="57"/>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58"/>
                                        </p:tgtEl>
                                        <p:attrNameLst>
                                          <p:attrName>style.visibility</p:attrName>
                                        </p:attrNameLst>
                                      </p:cBhvr>
                                      <p:to>
                                        <p:strVal val="visible"/>
                                      </p:to>
                                    </p:set>
                                    <p:animEffect transition="in" filter="fade">
                                      <p:cBhvr>
                                        <p:cTn id="51" dur="1000"/>
                                        <p:tgtEl>
                                          <p:spTgt spid="58"/>
                                        </p:tgtEl>
                                      </p:cBhvr>
                                    </p:animEffect>
                                    <p:anim calcmode="lin" valueType="num">
                                      <p:cBhvr>
                                        <p:cTn id="52" dur="1000" fill="hold"/>
                                        <p:tgtEl>
                                          <p:spTgt spid="58"/>
                                        </p:tgtEl>
                                        <p:attrNameLst>
                                          <p:attrName>ppt_x</p:attrName>
                                        </p:attrNameLst>
                                      </p:cBhvr>
                                      <p:tavLst>
                                        <p:tav tm="0">
                                          <p:val>
                                            <p:strVal val="#ppt_x"/>
                                          </p:val>
                                        </p:tav>
                                        <p:tav tm="100000">
                                          <p:val>
                                            <p:strVal val="#ppt_x"/>
                                          </p:val>
                                        </p:tav>
                                      </p:tavLst>
                                    </p:anim>
                                    <p:anim calcmode="lin" valueType="num">
                                      <p:cBhvr>
                                        <p:cTn id="53"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P spid="56" grpId="0"/>
      <p:bldP spid="57" grpId="0"/>
      <p:bldP spid="5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ev04"/>
          <p:cNvSpPr/>
          <p:nvPr/>
        </p:nvSpPr>
        <p:spPr>
          <a:xfrm rot="18900000">
            <a:off x="9043856" y="2253444"/>
            <a:ext cx="1209747" cy="12097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accent4">
                  <a:lumMod val="50000"/>
                </a:schemeClr>
              </a:solidFill>
              <a:cs typeface="+mn-ea"/>
              <a:sym typeface="+mn-lt"/>
            </a:endParaRPr>
          </a:p>
        </p:txBody>
      </p:sp>
      <p:sp>
        <p:nvSpPr>
          <p:cNvPr id="19" name="Sev03"/>
          <p:cNvSpPr/>
          <p:nvPr/>
        </p:nvSpPr>
        <p:spPr>
          <a:xfrm rot="18900000">
            <a:off x="6612031" y="2605796"/>
            <a:ext cx="1209747" cy="1209747"/>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accent3">
                  <a:lumMod val="50000"/>
                </a:schemeClr>
              </a:solidFill>
              <a:cs typeface="+mn-ea"/>
              <a:sym typeface="+mn-lt"/>
            </a:endParaRPr>
          </a:p>
        </p:txBody>
      </p:sp>
      <p:sp>
        <p:nvSpPr>
          <p:cNvPr id="20" name="Sev02"/>
          <p:cNvSpPr/>
          <p:nvPr/>
        </p:nvSpPr>
        <p:spPr>
          <a:xfrm rot="18900000">
            <a:off x="4289563" y="2253444"/>
            <a:ext cx="1209747" cy="12097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solidFill>
                <a:schemeClr val="accent2">
                  <a:lumMod val="50000"/>
                </a:schemeClr>
              </a:solidFill>
              <a:cs typeface="+mn-ea"/>
              <a:sym typeface="+mn-lt"/>
            </a:endParaRPr>
          </a:p>
        </p:txBody>
      </p:sp>
      <p:sp>
        <p:nvSpPr>
          <p:cNvPr id="21" name="Sev01"/>
          <p:cNvSpPr/>
          <p:nvPr/>
        </p:nvSpPr>
        <p:spPr>
          <a:xfrm rot="18900000">
            <a:off x="1773093" y="2605796"/>
            <a:ext cx="1209747" cy="1209747"/>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accent1">
                  <a:lumMod val="50000"/>
                </a:schemeClr>
              </a:solidFill>
              <a:cs typeface="+mn-ea"/>
              <a:sym typeface="+mn-lt"/>
            </a:endParaRPr>
          </a:p>
        </p:txBody>
      </p:sp>
      <p:sp>
        <p:nvSpPr>
          <p:cNvPr id="22" name="TextBox 35"/>
          <p:cNvSpPr txBox="1"/>
          <p:nvPr/>
        </p:nvSpPr>
        <p:spPr>
          <a:xfrm>
            <a:off x="1390410" y="4187958"/>
            <a:ext cx="1975090" cy="1198880"/>
          </a:xfrm>
          <a:prstGeom prst="rect">
            <a:avLst/>
          </a:prstGeom>
          <a:noFill/>
        </p:spPr>
        <p:txBody>
          <a:bodyPr wrap="square" rtlCol="0">
            <a:spAutoFit/>
          </a:bodyPr>
          <a:lstStyle/>
          <a:p>
            <a:pPr algn="ctr">
              <a:lnSpc>
                <a:spcPct val="150000"/>
              </a:lnSpc>
              <a:spcBef>
                <a:spcPct val="20000"/>
              </a:spcBef>
              <a:defRPr/>
            </a:pP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本月补列</a:t>
            </a: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2010</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年</a:t>
            </a: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3-5</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月网吧联盟分成</a:t>
            </a: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16.3</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万元、</a:t>
            </a:r>
            <a:endParaRPr lang="zh-CN" altLang="en-US" sz="1600" dirty="0">
              <a:solidFill>
                <a:schemeClr val="bg2">
                  <a:lumMod val="50000"/>
                </a:schemeClr>
              </a:solidFill>
              <a:latin typeface="微软雅黑" panose="020B0503020204020204" charset="-122"/>
              <a:ea typeface="微软雅黑" panose="020B0503020204020204" charset="-122"/>
              <a:cs typeface="+mn-ea"/>
              <a:sym typeface="Wingdings" panose="05000000000000000000" pitchFamily="2" charset="2"/>
            </a:endParaRPr>
          </a:p>
        </p:txBody>
      </p:sp>
      <p:sp>
        <p:nvSpPr>
          <p:cNvPr id="23" name="Sev01"/>
          <p:cNvSpPr/>
          <p:nvPr/>
        </p:nvSpPr>
        <p:spPr>
          <a:xfrm rot="18900000">
            <a:off x="1773093" y="2415728"/>
            <a:ext cx="1209747" cy="1209747"/>
          </a:xfrm>
          <a:prstGeom prst="rect">
            <a:avLst/>
          </a:prstGeom>
          <a:solidFill>
            <a:schemeClr val="bg1">
              <a:lumMod val="95000"/>
            </a:schemeClr>
          </a:solidFill>
          <a:ln>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accent1">
                  <a:lumMod val="50000"/>
                </a:schemeClr>
              </a:solidFill>
              <a:cs typeface="+mn-ea"/>
              <a:sym typeface="+mn-lt"/>
            </a:endParaRPr>
          </a:p>
        </p:txBody>
      </p:sp>
      <p:sp>
        <p:nvSpPr>
          <p:cNvPr id="24" name="TextBox 44"/>
          <p:cNvSpPr txBox="1"/>
          <p:nvPr/>
        </p:nvSpPr>
        <p:spPr>
          <a:xfrm>
            <a:off x="3959137" y="4187958"/>
            <a:ext cx="1870596" cy="829945"/>
          </a:xfrm>
          <a:prstGeom prst="rect">
            <a:avLst/>
          </a:prstGeom>
          <a:noFill/>
        </p:spPr>
        <p:txBody>
          <a:bodyPr wrap="square" rtlCol="0">
            <a:spAutoFit/>
          </a:bodyPr>
          <a:lstStyle/>
          <a:p>
            <a:pPr indent="0">
              <a:lnSpc>
                <a:spcPct val="150000"/>
              </a:lnSpc>
              <a:buFont typeface="Wingdings" panose="05000000000000000000" pitchFamily="2" charset="2"/>
              <a:buNone/>
            </a:pP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某某学院上年学生宽带分成</a:t>
            </a: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14.6</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万元</a:t>
            </a:r>
            <a:endParaRPr lang="zh-CN" altLang="en-US" sz="1600" dirty="0">
              <a:solidFill>
                <a:schemeClr val="bg2">
                  <a:lumMod val="50000"/>
                </a:schemeClr>
              </a:solidFill>
              <a:latin typeface="微软雅黑" panose="020B0503020204020204" charset="-122"/>
              <a:ea typeface="微软雅黑" panose="020B0503020204020204" charset="-122"/>
              <a:cs typeface="+mn-ea"/>
              <a:sym typeface="Wingdings" panose="05000000000000000000" pitchFamily="2" charset="2"/>
            </a:endParaRPr>
          </a:p>
        </p:txBody>
      </p:sp>
      <p:sp>
        <p:nvSpPr>
          <p:cNvPr id="25" name="Sev02"/>
          <p:cNvSpPr/>
          <p:nvPr/>
        </p:nvSpPr>
        <p:spPr>
          <a:xfrm rot="18900000">
            <a:off x="4289563" y="2415728"/>
            <a:ext cx="1209747" cy="1209747"/>
          </a:xfrm>
          <a:prstGeom prst="rect">
            <a:avLst/>
          </a:prstGeom>
          <a:solidFill>
            <a:schemeClr val="bg1">
              <a:lumMod val="9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solidFill>
                <a:schemeClr val="accent2">
                  <a:lumMod val="50000"/>
                </a:schemeClr>
              </a:solidFill>
              <a:cs typeface="+mn-ea"/>
              <a:sym typeface="+mn-lt"/>
            </a:endParaRPr>
          </a:p>
        </p:txBody>
      </p:sp>
      <p:sp>
        <p:nvSpPr>
          <p:cNvPr id="26" name="TextBox 46"/>
          <p:cNvSpPr txBox="1"/>
          <p:nvPr/>
        </p:nvSpPr>
        <p:spPr>
          <a:xfrm>
            <a:off x="6261981" y="4187958"/>
            <a:ext cx="1909819" cy="829945"/>
          </a:xfrm>
          <a:prstGeom prst="rect">
            <a:avLst/>
          </a:prstGeom>
          <a:noFill/>
        </p:spPr>
        <p:txBody>
          <a:bodyPr wrap="square" rtlCol="0">
            <a:spAutoFit/>
          </a:bodyPr>
          <a:lstStyle/>
          <a:p>
            <a:pPr indent="0">
              <a:lnSpc>
                <a:spcPct val="150000"/>
              </a:lnSpc>
              <a:buFont typeface="Wingdings" panose="05000000000000000000" pitchFamily="2" charset="2"/>
              <a:buNone/>
            </a:pP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省级固话畅打包</a:t>
            </a: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4.7</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万元及</a:t>
            </a:r>
            <a:endParaRPr lang="zh-CN" altLang="en-US" sz="1600" dirty="0">
              <a:solidFill>
                <a:schemeClr val="bg2">
                  <a:lumMod val="50000"/>
                </a:schemeClr>
              </a:solidFill>
              <a:latin typeface="微软雅黑" panose="020B0503020204020204" charset="-122"/>
              <a:ea typeface="微软雅黑" panose="020B0503020204020204" charset="-122"/>
              <a:cs typeface="+mn-ea"/>
              <a:sym typeface="Wingdings" panose="05000000000000000000" pitchFamily="2" charset="2"/>
            </a:endParaRPr>
          </a:p>
        </p:txBody>
      </p:sp>
      <p:sp>
        <p:nvSpPr>
          <p:cNvPr id="27" name="Sev03"/>
          <p:cNvSpPr/>
          <p:nvPr/>
        </p:nvSpPr>
        <p:spPr>
          <a:xfrm rot="18900000">
            <a:off x="6612031" y="2415728"/>
            <a:ext cx="1209747" cy="1209747"/>
          </a:xfrm>
          <a:prstGeom prst="rect">
            <a:avLst/>
          </a:prstGeom>
          <a:solidFill>
            <a:schemeClr val="bg1">
              <a:lumMod val="95000"/>
            </a:schemeClr>
          </a:solidFill>
          <a:ln>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accent3">
                  <a:lumMod val="50000"/>
                </a:schemeClr>
              </a:solidFill>
              <a:cs typeface="+mn-ea"/>
              <a:sym typeface="+mn-lt"/>
            </a:endParaRPr>
          </a:p>
        </p:txBody>
      </p:sp>
      <p:sp>
        <p:nvSpPr>
          <p:cNvPr id="28" name="TextBox 48"/>
          <p:cNvSpPr txBox="1"/>
          <p:nvPr/>
        </p:nvSpPr>
        <p:spPr>
          <a:xfrm>
            <a:off x="8689988" y="4187958"/>
            <a:ext cx="1917483" cy="1568450"/>
          </a:xfrm>
          <a:prstGeom prst="rect">
            <a:avLst/>
          </a:prstGeom>
          <a:noFill/>
        </p:spPr>
        <p:txBody>
          <a:bodyPr wrap="square" rtlCol="0">
            <a:spAutoFit/>
          </a:bodyPr>
          <a:lstStyle/>
          <a:p>
            <a:pPr algn="ctr">
              <a:lnSpc>
                <a:spcPct val="150000"/>
              </a:lnSpc>
              <a:spcBef>
                <a:spcPct val="20000"/>
              </a:spcBef>
              <a:defRPr/>
            </a:pP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 </a:t>
            </a: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ITV</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平台省级电路费用分摊</a:t>
            </a: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4.8</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万元（</a:t>
            </a: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2009</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年</a:t>
            </a: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12</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月</a:t>
            </a: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-2010</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年</a:t>
            </a:r>
            <a:r>
              <a:rPr lang="en-US" altLang="zh-CN"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3</a:t>
            </a:r>
            <a:r>
              <a:rPr lang="zh-CN" altLang="en-US" sz="1600" dirty="0">
                <a:solidFill>
                  <a:schemeClr val="bg2">
                    <a:lumMod val="50000"/>
                  </a:schemeClr>
                </a:solidFill>
                <a:latin typeface="微软雅黑" panose="020B0503020204020204" charset="-122"/>
                <a:ea typeface="微软雅黑" panose="020B0503020204020204" charset="-122"/>
                <a:sym typeface="Wingdings" panose="05000000000000000000" pitchFamily="2" charset="2"/>
              </a:rPr>
              <a:t>月）</a:t>
            </a:r>
            <a:endParaRPr lang="zh-CN" altLang="en-US" sz="1600" dirty="0">
              <a:solidFill>
                <a:schemeClr val="bg2">
                  <a:lumMod val="50000"/>
                </a:schemeClr>
              </a:solidFill>
              <a:latin typeface="微软雅黑" panose="020B0503020204020204" charset="-122"/>
              <a:ea typeface="微软雅黑" panose="020B0503020204020204" charset="-122"/>
              <a:cs typeface="+mn-ea"/>
              <a:sym typeface="Wingdings" panose="05000000000000000000" pitchFamily="2" charset="2"/>
            </a:endParaRPr>
          </a:p>
        </p:txBody>
      </p:sp>
      <p:sp>
        <p:nvSpPr>
          <p:cNvPr id="29" name="Sev04"/>
          <p:cNvSpPr/>
          <p:nvPr/>
        </p:nvSpPr>
        <p:spPr>
          <a:xfrm rot="18900000">
            <a:off x="9043856" y="2415728"/>
            <a:ext cx="1209747" cy="1209747"/>
          </a:xfrm>
          <a:prstGeom prst="rect">
            <a:avLst/>
          </a:prstGeom>
          <a:solidFill>
            <a:schemeClr val="bg1">
              <a:lumMod val="9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accent4">
                  <a:lumMod val="50000"/>
                </a:schemeClr>
              </a:solidFill>
              <a:cs typeface="+mn-ea"/>
              <a:sym typeface="+mn-lt"/>
            </a:endParaRPr>
          </a:p>
        </p:txBody>
      </p:sp>
      <p:sp>
        <p:nvSpPr>
          <p:cNvPr id="30" name="Freeform 52"/>
          <p:cNvSpPr>
            <a:spLocks noEditPoints="1"/>
          </p:cNvSpPr>
          <p:nvPr/>
        </p:nvSpPr>
        <p:spPr bwMode="auto">
          <a:xfrm>
            <a:off x="9417133" y="2771436"/>
            <a:ext cx="463193" cy="498331"/>
          </a:xfrm>
          <a:custGeom>
            <a:avLst/>
            <a:gdLst/>
            <a:ahLst/>
            <a:cxnLst>
              <a:cxn ang="0">
                <a:pos x="67" y="67"/>
              </a:cxn>
              <a:cxn ang="0">
                <a:pos x="61" y="72"/>
              </a:cxn>
              <a:cxn ang="0">
                <a:pos x="5" y="72"/>
              </a:cxn>
              <a:cxn ang="0">
                <a:pos x="0" y="67"/>
              </a:cxn>
              <a:cxn ang="0">
                <a:pos x="0" y="16"/>
              </a:cxn>
              <a:cxn ang="0">
                <a:pos x="5" y="11"/>
              </a:cxn>
              <a:cxn ang="0">
                <a:pos x="10" y="11"/>
              </a:cxn>
              <a:cxn ang="0">
                <a:pos x="10" y="7"/>
              </a:cxn>
              <a:cxn ang="0">
                <a:pos x="16" y="0"/>
              </a:cxn>
              <a:cxn ang="0">
                <a:pos x="19" y="0"/>
              </a:cxn>
              <a:cxn ang="0">
                <a:pos x="25" y="7"/>
              </a:cxn>
              <a:cxn ang="0">
                <a:pos x="25" y="11"/>
              </a:cxn>
              <a:cxn ang="0">
                <a:pos x="41" y="11"/>
              </a:cxn>
              <a:cxn ang="0">
                <a:pos x="41" y="7"/>
              </a:cxn>
              <a:cxn ang="0">
                <a:pos x="47" y="0"/>
              </a:cxn>
              <a:cxn ang="0">
                <a:pos x="50" y="0"/>
              </a:cxn>
              <a:cxn ang="0">
                <a:pos x="56" y="7"/>
              </a:cxn>
              <a:cxn ang="0">
                <a:pos x="56" y="11"/>
              </a:cxn>
              <a:cxn ang="0">
                <a:pos x="61" y="11"/>
              </a:cxn>
              <a:cxn ang="0">
                <a:pos x="67" y="16"/>
              </a:cxn>
              <a:cxn ang="0">
                <a:pos x="67" y="67"/>
              </a:cxn>
              <a:cxn ang="0">
                <a:pos x="61" y="67"/>
              </a:cxn>
              <a:cxn ang="0">
                <a:pos x="61" y="26"/>
              </a:cxn>
              <a:cxn ang="0">
                <a:pos x="5" y="26"/>
              </a:cxn>
              <a:cxn ang="0">
                <a:pos x="5" y="67"/>
              </a:cxn>
              <a:cxn ang="0">
                <a:pos x="61" y="67"/>
              </a:cxn>
              <a:cxn ang="0">
                <a:pos x="20" y="7"/>
              </a:cxn>
              <a:cxn ang="0">
                <a:pos x="19" y="5"/>
              </a:cxn>
              <a:cxn ang="0">
                <a:pos x="16" y="5"/>
              </a:cxn>
              <a:cxn ang="0">
                <a:pos x="15" y="7"/>
              </a:cxn>
              <a:cxn ang="0">
                <a:pos x="15" y="18"/>
              </a:cxn>
              <a:cxn ang="0">
                <a:pos x="16" y="20"/>
              </a:cxn>
              <a:cxn ang="0">
                <a:pos x="19" y="20"/>
              </a:cxn>
              <a:cxn ang="0">
                <a:pos x="20" y="18"/>
              </a:cxn>
              <a:cxn ang="0">
                <a:pos x="20" y="7"/>
              </a:cxn>
              <a:cxn ang="0">
                <a:pos x="51" y="7"/>
              </a:cxn>
              <a:cxn ang="0">
                <a:pos x="50" y="5"/>
              </a:cxn>
              <a:cxn ang="0">
                <a:pos x="47" y="5"/>
              </a:cxn>
              <a:cxn ang="0">
                <a:pos x="46" y="7"/>
              </a:cxn>
              <a:cxn ang="0">
                <a:pos x="46" y="18"/>
              </a:cxn>
              <a:cxn ang="0">
                <a:pos x="47" y="20"/>
              </a:cxn>
              <a:cxn ang="0">
                <a:pos x="50" y="20"/>
              </a:cxn>
              <a:cxn ang="0">
                <a:pos x="51" y="18"/>
              </a:cxn>
              <a:cxn ang="0">
                <a:pos x="51" y="7"/>
              </a:cxn>
            </a:cxnLst>
            <a:rect l="0" t="0" r="r" b="b"/>
            <a:pathLst>
              <a:path w="67" h="72">
                <a:moveTo>
                  <a:pt x="67" y="67"/>
                </a:moveTo>
                <a:cubicBezTo>
                  <a:pt x="67" y="70"/>
                  <a:pt x="64" y="72"/>
                  <a:pt x="61" y="72"/>
                </a:cubicBezTo>
                <a:cubicBezTo>
                  <a:pt x="5" y="72"/>
                  <a:pt x="5" y="72"/>
                  <a:pt x="5" y="72"/>
                </a:cubicBezTo>
                <a:cubicBezTo>
                  <a:pt x="2" y="72"/>
                  <a:pt x="0" y="70"/>
                  <a:pt x="0" y="67"/>
                </a:cubicBezTo>
                <a:cubicBezTo>
                  <a:pt x="0" y="16"/>
                  <a:pt x="0" y="16"/>
                  <a:pt x="0" y="16"/>
                </a:cubicBezTo>
                <a:cubicBezTo>
                  <a:pt x="0" y="13"/>
                  <a:pt x="2" y="11"/>
                  <a:pt x="5" y="11"/>
                </a:cubicBezTo>
                <a:cubicBezTo>
                  <a:pt x="10" y="11"/>
                  <a:pt x="10" y="11"/>
                  <a:pt x="10" y="11"/>
                </a:cubicBezTo>
                <a:cubicBezTo>
                  <a:pt x="10" y="7"/>
                  <a:pt x="10" y="7"/>
                  <a:pt x="10" y="7"/>
                </a:cubicBezTo>
                <a:cubicBezTo>
                  <a:pt x="10" y="3"/>
                  <a:pt x="13" y="0"/>
                  <a:pt x="16" y="0"/>
                </a:cubicBezTo>
                <a:cubicBezTo>
                  <a:pt x="19" y="0"/>
                  <a:pt x="19" y="0"/>
                  <a:pt x="19" y="0"/>
                </a:cubicBezTo>
                <a:cubicBezTo>
                  <a:pt x="23" y="0"/>
                  <a:pt x="25" y="3"/>
                  <a:pt x="25" y="7"/>
                </a:cubicBezTo>
                <a:cubicBezTo>
                  <a:pt x="25" y="11"/>
                  <a:pt x="25" y="11"/>
                  <a:pt x="25" y="11"/>
                </a:cubicBezTo>
                <a:cubicBezTo>
                  <a:pt x="41" y="11"/>
                  <a:pt x="41" y="11"/>
                  <a:pt x="41" y="11"/>
                </a:cubicBezTo>
                <a:cubicBezTo>
                  <a:pt x="41" y="7"/>
                  <a:pt x="41" y="7"/>
                  <a:pt x="41" y="7"/>
                </a:cubicBezTo>
                <a:cubicBezTo>
                  <a:pt x="41" y="3"/>
                  <a:pt x="44" y="0"/>
                  <a:pt x="47" y="0"/>
                </a:cubicBezTo>
                <a:cubicBezTo>
                  <a:pt x="50" y="0"/>
                  <a:pt x="50" y="0"/>
                  <a:pt x="50" y="0"/>
                </a:cubicBezTo>
                <a:cubicBezTo>
                  <a:pt x="53" y="0"/>
                  <a:pt x="56" y="3"/>
                  <a:pt x="56" y="7"/>
                </a:cubicBezTo>
                <a:cubicBezTo>
                  <a:pt x="56" y="11"/>
                  <a:pt x="56" y="11"/>
                  <a:pt x="56" y="11"/>
                </a:cubicBezTo>
                <a:cubicBezTo>
                  <a:pt x="61" y="11"/>
                  <a:pt x="61" y="11"/>
                  <a:pt x="61" y="11"/>
                </a:cubicBezTo>
                <a:cubicBezTo>
                  <a:pt x="64" y="11"/>
                  <a:pt x="67" y="13"/>
                  <a:pt x="67" y="16"/>
                </a:cubicBezTo>
                <a:lnTo>
                  <a:pt x="67" y="67"/>
                </a:lnTo>
                <a:close/>
                <a:moveTo>
                  <a:pt x="61" y="67"/>
                </a:moveTo>
                <a:cubicBezTo>
                  <a:pt x="61" y="26"/>
                  <a:pt x="61" y="26"/>
                  <a:pt x="61" y="26"/>
                </a:cubicBezTo>
                <a:cubicBezTo>
                  <a:pt x="5" y="26"/>
                  <a:pt x="5" y="26"/>
                  <a:pt x="5" y="26"/>
                </a:cubicBezTo>
                <a:cubicBezTo>
                  <a:pt x="5" y="67"/>
                  <a:pt x="5" y="67"/>
                  <a:pt x="5" y="67"/>
                </a:cubicBezTo>
                <a:lnTo>
                  <a:pt x="61" y="67"/>
                </a:lnTo>
                <a:close/>
                <a:moveTo>
                  <a:pt x="20" y="7"/>
                </a:moveTo>
                <a:cubicBezTo>
                  <a:pt x="20" y="6"/>
                  <a:pt x="20" y="5"/>
                  <a:pt x="19" y="5"/>
                </a:cubicBezTo>
                <a:cubicBezTo>
                  <a:pt x="16" y="5"/>
                  <a:pt x="16" y="5"/>
                  <a:pt x="16" y="5"/>
                </a:cubicBezTo>
                <a:cubicBezTo>
                  <a:pt x="16" y="5"/>
                  <a:pt x="15" y="6"/>
                  <a:pt x="15" y="7"/>
                </a:cubicBezTo>
                <a:cubicBezTo>
                  <a:pt x="15" y="18"/>
                  <a:pt x="15" y="18"/>
                  <a:pt x="15" y="18"/>
                </a:cubicBezTo>
                <a:cubicBezTo>
                  <a:pt x="15" y="19"/>
                  <a:pt x="16" y="20"/>
                  <a:pt x="16" y="20"/>
                </a:cubicBezTo>
                <a:cubicBezTo>
                  <a:pt x="19" y="20"/>
                  <a:pt x="19" y="20"/>
                  <a:pt x="19" y="20"/>
                </a:cubicBezTo>
                <a:cubicBezTo>
                  <a:pt x="20" y="20"/>
                  <a:pt x="20" y="19"/>
                  <a:pt x="20" y="18"/>
                </a:cubicBezTo>
                <a:lnTo>
                  <a:pt x="20" y="7"/>
                </a:lnTo>
                <a:close/>
                <a:moveTo>
                  <a:pt x="51" y="7"/>
                </a:moveTo>
                <a:cubicBezTo>
                  <a:pt x="51" y="6"/>
                  <a:pt x="51" y="5"/>
                  <a:pt x="50" y="5"/>
                </a:cubicBezTo>
                <a:cubicBezTo>
                  <a:pt x="47" y="5"/>
                  <a:pt x="47" y="5"/>
                  <a:pt x="47" y="5"/>
                </a:cubicBezTo>
                <a:cubicBezTo>
                  <a:pt x="47" y="5"/>
                  <a:pt x="46" y="6"/>
                  <a:pt x="46" y="7"/>
                </a:cubicBezTo>
                <a:cubicBezTo>
                  <a:pt x="46" y="18"/>
                  <a:pt x="46" y="18"/>
                  <a:pt x="46" y="18"/>
                </a:cubicBezTo>
                <a:cubicBezTo>
                  <a:pt x="46" y="19"/>
                  <a:pt x="47" y="20"/>
                  <a:pt x="47" y="20"/>
                </a:cubicBezTo>
                <a:cubicBezTo>
                  <a:pt x="50" y="20"/>
                  <a:pt x="50" y="20"/>
                  <a:pt x="50" y="20"/>
                </a:cubicBezTo>
                <a:cubicBezTo>
                  <a:pt x="51" y="20"/>
                  <a:pt x="51" y="19"/>
                  <a:pt x="51" y="18"/>
                </a:cubicBezTo>
                <a:lnTo>
                  <a:pt x="51" y="7"/>
                </a:lnTo>
                <a:close/>
              </a:path>
            </a:pathLst>
          </a:custGeom>
          <a:solidFill>
            <a:srgbClr val="FFC000"/>
          </a:solidFill>
          <a:ln w="9525">
            <a:noFill/>
            <a:round/>
          </a:ln>
        </p:spPr>
        <p:txBody>
          <a:bodyPr vert="horz" wrap="square" lIns="91440" tIns="45720" rIns="91440" bIns="45720" numCol="1" anchor="t" anchorCtr="0" compatLnSpc="1"/>
          <a:lstStyle/>
          <a:p>
            <a:endParaRPr lang="en-US">
              <a:cs typeface="+mn-ea"/>
              <a:sym typeface="+mn-lt"/>
            </a:endParaRPr>
          </a:p>
        </p:txBody>
      </p:sp>
      <p:sp>
        <p:nvSpPr>
          <p:cNvPr id="31" name="Freeform 42"/>
          <p:cNvSpPr>
            <a:spLocks noEditPoints="1"/>
          </p:cNvSpPr>
          <p:nvPr/>
        </p:nvSpPr>
        <p:spPr bwMode="auto">
          <a:xfrm>
            <a:off x="2125595" y="2803380"/>
            <a:ext cx="504720" cy="434443"/>
          </a:xfrm>
          <a:custGeom>
            <a:avLst/>
            <a:gdLst/>
            <a:ahLst/>
            <a:cxnLst>
              <a:cxn ang="0">
                <a:pos x="73" y="47"/>
              </a:cxn>
              <a:cxn ang="0">
                <a:pos x="67" y="53"/>
              </a:cxn>
              <a:cxn ang="0">
                <a:pos x="46" y="53"/>
              </a:cxn>
              <a:cxn ang="0">
                <a:pos x="48" y="60"/>
              </a:cxn>
              <a:cxn ang="0">
                <a:pos x="46" y="63"/>
              </a:cxn>
              <a:cxn ang="0">
                <a:pos x="26" y="63"/>
              </a:cxn>
              <a:cxn ang="0">
                <a:pos x="24" y="60"/>
              </a:cxn>
              <a:cxn ang="0">
                <a:pos x="26" y="53"/>
              </a:cxn>
              <a:cxn ang="0">
                <a:pos x="6" y="53"/>
              </a:cxn>
              <a:cxn ang="0">
                <a:pos x="0" y="47"/>
              </a:cxn>
              <a:cxn ang="0">
                <a:pos x="0" y="6"/>
              </a:cxn>
              <a:cxn ang="0">
                <a:pos x="6" y="0"/>
              </a:cxn>
              <a:cxn ang="0">
                <a:pos x="67" y="0"/>
              </a:cxn>
              <a:cxn ang="0">
                <a:pos x="73" y="6"/>
              </a:cxn>
              <a:cxn ang="0">
                <a:pos x="73" y="47"/>
              </a:cxn>
              <a:cxn ang="0">
                <a:pos x="68" y="6"/>
              </a:cxn>
              <a:cxn ang="0">
                <a:pos x="67" y="5"/>
              </a:cxn>
              <a:cxn ang="0">
                <a:pos x="6" y="5"/>
              </a:cxn>
              <a:cxn ang="0">
                <a:pos x="5" y="6"/>
              </a:cxn>
              <a:cxn ang="0">
                <a:pos x="5" y="37"/>
              </a:cxn>
              <a:cxn ang="0">
                <a:pos x="6" y="39"/>
              </a:cxn>
              <a:cxn ang="0">
                <a:pos x="67" y="39"/>
              </a:cxn>
              <a:cxn ang="0">
                <a:pos x="68" y="37"/>
              </a:cxn>
              <a:cxn ang="0">
                <a:pos x="68" y="6"/>
              </a:cxn>
            </a:cxnLst>
            <a:rect l="0" t="0" r="r" b="b"/>
            <a:pathLst>
              <a:path w="73" h="63">
                <a:moveTo>
                  <a:pt x="73" y="47"/>
                </a:moveTo>
                <a:cubicBezTo>
                  <a:pt x="73" y="50"/>
                  <a:pt x="70" y="53"/>
                  <a:pt x="67" y="53"/>
                </a:cubicBezTo>
                <a:cubicBezTo>
                  <a:pt x="46" y="53"/>
                  <a:pt x="46" y="53"/>
                  <a:pt x="46" y="53"/>
                </a:cubicBezTo>
                <a:cubicBezTo>
                  <a:pt x="46" y="56"/>
                  <a:pt x="48" y="59"/>
                  <a:pt x="48" y="60"/>
                </a:cubicBezTo>
                <a:cubicBezTo>
                  <a:pt x="48" y="62"/>
                  <a:pt x="47" y="63"/>
                  <a:pt x="46" y="63"/>
                </a:cubicBezTo>
                <a:cubicBezTo>
                  <a:pt x="26" y="63"/>
                  <a:pt x="26" y="63"/>
                  <a:pt x="26" y="63"/>
                </a:cubicBezTo>
                <a:cubicBezTo>
                  <a:pt x="25" y="63"/>
                  <a:pt x="24" y="62"/>
                  <a:pt x="24" y="60"/>
                </a:cubicBezTo>
                <a:cubicBezTo>
                  <a:pt x="24" y="59"/>
                  <a:pt x="26" y="56"/>
                  <a:pt x="26" y="53"/>
                </a:cubicBezTo>
                <a:cubicBezTo>
                  <a:pt x="6" y="53"/>
                  <a:pt x="6" y="53"/>
                  <a:pt x="6" y="53"/>
                </a:cubicBezTo>
                <a:cubicBezTo>
                  <a:pt x="2" y="53"/>
                  <a:pt x="0" y="50"/>
                  <a:pt x="0" y="47"/>
                </a:cubicBezTo>
                <a:cubicBezTo>
                  <a:pt x="0" y="6"/>
                  <a:pt x="0" y="6"/>
                  <a:pt x="0" y="6"/>
                </a:cubicBezTo>
                <a:cubicBezTo>
                  <a:pt x="0" y="2"/>
                  <a:pt x="2" y="0"/>
                  <a:pt x="6" y="0"/>
                </a:cubicBezTo>
                <a:cubicBezTo>
                  <a:pt x="67" y="0"/>
                  <a:pt x="67" y="0"/>
                  <a:pt x="67" y="0"/>
                </a:cubicBezTo>
                <a:cubicBezTo>
                  <a:pt x="70" y="0"/>
                  <a:pt x="73" y="2"/>
                  <a:pt x="73" y="6"/>
                </a:cubicBezTo>
                <a:lnTo>
                  <a:pt x="73" y="47"/>
                </a:lnTo>
                <a:close/>
                <a:moveTo>
                  <a:pt x="68" y="6"/>
                </a:moveTo>
                <a:cubicBezTo>
                  <a:pt x="68" y="5"/>
                  <a:pt x="67" y="5"/>
                  <a:pt x="67" y="5"/>
                </a:cubicBezTo>
                <a:cubicBezTo>
                  <a:pt x="6" y="5"/>
                  <a:pt x="6" y="5"/>
                  <a:pt x="6" y="5"/>
                </a:cubicBezTo>
                <a:cubicBezTo>
                  <a:pt x="5" y="5"/>
                  <a:pt x="5" y="5"/>
                  <a:pt x="5" y="6"/>
                </a:cubicBezTo>
                <a:cubicBezTo>
                  <a:pt x="5" y="37"/>
                  <a:pt x="5" y="37"/>
                  <a:pt x="5" y="37"/>
                </a:cubicBezTo>
                <a:cubicBezTo>
                  <a:pt x="5" y="38"/>
                  <a:pt x="5" y="39"/>
                  <a:pt x="6" y="39"/>
                </a:cubicBezTo>
                <a:cubicBezTo>
                  <a:pt x="67" y="39"/>
                  <a:pt x="67" y="39"/>
                  <a:pt x="67" y="39"/>
                </a:cubicBezTo>
                <a:cubicBezTo>
                  <a:pt x="67" y="39"/>
                  <a:pt x="68" y="38"/>
                  <a:pt x="68" y="37"/>
                </a:cubicBezTo>
                <a:lnTo>
                  <a:pt x="68" y="6"/>
                </a:lnTo>
                <a:close/>
              </a:path>
            </a:pathLst>
          </a:custGeom>
          <a:solidFill>
            <a:srgbClr val="404040"/>
          </a:solidFill>
          <a:ln w="9525">
            <a:noFill/>
            <a:round/>
          </a:ln>
        </p:spPr>
        <p:txBody>
          <a:bodyPr vert="horz" wrap="square" lIns="91440" tIns="45720" rIns="91440" bIns="45720" numCol="1" anchor="t" anchorCtr="0" compatLnSpc="1"/>
          <a:lstStyle/>
          <a:p>
            <a:endParaRPr lang="en-US">
              <a:cs typeface="+mn-ea"/>
              <a:sym typeface="+mn-lt"/>
            </a:endParaRPr>
          </a:p>
        </p:txBody>
      </p:sp>
      <p:sp>
        <p:nvSpPr>
          <p:cNvPr id="32" name="Freeform 178"/>
          <p:cNvSpPr>
            <a:spLocks noEditPoints="1"/>
          </p:cNvSpPr>
          <p:nvPr/>
        </p:nvSpPr>
        <p:spPr bwMode="auto">
          <a:xfrm>
            <a:off x="6964531" y="2830528"/>
            <a:ext cx="504720" cy="380139"/>
          </a:xfrm>
          <a:custGeom>
            <a:avLst/>
            <a:gdLst/>
            <a:ahLst/>
            <a:cxnLst>
              <a:cxn ang="0">
                <a:pos x="158" y="119"/>
              </a:cxn>
              <a:cxn ang="0">
                <a:pos x="0" y="119"/>
              </a:cxn>
              <a:cxn ang="0">
                <a:pos x="0" y="0"/>
              </a:cxn>
              <a:cxn ang="0">
                <a:pos x="9" y="0"/>
              </a:cxn>
              <a:cxn ang="0">
                <a:pos x="9" y="108"/>
              </a:cxn>
              <a:cxn ang="0">
                <a:pos x="158" y="108"/>
              </a:cxn>
              <a:cxn ang="0">
                <a:pos x="158" y="119"/>
              </a:cxn>
              <a:cxn ang="0">
                <a:pos x="50" y="99"/>
              </a:cxn>
              <a:cxn ang="0">
                <a:pos x="29" y="99"/>
              </a:cxn>
              <a:cxn ang="0">
                <a:pos x="29" y="60"/>
              </a:cxn>
              <a:cxn ang="0">
                <a:pos x="50" y="60"/>
              </a:cxn>
              <a:cxn ang="0">
                <a:pos x="50" y="99"/>
              </a:cxn>
              <a:cxn ang="0">
                <a:pos x="78" y="99"/>
              </a:cxn>
              <a:cxn ang="0">
                <a:pos x="59" y="99"/>
              </a:cxn>
              <a:cxn ang="0">
                <a:pos x="59" y="19"/>
              </a:cxn>
              <a:cxn ang="0">
                <a:pos x="78" y="19"/>
              </a:cxn>
              <a:cxn ang="0">
                <a:pos x="78" y="99"/>
              </a:cxn>
              <a:cxn ang="0">
                <a:pos x="109" y="99"/>
              </a:cxn>
              <a:cxn ang="0">
                <a:pos x="89" y="99"/>
              </a:cxn>
              <a:cxn ang="0">
                <a:pos x="89" y="39"/>
              </a:cxn>
              <a:cxn ang="0">
                <a:pos x="109" y="39"/>
              </a:cxn>
              <a:cxn ang="0">
                <a:pos x="109" y="99"/>
              </a:cxn>
              <a:cxn ang="0">
                <a:pos x="139" y="99"/>
              </a:cxn>
              <a:cxn ang="0">
                <a:pos x="119" y="99"/>
              </a:cxn>
              <a:cxn ang="0">
                <a:pos x="119" y="11"/>
              </a:cxn>
              <a:cxn ang="0">
                <a:pos x="139" y="11"/>
              </a:cxn>
              <a:cxn ang="0">
                <a:pos x="139" y="99"/>
              </a:cxn>
            </a:cxnLst>
            <a:rect l="0" t="0" r="r" b="b"/>
            <a:pathLst>
              <a:path w="158" h="119">
                <a:moveTo>
                  <a:pt x="158" y="119"/>
                </a:moveTo>
                <a:lnTo>
                  <a:pt x="0" y="119"/>
                </a:lnTo>
                <a:lnTo>
                  <a:pt x="0" y="0"/>
                </a:lnTo>
                <a:lnTo>
                  <a:pt x="9" y="0"/>
                </a:lnTo>
                <a:lnTo>
                  <a:pt x="9" y="108"/>
                </a:lnTo>
                <a:lnTo>
                  <a:pt x="158" y="108"/>
                </a:lnTo>
                <a:lnTo>
                  <a:pt x="158" y="119"/>
                </a:lnTo>
                <a:close/>
                <a:moveTo>
                  <a:pt x="50" y="99"/>
                </a:moveTo>
                <a:lnTo>
                  <a:pt x="29" y="99"/>
                </a:lnTo>
                <a:lnTo>
                  <a:pt x="29" y="60"/>
                </a:lnTo>
                <a:lnTo>
                  <a:pt x="50" y="60"/>
                </a:lnTo>
                <a:lnTo>
                  <a:pt x="50" y="99"/>
                </a:lnTo>
                <a:close/>
                <a:moveTo>
                  <a:pt x="78" y="99"/>
                </a:moveTo>
                <a:lnTo>
                  <a:pt x="59" y="99"/>
                </a:lnTo>
                <a:lnTo>
                  <a:pt x="59" y="19"/>
                </a:lnTo>
                <a:lnTo>
                  <a:pt x="78" y="19"/>
                </a:lnTo>
                <a:lnTo>
                  <a:pt x="78" y="99"/>
                </a:lnTo>
                <a:close/>
                <a:moveTo>
                  <a:pt x="109" y="99"/>
                </a:moveTo>
                <a:lnTo>
                  <a:pt x="89" y="99"/>
                </a:lnTo>
                <a:lnTo>
                  <a:pt x="89" y="39"/>
                </a:lnTo>
                <a:lnTo>
                  <a:pt x="109" y="39"/>
                </a:lnTo>
                <a:lnTo>
                  <a:pt x="109" y="99"/>
                </a:lnTo>
                <a:close/>
                <a:moveTo>
                  <a:pt x="139" y="99"/>
                </a:moveTo>
                <a:lnTo>
                  <a:pt x="119" y="99"/>
                </a:lnTo>
                <a:lnTo>
                  <a:pt x="119" y="11"/>
                </a:lnTo>
                <a:lnTo>
                  <a:pt x="139" y="11"/>
                </a:lnTo>
                <a:lnTo>
                  <a:pt x="139" y="99"/>
                </a:lnTo>
                <a:close/>
              </a:path>
            </a:pathLst>
          </a:custGeom>
          <a:solidFill>
            <a:srgbClr val="404040"/>
          </a:solidFill>
          <a:ln w="9525">
            <a:noFill/>
            <a:round/>
          </a:ln>
        </p:spPr>
        <p:txBody>
          <a:bodyPr vert="horz" wrap="square" lIns="91440" tIns="45720" rIns="91440" bIns="45720" numCol="1" anchor="t" anchorCtr="0" compatLnSpc="1"/>
          <a:lstStyle/>
          <a:p>
            <a:endParaRPr lang="en-US">
              <a:cs typeface="+mn-ea"/>
              <a:sym typeface="+mn-lt"/>
            </a:endParaRPr>
          </a:p>
        </p:txBody>
      </p:sp>
      <p:sp>
        <p:nvSpPr>
          <p:cNvPr id="33" name="Freeform 86"/>
          <p:cNvSpPr>
            <a:spLocks noEditPoints="1"/>
          </p:cNvSpPr>
          <p:nvPr/>
        </p:nvSpPr>
        <p:spPr bwMode="auto">
          <a:xfrm>
            <a:off x="4721614" y="2729831"/>
            <a:ext cx="345642" cy="581553"/>
          </a:xfrm>
          <a:custGeom>
            <a:avLst/>
            <a:gdLst/>
            <a:ahLst/>
            <a:cxnLst>
              <a:cxn ang="0">
                <a:pos x="29" y="44"/>
              </a:cxn>
              <a:cxn ang="0">
                <a:pos x="24" y="49"/>
              </a:cxn>
              <a:cxn ang="0">
                <a:pos x="5" y="49"/>
              </a:cxn>
              <a:cxn ang="0">
                <a:pos x="0" y="44"/>
              </a:cxn>
              <a:cxn ang="0">
                <a:pos x="0" y="5"/>
              </a:cxn>
              <a:cxn ang="0">
                <a:pos x="5" y="0"/>
              </a:cxn>
              <a:cxn ang="0">
                <a:pos x="24" y="0"/>
              </a:cxn>
              <a:cxn ang="0">
                <a:pos x="29" y="5"/>
              </a:cxn>
              <a:cxn ang="0">
                <a:pos x="29" y="44"/>
              </a:cxn>
              <a:cxn ang="0">
                <a:pos x="25" y="11"/>
              </a:cxn>
              <a:cxn ang="0">
                <a:pos x="24" y="10"/>
              </a:cxn>
              <a:cxn ang="0">
                <a:pos x="5" y="10"/>
              </a:cxn>
              <a:cxn ang="0">
                <a:pos x="3" y="11"/>
              </a:cxn>
              <a:cxn ang="0">
                <a:pos x="3" y="38"/>
              </a:cxn>
              <a:cxn ang="0">
                <a:pos x="5" y="39"/>
              </a:cxn>
              <a:cxn ang="0">
                <a:pos x="24" y="39"/>
              </a:cxn>
              <a:cxn ang="0">
                <a:pos x="25" y="38"/>
              </a:cxn>
              <a:cxn ang="0">
                <a:pos x="25" y="11"/>
              </a:cxn>
              <a:cxn ang="0">
                <a:pos x="17" y="5"/>
              </a:cxn>
              <a:cxn ang="0">
                <a:pos x="11" y="5"/>
              </a:cxn>
              <a:cxn ang="0">
                <a:pos x="11" y="6"/>
              </a:cxn>
              <a:cxn ang="0">
                <a:pos x="11" y="6"/>
              </a:cxn>
              <a:cxn ang="0">
                <a:pos x="17" y="6"/>
              </a:cxn>
              <a:cxn ang="0">
                <a:pos x="18" y="6"/>
              </a:cxn>
              <a:cxn ang="0">
                <a:pos x="17" y="5"/>
              </a:cxn>
              <a:cxn ang="0">
                <a:pos x="14" y="41"/>
              </a:cxn>
              <a:cxn ang="0">
                <a:pos x="11" y="44"/>
              </a:cxn>
              <a:cxn ang="0">
                <a:pos x="14" y="47"/>
              </a:cxn>
              <a:cxn ang="0">
                <a:pos x="17" y="44"/>
              </a:cxn>
              <a:cxn ang="0">
                <a:pos x="14" y="41"/>
              </a:cxn>
            </a:cxnLst>
            <a:rect l="0" t="0" r="r" b="b"/>
            <a:pathLst>
              <a:path w="29" h="49">
                <a:moveTo>
                  <a:pt x="29" y="44"/>
                </a:moveTo>
                <a:cubicBezTo>
                  <a:pt x="29" y="47"/>
                  <a:pt x="27" y="49"/>
                  <a:pt x="24" y="49"/>
                </a:cubicBezTo>
                <a:cubicBezTo>
                  <a:pt x="5" y="49"/>
                  <a:pt x="5" y="49"/>
                  <a:pt x="5" y="49"/>
                </a:cubicBezTo>
                <a:cubicBezTo>
                  <a:pt x="2" y="49"/>
                  <a:pt x="0" y="47"/>
                  <a:pt x="0" y="44"/>
                </a:cubicBezTo>
                <a:cubicBezTo>
                  <a:pt x="0" y="5"/>
                  <a:pt x="0" y="5"/>
                  <a:pt x="0" y="5"/>
                </a:cubicBezTo>
                <a:cubicBezTo>
                  <a:pt x="0" y="3"/>
                  <a:pt x="2" y="0"/>
                  <a:pt x="5" y="0"/>
                </a:cubicBezTo>
                <a:cubicBezTo>
                  <a:pt x="24" y="0"/>
                  <a:pt x="24" y="0"/>
                  <a:pt x="24" y="0"/>
                </a:cubicBezTo>
                <a:cubicBezTo>
                  <a:pt x="27" y="0"/>
                  <a:pt x="29" y="3"/>
                  <a:pt x="29" y="5"/>
                </a:cubicBezTo>
                <a:lnTo>
                  <a:pt x="29" y="44"/>
                </a:lnTo>
                <a:close/>
                <a:moveTo>
                  <a:pt x="25" y="11"/>
                </a:moveTo>
                <a:cubicBezTo>
                  <a:pt x="25" y="11"/>
                  <a:pt x="25" y="10"/>
                  <a:pt x="24" y="10"/>
                </a:cubicBezTo>
                <a:cubicBezTo>
                  <a:pt x="5" y="10"/>
                  <a:pt x="5" y="10"/>
                  <a:pt x="5" y="10"/>
                </a:cubicBezTo>
                <a:cubicBezTo>
                  <a:pt x="4" y="10"/>
                  <a:pt x="3" y="11"/>
                  <a:pt x="3" y="11"/>
                </a:cubicBezTo>
                <a:cubicBezTo>
                  <a:pt x="3" y="38"/>
                  <a:pt x="3" y="38"/>
                  <a:pt x="3" y="38"/>
                </a:cubicBezTo>
                <a:cubicBezTo>
                  <a:pt x="3" y="39"/>
                  <a:pt x="4" y="39"/>
                  <a:pt x="5" y="39"/>
                </a:cubicBezTo>
                <a:cubicBezTo>
                  <a:pt x="24" y="39"/>
                  <a:pt x="24" y="39"/>
                  <a:pt x="24" y="39"/>
                </a:cubicBezTo>
                <a:cubicBezTo>
                  <a:pt x="25" y="39"/>
                  <a:pt x="25" y="39"/>
                  <a:pt x="25" y="38"/>
                </a:cubicBezTo>
                <a:lnTo>
                  <a:pt x="25" y="11"/>
                </a:lnTo>
                <a:close/>
                <a:moveTo>
                  <a:pt x="17" y="5"/>
                </a:moveTo>
                <a:cubicBezTo>
                  <a:pt x="11" y="5"/>
                  <a:pt x="11" y="5"/>
                  <a:pt x="11" y="5"/>
                </a:cubicBezTo>
                <a:cubicBezTo>
                  <a:pt x="11" y="5"/>
                  <a:pt x="11" y="6"/>
                  <a:pt x="11" y="6"/>
                </a:cubicBezTo>
                <a:cubicBezTo>
                  <a:pt x="11" y="6"/>
                  <a:pt x="11" y="6"/>
                  <a:pt x="11" y="6"/>
                </a:cubicBezTo>
                <a:cubicBezTo>
                  <a:pt x="17" y="6"/>
                  <a:pt x="17" y="6"/>
                  <a:pt x="17" y="6"/>
                </a:cubicBezTo>
                <a:cubicBezTo>
                  <a:pt x="18" y="6"/>
                  <a:pt x="18" y="6"/>
                  <a:pt x="18" y="6"/>
                </a:cubicBezTo>
                <a:cubicBezTo>
                  <a:pt x="18" y="6"/>
                  <a:pt x="18" y="5"/>
                  <a:pt x="17" y="5"/>
                </a:cubicBezTo>
                <a:close/>
                <a:moveTo>
                  <a:pt x="14" y="41"/>
                </a:moveTo>
                <a:cubicBezTo>
                  <a:pt x="13" y="41"/>
                  <a:pt x="11" y="42"/>
                  <a:pt x="11" y="44"/>
                </a:cubicBezTo>
                <a:cubicBezTo>
                  <a:pt x="11" y="46"/>
                  <a:pt x="13" y="47"/>
                  <a:pt x="14" y="47"/>
                </a:cubicBezTo>
                <a:cubicBezTo>
                  <a:pt x="16" y="47"/>
                  <a:pt x="17" y="46"/>
                  <a:pt x="17" y="44"/>
                </a:cubicBezTo>
                <a:cubicBezTo>
                  <a:pt x="17" y="42"/>
                  <a:pt x="16" y="41"/>
                  <a:pt x="14" y="41"/>
                </a:cubicBezTo>
                <a:close/>
              </a:path>
            </a:pathLst>
          </a:custGeom>
          <a:solidFill>
            <a:srgbClr val="FFC000"/>
          </a:solidFill>
          <a:ln w="9525">
            <a:noFill/>
            <a:round/>
          </a:ln>
        </p:spPr>
        <p:txBody>
          <a:bodyPr vert="horz" wrap="square" lIns="91440" tIns="45720" rIns="91440" bIns="45720" numCol="1" anchor="t" anchorCtr="0" compatLnSpc="1"/>
          <a:lstStyle/>
          <a:p>
            <a:endParaRPr lang="en-US">
              <a:cs typeface="+mn-ea"/>
              <a:sym typeface="+mn-lt"/>
            </a:endParaRPr>
          </a:p>
        </p:txBody>
      </p:sp>
      <p:sp>
        <p:nvSpPr>
          <p:cNvPr id="34" name="矩形 33"/>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矩形 34"/>
          <p:cNvSpPr/>
          <p:nvPr/>
        </p:nvSpPr>
        <p:spPr>
          <a:xfrm>
            <a:off x="-11017" y="-30458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文本框 44"/>
          <p:cNvSpPr txBox="1"/>
          <p:nvPr/>
        </p:nvSpPr>
        <p:spPr>
          <a:xfrm>
            <a:off x="418455" y="312001"/>
            <a:ext cx="2787500" cy="398780"/>
          </a:xfrm>
          <a:prstGeom prst="rect">
            <a:avLst/>
          </a:prstGeom>
          <a:noFill/>
        </p:spPr>
        <p:txBody>
          <a:bodyPr wrap="square" rtlCol="0">
            <a:spAutoFit/>
          </a:bodyPr>
          <a:lstStyle/>
          <a:p>
            <a:r>
              <a:rPr lang="zh-CN" altLang="en-US" sz="2000" b="1" dirty="0">
                <a:cs typeface="+mn-ea"/>
                <a:sym typeface="+mn-lt"/>
              </a:rPr>
              <a:t>环比数据分析</a:t>
            </a:r>
          </a:p>
        </p:txBody>
      </p:sp>
      <p:cxnSp>
        <p:nvCxnSpPr>
          <p:cNvPr id="46" name="直接连接符 45"/>
          <p:cNvCxnSpPr/>
          <p:nvPr/>
        </p:nvCxnSpPr>
        <p:spPr>
          <a:xfrm>
            <a:off x="4923" y="710505"/>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532765" y="988695"/>
            <a:ext cx="3683635" cy="368300"/>
          </a:xfrm>
          <a:prstGeom prst="rect">
            <a:avLst/>
          </a:prstGeom>
          <a:noFill/>
        </p:spPr>
        <p:txBody>
          <a:bodyPr wrap="none" rtlCol="0" anchor="t">
            <a:spAutoFit/>
          </a:bodyPr>
          <a:lstStyle/>
          <a:p>
            <a:r>
              <a:rPr lang="en-US" altLang="zh-CN" dirty="0">
                <a:solidFill>
                  <a:schemeClr val="bg2">
                    <a:lumMod val="25000"/>
                  </a:schemeClr>
                </a:solidFill>
                <a:latin typeface="微软雅黑" panose="020B0503020204020204" charset="-122"/>
                <a:ea typeface="微软雅黑" panose="020B0503020204020204" charset="-122"/>
                <a:sym typeface="Wingdings" panose="05000000000000000000" pitchFamily="2" charset="2"/>
              </a:rPr>
              <a:t>2. SP</a:t>
            </a:r>
            <a:r>
              <a:rPr lang="zh-CN" altLang="en-US" dirty="0">
                <a:solidFill>
                  <a:schemeClr val="bg2">
                    <a:lumMod val="25000"/>
                  </a:schemeClr>
                </a:solidFill>
                <a:latin typeface="微软雅黑" panose="020B0503020204020204" charset="-122"/>
                <a:ea typeface="微软雅黑" panose="020B0503020204020204" charset="-122"/>
                <a:sym typeface="Wingdings" panose="05000000000000000000" pitchFamily="2" charset="2"/>
              </a:rPr>
              <a:t>分成环比增</a:t>
            </a:r>
            <a:r>
              <a:rPr lang="en-US" altLang="zh-CN" dirty="0">
                <a:solidFill>
                  <a:schemeClr val="bg2">
                    <a:lumMod val="25000"/>
                  </a:schemeClr>
                </a:solidFill>
                <a:latin typeface="微软雅黑" panose="020B0503020204020204" charset="-122"/>
                <a:ea typeface="微软雅黑" panose="020B0503020204020204" charset="-122"/>
                <a:sym typeface="Wingdings" panose="05000000000000000000" pitchFamily="2" charset="2"/>
              </a:rPr>
              <a:t>40.3</a:t>
            </a:r>
            <a:r>
              <a:rPr lang="zh-CN" altLang="en-US" dirty="0">
                <a:solidFill>
                  <a:schemeClr val="bg2">
                    <a:lumMod val="25000"/>
                  </a:schemeClr>
                </a:solidFill>
                <a:latin typeface="微软雅黑" panose="020B0503020204020204" charset="-122"/>
                <a:ea typeface="微软雅黑" panose="020B0503020204020204" charset="-122"/>
                <a:sym typeface="Wingdings" panose="05000000000000000000" pitchFamily="2" charset="2"/>
              </a:rPr>
              <a:t>万元，主要是</a:t>
            </a:r>
          </a:p>
        </p:txBody>
      </p:sp>
      <p:sp>
        <p:nvSpPr>
          <p:cNvPr id="3" name="文本框 2"/>
          <p:cNvSpPr txBox="1"/>
          <p:nvPr/>
        </p:nvSpPr>
        <p:spPr>
          <a:xfrm>
            <a:off x="532765" y="5953760"/>
            <a:ext cx="8898255" cy="368300"/>
          </a:xfrm>
          <a:prstGeom prst="rect">
            <a:avLst/>
          </a:prstGeom>
          <a:noFill/>
        </p:spPr>
        <p:txBody>
          <a:bodyPr wrap="none" rtlCol="0" anchor="t">
            <a:spAutoFit/>
          </a:bodyPr>
          <a:lstStyle/>
          <a:p>
            <a:r>
              <a:rPr lang="en-US" altLang="zh-CN" dirty="0">
                <a:solidFill>
                  <a:schemeClr val="bg2">
                    <a:lumMod val="25000"/>
                  </a:schemeClr>
                </a:solidFill>
                <a:latin typeface="微软雅黑" panose="020B0503020204020204" charset="-122"/>
                <a:ea typeface="微软雅黑" panose="020B0503020204020204" charset="-122"/>
                <a:sym typeface="Wingdings" panose="05000000000000000000" pitchFamily="2" charset="2"/>
              </a:rPr>
              <a:t>3.</a:t>
            </a:r>
            <a:r>
              <a:rPr lang="zh-CN" altLang="en-US" dirty="0">
                <a:solidFill>
                  <a:schemeClr val="bg2">
                    <a:lumMod val="25000"/>
                  </a:schemeClr>
                </a:solidFill>
                <a:latin typeface="微软雅黑" panose="020B0503020204020204" charset="-122"/>
                <a:ea typeface="微软雅黑" panose="020B0503020204020204" charset="-122"/>
                <a:sym typeface="Wingdings" panose="05000000000000000000" pitchFamily="2" charset="2"/>
              </a:rPr>
              <a:t> </a:t>
            </a:r>
            <a:r>
              <a:rPr lang="zh-CN" altLang="en-US" kern="0" dirty="0">
                <a:solidFill>
                  <a:schemeClr val="bg2">
                    <a:lumMod val="25000"/>
                  </a:schemeClr>
                </a:solidFill>
                <a:latin typeface="微软雅黑" panose="020B0503020204020204" charset="-122"/>
                <a:ea typeface="微软雅黑" panose="020B0503020204020204" charset="-122"/>
                <a:sym typeface="+mn-ea"/>
              </a:rPr>
              <a:t>受计费天数及假期等因素影响，</a:t>
            </a:r>
            <a:r>
              <a:rPr lang="zh-CN" altLang="en-US" dirty="0">
                <a:solidFill>
                  <a:schemeClr val="bg2">
                    <a:lumMod val="25000"/>
                  </a:schemeClr>
                </a:solidFill>
                <a:latin typeface="微软雅黑" panose="020B0503020204020204" charset="-122"/>
                <a:ea typeface="微软雅黑" panose="020B0503020204020204" charset="-122"/>
                <a:sym typeface="Wingdings" panose="05000000000000000000" pitchFamily="2" charset="2"/>
              </a:rPr>
              <a:t>网间结算环比减</a:t>
            </a:r>
            <a:r>
              <a:rPr lang="en-US" altLang="zh-CN" dirty="0">
                <a:solidFill>
                  <a:schemeClr val="bg2">
                    <a:lumMod val="25000"/>
                  </a:schemeClr>
                </a:solidFill>
                <a:latin typeface="微软雅黑" panose="020B0503020204020204" charset="-122"/>
                <a:ea typeface="微软雅黑" panose="020B0503020204020204" charset="-122"/>
                <a:sym typeface="Wingdings" panose="05000000000000000000" pitchFamily="2" charset="2"/>
              </a:rPr>
              <a:t>18.2</a:t>
            </a:r>
            <a:r>
              <a:rPr lang="zh-CN" altLang="en-US" dirty="0">
                <a:solidFill>
                  <a:schemeClr val="bg2">
                    <a:lumMod val="25000"/>
                  </a:schemeClr>
                </a:solidFill>
                <a:latin typeface="微软雅黑" panose="020B0503020204020204" charset="-122"/>
                <a:ea typeface="微软雅黑" panose="020B0503020204020204" charset="-122"/>
                <a:sym typeface="Wingdings" panose="05000000000000000000" pitchFamily="2" charset="2"/>
              </a:rPr>
              <a:t>万元，漫游结算环比减</a:t>
            </a:r>
            <a:r>
              <a:rPr lang="en-US" altLang="zh-CN" dirty="0">
                <a:solidFill>
                  <a:schemeClr val="bg2">
                    <a:lumMod val="25000"/>
                  </a:schemeClr>
                </a:solidFill>
                <a:latin typeface="微软雅黑" panose="020B0503020204020204" charset="-122"/>
                <a:ea typeface="微软雅黑" panose="020B0503020204020204" charset="-122"/>
                <a:sym typeface="Wingdings" panose="05000000000000000000" pitchFamily="2" charset="2"/>
              </a:rPr>
              <a:t>22.2</a:t>
            </a:r>
            <a:r>
              <a:rPr lang="zh-CN" altLang="en-US" dirty="0">
                <a:solidFill>
                  <a:schemeClr val="bg2">
                    <a:lumMod val="25000"/>
                  </a:schemeClr>
                </a:solidFill>
                <a:latin typeface="微软雅黑" panose="020B0503020204020204" charset="-122"/>
                <a:ea typeface="微软雅黑" panose="020B0503020204020204" charset="-122"/>
                <a:sym typeface="Wingdings" panose="05000000000000000000" pitchFamily="2" charset="2"/>
              </a:rPr>
              <a:t>万元</a:t>
            </a:r>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par>
                                <p:cTn id="10" presetID="2" presetClass="entr" presetSubtype="4" accel="50000" decel="5000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 calcmode="lin" valueType="num">
                                      <p:cBhvr additive="base">
                                        <p:cTn id="12" dur="500" fill="hold"/>
                                        <p:tgtEl>
                                          <p:spTgt spid="21"/>
                                        </p:tgtEl>
                                        <p:attrNameLst>
                                          <p:attrName>ppt_x</p:attrName>
                                        </p:attrNameLst>
                                      </p:cBhvr>
                                      <p:tavLst>
                                        <p:tav tm="0">
                                          <p:val>
                                            <p:strVal val="#ppt_x"/>
                                          </p:val>
                                        </p:tav>
                                        <p:tav tm="100000">
                                          <p:val>
                                            <p:strVal val="#ppt_x"/>
                                          </p:val>
                                        </p:tav>
                                      </p:tavLst>
                                    </p:anim>
                                    <p:anim calcmode="lin" valueType="num">
                                      <p:cBhvr additive="base">
                                        <p:cTn id="13" dur="500" fill="hold"/>
                                        <p:tgtEl>
                                          <p:spTgt spid="21"/>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53" presetClass="entr" presetSubtype="16" fill="hold" grpId="0" nodeType="afterEffect">
                                  <p:stCondLst>
                                    <p:cond delay="0"/>
                                  </p:stCondLst>
                                  <p:childTnLst>
                                    <p:set>
                                      <p:cBhvr>
                                        <p:cTn id="16" dur="1" fill="hold">
                                          <p:stCondLst>
                                            <p:cond delay="0"/>
                                          </p:stCondLst>
                                        </p:cTn>
                                        <p:tgtEl>
                                          <p:spTgt spid="31"/>
                                        </p:tgtEl>
                                        <p:attrNameLst>
                                          <p:attrName>style.visibility</p:attrName>
                                        </p:attrNameLst>
                                      </p:cBhvr>
                                      <p:to>
                                        <p:strVal val="visible"/>
                                      </p:to>
                                    </p:set>
                                    <p:anim calcmode="lin" valueType="num">
                                      <p:cBhvr>
                                        <p:cTn id="17" dur="500" fill="hold"/>
                                        <p:tgtEl>
                                          <p:spTgt spid="31"/>
                                        </p:tgtEl>
                                        <p:attrNameLst>
                                          <p:attrName>ppt_w</p:attrName>
                                        </p:attrNameLst>
                                      </p:cBhvr>
                                      <p:tavLst>
                                        <p:tav tm="0">
                                          <p:val>
                                            <p:fltVal val="0"/>
                                          </p:val>
                                        </p:tav>
                                        <p:tav tm="100000">
                                          <p:val>
                                            <p:strVal val="#ppt_w"/>
                                          </p:val>
                                        </p:tav>
                                      </p:tavLst>
                                    </p:anim>
                                    <p:anim calcmode="lin" valueType="num">
                                      <p:cBhvr>
                                        <p:cTn id="18" dur="500" fill="hold"/>
                                        <p:tgtEl>
                                          <p:spTgt spid="31"/>
                                        </p:tgtEl>
                                        <p:attrNameLst>
                                          <p:attrName>ppt_h</p:attrName>
                                        </p:attrNameLst>
                                      </p:cBhvr>
                                      <p:tavLst>
                                        <p:tav tm="0">
                                          <p:val>
                                            <p:fltVal val="0"/>
                                          </p:val>
                                        </p:tav>
                                        <p:tav tm="100000">
                                          <p:val>
                                            <p:strVal val="#ppt_h"/>
                                          </p:val>
                                        </p:tav>
                                      </p:tavLst>
                                    </p:anim>
                                    <p:animEffect transition="in" filter="fade">
                                      <p:cBhvr>
                                        <p:cTn id="19" dur="500"/>
                                        <p:tgtEl>
                                          <p:spTgt spid="31"/>
                                        </p:tgtEl>
                                      </p:cBhvr>
                                    </p:animEffect>
                                  </p:childTnLst>
                                </p:cTn>
                              </p:par>
                              <p:par>
                                <p:cTn id="20" presetID="2" presetClass="entr" presetSubtype="4" accel="50000" decel="5000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1000" fill="hold"/>
                                        <p:tgtEl>
                                          <p:spTgt spid="22"/>
                                        </p:tgtEl>
                                        <p:attrNameLst>
                                          <p:attrName>ppt_x</p:attrName>
                                        </p:attrNameLst>
                                      </p:cBhvr>
                                      <p:tavLst>
                                        <p:tav tm="0">
                                          <p:val>
                                            <p:strVal val="#ppt_x"/>
                                          </p:val>
                                        </p:tav>
                                        <p:tav tm="100000">
                                          <p:val>
                                            <p:strVal val="#ppt_x"/>
                                          </p:val>
                                        </p:tav>
                                      </p:tavLst>
                                    </p:anim>
                                    <p:anim calcmode="lin" valueType="num">
                                      <p:cBhvr additive="base">
                                        <p:cTn id="23" dur="1000" fill="hold"/>
                                        <p:tgtEl>
                                          <p:spTgt spid="22"/>
                                        </p:tgtEl>
                                        <p:attrNameLst>
                                          <p:attrName>ppt_y</p:attrName>
                                        </p:attrNameLst>
                                      </p:cBhvr>
                                      <p:tavLst>
                                        <p:tav tm="0">
                                          <p:val>
                                            <p:strVal val="1+#ppt_h/2"/>
                                          </p:val>
                                        </p:tav>
                                        <p:tav tm="100000">
                                          <p:val>
                                            <p:strVal val="#ppt_y"/>
                                          </p:val>
                                        </p:tav>
                                      </p:tavLst>
                                    </p:anim>
                                  </p:childTnLst>
                                </p:cTn>
                              </p:par>
                            </p:childTnLst>
                          </p:cTn>
                        </p:par>
                        <p:par>
                          <p:cTn id="24" fill="hold">
                            <p:stCondLst>
                              <p:cond delay="1000"/>
                            </p:stCondLst>
                            <p:childTnLst>
                              <p:par>
                                <p:cTn id="25" presetID="53" presetClass="entr" presetSubtype="16"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p:cTn id="27" dur="500" fill="hold"/>
                                        <p:tgtEl>
                                          <p:spTgt spid="25"/>
                                        </p:tgtEl>
                                        <p:attrNameLst>
                                          <p:attrName>ppt_w</p:attrName>
                                        </p:attrNameLst>
                                      </p:cBhvr>
                                      <p:tavLst>
                                        <p:tav tm="0">
                                          <p:val>
                                            <p:fltVal val="0"/>
                                          </p:val>
                                        </p:tav>
                                        <p:tav tm="100000">
                                          <p:val>
                                            <p:strVal val="#ppt_w"/>
                                          </p:val>
                                        </p:tav>
                                      </p:tavLst>
                                    </p:anim>
                                    <p:anim calcmode="lin" valueType="num">
                                      <p:cBhvr>
                                        <p:cTn id="28" dur="500" fill="hold"/>
                                        <p:tgtEl>
                                          <p:spTgt spid="25"/>
                                        </p:tgtEl>
                                        <p:attrNameLst>
                                          <p:attrName>ppt_h</p:attrName>
                                        </p:attrNameLst>
                                      </p:cBhvr>
                                      <p:tavLst>
                                        <p:tav tm="0">
                                          <p:val>
                                            <p:fltVal val="0"/>
                                          </p:val>
                                        </p:tav>
                                        <p:tav tm="100000">
                                          <p:val>
                                            <p:strVal val="#ppt_h"/>
                                          </p:val>
                                        </p:tav>
                                      </p:tavLst>
                                    </p:anim>
                                    <p:animEffect transition="in" filter="fade">
                                      <p:cBhvr>
                                        <p:cTn id="29" dur="500"/>
                                        <p:tgtEl>
                                          <p:spTgt spid="25"/>
                                        </p:tgtEl>
                                      </p:cBhvr>
                                    </p:animEffect>
                                  </p:childTnLst>
                                </p:cTn>
                              </p:par>
                              <p:par>
                                <p:cTn id="30" presetID="2" presetClass="entr" presetSubtype="1" accel="50000" decel="5000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additive="base">
                                        <p:cTn id="32" dur="500" fill="hold"/>
                                        <p:tgtEl>
                                          <p:spTgt spid="20"/>
                                        </p:tgtEl>
                                        <p:attrNameLst>
                                          <p:attrName>ppt_x</p:attrName>
                                        </p:attrNameLst>
                                      </p:cBhvr>
                                      <p:tavLst>
                                        <p:tav tm="0">
                                          <p:val>
                                            <p:strVal val="#ppt_x"/>
                                          </p:val>
                                        </p:tav>
                                        <p:tav tm="100000">
                                          <p:val>
                                            <p:strVal val="#ppt_x"/>
                                          </p:val>
                                        </p:tav>
                                      </p:tavLst>
                                    </p:anim>
                                    <p:anim calcmode="lin" valueType="num">
                                      <p:cBhvr additive="base">
                                        <p:cTn id="33" dur="500" fill="hold"/>
                                        <p:tgtEl>
                                          <p:spTgt spid="20"/>
                                        </p:tgtEl>
                                        <p:attrNameLst>
                                          <p:attrName>ppt_y</p:attrName>
                                        </p:attrNameLst>
                                      </p:cBhvr>
                                      <p:tavLst>
                                        <p:tav tm="0">
                                          <p:val>
                                            <p:strVal val="0-#ppt_h/2"/>
                                          </p:val>
                                        </p:tav>
                                        <p:tav tm="100000">
                                          <p:val>
                                            <p:strVal val="#ppt_y"/>
                                          </p:val>
                                        </p:tav>
                                      </p:tavLst>
                                    </p:anim>
                                  </p:childTnLst>
                                </p:cTn>
                              </p:par>
                            </p:childTnLst>
                          </p:cTn>
                        </p:par>
                        <p:par>
                          <p:cTn id="34" fill="hold">
                            <p:stCondLst>
                              <p:cond delay="1500"/>
                            </p:stCondLst>
                            <p:childTnLst>
                              <p:par>
                                <p:cTn id="35" presetID="53" presetClass="entr" presetSubtype="16" fill="hold" grpId="0" nodeType="afterEffect">
                                  <p:stCondLst>
                                    <p:cond delay="0"/>
                                  </p:stCondLst>
                                  <p:childTnLst>
                                    <p:set>
                                      <p:cBhvr>
                                        <p:cTn id="36" dur="1" fill="hold">
                                          <p:stCondLst>
                                            <p:cond delay="0"/>
                                          </p:stCondLst>
                                        </p:cTn>
                                        <p:tgtEl>
                                          <p:spTgt spid="33"/>
                                        </p:tgtEl>
                                        <p:attrNameLst>
                                          <p:attrName>style.visibility</p:attrName>
                                        </p:attrNameLst>
                                      </p:cBhvr>
                                      <p:to>
                                        <p:strVal val="visible"/>
                                      </p:to>
                                    </p:set>
                                    <p:anim calcmode="lin" valueType="num">
                                      <p:cBhvr>
                                        <p:cTn id="37" dur="500" fill="hold"/>
                                        <p:tgtEl>
                                          <p:spTgt spid="33"/>
                                        </p:tgtEl>
                                        <p:attrNameLst>
                                          <p:attrName>ppt_w</p:attrName>
                                        </p:attrNameLst>
                                      </p:cBhvr>
                                      <p:tavLst>
                                        <p:tav tm="0">
                                          <p:val>
                                            <p:fltVal val="0"/>
                                          </p:val>
                                        </p:tav>
                                        <p:tav tm="100000">
                                          <p:val>
                                            <p:strVal val="#ppt_w"/>
                                          </p:val>
                                        </p:tav>
                                      </p:tavLst>
                                    </p:anim>
                                    <p:anim calcmode="lin" valueType="num">
                                      <p:cBhvr>
                                        <p:cTn id="38" dur="500" fill="hold"/>
                                        <p:tgtEl>
                                          <p:spTgt spid="33"/>
                                        </p:tgtEl>
                                        <p:attrNameLst>
                                          <p:attrName>ppt_h</p:attrName>
                                        </p:attrNameLst>
                                      </p:cBhvr>
                                      <p:tavLst>
                                        <p:tav tm="0">
                                          <p:val>
                                            <p:fltVal val="0"/>
                                          </p:val>
                                        </p:tav>
                                        <p:tav tm="100000">
                                          <p:val>
                                            <p:strVal val="#ppt_h"/>
                                          </p:val>
                                        </p:tav>
                                      </p:tavLst>
                                    </p:anim>
                                    <p:animEffect transition="in" filter="fade">
                                      <p:cBhvr>
                                        <p:cTn id="39" dur="500"/>
                                        <p:tgtEl>
                                          <p:spTgt spid="33"/>
                                        </p:tgtEl>
                                      </p:cBhvr>
                                    </p:animEffect>
                                  </p:childTnLst>
                                </p:cTn>
                              </p:par>
                              <p:par>
                                <p:cTn id="40" presetID="2" presetClass="entr" presetSubtype="4" accel="50000" decel="5000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 calcmode="lin" valueType="num">
                                      <p:cBhvr additive="base">
                                        <p:cTn id="42" dur="1000" fill="hold"/>
                                        <p:tgtEl>
                                          <p:spTgt spid="24"/>
                                        </p:tgtEl>
                                        <p:attrNameLst>
                                          <p:attrName>ppt_x</p:attrName>
                                        </p:attrNameLst>
                                      </p:cBhvr>
                                      <p:tavLst>
                                        <p:tav tm="0">
                                          <p:val>
                                            <p:strVal val="#ppt_x"/>
                                          </p:val>
                                        </p:tav>
                                        <p:tav tm="100000">
                                          <p:val>
                                            <p:strVal val="#ppt_x"/>
                                          </p:val>
                                        </p:tav>
                                      </p:tavLst>
                                    </p:anim>
                                    <p:anim calcmode="lin" valueType="num">
                                      <p:cBhvr additive="base">
                                        <p:cTn id="43" dur="1000" fill="hold"/>
                                        <p:tgtEl>
                                          <p:spTgt spid="24"/>
                                        </p:tgtEl>
                                        <p:attrNameLst>
                                          <p:attrName>ppt_y</p:attrName>
                                        </p:attrNameLst>
                                      </p:cBhvr>
                                      <p:tavLst>
                                        <p:tav tm="0">
                                          <p:val>
                                            <p:strVal val="1+#ppt_h/2"/>
                                          </p:val>
                                        </p:tav>
                                        <p:tav tm="100000">
                                          <p:val>
                                            <p:strVal val="#ppt_y"/>
                                          </p:val>
                                        </p:tav>
                                      </p:tavLst>
                                    </p:anim>
                                  </p:childTnLst>
                                </p:cTn>
                              </p:par>
                            </p:childTnLst>
                          </p:cTn>
                        </p:par>
                        <p:par>
                          <p:cTn id="44" fill="hold">
                            <p:stCondLst>
                              <p:cond delay="2000"/>
                            </p:stCondLst>
                            <p:childTnLst>
                              <p:par>
                                <p:cTn id="45" presetID="53" presetClass="entr" presetSubtype="16" fill="hold" grpId="0" nodeType="after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p:cTn id="47" dur="500" fill="hold"/>
                                        <p:tgtEl>
                                          <p:spTgt spid="27"/>
                                        </p:tgtEl>
                                        <p:attrNameLst>
                                          <p:attrName>ppt_w</p:attrName>
                                        </p:attrNameLst>
                                      </p:cBhvr>
                                      <p:tavLst>
                                        <p:tav tm="0">
                                          <p:val>
                                            <p:fltVal val="0"/>
                                          </p:val>
                                        </p:tav>
                                        <p:tav tm="100000">
                                          <p:val>
                                            <p:strVal val="#ppt_w"/>
                                          </p:val>
                                        </p:tav>
                                      </p:tavLst>
                                    </p:anim>
                                    <p:anim calcmode="lin" valueType="num">
                                      <p:cBhvr>
                                        <p:cTn id="48" dur="500" fill="hold"/>
                                        <p:tgtEl>
                                          <p:spTgt spid="27"/>
                                        </p:tgtEl>
                                        <p:attrNameLst>
                                          <p:attrName>ppt_h</p:attrName>
                                        </p:attrNameLst>
                                      </p:cBhvr>
                                      <p:tavLst>
                                        <p:tav tm="0">
                                          <p:val>
                                            <p:fltVal val="0"/>
                                          </p:val>
                                        </p:tav>
                                        <p:tav tm="100000">
                                          <p:val>
                                            <p:strVal val="#ppt_h"/>
                                          </p:val>
                                        </p:tav>
                                      </p:tavLst>
                                    </p:anim>
                                    <p:animEffect transition="in" filter="fade">
                                      <p:cBhvr>
                                        <p:cTn id="49" dur="500"/>
                                        <p:tgtEl>
                                          <p:spTgt spid="27"/>
                                        </p:tgtEl>
                                      </p:cBhvr>
                                    </p:animEffect>
                                  </p:childTnLst>
                                </p:cTn>
                              </p:par>
                              <p:par>
                                <p:cTn id="50" presetID="2" presetClass="entr" presetSubtype="4" accel="50000" decel="5000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additive="base">
                                        <p:cTn id="52" dur="500" fill="hold"/>
                                        <p:tgtEl>
                                          <p:spTgt spid="19"/>
                                        </p:tgtEl>
                                        <p:attrNameLst>
                                          <p:attrName>ppt_x</p:attrName>
                                        </p:attrNameLst>
                                      </p:cBhvr>
                                      <p:tavLst>
                                        <p:tav tm="0">
                                          <p:val>
                                            <p:strVal val="#ppt_x"/>
                                          </p:val>
                                        </p:tav>
                                        <p:tav tm="100000">
                                          <p:val>
                                            <p:strVal val="#ppt_x"/>
                                          </p:val>
                                        </p:tav>
                                      </p:tavLst>
                                    </p:anim>
                                    <p:anim calcmode="lin" valueType="num">
                                      <p:cBhvr additive="base">
                                        <p:cTn id="53" dur="500" fill="hold"/>
                                        <p:tgtEl>
                                          <p:spTgt spid="19"/>
                                        </p:tgtEl>
                                        <p:attrNameLst>
                                          <p:attrName>ppt_y</p:attrName>
                                        </p:attrNameLst>
                                      </p:cBhvr>
                                      <p:tavLst>
                                        <p:tav tm="0">
                                          <p:val>
                                            <p:strVal val="1+#ppt_h/2"/>
                                          </p:val>
                                        </p:tav>
                                        <p:tav tm="100000">
                                          <p:val>
                                            <p:strVal val="#ppt_y"/>
                                          </p:val>
                                        </p:tav>
                                      </p:tavLst>
                                    </p:anim>
                                  </p:childTnLst>
                                </p:cTn>
                              </p:par>
                            </p:childTnLst>
                          </p:cTn>
                        </p:par>
                        <p:par>
                          <p:cTn id="54" fill="hold">
                            <p:stCondLst>
                              <p:cond delay="2500"/>
                            </p:stCondLst>
                            <p:childTnLst>
                              <p:par>
                                <p:cTn id="55" presetID="53" presetClass="entr" presetSubtype="16" fill="hold" grpId="0" nodeType="afterEffect">
                                  <p:stCondLst>
                                    <p:cond delay="0"/>
                                  </p:stCondLst>
                                  <p:childTnLst>
                                    <p:set>
                                      <p:cBhvr>
                                        <p:cTn id="56" dur="1" fill="hold">
                                          <p:stCondLst>
                                            <p:cond delay="0"/>
                                          </p:stCondLst>
                                        </p:cTn>
                                        <p:tgtEl>
                                          <p:spTgt spid="32"/>
                                        </p:tgtEl>
                                        <p:attrNameLst>
                                          <p:attrName>style.visibility</p:attrName>
                                        </p:attrNameLst>
                                      </p:cBhvr>
                                      <p:to>
                                        <p:strVal val="visible"/>
                                      </p:to>
                                    </p:set>
                                    <p:anim calcmode="lin" valueType="num">
                                      <p:cBhvr>
                                        <p:cTn id="57" dur="500" fill="hold"/>
                                        <p:tgtEl>
                                          <p:spTgt spid="32"/>
                                        </p:tgtEl>
                                        <p:attrNameLst>
                                          <p:attrName>ppt_w</p:attrName>
                                        </p:attrNameLst>
                                      </p:cBhvr>
                                      <p:tavLst>
                                        <p:tav tm="0">
                                          <p:val>
                                            <p:fltVal val="0"/>
                                          </p:val>
                                        </p:tav>
                                        <p:tav tm="100000">
                                          <p:val>
                                            <p:strVal val="#ppt_w"/>
                                          </p:val>
                                        </p:tav>
                                      </p:tavLst>
                                    </p:anim>
                                    <p:anim calcmode="lin" valueType="num">
                                      <p:cBhvr>
                                        <p:cTn id="58" dur="500" fill="hold"/>
                                        <p:tgtEl>
                                          <p:spTgt spid="32"/>
                                        </p:tgtEl>
                                        <p:attrNameLst>
                                          <p:attrName>ppt_h</p:attrName>
                                        </p:attrNameLst>
                                      </p:cBhvr>
                                      <p:tavLst>
                                        <p:tav tm="0">
                                          <p:val>
                                            <p:fltVal val="0"/>
                                          </p:val>
                                        </p:tav>
                                        <p:tav tm="100000">
                                          <p:val>
                                            <p:strVal val="#ppt_h"/>
                                          </p:val>
                                        </p:tav>
                                      </p:tavLst>
                                    </p:anim>
                                    <p:animEffect transition="in" filter="fade">
                                      <p:cBhvr>
                                        <p:cTn id="59" dur="500"/>
                                        <p:tgtEl>
                                          <p:spTgt spid="32"/>
                                        </p:tgtEl>
                                      </p:cBhvr>
                                    </p:animEffect>
                                  </p:childTnLst>
                                </p:cTn>
                              </p:par>
                              <p:par>
                                <p:cTn id="60" presetID="2" presetClass="entr" presetSubtype="4" accel="50000" decel="5000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 calcmode="lin" valueType="num">
                                      <p:cBhvr additive="base">
                                        <p:cTn id="62" dur="1000" fill="hold"/>
                                        <p:tgtEl>
                                          <p:spTgt spid="26"/>
                                        </p:tgtEl>
                                        <p:attrNameLst>
                                          <p:attrName>ppt_x</p:attrName>
                                        </p:attrNameLst>
                                      </p:cBhvr>
                                      <p:tavLst>
                                        <p:tav tm="0">
                                          <p:val>
                                            <p:strVal val="#ppt_x"/>
                                          </p:val>
                                        </p:tav>
                                        <p:tav tm="100000">
                                          <p:val>
                                            <p:strVal val="#ppt_x"/>
                                          </p:val>
                                        </p:tav>
                                      </p:tavLst>
                                    </p:anim>
                                    <p:anim calcmode="lin" valueType="num">
                                      <p:cBhvr additive="base">
                                        <p:cTn id="63" dur="1000" fill="hold"/>
                                        <p:tgtEl>
                                          <p:spTgt spid="26"/>
                                        </p:tgtEl>
                                        <p:attrNameLst>
                                          <p:attrName>ppt_y</p:attrName>
                                        </p:attrNameLst>
                                      </p:cBhvr>
                                      <p:tavLst>
                                        <p:tav tm="0">
                                          <p:val>
                                            <p:strVal val="1+#ppt_h/2"/>
                                          </p:val>
                                        </p:tav>
                                        <p:tav tm="100000">
                                          <p:val>
                                            <p:strVal val="#ppt_y"/>
                                          </p:val>
                                        </p:tav>
                                      </p:tavLst>
                                    </p:anim>
                                  </p:childTnLst>
                                </p:cTn>
                              </p:par>
                            </p:childTnLst>
                          </p:cTn>
                        </p:par>
                        <p:par>
                          <p:cTn id="64" fill="hold">
                            <p:stCondLst>
                              <p:cond delay="3000"/>
                            </p:stCondLst>
                            <p:childTnLst>
                              <p:par>
                                <p:cTn id="65" presetID="53" presetClass="entr" presetSubtype="16" fill="hold" grpId="0" nodeType="afterEffect">
                                  <p:stCondLst>
                                    <p:cond delay="0"/>
                                  </p:stCondLst>
                                  <p:childTnLst>
                                    <p:set>
                                      <p:cBhvr>
                                        <p:cTn id="66" dur="1" fill="hold">
                                          <p:stCondLst>
                                            <p:cond delay="0"/>
                                          </p:stCondLst>
                                        </p:cTn>
                                        <p:tgtEl>
                                          <p:spTgt spid="29"/>
                                        </p:tgtEl>
                                        <p:attrNameLst>
                                          <p:attrName>style.visibility</p:attrName>
                                        </p:attrNameLst>
                                      </p:cBhvr>
                                      <p:to>
                                        <p:strVal val="visible"/>
                                      </p:to>
                                    </p:set>
                                    <p:anim calcmode="lin" valueType="num">
                                      <p:cBhvr>
                                        <p:cTn id="67" dur="500" fill="hold"/>
                                        <p:tgtEl>
                                          <p:spTgt spid="29"/>
                                        </p:tgtEl>
                                        <p:attrNameLst>
                                          <p:attrName>ppt_w</p:attrName>
                                        </p:attrNameLst>
                                      </p:cBhvr>
                                      <p:tavLst>
                                        <p:tav tm="0">
                                          <p:val>
                                            <p:fltVal val="0"/>
                                          </p:val>
                                        </p:tav>
                                        <p:tav tm="100000">
                                          <p:val>
                                            <p:strVal val="#ppt_w"/>
                                          </p:val>
                                        </p:tav>
                                      </p:tavLst>
                                    </p:anim>
                                    <p:anim calcmode="lin" valueType="num">
                                      <p:cBhvr>
                                        <p:cTn id="68" dur="500" fill="hold"/>
                                        <p:tgtEl>
                                          <p:spTgt spid="29"/>
                                        </p:tgtEl>
                                        <p:attrNameLst>
                                          <p:attrName>ppt_h</p:attrName>
                                        </p:attrNameLst>
                                      </p:cBhvr>
                                      <p:tavLst>
                                        <p:tav tm="0">
                                          <p:val>
                                            <p:fltVal val="0"/>
                                          </p:val>
                                        </p:tav>
                                        <p:tav tm="100000">
                                          <p:val>
                                            <p:strVal val="#ppt_h"/>
                                          </p:val>
                                        </p:tav>
                                      </p:tavLst>
                                    </p:anim>
                                    <p:animEffect transition="in" filter="fade">
                                      <p:cBhvr>
                                        <p:cTn id="69" dur="500"/>
                                        <p:tgtEl>
                                          <p:spTgt spid="29"/>
                                        </p:tgtEl>
                                      </p:cBhvr>
                                    </p:animEffect>
                                  </p:childTnLst>
                                </p:cTn>
                              </p:par>
                              <p:par>
                                <p:cTn id="70" presetID="2" presetClass="entr" presetSubtype="1" accel="50000" decel="50000"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500" fill="hold"/>
                                        <p:tgtEl>
                                          <p:spTgt spid="18"/>
                                        </p:tgtEl>
                                        <p:attrNameLst>
                                          <p:attrName>ppt_x</p:attrName>
                                        </p:attrNameLst>
                                      </p:cBhvr>
                                      <p:tavLst>
                                        <p:tav tm="0">
                                          <p:val>
                                            <p:strVal val="#ppt_x"/>
                                          </p:val>
                                        </p:tav>
                                        <p:tav tm="100000">
                                          <p:val>
                                            <p:strVal val="#ppt_x"/>
                                          </p:val>
                                        </p:tav>
                                      </p:tavLst>
                                    </p:anim>
                                    <p:anim calcmode="lin" valueType="num">
                                      <p:cBhvr additive="base">
                                        <p:cTn id="73" dur="500" fill="hold"/>
                                        <p:tgtEl>
                                          <p:spTgt spid="18"/>
                                        </p:tgtEl>
                                        <p:attrNameLst>
                                          <p:attrName>ppt_y</p:attrName>
                                        </p:attrNameLst>
                                      </p:cBhvr>
                                      <p:tavLst>
                                        <p:tav tm="0">
                                          <p:val>
                                            <p:strVal val="0-#ppt_h/2"/>
                                          </p:val>
                                        </p:tav>
                                        <p:tav tm="100000">
                                          <p:val>
                                            <p:strVal val="#ppt_y"/>
                                          </p:val>
                                        </p:tav>
                                      </p:tavLst>
                                    </p:anim>
                                  </p:childTnLst>
                                </p:cTn>
                              </p:par>
                            </p:childTnLst>
                          </p:cTn>
                        </p:par>
                        <p:par>
                          <p:cTn id="74" fill="hold">
                            <p:stCondLst>
                              <p:cond delay="3500"/>
                            </p:stCondLst>
                            <p:childTnLst>
                              <p:par>
                                <p:cTn id="75" presetID="53" presetClass="entr" presetSubtype="16" fill="hold" grpId="0" nodeType="afterEffect">
                                  <p:stCondLst>
                                    <p:cond delay="0"/>
                                  </p:stCondLst>
                                  <p:childTnLst>
                                    <p:set>
                                      <p:cBhvr>
                                        <p:cTn id="76" dur="1" fill="hold">
                                          <p:stCondLst>
                                            <p:cond delay="0"/>
                                          </p:stCondLst>
                                        </p:cTn>
                                        <p:tgtEl>
                                          <p:spTgt spid="30"/>
                                        </p:tgtEl>
                                        <p:attrNameLst>
                                          <p:attrName>style.visibility</p:attrName>
                                        </p:attrNameLst>
                                      </p:cBhvr>
                                      <p:to>
                                        <p:strVal val="visible"/>
                                      </p:to>
                                    </p:set>
                                    <p:anim calcmode="lin" valueType="num">
                                      <p:cBhvr>
                                        <p:cTn id="77" dur="500" fill="hold"/>
                                        <p:tgtEl>
                                          <p:spTgt spid="30"/>
                                        </p:tgtEl>
                                        <p:attrNameLst>
                                          <p:attrName>ppt_w</p:attrName>
                                        </p:attrNameLst>
                                      </p:cBhvr>
                                      <p:tavLst>
                                        <p:tav tm="0">
                                          <p:val>
                                            <p:fltVal val="0"/>
                                          </p:val>
                                        </p:tav>
                                        <p:tav tm="100000">
                                          <p:val>
                                            <p:strVal val="#ppt_w"/>
                                          </p:val>
                                        </p:tav>
                                      </p:tavLst>
                                    </p:anim>
                                    <p:anim calcmode="lin" valueType="num">
                                      <p:cBhvr>
                                        <p:cTn id="78" dur="500" fill="hold"/>
                                        <p:tgtEl>
                                          <p:spTgt spid="30"/>
                                        </p:tgtEl>
                                        <p:attrNameLst>
                                          <p:attrName>ppt_h</p:attrName>
                                        </p:attrNameLst>
                                      </p:cBhvr>
                                      <p:tavLst>
                                        <p:tav tm="0">
                                          <p:val>
                                            <p:fltVal val="0"/>
                                          </p:val>
                                        </p:tav>
                                        <p:tav tm="100000">
                                          <p:val>
                                            <p:strVal val="#ppt_h"/>
                                          </p:val>
                                        </p:tav>
                                      </p:tavLst>
                                    </p:anim>
                                    <p:animEffect transition="in" filter="fade">
                                      <p:cBhvr>
                                        <p:cTn id="79" dur="500"/>
                                        <p:tgtEl>
                                          <p:spTgt spid="30"/>
                                        </p:tgtEl>
                                      </p:cBhvr>
                                    </p:animEffect>
                                  </p:childTnLst>
                                </p:cTn>
                              </p:par>
                              <p:par>
                                <p:cTn id="80" presetID="2" presetClass="entr" presetSubtype="4" accel="50000" decel="50000"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 calcmode="lin" valueType="num">
                                      <p:cBhvr additive="base">
                                        <p:cTn id="82" dur="1000" fill="hold"/>
                                        <p:tgtEl>
                                          <p:spTgt spid="28"/>
                                        </p:tgtEl>
                                        <p:attrNameLst>
                                          <p:attrName>ppt_x</p:attrName>
                                        </p:attrNameLst>
                                      </p:cBhvr>
                                      <p:tavLst>
                                        <p:tav tm="0">
                                          <p:val>
                                            <p:strVal val="#ppt_x"/>
                                          </p:val>
                                        </p:tav>
                                        <p:tav tm="100000">
                                          <p:val>
                                            <p:strVal val="#ppt_x"/>
                                          </p:val>
                                        </p:tav>
                                      </p:tavLst>
                                    </p:anim>
                                    <p:anim calcmode="lin" valueType="num">
                                      <p:cBhvr additive="base">
                                        <p:cTn id="83" dur="10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bldLvl="0" animBg="1"/>
      <p:bldP spid="20" grpId="0" bldLvl="0" animBg="1"/>
      <p:bldP spid="21" grpId="0" bldLvl="0" animBg="1"/>
      <p:bldP spid="22" grpId="0"/>
      <p:bldP spid="23" grpId="0" bldLvl="0" animBg="1"/>
      <p:bldP spid="24" grpId="0"/>
      <p:bldP spid="25" grpId="0" bldLvl="0" animBg="1"/>
      <p:bldP spid="26" grpId="0"/>
      <p:bldP spid="27" grpId="0" bldLvl="0" animBg="1"/>
      <p:bldP spid="28" grpId="0"/>
      <p:bldP spid="29" grpId="0" bldLvl="0" animBg="1"/>
      <p:bldP spid="30" grpId="0" bldLvl="0" animBg="1"/>
      <p:bldP spid="31" grpId="0" bldLvl="0" animBg="1"/>
      <p:bldP spid="32" grpId="0" bldLvl="0" animBg="1"/>
      <p:bldP spid="33"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矩形 40"/>
          <p:cNvSpPr/>
          <p:nvPr/>
        </p:nvSpPr>
        <p:spPr>
          <a:xfrm>
            <a:off x="-11017" y="-30458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Text Box 2"/>
          <p:cNvSpPr txBox="1">
            <a:spLocks noChangeArrowheads="1"/>
          </p:cNvSpPr>
          <p:nvPr/>
        </p:nvSpPr>
        <p:spPr bwMode="auto">
          <a:xfrm>
            <a:off x="895664" y="2202631"/>
            <a:ext cx="9891606" cy="507781"/>
          </a:xfrm>
          <a:prstGeom prst="rect">
            <a:avLst/>
          </a:prstGeom>
          <a:noFill/>
          <a:ln>
            <a:noFill/>
          </a:ln>
        </p:spPr>
        <p:txBody>
          <a:bodyPr wrap="square" lIns="91391" tIns="45695" rIns="91391" bIns="45695">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defRPr/>
            </a:pPr>
            <a:r>
              <a:rPr lang="zh-CN" altLang="en-US" dirty="0">
                <a:latin typeface="微软雅黑" panose="020B0503020204020204" charset="-122"/>
                <a:ea typeface="微软雅黑" panose="020B0503020204020204" charset="-122"/>
              </a:rPr>
              <a:t>完成预算口径收入</a:t>
            </a:r>
            <a:r>
              <a:rPr lang="en-US" altLang="zh-CN" dirty="0">
                <a:latin typeface="微软雅黑" panose="020B0503020204020204" charset="-122"/>
                <a:ea typeface="微软雅黑" panose="020B0503020204020204" charset="-122"/>
              </a:rPr>
              <a:t>6553</a:t>
            </a:r>
            <a:r>
              <a:rPr lang="zh-CN" altLang="en-US" dirty="0">
                <a:latin typeface="微软雅黑" panose="020B0503020204020204" charset="-122"/>
                <a:ea typeface="微软雅黑" panose="020B0503020204020204" charset="-122"/>
              </a:rPr>
              <a:t>万元，当月预算进度</a:t>
            </a:r>
            <a:r>
              <a:rPr lang="en-US" altLang="zh-CN" dirty="0">
                <a:latin typeface="微软雅黑" panose="020B0503020204020204" charset="-122"/>
                <a:ea typeface="微软雅黑" panose="020B0503020204020204" charset="-122"/>
              </a:rPr>
              <a:t>95.7%</a:t>
            </a:r>
            <a:r>
              <a:rPr lang="zh-CN" altLang="en-US" dirty="0">
                <a:latin typeface="微软雅黑" panose="020B0503020204020204" charset="-122"/>
                <a:ea typeface="微软雅黑" panose="020B0503020204020204" charset="-122"/>
              </a:rPr>
              <a:t>，缺口</a:t>
            </a:r>
            <a:r>
              <a:rPr lang="en-US" altLang="zh-CN" dirty="0">
                <a:latin typeface="微软雅黑" panose="020B0503020204020204" charset="-122"/>
                <a:ea typeface="微软雅黑" panose="020B0503020204020204" charset="-122"/>
              </a:rPr>
              <a:t>295.4</a:t>
            </a:r>
            <a:r>
              <a:rPr lang="zh-CN" altLang="en-US" dirty="0">
                <a:latin typeface="微软雅黑" panose="020B0503020204020204" charset="-122"/>
                <a:ea typeface="微软雅黑" panose="020B0503020204020204" charset="-122"/>
              </a:rPr>
              <a:t>万元。</a:t>
            </a:r>
          </a:p>
        </p:txBody>
      </p:sp>
      <p:graphicFrame>
        <p:nvGraphicFramePr>
          <p:cNvPr id="9" name="表格 8"/>
          <p:cNvGraphicFramePr>
            <a:graphicFrameLocks noGrp="1"/>
          </p:cNvGraphicFramePr>
          <p:nvPr/>
        </p:nvGraphicFramePr>
        <p:xfrm>
          <a:off x="980660" y="3185983"/>
          <a:ext cx="5685182" cy="2751150"/>
        </p:xfrm>
        <a:graphic>
          <a:graphicData uri="http://schemas.openxmlformats.org/drawingml/2006/table">
            <a:tbl>
              <a:tblPr>
                <a:tableStyleId>{21E4AEA4-8DFA-4A89-87EB-49C32662AFE0}</a:tableStyleId>
              </a:tblPr>
              <a:tblGrid>
                <a:gridCol w="1768724"/>
                <a:gridCol w="685831"/>
                <a:gridCol w="884361"/>
                <a:gridCol w="758024"/>
                <a:gridCol w="794121"/>
                <a:gridCol w="794121"/>
              </a:tblGrid>
              <a:tr h="1023627">
                <a:tc>
                  <a:txBody>
                    <a:bodyPr/>
                    <a:lstStyle/>
                    <a:p>
                      <a:pPr algn="ctr" rtl="0" fontAlgn="ctr"/>
                      <a:r>
                        <a:rPr lang="zh-CN" altLang="en-US" sz="1600" b="1" u="none" strike="noStrike" dirty="0">
                          <a:solidFill>
                            <a:schemeClr val="bg1"/>
                          </a:solidFill>
                          <a:latin typeface="微软雅黑" panose="020B0503020204020204" charset="-122"/>
                          <a:ea typeface="微软雅黑" panose="020B0503020204020204" charset="-122"/>
                        </a:rPr>
                        <a:t>项目</a:t>
                      </a:r>
                      <a:endParaRPr lang="zh-CN" altLang="en-US" sz="1600" b="1" i="0" u="none" strike="noStrike" dirty="0">
                        <a:solidFill>
                          <a:schemeClr val="bg1"/>
                        </a:solidFill>
                        <a:latin typeface="微软雅黑" panose="020B0503020204020204" charset="-122"/>
                        <a:ea typeface="微软雅黑" panose="020B0503020204020204" charset="-122"/>
                      </a:endParaRPr>
                    </a:p>
                  </a:txBody>
                  <a:tcPr marL="0" marR="0" marT="0" marB="0" anchor="ctr">
                    <a:solidFill>
                      <a:srgbClr val="FFC000"/>
                    </a:solidFill>
                  </a:tcPr>
                </a:tc>
                <a:tc>
                  <a:txBody>
                    <a:bodyPr/>
                    <a:lstStyle/>
                    <a:p>
                      <a:pPr algn="ctr" rtl="0" fontAlgn="ctr"/>
                      <a:r>
                        <a:rPr lang="zh-CN" altLang="en-US" sz="1600" b="1" u="none" strike="noStrike" dirty="0">
                          <a:solidFill>
                            <a:schemeClr val="bg1"/>
                          </a:solidFill>
                          <a:latin typeface="微软雅黑" panose="020B0503020204020204" charset="-122"/>
                          <a:ea typeface="微软雅黑" panose="020B0503020204020204" charset="-122"/>
                        </a:rPr>
                        <a:t>当月</a:t>
                      </a:r>
                      <a:endParaRPr lang="en-US" altLang="zh-CN" sz="1600" b="1" u="none" strike="noStrike" dirty="0">
                        <a:solidFill>
                          <a:schemeClr val="bg1"/>
                        </a:solidFill>
                        <a:latin typeface="微软雅黑" panose="020B0503020204020204" charset="-122"/>
                        <a:ea typeface="微软雅黑" panose="020B0503020204020204" charset="-122"/>
                      </a:endParaRPr>
                    </a:p>
                    <a:p>
                      <a:pPr algn="ctr" rtl="0" fontAlgn="ctr"/>
                      <a:r>
                        <a:rPr lang="zh-CN" altLang="en-US" sz="1600" b="1" u="none" strike="noStrike" dirty="0">
                          <a:solidFill>
                            <a:schemeClr val="bg1"/>
                          </a:solidFill>
                          <a:latin typeface="微软雅黑" panose="020B0503020204020204" charset="-122"/>
                          <a:ea typeface="微软雅黑" panose="020B0503020204020204" charset="-122"/>
                        </a:rPr>
                        <a:t>完成</a:t>
                      </a:r>
                      <a:endParaRPr lang="zh-CN" altLang="en-US" sz="1600" b="1" i="0" u="none" strike="noStrike" dirty="0">
                        <a:solidFill>
                          <a:schemeClr val="bg1"/>
                        </a:solidFill>
                        <a:latin typeface="微软雅黑" panose="020B0503020204020204" charset="-122"/>
                        <a:ea typeface="微软雅黑" panose="020B0503020204020204" charset="-122"/>
                      </a:endParaRPr>
                    </a:p>
                  </a:txBody>
                  <a:tcPr marL="0" marR="0" marT="0" marB="0" anchor="ctr">
                    <a:solidFill>
                      <a:srgbClr val="FFC000"/>
                    </a:solidFill>
                  </a:tcPr>
                </a:tc>
                <a:tc>
                  <a:txBody>
                    <a:bodyPr/>
                    <a:lstStyle/>
                    <a:p>
                      <a:pPr algn="ctr" rtl="0" fontAlgn="ctr"/>
                      <a:r>
                        <a:rPr lang="zh-CN" altLang="en-US" sz="1600" b="1" u="none" strike="noStrike" dirty="0">
                          <a:solidFill>
                            <a:schemeClr val="bg1"/>
                          </a:solidFill>
                          <a:latin typeface="微软雅黑" panose="020B0503020204020204" charset="-122"/>
                          <a:ea typeface="微软雅黑" panose="020B0503020204020204" charset="-122"/>
                        </a:rPr>
                        <a:t>月度进度</a:t>
                      </a:r>
                      <a:endParaRPr lang="en-US" altLang="zh-CN" sz="1600" b="1" u="none" strike="noStrike" dirty="0">
                        <a:solidFill>
                          <a:schemeClr val="bg1"/>
                        </a:solidFill>
                        <a:latin typeface="微软雅黑" panose="020B0503020204020204" charset="-122"/>
                        <a:ea typeface="微软雅黑" panose="020B0503020204020204" charset="-122"/>
                      </a:endParaRPr>
                    </a:p>
                    <a:p>
                      <a:pPr algn="ctr" rtl="0" fontAlgn="ctr"/>
                      <a:r>
                        <a:rPr lang="zh-CN" altLang="en-US" sz="1600" b="1" u="none" strike="noStrike" dirty="0">
                          <a:solidFill>
                            <a:schemeClr val="bg1"/>
                          </a:solidFill>
                          <a:latin typeface="微软雅黑" panose="020B0503020204020204" charset="-122"/>
                          <a:ea typeface="微软雅黑" panose="020B0503020204020204" charset="-122"/>
                        </a:rPr>
                        <a:t>完成</a:t>
                      </a:r>
                      <a:endParaRPr lang="zh-CN" altLang="en-US" sz="1600" b="1" i="0" u="none" strike="noStrike" dirty="0">
                        <a:solidFill>
                          <a:schemeClr val="bg1"/>
                        </a:solidFill>
                        <a:latin typeface="微软雅黑" panose="020B0503020204020204" charset="-122"/>
                        <a:ea typeface="微软雅黑" panose="020B0503020204020204" charset="-122"/>
                      </a:endParaRPr>
                    </a:p>
                  </a:txBody>
                  <a:tcPr marL="0" marR="0" marT="0" marB="0" anchor="ctr">
                    <a:solidFill>
                      <a:srgbClr val="FFC000"/>
                    </a:solidFill>
                  </a:tcPr>
                </a:tc>
                <a:tc>
                  <a:txBody>
                    <a:bodyPr/>
                    <a:lstStyle/>
                    <a:p>
                      <a:pPr algn="ctr" rtl="0" fontAlgn="ctr"/>
                      <a:r>
                        <a:rPr lang="zh-CN" altLang="en-US" sz="1600" b="1" u="none" strike="noStrike" dirty="0">
                          <a:solidFill>
                            <a:schemeClr val="bg1"/>
                          </a:solidFill>
                          <a:latin typeface="微软雅黑" panose="020B0503020204020204" charset="-122"/>
                          <a:ea typeface="微软雅黑" panose="020B0503020204020204" charset="-122"/>
                        </a:rPr>
                        <a:t>缺口</a:t>
                      </a:r>
                      <a:endParaRPr lang="zh-CN" altLang="en-US" sz="1600" b="1" i="0" u="none" strike="noStrike" dirty="0">
                        <a:solidFill>
                          <a:schemeClr val="bg1"/>
                        </a:solidFill>
                        <a:latin typeface="微软雅黑" panose="020B0503020204020204" charset="-122"/>
                        <a:ea typeface="微软雅黑" panose="020B0503020204020204" charset="-122"/>
                      </a:endParaRPr>
                    </a:p>
                  </a:txBody>
                  <a:tcPr marL="0" marR="0" marT="0" marB="0" anchor="ctr">
                    <a:solidFill>
                      <a:srgbClr val="FFC000"/>
                    </a:solidFill>
                  </a:tcPr>
                </a:tc>
                <a:tc>
                  <a:txBody>
                    <a:bodyPr/>
                    <a:lstStyle/>
                    <a:p>
                      <a:pPr algn="ctr" rtl="0" fontAlgn="ctr"/>
                      <a:r>
                        <a:rPr lang="zh-CN" altLang="en-US" sz="1600" b="1" u="none" strike="noStrike" dirty="0">
                          <a:solidFill>
                            <a:schemeClr val="bg1"/>
                          </a:solidFill>
                          <a:latin typeface="微软雅黑" panose="020B0503020204020204" charset="-122"/>
                          <a:ea typeface="微软雅黑" panose="020B0503020204020204" charset="-122"/>
                        </a:rPr>
                        <a:t>账面</a:t>
                      </a:r>
                      <a:endParaRPr lang="en-US" altLang="zh-CN" sz="1600" b="1" u="none" strike="noStrike" dirty="0">
                        <a:solidFill>
                          <a:schemeClr val="bg1"/>
                        </a:solidFill>
                        <a:latin typeface="微软雅黑" panose="020B0503020204020204" charset="-122"/>
                        <a:ea typeface="微软雅黑" panose="020B0503020204020204" charset="-122"/>
                      </a:endParaRPr>
                    </a:p>
                    <a:p>
                      <a:pPr algn="ctr" rtl="0" fontAlgn="ctr"/>
                      <a:r>
                        <a:rPr lang="zh-CN" altLang="en-US" sz="1600" b="1" u="none" strike="noStrike" dirty="0">
                          <a:solidFill>
                            <a:schemeClr val="bg1"/>
                          </a:solidFill>
                          <a:latin typeface="微软雅黑" panose="020B0503020204020204" charset="-122"/>
                          <a:ea typeface="微软雅黑" panose="020B0503020204020204" charset="-122"/>
                        </a:rPr>
                        <a:t>增幅</a:t>
                      </a:r>
                      <a:endParaRPr lang="zh-CN" altLang="en-US" sz="1600" b="1" i="0" u="none" strike="noStrike" dirty="0">
                        <a:solidFill>
                          <a:schemeClr val="bg1"/>
                        </a:solidFill>
                        <a:latin typeface="微软雅黑" panose="020B0503020204020204" charset="-122"/>
                        <a:ea typeface="微软雅黑" panose="020B0503020204020204" charset="-122"/>
                      </a:endParaRPr>
                    </a:p>
                  </a:txBody>
                  <a:tcPr marL="0" marR="0" marT="0" marB="0" anchor="ctr">
                    <a:solidFill>
                      <a:srgbClr val="FFC000"/>
                    </a:solidFill>
                  </a:tcPr>
                </a:tc>
                <a:tc>
                  <a:txBody>
                    <a:bodyPr/>
                    <a:lstStyle/>
                    <a:p>
                      <a:pPr algn="ctr" rtl="0" fontAlgn="ctr"/>
                      <a:r>
                        <a:rPr lang="zh-CN" altLang="en-US" sz="1600" b="1" u="none" strike="noStrike" dirty="0">
                          <a:solidFill>
                            <a:schemeClr val="bg1"/>
                          </a:solidFill>
                          <a:latin typeface="微软雅黑" panose="020B0503020204020204" charset="-122"/>
                          <a:ea typeface="微软雅黑" panose="020B0503020204020204" charset="-122"/>
                        </a:rPr>
                        <a:t>可比</a:t>
                      </a:r>
                      <a:endParaRPr lang="en-US" altLang="zh-CN" sz="1600" b="1" u="none" strike="noStrike" dirty="0">
                        <a:solidFill>
                          <a:schemeClr val="bg1"/>
                        </a:solidFill>
                        <a:latin typeface="微软雅黑" panose="020B0503020204020204" charset="-122"/>
                        <a:ea typeface="微软雅黑" panose="020B0503020204020204" charset="-122"/>
                      </a:endParaRPr>
                    </a:p>
                    <a:p>
                      <a:pPr algn="ctr" rtl="0" fontAlgn="ctr"/>
                      <a:r>
                        <a:rPr lang="zh-CN" altLang="en-US" sz="1600" b="1" u="none" strike="noStrike" dirty="0">
                          <a:solidFill>
                            <a:schemeClr val="bg1"/>
                          </a:solidFill>
                          <a:latin typeface="微软雅黑" panose="020B0503020204020204" charset="-122"/>
                          <a:ea typeface="微软雅黑" panose="020B0503020204020204" charset="-122"/>
                        </a:rPr>
                        <a:t>增幅</a:t>
                      </a:r>
                      <a:endParaRPr lang="zh-CN" altLang="en-US" sz="1600" b="1" i="0" u="none" strike="noStrike" dirty="0">
                        <a:solidFill>
                          <a:schemeClr val="bg1"/>
                        </a:solidFill>
                        <a:latin typeface="微软雅黑" panose="020B0503020204020204" charset="-122"/>
                        <a:ea typeface="微软雅黑" panose="020B0503020204020204" charset="-122"/>
                      </a:endParaRPr>
                    </a:p>
                  </a:txBody>
                  <a:tcPr marL="0" marR="0" marT="0" marB="0" anchor="ctr">
                    <a:solidFill>
                      <a:srgbClr val="FFC000"/>
                    </a:solidFill>
                  </a:tcPr>
                </a:tc>
              </a:tr>
              <a:tr h="575789">
                <a:tc>
                  <a:txBody>
                    <a:bodyPr/>
                    <a:lstStyle/>
                    <a:p>
                      <a:pPr marL="107950" algn="l" fontAlgn="ctr"/>
                      <a:r>
                        <a:rPr lang="zh-CN" altLang="en-US" sz="1400" u="none" strike="noStrike" kern="1200" dirty="0">
                          <a:latin typeface="微软雅黑" panose="020B0503020204020204" charset="-122"/>
                          <a:ea typeface="微软雅黑" panose="020B0503020204020204" charset="-122"/>
                        </a:rPr>
                        <a:t> 预算口径收入</a:t>
                      </a:r>
                      <a:endParaRPr lang="zh-CN" altLang="en-US" sz="1400" b="0" i="0" u="none" strike="noStrike" kern="1200" dirty="0">
                        <a:solidFill>
                          <a:srgbClr val="000000"/>
                        </a:solidFill>
                        <a:latin typeface="微软雅黑" panose="020B0503020204020204" charset="-122"/>
                        <a:ea typeface="微软雅黑" panose="020B0503020204020204" charset="-122"/>
                        <a:cs typeface="+mn-cs"/>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微软雅黑" panose="020B0503020204020204" charset="-122"/>
                          <a:ea typeface="微软雅黑" panose="020B0503020204020204" charset="-122"/>
                        </a:rPr>
                        <a:t>6,553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95.7%</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-295.4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-3.3%</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3.9%</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r>
              <a:tr h="575945">
                <a:tc>
                  <a:txBody>
                    <a:bodyPr/>
                    <a:lstStyle/>
                    <a:p>
                      <a:pPr marL="107950" algn="l" fontAlgn="ctr"/>
                      <a:r>
                        <a:rPr lang="zh-CN" altLang="en-US" sz="1400" u="none" strike="noStrike" dirty="0">
                          <a:latin typeface="微软雅黑" panose="020B0503020204020204" charset="-122"/>
                          <a:ea typeface="微软雅黑" panose="020B0503020204020204" charset="-122"/>
                        </a:rPr>
                        <a:t> 其中：云协同收入</a:t>
                      </a:r>
                      <a:endParaRPr lang="zh-CN" altLang="en-US"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微软雅黑" panose="020B0503020204020204" charset="-122"/>
                          <a:ea typeface="微软雅黑" panose="020B0503020204020204" charset="-122"/>
                        </a:rPr>
                        <a:t>53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79.2%</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-13.9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-8.8%</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7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-3.4%</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75000"/>
                      </a:schemeClr>
                    </a:solidFill>
                  </a:tcPr>
                </a:tc>
              </a:tr>
              <a:tr h="575789">
                <a:tc>
                  <a:txBody>
                    <a:bodyPr/>
                    <a:lstStyle/>
                    <a:p>
                      <a:pPr marL="107950" algn="l" fontAlgn="ctr"/>
                      <a:r>
                        <a:rPr lang="zh-CN" altLang="en-US" sz="1400" u="none" strike="noStrike" dirty="0">
                          <a:latin typeface="微软雅黑" panose="020B0503020204020204" charset="-122"/>
                          <a:ea typeface="微软雅黑" panose="020B0503020204020204" charset="-122"/>
                        </a:rPr>
                        <a:t> 其中：导航协同收入</a:t>
                      </a:r>
                      <a:endParaRPr lang="zh-CN" altLang="en-US"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微软雅黑" panose="020B0503020204020204" charset="-122"/>
                          <a:ea typeface="微软雅黑" panose="020B0503020204020204" charset="-122"/>
                        </a:rPr>
                        <a:t>43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89.8%</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-4.9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-1.2%</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c>
                  <a:txBody>
                    <a:bodyPr/>
                    <a:lstStyle/>
                    <a:p>
                      <a:pPr algn="ctr" fontAlgn="ctr"/>
                      <a:r>
                        <a:rPr lang="en-US" altLang="zh-CN" sz="1400" u="none" strike="noStrike" dirty="0">
                          <a:latin typeface="微软雅黑" panose="020B0503020204020204" charset="-122"/>
                          <a:ea typeface="微软雅黑" panose="020B0503020204020204" charset="-122"/>
                        </a:rPr>
                        <a:t>10.1%</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0" marR="0" marT="0" marB="0" anchor="ctr">
                    <a:solidFill>
                      <a:schemeClr val="bg1">
                        <a:lumMod val="85000"/>
                      </a:schemeClr>
                    </a:solidFill>
                  </a:tcPr>
                </a:tc>
              </a:tr>
            </a:tbl>
          </a:graphicData>
        </a:graphic>
      </p:graphicFrame>
      <p:sp>
        <p:nvSpPr>
          <p:cNvPr id="10" name="TextBox 13"/>
          <p:cNvSpPr txBox="1"/>
          <p:nvPr/>
        </p:nvSpPr>
        <p:spPr>
          <a:xfrm>
            <a:off x="5083810" y="2809875"/>
            <a:ext cx="1548130" cy="306705"/>
          </a:xfrm>
          <a:prstGeom prst="rect">
            <a:avLst/>
          </a:prstGeom>
          <a:noFill/>
        </p:spPr>
        <p:txBody>
          <a:bodyPr wrap="square" rtlCol="0">
            <a:spAutoFit/>
          </a:bodyPr>
          <a:lstStyle/>
          <a:p>
            <a:pPr algn="r"/>
            <a:r>
              <a:rPr lang="zh-CN" altLang="en-US" sz="1400" dirty="0">
                <a:latin typeface="微软雅黑" panose="020B0503020204020204" charset="-122"/>
                <a:ea typeface="微软雅黑" panose="020B0503020204020204" charset="-122"/>
              </a:rPr>
              <a:t>单位：万元</a:t>
            </a:r>
          </a:p>
        </p:txBody>
      </p:sp>
      <p:sp>
        <p:nvSpPr>
          <p:cNvPr id="11" name="矩形 10"/>
          <p:cNvSpPr/>
          <p:nvPr/>
        </p:nvSpPr>
        <p:spPr>
          <a:xfrm>
            <a:off x="6851374" y="3207028"/>
            <a:ext cx="4518991" cy="2703443"/>
          </a:xfrm>
          <a:prstGeom prst="rect">
            <a:avLst/>
          </a:prstGeom>
          <a:blipFill dpi="0" rotWithShape="1">
            <a:blip r:embed="rId3">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五边形 11"/>
          <p:cNvSpPr/>
          <p:nvPr/>
        </p:nvSpPr>
        <p:spPr>
          <a:xfrm>
            <a:off x="959383" y="1481796"/>
            <a:ext cx="3228304" cy="572291"/>
          </a:xfrm>
          <a:prstGeom prst="homePlate">
            <a:avLst>
              <a:gd name="adj" fmla="val 19897"/>
            </a:avLst>
          </a:prstGeom>
          <a:solidFill>
            <a:srgbClr val="FFC000"/>
          </a:solidFill>
          <a:ln>
            <a:noFill/>
          </a:ln>
        </p:spPr>
        <p:txBody>
          <a:bodyPr wrap="square" anchor="ctr">
            <a:noAutofit/>
          </a:bodyPr>
          <a:lstStyle/>
          <a:p>
            <a:pPr marL="107950"/>
            <a:r>
              <a:rPr lang="en-US" altLang="zh-CN" sz="2400" b="1" dirty="0">
                <a:solidFill>
                  <a:schemeClr val="bg1"/>
                </a:solidFill>
                <a:latin typeface="微软雅黑" panose="020B0503020204020204" charset="-122"/>
                <a:ea typeface="微软雅黑" panose="020B0503020204020204" charset="-122"/>
              </a:rPr>
              <a:t>1</a:t>
            </a:r>
            <a:r>
              <a:rPr lang="zh-CN" altLang="en-US" sz="2400" b="1" dirty="0">
                <a:solidFill>
                  <a:schemeClr val="bg1"/>
                </a:solidFill>
                <a:latin typeface="微软雅黑" panose="020B0503020204020204" charset="-122"/>
                <a:ea typeface="微软雅黑" panose="020B0503020204020204" charset="-122"/>
              </a:rPr>
              <a:t>）当月收入：</a:t>
            </a:r>
            <a:endParaRPr lang="zh-CN" altLang="en-US" sz="2400" dirty="0">
              <a:solidFill>
                <a:schemeClr val="bg1"/>
              </a:solidFill>
            </a:endParaRPr>
          </a:p>
        </p:txBody>
      </p:sp>
      <p:sp>
        <p:nvSpPr>
          <p:cNvPr id="14" name="文本框 13"/>
          <p:cNvSpPr txBox="1"/>
          <p:nvPr/>
        </p:nvSpPr>
        <p:spPr>
          <a:xfrm>
            <a:off x="418455" y="312001"/>
            <a:ext cx="2787500" cy="398780"/>
          </a:xfrm>
          <a:prstGeom prst="rect">
            <a:avLst/>
          </a:prstGeom>
          <a:noFill/>
        </p:spPr>
        <p:txBody>
          <a:bodyPr wrap="square" rtlCol="0">
            <a:spAutoFit/>
          </a:bodyPr>
          <a:lstStyle/>
          <a:p>
            <a:r>
              <a:rPr lang="zh-CN" altLang="en-US" sz="2000" b="1" dirty="0">
                <a:cs typeface="+mn-ea"/>
                <a:sym typeface="+mn-lt"/>
              </a:rPr>
              <a:t>当月完成进度</a:t>
            </a:r>
          </a:p>
        </p:txBody>
      </p:sp>
      <p:cxnSp>
        <p:nvCxnSpPr>
          <p:cNvPr id="15" name="直接连接符 14"/>
          <p:cNvCxnSpPr/>
          <p:nvPr/>
        </p:nvCxnSpPr>
        <p:spPr>
          <a:xfrm>
            <a:off x="4923" y="710505"/>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bldLvl="0" animBg="1"/>
      <p:bldP spid="12"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2" name="Picture 2" descr="D:\360data\重要数据\桌面\ttg.png"/>
          <p:cNvPicPr>
            <a:picLocks noChangeAspect="1" noChangeArrowheads="1"/>
          </p:cNvPicPr>
          <p:nvPr/>
        </p:nvPicPr>
        <p:blipFill>
          <a:blip r:embed="rId3"/>
          <a:srcRect/>
          <a:stretch>
            <a:fillRect/>
          </a:stretch>
        </p:blipFill>
        <p:spPr bwMode="auto">
          <a:xfrm>
            <a:off x="260985" y="1553845"/>
            <a:ext cx="6167120" cy="4711065"/>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3"/>
          <p:cNvSpPr txBox="1"/>
          <p:nvPr/>
        </p:nvSpPr>
        <p:spPr>
          <a:xfrm>
            <a:off x="7346950" y="2954020"/>
            <a:ext cx="4144645" cy="1568450"/>
          </a:xfrm>
          <a:prstGeom prst="rect">
            <a:avLst/>
          </a:prstGeom>
          <a:noFill/>
        </p:spPr>
        <p:txBody>
          <a:bodyPr wrap="square" rtlCol="0">
            <a:spAutoFit/>
          </a:bodyPr>
          <a:lstStyle/>
          <a:p>
            <a:pPr eaLnBrk="1" hangingPunct="1">
              <a:lnSpc>
                <a:spcPct val="150000"/>
              </a:lnSpc>
              <a:defRPr/>
            </a:pPr>
            <a:r>
              <a:rPr lang="zh-CN" altLang="en-US" sz="1600" dirty="0">
                <a:latin typeface="微软雅黑" panose="020B0503020204020204" charset="-122"/>
                <a:ea typeface="微软雅黑" panose="020B0503020204020204" charset="-122"/>
                <a:sym typeface="+mn-ea"/>
              </a:rPr>
              <a:t>当月可比预算口径收入同比增加</a:t>
            </a:r>
            <a:r>
              <a:rPr lang="en-US" altLang="zh-CN" sz="1600" dirty="0">
                <a:latin typeface="微软雅黑" panose="020B0503020204020204" charset="-122"/>
                <a:ea typeface="微软雅黑" panose="020B0503020204020204" charset="-122"/>
                <a:sym typeface="+mn-ea"/>
              </a:rPr>
              <a:t>243.6</a:t>
            </a:r>
            <a:r>
              <a:rPr lang="zh-CN" altLang="en-US" sz="1600" dirty="0">
                <a:latin typeface="微软雅黑" panose="020B0503020204020204" charset="-122"/>
                <a:ea typeface="微软雅黑" panose="020B0503020204020204" charset="-122"/>
                <a:sym typeface="+mn-ea"/>
              </a:rPr>
              <a:t>万元，</a:t>
            </a:r>
          </a:p>
          <a:p>
            <a:pPr eaLnBrk="1" hangingPunct="1">
              <a:lnSpc>
                <a:spcPct val="150000"/>
              </a:lnSpc>
              <a:defRPr/>
            </a:pPr>
            <a:r>
              <a:rPr lang="zh-CN" altLang="en-US" sz="1600" dirty="0">
                <a:latin typeface="微软雅黑" panose="020B0503020204020204" charset="-122"/>
                <a:ea typeface="微软雅黑" panose="020B0503020204020204" charset="-122"/>
                <a:sym typeface="+mn-ea"/>
              </a:rPr>
              <a:t>增幅</a:t>
            </a:r>
            <a:r>
              <a:rPr lang="en-US" altLang="zh-CN" sz="1600" dirty="0">
                <a:latin typeface="微软雅黑" panose="020B0503020204020204" charset="-122"/>
                <a:ea typeface="微软雅黑" panose="020B0503020204020204" charset="-122"/>
                <a:sym typeface="+mn-ea"/>
              </a:rPr>
              <a:t>3.9%</a:t>
            </a:r>
            <a:r>
              <a:rPr lang="zh-CN" altLang="en-US" sz="1600" dirty="0">
                <a:latin typeface="微软雅黑" panose="020B0503020204020204" charset="-122"/>
                <a:ea typeface="微软雅黑" panose="020B0503020204020204" charset="-122"/>
                <a:sym typeface="+mn-ea"/>
              </a:rPr>
              <a:t>；</a:t>
            </a:r>
          </a:p>
          <a:p>
            <a:pPr eaLnBrk="1" hangingPunct="1">
              <a:lnSpc>
                <a:spcPct val="150000"/>
              </a:lnSpc>
              <a:defRPr/>
            </a:pPr>
            <a:r>
              <a:rPr lang="zh-CN" altLang="en-US" sz="1600" dirty="0">
                <a:latin typeface="微软雅黑" panose="020B0503020204020204" charset="-122"/>
                <a:ea typeface="微软雅黑" panose="020B0503020204020204" charset="-122"/>
                <a:sym typeface="+mn-ea"/>
              </a:rPr>
              <a:t>账面预算口径收入同比减少</a:t>
            </a:r>
            <a:r>
              <a:rPr lang="en-US" altLang="zh-CN" sz="1600" dirty="0">
                <a:latin typeface="微软雅黑" panose="020B0503020204020204" charset="-122"/>
                <a:ea typeface="微软雅黑" panose="020B0503020204020204" charset="-122"/>
                <a:sym typeface="+mn-ea"/>
              </a:rPr>
              <a:t>224.4</a:t>
            </a:r>
            <a:r>
              <a:rPr lang="zh-CN" altLang="en-US" sz="1600" dirty="0">
                <a:latin typeface="微软雅黑" panose="020B0503020204020204" charset="-122"/>
                <a:ea typeface="微软雅黑" panose="020B0503020204020204" charset="-122"/>
                <a:sym typeface="+mn-ea"/>
              </a:rPr>
              <a:t>万元，</a:t>
            </a:r>
          </a:p>
          <a:p>
            <a:pPr eaLnBrk="1" hangingPunct="1">
              <a:lnSpc>
                <a:spcPct val="150000"/>
              </a:lnSpc>
              <a:defRPr/>
            </a:pPr>
            <a:r>
              <a:rPr lang="zh-CN" altLang="en-US" sz="1600" dirty="0">
                <a:latin typeface="微软雅黑" panose="020B0503020204020204" charset="-122"/>
                <a:ea typeface="微软雅黑" panose="020B0503020204020204" charset="-122"/>
                <a:sym typeface="+mn-ea"/>
              </a:rPr>
              <a:t>降幅</a:t>
            </a:r>
            <a:r>
              <a:rPr lang="en-US" altLang="zh-CN" sz="1600" dirty="0">
                <a:latin typeface="微软雅黑" panose="020B0503020204020204" charset="-122"/>
                <a:ea typeface="微软雅黑" panose="020B0503020204020204" charset="-122"/>
                <a:sym typeface="+mn-ea"/>
              </a:rPr>
              <a:t>3.3%</a:t>
            </a:r>
            <a:r>
              <a:rPr lang="zh-CN" altLang="en-US" sz="1600" dirty="0">
                <a:latin typeface="微软雅黑" panose="020B0503020204020204" charset="-122"/>
                <a:ea typeface="微软雅黑" panose="020B0503020204020204" charset="-122"/>
                <a:sym typeface="+mn-ea"/>
              </a:rPr>
              <a:t>。</a:t>
            </a:r>
            <a:endParaRPr lang="en-US" altLang="zh-CN" sz="1600" dirty="0">
              <a:solidFill>
                <a:schemeClr val="bg1"/>
              </a:solidFill>
              <a:latin typeface="微软雅黑" panose="020B0503020204020204" charset="-122"/>
              <a:ea typeface="微软雅黑" panose="020B0503020204020204" charset="-122"/>
            </a:endParaRPr>
          </a:p>
        </p:txBody>
      </p:sp>
      <p:sp>
        <p:nvSpPr>
          <p:cNvPr id="40" name="矩形 39"/>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矩形 40"/>
          <p:cNvSpPr/>
          <p:nvPr/>
        </p:nvSpPr>
        <p:spPr>
          <a:xfrm>
            <a:off x="-11017" y="-30458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矩形 1"/>
          <p:cNvSpPr/>
          <p:nvPr/>
        </p:nvSpPr>
        <p:spPr>
          <a:xfrm>
            <a:off x="471170" y="1807210"/>
            <a:ext cx="5739765" cy="31362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 name="图表 10"/>
          <p:cNvGraphicFramePr/>
          <p:nvPr/>
        </p:nvGraphicFramePr>
        <p:xfrm>
          <a:off x="826135" y="1981835"/>
          <a:ext cx="5039995" cy="2735580"/>
        </p:xfrm>
        <a:graphic>
          <a:graphicData uri="http://schemas.openxmlformats.org/drawingml/2006/chart">
            <c:chart xmlns:c="http://schemas.openxmlformats.org/drawingml/2006/chart" xmlns:r="http://schemas.openxmlformats.org/officeDocument/2006/relationships" r:id="rId4"/>
          </a:graphicData>
        </a:graphic>
      </p:graphicFrame>
      <p:sp>
        <p:nvSpPr>
          <p:cNvPr id="9" name="五边形 8"/>
          <p:cNvSpPr/>
          <p:nvPr/>
        </p:nvSpPr>
        <p:spPr>
          <a:xfrm>
            <a:off x="7346950" y="2170430"/>
            <a:ext cx="2276475" cy="572135"/>
          </a:xfrm>
          <a:prstGeom prst="homePlate">
            <a:avLst>
              <a:gd name="adj" fmla="val 19897"/>
            </a:avLst>
          </a:prstGeom>
          <a:solidFill>
            <a:srgbClr val="FFC000"/>
          </a:solidFill>
          <a:ln>
            <a:noFill/>
          </a:ln>
        </p:spPr>
        <p:txBody>
          <a:bodyPr wrap="square" anchor="ctr">
            <a:noAutofit/>
          </a:bodyPr>
          <a:lstStyle/>
          <a:p>
            <a:pPr marL="107950"/>
            <a:r>
              <a:rPr lang="en-US" altLang="zh-CN" sz="2400" b="1" dirty="0">
                <a:solidFill>
                  <a:schemeClr val="bg1"/>
                </a:solidFill>
                <a:latin typeface="微软雅黑" panose="020B0503020204020204" charset="-122"/>
                <a:ea typeface="微软雅黑" panose="020B0503020204020204" charset="-122"/>
              </a:rPr>
              <a:t>2</a:t>
            </a:r>
            <a:r>
              <a:rPr lang="zh-CN" altLang="en-US" sz="2400" b="1" dirty="0">
                <a:solidFill>
                  <a:schemeClr val="bg1"/>
                </a:solidFill>
                <a:latin typeface="微软雅黑" panose="020B0503020204020204" charset="-122"/>
                <a:ea typeface="微软雅黑" panose="020B0503020204020204" charset="-122"/>
              </a:rPr>
              <a:t>）同比：</a:t>
            </a:r>
            <a:endParaRPr lang="zh-CN" altLang="en-US" sz="2400" dirty="0">
              <a:solidFill>
                <a:schemeClr val="bg1"/>
              </a:solidFill>
            </a:endParaRPr>
          </a:p>
        </p:txBody>
      </p:sp>
      <p:sp>
        <p:nvSpPr>
          <p:cNvPr id="14" name="文本框 13"/>
          <p:cNvSpPr txBox="1"/>
          <p:nvPr/>
        </p:nvSpPr>
        <p:spPr>
          <a:xfrm>
            <a:off x="418455" y="312001"/>
            <a:ext cx="2787500" cy="398780"/>
          </a:xfrm>
          <a:prstGeom prst="rect">
            <a:avLst/>
          </a:prstGeom>
          <a:noFill/>
        </p:spPr>
        <p:txBody>
          <a:bodyPr wrap="square" rtlCol="0">
            <a:spAutoFit/>
          </a:bodyPr>
          <a:lstStyle/>
          <a:p>
            <a:r>
              <a:rPr lang="zh-CN" altLang="en-US" sz="2000" b="1" dirty="0">
                <a:cs typeface="+mn-ea"/>
                <a:sym typeface="+mn-lt"/>
              </a:rPr>
              <a:t>指标完成进度</a:t>
            </a:r>
          </a:p>
        </p:txBody>
      </p:sp>
      <p:cxnSp>
        <p:nvCxnSpPr>
          <p:cNvPr id="15" name="直接连接符 14"/>
          <p:cNvCxnSpPr/>
          <p:nvPr/>
        </p:nvCxnSpPr>
        <p:spPr>
          <a:xfrm>
            <a:off x="4923" y="710505"/>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wipe(left)">
                                      <p:cBhvr>
                                        <p:cTn id="13" dur="2000"/>
                                        <p:tgtEl>
                                          <p:spTgt spid="24"/>
                                        </p:tgtEl>
                                      </p:cBhvr>
                                    </p:animEffect>
                                  </p:childTnLst>
                                </p:cTn>
                              </p:par>
                            </p:childTnLst>
                          </p:cTn>
                        </p:par>
                        <p:par>
                          <p:cTn id="14" fill="hold">
                            <p:stCondLst>
                              <p:cond delay="3000"/>
                            </p:stCondLst>
                            <p:childTnLst>
                              <p:par>
                                <p:cTn id="15" presetID="22" presetClass="entr" presetSubtype="8"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Graphic spid="11" grpId="0">
        <p:bldAsOne/>
      </p:bldGraphic>
      <p:bldP spid="9"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2"/>
            </p:custDataLst>
          </p:nvPr>
        </p:nvSpPr>
        <p:spPr>
          <a:xfrm>
            <a:off x="6750050" y="2791460"/>
            <a:ext cx="3262630" cy="3623310"/>
          </a:xfrm>
          <a:prstGeom prst="rect">
            <a:avLst/>
          </a:prstGeom>
          <a:noFill/>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cs typeface="+mn-ea"/>
              <a:sym typeface="+mn-lt"/>
            </a:endParaRPr>
          </a:p>
        </p:txBody>
      </p:sp>
      <p:grpSp>
        <p:nvGrpSpPr>
          <p:cNvPr id="20" name="组合 19"/>
          <p:cNvGrpSpPr/>
          <p:nvPr/>
        </p:nvGrpSpPr>
        <p:grpSpPr>
          <a:xfrm>
            <a:off x="546735" y="1119505"/>
            <a:ext cx="4877435" cy="4983480"/>
            <a:chOff x="888" y="3916"/>
            <a:chExt cx="7758" cy="5256"/>
          </a:xfrm>
        </p:grpSpPr>
        <p:sp>
          <p:nvSpPr>
            <p:cNvPr id="2" name="矩形 1"/>
            <p:cNvSpPr/>
            <p:nvPr>
              <p:custDataLst>
                <p:tags r:id="rId3"/>
              </p:custDataLst>
            </p:nvPr>
          </p:nvSpPr>
          <p:spPr>
            <a:xfrm>
              <a:off x="888" y="3916"/>
              <a:ext cx="7758" cy="5257"/>
            </a:xfrm>
            <a:prstGeom prst="rect">
              <a:avLst/>
            </a:prstGeom>
            <a:noFill/>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cs typeface="+mn-ea"/>
                <a:sym typeface="+mn-lt"/>
              </a:endParaRPr>
            </a:p>
          </p:txBody>
        </p:sp>
        <p:graphicFrame>
          <p:nvGraphicFramePr>
            <p:cNvPr id="11" name="图表 10"/>
            <p:cNvGraphicFramePr/>
            <p:nvPr/>
          </p:nvGraphicFramePr>
          <p:xfrm>
            <a:off x="1284" y="4629"/>
            <a:ext cx="6965" cy="4353"/>
          </p:xfrm>
          <a:graphic>
            <a:graphicData uri="http://schemas.openxmlformats.org/drawingml/2006/chart">
              <c:chart xmlns:c="http://schemas.openxmlformats.org/drawingml/2006/chart" xmlns:r="http://schemas.openxmlformats.org/officeDocument/2006/relationships" r:id="rId6"/>
            </a:graphicData>
          </a:graphic>
        </p:graphicFrame>
      </p:grpSp>
      <p:pic>
        <p:nvPicPr>
          <p:cNvPr id="14" name="图片 13" descr="图片4"/>
          <p:cNvPicPr>
            <a:picLocks noChangeAspect="1"/>
          </p:cNvPicPr>
          <p:nvPr/>
        </p:nvPicPr>
        <p:blipFill>
          <a:blip r:embed="rId7"/>
          <a:stretch>
            <a:fillRect/>
          </a:stretch>
        </p:blipFill>
        <p:spPr>
          <a:xfrm>
            <a:off x="7099300" y="3153410"/>
            <a:ext cx="4285615" cy="2704465"/>
          </a:xfrm>
          <a:prstGeom prst="rect">
            <a:avLst/>
          </a:prstGeom>
        </p:spPr>
      </p:pic>
      <p:sp>
        <p:nvSpPr>
          <p:cNvPr id="40" name="矩形 39"/>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矩形 40"/>
          <p:cNvSpPr/>
          <p:nvPr/>
        </p:nvSpPr>
        <p:spPr>
          <a:xfrm>
            <a:off x="-11017" y="-30458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Text Box 2"/>
          <p:cNvSpPr txBox="1">
            <a:spLocks noChangeArrowheads="1"/>
          </p:cNvSpPr>
          <p:nvPr/>
        </p:nvSpPr>
        <p:spPr bwMode="auto">
          <a:xfrm>
            <a:off x="5863590" y="1440815"/>
            <a:ext cx="5807710" cy="1086485"/>
          </a:xfrm>
          <a:prstGeom prst="rect">
            <a:avLst/>
          </a:prstGeom>
          <a:noFill/>
          <a:ln>
            <a:noFill/>
          </a:ln>
        </p:spPr>
        <p:txBody>
          <a:bodyPr wrap="square" lIns="91391" tIns="45695" rIns="91391" bIns="45695">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buClr>
                <a:schemeClr val="accent1">
                  <a:lumMod val="75000"/>
                </a:schemeClr>
              </a:buClr>
              <a:defRPr/>
            </a:pPr>
            <a:r>
              <a:rPr lang="zh-CN" altLang="en-US" dirty="0">
                <a:latin typeface="微软雅黑" panose="020B0503020204020204" charset="-122"/>
                <a:ea typeface="微软雅黑" panose="020B0503020204020204" charset="-122"/>
              </a:rPr>
              <a:t>环比减少</a:t>
            </a:r>
            <a:r>
              <a:rPr lang="en-US" altLang="zh-CN" dirty="0">
                <a:latin typeface="微软雅黑" panose="020B0503020204020204" charset="-122"/>
                <a:ea typeface="微软雅黑" panose="020B0503020204020204" charset="-122"/>
              </a:rPr>
              <a:t>349.4</a:t>
            </a:r>
            <a:r>
              <a:rPr lang="zh-CN" altLang="en-US" dirty="0">
                <a:latin typeface="微软雅黑" panose="020B0503020204020204" charset="-122"/>
                <a:ea typeface="微软雅黑" panose="020B0503020204020204" charset="-122"/>
              </a:rPr>
              <a:t>万元，降幅</a:t>
            </a:r>
            <a:r>
              <a:rPr lang="en-US" altLang="zh-CN" dirty="0">
                <a:latin typeface="微软雅黑" panose="020B0503020204020204" charset="-122"/>
                <a:ea typeface="微软雅黑" panose="020B0503020204020204" charset="-122"/>
              </a:rPr>
              <a:t>5.1%</a:t>
            </a:r>
            <a:r>
              <a:rPr lang="zh-CN" altLang="en-US" dirty="0">
                <a:latin typeface="微软雅黑" panose="020B0503020204020204" charset="-122"/>
                <a:ea typeface="微软雅黑" panose="020B0503020204020204" charset="-122"/>
              </a:rPr>
              <a:t>，剔除上月省公司计费报表跑错多计收入</a:t>
            </a:r>
            <a:r>
              <a:rPr lang="en-US" altLang="zh-CN" dirty="0">
                <a:latin typeface="微软雅黑" panose="020B0503020204020204" charset="-122"/>
                <a:ea typeface="微软雅黑" panose="020B0503020204020204" charset="-122"/>
              </a:rPr>
              <a:t>50</a:t>
            </a:r>
            <a:r>
              <a:rPr lang="zh-CN" altLang="en-US" dirty="0">
                <a:latin typeface="微软雅黑" panose="020B0503020204020204" charset="-122"/>
                <a:ea typeface="微软雅黑" panose="020B0503020204020204" charset="-122"/>
              </a:rPr>
              <a:t>万元，实际环比减收</a:t>
            </a:r>
            <a:r>
              <a:rPr lang="en-US" altLang="zh-CN" dirty="0">
                <a:latin typeface="微软雅黑" panose="020B0503020204020204" charset="-122"/>
                <a:ea typeface="微软雅黑" panose="020B0503020204020204" charset="-122"/>
              </a:rPr>
              <a:t>300</a:t>
            </a:r>
            <a:r>
              <a:rPr lang="zh-CN" altLang="en-US" dirty="0">
                <a:latin typeface="微软雅黑" panose="020B0503020204020204" charset="-122"/>
                <a:ea typeface="微软雅黑" panose="020B0503020204020204" charset="-122"/>
              </a:rPr>
              <a:t>万元，降幅</a:t>
            </a:r>
            <a:r>
              <a:rPr lang="en-US" altLang="zh-CN" dirty="0">
                <a:latin typeface="微软雅黑" panose="020B0503020204020204" charset="-122"/>
                <a:ea typeface="微软雅黑" panose="020B0503020204020204" charset="-122"/>
              </a:rPr>
              <a:t>4.4%</a:t>
            </a:r>
            <a:r>
              <a:rPr lang="zh-CN" altLang="en-US" dirty="0">
                <a:latin typeface="微软雅黑" panose="020B0503020204020204" charset="-122"/>
                <a:ea typeface="微软雅黑" panose="020B0503020204020204" charset="-122"/>
              </a:rPr>
              <a:t>。</a:t>
            </a:r>
          </a:p>
        </p:txBody>
      </p:sp>
      <p:sp>
        <p:nvSpPr>
          <p:cNvPr id="17" name="五边形 16"/>
          <p:cNvSpPr/>
          <p:nvPr/>
        </p:nvSpPr>
        <p:spPr>
          <a:xfrm>
            <a:off x="6027953" y="710271"/>
            <a:ext cx="3228304" cy="572291"/>
          </a:xfrm>
          <a:prstGeom prst="homePlate">
            <a:avLst>
              <a:gd name="adj" fmla="val 19897"/>
            </a:avLst>
          </a:prstGeom>
          <a:solidFill>
            <a:srgbClr val="FFC000"/>
          </a:solidFill>
          <a:ln>
            <a:noFill/>
          </a:ln>
        </p:spPr>
        <p:txBody>
          <a:bodyPr wrap="square" anchor="ctr">
            <a:noAutofit/>
          </a:bodyPr>
          <a:lstStyle/>
          <a:p>
            <a:pPr marL="107950"/>
            <a:r>
              <a:rPr lang="en-US" altLang="zh-CN" sz="2400" b="1" dirty="0">
                <a:solidFill>
                  <a:schemeClr val="bg1"/>
                </a:solidFill>
                <a:latin typeface="微软雅黑" panose="020B0503020204020204" charset="-122"/>
                <a:ea typeface="微软雅黑" panose="020B0503020204020204" charset="-122"/>
              </a:rPr>
              <a:t>3</a:t>
            </a:r>
            <a:r>
              <a:rPr lang="zh-CN" altLang="en-US" sz="2400" b="1" dirty="0">
                <a:solidFill>
                  <a:schemeClr val="bg1"/>
                </a:solidFill>
                <a:latin typeface="微软雅黑" panose="020B0503020204020204" charset="-122"/>
                <a:ea typeface="微软雅黑" panose="020B0503020204020204" charset="-122"/>
              </a:rPr>
              <a:t>）环比：</a:t>
            </a:r>
            <a:endParaRPr lang="zh-CN" altLang="en-US" sz="2400" dirty="0">
              <a:solidFill>
                <a:schemeClr val="bg1"/>
              </a:solidFill>
            </a:endParaRPr>
          </a:p>
        </p:txBody>
      </p:sp>
      <p:sp>
        <p:nvSpPr>
          <p:cNvPr id="18" name="文本框 17"/>
          <p:cNvSpPr txBox="1"/>
          <p:nvPr/>
        </p:nvSpPr>
        <p:spPr>
          <a:xfrm>
            <a:off x="418455" y="312001"/>
            <a:ext cx="2787500" cy="398780"/>
          </a:xfrm>
          <a:prstGeom prst="rect">
            <a:avLst/>
          </a:prstGeom>
          <a:noFill/>
        </p:spPr>
        <p:txBody>
          <a:bodyPr wrap="square" rtlCol="0">
            <a:spAutoFit/>
          </a:bodyPr>
          <a:lstStyle/>
          <a:p>
            <a:r>
              <a:rPr lang="zh-CN" altLang="en-US" sz="2000" b="1" dirty="0">
                <a:cs typeface="+mn-ea"/>
                <a:sym typeface="+mn-lt"/>
              </a:rPr>
              <a:t>指标完成进度</a:t>
            </a:r>
          </a:p>
        </p:txBody>
      </p:sp>
      <p:cxnSp>
        <p:nvCxnSpPr>
          <p:cNvPr id="19" name="直接连接符 18"/>
          <p:cNvCxnSpPr/>
          <p:nvPr/>
        </p:nvCxnSpPr>
        <p:spPr>
          <a:xfrm>
            <a:off x="4923" y="710505"/>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p:cNvGrpSpPr/>
          <p:nvPr/>
        </p:nvGrpSpPr>
        <p:grpSpPr>
          <a:xfrm>
            <a:off x="0" y="2468245"/>
            <a:ext cx="12207240" cy="2645410"/>
            <a:chOff x="6602278" y="2263359"/>
            <a:chExt cx="5589722" cy="740166"/>
          </a:xfrm>
        </p:grpSpPr>
        <p:sp>
          <p:nvSpPr>
            <p:cNvPr id="13" name="Rectangle 12"/>
            <p:cNvSpPr/>
            <p:nvPr/>
          </p:nvSpPr>
          <p:spPr>
            <a:xfrm>
              <a:off x="6602278" y="2263359"/>
              <a:ext cx="5589722" cy="740166"/>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cs typeface="+mn-ea"/>
                <a:sym typeface="+mn-lt"/>
              </a:endParaRPr>
            </a:p>
          </p:txBody>
        </p:sp>
        <p:sp>
          <p:nvSpPr>
            <p:cNvPr id="23" name="TextBox 22"/>
            <p:cNvSpPr txBox="1"/>
            <p:nvPr/>
          </p:nvSpPr>
          <p:spPr>
            <a:xfrm>
              <a:off x="6889557" y="2458083"/>
              <a:ext cx="2060381" cy="350539"/>
            </a:xfrm>
            <a:prstGeom prst="rect">
              <a:avLst/>
            </a:prstGeom>
            <a:noFill/>
          </p:spPr>
          <p:txBody>
            <a:bodyPr wrap="square" rtlCol="0" anchor="ctr" anchorCtr="0">
              <a:spAutoFit/>
            </a:bodyPr>
            <a:lstStyle/>
            <a:p>
              <a:pPr>
                <a:lnSpc>
                  <a:spcPct val="180000"/>
                </a:lnSpc>
                <a:buClr>
                  <a:schemeClr val="accent1">
                    <a:lumMod val="75000"/>
                  </a:schemeClr>
                </a:buClr>
                <a:defRPr/>
              </a:pPr>
              <a:r>
                <a:rPr lang="zh-CN" altLang="en-US" sz="1400" dirty="0">
                  <a:solidFill>
                    <a:schemeClr val="bg1"/>
                  </a:solidFill>
                  <a:latin typeface="微软雅黑" panose="020B0503020204020204" charset="-122"/>
                  <a:ea typeface="微软雅黑" panose="020B0503020204020204" charset="-122"/>
                  <a:sym typeface="+mn-ea"/>
                </a:rPr>
                <a:t>环比减少</a:t>
              </a:r>
              <a:r>
                <a:rPr lang="en-US" altLang="zh-CN" sz="1400" dirty="0">
                  <a:solidFill>
                    <a:schemeClr val="bg1"/>
                  </a:solidFill>
                  <a:latin typeface="微软雅黑" panose="020B0503020204020204" charset="-122"/>
                  <a:ea typeface="微软雅黑" panose="020B0503020204020204" charset="-122"/>
                  <a:sym typeface="+mn-ea"/>
                </a:rPr>
                <a:t>349.4</a:t>
              </a:r>
              <a:r>
                <a:rPr lang="zh-CN" altLang="en-US" sz="1400" dirty="0">
                  <a:solidFill>
                    <a:schemeClr val="bg1"/>
                  </a:solidFill>
                  <a:latin typeface="微软雅黑" panose="020B0503020204020204" charset="-122"/>
                  <a:ea typeface="微软雅黑" panose="020B0503020204020204" charset="-122"/>
                  <a:sym typeface="+mn-ea"/>
                </a:rPr>
                <a:t>万元，降幅</a:t>
              </a:r>
              <a:r>
                <a:rPr lang="en-US" altLang="zh-CN" sz="1400" dirty="0">
                  <a:solidFill>
                    <a:schemeClr val="bg1"/>
                  </a:solidFill>
                  <a:latin typeface="微软雅黑" panose="020B0503020204020204" charset="-122"/>
                  <a:ea typeface="微软雅黑" panose="020B0503020204020204" charset="-122"/>
                  <a:sym typeface="+mn-ea"/>
                </a:rPr>
                <a:t>5.1%</a:t>
              </a:r>
              <a:r>
                <a:rPr lang="zh-CN" altLang="en-US" sz="1400" dirty="0">
                  <a:solidFill>
                    <a:schemeClr val="bg1"/>
                  </a:solidFill>
                  <a:latin typeface="微软雅黑" panose="020B0503020204020204" charset="-122"/>
                  <a:ea typeface="微软雅黑" panose="020B0503020204020204" charset="-122"/>
                  <a:sym typeface="+mn-ea"/>
                </a:rPr>
                <a:t>，剔除上月省公司</a:t>
              </a:r>
            </a:p>
            <a:p>
              <a:pPr>
                <a:lnSpc>
                  <a:spcPct val="180000"/>
                </a:lnSpc>
                <a:buClr>
                  <a:schemeClr val="accent1">
                    <a:lumMod val="75000"/>
                  </a:schemeClr>
                </a:buClr>
                <a:defRPr/>
              </a:pPr>
              <a:r>
                <a:rPr lang="zh-CN" altLang="en-US" sz="1400" dirty="0">
                  <a:solidFill>
                    <a:schemeClr val="bg1"/>
                  </a:solidFill>
                  <a:latin typeface="微软雅黑" panose="020B0503020204020204" charset="-122"/>
                  <a:ea typeface="微软雅黑" panose="020B0503020204020204" charset="-122"/>
                  <a:sym typeface="+mn-ea"/>
                </a:rPr>
                <a:t>计费报表跑错多计收入</a:t>
              </a:r>
              <a:r>
                <a:rPr lang="en-US" altLang="zh-CN" sz="1400" dirty="0">
                  <a:solidFill>
                    <a:schemeClr val="bg1"/>
                  </a:solidFill>
                  <a:latin typeface="微软雅黑" panose="020B0503020204020204" charset="-122"/>
                  <a:ea typeface="微软雅黑" panose="020B0503020204020204" charset="-122"/>
                  <a:sym typeface="+mn-ea"/>
                </a:rPr>
                <a:t>50</a:t>
              </a:r>
              <a:r>
                <a:rPr lang="zh-CN" altLang="en-US" sz="1400" dirty="0">
                  <a:solidFill>
                    <a:schemeClr val="bg1"/>
                  </a:solidFill>
                  <a:latin typeface="微软雅黑" panose="020B0503020204020204" charset="-122"/>
                  <a:ea typeface="微软雅黑" panose="020B0503020204020204" charset="-122"/>
                  <a:sym typeface="+mn-ea"/>
                </a:rPr>
                <a:t>万元，实际环比减收</a:t>
              </a:r>
              <a:r>
                <a:rPr lang="en-US" altLang="zh-CN" sz="1400" dirty="0">
                  <a:solidFill>
                    <a:schemeClr val="bg1"/>
                  </a:solidFill>
                  <a:latin typeface="微软雅黑" panose="020B0503020204020204" charset="-122"/>
                  <a:ea typeface="微软雅黑" panose="020B0503020204020204" charset="-122"/>
                  <a:sym typeface="+mn-ea"/>
                </a:rPr>
                <a:t>300</a:t>
              </a:r>
            </a:p>
            <a:p>
              <a:pPr>
                <a:lnSpc>
                  <a:spcPct val="180000"/>
                </a:lnSpc>
                <a:buClr>
                  <a:schemeClr val="accent1">
                    <a:lumMod val="75000"/>
                  </a:schemeClr>
                </a:buClr>
                <a:defRPr/>
              </a:pPr>
              <a:r>
                <a:rPr lang="zh-CN" altLang="en-US" sz="1400" dirty="0">
                  <a:solidFill>
                    <a:schemeClr val="bg1"/>
                  </a:solidFill>
                  <a:latin typeface="微软雅黑" panose="020B0503020204020204" charset="-122"/>
                  <a:ea typeface="微软雅黑" panose="020B0503020204020204" charset="-122"/>
                  <a:sym typeface="+mn-ea"/>
                </a:rPr>
                <a:t>万元，降幅</a:t>
              </a:r>
              <a:r>
                <a:rPr lang="en-US" altLang="zh-CN" sz="1400" dirty="0">
                  <a:solidFill>
                    <a:schemeClr val="bg1"/>
                  </a:solidFill>
                  <a:latin typeface="微软雅黑" panose="020B0503020204020204" charset="-122"/>
                  <a:ea typeface="微软雅黑" panose="020B0503020204020204" charset="-122"/>
                  <a:sym typeface="+mn-ea"/>
                </a:rPr>
                <a:t>4.4%</a:t>
              </a:r>
              <a:r>
                <a:rPr lang="zh-CN" altLang="en-US" sz="1400" dirty="0">
                  <a:solidFill>
                    <a:schemeClr val="bg1"/>
                  </a:solidFill>
                  <a:latin typeface="微软雅黑" panose="020B0503020204020204" charset="-122"/>
                  <a:ea typeface="微软雅黑" panose="020B0503020204020204" charset="-122"/>
                  <a:sym typeface="+mn-ea"/>
                </a:rPr>
                <a:t>。</a:t>
              </a:r>
              <a:endParaRPr lang="zh-CN" altLang="en-US" sz="1400" dirty="0">
                <a:solidFill>
                  <a:schemeClr val="bg1"/>
                </a:solidFill>
                <a:latin typeface="微软雅黑" panose="020B0503020204020204" charset="-122"/>
                <a:ea typeface="微软雅黑" panose="020B0503020204020204" charset="-122"/>
                <a:cs typeface="+mn-ea"/>
                <a:sym typeface="+mn-ea"/>
              </a:endParaRPr>
            </a:p>
          </p:txBody>
        </p:sp>
      </p:grpSp>
      <p:pic>
        <p:nvPicPr>
          <p:cNvPr id="7" name="Picture 6"/>
          <p:cNvPicPr>
            <a:picLocks noChangeAspect="1"/>
          </p:cNvPicPr>
          <p:nvPr/>
        </p:nvPicPr>
        <p:blipFill>
          <a:blip r:embed="rId3"/>
          <a:stretch>
            <a:fillRect/>
          </a:stretch>
        </p:blipFill>
        <p:spPr>
          <a:xfrm>
            <a:off x="5032375" y="1889125"/>
            <a:ext cx="7508875" cy="4201160"/>
          </a:xfrm>
          <a:prstGeom prst="rect">
            <a:avLst/>
          </a:prstGeom>
        </p:spPr>
      </p:pic>
      <p:sp>
        <p:nvSpPr>
          <p:cNvPr id="31" name="矩形 30"/>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矩形 31"/>
          <p:cNvSpPr/>
          <p:nvPr/>
        </p:nvSpPr>
        <p:spPr>
          <a:xfrm>
            <a:off x="-11017" y="-30458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34" name="直接连接符 33"/>
          <p:cNvCxnSpPr/>
          <p:nvPr/>
        </p:nvCxnSpPr>
        <p:spPr>
          <a:xfrm>
            <a:off x="116048" y="773370"/>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6456680" y="2073910"/>
            <a:ext cx="4681220" cy="29483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418455" y="312001"/>
            <a:ext cx="2787500" cy="398780"/>
          </a:xfrm>
          <a:prstGeom prst="rect">
            <a:avLst/>
          </a:prstGeom>
          <a:noFill/>
        </p:spPr>
        <p:txBody>
          <a:bodyPr wrap="square" rtlCol="0">
            <a:spAutoFit/>
          </a:bodyPr>
          <a:lstStyle/>
          <a:p>
            <a:r>
              <a:rPr lang="zh-CN" altLang="en-US" sz="2000" b="1" dirty="0">
                <a:cs typeface="+mn-ea"/>
                <a:sym typeface="+mn-lt"/>
              </a:rPr>
              <a:t>指标完成进度</a:t>
            </a:r>
          </a:p>
        </p:txBody>
      </p:sp>
      <p:graphicFrame>
        <p:nvGraphicFramePr>
          <p:cNvPr id="8" name="图表 7"/>
          <p:cNvGraphicFramePr/>
          <p:nvPr/>
        </p:nvGraphicFramePr>
        <p:xfrm>
          <a:off x="6456680" y="2367915"/>
          <a:ext cx="4681220" cy="2400935"/>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1033586" y="1199399"/>
          <a:ext cx="10124663" cy="4688210"/>
        </p:xfrm>
        <a:graphic>
          <a:graphicData uri="http://schemas.openxmlformats.org/drawingml/2006/table">
            <a:tbl>
              <a:tblPr>
                <a:tableStyleId>{21E4AEA4-8DFA-4A89-87EB-49C32662AFE0}</a:tableStyleId>
              </a:tblPr>
              <a:tblGrid>
                <a:gridCol w="3878360"/>
                <a:gridCol w="2035311"/>
                <a:gridCol w="2140587"/>
                <a:gridCol w="2070405"/>
              </a:tblGrid>
              <a:tr h="448310">
                <a:tc>
                  <a:txBody>
                    <a:bodyPr/>
                    <a:lstStyle/>
                    <a:p>
                      <a:pPr marL="107950" algn="ctr" fontAlgn="ctr"/>
                      <a:r>
                        <a:rPr lang="zh-CN" altLang="en-US" sz="2000" b="1" u="none" strike="noStrike" dirty="0">
                          <a:solidFill>
                            <a:schemeClr val="bg1"/>
                          </a:solidFill>
                          <a:latin typeface="微软雅黑" panose="020B0503020204020204" charset="-122"/>
                          <a:ea typeface="微软雅黑" panose="020B0503020204020204" charset="-122"/>
                        </a:rPr>
                        <a:t> 业务</a:t>
                      </a:r>
                      <a:endParaRPr lang="zh-CN" altLang="en-US" sz="2000" b="1" i="0" u="none" strike="noStrike" dirty="0">
                        <a:solidFill>
                          <a:schemeClr val="bg1"/>
                        </a:solidFill>
                        <a:latin typeface="微软雅黑" panose="020B0503020204020204" charset="-122"/>
                        <a:ea typeface="微软雅黑" panose="020B0503020204020204" charset="-122"/>
                      </a:endParaRPr>
                    </a:p>
                  </a:txBody>
                  <a:tcPr marL="9525" marR="9525" marT="9525" marB="0" anchor="ctr">
                    <a:solidFill>
                      <a:srgbClr val="FFC000"/>
                    </a:solidFill>
                  </a:tcPr>
                </a:tc>
                <a:tc>
                  <a:txBody>
                    <a:bodyPr/>
                    <a:lstStyle/>
                    <a:p>
                      <a:pPr algn="ctr" fontAlgn="b"/>
                      <a:r>
                        <a:rPr lang="zh-CN" altLang="en-US" sz="2000" b="1" u="none" strike="noStrike" dirty="0">
                          <a:solidFill>
                            <a:schemeClr val="bg1"/>
                          </a:solidFill>
                          <a:latin typeface="微软雅黑" panose="020B0503020204020204" charset="-122"/>
                          <a:ea typeface="微软雅黑" panose="020B0503020204020204" charset="-122"/>
                        </a:rPr>
                        <a:t>同比增量</a:t>
                      </a:r>
                      <a:endParaRPr lang="zh-CN" altLang="en-US" sz="2000" b="1" i="0" u="none" strike="noStrike" dirty="0">
                        <a:solidFill>
                          <a:schemeClr val="bg1"/>
                        </a:solidFill>
                        <a:latin typeface="微软雅黑" panose="020B0503020204020204" charset="-122"/>
                        <a:ea typeface="微软雅黑" panose="020B0503020204020204" charset="-122"/>
                      </a:endParaRPr>
                    </a:p>
                  </a:txBody>
                  <a:tcPr marL="9525" marR="9525" marT="9525" marB="0" anchor="ctr">
                    <a:solidFill>
                      <a:srgbClr val="FFC000"/>
                    </a:solidFill>
                  </a:tcPr>
                </a:tc>
                <a:tc>
                  <a:txBody>
                    <a:bodyPr/>
                    <a:lstStyle/>
                    <a:p>
                      <a:pPr algn="ctr" fontAlgn="b"/>
                      <a:r>
                        <a:rPr lang="zh-CN" altLang="en-US" sz="2000" b="1" u="none" strike="noStrike" dirty="0">
                          <a:solidFill>
                            <a:schemeClr val="bg1"/>
                          </a:solidFill>
                          <a:latin typeface="微软雅黑" panose="020B0503020204020204" charset="-122"/>
                          <a:ea typeface="微软雅黑" panose="020B0503020204020204" charset="-122"/>
                        </a:rPr>
                        <a:t>同比增幅</a:t>
                      </a:r>
                      <a:endParaRPr lang="zh-CN" altLang="en-US" sz="2000" b="1" i="0" u="none" strike="noStrike" dirty="0">
                        <a:solidFill>
                          <a:schemeClr val="bg1"/>
                        </a:solidFill>
                        <a:latin typeface="微软雅黑" panose="020B0503020204020204" charset="-122"/>
                        <a:ea typeface="微软雅黑" panose="020B0503020204020204" charset="-122"/>
                      </a:endParaRPr>
                    </a:p>
                  </a:txBody>
                  <a:tcPr marL="9525" marR="9525" marT="9525" marB="0" anchor="ctr">
                    <a:solidFill>
                      <a:srgbClr val="FFC000"/>
                    </a:solidFill>
                  </a:tcPr>
                </a:tc>
                <a:tc>
                  <a:txBody>
                    <a:bodyPr/>
                    <a:lstStyle/>
                    <a:p>
                      <a:pPr algn="ctr" fontAlgn="b"/>
                      <a:r>
                        <a:rPr lang="zh-CN" altLang="en-US" sz="2000" b="1" u="none" strike="noStrike" dirty="0">
                          <a:solidFill>
                            <a:schemeClr val="bg1"/>
                          </a:solidFill>
                          <a:latin typeface="微软雅黑" panose="020B0503020204020204" charset="-122"/>
                          <a:ea typeface="微软雅黑" panose="020B0503020204020204" charset="-122"/>
                        </a:rPr>
                        <a:t>拉动</a:t>
                      </a:r>
                      <a:endParaRPr lang="zh-CN" altLang="en-US" sz="2000" b="1" i="0" u="none" strike="noStrike" dirty="0">
                        <a:solidFill>
                          <a:schemeClr val="bg1"/>
                        </a:solidFill>
                        <a:latin typeface="微软雅黑" panose="020B0503020204020204" charset="-122"/>
                        <a:ea typeface="微软雅黑" panose="020B0503020204020204" charset="-122"/>
                      </a:endParaRPr>
                    </a:p>
                  </a:txBody>
                  <a:tcPr marL="9525" marR="9525" marT="9525" marB="0" anchor="ctr">
                    <a:solidFill>
                      <a:srgbClr val="FFC000"/>
                    </a:solidFill>
                  </a:tcPr>
                </a:tc>
              </a:tr>
              <a:tr h="353325">
                <a:tc>
                  <a:txBody>
                    <a:bodyPr/>
                    <a:lstStyle/>
                    <a:p>
                      <a:pPr marL="393700" indent="-285750" algn="ctr" rtl="0" fontAlgn="ctr">
                        <a:buFont typeface="Wingdings" panose="05000000000000000000" pitchFamily="2" charset="2"/>
                        <a:buChar char="l"/>
                      </a:pPr>
                      <a:r>
                        <a:rPr lang="zh-CN" altLang="en-US" sz="1400" b="1" u="none" strike="noStrike" dirty="0">
                          <a:solidFill>
                            <a:schemeClr val="bg1"/>
                          </a:solidFill>
                          <a:latin typeface="微软雅黑" panose="020B0503020204020204" charset="-122"/>
                          <a:ea typeface="微软雅黑" panose="020B0503020204020204" charset="-122"/>
                        </a:rPr>
                        <a:t> 号码型业务 </a:t>
                      </a:r>
                      <a:endParaRPr lang="zh-CN" altLang="en-US" sz="1400" b="1" i="0" u="none" strike="noStrike" dirty="0">
                        <a:solidFill>
                          <a:schemeClr val="bg1"/>
                        </a:solidFill>
                        <a:latin typeface="微软雅黑" panose="020B0503020204020204" charset="-122"/>
                        <a:ea typeface="微软雅黑" panose="020B0503020204020204" charset="-122"/>
                      </a:endParaRPr>
                    </a:p>
                  </a:txBody>
                  <a:tcPr marL="9525" marR="9525" marT="9525" marB="0" anchor="ctr">
                    <a:solidFill>
                      <a:schemeClr val="tx1">
                        <a:lumMod val="65000"/>
                        <a:lumOff val="35000"/>
                      </a:schemeClr>
                    </a:solidFill>
                  </a:tcPr>
                </a:tc>
                <a:tc>
                  <a:txBody>
                    <a:bodyPr/>
                    <a:lstStyle/>
                    <a:p>
                      <a:pPr algn="ctr" fontAlgn="b"/>
                      <a:r>
                        <a:rPr lang="zh-CN" altLang="en-US" sz="1400" u="none" strike="noStrike" dirty="0">
                          <a:solidFill>
                            <a:schemeClr val="bg1"/>
                          </a:solidFill>
                          <a:latin typeface="微软雅黑" panose="020B0503020204020204" charset="-122"/>
                          <a:ea typeface="微软雅黑" panose="020B0503020204020204" charset="-122"/>
                        </a:rPr>
                        <a:t> </a:t>
                      </a:r>
                      <a:r>
                        <a:rPr lang="en-US" altLang="zh-CN" sz="1400" u="none" strike="noStrike" dirty="0">
                          <a:solidFill>
                            <a:schemeClr val="bg1"/>
                          </a:solidFill>
                          <a:latin typeface="微软雅黑" panose="020B0503020204020204" charset="-122"/>
                          <a:ea typeface="微软雅黑" panose="020B0503020204020204" charset="-122"/>
                        </a:rPr>
                        <a:t>573.2 </a:t>
                      </a:r>
                      <a:endParaRPr lang="en-US" altLang="zh-CN" sz="1400" b="0" i="0" u="none" strike="noStrike" dirty="0">
                        <a:solidFill>
                          <a:schemeClr val="bg1"/>
                        </a:solidFill>
                        <a:latin typeface="微软雅黑" panose="020B0503020204020204" charset="-122"/>
                        <a:ea typeface="微软雅黑" panose="020B0503020204020204" charset="-122"/>
                      </a:endParaRPr>
                    </a:p>
                  </a:txBody>
                  <a:tcPr marL="9525" marR="9525" marT="9525" marB="0" anchor="ctr">
                    <a:solidFill>
                      <a:schemeClr val="tx1">
                        <a:lumMod val="65000"/>
                        <a:lumOff val="35000"/>
                      </a:schemeClr>
                    </a:solidFill>
                  </a:tcPr>
                </a:tc>
                <a:tc>
                  <a:txBody>
                    <a:bodyPr/>
                    <a:lstStyle/>
                    <a:p>
                      <a:pPr algn="ctr" fontAlgn="b"/>
                      <a:r>
                        <a:rPr lang="en-US" altLang="zh-CN" sz="1400" u="none" strike="noStrike" dirty="0">
                          <a:solidFill>
                            <a:schemeClr val="bg1"/>
                          </a:solidFill>
                          <a:latin typeface="微软雅黑" panose="020B0503020204020204" charset="-122"/>
                          <a:ea typeface="微软雅黑" panose="020B0503020204020204" charset="-122"/>
                        </a:rPr>
                        <a:t>2.4%</a:t>
                      </a:r>
                      <a:endParaRPr lang="en-US" altLang="zh-CN" sz="1400" b="0" i="0" u="none" strike="noStrike" dirty="0">
                        <a:solidFill>
                          <a:schemeClr val="bg1"/>
                        </a:solidFill>
                        <a:latin typeface="微软雅黑" panose="020B0503020204020204" charset="-122"/>
                        <a:ea typeface="微软雅黑" panose="020B0503020204020204" charset="-122"/>
                      </a:endParaRPr>
                    </a:p>
                  </a:txBody>
                  <a:tcPr marL="9525" marR="9525" marT="9525" marB="0" anchor="ctr">
                    <a:solidFill>
                      <a:schemeClr val="tx1">
                        <a:lumMod val="65000"/>
                        <a:lumOff val="35000"/>
                      </a:schemeClr>
                    </a:solidFill>
                  </a:tcPr>
                </a:tc>
                <a:tc>
                  <a:txBody>
                    <a:bodyPr/>
                    <a:lstStyle/>
                    <a:p>
                      <a:pPr algn="ctr" fontAlgn="b"/>
                      <a:r>
                        <a:rPr lang="en-US" altLang="zh-CN" sz="1400" u="none" strike="noStrike" dirty="0">
                          <a:solidFill>
                            <a:schemeClr val="bg1"/>
                          </a:solidFill>
                          <a:latin typeface="微软雅黑" panose="020B0503020204020204" charset="-122"/>
                          <a:ea typeface="微软雅黑" panose="020B0503020204020204" charset="-122"/>
                        </a:rPr>
                        <a:t>2.13%</a:t>
                      </a:r>
                      <a:endParaRPr lang="en-US" altLang="zh-CN" sz="1400" b="0" i="0" u="none" strike="noStrike" dirty="0">
                        <a:solidFill>
                          <a:schemeClr val="bg1"/>
                        </a:solidFill>
                        <a:latin typeface="微软雅黑" panose="020B0503020204020204" charset="-122"/>
                        <a:ea typeface="微软雅黑" panose="020B0503020204020204" charset="-122"/>
                      </a:endParaRPr>
                    </a:p>
                  </a:txBody>
                  <a:tcPr marL="9525" marR="9525" marT="9525" marB="0" anchor="ctr">
                    <a:solidFill>
                      <a:schemeClr val="tx1">
                        <a:lumMod val="65000"/>
                        <a:lumOff val="35000"/>
                      </a:schemeClr>
                    </a:solidFill>
                  </a:tcPr>
                </a:tc>
              </a:tr>
              <a:tr h="353325">
                <a:tc>
                  <a:txBody>
                    <a:bodyPr/>
                    <a:lstStyle/>
                    <a:p>
                      <a:pPr marL="107950" algn="ctr" rtl="0" fontAlgn="ctr"/>
                      <a:r>
                        <a:rPr lang="zh-CN" altLang="en-US" sz="1400" u="none" strike="noStrike" dirty="0">
                          <a:latin typeface="微软雅黑" panose="020B0503020204020204" charset="-122"/>
                          <a:ea typeface="微软雅黑" panose="020B0503020204020204" charset="-122"/>
                        </a:rPr>
                        <a:t>   固定电话 </a:t>
                      </a:r>
                      <a:endParaRPr lang="zh-CN" altLang="en-US" sz="1400" b="1"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-189.1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-6.6%</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a:latin typeface="微软雅黑" panose="020B0503020204020204" charset="-122"/>
                          <a:ea typeface="微软雅黑" panose="020B0503020204020204" charset="-122"/>
                        </a:rPr>
                        <a:t>-0.7%</a:t>
                      </a:r>
                      <a:endParaRPr lang="en-US" altLang="zh-CN" sz="1400" b="0" i="0" u="none" strike="noStrike">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r>
              <a:tr h="353325">
                <a:tc>
                  <a:txBody>
                    <a:bodyPr/>
                    <a:lstStyle/>
                    <a:p>
                      <a:pPr marL="107950" algn="ctr" rtl="0" fontAlgn="b"/>
                      <a:r>
                        <a:rPr lang="zh-CN" altLang="en-US" sz="1400" u="none" strike="noStrike" dirty="0">
                          <a:latin typeface="微软雅黑" panose="020B0503020204020204" charset="-122"/>
                          <a:ea typeface="微软雅黑" panose="020B0503020204020204" charset="-122"/>
                        </a:rPr>
                        <a:t>   移动电话 </a:t>
                      </a:r>
                      <a:endParaRPr lang="zh-CN" altLang="en-US" sz="1400" b="1"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-147.3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a:latin typeface="微软雅黑" panose="020B0503020204020204" charset="-122"/>
                          <a:ea typeface="微软雅黑" panose="020B0503020204020204" charset="-122"/>
                        </a:rPr>
                        <a:t>-1.2%</a:t>
                      </a:r>
                      <a:endParaRPr lang="en-US" altLang="zh-CN" sz="1400" b="0" i="0" u="none" strike="noStrike">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-0.5%</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r>
              <a:tr h="353325">
                <a:tc>
                  <a:txBody>
                    <a:bodyPr/>
                    <a:lstStyle/>
                    <a:p>
                      <a:pPr marL="107950" algn="ctr" rtl="0" fontAlgn="b"/>
                      <a:r>
                        <a:rPr lang="zh-CN" altLang="en-US" sz="1400" u="none" strike="noStrike" kern="1200" dirty="0">
                          <a:latin typeface="微软雅黑" panose="020B0503020204020204" charset="-122"/>
                          <a:ea typeface="微软雅黑" panose="020B0503020204020204" charset="-122"/>
                        </a:rPr>
                        <a:t>   其中，流量收入</a:t>
                      </a:r>
                      <a:endParaRPr lang="zh-CN" altLang="en-US" sz="1400" b="1" u="none" strike="noStrike" kern="1200" dirty="0">
                        <a:solidFill>
                          <a:schemeClr val="tx1"/>
                        </a:solidFill>
                        <a:latin typeface="微软雅黑" panose="020B0503020204020204" charset="-122"/>
                        <a:ea typeface="微软雅黑" panose="020B0503020204020204" charset="-122"/>
                        <a:cs typeface="+mn-cs"/>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275.3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9.8%</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1.0%</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r>
              <a:tr h="353325">
                <a:tc>
                  <a:txBody>
                    <a:bodyPr/>
                    <a:lstStyle/>
                    <a:p>
                      <a:pPr marL="107950" algn="ctr" rtl="0" fontAlgn="ctr"/>
                      <a:r>
                        <a:rPr lang="zh-CN" altLang="en-US" sz="1400" u="none" strike="noStrike" dirty="0">
                          <a:latin typeface="微软雅黑" panose="020B0503020204020204" charset="-122"/>
                          <a:ea typeface="微软雅黑" panose="020B0503020204020204" charset="-122"/>
                        </a:rPr>
                        <a:t>   固网宽带 </a:t>
                      </a:r>
                      <a:endParaRPr lang="zh-CN" altLang="en-US" sz="1400" b="1"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996.8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12.2%</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3.7%</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r>
              <a:tr h="353325">
                <a:tc>
                  <a:txBody>
                    <a:bodyPr/>
                    <a:lstStyle/>
                    <a:p>
                      <a:pPr marL="107950" algn="ctr" rtl="0" fontAlgn="ctr"/>
                      <a:r>
                        <a:rPr lang="en-US" sz="1400" u="none" strike="noStrike" dirty="0">
                          <a:latin typeface="微软雅黑" panose="020B0503020204020204" charset="-122"/>
                          <a:ea typeface="微软雅黑" panose="020B0503020204020204" charset="-122"/>
                        </a:rPr>
                        <a:t>   ITV </a:t>
                      </a:r>
                      <a:endParaRPr lang="en-US" sz="1400" b="1"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-87.3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-9.7%</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-0.3%</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r>
              <a:tr h="353325">
                <a:tc>
                  <a:txBody>
                    <a:bodyPr/>
                    <a:lstStyle/>
                    <a:p>
                      <a:pPr marL="393700" indent="-285750" algn="ctr" rtl="0" fontAlgn="ctr">
                        <a:buFont typeface="Wingdings" panose="05000000000000000000" pitchFamily="2" charset="2"/>
                        <a:buChar char="l"/>
                      </a:pPr>
                      <a:r>
                        <a:rPr lang="zh-CN" altLang="en-US" sz="1400" u="none" strike="noStrike" dirty="0">
                          <a:solidFill>
                            <a:schemeClr val="bg1"/>
                          </a:solidFill>
                          <a:latin typeface="微软雅黑" panose="020B0503020204020204" charset="-122"/>
                          <a:ea typeface="微软雅黑" panose="020B0503020204020204" charset="-122"/>
                        </a:rPr>
                        <a:t> 非号码型业务 </a:t>
                      </a:r>
                      <a:endParaRPr lang="zh-CN" altLang="en-US" sz="1400" b="1" i="0" u="none" strike="noStrike" dirty="0">
                        <a:solidFill>
                          <a:schemeClr val="bg1"/>
                        </a:solidFill>
                        <a:latin typeface="微软雅黑" panose="020B0503020204020204" charset="-122"/>
                        <a:ea typeface="微软雅黑" panose="020B0503020204020204" charset="-122"/>
                      </a:endParaRPr>
                    </a:p>
                  </a:txBody>
                  <a:tcPr marL="9525" marR="9525" marT="9525" marB="0" anchor="ctr">
                    <a:solidFill>
                      <a:schemeClr val="tx1">
                        <a:lumMod val="65000"/>
                        <a:lumOff val="35000"/>
                      </a:schemeClr>
                    </a:solidFill>
                  </a:tcPr>
                </a:tc>
                <a:tc>
                  <a:txBody>
                    <a:bodyPr/>
                    <a:lstStyle/>
                    <a:p>
                      <a:pPr algn="ctr" fontAlgn="b"/>
                      <a:r>
                        <a:rPr lang="en-US" altLang="zh-CN" sz="1400" u="none" strike="noStrike" dirty="0">
                          <a:solidFill>
                            <a:schemeClr val="bg1"/>
                          </a:solidFill>
                          <a:latin typeface="微软雅黑" panose="020B0503020204020204" charset="-122"/>
                          <a:ea typeface="微软雅黑" panose="020B0503020204020204" charset="-122"/>
                        </a:rPr>
                        <a:t>78.7 </a:t>
                      </a:r>
                      <a:endParaRPr lang="en-US" altLang="zh-CN" sz="1400" b="0" i="0" u="none" strike="noStrike" dirty="0">
                        <a:solidFill>
                          <a:schemeClr val="bg1"/>
                        </a:solidFill>
                        <a:latin typeface="微软雅黑" panose="020B0503020204020204" charset="-122"/>
                        <a:ea typeface="微软雅黑" panose="020B0503020204020204" charset="-122"/>
                      </a:endParaRPr>
                    </a:p>
                  </a:txBody>
                  <a:tcPr marL="9525" marR="9525" marT="9525" marB="0" anchor="ctr">
                    <a:solidFill>
                      <a:schemeClr val="tx1">
                        <a:lumMod val="65000"/>
                        <a:lumOff val="35000"/>
                      </a:schemeClr>
                    </a:solidFill>
                  </a:tcPr>
                </a:tc>
                <a:tc>
                  <a:txBody>
                    <a:bodyPr/>
                    <a:lstStyle/>
                    <a:p>
                      <a:pPr algn="ctr" fontAlgn="b"/>
                      <a:r>
                        <a:rPr lang="en-US" altLang="zh-CN" sz="1400" u="none" strike="noStrike" dirty="0">
                          <a:solidFill>
                            <a:schemeClr val="bg1"/>
                          </a:solidFill>
                          <a:latin typeface="微软雅黑" panose="020B0503020204020204" charset="-122"/>
                          <a:ea typeface="微软雅黑" panose="020B0503020204020204" charset="-122"/>
                        </a:rPr>
                        <a:t>2.5%</a:t>
                      </a:r>
                      <a:endParaRPr lang="en-US" altLang="zh-CN" sz="1400" b="0" i="0" u="none" strike="noStrike" dirty="0">
                        <a:solidFill>
                          <a:schemeClr val="bg1"/>
                        </a:solidFill>
                        <a:latin typeface="微软雅黑" panose="020B0503020204020204" charset="-122"/>
                        <a:ea typeface="微软雅黑" panose="020B0503020204020204" charset="-122"/>
                      </a:endParaRPr>
                    </a:p>
                  </a:txBody>
                  <a:tcPr marL="9525" marR="9525" marT="9525" marB="0" anchor="ctr">
                    <a:solidFill>
                      <a:schemeClr val="tx1">
                        <a:lumMod val="65000"/>
                        <a:lumOff val="35000"/>
                      </a:schemeClr>
                    </a:solidFill>
                  </a:tcPr>
                </a:tc>
                <a:tc>
                  <a:txBody>
                    <a:bodyPr/>
                    <a:lstStyle/>
                    <a:p>
                      <a:pPr algn="ctr" fontAlgn="b"/>
                      <a:r>
                        <a:rPr lang="en-US" altLang="zh-CN" sz="1400" u="none" strike="noStrike" dirty="0">
                          <a:solidFill>
                            <a:schemeClr val="bg1"/>
                          </a:solidFill>
                          <a:latin typeface="微软雅黑" panose="020B0503020204020204" charset="-122"/>
                          <a:ea typeface="微软雅黑" panose="020B0503020204020204" charset="-122"/>
                        </a:rPr>
                        <a:t>0.3%</a:t>
                      </a:r>
                      <a:endParaRPr lang="en-US" altLang="zh-CN" sz="1400" b="0" i="0" u="none" strike="noStrike" dirty="0">
                        <a:solidFill>
                          <a:schemeClr val="bg1"/>
                        </a:solidFill>
                        <a:latin typeface="微软雅黑" panose="020B0503020204020204" charset="-122"/>
                        <a:ea typeface="微软雅黑" panose="020B0503020204020204" charset="-122"/>
                      </a:endParaRPr>
                    </a:p>
                  </a:txBody>
                  <a:tcPr marL="9525" marR="9525" marT="9525" marB="0" anchor="ctr">
                    <a:solidFill>
                      <a:schemeClr val="tx1">
                        <a:lumMod val="65000"/>
                        <a:lumOff val="35000"/>
                      </a:schemeClr>
                    </a:solidFill>
                  </a:tcPr>
                </a:tc>
              </a:tr>
              <a:tr h="353325">
                <a:tc>
                  <a:txBody>
                    <a:bodyPr/>
                    <a:lstStyle/>
                    <a:p>
                      <a:pPr marL="107950" algn="ctr" rtl="0" fontAlgn="ctr"/>
                      <a:r>
                        <a:rPr lang="zh-CN" altLang="en-US" sz="1400" u="none" strike="noStrike" dirty="0">
                          <a:latin typeface="微软雅黑" panose="020B0503020204020204" charset="-122"/>
                          <a:ea typeface="微软雅黑" panose="020B0503020204020204" charset="-122"/>
                        </a:rPr>
                        <a:t>  资源出租 </a:t>
                      </a:r>
                      <a:endParaRPr lang="zh-CN" altLang="en-US" sz="1400" b="1"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-40.5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-6.5%</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-0.2%</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r>
              <a:tr h="353325">
                <a:tc>
                  <a:txBody>
                    <a:bodyPr/>
                    <a:lstStyle/>
                    <a:p>
                      <a:pPr marL="107950" algn="ctr" rtl="0" fontAlgn="ctr"/>
                      <a:r>
                        <a:rPr lang="zh-CN" altLang="en-US" sz="1400" u="none" strike="noStrike" dirty="0">
                          <a:latin typeface="微软雅黑" panose="020B0503020204020204" charset="-122"/>
                          <a:ea typeface="微软雅黑" panose="020B0503020204020204" charset="-122"/>
                        </a:rPr>
                        <a:t>  号百 </a:t>
                      </a:r>
                      <a:endParaRPr lang="zh-CN" altLang="en-US" sz="1400" b="1"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88.4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17.3%</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0.3%</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r>
              <a:tr h="353325">
                <a:tc>
                  <a:txBody>
                    <a:bodyPr/>
                    <a:lstStyle/>
                    <a:p>
                      <a:pPr marL="107950" algn="ctr" rtl="0" fontAlgn="ctr"/>
                      <a:r>
                        <a:rPr lang="en-US" sz="1400" u="none" strike="noStrike" dirty="0">
                          <a:latin typeface="微软雅黑" panose="020B0503020204020204" charset="-122"/>
                          <a:ea typeface="微软雅黑" panose="020B0503020204020204" charset="-122"/>
                        </a:rPr>
                        <a:t>  IDC+</a:t>
                      </a:r>
                      <a:r>
                        <a:rPr lang="zh-CN" altLang="en-US" sz="1400" u="none" strike="noStrike" dirty="0">
                          <a:latin typeface="微软雅黑" panose="020B0503020204020204" charset="-122"/>
                          <a:ea typeface="微软雅黑" panose="020B0503020204020204" charset="-122"/>
                        </a:rPr>
                        <a:t>云业务 </a:t>
                      </a:r>
                      <a:endParaRPr lang="zh-CN" altLang="en-US" sz="1400" b="1"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59.7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6.7%</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0.2%</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r>
              <a:tr h="353325">
                <a:tc>
                  <a:txBody>
                    <a:bodyPr/>
                    <a:lstStyle/>
                    <a:p>
                      <a:pPr marL="107950" algn="ctr" rtl="0" fontAlgn="ctr"/>
                      <a:r>
                        <a:rPr lang="en-US" sz="1400" u="none" strike="noStrike" dirty="0">
                          <a:latin typeface="微软雅黑" panose="020B0503020204020204" charset="-122"/>
                          <a:ea typeface="微软雅黑" panose="020B0503020204020204" charset="-122"/>
                        </a:rPr>
                        <a:t>  ICT </a:t>
                      </a:r>
                      <a:endParaRPr lang="en-US" sz="1400" b="1"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20.3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2.2%</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0.1%</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r>
              <a:tr h="353325">
                <a:tc>
                  <a:txBody>
                    <a:bodyPr/>
                    <a:lstStyle/>
                    <a:p>
                      <a:pPr marL="107950" algn="ctr" rtl="0" fontAlgn="ctr"/>
                      <a:r>
                        <a:rPr lang="zh-CN" altLang="en-US" sz="1400" u="none" strike="noStrike" dirty="0">
                          <a:latin typeface="微软雅黑" panose="020B0503020204020204" charset="-122"/>
                          <a:ea typeface="微软雅黑" panose="020B0503020204020204" charset="-122"/>
                        </a:rPr>
                        <a:t>  其他收入 </a:t>
                      </a:r>
                      <a:endParaRPr lang="zh-CN" altLang="en-US" sz="1400" b="1"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-49.2 </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-28.9%</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微软雅黑" panose="020B0503020204020204" charset="-122"/>
                          <a:ea typeface="微软雅黑" panose="020B0503020204020204" charset="-122"/>
                        </a:rPr>
                        <a:t>-0.2%</a:t>
                      </a:r>
                      <a:endParaRPr lang="en-US" altLang="zh-CN" sz="1400" b="0" i="0" u="none" strike="noStrike" dirty="0">
                        <a:solidFill>
                          <a:srgbClr val="000000"/>
                        </a:solidFill>
                        <a:latin typeface="微软雅黑" panose="020B0503020204020204" charset="-122"/>
                        <a:ea typeface="微软雅黑" panose="020B0503020204020204" charset="-122"/>
                      </a:endParaRPr>
                    </a:p>
                  </a:txBody>
                  <a:tcPr marL="9525" marR="9525" marT="9525" marB="0" anchor="ctr">
                    <a:solidFill>
                      <a:schemeClr val="bg1">
                        <a:lumMod val="85000"/>
                      </a:schemeClr>
                    </a:solidFill>
                  </a:tcPr>
                </a:tc>
              </a:tr>
            </a:tbl>
          </a:graphicData>
        </a:graphic>
      </p:graphicFrame>
      <p:sp>
        <p:nvSpPr>
          <p:cNvPr id="31" name="矩形 30"/>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矩形 31"/>
          <p:cNvSpPr/>
          <p:nvPr/>
        </p:nvSpPr>
        <p:spPr>
          <a:xfrm>
            <a:off x="-11017" y="-30458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34" name="直接连接符 33"/>
          <p:cNvCxnSpPr/>
          <p:nvPr/>
        </p:nvCxnSpPr>
        <p:spPr>
          <a:xfrm>
            <a:off x="116048" y="773370"/>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418455" y="312001"/>
            <a:ext cx="2787500" cy="398780"/>
          </a:xfrm>
          <a:prstGeom prst="rect">
            <a:avLst/>
          </a:prstGeom>
          <a:noFill/>
        </p:spPr>
        <p:txBody>
          <a:bodyPr wrap="square" rtlCol="0">
            <a:spAutoFit/>
          </a:bodyPr>
          <a:lstStyle/>
          <a:p>
            <a:r>
              <a:rPr lang="zh-CN" altLang="en-US" sz="2000" b="1" dirty="0">
                <a:cs typeface="+mn-ea"/>
                <a:sym typeface="+mn-lt"/>
              </a:rPr>
              <a:t>指标完成进度</a:t>
            </a:r>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组合 2"/>
          <p:cNvGrpSpPr/>
          <p:nvPr/>
        </p:nvGrpSpPr>
        <p:grpSpPr>
          <a:xfrm>
            <a:off x="721825" y="2010633"/>
            <a:ext cx="2753984" cy="1265105"/>
            <a:chOff x="600900" y="1841350"/>
            <a:chExt cx="2065488" cy="948829"/>
          </a:xfrm>
        </p:grpSpPr>
        <p:sp>
          <p:nvSpPr>
            <p:cNvPr id="39" name="Freeform 6"/>
            <p:cNvSpPr/>
            <p:nvPr/>
          </p:nvSpPr>
          <p:spPr bwMode="auto">
            <a:xfrm>
              <a:off x="600900" y="1841350"/>
              <a:ext cx="2065488" cy="948829"/>
            </a:xfrm>
            <a:custGeom>
              <a:avLst/>
              <a:gdLst>
                <a:gd name="T0" fmla="*/ 16 w 1028"/>
                <a:gd name="T1" fmla="*/ 0 h 522"/>
                <a:gd name="T2" fmla="*/ 941 w 1028"/>
                <a:gd name="T3" fmla="*/ 0 h 522"/>
                <a:gd name="T4" fmla="*/ 958 w 1028"/>
                <a:gd name="T5" fmla="*/ 16 h 522"/>
                <a:gd name="T6" fmla="*/ 958 w 1028"/>
                <a:gd name="T7" fmla="*/ 225 h 522"/>
                <a:gd name="T8" fmla="*/ 1028 w 1028"/>
                <a:gd name="T9" fmla="*/ 262 h 522"/>
                <a:gd name="T10" fmla="*/ 958 w 1028"/>
                <a:gd name="T11" fmla="*/ 302 h 522"/>
                <a:gd name="T12" fmla="*/ 958 w 1028"/>
                <a:gd name="T13" fmla="*/ 506 h 522"/>
                <a:gd name="T14" fmla="*/ 941 w 1028"/>
                <a:gd name="T15" fmla="*/ 522 h 522"/>
                <a:gd name="T16" fmla="*/ 16 w 1028"/>
                <a:gd name="T17" fmla="*/ 522 h 522"/>
                <a:gd name="T18" fmla="*/ 0 w 1028"/>
                <a:gd name="T19" fmla="*/ 506 h 522"/>
                <a:gd name="T20" fmla="*/ 0 w 1028"/>
                <a:gd name="T21" fmla="*/ 16 h 522"/>
                <a:gd name="T22" fmla="*/ 16 w 1028"/>
                <a:gd name="T23"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8" h="522">
                  <a:moveTo>
                    <a:pt x="16" y="0"/>
                  </a:moveTo>
                  <a:cubicBezTo>
                    <a:pt x="941" y="0"/>
                    <a:pt x="941" y="0"/>
                    <a:pt x="941" y="0"/>
                  </a:cubicBezTo>
                  <a:cubicBezTo>
                    <a:pt x="950" y="0"/>
                    <a:pt x="958" y="7"/>
                    <a:pt x="958" y="16"/>
                  </a:cubicBezTo>
                  <a:cubicBezTo>
                    <a:pt x="958" y="225"/>
                    <a:pt x="958" y="225"/>
                    <a:pt x="958" y="225"/>
                  </a:cubicBezTo>
                  <a:cubicBezTo>
                    <a:pt x="1028" y="262"/>
                    <a:pt x="1028" y="262"/>
                    <a:pt x="1028" y="262"/>
                  </a:cubicBezTo>
                  <a:cubicBezTo>
                    <a:pt x="958" y="302"/>
                    <a:pt x="958" y="302"/>
                    <a:pt x="958" y="302"/>
                  </a:cubicBezTo>
                  <a:cubicBezTo>
                    <a:pt x="958" y="506"/>
                    <a:pt x="958" y="506"/>
                    <a:pt x="958" y="506"/>
                  </a:cubicBezTo>
                  <a:cubicBezTo>
                    <a:pt x="958" y="514"/>
                    <a:pt x="950" y="522"/>
                    <a:pt x="941" y="522"/>
                  </a:cubicBezTo>
                  <a:cubicBezTo>
                    <a:pt x="16" y="522"/>
                    <a:pt x="16" y="522"/>
                    <a:pt x="16" y="522"/>
                  </a:cubicBezTo>
                  <a:cubicBezTo>
                    <a:pt x="7" y="522"/>
                    <a:pt x="0" y="514"/>
                    <a:pt x="0" y="506"/>
                  </a:cubicBezTo>
                  <a:cubicBezTo>
                    <a:pt x="0" y="16"/>
                    <a:pt x="0" y="16"/>
                    <a:pt x="0" y="16"/>
                  </a:cubicBezTo>
                  <a:cubicBezTo>
                    <a:pt x="0" y="7"/>
                    <a:pt x="7" y="0"/>
                    <a:pt x="16" y="0"/>
                  </a:cubicBezTo>
                  <a:close/>
                </a:path>
              </a:pathLst>
            </a:custGeom>
            <a:solidFill>
              <a:srgbClr val="FFC000"/>
            </a:solidFill>
            <a:ln>
              <a:noFill/>
            </a:ln>
          </p:spPr>
          <p:txBody>
            <a:bodyPr vert="horz" wrap="square" lIns="121920" tIns="60960" rIns="121920" bIns="60960" numCol="1" anchor="t" anchorCtr="0" compatLnSpc="1"/>
            <a:lstStyle/>
            <a:p>
              <a:endParaRPr lang="en-US" sz="1400">
                <a:solidFill>
                  <a:srgbClr val="262626"/>
                </a:solidFill>
                <a:latin typeface="微软雅黑" panose="020B0503020204020204" charset="-122"/>
                <a:ea typeface="微软雅黑" panose="020B0503020204020204" charset="-122"/>
              </a:endParaRPr>
            </a:p>
          </p:txBody>
        </p:sp>
        <p:sp>
          <p:nvSpPr>
            <p:cNvPr id="40" name="Text Box 10"/>
            <p:cNvSpPr txBox="1">
              <a:spLocks noChangeArrowheads="1"/>
            </p:cNvSpPr>
            <p:nvPr/>
          </p:nvSpPr>
          <p:spPr bwMode="auto">
            <a:xfrm>
              <a:off x="676426" y="1940221"/>
              <a:ext cx="1766510" cy="530066"/>
            </a:xfrm>
            <a:prstGeom prst="rect">
              <a:avLst/>
            </a:prstGeom>
            <a:noFill/>
            <a:ln w="9525">
              <a:noFill/>
              <a:miter lim="800000"/>
            </a:ln>
          </p:spPr>
          <p:txBody>
            <a:bodyPr wrap="square" lIns="60960" tIns="30480" rIns="60960" bIns="30480">
              <a:spAutoFit/>
            </a:bodyPr>
            <a:lstStyle/>
            <a:p>
              <a:pPr>
                <a:lnSpc>
                  <a:spcPct val="150000"/>
                </a:lnSpc>
              </a:pPr>
              <a:r>
                <a:rPr lang="zh-CN" altLang="en-US" sz="1400" dirty="0">
                  <a:solidFill>
                    <a:srgbClr val="262626"/>
                  </a:solidFill>
                  <a:latin typeface="微软雅黑" panose="020B0503020204020204" charset="-122"/>
                  <a:ea typeface="微软雅黑" panose="020B0503020204020204" charset="-122"/>
                  <a:sym typeface="+mn-ea"/>
                </a:rPr>
                <a:t>号码型和非号码型收入总体占比与上年同期持平</a:t>
              </a:r>
            </a:p>
          </p:txBody>
        </p:sp>
      </p:grpSp>
      <p:grpSp>
        <p:nvGrpSpPr>
          <p:cNvPr id="5" name="组合 4"/>
          <p:cNvGrpSpPr/>
          <p:nvPr/>
        </p:nvGrpSpPr>
        <p:grpSpPr>
          <a:xfrm>
            <a:off x="721995" y="3749675"/>
            <a:ext cx="2753995" cy="1496974"/>
            <a:chOff x="600900" y="3336237"/>
            <a:chExt cx="2065488" cy="948829"/>
          </a:xfrm>
        </p:grpSpPr>
        <p:sp>
          <p:nvSpPr>
            <p:cNvPr id="41" name="Freeform 6"/>
            <p:cNvSpPr/>
            <p:nvPr/>
          </p:nvSpPr>
          <p:spPr bwMode="auto">
            <a:xfrm>
              <a:off x="600900" y="3336237"/>
              <a:ext cx="2065488" cy="948829"/>
            </a:xfrm>
            <a:custGeom>
              <a:avLst/>
              <a:gdLst>
                <a:gd name="T0" fmla="*/ 16 w 1028"/>
                <a:gd name="T1" fmla="*/ 0 h 522"/>
                <a:gd name="T2" fmla="*/ 941 w 1028"/>
                <a:gd name="T3" fmla="*/ 0 h 522"/>
                <a:gd name="T4" fmla="*/ 958 w 1028"/>
                <a:gd name="T5" fmla="*/ 16 h 522"/>
                <a:gd name="T6" fmla="*/ 958 w 1028"/>
                <a:gd name="T7" fmla="*/ 225 h 522"/>
                <a:gd name="T8" fmla="*/ 1028 w 1028"/>
                <a:gd name="T9" fmla="*/ 262 h 522"/>
                <a:gd name="T10" fmla="*/ 958 w 1028"/>
                <a:gd name="T11" fmla="*/ 302 h 522"/>
                <a:gd name="T12" fmla="*/ 958 w 1028"/>
                <a:gd name="T13" fmla="*/ 506 h 522"/>
                <a:gd name="T14" fmla="*/ 941 w 1028"/>
                <a:gd name="T15" fmla="*/ 522 h 522"/>
                <a:gd name="T16" fmla="*/ 16 w 1028"/>
                <a:gd name="T17" fmla="*/ 522 h 522"/>
                <a:gd name="T18" fmla="*/ 0 w 1028"/>
                <a:gd name="T19" fmla="*/ 506 h 522"/>
                <a:gd name="T20" fmla="*/ 0 w 1028"/>
                <a:gd name="T21" fmla="*/ 16 h 522"/>
                <a:gd name="T22" fmla="*/ 16 w 1028"/>
                <a:gd name="T23"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8" h="522">
                  <a:moveTo>
                    <a:pt x="16" y="0"/>
                  </a:moveTo>
                  <a:cubicBezTo>
                    <a:pt x="941" y="0"/>
                    <a:pt x="941" y="0"/>
                    <a:pt x="941" y="0"/>
                  </a:cubicBezTo>
                  <a:cubicBezTo>
                    <a:pt x="950" y="0"/>
                    <a:pt x="958" y="7"/>
                    <a:pt x="958" y="16"/>
                  </a:cubicBezTo>
                  <a:cubicBezTo>
                    <a:pt x="958" y="225"/>
                    <a:pt x="958" y="225"/>
                    <a:pt x="958" y="225"/>
                  </a:cubicBezTo>
                  <a:cubicBezTo>
                    <a:pt x="1028" y="262"/>
                    <a:pt x="1028" y="262"/>
                    <a:pt x="1028" y="262"/>
                  </a:cubicBezTo>
                  <a:cubicBezTo>
                    <a:pt x="958" y="302"/>
                    <a:pt x="958" y="302"/>
                    <a:pt x="958" y="302"/>
                  </a:cubicBezTo>
                  <a:cubicBezTo>
                    <a:pt x="958" y="506"/>
                    <a:pt x="958" y="506"/>
                    <a:pt x="958" y="506"/>
                  </a:cubicBezTo>
                  <a:cubicBezTo>
                    <a:pt x="958" y="514"/>
                    <a:pt x="950" y="522"/>
                    <a:pt x="941" y="522"/>
                  </a:cubicBezTo>
                  <a:cubicBezTo>
                    <a:pt x="16" y="522"/>
                    <a:pt x="16" y="522"/>
                    <a:pt x="16" y="522"/>
                  </a:cubicBezTo>
                  <a:cubicBezTo>
                    <a:pt x="7" y="522"/>
                    <a:pt x="0" y="514"/>
                    <a:pt x="0" y="506"/>
                  </a:cubicBezTo>
                  <a:cubicBezTo>
                    <a:pt x="0" y="16"/>
                    <a:pt x="0" y="16"/>
                    <a:pt x="0" y="16"/>
                  </a:cubicBezTo>
                  <a:cubicBezTo>
                    <a:pt x="0" y="7"/>
                    <a:pt x="7" y="0"/>
                    <a:pt x="16" y="0"/>
                  </a:cubicBezTo>
                  <a:close/>
                </a:path>
              </a:pathLst>
            </a:custGeom>
            <a:solidFill>
              <a:srgbClr val="FFC000"/>
            </a:solidFill>
            <a:ln>
              <a:noFill/>
            </a:ln>
          </p:spPr>
          <p:txBody>
            <a:bodyPr vert="horz" wrap="square" lIns="121920" tIns="60960" rIns="121920" bIns="60960" numCol="1" anchor="t" anchorCtr="0" compatLnSpc="1"/>
            <a:lstStyle/>
            <a:p>
              <a:endParaRPr lang="en-US" sz="1400">
                <a:solidFill>
                  <a:srgbClr val="262626"/>
                </a:solidFill>
                <a:latin typeface="微软雅黑" panose="020B0503020204020204" charset="-122"/>
                <a:ea typeface="微软雅黑" panose="020B0503020204020204" charset="-122"/>
              </a:endParaRPr>
            </a:p>
          </p:txBody>
        </p:sp>
        <p:sp>
          <p:nvSpPr>
            <p:cNvPr id="42" name="Text Box 10"/>
            <p:cNvSpPr txBox="1">
              <a:spLocks noChangeArrowheads="1"/>
            </p:cNvSpPr>
            <p:nvPr/>
          </p:nvSpPr>
          <p:spPr bwMode="auto">
            <a:xfrm>
              <a:off x="676426" y="3361766"/>
              <a:ext cx="1766510" cy="857691"/>
            </a:xfrm>
            <a:prstGeom prst="rect">
              <a:avLst/>
            </a:prstGeom>
            <a:noFill/>
            <a:ln w="9525">
              <a:noFill/>
              <a:miter lim="800000"/>
            </a:ln>
          </p:spPr>
          <p:txBody>
            <a:bodyPr wrap="square" lIns="60960" tIns="30480" rIns="60960" bIns="30480">
              <a:spAutoFit/>
            </a:bodyPr>
            <a:lstStyle/>
            <a:p>
              <a:pPr>
                <a:lnSpc>
                  <a:spcPct val="150000"/>
                </a:lnSpc>
              </a:pPr>
              <a:r>
                <a:rPr lang="zh-CN" altLang="en-US" sz="1400" dirty="0">
                  <a:solidFill>
                    <a:srgbClr val="262626"/>
                  </a:solidFill>
                  <a:latin typeface="微软雅黑" panose="020B0503020204020204" charset="-122"/>
                  <a:ea typeface="微软雅黑" panose="020B0503020204020204" charset="-122"/>
                  <a:cs typeface="微软雅黑" panose="020B0503020204020204" charset="-122"/>
                  <a:sym typeface="+mn-ea"/>
                </a:rPr>
                <a:t>固网宽带收入占比较去年同期提升</a:t>
              </a:r>
              <a:r>
                <a:rPr lang="en-US" altLang="zh-CN" sz="1400" dirty="0">
                  <a:solidFill>
                    <a:srgbClr val="262626"/>
                  </a:solidFill>
                  <a:latin typeface="微软雅黑" panose="020B0503020204020204" charset="-122"/>
                  <a:ea typeface="微软雅黑" panose="020B0503020204020204" charset="-122"/>
                  <a:cs typeface="微软雅黑" panose="020B0503020204020204" charset="-122"/>
                  <a:sym typeface="+mn-ea"/>
                </a:rPr>
                <a:t>2.9%</a:t>
              </a:r>
              <a:r>
                <a:rPr lang="zh-CN" altLang="en-US" sz="1400" dirty="0">
                  <a:solidFill>
                    <a:srgbClr val="262626"/>
                  </a:solidFill>
                  <a:latin typeface="微软雅黑" panose="020B0503020204020204" charset="-122"/>
                  <a:ea typeface="微软雅黑" panose="020B0503020204020204" charset="-122"/>
                  <a:cs typeface="微软雅黑" panose="020B0503020204020204" charset="-122"/>
                  <a:sym typeface="+mn-ea"/>
                </a:rPr>
                <a:t>；移动电话下降</a:t>
              </a:r>
              <a:r>
                <a:rPr lang="en-US" altLang="zh-CN" sz="1400" dirty="0">
                  <a:solidFill>
                    <a:srgbClr val="262626"/>
                  </a:solidFill>
                  <a:latin typeface="微软雅黑" panose="020B0503020204020204" charset="-122"/>
                  <a:ea typeface="微软雅黑" panose="020B0503020204020204" charset="-122"/>
                  <a:cs typeface="微软雅黑" panose="020B0503020204020204" charset="-122"/>
                  <a:sym typeface="+mn-ea"/>
                </a:rPr>
                <a:t>1.6%</a:t>
              </a:r>
              <a:r>
                <a:rPr lang="zh-CN" altLang="en-US" sz="1400" dirty="0">
                  <a:solidFill>
                    <a:srgbClr val="262626"/>
                  </a:solidFill>
                  <a:latin typeface="微软雅黑" panose="020B0503020204020204" charset="-122"/>
                  <a:ea typeface="微软雅黑" panose="020B0503020204020204" charset="-122"/>
                  <a:cs typeface="微软雅黑" panose="020B0503020204020204" charset="-122"/>
                  <a:sym typeface="+mn-ea"/>
                </a:rPr>
                <a:t>，其中流量收入占比同比提升</a:t>
              </a:r>
              <a:r>
                <a:rPr lang="en-US" altLang="zh-CN" sz="1400" dirty="0">
                  <a:solidFill>
                    <a:srgbClr val="262626"/>
                  </a:solidFill>
                  <a:latin typeface="微软雅黑" panose="020B0503020204020204" charset="-122"/>
                  <a:ea typeface="微软雅黑" panose="020B0503020204020204" charset="-122"/>
                  <a:cs typeface="微软雅黑" panose="020B0503020204020204" charset="-122"/>
                  <a:sym typeface="+mn-ea"/>
                </a:rPr>
                <a:t>0.8%</a:t>
              </a:r>
            </a:p>
          </p:txBody>
        </p:sp>
      </p:grpSp>
      <p:grpSp>
        <p:nvGrpSpPr>
          <p:cNvPr id="4" name="组合 3"/>
          <p:cNvGrpSpPr/>
          <p:nvPr/>
        </p:nvGrpSpPr>
        <p:grpSpPr>
          <a:xfrm>
            <a:off x="8531860" y="1991995"/>
            <a:ext cx="2753995" cy="1568846"/>
            <a:chOff x="6458314" y="1916094"/>
            <a:chExt cx="2065488" cy="948829"/>
          </a:xfrm>
        </p:grpSpPr>
        <p:sp>
          <p:nvSpPr>
            <p:cNvPr id="43" name="Freeform 6"/>
            <p:cNvSpPr/>
            <p:nvPr/>
          </p:nvSpPr>
          <p:spPr bwMode="auto">
            <a:xfrm flipH="1">
              <a:off x="6458314" y="1916094"/>
              <a:ext cx="2065488" cy="948829"/>
            </a:xfrm>
            <a:custGeom>
              <a:avLst/>
              <a:gdLst>
                <a:gd name="T0" fmla="*/ 16 w 1028"/>
                <a:gd name="T1" fmla="*/ 0 h 522"/>
                <a:gd name="T2" fmla="*/ 941 w 1028"/>
                <a:gd name="T3" fmla="*/ 0 h 522"/>
                <a:gd name="T4" fmla="*/ 958 w 1028"/>
                <a:gd name="T5" fmla="*/ 16 h 522"/>
                <a:gd name="T6" fmla="*/ 958 w 1028"/>
                <a:gd name="T7" fmla="*/ 225 h 522"/>
                <a:gd name="T8" fmla="*/ 1028 w 1028"/>
                <a:gd name="T9" fmla="*/ 262 h 522"/>
                <a:gd name="T10" fmla="*/ 958 w 1028"/>
                <a:gd name="T11" fmla="*/ 302 h 522"/>
                <a:gd name="T12" fmla="*/ 958 w 1028"/>
                <a:gd name="T13" fmla="*/ 506 h 522"/>
                <a:gd name="T14" fmla="*/ 941 w 1028"/>
                <a:gd name="T15" fmla="*/ 522 h 522"/>
                <a:gd name="T16" fmla="*/ 16 w 1028"/>
                <a:gd name="T17" fmla="*/ 522 h 522"/>
                <a:gd name="T18" fmla="*/ 0 w 1028"/>
                <a:gd name="T19" fmla="*/ 506 h 522"/>
                <a:gd name="T20" fmla="*/ 0 w 1028"/>
                <a:gd name="T21" fmla="*/ 16 h 522"/>
                <a:gd name="T22" fmla="*/ 16 w 1028"/>
                <a:gd name="T23"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8" h="522">
                  <a:moveTo>
                    <a:pt x="16" y="0"/>
                  </a:moveTo>
                  <a:cubicBezTo>
                    <a:pt x="941" y="0"/>
                    <a:pt x="941" y="0"/>
                    <a:pt x="941" y="0"/>
                  </a:cubicBezTo>
                  <a:cubicBezTo>
                    <a:pt x="950" y="0"/>
                    <a:pt x="958" y="7"/>
                    <a:pt x="958" y="16"/>
                  </a:cubicBezTo>
                  <a:cubicBezTo>
                    <a:pt x="958" y="225"/>
                    <a:pt x="958" y="225"/>
                    <a:pt x="958" y="225"/>
                  </a:cubicBezTo>
                  <a:cubicBezTo>
                    <a:pt x="1028" y="262"/>
                    <a:pt x="1028" y="262"/>
                    <a:pt x="1028" y="262"/>
                  </a:cubicBezTo>
                  <a:cubicBezTo>
                    <a:pt x="958" y="302"/>
                    <a:pt x="958" y="302"/>
                    <a:pt x="958" y="302"/>
                  </a:cubicBezTo>
                  <a:cubicBezTo>
                    <a:pt x="958" y="506"/>
                    <a:pt x="958" y="506"/>
                    <a:pt x="958" y="506"/>
                  </a:cubicBezTo>
                  <a:cubicBezTo>
                    <a:pt x="958" y="514"/>
                    <a:pt x="950" y="522"/>
                    <a:pt x="941" y="522"/>
                  </a:cubicBezTo>
                  <a:cubicBezTo>
                    <a:pt x="16" y="522"/>
                    <a:pt x="16" y="522"/>
                    <a:pt x="16" y="522"/>
                  </a:cubicBezTo>
                  <a:cubicBezTo>
                    <a:pt x="7" y="522"/>
                    <a:pt x="0" y="514"/>
                    <a:pt x="0" y="506"/>
                  </a:cubicBezTo>
                  <a:cubicBezTo>
                    <a:pt x="0" y="16"/>
                    <a:pt x="0" y="16"/>
                    <a:pt x="0" y="16"/>
                  </a:cubicBezTo>
                  <a:cubicBezTo>
                    <a:pt x="0" y="7"/>
                    <a:pt x="7" y="0"/>
                    <a:pt x="16" y="0"/>
                  </a:cubicBezTo>
                  <a:close/>
                </a:path>
              </a:pathLst>
            </a:custGeom>
            <a:solidFill>
              <a:srgbClr val="FFC000"/>
            </a:solidFill>
            <a:ln>
              <a:noFill/>
            </a:ln>
          </p:spPr>
          <p:txBody>
            <a:bodyPr vert="horz" wrap="square" lIns="121920" tIns="60960" rIns="121920" bIns="60960" numCol="1" anchor="t" anchorCtr="0" compatLnSpc="1"/>
            <a:lstStyle/>
            <a:p>
              <a:endParaRPr lang="en-US" sz="1400">
                <a:solidFill>
                  <a:srgbClr val="262626"/>
                </a:solidFill>
                <a:latin typeface="微软雅黑" panose="020B0503020204020204" charset="-122"/>
                <a:ea typeface="微软雅黑" panose="020B0503020204020204" charset="-122"/>
              </a:endParaRPr>
            </a:p>
          </p:txBody>
        </p:sp>
        <p:sp>
          <p:nvSpPr>
            <p:cNvPr id="44" name="Text Box 10"/>
            <p:cNvSpPr txBox="1">
              <a:spLocks noChangeArrowheads="1"/>
            </p:cNvSpPr>
            <p:nvPr/>
          </p:nvSpPr>
          <p:spPr bwMode="auto">
            <a:xfrm>
              <a:off x="6678817" y="2014793"/>
              <a:ext cx="1837841" cy="843361"/>
            </a:xfrm>
            <a:prstGeom prst="rect">
              <a:avLst/>
            </a:prstGeom>
            <a:noFill/>
            <a:ln w="9525">
              <a:noFill/>
              <a:miter lim="800000"/>
            </a:ln>
          </p:spPr>
          <p:txBody>
            <a:bodyPr wrap="square" lIns="60960" tIns="30480" rIns="60960" bIns="30480">
              <a:spAutoFit/>
            </a:bodyPr>
            <a:lstStyle/>
            <a:p>
              <a:pPr algn="ct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sym typeface="+mn-ea"/>
                </a:rPr>
                <a:t>号码型业务：</a:t>
              </a:r>
              <a:endParaRPr lang="zh-CN" altLang="en-US" sz="1400" b="1" dirty="0">
                <a:solidFill>
                  <a:srgbClr val="262626"/>
                </a:solidFill>
                <a:latin typeface="微软雅黑" panose="020B0503020204020204" charset="-122"/>
                <a:ea typeface="微软雅黑" panose="020B0503020204020204" charset="-122"/>
                <a:cs typeface="微软雅黑" panose="020B0503020204020204" charset="-122"/>
                <a:sym typeface="+mn-ea"/>
              </a:endParaRPr>
            </a:p>
            <a:p>
              <a:pPr>
                <a:lnSpc>
                  <a:spcPct val="130000"/>
                </a:lnSpc>
              </a:pPr>
              <a:r>
                <a:rPr lang="zh-CN" altLang="en-US" sz="1400" dirty="0">
                  <a:solidFill>
                    <a:srgbClr val="262626"/>
                  </a:solidFill>
                  <a:latin typeface="微软雅黑" panose="020B0503020204020204" charset="-122"/>
                  <a:ea typeface="微软雅黑" panose="020B0503020204020204" charset="-122"/>
                  <a:cs typeface="微软雅黑" panose="020B0503020204020204" charset="-122"/>
                  <a:sym typeface="+mn-ea"/>
                </a:rPr>
                <a:t>固网宽带拉动仍为主要驱动因素，其余的号码型业务均负同比、负拉动，但其中移动流量收入保持正向拉动</a:t>
              </a:r>
            </a:p>
          </p:txBody>
        </p:sp>
      </p:grpSp>
      <p:grpSp>
        <p:nvGrpSpPr>
          <p:cNvPr id="6" name="组合 5"/>
          <p:cNvGrpSpPr/>
          <p:nvPr/>
        </p:nvGrpSpPr>
        <p:grpSpPr>
          <a:xfrm>
            <a:off x="8522442" y="4067527"/>
            <a:ext cx="2753984" cy="1265105"/>
            <a:chOff x="6451363" y="3384020"/>
            <a:chExt cx="2065488" cy="948829"/>
          </a:xfrm>
        </p:grpSpPr>
        <p:sp>
          <p:nvSpPr>
            <p:cNvPr id="45" name="Freeform 6"/>
            <p:cNvSpPr/>
            <p:nvPr/>
          </p:nvSpPr>
          <p:spPr bwMode="auto">
            <a:xfrm flipH="1">
              <a:off x="6451363" y="3384020"/>
              <a:ext cx="2065488" cy="948829"/>
            </a:xfrm>
            <a:custGeom>
              <a:avLst/>
              <a:gdLst>
                <a:gd name="T0" fmla="*/ 16 w 1028"/>
                <a:gd name="T1" fmla="*/ 0 h 522"/>
                <a:gd name="T2" fmla="*/ 941 w 1028"/>
                <a:gd name="T3" fmla="*/ 0 h 522"/>
                <a:gd name="T4" fmla="*/ 958 w 1028"/>
                <a:gd name="T5" fmla="*/ 16 h 522"/>
                <a:gd name="T6" fmla="*/ 958 w 1028"/>
                <a:gd name="T7" fmla="*/ 225 h 522"/>
                <a:gd name="T8" fmla="*/ 1028 w 1028"/>
                <a:gd name="T9" fmla="*/ 262 h 522"/>
                <a:gd name="T10" fmla="*/ 958 w 1028"/>
                <a:gd name="T11" fmla="*/ 302 h 522"/>
                <a:gd name="T12" fmla="*/ 958 w 1028"/>
                <a:gd name="T13" fmla="*/ 506 h 522"/>
                <a:gd name="T14" fmla="*/ 941 w 1028"/>
                <a:gd name="T15" fmla="*/ 522 h 522"/>
                <a:gd name="T16" fmla="*/ 16 w 1028"/>
                <a:gd name="T17" fmla="*/ 522 h 522"/>
                <a:gd name="T18" fmla="*/ 0 w 1028"/>
                <a:gd name="T19" fmla="*/ 506 h 522"/>
                <a:gd name="T20" fmla="*/ 0 w 1028"/>
                <a:gd name="T21" fmla="*/ 16 h 522"/>
                <a:gd name="T22" fmla="*/ 16 w 1028"/>
                <a:gd name="T23"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8" h="522">
                  <a:moveTo>
                    <a:pt x="16" y="0"/>
                  </a:moveTo>
                  <a:cubicBezTo>
                    <a:pt x="941" y="0"/>
                    <a:pt x="941" y="0"/>
                    <a:pt x="941" y="0"/>
                  </a:cubicBezTo>
                  <a:cubicBezTo>
                    <a:pt x="950" y="0"/>
                    <a:pt x="958" y="7"/>
                    <a:pt x="958" y="16"/>
                  </a:cubicBezTo>
                  <a:cubicBezTo>
                    <a:pt x="958" y="225"/>
                    <a:pt x="958" y="225"/>
                    <a:pt x="958" y="225"/>
                  </a:cubicBezTo>
                  <a:cubicBezTo>
                    <a:pt x="1028" y="262"/>
                    <a:pt x="1028" y="262"/>
                    <a:pt x="1028" y="262"/>
                  </a:cubicBezTo>
                  <a:cubicBezTo>
                    <a:pt x="958" y="302"/>
                    <a:pt x="958" y="302"/>
                    <a:pt x="958" y="302"/>
                  </a:cubicBezTo>
                  <a:cubicBezTo>
                    <a:pt x="958" y="506"/>
                    <a:pt x="958" y="506"/>
                    <a:pt x="958" y="506"/>
                  </a:cubicBezTo>
                  <a:cubicBezTo>
                    <a:pt x="958" y="514"/>
                    <a:pt x="950" y="522"/>
                    <a:pt x="941" y="522"/>
                  </a:cubicBezTo>
                  <a:cubicBezTo>
                    <a:pt x="16" y="522"/>
                    <a:pt x="16" y="522"/>
                    <a:pt x="16" y="522"/>
                  </a:cubicBezTo>
                  <a:cubicBezTo>
                    <a:pt x="7" y="522"/>
                    <a:pt x="0" y="514"/>
                    <a:pt x="0" y="506"/>
                  </a:cubicBezTo>
                  <a:cubicBezTo>
                    <a:pt x="0" y="16"/>
                    <a:pt x="0" y="16"/>
                    <a:pt x="0" y="16"/>
                  </a:cubicBezTo>
                  <a:cubicBezTo>
                    <a:pt x="0" y="7"/>
                    <a:pt x="7" y="0"/>
                    <a:pt x="16" y="0"/>
                  </a:cubicBezTo>
                  <a:close/>
                </a:path>
              </a:pathLst>
            </a:custGeom>
            <a:solidFill>
              <a:srgbClr val="FFC000"/>
            </a:solidFill>
            <a:ln>
              <a:noFill/>
            </a:ln>
          </p:spPr>
          <p:txBody>
            <a:bodyPr vert="horz" wrap="square" lIns="121920" tIns="60960" rIns="121920" bIns="60960" numCol="1" anchor="t" anchorCtr="0" compatLnSpc="1"/>
            <a:lstStyle/>
            <a:p>
              <a:endParaRPr lang="en-US" sz="1400">
                <a:solidFill>
                  <a:srgbClr val="262626"/>
                </a:solidFill>
                <a:latin typeface="微软雅黑" panose="020B0503020204020204" charset="-122"/>
                <a:ea typeface="微软雅黑" panose="020B0503020204020204" charset="-122"/>
              </a:endParaRPr>
            </a:p>
          </p:txBody>
        </p:sp>
        <p:sp>
          <p:nvSpPr>
            <p:cNvPr id="46" name="Text Box 10"/>
            <p:cNvSpPr txBox="1">
              <a:spLocks noChangeArrowheads="1"/>
            </p:cNvSpPr>
            <p:nvPr/>
          </p:nvSpPr>
          <p:spPr bwMode="auto">
            <a:xfrm>
              <a:off x="6671634" y="3482891"/>
              <a:ext cx="1766510" cy="772478"/>
            </a:xfrm>
            <a:prstGeom prst="rect">
              <a:avLst/>
            </a:prstGeom>
            <a:noFill/>
            <a:ln w="9525">
              <a:noFill/>
              <a:miter lim="800000"/>
            </a:ln>
          </p:spPr>
          <p:txBody>
            <a:bodyPr wrap="square" lIns="60960" tIns="30480" rIns="60960" bIns="30480">
              <a:spAutoFit/>
            </a:bodyPr>
            <a:lstStyle/>
            <a:p>
              <a:pPr indent="0" algn="ctr">
                <a:lnSpc>
                  <a:spcPct val="150000"/>
                </a:lnSpc>
                <a:buFont typeface="Wingdings" panose="05000000000000000000" pitchFamily="2" charset="2"/>
                <a:buNone/>
              </a:pPr>
              <a:r>
                <a:rPr lang="zh-CN" altLang="en-US" sz="1400" b="1" dirty="0">
                  <a:solidFill>
                    <a:schemeClr val="bg1"/>
                  </a:solidFill>
                  <a:latin typeface="微软雅黑" panose="020B0503020204020204" charset="-122"/>
                  <a:ea typeface="微软雅黑" panose="020B0503020204020204" charset="-122"/>
                  <a:sym typeface="+mn-ea"/>
                </a:rPr>
                <a:t>非号码型业务：</a:t>
              </a:r>
              <a:endParaRPr lang="en-US" altLang="zh-CN" sz="1400" b="1" dirty="0">
                <a:solidFill>
                  <a:srgbClr val="262626"/>
                </a:solidFill>
                <a:latin typeface="微软雅黑" panose="020B0503020204020204" charset="-122"/>
                <a:ea typeface="微软雅黑" panose="020B0503020204020204" charset="-122"/>
                <a:sym typeface="+mn-ea"/>
              </a:endParaRPr>
            </a:p>
            <a:p>
              <a:pPr indent="0">
                <a:lnSpc>
                  <a:spcPct val="150000"/>
                </a:lnSpc>
                <a:buFont typeface="Wingdings" panose="05000000000000000000" pitchFamily="2" charset="2"/>
                <a:buNone/>
              </a:pPr>
              <a:r>
                <a:rPr lang="zh-CN" altLang="en-US" sz="1400" dirty="0">
                  <a:solidFill>
                    <a:srgbClr val="262626"/>
                  </a:solidFill>
                  <a:latin typeface="微软雅黑" panose="020B0503020204020204" charset="-122"/>
                  <a:ea typeface="微软雅黑" panose="020B0503020204020204" charset="-122"/>
                  <a:sym typeface="+mn-ea"/>
                </a:rPr>
                <a:t>号百业务的收入拉动效果逐步凸显。</a:t>
              </a:r>
            </a:p>
          </p:txBody>
        </p:sp>
      </p:grpSp>
      <p:pic>
        <p:nvPicPr>
          <p:cNvPr id="49" name="图片 48"/>
          <p:cNvPicPr>
            <a:picLocks noChangeAspect="1"/>
          </p:cNvPicPr>
          <p:nvPr/>
        </p:nvPicPr>
        <p:blipFill>
          <a:blip r:embed="rId3"/>
          <a:stretch>
            <a:fillRect/>
          </a:stretch>
        </p:blipFill>
        <p:spPr>
          <a:xfrm>
            <a:off x="3643752" y="1991876"/>
            <a:ext cx="4764259" cy="3258287"/>
          </a:xfrm>
          <a:prstGeom prst="rect">
            <a:avLst/>
          </a:prstGeom>
        </p:spPr>
      </p:pic>
      <p:sp>
        <p:nvSpPr>
          <p:cNvPr id="31" name="矩形 30"/>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矩形 31"/>
          <p:cNvSpPr/>
          <p:nvPr/>
        </p:nvSpPr>
        <p:spPr>
          <a:xfrm>
            <a:off x="-11017" y="-30458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34" name="直接连接符 33"/>
          <p:cNvCxnSpPr/>
          <p:nvPr/>
        </p:nvCxnSpPr>
        <p:spPr>
          <a:xfrm>
            <a:off x="116048" y="773370"/>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418455" y="312001"/>
            <a:ext cx="2787500" cy="398780"/>
          </a:xfrm>
          <a:prstGeom prst="rect">
            <a:avLst/>
          </a:prstGeom>
          <a:noFill/>
        </p:spPr>
        <p:txBody>
          <a:bodyPr wrap="square" rtlCol="0">
            <a:spAutoFit/>
          </a:bodyPr>
          <a:lstStyle/>
          <a:p>
            <a:r>
              <a:rPr lang="zh-CN" altLang="en-US" sz="2000" b="1" dirty="0">
                <a:cs typeface="+mn-ea"/>
                <a:sym typeface="+mn-lt"/>
              </a:rPr>
              <a:t>指标完成进度</a:t>
            </a:r>
          </a:p>
        </p:txBody>
      </p:sp>
    </p:spTree>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heel(1)">
                                      <p:cBhvr>
                                        <p:cTn id="7" dur="2000"/>
                                        <p:tgtEl>
                                          <p:spTgt spid="49"/>
                                        </p:tgtEl>
                                      </p:cBhvr>
                                    </p:animEffect>
                                  </p:childTnLst>
                                </p:cTn>
                              </p:par>
                            </p:childTnLst>
                          </p:cTn>
                        </p:par>
                        <p:par>
                          <p:cTn id="8" fill="hold">
                            <p:stCondLst>
                              <p:cond delay="2000"/>
                            </p:stCondLst>
                            <p:childTnLst>
                              <p:par>
                                <p:cTn id="9" presetID="6" presetClass="entr" presetSubtype="16"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circle(in)">
                                      <p:cBhvr>
                                        <p:cTn id="11" dur="2000"/>
                                        <p:tgtEl>
                                          <p:spTgt spid="3"/>
                                        </p:tgtEl>
                                      </p:cBhvr>
                                    </p:animEffect>
                                  </p:childTnLst>
                                </p:cTn>
                              </p:par>
                            </p:childTnLst>
                          </p:cTn>
                        </p:par>
                        <p:par>
                          <p:cTn id="12" fill="hold">
                            <p:stCondLst>
                              <p:cond delay="4000"/>
                            </p:stCondLst>
                            <p:childTnLst>
                              <p:par>
                                <p:cTn id="13" presetID="14" presetClass="entr" presetSubtype="1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randombar(horizontal)">
                                      <p:cBhvr>
                                        <p:cTn id="15" dur="2000"/>
                                        <p:tgtEl>
                                          <p:spTgt spid="4"/>
                                        </p:tgtEl>
                                      </p:cBhvr>
                                    </p:animEffect>
                                  </p:childTnLst>
                                </p:cTn>
                              </p:par>
                            </p:childTnLst>
                          </p:cTn>
                        </p:par>
                        <p:par>
                          <p:cTn id="16" fill="hold">
                            <p:stCondLst>
                              <p:cond delay="6000"/>
                            </p:stCondLst>
                            <p:childTnLst>
                              <p:par>
                                <p:cTn id="17" presetID="16" presetClass="entr" presetSubtype="21"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2000"/>
                                        <p:tgtEl>
                                          <p:spTgt spid="5"/>
                                        </p:tgtEl>
                                      </p:cBhvr>
                                    </p:animEffect>
                                  </p:childTnLst>
                                </p:cTn>
                              </p:par>
                            </p:childTnLst>
                          </p:cTn>
                        </p:par>
                        <p:par>
                          <p:cTn id="20" fill="hold">
                            <p:stCondLst>
                              <p:cond delay="8000"/>
                            </p:stCondLst>
                            <p:childTnLst>
                              <p:par>
                                <p:cTn id="21" presetID="26" presetClass="entr" presetSubtype="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down)">
                                      <p:cBhvr>
                                        <p:cTn id="23" dur="580">
                                          <p:stCondLst>
                                            <p:cond delay="0"/>
                                          </p:stCondLst>
                                        </p:cTn>
                                        <p:tgtEl>
                                          <p:spTgt spid="6"/>
                                        </p:tgtEl>
                                      </p:cBhvr>
                                    </p:animEffect>
                                    <p:anim calcmode="lin" valueType="num">
                                      <p:cBhvr>
                                        <p:cTn id="2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9" dur="26">
                                          <p:stCondLst>
                                            <p:cond delay="650"/>
                                          </p:stCondLst>
                                        </p:cTn>
                                        <p:tgtEl>
                                          <p:spTgt spid="6"/>
                                        </p:tgtEl>
                                      </p:cBhvr>
                                      <p:to x="100000" y="60000"/>
                                    </p:animScale>
                                    <p:animScale>
                                      <p:cBhvr>
                                        <p:cTn id="30" dur="166" decel="50000">
                                          <p:stCondLst>
                                            <p:cond delay="676"/>
                                          </p:stCondLst>
                                        </p:cTn>
                                        <p:tgtEl>
                                          <p:spTgt spid="6"/>
                                        </p:tgtEl>
                                      </p:cBhvr>
                                      <p:to x="100000" y="100000"/>
                                    </p:animScale>
                                    <p:animScale>
                                      <p:cBhvr>
                                        <p:cTn id="31" dur="26">
                                          <p:stCondLst>
                                            <p:cond delay="1312"/>
                                          </p:stCondLst>
                                        </p:cTn>
                                        <p:tgtEl>
                                          <p:spTgt spid="6"/>
                                        </p:tgtEl>
                                      </p:cBhvr>
                                      <p:to x="100000" y="80000"/>
                                    </p:animScale>
                                    <p:animScale>
                                      <p:cBhvr>
                                        <p:cTn id="32" dur="166" decel="50000">
                                          <p:stCondLst>
                                            <p:cond delay="1338"/>
                                          </p:stCondLst>
                                        </p:cTn>
                                        <p:tgtEl>
                                          <p:spTgt spid="6"/>
                                        </p:tgtEl>
                                      </p:cBhvr>
                                      <p:to x="100000" y="100000"/>
                                    </p:animScale>
                                    <p:animScale>
                                      <p:cBhvr>
                                        <p:cTn id="33" dur="26">
                                          <p:stCondLst>
                                            <p:cond delay="1642"/>
                                          </p:stCondLst>
                                        </p:cTn>
                                        <p:tgtEl>
                                          <p:spTgt spid="6"/>
                                        </p:tgtEl>
                                      </p:cBhvr>
                                      <p:to x="100000" y="90000"/>
                                    </p:animScale>
                                    <p:animScale>
                                      <p:cBhvr>
                                        <p:cTn id="34" dur="166" decel="50000">
                                          <p:stCondLst>
                                            <p:cond delay="1668"/>
                                          </p:stCondLst>
                                        </p:cTn>
                                        <p:tgtEl>
                                          <p:spTgt spid="6"/>
                                        </p:tgtEl>
                                      </p:cBhvr>
                                      <p:to x="100000" y="100000"/>
                                    </p:animScale>
                                    <p:animScale>
                                      <p:cBhvr>
                                        <p:cTn id="35" dur="26">
                                          <p:stCondLst>
                                            <p:cond delay="1808"/>
                                          </p:stCondLst>
                                        </p:cTn>
                                        <p:tgtEl>
                                          <p:spTgt spid="6"/>
                                        </p:tgtEl>
                                      </p:cBhvr>
                                      <p:to x="100000" y="95000"/>
                                    </p:animScale>
                                    <p:animScale>
                                      <p:cBhvr>
                                        <p:cTn id="36"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 name="Chart 2"/>
          <p:cNvGraphicFramePr/>
          <p:nvPr/>
        </p:nvGraphicFramePr>
        <p:xfrm>
          <a:off x="1005840" y="1733550"/>
          <a:ext cx="10179685" cy="3980180"/>
        </p:xfrm>
        <a:graphic>
          <a:graphicData uri="http://schemas.openxmlformats.org/drawingml/2006/chart">
            <c:chart xmlns:c="http://schemas.openxmlformats.org/drawingml/2006/chart" xmlns:r="http://schemas.openxmlformats.org/officeDocument/2006/relationships" r:id="rId3"/>
          </a:graphicData>
        </a:graphic>
      </p:graphicFrame>
      <p:sp>
        <p:nvSpPr>
          <p:cNvPr id="31" name="矩形 30"/>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矩形 31"/>
          <p:cNvSpPr/>
          <p:nvPr/>
        </p:nvSpPr>
        <p:spPr>
          <a:xfrm>
            <a:off x="-11017" y="-30458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34" name="直接连接符 33"/>
          <p:cNvCxnSpPr/>
          <p:nvPr/>
        </p:nvCxnSpPr>
        <p:spPr>
          <a:xfrm>
            <a:off x="116048" y="773370"/>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18455" y="312001"/>
            <a:ext cx="2787500" cy="398780"/>
          </a:xfrm>
          <a:prstGeom prst="rect">
            <a:avLst/>
          </a:prstGeom>
          <a:noFill/>
        </p:spPr>
        <p:txBody>
          <a:bodyPr wrap="square" rtlCol="0">
            <a:spAutoFit/>
          </a:bodyPr>
          <a:lstStyle/>
          <a:p>
            <a:r>
              <a:rPr lang="zh-CN" altLang="en-US" sz="2000" b="1" dirty="0">
                <a:cs typeface="+mn-ea"/>
                <a:sym typeface="+mn-lt"/>
              </a:rPr>
              <a:t>指标完成进度</a:t>
            </a:r>
          </a:p>
        </p:txBody>
      </p:sp>
      <p:sp>
        <p:nvSpPr>
          <p:cNvPr id="7" name="矩形 5"/>
          <p:cNvSpPr>
            <a:spLocks noChangeArrowheads="1"/>
          </p:cNvSpPr>
          <p:nvPr/>
        </p:nvSpPr>
        <p:spPr bwMode="auto">
          <a:xfrm>
            <a:off x="1277620" y="5602605"/>
            <a:ext cx="9778365" cy="931545"/>
          </a:xfrm>
          <a:prstGeom prst="rect">
            <a:avLst/>
          </a:prstGeom>
          <a:noFill/>
          <a:ln w="9525">
            <a:noFill/>
            <a:miter lim="800000"/>
          </a:ln>
        </p:spPr>
        <p:txBody>
          <a:bodyPr wrap="square" anchor="ctr">
            <a:noAutofit/>
          </a:bodyPr>
          <a:lstStyle/>
          <a:p>
            <a:pPr>
              <a:lnSpc>
                <a:spcPct val="150000"/>
              </a:lnSpc>
            </a:pPr>
            <a:r>
              <a:rPr lang="zh-CN" altLang="en-US" sz="1600" dirty="0">
                <a:latin typeface="微软雅黑" panose="020B0503020204020204" charset="-122"/>
                <a:ea typeface="微软雅黑" panose="020B0503020204020204" charset="-122"/>
              </a:rPr>
              <a:t>仅山东预算完成超时序进度，我司完成</a:t>
            </a:r>
            <a:r>
              <a:rPr lang="en-US" altLang="zh-CN" sz="1600" dirty="0">
                <a:latin typeface="微软雅黑" panose="020B0503020204020204" charset="-122"/>
                <a:ea typeface="微软雅黑" panose="020B0503020204020204" charset="-122"/>
              </a:rPr>
              <a:t>32.64%</a:t>
            </a:r>
            <a:r>
              <a:rPr lang="zh-CN" altLang="en-US" sz="1600" dirty="0">
                <a:latin typeface="微软雅黑" panose="020B0503020204020204" charset="-122"/>
                <a:ea typeface="微软雅黑" panose="020B0503020204020204" charset="-122"/>
              </a:rPr>
              <a:t>，排名第二（上月第二），超九地市综合进度</a:t>
            </a:r>
            <a:r>
              <a:rPr lang="en-US" altLang="zh-CN" sz="1600" dirty="0">
                <a:latin typeface="微软雅黑" panose="020B0503020204020204" charset="-122"/>
                <a:ea typeface="微软雅黑" panose="020B0503020204020204" charset="-122"/>
              </a:rPr>
              <a:t>0.55%</a:t>
            </a:r>
            <a:r>
              <a:rPr lang="zh-CN" altLang="en-US" sz="1600" dirty="0">
                <a:latin typeface="微软雅黑" panose="020B0503020204020204" charset="-122"/>
                <a:ea typeface="微软雅黑" panose="020B0503020204020204" charset="-122"/>
              </a:rPr>
              <a:t>，可比增幅</a:t>
            </a:r>
            <a:r>
              <a:rPr lang="en-US" altLang="zh-CN" sz="1600" dirty="0">
                <a:latin typeface="微软雅黑" panose="020B0503020204020204" charset="-122"/>
                <a:ea typeface="微软雅黑" panose="020B0503020204020204" charset="-122"/>
              </a:rPr>
              <a:t>.34%</a:t>
            </a:r>
            <a:r>
              <a:rPr lang="zh-CN" altLang="en-US" sz="1600" dirty="0">
                <a:latin typeface="微软雅黑" panose="020B0503020204020204" charset="-122"/>
                <a:ea typeface="微软雅黑" panose="020B0503020204020204" charset="-122"/>
              </a:rPr>
              <a:t>，排名第二，仅次于山东（</a:t>
            </a:r>
            <a:r>
              <a:rPr lang="en-US" altLang="zh-CN" sz="1600" dirty="0">
                <a:latin typeface="微软雅黑" panose="020B0503020204020204" charset="-122"/>
                <a:ea typeface="微软雅黑" panose="020B0503020204020204" charset="-122"/>
              </a:rPr>
              <a:t>3.87%</a:t>
            </a:r>
            <a:r>
              <a:rPr lang="zh-CN" altLang="en-US" sz="1600" dirty="0">
                <a:latin typeface="微软雅黑" panose="020B0503020204020204" charset="-122"/>
                <a:ea typeface="微软雅黑" panose="020B0503020204020204" charset="-122"/>
              </a:rPr>
              <a:t>）。</a:t>
            </a:r>
          </a:p>
        </p:txBody>
      </p: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1" y="5430129"/>
            <a:ext cx="12192000" cy="1427871"/>
          </a:xfrm>
          <a:prstGeom prst="rect">
            <a:avLst/>
          </a:prstGeom>
          <a:solidFill>
            <a:srgbClr val="404040">
              <a:alpha val="2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矩形 5"/>
          <p:cNvSpPr/>
          <p:nvPr/>
        </p:nvSpPr>
        <p:spPr>
          <a:xfrm>
            <a:off x="1" y="0"/>
            <a:ext cx="12192000" cy="5430129"/>
          </a:xfrm>
          <a:prstGeom prst="rect">
            <a:avLst/>
          </a:prstGeom>
          <a:solidFill>
            <a:srgbClr val="FFC00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pic>
        <p:nvPicPr>
          <p:cNvPr id="4" name="图片 3"/>
          <p:cNvPicPr>
            <a:picLocks noChangeAspect="1"/>
          </p:cNvPicPr>
          <p:nvPr/>
        </p:nvPicPr>
        <p:blipFill>
          <a:blip r:embed="rId3"/>
          <a:stretch>
            <a:fillRect/>
          </a:stretch>
        </p:blipFill>
        <p:spPr>
          <a:xfrm>
            <a:off x="1360" y="364477"/>
            <a:ext cx="4026080" cy="2583017"/>
          </a:xfrm>
          <a:prstGeom prst="rect">
            <a:avLst/>
          </a:prstGeom>
        </p:spPr>
      </p:pic>
      <p:pic>
        <p:nvPicPr>
          <p:cNvPr id="5" name="图片 4"/>
          <p:cNvPicPr>
            <a:picLocks noChangeAspect="1"/>
          </p:cNvPicPr>
          <p:nvPr/>
        </p:nvPicPr>
        <p:blipFill>
          <a:blip r:embed="rId4"/>
          <a:stretch>
            <a:fillRect/>
          </a:stretch>
        </p:blipFill>
        <p:spPr>
          <a:xfrm>
            <a:off x="886265" y="3431549"/>
            <a:ext cx="5844734" cy="3426451"/>
          </a:xfrm>
          <a:prstGeom prst="rect">
            <a:avLst/>
          </a:prstGeom>
        </p:spPr>
      </p:pic>
      <p:sp>
        <p:nvSpPr>
          <p:cNvPr id="15" name="文本框 14"/>
          <p:cNvSpPr txBox="1"/>
          <p:nvPr/>
        </p:nvSpPr>
        <p:spPr>
          <a:xfrm>
            <a:off x="4913704" y="2588374"/>
            <a:ext cx="6615526" cy="922020"/>
          </a:xfrm>
          <a:prstGeom prst="rect">
            <a:avLst/>
          </a:prstGeom>
          <a:noFill/>
        </p:spPr>
        <p:txBody>
          <a:bodyPr wrap="square" rtlCol="0">
            <a:spAutoFit/>
          </a:bodyPr>
          <a:lstStyle/>
          <a:p>
            <a:pPr algn="ctr"/>
            <a:r>
              <a:rPr lang="zh-CN" altLang="en-US" sz="5400" b="1" dirty="0">
                <a:latin typeface="微软雅黑" panose="020B0503020204020204" charset="-122"/>
                <a:ea typeface="微软雅黑" panose="020B0503020204020204" charset="-122"/>
                <a:sym typeface="+mn-ea"/>
              </a:rPr>
              <a:t>成本费用完成情况</a:t>
            </a:r>
            <a:endParaRPr lang="zh-CN" altLang="en-US" sz="3200" b="1" dirty="0">
              <a:solidFill>
                <a:schemeClr val="tx1">
                  <a:lumMod val="85000"/>
                  <a:lumOff val="15000"/>
                </a:schemeClr>
              </a:solidFill>
              <a:cs typeface="+mn-ea"/>
              <a:sym typeface="+mn-lt"/>
            </a:endParaRPr>
          </a:p>
        </p:txBody>
      </p:sp>
      <p:sp>
        <p:nvSpPr>
          <p:cNvPr id="2" name="文本框 1"/>
          <p:cNvSpPr txBox="1"/>
          <p:nvPr/>
        </p:nvSpPr>
        <p:spPr>
          <a:xfrm>
            <a:off x="4478655" y="1520190"/>
            <a:ext cx="5189855" cy="11068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chemeClr val="tx1">
                    <a:lumMod val="85000"/>
                    <a:lumOff val="15000"/>
                  </a:schemeClr>
                </a:solidFill>
                <a:effectLst/>
                <a:uLnTx/>
                <a:uFillTx/>
                <a:cs typeface="+mn-ea"/>
                <a:sym typeface="+mn-lt"/>
              </a:rPr>
              <a:t>Part Three</a:t>
            </a:r>
            <a:endParaRPr kumimoji="0" lang="zh-CN" altLang="en-US" sz="6600" b="0" i="0" u="none" strike="noStrike" kern="1200" cap="none" spc="0" normalizeH="0" baseline="0" noProof="0" dirty="0">
              <a:ln>
                <a:noFill/>
              </a:ln>
              <a:solidFill>
                <a:schemeClr val="tx1">
                  <a:lumMod val="85000"/>
                  <a:lumOff val="15000"/>
                </a:schemeClr>
              </a:solidFill>
              <a:effectLst/>
              <a:uLnTx/>
              <a:uFillTx/>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300" advTm="1000">
        <p14:pan dir="u"/>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 presetClass="entr" presetSubtype="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63" presetClass="path" presetSubtype="0" accel="50000" decel="50000" fill="hold" nodeType="withEffect">
                                  <p:stCondLst>
                                    <p:cond delay="0"/>
                                  </p:stCondLst>
                                  <p:childTnLst>
                                    <p:animMotion origin="layout" path="M -0.36146 -0.08333 L 2.22222E-6 -3.7037E-7 " pathEditMode="relative" rAng="0" ptsTypes="AA">
                                      <p:cBhvr>
                                        <p:cTn id="13" dur="2000" fill="hold"/>
                                        <p:tgtEl>
                                          <p:spTgt spid="4"/>
                                        </p:tgtEl>
                                        <p:attrNameLst>
                                          <p:attrName>ppt_x</p:attrName>
                                          <p:attrName>ppt_y</p:attrName>
                                        </p:attrNameLst>
                                      </p:cBhvr>
                                      <p:rCtr x="18073" y="4167"/>
                                    </p:animMotion>
                                  </p:childTnLst>
                                </p:cTn>
                              </p:par>
                            </p:childTnLst>
                          </p:cTn>
                        </p:par>
                        <p:par>
                          <p:cTn id="14" fill="hold">
                            <p:stCondLst>
                              <p:cond delay="1000"/>
                            </p:stCondLst>
                            <p:childTnLst>
                              <p:par>
                                <p:cTn id="15" presetID="12" presetClass="entr" presetSubtype="8"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p:tgtEl>
                                          <p:spTgt spid="15"/>
                                        </p:tgtEl>
                                        <p:attrNameLst>
                                          <p:attrName>ppt_x</p:attrName>
                                        </p:attrNameLst>
                                      </p:cBhvr>
                                      <p:tavLst>
                                        <p:tav tm="0">
                                          <p:val>
                                            <p:strVal val="#ppt_x-#ppt_w*1.125000"/>
                                          </p:val>
                                        </p:tav>
                                        <p:tav tm="100000">
                                          <p:val>
                                            <p:strVal val="#ppt_x"/>
                                          </p:val>
                                        </p:tav>
                                      </p:tavLst>
                                    </p:anim>
                                    <p:animEffect transition="in" filter="wipe(right)">
                                      <p:cBhvr>
                                        <p:cTn id="18" dur="500"/>
                                        <p:tgtEl>
                                          <p:spTgt spid="15"/>
                                        </p:tgtEl>
                                      </p:cBhvr>
                                    </p:animEffect>
                                  </p:childTnLst>
                                </p:cTn>
                              </p:par>
                            </p:childTnLst>
                          </p:cTn>
                        </p:par>
                        <p:par>
                          <p:cTn id="19" fill="hold">
                            <p:stCondLst>
                              <p:cond delay="1500"/>
                            </p:stCondLst>
                            <p:childTnLst>
                              <p:par>
                                <p:cTn id="20" presetID="12" presetClass="entr" presetSubtype="8" fill="hold" grpId="0" nodeType="after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p:tgtEl>
                                          <p:spTgt spid="2"/>
                                        </p:tgtEl>
                                        <p:attrNameLst>
                                          <p:attrName>ppt_x</p:attrName>
                                        </p:attrNameLst>
                                      </p:cBhvr>
                                      <p:tavLst>
                                        <p:tav tm="0">
                                          <p:val>
                                            <p:strVal val="#ppt_x-#ppt_w*1.125000"/>
                                          </p:val>
                                        </p:tav>
                                        <p:tav tm="100000">
                                          <p:val>
                                            <p:strVal val="#ppt_x"/>
                                          </p:val>
                                        </p:tav>
                                      </p:tavLst>
                                    </p:anim>
                                    <p:animEffect transition="in" filter="wipe(right)">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97367" y="1472806"/>
            <a:ext cx="1636244" cy="1731829"/>
            <a:chOff x="2124492" y="1860791"/>
            <a:chExt cx="1636244" cy="1731829"/>
          </a:xfrm>
        </p:grpSpPr>
        <p:graphicFrame>
          <p:nvGraphicFramePr>
            <p:cNvPr id="32" name="Chart 31"/>
            <p:cNvGraphicFramePr/>
            <p:nvPr/>
          </p:nvGraphicFramePr>
          <p:xfrm>
            <a:off x="2124492" y="1860791"/>
            <a:ext cx="1636244" cy="1731829"/>
          </p:xfrm>
          <a:graphic>
            <a:graphicData uri="http://schemas.openxmlformats.org/drawingml/2006/chart">
              <c:chart xmlns:c="http://schemas.openxmlformats.org/drawingml/2006/chart" xmlns:r="http://schemas.openxmlformats.org/officeDocument/2006/relationships" r:id="rId3"/>
            </a:graphicData>
          </a:graphic>
        </p:graphicFrame>
        <p:sp>
          <p:nvSpPr>
            <p:cNvPr id="33" name="TextBox 32"/>
            <p:cNvSpPr txBox="1"/>
            <p:nvPr/>
          </p:nvSpPr>
          <p:spPr>
            <a:xfrm>
              <a:off x="2654741" y="2422083"/>
              <a:ext cx="640002" cy="646331"/>
            </a:xfrm>
            <a:prstGeom prst="rect">
              <a:avLst/>
            </a:prstGeom>
            <a:noFill/>
          </p:spPr>
          <p:txBody>
            <a:bodyPr wrap="square" rtlCol="0" anchor="ctr">
              <a:spAutoFit/>
            </a:bodyPr>
            <a:lstStyle/>
            <a:p>
              <a:pPr algn="ctr"/>
              <a:r>
                <a:rPr lang="en-US" b="1" dirty="0">
                  <a:solidFill>
                    <a:srgbClr val="181617"/>
                  </a:solidFill>
                  <a:cs typeface="+mn-ea"/>
                  <a:sym typeface="+mn-lt"/>
                </a:rPr>
                <a:t>50%</a:t>
              </a:r>
              <a:endParaRPr lang="en-US" sz="1600" b="1" dirty="0">
                <a:solidFill>
                  <a:srgbClr val="181617"/>
                </a:solidFill>
                <a:cs typeface="+mn-ea"/>
                <a:sym typeface="+mn-lt"/>
              </a:endParaRPr>
            </a:p>
          </p:txBody>
        </p:sp>
      </p:grpSp>
      <p:grpSp>
        <p:nvGrpSpPr>
          <p:cNvPr id="3" name="组合 2"/>
          <p:cNvGrpSpPr/>
          <p:nvPr/>
        </p:nvGrpSpPr>
        <p:grpSpPr>
          <a:xfrm>
            <a:off x="3919309" y="1472806"/>
            <a:ext cx="1636244" cy="1731829"/>
            <a:chOff x="4157434" y="1860791"/>
            <a:chExt cx="1636244" cy="1731829"/>
          </a:xfrm>
        </p:grpSpPr>
        <p:graphicFrame>
          <p:nvGraphicFramePr>
            <p:cNvPr id="37" name="Chart 36"/>
            <p:cNvGraphicFramePr/>
            <p:nvPr/>
          </p:nvGraphicFramePr>
          <p:xfrm>
            <a:off x="4157434" y="1860791"/>
            <a:ext cx="1636244" cy="1731829"/>
          </p:xfrm>
          <a:graphic>
            <a:graphicData uri="http://schemas.openxmlformats.org/drawingml/2006/chart">
              <c:chart xmlns:c="http://schemas.openxmlformats.org/drawingml/2006/chart" xmlns:r="http://schemas.openxmlformats.org/officeDocument/2006/relationships" r:id="rId4"/>
            </a:graphicData>
          </a:graphic>
        </p:graphicFrame>
        <p:sp>
          <p:nvSpPr>
            <p:cNvPr id="38" name="TextBox 37"/>
            <p:cNvSpPr txBox="1"/>
            <p:nvPr/>
          </p:nvSpPr>
          <p:spPr>
            <a:xfrm>
              <a:off x="4687683" y="2422083"/>
              <a:ext cx="640002" cy="646331"/>
            </a:xfrm>
            <a:prstGeom prst="rect">
              <a:avLst/>
            </a:prstGeom>
            <a:noFill/>
          </p:spPr>
          <p:txBody>
            <a:bodyPr wrap="square" rtlCol="0" anchor="ctr">
              <a:spAutoFit/>
            </a:bodyPr>
            <a:lstStyle/>
            <a:p>
              <a:pPr algn="ctr"/>
              <a:r>
                <a:rPr lang="en-US" b="1" dirty="0">
                  <a:solidFill>
                    <a:srgbClr val="181617"/>
                  </a:solidFill>
                  <a:cs typeface="+mn-ea"/>
                  <a:sym typeface="+mn-lt"/>
                </a:rPr>
                <a:t>70%</a:t>
              </a:r>
              <a:endParaRPr lang="en-US" sz="1600" b="1" dirty="0">
                <a:solidFill>
                  <a:srgbClr val="181617"/>
                </a:solidFill>
                <a:cs typeface="+mn-ea"/>
                <a:sym typeface="+mn-lt"/>
              </a:endParaRPr>
            </a:p>
          </p:txBody>
        </p:sp>
      </p:grpSp>
      <p:grpSp>
        <p:nvGrpSpPr>
          <p:cNvPr id="4" name="组合 3"/>
          <p:cNvGrpSpPr/>
          <p:nvPr/>
        </p:nvGrpSpPr>
        <p:grpSpPr>
          <a:xfrm>
            <a:off x="6599716" y="1491348"/>
            <a:ext cx="1636244" cy="1731829"/>
            <a:chOff x="6202841" y="1879333"/>
            <a:chExt cx="1636244" cy="1731829"/>
          </a:xfrm>
        </p:grpSpPr>
        <p:graphicFrame>
          <p:nvGraphicFramePr>
            <p:cNvPr id="42" name="Chart 36"/>
            <p:cNvGraphicFramePr/>
            <p:nvPr/>
          </p:nvGraphicFramePr>
          <p:xfrm>
            <a:off x="6202841" y="1879333"/>
            <a:ext cx="1636244" cy="1731829"/>
          </p:xfrm>
          <a:graphic>
            <a:graphicData uri="http://schemas.openxmlformats.org/drawingml/2006/chart">
              <c:chart xmlns:c="http://schemas.openxmlformats.org/drawingml/2006/chart" xmlns:r="http://schemas.openxmlformats.org/officeDocument/2006/relationships" r:id="rId5"/>
            </a:graphicData>
          </a:graphic>
        </p:graphicFrame>
        <p:sp>
          <p:nvSpPr>
            <p:cNvPr id="43" name="TextBox 42"/>
            <p:cNvSpPr txBox="1"/>
            <p:nvPr/>
          </p:nvSpPr>
          <p:spPr>
            <a:xfrm>
              <a:off x="6701350" y="2422083"/>
              <a:ext cx="640002" cy="646331"/>
            </a:xfrm>
            <a:prstGeom prst="rect">
              <a:avLst/>
            </a:prstGeom>
            <a:noFill/>
          </p:spPr>
          <p:txBody>
            <a:bodyPr wrap="square" rtlCol="0" anchor="ctr">
              <a:spAutoFit/>
            </a:bodyPr>
            <a:lstStyle/>
            <a:p>
              <a:pPr algn="ctr"/>
              <a:r>
                <a:rPr lang="en-US" altLang="zh-CN" b="1" dirty="0">
                  <a:solidFill>
                    <a:srgbClr val="181617"/>
                  </a:solidFill>
                  <a:cs typeface="+mn-ea"/>
                  <a:sym typeface="+mn-lt"/>
                </a:rPr>
                <a:t>6</a:t>
              </a:r>
              <a:r>
                <a:rPr lang="en-US" b="1" dirty="0">
                  <a:solidFill>
                    <a:srgbClr val="181617"/>
                  </a:solidFill>
                  <a:cs typeface="+mn-ea"/>
                  <a:sym typeface="+mn-lt"/>
                </a:rPr>
                <a:t>0%</a:t>
              </a:r>
              <a:endParaRPr lang="en-US" sz="1600" b="1" dirty="0">
                <a:solidFill>
                  <a:srgbClr val="181617"/>
                </a:solidFill>
                <a:cs typeface="+mn-ea"/>
                <a:sym typeface="+mn-lt"/>
              </a:endParaRPr>
            </a:p>
          </p:txBody>
        </p:sp>
      </p:grpSp>
      <p:grpSp>
        <p:nvGrpSpPr>
          <p:cNvPr id="5" name="组合 4"/>
          <p:cNvGrpSpPr/>
          <p:nvPr/>
        </p:nvGrpSpPr>
        <p:grpSpPr>
          <a:xfrm>
            <a:off x="9311873" y="1472805"/>
            <a:ext cx="1636244" cy="1731829"/>
            <a:chOff x="8248248" y="1860790"/>
            <a:chExt cx="1636244" cy="1731829"/>
          </a:xfrm>
        </p:grpSpPr>
        <p:graphicFrame>
          <p:nvGraphicFramePr>
            <p:cNvPr id="47" name="Chart 36"/>
            <p:cNvGraphicFramePr/>
            <p:nvPr/>
          </p:nvGraphicFramePr>
          <p:xfrm>
            <a:off x="8248248" y="1860790"/>
            <a:ext cx="1636244" cy="1731829"/>
          </p:xfrm>
          <a:graphic>
            <a:graphicData uri="http://schemas.openxmlformats.org/drawingml/2006/chart">
              <c:chart xmlns:c="http://schemas.openxmlformats.org/drawingml/2006/chart" xmlns:r="http://schemas.openxmlformats.org/officeDocument/2006/relationships" r:id="rId6"/>
            </a:graphicData>
          </a:graphic>
        </p:graphicFrame>
        <p:sp>
          <p:nvSpPr>
            <p:cNvPr id="46" name="TextBox 45"/>
            <p:cNvSpPr txBox="1"/>
            <p:nvPr/>
          </p:nvSpPr>
          <p:spPr>
            <a:xfrm>
              <a:off x="8738983" y="2422083"/>
              <a:ext cx="640002" cy="646331"/>
            </a:xfrm>
            <a:prstGeom prst="rect">
              <a:avLst/>
            </a:prstGeom>
            <a:noFill/>
          </p:spPr>
          <p:txBody>
            <a:bodyPr wrap="square" rtlCol="0" anchor="ctr">
              <a:spAutoFit/>
            </a:bodyPr>
            <a:lstStyle/>
            <a:p>
              <a:pPr algn="ctr"/>
              <a:r>
                <a:rPr lang="en-US" altLang="zh-CN" b="1" dirty="0">
                  <a:solidFill>
                    <a:srgbClr val="181617"/>
                  </a:solidFill>
                  <a:cs typeface="+mn-ea"/>
                  <a:sym typeface="+mn-lt"/>
                </a:rPr>
                <a:t>5</a:t>
              </a:r>
              <a:r>
                <a:rPr lang="en-US" b="1" dirty="0">
                  <a:solidFill>
                    <a:srgbClr val="181617"/>
                  </a:solidFill>
                  <a:cs typeface="+mn-ea"/>
                  <a:sym typeface="+mn-lt"/>
                </a:rPr>
                <a:t>0%</a:t>
              </a:r>
              <a:endParaRPr lang="en-US" sz="1600" b="1" dirty="0">
                <a:solidFill>
                  <a:srgbClr val="181617"/>
                </a:solidFill>
                <a:cs typeface="+mn-ea"/>
                <a:sym typeface="+mn-lt"/>
              </a:endParaRPr>
            </a:p>
          </p:txBody>
        </p:sp>
      </p:grpSp>
      <p:sp>
        <p:nvSpPr>
          <p:cNvPr id="40" name="矩形 39"/>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矩形 40"/>
          <p:cNvSpPr/>
          <p:nvPr/>
        </p:nvSpPr>
        <p:spPr>
          <a:xfrm>
            <a:off x="-11017" y="-30458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文本框 44"/>
          <p:cNvSpPr txBox="1"/>
          <p:nvPr/>
        </p:nvSpPr>
        <p:spPr>
          <a:xfrm>
            <a:off x="418455" y="312636"/>
            <a:ext cx="2787500" cy="398780"/>
          </a:xfrm>
          <a:prstGeom prst="rect">
            <a:avLst/>
          </a:prstGeom>
          <a:noFill/>
        </p:spPr>
        <p:txBody>
          <a:bodyPr wrap="square" rtlCol="0">
            <a:spAutoFit/>
          </a:bodyPr>
          <a:lstStyle/>
          <a:p>
            <a:r>
              <a:rPr lang="zh-CN" altLang="en-US" sz="2000" b="1" dirty="0">
                <a:cs typeface="+mn-ea"/>
                <a:sym typeface="+mn-lt"/>
              </a:rPr>
              <a:t>固定资产与折旧情况</a:t>
            </a:r>
          </a:p>
        </p:txBody>
      </p:sp>
      <p:cxnSp>
        <p:nvCxnSpPr>
          <p:cNvPr id="48" name="直接连接符 47"/>
          <p:cNvCxnSpPr/>
          <p:nvPr/>
        </p:nvCxnSpPr>
        <p:spPr>
          <a:xfrm>
            <a:off x="20798" y="710505"/>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60" name="TextBox 35"/>
          <p:cNvSpPr txBox="1"/>
          <p:nvPr/>
        </p:nvSpPr>
        <p:spPr>
          <a:xfrm>
            <a:off x="637540" y="3411220"/>
            <a:ext cx="2403475" cy="1555750"/>
          </a:xfrm>
          <a:prstGeom prst="rect">
            <a:avLst/>
          </a:prstGeom>
          <a:noFill/>
        </p:spPr>
        <p:txBody>
          <a:bodyPr wrap="square" rtlCol="0">
            <a:spAutoFit/>
          </a:bodyPr>
          <a:lstStyle/>
          <a:p>
            <a:pPr algn="l">
              <a:lnSpc>
                <a:spcPct val="170000"/>
              </a:lnSpc>
              <a:spcBef>
                <a:spcPct val="20000"/>
              </a:spcBef>
              <a:defRPr/>
            </a:pPr>
            <a:r>
              <a:rPr lang="zh-CN" altLang="en-US" sz="1400" kern="0" dirty="0">
                <a:solidFill>
                  <a:srgbClr val="404040"/>
                </a:solidFill>
                <a:latin typeface="微软雅黑" panose="020B0503020204020204" charset="-122"/>
                <a:ea typeface="微软雅黑" panose="020B0503020204020204" charset="-122"/>
                <a:sym typeface="+mn-ea"/>
              </a:rPr>
              <a:t>折旧摊销累计完成</a:t>
            </a:r>
            <a:r>
              <a:rPr lang="en-US" altLang="zh-CN" sz="1400" kern="0" dirty="0">
                <a:solidFill>
                  <a:srgbClr val="404040"/>
                </a:solidFill>
                <a:latin typeface="微软雅黑" panose="020B0503020204020204" charset="-122"/>
                <a:ea typeface="微软雅黑" panose="020B0503020204020204" charset="-122"/>
                <a:sym typeface="+mn-ea"/>
              </a:rPr>
              <a:t>6138.82</a:t>
            </a:r>
            <a:r>
              <a:rPr lang="zh-CN" altLang="en-US" sz="1400" kern="0" dirty="0">
                <a:solidFill>
                  <a:srgbClr val="404040"/>
                </a:solidFill>
                <a:latin typeface="微软雅黑" panose="020B0503020204020204" charset="-122"/>
                <a:ea typeface="微软雅黑" panose="020B0503020204020204" charset="-122"/>
                <a:sym typeface="+mn-ea"/>
              </a:rPr>
              <a:t>万元，低于时序进度</a:t>
            </a:r>
            <a:r>
              <a:rPr lang="en-US" altLang="zh-CN" sz="1400" kern="0" dirty="0">
                <a:solidFill>
                  <a:srgbClr val="404040"/>
                </a:solidFill>
                <a:latin typeface="微软雅黑" panose="020B0503020204020204" charset="-122"/>
                <a:ea typeface="微软雅黑" panose="020B0503020204020204" charset="-122"/>
                <a:sym typeface="+mn-ea"/>
              </a:rPr>
              <a:t>274.51</a:t>
            </a:r>
            <a:r>
              <a:rPr lang="zh-CN" altLang="en-US" sz="1400" kern="0" dirty="0">
                <a:solidFill>
                  <a:srgbClr val="404040"/>
                </a:solidFill>
                <a:latin typeface="微软雅黑" panose="020B0503020204020204" charset="-122"/>
                <a:ea typeface="微软雅黑" panose="020B0503020204020204" charset="-122"/>
                <a:sym typeface="+mn-ea"/>
              </a:rPr>
              <a:t>万元（</a:t>
            </a:r>
            <a:r>
              <a:rPr lang="en-US" altLang="zh-CN" sz="1400" kern="0" dirty="0">
                <a:solidFill>
                  <a:srgbClr val="404040"/>
                </a:solidFill>
                <a:latin typeface="微软雅黑" panose="020B0503020204020204" charset="-122"/>
                <a:ea typeface="微软雅黑" panose="020B0503020204020204" charset="-122"/>
                <a:sym typeface="+mn-ea"/>
              </a:rPr>
              <a:t>1.43%</a:t>
            </a:r>
            <a:r>
              <a:rPr lang="zh-CN" altLang="en-US" sz="1400" kern="0" dirty="0">
                <a:solidFill>
                  <a:srgbClr val="404040"/>
                </a:solidFill>
                <a:latin typeface="微软雅黑" panose="020B0503020204020204" charset="-122"/>
                <a:ea typeface="微软雅黑" panose="020B0503020204020204" charset="-122"/>
                <a:sym typeface="+mn-ea"/>
              </a:rPr>
              <a:t>），与时序进度差距较上月增大</a:t>
            </a:r>
            <a:r>
              <a:rPr lang="en-US" altLang="zh-CN" sz="1400" kern="0" dirty="0">
                <a:solidFill>
                  <a:srgbClr val="404040"/>
                </a:solidFill>
                <a:latin typeface="微软雅黑" panose="020B0503020204020204" charset="-122"/>
                <a:ea typeface="微软雅黑" panose="020B0503020204020204" charset="-122"/>
                <a:sym typeface="+mn-ea"/>
              </a:rPr>
              <a:t>0.45%</a:t>
            </a:r>
            <a:r>
              <a:rPr lang="zh-CN" altLang="en-US" sz="1400" kern="0" dirty="0">
                <a:solidFill>
                  <a:srgbClr val="404040"/>
                </a:solidFill>
                <a:latin typeface="微软雅黑" panose="020B0503020204020204" charset="-122"/>
                <a:ea typeface="微软雅黑" panose="020B0503020204020204" charset="-122"/>
                <a:sym typeface="+mn-ea"/>
              </a:rPr>
              <a:t>；</a:t>
            </a:r>
            <a:endParaRPr lang="zh-CN" altLang="en-US" sz="1400" kern="0" dirty="0">
              <a:solidFill>
                <a:srgbClr val="404040"/>
              </a:solidFill>
              <a:latin typeface="微软雅黑" panose="020B0503020204020204" charset="-122"/>
              <a:ea typeface="微软雅黑" panose="020B0503020204020204" charset="-122"/>
              <a:cs typeface="+mn-ea"/>
              <a:sym typeface="+mn-ea"/>
            </a:endParaRPr>
          </a:p>
        </p:txBody>
      </p:sp>
      <p:sp>
        <p:nvSpPr>
          <p:cNvPr id="61" name="TextBox 35"/>
          <p:cNvSpPr txBox="1"/>
          <p:nvPr/>
        </p:nvSpPr>
        <p:spPr>
          <a:xfrm>
            <a:off x="3328670" y="3411220"/>
            <a:ext cx="2738120" cy="2886710"/>
          </a:xfrm>
          <a:prstGeom prst="rect">
            <a:avLst/>
          </a:prstGeom>
          <a:noFill/>
        </p:spPr>
        <p:txBody>
          <a:bodyPr wrap="square" rtlCol="0">
            <a:spAutoFit/>
          </a:bodyPr>
          <a:lstStyle/>
          <a:p>
            <a:pPr algn="l">
              <a:lnSpc>
                <a:spcPct val="130000"/>
              </a:lnSpc>
              <a:spcBef>
                <a:spcPct val="20000"/>
              </a:spcBef>
              <a:defRPr/>
            </a:pPr>
            <a:r>
              <a:rPr lang="zh-CN" altLang="en-US" sz="1400" kern="0" dirty="0">
                <a:solidFill>
                  <a:srgbClr val="404040"/>
                </a:solidFill>
                <a:latin typeface="微软雅黑" panose="020B0503020204020204" charset="-122"/>
                <a:ea typeface="微软雅黑" panose="020B0503020204020204" charset="-122"/>
                <a:sym typeface="+mn-ea"/>
              </a:rPr>
              <a:t>折旧及摊销节余部分全额贡献利润，请建设部加强工程项目进度管理，提高完工工程预转固、转固的力度，以便及时计提新资产的折旧；请各县区资产管理员协同本局政企部，对</a:t>
            </a:r>
            <a:r>
              <a:rPr lang="en-US" altLang="zh-CN" sz="1400" kern="0" dirty="0">
                <a:solidFill>
                  <a:srgbClr val="404040"/>
                </a:solidFill>
                <a:latin typeface="微软雅黑" panose="020B0503020204020204" charset="-122"/>
                <a:ea typeface="微软雅黑" panose="020B0503020204020204" charset="-122"/>
                <a:sym typeface="+mn-ea"/>
              </a:rPr>
              <a:t>IDC</a:t>
            </a:r>
            <a:r>
              <a:rPr lang="zh-CN" altLang="en-US" sz="1400" kern="0" dirty="0">
                <a:solidFill>
                  <a:srgbClr val="404040"/>
                </a:solidFill>
                <a:latin typeface="微软雅黑" panose="020B0503020204020204" charset="-122"/>
                <a:ea typeface="微软雅黑" panose="020B0503020204020204" charset="-122"/>
                <a:sym typeface="+mn-ea"/>
              </a:rPr>
              <a:t>、客户端资产的使用状况进行确认，如协议已到期且规定资产所有权归属客户，则应立即发起资产报废，以便对未逾龄资产全额补提折旧。</a:t>
            </a:r>
            <a:endParaRPr lang="zh-CN" altLang="en-US" sz="1400" kern="0" dirty="0">
              <a:solidFill>
                <a:srgbClr val="404040"/>
              </a:solidFill>
              <a:latin typeface="微软雅黑" panose="020B0503020204020204" charset="-122"/>
              <a:ea typeface="微软雅黑" panose="020B0503020204020204" charset="-122"/>
              <a:cs typeface="+mn-ea"/>
              <a:sym typeface="+mn-ea"/>
            </a:endParaRPr>
          </a:p>
        </p:txBody>
      </p:sp>
      <p:sp>
        <p:nvSpPr>
          <p:cNvPr id="63" name="TextBox 35"/>
          <p:cNvSpPr txBox="1"/>
          <p:nvPr/>
        </p:nvSpPr>
        <p:spPr>
          <a:xfrm>
            <a:off x="6354445" y="3408045"/>
            <a:ext cx="2291080" cy="2353310"/>
          </a:xfrm>
          <a:prstGeom prst="rect">
            <a:avLst/>
          </a:prstGeom>
          <a:noFill/>
        </p:spPr>
        <p:txBody>
          <a:bodyPr wrap="square" rtlCol="0">
            <a:spAutoFit/>
          </a:bodyPr>
          <a:lstStyle/>
          <a:p>
            <a:pPr indent="0">
              <a:lnSpc>
                <a:spcPct val="150000"/>
              </a:lnSpc>
              <a:spcBef>
                <a:spcPts val="500"/>
              </a:spcBef>
              <a:buClr>
                <a:srgbClr val="C00000"/>
              </a:buClr>
              <a:buFont typeface="Wingdings" panose="05000000000000000000" pitchFamily="2" charset="2"/>
              <a:buNone/>
              <a:defRPr/>
            </a:pPr>
            <a:r>
              <a:rPr lang="zh-CN" altLang="en-US" sz="1400" kern="0" dirty="0">
                <a:solidFill>
                  <a:srgbClr val="404040"/>
                </a:solidFill>
                <a:latin typeface="微软雅黑" panose="020B0503020204020204" charset="-122"/>
                <a:ea typeface="微软雅黑" panose="020B0503020204020204" charset="-122"/>
                <a:sym typeface="+mn-ea"/>
              </a:rPr>
              <a:t>固定资产报废报损截止</a:t>
            </a:r>
            <a:r>
              <a:rPr lang="en-US" altLang="zh-CN" sz="1400" kern="0" dirty="0">
                <a:solidFill>
                  <a:srgbClr val="404040"/>
                </a:solidFill>
                <a:latin typeface="微软雅黑" panose="020B0503020204020204" charset="-122"/>
                <a:ea typeface="微软雅黑" panose="020B0503020204020204" charset="-122"/>
                <a:sym typeface="+mn-ea"/>
              </a:rPr>
              <a:t>4</a:t>
            </a:r>
            <a:r>
              <a:rPr lang="zh-CN" altLang="en-US" sz="1400" kern="0" dirty="0">
                <a:solidFill>
                  <a:srgbClr val="404040"/>
                </a:solidFill>
                <a:latin typeface="微软雅黑" panose="020B0503020204020204" charset="-122"/>
                <a:ea typeface="微软雅黑" panose="020B0503020204020204" charset="-122"/>
                <a:sym typeface="+mn-ea"/>
              </a:rPr>
              <a:t>月累计完成</a:t>
            </a:r>
            <a:r>
              <a:rPr lang="en-US" altLang="zh-CN" sz="1400" kern="0" dirty="0">
                <a:solidFill>
                  <a:srgbClr val="404040"/>
                </a:solidFill>
                <a:latin typeface="微软雅黑" panose="020B0503020204020204" charset="-122"/>
                <a:ea typeface="微软雅黑" panose="020B0503020204020204" charset="-122"/>
                <a:sym typeface="+mn-ea"/>
              </a:rPr>
              <a:t>262.93</a:t>
            </a:r>
            <a:r>
              <a:rPr lang="zh-CN" altLang="en-US" sz="1400" kern="0" dirty="0">
                <a:solidFill>
                  <a:srgbClr val="404040"/>
                </a:solidFill>
                <a:latin typeface="微软雅黑" panose="020B0503020204020204" charset="-122"/>
                <a:ea typeface="微软雅黑" panose="020B0503020204020204" charset="-122"/>
                <a:sym typeface="+mn-ea"/>
              </a:rPr>
              <a:t>万元，占年度预算</a:t>
            </a:r>
            <a:r>
              <a:rPr lang="en-US" altLang="zh-CN" sz="1400" kern="0" dirty="0">
                <a:solidFill>
                  <a:srgbClr val="404040"/>
                </a:solidFill>
                <a:latin typeface="微软雅黑" panose="020B0503020204020204" charset="-122"/>
                <a:ea typeface="微软雅黑" panose="020B0503020204020204" charset="-122"/>
                <a:sym typeface="+mn-ea"/>
              </a:rPr>
              <a:t>52.59%</a:t>
            </a:r>
            <a:r>
              <a:rPr lang="zh-CN" altLang="en-US" sz="1400" kern="0" dirty="0">
                <a:solidFill>
                  <a:srgbClr val="404040"/>
                </a:solidFill>
                <a:latin typeface="微软雅黑" panose="020B0503020204020204" charset="-122"/>
                <a:ea typeface="微软雅黑" panose="020B0503020204020204" charset="-122"/>
                <a:sym typeface="+mn-ea"/>
              </a:rPr>
              <a:t>，按省公司要求，第二季度末报废预算完成率应不低于</a:t>
            </a:r>
            <a:r>
              <a:rPr lang="en-US" altLang="zh-CN" sz="1400" kern="0" dirty="0">
                <a:solidFill>
                  <a:srgbClr val="404040"/>
                </a:solidFill>
                <a:latin typeface="微软雅黑" panose="020B0503020204020204" charset="-122"/>
                <a:ea typeface="微软雅黑" panose="020B0503020204020204" charset="-122"/>
                <a:sym typeface="+mn-ea"/>
              </a:rPr>
              <a:t>80%</a:t>
            </a:r>
            <a:r>
              <a:rPr lang="zh-CN" altLang="en-US" sz="1400" kern="0" dirty="0">
                <a:solidFill>
                  <a:srgbClr val="404040"/>
                </a:solidFill>
                <a:latin typeface="微软雅黑" panose="020B0503020204020204" charset="-122"/>
                <a:ea typeface="微软雅黑" panose="020B0503020204020204" charset="-122"/>
                <a:sym typeface="+mn-ea"/>
              </a:rPr>
              <a:t>，目前缺口为</a:t>
            </a:r>
            <a:r>
              <a:rPr lang="en-US" altLang="zh-CN" sz="1400" kern="0" dirty="0">
                <a:solidFill>
                  <a:srgbClr val="404040"/>
                </a:solidFill>
                <a:latin typeface="微软雅黑" panose="020B0503020204020204" charset="-122"/>
                <a:ea typeface="微软雅黑" panose="020B0503020204020204" charset="-122"/>
                <a:sym typeface="+mn-ea"/>
              </a:rPr>
              <a:t>137.05</a:t>
            </a:r>
            <a:r>
              <a:rPr lang="zh-CN" altLang="en-US" sz="1400" kern="0" dirty="0">
                <a:solidFill>
                  <a:srgbClr val="404040"/>
                </a:solidFill>
                <a:latin typeface="微软雅黑" panose="020B0503020204020204" charset="-122"/>
                <a:ea typeface="微软雅黑" panose="020B0503020204020204" charset="-122"/>
                <a:sym typeface="+mn-ea"/>
              </a:rPr>
              <a:t>万元（</a:t>
            </a:r>
            <a:r>
              <a:rPr lang="en-US" altLang="zh-CN" sz="1400" kern="0" dirty="0">
                <a:solidFill>
                  <a:srgbClr val="404040"/>
                </a:solidFill>
                <a:latin typeface="微软雅黑" panose="020B0503020204020204" charset="-122"/>
                <a:ea typeface="微软雅黑" panose="020B0503020204020204" charset="-122"/>
                <a:sym typeface="+mn-ea"/>
              </a:rPr>
              <a:t>27.41%</a:t>
            </a:r>
            <a:r>
              <a:rPr lang="zh-CN" altLang="en-US" sz="1400" kern="0" dirty="0">
                <a:solidFill>
                  <a:srgbClr val="404040"/>
                </a:solidFill>
                <a:latin typeface="微软雅黑" panose="020B0503020204020204" charset="-122"/>
                <a:ea typeface="微软雅黑" panose="020B0503020204020204" charset="-122"/>
                <a:sym typeface="+mn-ea"/>
              </a:rPr>
              <a:t>）。</a:t>
            </a:r>
            <a:endParaRPr lang="zh-CN" altLang="en-US" sz="1400" kern="0" dirty="0">
              <a:solidFill>
                <a:srgbClr val="404040"/>
              </a:solidFill>
              <a:latin typeface="微软雅黑" panose="020B0503020204020204" charset="-122"/>
              <a:ea typeface="微软雅黑" panose="020B0503020204020204" charset="-122"/>
              <a:cs typeface="+mn-ea"/>
              <a:sym typeface="+mn-ea"/>
            </a:endParaRPr>
          </a:p>
        </p:txBody>
      </p:sp>
      <p:sp>
        <p:nvSpPr>
          <p:cNvPr id="64" name="TextBox 35"/>
          <p:cNvSpPr txBox="1"/>
          <p:nvPr/>
        </p:nvSpPr>
        <p:spPr>
          <a:xfrm>
            <a:off x="8966835" y="3402330"/>
            <a:ext cx="2611120" cy="2676525"/>
          </a:xfrm>
          <a:prstGeom prst="rect">
            <a:avLst/>
          </a:prstGeom>
          <a:noFill/>
        </p:spPr>
        <p:txBody>
          <a:bodyPr wrap="square" rtlCol="0">
            <a:spAutoFit/>
          </a:bodyPr>
          <a:lstStyle/>
          <a:p>
            <a:pPr indent="0">
              <a:lnSpc>
                <a:spcPct val="150000"/>
              </a:lnSpc>
              <a:spcBef>
                <a:spcPts val="500"/>
              </a:spcBef>
              <a:buClr>
                <a:srgbClr val="C00000"/>
              </a:buClr>
              <a:buFont typeface="Wingdings" panose="05000000000000000000" pitchFamily="2" charset="2"/>
              <a:buNone/>
              <a:defRPr/>
            </a:pPr>
            <a:r>
              <a:rPr lang="zh-CN" altLang="en-US" sz="1400" kern="0" dirty="0">
                <a:solidFill>
                  <a:srgbClr val="404040"/>
                </a:solidFill>
                <a:latin typeface="微软雅黑" panose="020B0503020204020204" charset="-122"/>
                <a:ea typeface="微软雅黑" panose="020B0503020204020204" charset="-122"/>
                <a:sym typeface="+mn-ea"/>
              </a:rPr>
              <a:t>请网络运营部牵头，结合网络优化进度，做好资产盘点清退工作，跟踪本月</a:t>
            </a:r>
            <a:r>
              <a:rPr lang="en-US" altLang="zh-CN" sz="1400" kern="0" dirty="0">
                <a:solidFill>
                  <a:srgbClr val="404040"/>
                </a:solidFill>
                <a:latin typeface="微软雅黑" panose="020B0503020204020204" charset="-122"/>
                <a:ea typeface="微软雅黑" panose="020B0503020204020204" charset="-122"/>
                <a:sym typeface="+mn-ea"/>
              </a:rPr>
              <a:t>WIFI</a:t>
            </a:r>
            <a:r>
              <a:rPr lang="zh-CN" altLang="en-US" sz="1400" kern="0" dirty="0">
                <a:solidFill>
                  <a:srgbClr val="404040"/>
                </a:solidFill>
                <a:latin typeface="微软雅黑" panose="020B0503020204020204" charset="-122"/>
                <a:ea typeface="微软雅黑" panose="020B0503020204020204" charset="-122"/>
                <a:sym typeface="+mn-ea"/>
              </a:rPr>
              <a:t>资产清查中发现的</a:t>
            </a:r>
            <a:r>
              <a:rPr lang="en-US" altLang="zh-CN" sz="1400" kern="0" dirty="0">
                <a:solidFill>
                  <a:srgbClr val="404040"/>
                </a:solidFill>
                <a:latin typeface="微软雅黑" panose="020B0503020204020204" charset="-122"/>
                <a:ea typeface="微软雅黑" panose="020B0503020204020204" charset="-122"/>
                <a:sym typeface="+mn-ea"/>
              </a:rPr>
              <a:t>AP</a:t>
            </a:r>
            <a:r>
              <a:rPr lang="zh-CN" altLang="en-US" sz="1400" kern="0" dirty="0">
                <a:solidFill>
                  <a:srgbClr val="404040"/>
                </a:solidFill>
                <a:latin typeface="微软雅黑" panose="020B0503020204020204" charset="-122"/>
                <a:ea typeface="微软雅黑" panose="020B0503020204020204" charset="-122"/>
                <a:sym typeface="+mn-ea"/>
              </a:rPr>
              <a:t>、交换机等实物已拆除资产的报废流程，并督促各县区尽快发起退网站点的固资报废申请，确保第二季度按要求完成报废预算。</a:t>
            </a:r>
            <a:endParaRPr lang="zh-CN" altLang="en-US" sz="1400" kern="0" dirty="0">
              <a:solidFill>
                <a:srgbClr val="404040"/>
              </a:solidFill>
              <a:latin typeface="微软雅黑" panose="020B0503020204020204" charset="-122"/>
              <a:ea typeface="微软雅黑" panose="020B0503020204020204" charset="-122"/>
              <a:cs typeface="+mn-ea"/>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par>
                                <p:cTn id="24" presetID="37" presetClass="entr" presetSubtype="0" fill="hold" grpId="0" nodeType="withEffect">
                                  <p:stCondLst>
                                    <p:cond delay="0"/>
                                  </p:stCondLst>
                                  <p:childTnLst>
                                    <p:set>
                                      <p:cBhvr>
                                        <p:cTn id="25" dur="1" fill="hold">
                                          <p:stCondLst>
                                            <p:cond delay="0"/>
                                          </p:stCondLst>
                                        </p:cTn>
                                        <p:tgtEl>
                                          <p:spTgt spid="60"/>
                                        </p:tgtEl>
                                        <p:attrNameLst>
                                          <p:attrName>style.visibility</p:attrName>
                                        </p:attrNameLst>
                                      </p:cBhvr>
                                      <p:to>
                                        <p:strVal val="visible"/>
                                      </p:to>
                                    </p:set>
                                    <p:animEffect transition="in" filter="fade">
                                      <p:cBhvr>
                                        <p:cTn id="26" dur="1000"/>
                                        <p:tgtEl>
                                          <p:spTgt spid="60"/>
                                        </p:tgtEl>
                                      </p:cBhvr>
                                    </p:animEffect>
                                    <p:anim calcmode="lin" valueType="num">
                                      <p:cBhvr>
                                        <p:cTn id="27" dur="1000" fill="hold"/>
                                        <p:tgtEl>
                                          <p:spTgt spid="60"/>
                                        </p:tgtEl>
                                        <p:attrNameLst>
                                          <p:attrName>ppt_x</p:attrName>
                                        </p:attrNameLst>
                                      </p:cBhvr>
                                      <p:tavLst>
                                        <p:tav tm="0">
                                          <p:val>
                                            <p:strVal val="#ppt_x"/>
                                          </p:val>
                                        </p:tav>
                                        <p:tav tm="100000">
                                          <p:val>
                                            <p:strVal val="#ppt_x"/>
                                          </p:val>
                                        </p:tav>
                                      </p:tavLst>
                                    </p:anim>
                                    <p:anim calcmode="lin" valueType="num">
                                      <p:cBhvr>
                                        <p:cTn id="28" dur="900" decel="100000" fill="hold"/>
                                        <p:tgtEl>
                                          <p:spTgt spid="60"/>
                                        </p:tgtEl>
                                        <p:attrNameLst>
                                          <p:attrName>ppt_y</p:attrName>
                                        </p:attrNameLst>
                                      </p:cBhvr>
                                      <p:tavLst>
                                        <p:tav tm="0">
                                          <p:val>
                                            <p:strVal val="#ppt_y+1"/>
                                          </p:val>
                                        </p:tav>
                                        <p:tav tm="100000">
                                          <p:val>
                                            <p:strVal val="#ppt_y-.03"/>
                                          </p:val>
                                        </p:tav>
                                      </p:tavLst>
                                    </p:anim>
                                    <p:anim calcmode="lin" valueType="num">
                                      <p:cBhvr>
                                        <p:cTn id="29" dur="100" accel="100000" fill="hold">
                                          <p:stCondLst>
                                            <p:cond delay="900"/>
                                          </p:stCondLst>
                                        </p:cTn>
                                        <p:tgtEl>
                                          <p:spTgt spid="60"/>
                                        </p:tgtEl>
                                        <p:attrNameLst>
                                          <p:attrName>ppt_y</p:attrName>
                                        </p:attrNameLst>
                                      </p:cBhvr>
                                      <p:tavLst>
                                        <p:tav tm="0">
                                          <p:val>
                                            <p:strVal val="#ppt_y-.03"/>
                                          </p:val>
                                        </p:tav>
                                        <p:tav tm="100000">
                                          <p:val>
                                            <p:strVal val="#ppt_y"/>
                                          </p:val>
                                        </p:tav>
                                      </p:tavLst>
                                    </p:anim>
                                  </p:childTnLst>
                                </p:cTn>
                              </p:par>
                              <p:par>
                                <p:cTn id="30" presetID="37" presetClass="entr" presetSubtype="0" fill="hold" grpId="0" nodeType="withEffect">
                                  <p:stCondLst>
                                    <p:cond delay="0"/>
                                  </p:stCondLst>
                                  <p:childTnLst>
                                    <p:set>
                                      <p:cBhvr>
                                        <p:cTn id="31" dur="1" fill="hold">
                                          <p:stCondLst>
                                            <p:cond delay="0"/>
                                          </p:stCondLst>
                                        </p:cTn>
                                        <p:tgtEl>
                                          <p:spTgt spid="61"/>
                                        </p:tgtEl>
                                        <p:attrNameLst>
                                          <p:attrName>style.visibility</p:attrName>
                                        </p:attrNameLst>
                                      </p:cBhvr>
                                      <p:to>
                                        <p:strVal val="visible"/>
                                      </p:to>
                                    </p:set>
                                    <p:animEffect transition="in" filter="fade">
                                      <p:cBhvr>
                                        <p:cTn id="32" dur="1000"/>
                                        <p:tgtEl>
                                          <p:spTgt spid="61"/>
                                        </p:tgtEl>
                                      </p:cBhvr>
                                    </p:animEffect>
                                    <p:anim calcmode="lin" valueType="num">
                                      <p:cBhvr>
                                        <p:cTn id="33" dur="1000" fill="hold"/>
                                        <p:tgtEl>
                                          <p:spTgt spid="61"/>
                                        </p:tgtEl>
                                        <p:attrNameLst>
                                          <p:attrName>ppt_x</p:attrName>
                                        </p:attrNameLst>
                                      </p:cBhvr>
                                      <p:tavLst>
                                        <p:tav tm="0">
                                          <p:val>
                                            <p:strVal val="#ppt_x"/>
                                          </p:val>
                                        </p:tav>
                                        <p:tav tm="100000">
                                          <p:val>
                                            <p:strVal val="#ppt_x"/>
                                          </p:val>
                                        </p:tav>
                                      </p:tavLst>
                                    </p:anim>
                                    <p:anim calcmode="lin" valueType="num">
                                      <p:cBhvr>
                                        <p:cTn id="34" dur="900" decel="100000" fill="hold"/>
                                        <p:tgtEl>
                                          <p:spTgt spid="61"/>
                                        </p:tgtEl>
                                        <p:attrNameLst>
                                          <p:attrName>ppt_y</p:attrName>
                                        </p:attrNameLst>
                                      </p:cBhvr>
                                      <p:tavLst>
                                        <p:tav tm="0">
                                          <p:val>
                                            <p:strVal val="#ppt_y+1"/>
                                          </p:val>
                                        </p:tav>
                                        <p:tav tm="100000">
                                          <p:val>
                                            <p:strVal val="#ppt_y-.03"/>
                                          </p:val>
                                        </p:tav>
                                      </p:tavLst>
                                    </p:anim>
                                    <p:anim calcmode="lin" valueType="num">
                                      <p:cBhvr>
                                        <p:cTn id="35" dur="100" accel="100000" fill="hold">
                                          <p:stCondLst>
                                            <p:cond delay="900"/>
                                          </p:stCondLst>
                                        </p:cTn>
                                        <p:tgtEl>
                                          <p:spTgt spid="61"/>
                                        </p:tgtEl>
                                        <p:attrNameLst>
                                          <p:attrName>ppt_y</p:attrName>
                                        </p:attrNameLst>
                                      </p:cBhvr>
                                      <p:tavLst>
                                        <p:tav tm="0">
                                          <p:val>
                                            <p:strVal val="#ppt_y-.03"/>
                                          </p:val>
                                        </p:tav>
                                        <p:tav tm="100000">
                                          <p:val>
                                            <p:strVal val="#ppt_y"/>
                                          </p:val>
                                        </p:tav>
                                      </p:tavLst>
                                    </p:anim>
                                  </p:childTnLst>
                                </p:cTn>
                              </p:par>
                              <p:par>
                                <p:cTn id="36" presetID="37" presetClass="entr" presetSubtype="0" fill="hold" grpId="0" nodeType="withEffect">
                                  <p:stCondLst>
                                    <p:cond delay="0"/>
                                  </p:stCondLst>
                                  <p:childTnLst>
                                    <p:set>
                                      <p:cBhvr>
                                        <p:cTn id="37" dur="1" fill="hold">
                                          <p:stCondLst>
                                            <p:cond delay="0"/>
                                          </p:stCondLst>
                                        </p:cTn>
                                        <p:tgtEl>
                                          <p:spTgt spid="63"/>
                                        </p:tgtEl>
                                        <p:attrNameLst>
                                          <p:attrName>style.visibility</p:attrName>
                                        </p:attrNameLst>
                                      </p:cBhvr>
                                      <p:to>
                                        <p:strVal val="visible"/>
                                      </p:to>
                                    </p:set>
                                    <p:animEffect transition="in" filter="fade">
                                      <p:cBhvr>
                                        <p:cTn id="38" dur="1000"/>
                                        <p:tgtEl>
                                          <p:spTgt spid="63"/>
                                        </p:tgtEl>
                                      </p:cBhvr>
                                    </p:animEffect>
                                    <p:anim calcmode="lin" valueType="num">
                                      <p:cBhvr>
                                        <p:cTn id="39" dur="1000" fill="hold"/>
                                        <p:tgtEl>
                                          <p:spTgt spid="63"/>
                                        </p:tgtEl>
                                        <p:attrNameLst>
                                          <p:attrName>ppt_x</p:attrName>
                                        </p:attrNameLst>
                                      </p:cBhvr>
                                      <p:tavLst>
                                        <p:tav tm="0">
                                          <p:val>
                                            <p:strVal val="#ppt_x"/>
                                          </p:val>
                                        </p:tav>
                                        <p:tav tm="100000">
                                          <p:val>
                                            <p:strVal val="#ppt_x"/>
                                          </p:val>
                                        </p:tav>
                                      </p:tavLst>
                                    </p:anim>
                                    <p:anim calcmode="lin" valueType="num">
                                      <p:cBhvr>
                                        <p:cTn id="40" dur="900" decel="100000" fill="hold"/>
                                        <p:tgtEl>
                                          <p:spTgt spid="63"/>
                                        </p:tgtEl>
                                        <p:attrNameLst>
                                          <p:attrName>ppt_y</p:attrName>
                                        </p:attrNameLst>
                                      </p:cBhvr>
                                      <p:tavLst>
                                        <p:tav tm="0">
                                          <p:val>
                                            <p:strVal val="#ppt_y+1"/>
                                          </p:val>
                                        </p:tav>
                                        <p:tav tm="100000">
                                          <p:val>
                                            <p:strVal val="#ppt_y-.03"/>
                                          </p:val>
                                        </p:tav>
                                      </p:tavLst>
                                    </p:anim>
                                    <p:anim calcmode="lin" valueType="num">
                                      <p:cBhvr>
                                        <p:cTn id="41" dur="100" accel="100000" fill="hold">
                                          <p:stCondLst>
                                            <p:cond delay="900"/>
                                          </p:stCondLst>
                                        </p:cTn>
                                        <p:tgtEl>
                                          <p:spTgt spid="63"/>
                                        </p:tgtEl>
                                        <p:attrNameLst>
                                          <p:attrName>ppt_y</p:attrName>
                                        </p:attrNameLst>
                                      </p:cBhvr>
                                      <p:tavLst>
                                        <p:tav tm="0">
                                          <p:val>
                                            <p:strVal val="#ppt_y-.03"/>
                                          </p:val>
                                        </p:tav>
                                        <p:tav tm="100000">
                                          <p:val>
                                            <p:strVal val="#ppt_y"/>
                                          </p:val>
                                        </p:tav>
                                      </p:tavLst>
                                    </p:anim>
                                  </p:childTnLst>
                                </p:cTn>
                              </p:par>
                              <p:par>
                                <p:cTn id="42" presetID="37" presetClass="entr" presetSubtype="0" fill="hold" grpId="0" nodeType="withEffect">
                                  <p:stCondLst>
                                    <p:cond delay="0"/>
                                  </p:stCondLst>
                                  <p:childTnLst>
                                    <p:set>
                                      <p:cBhvr>
                                        <p:cTn id="43" dur="1" fill="hold">
                                          <p:stCondLst>
                                            <p:cond delay="0"/>
                                          </p:stCondLst>
                                        </p:cTn>
                                        <p:tgtEl>
                                          <p:spTgt spid="64"/>
                                        </p:tgtEl>
                                        <p:attrNameLst>
                                          <p:attrName>style.visibility</p:attrName>
                                        </p:attrNameLst>
                                      </p:cBhvr>
                                      <p:to>
                                        <p:strVal val="visible"/>
                                      </p:to>
                                    </p:set>
                                    <p:animEffect transition="in" filter="fade">
                                      <p:cBhvr>
                                        <p:cTn id="44" dur="1000"/>
                                        <p:tgtEl>
                                          <p:spTgt spid="64"/>
                                        </p:tgtEl>
                                      </p:cBhvr>
                                    </p:animEffect>
                                    <p:anim calcmode="lin" valueType="num">
                                      <p:cBhvr>
                                        <p:cTn id="45" dur="1000" fill="hold"/>
                                        <p:tgtEl>
                                          <p:spTgt spid="64"/>
                                        </p:tgtEl>
                                        <p:attrNameLst>
                                          <p:attrName>ppt_x</p:attrName>
                                        </p:attrNameLst>
                                      </p:cBhvr>
                                      <p:tavLst>
                                        <p:tav tm="0">
                                          <p:val>
                                            <p:strVal val="#ppt_x"/>
                                          </p:val>
                                        </p:tav>
                                        <p:tav tm="100000">
                                          <p:val>
                                            <p:strVal val="#ppt_x"/>
                                          </p:val>
                                        </p:tav>
                                      </p:tavLst>
                                    </p:anim>
                                    <p:anim calcmode="lin" valueType="num">
                                      <p:cBhvr>
                                        <p:cTn id="46" dur="900" decel="100000" fill="hold"/>
                                        <p:tgtEl>
                                          <p:spTgt spid="64"/>
                                        </p:tgtEl>
                                        <p:attrNameLst>
                                          <p:attrName>ppt_y</p:attrName>
                                        </p:attrNameLst>
                                      </p:cBhvr>
                                      <p:tavLst>
                                        <p:tav tm="0">
                                          <p:val>
                                            <p:strVal val="#ppt_y+1"/>
                                          </p:val>
                                        </p:tav>
                                        <p:tav tm="100000">
                                          <p:val>
                                            <p:strVal val="#ppt_y-.03"/>
                                          </p:val>
                                        </p:tav>
                                      </p:tavLst>
                                    </p:anim>
                                    <p:anim calcmode="lin" valueType="num">
                                      <p:cBhvr>
                                        <p:cTn id="47" dur="100" accel="100000" fill="hold">
                                          <p:stCondLst>
                                            <p:cond delay="900"/>
                                          </p:stCondLst>
                                        </p:cTn>
                                        <p:tgtEl>
                                          <p:spTgt spid="6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p:bldP spid="63" grpId="0"/>
      <p:bldP spid="64"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1" name="组合 20"/>
          <p:cNvGrpSpPr/>
          <p:nvPr/>
        </p:nvGrpSpPr>
        <p:grpSpPr>
          <a:xfrm>
            <a:off x="3348191" y="2292387"/>
            <a:ext cx="4768768" cy="4565615"/>
            <a:chOff x="3513680" y="1931126"/>
            <a:chExt cx="5164640" cy="4944623"/>
          </a:xfrm>
        </p:grpSpPr>
        <p:pic>
          <p:nvPicPr>
            <p:cNvPr id="22" name="Picture 2" descr="E:\lizzy\PPT-by lizzy\自制PNG\iphone5-b.png"/>
            <p:cNvPicPr>
              <a:picLocks noChangeAspect="1" noChangeArrowheads="1"/>
            </p:cNvPicPr>
            <p:nvPr/>
          </p:nvPicPr>
          <p:blipFill rotWithShape="1">
            <a:blip r:embed="rId3"/>
            <a:srcRect/>
            <a:stretch>
              <a:fillRect/>
            </a:stretch>
          </p:blipFill>
          <p:spPr bwMode="auto">
            <a:xfrm>
              <a:off x="3513680" y="1931126"/>
              <a:ext cx="5164640" cy="4926874"/>
            </a:xfrm>
            <a:prstGeom prst="rect">
              <a:avLst/>
            </a:prstGeom>
            <a:noFill/>
            <a:extLst>
              <a:ext uri="{909E8E84-426E-40DD-AFC4-6F175D3DCCD1}">
                <a14:hiddenFill xmlns:a14="http://schemas.microsoft.com/office/drawing/2010/main">
                  <a:solidFill>
                    <a:srgbClr val="FFFFFF"/>
                  </a:solidFill>
                </a14:hiddenFill>
              </a:ext>
            </a:extLst>
          </p:spPr>
        </p:pic>
        <p:sp>
          <p:nvSpPr>
            <p:cNvPr id="23" name="矩形 22"/>
            <p:cNvSpPr/>
            <p:nvPr/>
          </p:nvSpPr>
          <p:spPr>
            <a:xfrm>
              <a:off x="4405360" y="3112168"/>
              <a:ext cx="3276703" cy="3763581"/>
            </a:xfrm>
            <a:prstGeom prst="rect">
              <a:avLst/>
            </a:prstGeom>
            <a:blipFill>
              <a:blip r:embed="rId4"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ea typeface="微软雅黑" panose="020B0503020204020204" charset="-122"/>
              </a:endParaRPr>
            </a:p>
          </p:txBody>
        </p:sp>
      </p:grpSp>
      <p:grpSp>
        <p:nvGrpSpPr>
          <p:cNvPr id="24" name="组合 23"/>
          <p:cNvGrpSpPr/>
          <p:nvPr/>
        </p:nvGrpSpPr>
        <p:grpSpPr>
          <a:xfrm>
            <a:off x="3251633" y="3601819"/>
            <a:ext cx="1484148" cy="1484148"/>
            <a:chOff x="3427660" y="3452388"/>
            <a:chExt cx="1484148" cy="1484148"/>
          </a:xfrm>
        </p:grpSpPr>
        <p:sp>
          <p:nvSpPr>
            <p:cNvPr id="25" name="椭圆 24"/>
            <p:cNvSpPr/>
            <p:nvPr/>
          </p:nvSpPr>
          <p:spPr>
            <a:xfrm>
              <a:off x="3427660" y="3452388"/>
              <a:ext cx="1484148" cy="148414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ea typeface="微软雅黑" panose="020B0503020204020204" charset="-122"/>
              </a:endParaRPr>
            </a:p>
          </p:txBody>
        </p:sp>
        <p:grpSp>
          <p:nvGrpSpPr>
            <p:cNvPr id="26" name="组合 25"/>
            <p:cNvGrpSpPr>
              <a:grpSpLocks noChangeAspect="1"/>
            </p:cNvGrpSpPr>
            <p:nvPr/>
          </p:nvGrpSpPr>
          <p:grpSpPr>
            <a:xfrm>
              <a:off x="3809886" y="3874477"/>
              <a:ext cx="719696" cy="551771"/>
              <a:chOff x="5611813" y="1835150"/>
              <a:chExt cx="285750" cy="219076"/>
            </a:xfrm>
            <a:solidFill>
              <a:schemeClr val="bg1"/>
            </a:solidFill>
          </p:grpSpPr>
          <p:sp>
            <p:nvSpPr>
              <p:cNvPr id="27" name="Freeform 57"/>
              <p:cNvSpPr/>
              <p:nvPr/>
            </p:nvSpPr>
            <p:spPr bwMode="auto">
              <a:xfrm>
                <a:off x="5611813" y="2046288"/>
                <a:ext cx="285750" cy="7938"/>
              </a:xfrm>
              <a:custGeom>
                <a:avLst/>
                <a:gdLst>
                  <a:gd name="T0" fmla="*/ 2 w 76"/>
                  <a:gd name="T1" fmla="*/ 2 h 2"/>
                  <a:gd name="T2" fmla="*/ 0 w 76"/>
                  <a:gd name="T3" fmla="*/ 1 h 2"/>
                  <a:gd name="T4" fmla="*/ 2 w 76"/>
                  <a:gd name="T5" fmla="*/ 0 h 2"/>
                  <a:gd name="T6" fmla="*/ 75 w 76"/>
                  <a:gd name="T7" fmla="*/ 0 h 2"/>
                  <a:gd name="T8" fmla="*/ 76 w 76"/>
                  <a:gd name="T9" fmla="*/ 1 h 2"/>
                  <a:gd name="T10" fmla="*/ 75 w 76"/>
                  <a:gd name="T11" fmla="*/ 2 h 2"/>
                  <a:gd name="T12" fmla="*/ 2 w 76"/>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76" h="2">
                    <a:moveTo>
                      <a:pt x="2" y="2"/>
                    </a:moveTo>
                    <a:cubicBezTo>
                      <a:pt x="1" y="2"/>
                      <a:pt x="0" y="2"/>
                      <a:pt x="0" y="1"/>
                    </a:cubicBezTo>
                    <a:cubicBezTo>
                      <a:pt x="0" y="0"/>
                      <a:pt x="1" y="0"/>
                      <a:pt x="2" y="0"/>
                    </a:cubicBezTo>
                    <a:cubicBezTo>
                      <a:pt x="75" y="0"/>
                      <a:pt x="75" y="0"/>
                      <a:pt x="75" y="0"/>
                    </a:cubicBezTo>
                    <a:cubicBezTo>
                      <a:pt x="75" y="0"/>
                      <a:pt x="76" y="0"/>
                      <a:pt x="76" y="1"/>
                    </a:cubicBezTo>
                    <a:cubicBezTo>
                      <a:pt x="76" y="2"/>
                      <a:pt x="75" y="2"/>
                      <a:pt x="75" y="2"/>
                    </a:cubicBezTo>
                    <a:lnTo>
                      <a:pt x="2"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ea typeface="微软雅黑" panose="020B0503020204020204" charset="-122"/>
                </a:endParaRPr>
              </a:p>
            </p:txBody>
          </p:sp>
          <p:sp>
            <p:nvSpPr>
              <p:cNvPr id="28" name="Rectangle 58"/>
              <p:cNvSpPr>
                <a:spLocks noChangeArrowheads="1"/>
              </p:cNvSpPr>
              <p:nvPr/>
            </p:nvSpPr>
            <p:spPr bwMode="auto">
              <a:xfrm>
                <a:off x="5648326" y="1884363"/>
                <a:ext cx="41275" cy="1397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5" dirty="0">
                  <a:ea typeface="微软雅黑" panose="020B0503020204020204" charset="-122"/>
                </a:endParaRPr>
              </a:p>
            </p:txBody>
          </p:sp>
          <p:sp>
            <p:nvSpPr>
              <p:cNvPr id="29" name="Rectangle 59"/>
              <p:cNvSpPr>
                <a:spLocks noChangeArrowheads="1"/>
              </p:cNvSpPr>
              <p:nvPr/>
            </p:nvSpPr>
            <p:spPr bwMode="auto">
              <a:xfrm>
                <a:off x="5708651" y="1835150"/>
                <a:ext cx="41275" cy="1889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5" dirty="0">
                  <a:ea typeface="微软雅黑" panose="020B0503020204020204" charset="-122"/>
                </a:endParaRPr>
              </a:p>
            </p:txBody>
          </p:sp>
          <p:sp>
            <p:nvSpPr>
              <p:cNvPr id="30" name="Rectangle 60"/>
              <p:cNvSpPr>
                <a:spLocks noChangeArrowheads="1"/>
              </p:cNvSpPr>
              <p:nvPr/>
            </p:nvSpPr>
            <p:spPr bwMode="auto">
              <a:xfrm>
                <a:off x="5768976" y="1895475"/>
                <a:ext cx="41275" cy="128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5" dirty="0">
                  <a:ea typeface="微软雅黑" panose="020B0503020204020204" charset="-122"/>
                </a:endParaRPr>
              </a:p>
            </p:txBody>
          </p:sp>
          <p:sp>
            <p:nvSpPr>
              <p:cNvPr id="31" name="Rectangle 61"/>
              <p:cNvSpPr>
                <a:spLocks noChangeArrowheads="1"/>
              </p:cNvSpPr>
              <p:nvPr/>
            </p:nvSpPr>
            <p:spPr bwMode="auto">
              <a:xfrm>
                <a:off x="5829301" y="1936750"/>
                <a:ext cx="41275" cy="873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5" dirty="0">
                  <a:ea typeface="微软雅黑" panose="020B0503020204020204" charset="-122"/>
                </a:endParaRPr>
              </a:p>
            </p:txBody>
          </p:sp>
        </p:grpSp>
      </p:grpSp>
      <p:grpSp>
        <p:nvGrpSpPr>
          <p:cNvPr id="32" name="组合 31"/>
          <p:cNvGrpSpPr/>
          <p:nvPr/>
        </p:nvGrpSpPr>
        <p:grpSpPr>
          <a:xfrm>
            <a:off x="6644808" y="4529317"/>
            <a:ext cx="1484148" cy="1484148"/>
            <a:chOff x="7270150" y="4604902"/>
            <a:chExt cx="1484148" cy="1484148"/>
          </a:xfrm>
        </p:grpSpPr>
        <p:sp>
          <p:nvSpPr>
            <p:cNvPr id="33" name="椭圆 32"/>
            <p:cNvSpPr/>
            <p:nvPr/>
          </p:nvSpPr>
          <p:spPr>
            <a:xfrm>
              <a:off x="7270150" y="4604902"/>
              <a:ext cx="1484148" cy="148414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ea typeface="微软雅黑" panose="020B0503020204020204" charset="-122"/>
              </a:endParaRPr>
            </a:p>
          </p:txBody>
        </p:sp>
        <p:sp>
          <p:nvSpPr>
            <p:cNvPr id="34" name="椭圆形标注 33"/>
            <p:cNvSpPr/>
            <p:nvPr/>
          </p:nvSpPr>
          <p:spPr>
            <a:xfrm>
              <a:off x="7640426" y="5076976"/>
              <a:ext cx="743596" cy="540000"/>
            </a:xfrm>
            <a:prstGeom prst="wedgeEllipseCallout">
              <a:avLst>
                <a:gd name="adj1" fmla="val -38188"/>
                <a:gd name="adj2" fmla="val 618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ea typeface="微软雅黑" panose="020B0503020204020204" charset="-122"/>
              </a:endParaRPr>
            </a:p>
          </p:txBody>
        </p:sp>
      </p:grpSp>
      <p:sp>
        <p:nvSpPr>
          <p:cNvPr id="35" name="矩形 34"/>
          <p:cNvSpPr/>
          <p:nvPr/>
        </p:nvSpPr>
        <p:spPr>
          <a:xfrm>
            <a:off x="8117205" y="1989455"/>
            <a:ext cx="1943735" cy="767080"/>
          </a:xfrm>
          <a:prstGeom prst="rect">
            <a:avLst/>
          </a:prstGeom>
        </p:spPr>
        <p:txBody>
          <a:bodyPr wrap="square" lIns="91434" tIns="45718" rIns="91434" bIns="45718">
            <a:spAutoFit/>
          </a:bodyPr>
          <a:lstStyle/>
          <a:p>
            <a:pPr algn="ctr"/>
            <a:r>
              <a:rPr lang="zh-CN" altLang="en-US" sz="2200" dirty="0">
                <a:latin typeface="微软雅黑" panose="020B0503020204020204" charset="-122"/>
                <a:ea typeface="微软雅黑" panose="020B0503020204020204" charset="-122"/>
                <a:sym typeface="+mn-ea"/>
              </a:rPr>
              <a:t>资金实力强</a:t>
            </a:r>
            <a:endParaRPr lang="en-US" altLang="zh-CN" sz="2200" dirty="0">
              <a:latin typeface="微软雅黑" panose="020B0503020204020204" charset="-122"/>
              <a:ea typeface="微软雅黑" panose="020B0503020204020204" charset="-122"/>
            </a:endParaRPr>
          </a:p>
          <a:p>
            <a:pPr algn="ctr"/>
            <a:r>
              <a:rPr lang="en-US" altLang="zh-CN" sz="2200" dirty="0">
                <a:latin typeface="微软雅黑" panose="020B0503020204020204" charset="-122"/>
                <a:ea typeface="微软雅黑" panose="020B0503020204020204" charset="-122"/>
                <a:sym typeface="+mn-ea"/>
              </a:rPr>
              <a:t>ICP</a:t>
            </a:r>
            <a:r>
              <a:rPr lang="zh-CN" altLang="en-US" sz="2200" dirty="0">
                <a:latin typeface="微软雅黑" panose="020B0503020204020204" charset="-122"/>
                <a:ea typeface="微软雅黑" panose="020B0503020204020204" charset="-122"/>
                <a:sym typeface="+mn-ea"/>
              </a:rPr>
              <a:t>备案</a:t>
            </a:r>
            <a:endParaRPr lang="zh-CN" altLang="en-US" sz="2200" b="1" dirty="0">
              <a:solidFill>
                <a:srgbClr val="404040"/>
              </a:solidFill>
              <a:latin typeface="微软雅黑" panose="020B0503020204020204" charset="-122"/>
              <a:ea typeface="微软雅黑" panose="020B0503020204020204" charset="-122"/>
            </a:endParaRPr>
          </a:p>
        </p:txBody>
      </p:sp>
      <p:grpSp>
        <p:nvGrpSpPr>
          <p:cNvPr id="37" name="组合 36"/>
          <p:cNvGrpSpPr/>
          <p:nvPr/>
        </p:nvGrpSpPr>
        <p:grpSpPr>
          <a:xfrm>
            <a:off x="6490449" y="1921589"/>
            <a:ext cx="1484148" cy="1484148"/>
            <a:chOff x="7270150" y="1939337"/>
            <a:chExt cx="1484148" cy="1484148"/>
          </a:xfrm>
        </p:grpSpPr>
        <p:sp>
          <p:nvSpPr>
            <p:cNvPr id="38" name="椭圆 37"/>
            <p:cNvSpPr/>
            <p:nvPr/>
          </p:nvSpPr>
          <p:spPr>
            <a:xfrm>
              <a:off x="7270150" y="1939337"/>
              <a:ext cx="1484148" cy="148414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ea typeface="微软雅黑" panose="020B0503020204020204" charset="-122"/>
              </a:endParaRPr>
            </a:p>
          </p:txBody>
        </p:sp>
        <p:grpSp>
          <p:nvGrpSpPr>
            <p:cNvPr id="39" name="组合 38"/>
            <p:cNvGrpSpPr/>
            <p:nvPr/>
          </p:nvGrpSpPr>
          <p:grpSpPr>
            <a:xfrm>
              <a:off x="7628394" y="2388545"/>
              <a:ext cx="767661" cy="585733"/>
              <a:chOff x="12227116" y="4392007"/>
              <a:chExt cx="627436" cy="478740"/>
            </a:xfrm>
          </p:grpSpPr>
          <p:sp>
            <p:nvSpPr>
              <p:cNvPr id="40" name="Freeform 112"/>
              <p:cNvSpPr>
                <a:spLocks noEditPoints="1"/>
              </p:cNvSpPr>
              <p:nvPr/>
            </p:nvSpPr>
            <p:spPr bwMode="auto">
              <a:xfrm>
                <a:off x="12303279" y="4392007"/>
                <a:ext cx="482364" cy="301026"/>
              </a:xfrm>
              <a:custGeom>
                <a:avLst/>
                <a:gdLst>
                  <a:gd name="T0" fmla="*/ 52 w 56"/>
                  <a:gd name="T1" fmla="*/ 0 h 35"/>
                  <a:gd name="T2" fmla="*/ 4 w 56"/>
                  <a:gd name="T3" fmla="*/ 0 h 35"/>
                  <a:gd name="T4" fmla="*/ 0 w 56"/>
                  <a:gd name="T5" fmla="*/ 4 h 35"/>
                  <a:gd name="T6" fmla="*/ 0 w 56"/>
                  <a:gd name="T7" fmla="*/ 31 h 35"/>
                  <a:gd name="T8" fmla="*/ 4 w 56"/>
                  <a:gd name="T9" fmla="*/ 35 h 35"/>
                  <a:gd name="T10" fmla="*/ 52 w 56"/>
                  <a:gd name="T11" fmla="*/ 35 h 35"/>
                  <a:gd name="T12" fmla="*/ 56 w 56"/>
                  <a:gd name="T13" fmla="*/ 31 h 35"/>
                  <a:gd name="T14" fmla="*/ 56 w 56"/>
                  <a:gd name="T15" fmla="*/ 4 h 35"/>
                  <a:gd name="T16" fmla="*/ 52 w 56"/>
                  <a:gd name="T17" fmla="*/ 0 h 35"/>
                  <a:gd name="T18" fmla="*/ 49 w 56"/>
                  <a:gd name="T19" fmla="*/ 27 h 35"/>
                  <a:gd name="T20" fmla="*/ 46 w 56"/>
                  <a:gd name="T21" fmla="*/ 30 h 35"/>
                  <a:gd name="T22" fmla="*/ 9 w 56"/>
                  <a:gd name="T23" fmla="*/ 30 h 35"/>
                  <a:gd name="T24" fmla="*/ 6 w 56"/>
                  <a:gd name="T25" fmla="*/ 27 h 35"/>
                  <a:gd name="T26" fmla="*/ 6 w 56"/>
                  <a:gd name="T27" fmla="*/ 8 h 35"/>
                  <a:gd name="T28" fmla="*/ 9 w 56"/>
                  <a:gd name="T29" fmla="*/ 5 h 35"/>
                  <a:gd name="T30" fmla="*/ 46 w 56"/>
                  <a:gd name="T31" fmla="*/ 5 h 35"/>
                  <a:gd name="T32" fmla="*/ 49 w 56"/>
                  <a:gd name="T33" fmla="*/ 8 h 35"/>
                  <a:gd name="T34" fmla="*/ 49 w 56"/>
                  <a:gd name="T35" fmla="*/ 2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6" h="35">
                    <a:moveTo>
                      <a:pt x="52" y="0"/>
                    </a:moveTo>
                    <a:cubicBezTo>
                      <a:pt x="4" y="0"/>
                      <a:pt x="4" y="0"/>
                      <a:pt x="4" y="0"/>
                    </a:cubicBezTo>
                    <a:cubicBezTo>
                      <a:pt x="2" y="0"/>
                      <a:pt x="0" y="2"/>
                      <a:pt x="0" y="4"/>
                    </a:cubicBezTo>
                    <a:cubicBezTo>
                      <a:pt x="0" y="31"/>
                      <a:pt x="0" y="31"/>
                      <a:pt x="0" y="31"/>
                    </a:cubicBezTo>
                    <a:cubicBezTo>
                      <a:pt x="0" y="33"/>
                      <a:pt x="2" y="35"/>
                      <a:pt x="4" y="35"/>
                    </a:cubicBezTo>
                    <a:cubicBezTo>
                      <a:pt x="52" y="35"/>
                      <a:pt x="52" y="35"/>
                      <a:pt x="52" y="35"/>
                    </a:cubicBezTo>
                    <a:cubicBezTo>
                      <a:pt x="54" y="35"/>
                      <a:pt x="56" y="33"/>
                      <a:pt x="56" y="31"/>
                    </a:cubicBezTo>
                    <a:cubicBezTo>
                      <a:pt x="56" y="4"/>
                      <a:pt x="56" y="4"/>
                      <a:pt x="56" y="4"/>
                    </a:cubicBezTo>
                    <a:cubicBezTo>
                      <a:pt x="56" y="2"/>
                      <a:pt x="54" y="0"/>
                      <a:pt x="52" y="0"/>
                    </a:cubicBezTo>
                    <a:close/>
                    <a:moveTo>
                      <a:pt x="49" y="27"/>
                    </a:moveTo>
                    <a:cubicBezTo>
                      <a:pt x="49" y="29"/>
                      <a:pt x="48" y="30"/>
                      <a:pt x="46" y="30"/>
                    </a:cubicBezTo>
                    <a:cubicBezTo>
                      <a:pt x="9" y="30"/>
                      <a:pt x="9" y="30"/>
                      <a:pt x="9" y="30"/>
                    </a:cubicBezTo>
                    <a:cubicBezTo>
                      <a:pt x="7" y="30"/>
                      <a:pt x="6" y="29"/>
                      <a:pt x="6" y="27"/>
                    </a:cubicBezTo>
                    <a:cubicBezTo>
                      <a:pt x="6" y="8"/>
                      <a:pt x="6" y="8"/>
                      <a:pt x="6" y="8"/>
                    </a:cubicBezTo>
                    <a:cubicBezTo>
                      <a:pt x="6" y="6"/>
                      <a:pt x="7" y="5"/>
                      <a:pt x="9" y="5"/>
                    </a:cubicBezTo>
                    <a:cubicBezTo>
                      <a:pt x="46" y="5"/>
                      <a:pt x="46" y="5"/>
                      <a:pt x="46" y="5"/>
                    </a:cubicBezTo>
                    <a:cubicBezTo>
                      <a:pt x="48" y="5"/>
                      <a:pt x="49" y="6"/>
                      <a:pt x="49" y="8"/>
                    </a:cubicBezTo>
                    <a:lnTo>
                      <a:pt x="49" y="2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ea typeface="微软雅黑" panose="020B0503020204020204" charset="-122"/>
                </a:endParaRPr>
              </a:p>
            </p:txBody>
          </p:sp>
          <p:sp>
            <p:nvSpPr>
              <p:cNvPr id="41" name="Freeform 113"/>
              <p:cNvSpPr>
                <a:spLocks noEditPoints="1"/>
              </p:cNvSpPr>
              <p:nvPr/>
            </p:nvSpPr>
            <p:spPr bwMode="auto">
              <a:xfrm>
                <a:off x="12227116" y="4707540"/>
                <a:ext cx="627436" cy="163207"/>
              </a:xfrm>
              <a:custGeom>
                <a:avLst/>
                <a:gdLst>
                  <a:gd name="T0" fmla="*/ 67 w 73"/>
                  <a:gd name="T1" fmla="*/ 3 h 19"/>
                  <a:gd name="T2" fmla="*/ 63 w 73"/>
                  <a:gd name="T3" fmla="*/ 0 h 19"/>
                  <a:gd name="T4" fmla="*/ 10 w 73"/>
                  <a:gd name="T5" fmla="*/ 0 h 19"/>
                  <a:gd name="T6" fmla="*/ 7 w 73"/>
                  <a:gd name="T7" fmla="*/ 3 h 19"/>
                  <a:gd name="T8" fmla="*/ 1 w 73"/>
                  <a:gd name="T9" fmla="*/ 13 h 19"/>
                  <a:gd name="T10" fmla="*/ 73 w 73"/>
                  <a:gd name="T11" fmla="*/ 13 h 19"/>
                  <a:gd name="T12" fmla="*/ 67 w 73"/>
                  <a:gd name="T13" fmla="*/ 3 h 19"/>
                  <a:gd name="T14" fmla="*/ 25 w 73"/>
                  <a:gd name="T15" fmla="*/ 12 h 19"/>
                  <a:gd name="T16" fmla="*/ 27 w 73"/>
                  <a:gd name="T17" fmla="*/ 9 h 19"/>
                  <a:gd name="T18" fmla="*/ 47 w 73"/>
                  <a:gd name="T19" fmla="*/ 9 h 19"/>
                  <a:gd name="T20" fmla="*/ 48 w 73"/>
                  <a:gd name="T21" fmla="*/ 12 h 19"/>
                  <a:gd name="T22" fmla="*/ 25 w 73"/>
                  <a:gd name="T23" fmla="*/ 12 h 19"/>
                  <a:gd name="T24" fmla="*/ 62 w 73"/>
                  <a:gd name="T25" fmla="*/ 7 h 19"/>
                  <a:gd name="T26" fmla="*/ 12 w 73"/>
                  <a:gd name="T27" fmla="*/ 7 h 19"/>
                  <a:gd name="T28" fmla="*/ 9 w 73"/>
                  <a:gd name="T29" fmla="*/ 6 h 19"/>
                  <a:gd name="T30" fmla="*/ 10 w 73"/>
                  <a:gd name="T31" fmla="*/ 3 h 19"/>
                  <a:gd name="T32" fmla="*/ 13 w 73"/>
                  <a:gd name="T33" fmla="*/ 2 h 19"/>
                  <a:gd name="T34" fmla="*/ 61 w 73"/>
                  <a:gd name="T35" fmla="*/ 2 h 19"/>
                  <a:gd name="T36" fmla="*/ 63 w 73"/>
                  <a:gd name="T37" fmla="*/ 3 h 19"/>
                  <a:gd name="T38" fmla="*/ 65 w 73"/>
                  <a:gd name="T39" fmla="*/ 6 h 19"/>
                  <a:gd name="T40" fmla="*/ 62 w 73"/>
                  <a:gd name="T41" fmla="*/ 7 h 19"/>
                  <a:gd name="T42" fmla="*/ 0 w 73"/>
                  <a:gd name="T43" fmla="*/ 15 h 19"/>
                  <a:gd name="T44" fmla="*/ 3 w 73"/>
                  <a:gd name="T45" fmla="*/ 19 h 19"/>
                  <a:gd name="T46" fmla="*/ 70 w 73"/>
                  <a:gd name="T47" fmla="*/ 19 h 19"/>
                  <a:gd name="T48" fmla="*/ 73 w 73"/>
                  <a:gd name="T49" fmla="*/ 15 h 19"/>
                  <a:gd name="T50" fmla="*/ 0 w 73"/>
                  <a:gd name="T51" fmla="*/ 15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 h="19">
                    <a:moveTo>
                      <a:pt x="67" y="3"/>
                    </a:moveTo>
                    <a:cubicBezTo>
                      <a:pt x="66" y="1"/>
                      <a:pt x="65" y="0"/>
                      <a:pt x="63" y="0"/>
                    </a:cubicBezTo>
                    <a:cubicBezTo>
                      <a:pt x="10" y="0"/>
                      <a:pt x="10" y="0"/>
                      <a:pt x="10" y="0"/>
                    </a:cubicBezTo>
                    <a:cubicBezTo>
                      <a:pt x="8" y="0"/>
                      <a:pt x="7" y="2"/>
                      <a:pt x="7" y="3"/>
                    </a:cubicBezTo>
                    <a:cubicBezTo>
                      <a:pt x="1" y="13"/>
                      <a:pt x="1" y="13"/>
                      <a:pt x="1" y="13"/>
                    </a:cubicBezTo>
                    <a:cubicBezTo>
                      <a:pt x="73" y="13"/>
                      <a:pt x="73" y="13"/>
                      <a:pt x="73" y="13"/>
                    </a:cubicBezTo>
                    <a:lnTo>
                      <a:pt x="67" y="3"/>
                    </a:lnTo>
                    <a:close/>
                    <a:moveTo>
                      <a:pt x="25" y="12"/>
                    </a:moveTo>
                    <a:cubicBezTo>
                      <a:pt x="27" y="9"/>
                      <a:pt x="27" y="9"/>
                      <a:pt x="27" y="9"/>
                    </a:cubicBezTo>
                    <a:cubicBezTo>
                      <a:pt x="47" y="9"/>
                      <a:pt x="47" y="9"/>
                      <a:pt x="47" y="9"/>
                    </a:cubicBezTo>
                    <a:cubicBezTo>
                      <a:pt x="48" y="12"/>
                      <a:pt x="48" y="12"/>
                      <a:pt x="48" y="12"/>
                    </a:cubicBezTo>
                    <a:lnTo>
                      <a:pt x="25" y="12"/>
                    </a:lnTo>
                    <a:close/>
                    <a:moveTo>
                      <a:pt x="62" y="7"/>
                    </a:moveTo>
                    <a:cubicBezTo>
                      <a:pt x="12" y="7"/>
                      <a:pt x="12" y="7"/>
                      <a:pt x="12" y="7"/>
                    </a:cubicBezTo>
                    <a:cubicBezTo>
                      <a:pt x="9" y="7"/>
                      <a:pt x="9" y="6"/>
                      <a:pt x="9" y="6"/>
                    </a:cubicBezTo>
                    <a:cubicBezTo>
                      <a:pt x="10" y="3"/>
                      <a:pt x="10" y="3"/>
                      <a:pt x="10" y="3"/>
                    </a:cubicBezTo>
                    <a:cubicBezTo>
                      <a:pt x="11" y="3"/>
                      <a:pt x="11" y="2"/>
                      <a:pt x="13" y="2"/>
                    </a:cubicBezTo>
                    <a:cubicBezTo>
                      <a:pt x="61" y="2"/>
                      <a:pt x="61" y="2"/>
                      <a:pt x="61" y="2"/>
                    </a:cubicBezTo>
                    <a:cubicBezTo>
                      <a:pt x="62" y="2"/>
                      <a:pt x="63" y="3"/>
                      <a:pt x="63" y="3"/>
                    </a:cubicBezTo>
                    <a:cubicBezTo>
                      <a:pt x="65" y="6"/>
                      <a:pt x="65" y="6"/>
                      <a:pt x="65" y="6"/>
                    </a:cubicBezTo>
                    <a:cubicBezTo>
                      <a:pt x="65" y="6"/>
                      <a:pt x="65" y="7"/>
                      <a:pt x="62" y="7"/>
                    </a:cubicBezTo>
                    <a:close/>
                    <a:moveTo>
                      <a:pt x="0" y="15"/>
                    </a:moveTo>
                    <a:cubicBezTo>
                      <a:pt x="0" y="16"/>
                      <a:pt x="2" y="17"/>
                      <a:pt x="3" y="19"/>
                    </a:cubicBezTo>
                    <a:cubicBezTo>
                      <a:pt x="70" y="19"/>
                      <a:pt x="70" y="19"/>
                      <a:pt x="70" y="19"/>
                    </a:cubicBezTo>
                    <a:cubicBezTo>
                      <a:pt x="72" y="17"/>
                      <a:pt x="73" y="16"/>
                      <a:pt x="73" y="15"/>
                    </a:cubicBezTo>
                    <a:lnTo>
                      <a:pt x="0" y="1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ea typeface="微软雅黑" panose="020B0503020204020204" charset="-122"/>
                </a:endParaRPr>
              </a:p>
            </p:txBody>
          </p:sp>
        </p:grpSp>
      </p:grpSp>
      <p:sp>
        <p:nvSpPr>
          <p:cNvPr id="44" name="矩形 43"/>
          <p:cNvSpPr/>
          <p:nvPr/>
        </p:nvSpPr>
        <p:spPr>
          <a:xfrm>
            <a:off x="1049020" y="3593465"/>
            <a:ext cx="2536190" cy="767080"/>
          </a:xfrm>
          <a:prstGeom prst="rect">
            <a:avLst/>
          </a:prstGeom>
        </p:spPr>
        <p:txBody>
          <a:bodyPr wrap="square" lIns="91434" tIns="45718" rIns="91434" bIns="45718">
            <a:spAutoFit/>
          </a:bodyPr>
          <a:lstStyle/>
          <a:p>
            <a:pPr algn="ctr"/>
            <a:r>
              <a:rPr lang="zh-CN" altLang="en-US" sz="2200" dirty="0">
                <a:latin typeface="微软雅黑" panose="020B0503020204020204" charset="-122"/>
                <a:ea typeface="微软雅黑" panose="020B0503020204020204" charset="-122"/>
                <a:sym typeface="+mn-ea"/>
              </a:rPr>
              <a:t>平台利率</a:t>
            </a:r>
            <a:endParaRPr lang="en-US" altLang="zh-CN" sz="2200" dirty="0">
              <a:latin typeface="微软雅黑" panose="020B0503020204020204" charset="-122"/>
              <a:ea typeface="微软雅黑" panose="020B0503020204020204" charset="-122"/>
            </a:endParaRPr>
          </a:p>
          <a:p>
            <a:pPr algn="ctr"/>
            <a:r>
              <a:rPr lang="zh-CN" altLang="en-US" sz="2200" dirty="0">
                <a:latin typeface="微软雅黑" panose="020B0503020204020204" charset="-122"/>
                <a:ea typeface="微软雅黑" panose="020B0503020204020204" charset="-122"/>
                <a:sym typeface="+mn-ea"/>
              </a:rPr>
              <a:t>不虚高</a:t>
            </a:r>
            <a:endParaRPr lang="zh-CN" altLang="en-US" sz="2200" b="1" dirty="0">
              <a:solidFill>
                <a:srgbClr val="404040"/>
              </a:solidFill>
              <a:latin typeface="微软雅黑" panose="020B0503020204020204" charset="-122"/>
              <a:ea typeface="微软雅黑" panose="020B0503020204020204" charset="-122"/>
            </a:endParaRPr>
          </a:p>
        </p:txBody>
      </p:sp>
      <p:sp>
        <p:nvSpPr>
          <p:cNvPr id="2" name="矩形 1"/>
          <p:cNvSpPr/>
          <p:nvPr/>
        </p:nvSpPr>
        <p:spPr>
          <a:xfrm>
            <a:off x="-11017" y="-30458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文本框 2"/>
          <p:cNvSpPr txBox="1"/>
          <p:nvPr/>
        </p:nvSpPr>
        <p:spPr>
          <a:xfrm>
            <a:off x="418455" y="312636"/>
            <a:ext cx="2787500" cy="398780"/>
          </a:xfrm>
          <a:prstGeom prst="rect">
            <a:avLst/>
          </a:prstGeom>
          <a:noFill/>
        </p:spPr>
        <p:txBody>
          <a:bodyPr wrap="square" rtlCol="0">
            <a:spAutoFit/>
          </a:bodyPr>
          <a:lstStyle/>
          <a:p>
            <a:r>
              <a:rPr lang="zh-CN" altLang="en-US" sz="2000" b="1" dirty="0">
                <a:cs typeface="+mn-ea"/>
                <a:sym typeface="+mn-lt"/>
              </a:rPr>
              <a:t>固定资产与折旧情况</a:t>
            </a:r>
          </a:p>
        </p:txBody>
      </p:sp>
      <p:cxnSp>
        <p:nvCxnSpPr>
          <p:cNvPr id="4" name="直接连接符 3"/>
          <p:cNvCxnSpPr/>
          <p:nvPr/>
        </p:nvCxnSpPr>
        <p:spPr>
          <a:xfrm>
            <a:off x="20798" y="710505"/>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8311398" y="3738727"/>
            <a:ext cx="1210588" cy="707886"/>
          </a:xfrm>
          <a:prstGeom prst="rect">
            <a:avLst/>
          </a:prstGeom>
        </p:spPr>
        <p:txBody>
          <a:bodyPr wrap="none">
            <a:spAutoFit/>
          </a:bodyPr>
          <a:lstStyle/>
          <a:p>
            <a:pPr algn="ctr"/>
            <a:r>
              <a:rPr lang="zh-CN" altLang="en-US" sz="2000" dirty="0">
                <a:latin typeface="微软雅黑" panose="020B0503020204020204" charset="-122"/>
                <a:ea typeface="微软雅黑" panose="020B0503020204020204" charset="-122"/>
              </a:rPr>
              <a:t>信用评估</a:t>
            </a:r>
            <a:endParaRPr lang="en-US" altLang="zh-CN" sz="2000" dirty="0">
              <a:latin typeface="微软雅黑" panose="020B0503020204020204" charset="-122"/>
              <a:ea typeface="微软雅黑" panose="020B0503020204020204" charset="-122"/>
            </a:endParaRPr>
          </a:p>
          <a:p>
            <a:pPr algn="ctr"/>
            <a:r>
              <a:rPr lang="zh-CN" altLang="en-US" sz="2000" dirty="0">
                <a:latin typeface="微软雅黑" panose="020B0503020204020204" charset="-122"/>
                <a:ea typeface="微软雅黑" panose="020B0503020204020204" charset="-122"/>
              </a:rPr>
              <a:t>实物抵押</a:t>
            </a:r>
          </a:p>
        </p:txBody>
      </p:sp>
      <p:sp>
        <p:nvSpPr>
          <p:cNvPr id="12" name="五边形 11"/>
          <p:cNvSpPr/>
          <p:nvPr/>
        </p:nvSpPr>
        <p:spPr>
          <a:xfrm>
            <a:off x="418363" y="949666"/>
            <a:ext cx="3228304" cy="572291"/>
          </a:xfrm>
          <a:prstGeom prst="homePlate">
            <a:avLst>
              <a:gd name="adj" fmla="val 19897"/>
            </a:avLst>
          </a:prstGeom>
          <a:solidFill>
            <a:srgbClr val="FFC000"/>
          </a:solidFill>
          <a:ln>
            <a:noFill/>
          </a:ln>
        </p:spPr>
        <p:txBody>
          <a:bodyPr wrap="square" anchor="ctr">
            <a:noAutofit/>
          </a:bodyPr>
          <a:lstStyle/>
          <a:p>
            <a:pPr algn="ctr"/>
            <a:r>
              <a:rPr lang="zh-CN" altLang="en-US" sz="1600" b="1" dirty="0">
                <a:solidFill>
                  <a:schemeClr val="bg1"/>
                </a:solidFill>
                <a:latin typeface="微软雅黑" panose="020B0503020204020204" charset="-122"/>
                <a:ea typeface="微软雅黑" panose="020B0503020204020204" charset="-122"/>
                <a:sym typeface="+mn-ea"/>
              </a:rPr>
              <a:t>三大“安全阀”保障投资人利益</a:t>
            </a:r>
          </a:p>
        </p:txBody>
      </p:sp>
    </p:spTree>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anim calcmode="lin" valueType="num">
                                      <p:cBhvr>
                                        <p:cTn id="8" dur="2000" fill="hold"/>
                                        <p:tgtEl>
                                          <p:spTgt spid="21"/>
                                        </p:tgtEl>
                                        <p:attrNameLst>
                                          <p:attrName>ppt_x</p:attrName>
                                        </p:attrNameLst>
                                      </p:cBhvr>
                                      <p:tavLst>
                                        <p:tav tm="0">
                                          <p:val>
                                            <p:strVal val="#ppt_x"/>
                                          </p:val>
                                        </p:tav>
                                        <p:tav tm="100000">
                                          <p:val>
                                            <p:strVal val="#ppt_x"/>
                                          </p:val>
                                        </p:tav>
                                      </p:tavLst>
                                    </p:anim>
                                    <p:anim calcmode="lin" valueType="num">
                                      <p:cBhvr>
                                        <p:cTn id="9" dur="2000" fill="hold"/>
                                        <p:tgtEl>
                                          <p:spTgt spid="21"/>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23" presetClass="entr" presetSubtype="16" fill="hold" nodeType="after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p:cTn id="13" dur="2000" fill="hold"/>
                                        <p:tgtEl>
                                          <p:spTgt spid="24"/>
                                        </p:tgtEl>
                                        <p:attrNameLst>
                                          <p:attrName>ppt_w</p:attrName>
                                        </p:attrNameLst>
                                      </p:cBhvr>
                                      <p:tavLst>
                                        <p:tav tm="0">
                                          <p:val>
                                            <p:fltVal val="0"/>
                                          </p:val>
                                        </p:tav>
                                        <p:tav tm="100000">
                                          <p:val>
                                            <p:strVal val="#ppt_w"/>
                                          </p:val>
                                        </p:tav>
                                      </p:tavLst>
                                    </p:anim>
                                    <p:anim calcmode="lin" valueType="num">
                                      <p:cBhvr>
                                        <p:cTn id="14" dur="2000" fill="hold"/>
                                        <p:tgtEl>
                                          <p:spTgt spid="24"/>
                                        </p:tgtEl>
                                        <p:attrNameLst>
                                          <p:attrName>ppt_h</p:attrName>
                                        </p:attrNameLst>
                                      </p:cBhvr>
                                      <p:tavLst>
                                        <p:tav tm="0">
                                          <p:val>
                                            <p:fltVal val="0"/>
                                          </p:val>
                                        </p:tav>
                                        <p:tav tm="100000">
                                          <p:val>
                                            <p:strVal val="#ppt_h"/>
                                          </p:val>
                                        </p:tav>
                                      </p:tavLst>
                                    </p:anim>
                                  </p:childTnLst>
                                </p:cTn>
                              </p:par>
                            </p:childTnLst>
                          </p:cTn>
                        </p:par>
                        <p:par>
                          <p:cTn id="15" fill="hold">
                            <p:stCondLst>
                              <p:cond delay="4000"/>
                            </p:stCondLst>
                            <p:childTnLst>
                              <p:par>
                                <p:cTn id="16" presetID="23" presetClass="entr" presetSubtype="16" fill="hold" nodeType="afterEffect">
                                  <p:stCondLst>
                                    <p:cond delay="0"/>
                                  </p:stCondLst>
                                  <p:childTnLst>
                                    <p:set>
                                      <p:cBhvr>
                                        <p:cTn id="17" dur="1" fill="hold">
                                          <p:stCondLst>
                                            <p:cond delay="0"/>
                                          </p:stCondLst>
                                        </p:cTn>
                                        <p:tgtEl>
                                          <p:spTgt spid="37"/>
                                        </p:tgtEl>
                                        <p:attrNameLst>
                                          <p:attrName>style.visibility</p:attrName>
                                        </p:attrNameLst>
                                      </p:cBhvr>
                                      <p:to>
                                        <p:strVal val="visible"/>
                                      </p:to>
                                    </p:set>
                                    <p:anim calcmode="lin" valueType="num">
                                      <p:cBhvr>
                                        <p:cTn id="18" dur="2000" fill="hold"/>
                                        <p:tgtEl>
                                          <p:spTgt spid="37"/>
                                        </p:tgtEl>
                                        <p:attrNameLst>
                                          <p:attrName>ppt_w</p:attrName>
                                        </p:attrNameLst>
                                      </p:cBhvr>
                                      <p:tavLst>
                                        <p:tav tm="0">
                                          <p:val>
                                            <p:fltVal val="0"/>
                                          </p:val>
                                        </p:tav>
                                        <p:tav tm="100000">
                                          <p:val>
                                            <p:strVal val="#ppt_w"/>
                                          </p:val>
                                        </p:tav>
                                      </p:tavLst>
                                    </p:anim>
                                    <p:anim calcmode="lin" valueType="num">
                                      <p:cBhvr>
                                        <p:cTn id="19" dur="2000" fill="hold"/>
                                        <p:tgtEl>
                                          <p:spTgt spid="37"/>
                                        </p:tgtEl>
                                        <p:attrNameLst>
                                          <p:attrName>ppt_h</p:attrName>
                                        </p:attrNameLst>
                                      </p:cBhvr>
                                      <p:tavLst>
                                        <p:tav tm="0">
                                          <p:val>
                                            <p:fltVal val="0"/>
                                          </p:val>
                                        </p:tav>
                                        <p:tav tm="100000">
                                          <p:val>
                                            <p:strVal val="#ppt_h"/>
                                          </p:val>
                                        </p:tav>
                                      </p:tavLst>
                                    </p:anim>
                                  </p:childTnLst>
                                </p:cTn>
                              </p:par>
                            </p:childTnLst>
                          </p:cTn>
                        </p:par>
                        <p:par>
                          <p:cTn id="20" fill="hold">
                            <p:stCondLst>
                              <p:cond delay="6000"/>
                            </p:stCondLst>
                            <p:childTnLst>
                              <p:par>
                                <p:cTn id="21" presetID="26" presetClass="entr" presetSubtype="0" fill="hold"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wipe(down)">
                                      <p:cBhvr>
                                        <p:cTn id="23" dur="580">
                                          <p:stCondLst>
                                            <p:cond delay="0"/>
                                          </p:stCondLst>
                                        </p:cTn>
                                        <p:tgtEl>
                                          <p:spTgt spid="32"/>
                                        </p:tgtEl>
                                      </p:cBhvr>
                                    </p:animEffect>
                                    <p:anim calcmode="lin" valueType="num">
                                      <p:cBhvr>
                                        <p:cTn id="24" dur="1822" tmFilter="0,0; 0.14,0.36; 0.43,0.73; 0.71,0.91; 1.0,1.0">
                                          <p:stCondLst>
                                            <p:cond delay="0"/>
                                          </p:stCondLst>
                                        </p:cTn>
                                        <p:tgtEl>
                                          <p:spTgt spid="32"/>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2"/>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2"/>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2"/>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2"/>
                                        </p:tgtEl>
                                        <p:attrNameLst>
                                          <p:attrName>ppt_y</p:attrName>
                                        </p:attrNameLst>
                                      </p:cBhvr>
                                      <p:tavLst>
                                        <p:tav tm="0" fmla="#ppt_y-sin(pi*$)/81">
                                          <p:val>
                                            <p:fltVal val="0"/>
                                          </p:val>
                                        </p:tav>
                                        <p:tav tm="100000">
                                          <p:val>
                                            <p:fltVal val="1"/>
                                          </p:val>
                                        </p:tav>
                                      </p:tavLst>
                                    </p:anim>
                                    <p:animScale>
                                      <p:cBhvr>
                                        <p:cTn id="29" dur="26">
                                          <p:stCondLst>
                                            <p:cond delay="650"/>
                                          </p:stCondLst>
                                        </p:cTn>
                                        <p:tgtEl>
                                          <p:spTgt spid="32"/>
                                        </p:tgtEl>
                                      </p:cBhvr>
                                      <p:to x="100000" y="60000"/>
                                    </p:animScale>
                                    <p:animScale>
                                      <p:cBhvr>
                                        <p:cTn id="30" dur="166" decel="50000">
                                          <p:stCondLst>
                                            <p:cond delay="676"/>
                                          </p:stCondLst>
                                        </p:cTn>
                                        <p:tgtEl>
                                          <p:spTgt spid="32"/>
                                        </p:tgtEl>
                                      </p:cBhvr>
                                      <p:to x="100000" y="100000"/>
                                    </p:animScale>
                                    <p:animScale>
                                      <p:cBhvr>
                                        <p:cTn id="31" dur="26">
                                          <p:stCondLst>
                                            <p:cond delay="1312"/>
                                          </p:stCondLst>
                                        </p:cTn>
                                        <p:tgtEl>
                                          <p:spTgt spid="32"/>
                                        </p:tgtEl>
                                      </p:cBhvr>
                                      <p:to x="100000" y="80000"/>
                                    </p:animScale>
                                    <p:animScale>
                                      <p:cBhvr>
                                        <p:cTn id="32" dur="166" decel="50000">
                                          <p:stCondLst>
                                            <p:cond delay="1338"/>
                                          </p:stCondLst>
                                        </p:cTn>
                                        <p:tgtEl>
                                          <p:spTgt spid="32"/>
                                        </p:tgtEl>
                                      </p:cBhvr>
                                      <p:to x="100000" y="100000"/>
                                    </p:animScale>
                                    <p:animScale>
                                      <p:cBhvr>
                                        <p:cTn id="33" dur="26">
                                          <p:stCondLst>
                                            <p:cond delay="1642"/>
                                          </p:stCondLst>
                                        </p:cTn>
                                        <p:tgtEl>
                                          <p:spTgt spid="32"/>
                                        </p:tgtEl>
                                      </p:cBhvr>
                                      <p:to x="100000" y="90000"/>
                                    </p:animScale>
                                    <p:animScale>
                                      <p:cBhvr>
                                        <p:cTn id="34" dur="166" decel="50000">
                                          <p:stCondLst>
                                            <p:cond delay="1668"/>
                                          </p:stCondLst>
                                        </p:cTn>
                                        <p:tgtEl>
                                          <p:spTgt spid="32"/>
                                        </p:tgtEl>
                                      </p:cBhvr>
                                      <p:to x="100000" y="100000"/>
                                    </p:animScale>
                                    <p:animScale>
                                      <p:cBhvr>
                                        <p:cTn id="35" dur="26">
                                          <p:stCondLst>
                                            <p:cond delay="1808"/>
                                          </p:stCondLst>
                                        </p:cTn>
                                        <p:tgtEl>
                                          <p:spTgt spid="32"/>
                                        </p:tgtEl>
                                      </p:cBhvr>
                                      <p:to x="100000" y="95000"/>
                                    </p:animScale>
                                    <p:animScale>
                                      <p:cBhvr>
                                        <p:cTn id="36" dur="166" decel="50000">
                                          <p:stCondLst>
                                            <p:cond delay="1834"/>
                                          </p:stCondLst>
                                        </p:cTn>
                                        <p:tgtEl>
                                          <p:spTgt spid="32"/>
                                        </p:tgtEl>
                                      </p:cBhvr>
                                      <p:to x="100000" y="100000"/>
                                    </p:animScale>
                                  </p:childTnLst>
                                </p:cTn>
                              </p:par>
                              <p:par>
                                <p:cTn id="37" presetID="21" presetClass="entr" presetSubtype="1"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heel(1)">
                                      <p:cBhvr>
                                        <p:cTn id="39" dur="5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left)">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a:xfrm>
            <a:off x="1092835" y="2514600"/>
            <a:ext cx="2286000" cy="812800"/>
          </a:xfrm>
        </p:spPr>
        <p:txBody>
          <a:bodyPr>
            <a:noAutofit/>
          </a:bodyPr>
          <a:lstStyle/>
          <a:p>
            <a:pPr algn="l">
              <a:lnSpc>
                <a:spcPct val="150000"/>
              </a:lnSpc>
            </a:pPr>
            <a:r>
              <a:rPr lang="zh-CN" altLang="en-US" sz="1400" dirty="0">
                <a:solidFill>
                  <a:srgbClr val="404040"/>
                </a:solidFill>
                <a:latin typeface="微软雅黑" panose="020B0503020204020204" charset="-122"/>
                <a:ea typeface="微软雅黑" panose="020B0503020204020204" charset="-122"/>
                <a:sym typeface="+mn-ea"/>
              </a:rPr>
              <a:t>不非法吸收公众资金，纯粹为投融资人服务的中介信息平台</a:t>
            </a:r>
            <a:endParaRPr lang="zh-CN" altLang="en-US" sz="1400" dirty="0">
              <a:solidFill>
                <a:srgbClr val="404040"/>
              </a:solidFill>
              <a:latin typeface="微软雅黑" panose="020B0503020204020204" charset="-122"/>
              <a:ea typeface="微软雅黑" panose="020B0503020204020204" charset="-122"/>
              <a:cs typeface="+mn-ea"/>
              <a:sym typeface="+mn-ea"/>
            </a:endParaRPr>
          </a:p>
        </p:txBody>
      </p:sp>
      <p:sp>
        <p:nvSpPr>
          <p:cNvPr id="5" name="Content Placeholder 4"/>
          <p:cNvSpPr>
            <a:spLocks noGrp="1"/>
          </p:cNvSpPr>
          <p:nvPr>
            <p:ph sz="quarter" idx="16"/>
          </p:nvPr>
        </p:nvSpPr>
        <p:spPr>
          <a:xfrm>
            <a:off x="838200" y="2209800"/>
            <a:ext cx="2540578" cy="323430"/>
          </a:xfrm>
        </p:spPr>
        <p:txBody>
          <a:bodyPr/>
          <a:lstStyle/>
          <a:p>
            <a:pPr algn="r">
              <a:spcBef>
                <a:spcPct val="20000"/>
              </a:spcBef>
              <a:defRPr/>
            </a:pPr>
            <a:r>
              <a:rPr lang="zh-CN" altLang="en-US" sz="1800" b="1" dirty="0">
                <a:solidFill>
                  <a:srgbClr val="FFC000"/>
                </a:solidFill>
                <a:latin typeface="微软雅黑" panose="020B0503020204020204" charset="-122"/>
                <a:ea typeface="微软雅黑" panose="020B0503020204020204" charset="-122"/>
                <a:cs typeface="微软雅黑" panose="020B0503020204020204" charset="-122"/>
                <a:sym typeface="+mn-lt"/>
              </a:rPr>
              <a:t>不设</a:t>
            </a:r>
            <a:r>
              <a:rPr lang="en-US" altLang="zh-CN" sz="1800" b="1" dirty="0">
                <a:solidFill>
                  <a:srgbClr val="FFC000"/>
                </a:solidFill>
                <a:latin typeface="微软雅黑" panose="020B0503020204020204" charset="-122"/>
                <a:ea typeface="微软雅黑" panose="020B0503020204020204" charset="-122"/>
                <a:cs typeface="微软雅黑" panose="020B0503020204020204" charset="-122"/>
                <a:sym typeface="+mn-lt"/>
              </a:rPr>
              <a:t>“</a:t>
            </a:r>
            <a:r>
              <a:rPr lang="zh-CN" altLang="en-US" sz="1800" b="1" dirty="0">
                <a:solidFill>
                  <a:srgbClr val="FFC000"/>
                </a:solidFill>
                <a:latin typeface="微软雅黑" panose="020B0503020204020204" charset="-122"/>
                <a:ea typeface="微软雅黑" panose="020B0503020204020204" charset="-122"/>
                <a:cs typeface="微软雅黑" panose="020B0503020204020204" charset="-122"/>
                <a:sym typeface="+mn-lt"/>
              </a:rPr>
              <a:t>资金池</a:t>
            </a:r>
            <a:r>
              <a:rPr lang="en-US" altLang="zh-CN" sz="1800" b="1" dirty="0">
                <a:solidFill>
                  <a:srgbClr val="FFC000"/>
                </a:solidFill>
                <a:latin typeface="微软雅黑" panose="020B0503020204020204" charset="-122"/>
                <a:ea typeface="微软雅黑" panose="020B0503020204020204" charset="-122"/>
                <a:cs typeface="微软雅黑" panose="020B0503020204020204" charset="-122"/>
                <a:sym typeface="+mn-lt"/>
              </a:rPr>
              <a:t>”</a:t>
            </a:r>
          </a:p>
        </p:txBody>
      </p:sp>
      <p:sp>
        <p:nvSpPr>
          <p:cNvPr id="53" name="Text Placeholder 2"/>
          <p:cNvSpPr>
            <a:spLocks noGrp="1"/>
          </p:cNvSpPr>
          <p:nvPr>
            <p:ph type="body" sz="quarter" idx="14"/>
          </p:nvPr>
        </p:nvSpPr>
        <p:spPr>
          <a:xfrm>
            <a:off x="1203960" y="4953000"/>
            <a:ext cx="2174875" cy="812800"/>
          </a:xfrm>
        </p:spPr>
        <p:txBody>
          <a:bodyPr>
            <a:noAutofit/>
          </a:bodyPr>
          <a:lstStyle/>
          <a:p>
            <a:pPr algn="l">
              <a:lnSpc>
                <a:spcPct val="150000"/>
              </a:lnSpc>
            </a:pPr>
            <a:r>
              <a:rPr lang="zh-CN" altLang="en-US" sz="1400" dirty="0">
                <a:solidFill>
                  <a:srgbClr val="404040"/>
                </a:solidFill>
                <a:latin typeface="微软雅黑" panose="020B0503020204020204" charset="-122"/>
                <a:ea typeface="微软雅黑" panose="020B0503020204020204" charset="-122"/>
                <a:sym typeface="+mn-ea"/>
              </a:rPr>
              <a:t>所有项目真实可靠并与投资人投入资金一一对应</a:t>
            </a:r>
            <a:endParaRPr lang="zh-CN" altLang="en-US" sz="1400" dirty="0">
              <a:solidFill>
                <a:srgbClr val="404040"/>
              </a:solidFill>
              <a:latin typeface="微软雅黑" panose="020B0503020204020204" charset="-122"/>
              <a:ea typeface="微软雅黑" panose="020B0503020204020204" charset="-122"/>
              <a:cs typeface="+mn-ea"/>
              <a:sym typeface="+mn-ea"/>
            </a:endParaRPr>
          </a:p>
        </p:txBody>
      </p:sp>
      <p:sp>
        <p:nvSpPr>
          <p:cNvPr id="54" name="Content Placeholder 4"/>
          <p:cNvSpPr>
            <a:spLocks noGrp="1"/>
          </p:cNvSpPr>
          <p:nvPr>
            <p:ph sz="quarter" idx="16"/>
          </p:nvPr>
        </p:nvSpPr>
        <p:spPr>
          <a:xfrm>
            <a:off x="838200" y="4648200"/>
            <a:ext cx="2540578" cy="323430"/>
          </a:xfrm>
        </p:spPr>
        <p:txBody>
          <a:bodyPr/>
          <a:lstStyle/>
          <a:p>
            <a:pPr algn="r">
              <a:spcBef>
                <a:spcPct val="20000"/>
              </a:spcBef>
              <a:defRPr/>
            </a:pPr>
            <a:r>
              <a:rPr lang="zh-CN" altLang="en-US" sz="1800" b="1" dirty="0">
                <a:solidFill>
                  <a:srgbClr val="FFC000"/>
                </a:solidFill>
                <a:latin typeface="微软雅黑" panose="020B0503020204020204" charset="-122"/>
                <a:ea typeface="微软雅黑" panose="020B0503020204020204" charset="-122"/>
                <a:cs typeface="微软雅黑" panose="020B0503020204020204" charset="-122"/>
                <a:sym typeface="+mn-lt"/>
              </a:rPr>
              <a:t>不设</a:t>
            </a:r>
            <a:r>
              <a:rPr lang="en-US" altLang="zh-CN" sz="1800" b="1" dirty="0">
                <a:solidFill>
                  <a:srgbClr val="FFC000"/>
                </a:solidFill>
                <a:latin typeface="微软雅黑" panose="020B0503020204020204" charset="-122"/>
                <a:ea typeface="微软雅黑" panose="020B0503020204020204" charset="-122"/>
                <a:cs typeface="微软雅黑" panose="020B0503020204020204" charset="-122"/>
                <a:sym typeface="+mn-lt"/>
              </a:rPr>
              <a:t>“</a:t>
            </a:r>
            <a:r>
              <a:rPr lang="zh-CN" altLang="en-US" sz="1800" b="1" dirty="0">
                <a:solidFill>
                  <a:srgbClr val="FFC000"/>
                </a:solidFill>
                <a:latin typeface="微软雅黑" panose="020B0503020204020204" charset="-122"/>
                <a:ea typeface="微软雅黑" panose="020B0503020204020204" charset="-122"/>
                <a:cs typeface="微软雅黑" panose="020B0503020204020204" charset="-122"/>
                <a:sym typeface="+mn-lt"/>
              </a:rPr>
              <a:t>虚目标</a:t>
            </a:r>
            <a:r>
              <a:rPr lang="en-US" altLang="zh-CN" sz="1800" b="1" dirty="0">
                <a:solidFill>
                  <a:srgbClr val="FFC000"/>
                </a:solidFill>
                <a:latin typeface="微软雅黑" panose="020B0503020204020204" charset="-122"/>
                <a:ea typeface="微软雅黑" panose="020B0503020204020204" charset="-122"/>
                <a:cs typeface="微软雅黑" panose="020B0503020204020204" charset="-122"/>
                <a:sym typeface="+mn-lt"/>
              </a:rPr>
              <a:t>”</a:t>
            </a:r>
          </a:p>
        </p:txBody>
      </p:sp>
      <p:sp>
        <p:nvSpPr>
          <p:cNvPr id="56" name="Text Placeholder 2"/>
          <p:cNvSpPr>
            <a:spLocks noGrp="1"/>
          </p:cNvSpPr>
          <p:nvPr>
            <p:ph type="body" sz="quarter" idx="14"/>
          </p:nvPr>
        </p:nvSpPr>
        <p:spPr>
          <a:xfrm>
            <a:off x="8730615" y="2514600"/>
            <a:ext cx="2193290" cy="1303655"/>
          </a:xfrm>
        </p:spPr>
        <p:txBody>
          <a:bodyPr>
            <a:noAutofit/>
          </a:bodyPr>
          <a:lstStyle/>
          <a:p>
            <a:pPr>
              <a:lnSpc>
                <a:spcPct val="150000"/>
              </a:lnSpc>
            </a:pPr>
            <a:r>
              <a:rPr lang="zh-CN" altLang="en-US" sz="1400" dirty="0">
                <a:solidFill>
                  <a:srgbClr val="404040"/>
                </a:solidFill>
                <a:latin typeface="微软雅黑" panose="020B0503020204020204" charset="-122"/>
                <a:ea typeface="微软雅黑" panose="020B0503020204020204" charset="-122"/>
                <a:sym typeface="+mn-ea"/>
              </a:rPr>
              <a:t>与全国优质担保公司合作，由第三方担保公司全额保障投资人本息安全</a:t>
            </a:r>
            <a:endParaRPr lang="zh-CN" altLang="en-US" sz="1400" dirty="0">
              <a:solidFill>
                <a:srgbClr val="404040"/>
              </a:solidFill>
              <a:latin typeface="微软雅黑" panose="020B0503020204020204" charset="-122"/>
              <a:ea typeface="微软雅黑" panose="020B0503020204020204" charset="-122"/>
              <a:cs typeface="+mn-ea"/>
              <a:sym typeface="+mn-ea"/>
            </a:endParaRPr>
          </a:p>
        </p:txBody>
      </p:sp>
      <p:sp>
        <p:nvSpPr>
          <p:cNvPr id="57" name="Content Placeholder 4"/>
          <p:cNvSpPr>
            <a:spLocks noGrp="1"/>
          </p:cNvSpPr>
          <p:nvPr>
            <p:ph sz="quarter" idx="16"/>
          </p:nvPr>
        </p:nvSpPr>
        <p:spPr>
          <a:xfrm>
            <a:off x="8730307" y="2225214"/>
            <a:ext cx="2725397" cy="292602"/>
          </a:xfrm>
        </p:spPr>
        <p:txBody>
          <a:bodyPr/>
          <a:lstStyle/>
          <a:p>
            <a:pPr>
              <a:spcBef>
                <a:spcPct val="20000"/>
              </a:spcBef>
              <a:defRPr/>
            </a:pPr>
            <a:r>
              <a:rPr lang="zh-CN" altLang="en-US" sz="1800" b="1" dirty="0">
                <a:solidFill>
                  <a:srgbClr val="FFC000"/>
                </a:solidFill>
                <a:latin typeface="微软雅黑" panose="020B0503020204020204" charset="-122"/>
                <a:ea typeface="微软雅黑" panose="020B0503020204020204" charset="-122"/>
                <a:cs typeface="+mn-ea"/>
                <a:sym typeface="+mn-lt"/>
              </a:rPr>
              <a:t>不做担保</a:t>
            </a:r>
          </a:p>
        </p:txBody>
      </p:sp>
      <p:sp>
        <p:nvSpPr>
          <p:cNvPr id="60" name="Text Placeholder 2"/>
          <p:cNvSpPr>
            <a:spLocks noGrp="1"/>
          </p:cNvSpPr>
          <p:nvPr>
            <p:ph type="body" sz="quarter" idx="14"/>
          </p:nvPr>
        </p:nvSpPr>
        <p:spPr>
          <a:xfrm>
            <a:off x="8712200" y="4953000"/>
            <a:ext cx="2212340" cy="1268730"/>
          </a:xfrm>
        </p:spPr>
        <p:txBody>
          <a:bodyPr>
            <a:normAutofit lnSpcReduction="10000"/>
          </a:bodyPr>
          <a:lstStyle/>
          <a:p>
            <a:pPr>
              <a:lnSpc>
                <a:spcPct val="150000"/>
              </a:lnSpc>
            </a:pPr>
            <a:r>
              <a:rPr lang="zh-CN" altLang="en-US" sz="1400" dirty="0">
                <a:solidFill>
                  <a:srgbClr val="404040"/>
                </a:solidFill>
                <a:latin typeface="微软雅黑" panose="020B0503020204020204" charset="-122"/>
                <a:ea typeface="微软雅黑" panose="020B0503020204020204" charset="-122"/>
                <a:sym typeface="+mn-ea"/>
              </a:rPr>
              <a:t>所有投资人资金托管到商业银行，受第三方监管，与合拍自身账户分离，让客户完全放心</a:t>
            </a:r>
            <a:endParaRPr lang="zh-CN" altLang="en-US" sz="1400" dirty="0">
              <a:solidFill>
                <a:srgbClr val="404040"/>
              </a:solidFill>
              <a:latin typeface="微软雅黑" panose="020B0503020204020204" charset="-122"/>
              <a:ea typeface="微软雅黑" panose="020B0503020204020204" charset="-122"/>
              <a:cs typeface="+mn-ea"/>
              <a:sym typeface="+mn-ea"/>
            </a:endParaRPr>
          </a:p>
        </p:txBody>
      </p:sp>
      <p:sp>
        <p:nvSpPr>
          <p:cNvPr id="61" name="Content Placeholder 4"/>
          <p:cNvSpPr>
            <a:spLocks noGrp="1"/>
          </p:cNvSpPr>
          <p:nvPr>
            <p:ph sz="quarter" idx="16"/>
          </p:nvPr>
        </p:nvSpPr>
        <p:spPr>
          <a:xfrm>
            <a:off x="8712504" y="4648200"/>
            <a:ext cx="2725397" cy="292602"/>
          </a:xfrm>
        </p:spPr>
        <p:txBody>
          <a:bodyPr>
            <a:noAutofit/>
          </a:bodyPr>
          <a:lstStyle/>
          <a:p>
            <a:pPr algn="l"/>
            <a:r>
              <a:rPr lang="zh-CN" altLang="en-US" sz="1800" b="1" dirty="0">
                <a:solidFill>
                  <a:srgbClr val="FFC000"/>
                </a:solidFill>
                <a:latin typeface="微软雅黑" panose="020B0503020204020204" charset="-122"/>
                <a:ea typeface="微软雅黑" panose="020B0503020204020204" charset="-122"/>
                <a:cs typeface="微软雅黑" panose="020B0503020204020204" charset="-122"/>
                <a:sym typeface="+mn-ea"/>
              </a:rPr>
              <a:t>绝不“自融”</a:t>
            </a:r>
          </a:p>
        </p:txBody>
      </p:sp>
      <p:grpSp>
        <p:nvGrpSpPr>
          <p:cNvPr id="47" name="Group 46"/>
          <p:cNvGrpSpPr/>
          <p:nvPr/>
        </p:nvGrpSpPr>
        <p:grpSpPr>
          <a:xfrm>
            <a:off x="3574491" y="2646663"/>
            <a:ext cx="817549" cy="1006267"/>
            <a:chOff x="2899526" y="1387540"/>
            <a:chExt cx="1372546" cy="1372546"/>
          </a:xfrm>
        </p:grpSpPr>
        <p:cxnSp>
          <p:nvCxnSpPr>
            <p:cNvPr id="48" name="Straight Connector 47"/>
            <p:cNvCxnSpPr/>
            <p:nvPr/>
          </p:nvCxnSpPr>
          <p:spPr>
            <a:xfrm>
              <a:off x="2899526" y="1387540"/>
              <a:ext cx="1372546" cy="0"/>
            </a:xfrm>
            <a:prstGeom prst="line">
              <a:avLst/>
            </a:prstGeom>
            <a:ln w="28575">
              <a:solidFill>
                <a:srgbClr val="181617"/>
              </a:solidFill>
              <a:prstDash val="solid"/>
              <a:headEnd type="triangle"/>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16200000">
              <a:off x="3570849" y="2073813"/>
              <a:ext cx="1372546" cy="0"/>
            </a:xfrm>
            <a:prstGeom prst="line">
              <a:avLst/>
            </a:prstGeom>
            <a:ln w="28575">
              <a:solidFill>
                <a:srgbClr val="181617"/>
              </a:solidFill>
              <a:prstDash val="solid"/>
              <a:headEnd type="triangle"/>
            </a:ln>
          </p:spPr>
          <p:style>
            <a:lnRef idx="1">
              <a:schemeClr val="accent1"/>
            </a:lnRef>
            <a:fillRef idx="0">
              <a:schemeClr val="accent1"/>
            </a:fillRef>
            <a:effectRef idx="0">
              <a:schemeClr val="accent1"/>
            </a:effectRef>
            <a:fontRef idx="minor">
              <a:schemeClr val="tx1"/>
            </a:fontRef>
          </p:style>
        </p:cxnSp>
      </p:grpSp>
      <p:grpSp>
        <p:nvGrpSpPr>
          <p:cNvPr id="62" name="Group 61"/>
          <p:cNvGrpSpPr/>
          <p:nvPr/>
        </p:nvGrpSpPr>
        <p:grpSpPr>
          <a:xfrm>
            <a:off x="7711862" y="4173619"/>
            <a:ext cx="1131242" cy="320299"/>
            <a:chOff x="2899526" y="1387540"/>
            <a:chExt cx="1372546" cy="1372546"/>
          </a:xfrm>
        </p:grpSpPr>
        <p:cxnSp>
          <p:nvCxnSpPr>
            <p:cNvPr id="63" name="Straight Connector 62"/>
            <p:cNvCxnSpPr/>
            <p:nvPr/>
          </p:nvCxnSpPr>
          <p:spPr>
            <a:xfrm>
              <a:off x="2899526" y="1387540"/>
              <a:ext cx="1372546" cy="0"/>
            </a:xfrm>
            <a:prstGeom prst="line">
              <a:avLst/>
            </a:prstGeom>
            <a:ln w="28575">
              <a:solidFill>
                <a:srgbClr val="181617"/>
              </a:solidFill>
              <a:prstDash val="solid"/>
              <a:headEnd type="triangle"/>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rot="16200000">
              <a:off x="3570849" y="2073813"/>
              <a:ext cx="1372546" cy="0"/>
            </a:xfrm>
            <a:prstGeom prst="line">
              <a:avLst/>
            </a:prstGeom>
            <a:ln w="28575">
              <a:solidFill>
                <a:srgbClr val="181617"/>
              </a:solidFill>
              <a:prstDash val="solid"/>
              <a:headEnd type="triangle"/>
            </a:ln>
          </p:spPr>
          <p:style>
            <a:lnRef idx="1">
              <a:schemeClr val="accent1"/>
            </a:lnRef>
            <a:fillRef idx="0">
              <a:schemeClr val="accent1"/>
            </a:fillRef>
            <a:effectRef idx="0">
              <a:schemeClr val="accent1"/>
            </a:effectRef>
            <a:fontRef idx="minor">
              <a:schemeClr val="tx1"/>
            </a:fontRef>
          </p:style>
        </p:cxnSp>
      </p:grpSp>
      <p:cxnSp>
        <p:nvCxnSpPr>
          <p:cNvPr id="55" name="Straight Connector 54"/>
          <p:cNvCxnSpPr/>
          <p:nvPr/>
        </p:nvCxnSpPr>
        <p:spPr>
          <a:xfrm>
            <a:off x="6858001" y="2654335"/>
            <a:ext cx="1374119" cy="0"/>
          </a:xfrm>
          <a:prstGeom prst="line">
            <a:avLst/>
          </a:prstGeom>
          <a:ln w="28575">
            <a:solidFill>
              <a:srgbClr val="181617"/>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3574490" y="4959663"/>
            <a:ext cx="1920374" cy="0"/>
          </a:xfrm>
          <a:prstGeom prst="line">
            <a:avLst/>
          </a:prstGeom>
          <a:ln w="28575">
            <a:solidFill>
              <a:srgbClr val="181617"/>
            </a:solidFill>
            <a:prstDash val="solid"/>
            <a:headEnd type="triangle"/>
          </a:ln>
        </p:spPr>
        <p:style>
          <a:lnRef idx="1">
            <a:schemeClr val="accent1"/>
          </a:lnRef>
          <a:fillRef idx="0">
            <a:schemeClr val="accent1"/>
          </a:fillRef>
          <a:effectRef idx="0">
            <a:schemeClr val="accent1"/>
          </a:effectRef>
          <a:fontRef idx="minor">
            <a:schemeClr val="tx1"/>
          </a:fontRef>
        </p:style>
      </p:cxnSp>
      <p:sp>
        <p:nvSpPr>
          <p:cNvPr id="21" name="矩形 4"/>
          <p:cNvSpPr/>
          <p:nvPr/>
        </p:nvSpPr>
        <p:spPr bwMode="auto">
          <a:xfrm rot="19694411">
            <a:off x="3754968" y="2717826"/>
            <a:ext cx="3364544" cy="1642900"/>
          </a:xfrm>
          <a:custGeom>
            <a:avLst/>
            <a:gdLst/>
            <a:ahLst/>
            <a:cxnLst/>
            <a:rect l="l" t="t" r="r" b="b"/>
            <a:pathLst>
              <a:path w="6636810" h="3240537">
                <a:moveTo>
                  <a:pt x="5995706" y="329447"/>
                </a:moveTo>
                <a:cubicBezTo>
                  <a:pt x="6708608" y="870225"/>
                  <a:pt x="6848141" y="1886532"/>
                  <a:pt x="6307363" y="2599433"/>
                </a:cubicBezTo>
                <a:cubicBezTo>
                  <a:pt x="5766586" y="3312335"/>
                  <a:pt x="4750279" y="3451868"/>
                  <a:pt x="4037377" y="2911090"/>
                </a:cubicBezTo>
                <a:cubicBezTo>
                  <a:pt x="3834697" y="2757346"/>
                  <a:pt x="3678362" y="2565165"/>
                  <a:pt x="3572521" y="2351592"/>
                </a:cubicBezTo>
                <a:cubicBezTo>
                  <a:pt x="3382613" y="2221161"/>
                  <a:pt x="3125137" y="2125355"/>
                  <a:pt x="2835026" y="2089472"/>
                </a:cubicBezTo>
                <a:cubicBezTo>
                  <a:pt x="2470925" y="2044438"/>
                  <a:pt x="2133683" y="2103468"/>
                  <a:pt x="1902855" y="2234479"/>
                </a:cubicBezTo>
                <a:cubicBezTo>
                  <a:pt x="1508230" y="2603881"/>
                  <a:pt x="893457" y="2645913"/>
                  <a:pt x="448097" y="2308081"/>
                </a:cubicBezTo>
                <a:cubicBezTo>
                  <a:pt x="-50183" y="1930106"/>
                  <a:pt x="-147709" y="1219762"/>
                  <a:pt x="230265" y="721482"/>
                </a:cubicBezTo>
                <a:cubicBezTo>
                  <a:pt x="608240" y="223202"/>
                  <a:pt x="1318584" y="125676"/>
                  <a:pt x="1816864" y="503651"/>
                </a:cubicBezTo>
                <a:cubicBezTo>
                  <a:pt x="1922519" y="583796"/>
                  <a:pt x="2010155" y="678885"/>
                  <a:pt x="2077971" y="784443"/>
                </a:cubicBezTo>
                <a:cubicBezTo>
                  <a:pt x="2289760" y="902821"/>
                  <a:pt x="2577725" y="972444"/>
                  <a:pt x="2893769" y="967396"/>
                </a:cubicBezTo>
                <a:cubicBezTo>
                  <a:pt x="3168575" y="963007"/>
                  <a:pt x="3420358" y="902868"/>
                  <a:pt x="3617906" y="804590"/>
                </a:cubicBezTo>
                <a:cubicBezTo>
                  <a:pt x="3649441" y="748230"/>
                  <a:pt x="3685719" y="693837"/>
                  <a:pt x="3725720" y="641104"/>
                </a:cubicBezTo>
                <a:cubicBezTo>
                  <a:pt x="4266498" y="-71797"/>
                  <a:pt x="5282805" y="-211331"/>
                  <a:pt x="5995706" y="329447"/>
                </a:cubicBezTo>
                <a:close/>
              </a:path>
            </a:pathLst>
          </a:custGeom>
          <a:solidFill>
            <a:srgbClr val="FFC000"/>
          </a:solidFill>
          <a:ln w="25400" cap="flat" cmpd="sng" algn="ctr">
            <a:noFill/>
            <a:prstDash val="solid"/>
          </a:ln>
          <a:effectLst/>
        </p:spPr>
        <p:txBody>
          <a:bodyPr anchor="ctr"/>
          <a:lstStyle/>
          <a:p>
            <a:pPr algn="ctr">
              <a:defRPr/>
            </a:pPr>
            <a:endParaRPr lang="en-US" kern="0">
              <a:solidFill>
                <a:sysClr val="window" lastClr="FFFFFF"/>
              </a:solidFill>
              <a:cs typeface="+mn-ea"/>
              <a:sym typeface="+mn-lt"/>
            </a:endParaRPr>
          </a:p>
        </p:txBody>
      </p:sp>
      <p:sp>
        <p:nvSpPr>
          <p:cNvPr id="22" name="矩形 4"/>
          <p:cNvSpPr/>
          <p:nvPr/>
        </p:nvSpPr>
        <p:spPr bwMode="auto">
          <a:xfrm rot="13415964">
            <a:off x="5247784" y="2894986"/>
            <a:ext cx="2896126" cy="1414171"/>
          </a:xfrm>
          <a:custGeom>
            <a:avLst/>
            <a:gdLst/>
            <a:ahLst/>
            <a:cxnLst/>
            <a:rect l="l" t="t" r="r" b="b"/>
            <a:pathLst>
              <a:path w="6636810" h="3240537">
                <a:moveTo>
                  <a:pt x="5995706" y="329447"/>
                </a:moveTo>
                <a:cubicBezTo>
                  <a:pt x="6708608" y="870225"/>
                  <a:pt x="6848141" y="1886532"/>
                  <a:pt x="6307363" y="2599433"/>
                </a:cubicBezTo>
                <a:cubicBezTo>
                  <a:pt x="5766586" y="3312335"/>
                  <a:pt x="4750279" y="3451868"/>
                  <a:pt x="4037377" y="2911090"/>
                </a:cubicBezTo>
                <a:cubicBezTo>
                  <a:pt x="3834697" y="2757346"/>
                  <a:pt x="3678362" y="2565165"/>
                  <a:pt x="3572521" y="2351592"/>
                </a:cubicBezTo>
                <a:cubicBezTo>
                  <a:pt x="3382613" y="2221161"/>
                  <a:pt x="3125137" y="2125355"/>
                  <a:pt x="2835026" y="2089472"/>
                </a:cubicBezTo>
                <a:cubicBezTo>
                  <a:pt x="2470925" y="2044438"/>
                  <a:pt x="2133683" y="2103468"/>
                  <a:pt x="1902855" y="2234479"/>
                </a:cubicBezTo>
                <a:cubicBezTo>
                  <a:pt x="1508230" y="2603881"/>
                  <a:pt x="893457" y="2645913"/>
                  <a:pt x="448097" y="2308081"/>
                </a:cubicBezTo>
                <a:cubicBezTo>
                  <a:pt x="-50183" y="1930106"/>
                  <a:pt x="-147709" y="1219762"/>
                  <a:pt x="230265" y="721482"/>
                </a:cubicBezTo>
                <a:cubicBezTo>
                  <a:pt x="608240" y="223202"/>
                  <a:pt x="1318584" y="125676"/>
                  <a:pt x="1816864" y="503651"/>
                </a:cubicBezTo>
                <a:cubicBezTo>
                  <a:pt x="1922519" y="583796"/>
                  <a:pt x="2010155" y="678885"/>
                  <a:pt x="2077971" y="784443"/>
                </a:cubicBezTo>
                <a:cubicBezTo>
                  <a:pt x="2289760" y="902821"/>
                  <a:pt x="2577725" y="972444"/>
                  <a:pt x="2893769" y="967396"/>
                </a:cubicBezTo>
                <a:cubicBezTo>
                  <a:pt x="3168575" y="963007"/>
                  <a:pt x="3420358" y="902868"/>
                  <a:pt x="3617906" y="804590"/>
                </a:cubicBezTo>
                <a:cubicBezTo>
                  <a:pt x="3649441" y="748230"/>
                  <a:pt x="3685719" y="693837"/>
                  <a:pt x="3725720" y="641104"/>
                </a:cubicBezTo>
                <a:cubicBezTo>
                  <a:pt x="4266498" y="-71797"/>
                  <a:pt x="5282805" y="-211331"/>
                  <a:pt x="5995706" y="329447"/>
                </a:cubicBezTo>
                <a:close/>
              </a:path>
            </a:pathLst>
          </a:custGeom>
          <a:solidFill>
            <a:srgbClr val="404040"/>
          </a:solidFill>
          <a:ln w="25400" cap="flat" cmpd="sng" algn="ctr">
            <a:noFill/>
            <a:prstDash val="solid"/>
          </a:ln>
          <a:effectLst/>
        </p:spPr>
        <p:txBody>
          <a:bodyPr anchor="ctr"/>
          <a:lstStyle/>
          <a:p>
            <a:pPr algn="ctr">
              <a:defRPr/>
            </a:pPr>
            <a:endParaRPr lang="en-US" kern="0">
              <a:solidFill>
                <a:sysClr val="window" lastClr="FFFFFF"/>
              </a:solidFill>
              <a:cs typeface="+mn-ea"/>
              <a:sym typeface="+mn-lt"/>
            </a:endParaRPr>
          </a:p>
        </p:txBody>
      </p:sp>
      <p:sp>
        <p:nvSpPr>
          <p:cNvPr id="23" name="矩形 4"/>
          <p:cNvSpPr/>
          <p:nvPr/>
        </p:nvSpPr>
        <p:spPr bwMode="auto">
          <a:xfrm rot="8977775">
            <a:off x="5440239" y="4079452"/>
            <a:ext cx="2350778" cy="1147619"/>
          </a:xfrm>
          <a:custGeom>
            <a:avLst/>
            <a:gdLst/>
            <a:ahLst/>
            <a:cxnLst/>
            <a:rect l="l" t="t" r="r" b="b"/>
            <a:pathLst>
              <a:path w="6636810" h="3240537">
                <a:moveTo>
                  <a:pt x="5995706" y="329447"/>
                </a:moveTo>
                <a:cubicBezTo>
                  <a:pt x="6708608" y="870225"/>
                  <a:pt x="6848141" y="1886532"/>
                  <a:pt x="6307363" y="2599433"/>
                </a:cubicBezTo>
                <a:cubicBezTo>
                  <a:pt x="5766586" y="3312335"/>
                  <a:pt x="4750279" y="3451868"/>
                  <a:pt x="4037377" y="2911090"/>
                </a:cubicBezTo>
                <a:cubicBezTo>
                  <a:pt x="3834697" y="2757346"/>
                  <a:pt x="3678362" y="2565165"/>
                  <a:pt x="3572521" y="2351592"/>
                </a:cubicBezTo>
                <a:cubicBezTo>
                  <a:pt x="3382613" y="2221161"/>
                  <a:pt x="3125137" y="2125355"/>
                  <a:pt x="2835026" y="2089472"/>
                </a:cubicBezTo>
                <a:cubicBezTo>
                  <a:pt x="2470925" y="2044438"/>
                  <a:pt x="2133683" y="2103468"/>
                  <a:pt x="1902855" y="2234479"/>
                </a:cubicBezTo>
                <a:cubicBezTo>
                  <a:pt x="1508230" y="2603881"/>
                  <a:pt x="893457" y="2645913"/>
                  <a:pt x="448097" y="2308081"/>
                </a:cubicBezTo>
                <a:cubicBezTo>
                  <a:pt x="-50183" y="1930106"/>
                  <a:pt x="-147709" y="1219762"/>
                  <a:pt x="230265" y="721482"/>
                </a:cubicBezTo>
                <a:cubicBezTo>
                  <a:pt x="608240" y="223202"/>
                  <a:pt x="1318584" y="125676"/>
                  <a:pt x="1816864" y="503651"/>
                </a:cubicBezTo>
                <a:cubicBezTo>
                  <a:pt x="1922519" y="583796"/>
                  <a:pt x="2010155" y="678885"/>
                  <a:pt x="2077971" y="784443"/>
                </a:cubicBezTo>
                <a:cubicBezTo>
                  <a:pt x="2289760" y="902821"/>
                  <a:pt x="2577725" y="972444"/>
                  <a:pt x="2893769" y="967396"/>
                </a:cubicBezTo>
                <a:cubicBezTo>
                  <a:pt x="3168575" y="963007"/>
                  <a:pt x="3420358" y="902868"/>
                  <a:pt x="3617906" y="804590"/>
                </a:cubicBezTo>
                <a:cubicBezTo>
                  <a:pt x="3649441" y="748230"/>
                  <a:pt x="3685719" y="693837"/>
                  <a:pt x="3725720" y="641104"/>
                </a:cubicBezTo>
                <a:cubicBezTo>
                  <a:pt x="4266498" y="-71797"/>
                  <a:pt x="5282805" y="-211331"/>
                  <a:pt x="5995706" y="329447"/>
                </a:cubicBezTo>
                <a:close/>
              </a:path>
            </a:pathLst>
          </a:custGeom>
          <a:solidFill>
            <a:srgbClr val="FFC000"/>
          </a:solidFill>
          <a:ln w="25400" cap="flat" cmpd="sng" algn="ctr">
            <a:noFill/>
            <a:prstDash val="solid"/>
          </a:ln>
          <a:effectLst/>
        </p:spPr>
        <p:txBody>
          <a:bodyPr anchor="ctr"/>
          <a:lstStyle/>
          <a:p>
            <a:pPr algn="ctr">
              <a:defRPr/>
            </a:pPr>
            <a:endParaRPr lang="en-US" kern="0">
              <a:solidFill>
                <a:sysClr val="window" lastClr="FFFFFF"/>
              </a:solidFill>
              <a:cs typeface="+mn-ea"/>
              <a:sym typeface="+mn-lt"/>
            </a:endParaRPr>
          </a:p>
        </p:txBody>
      </p:sp>
      <p:sp>
        <p:nvSpPr>
          <p:cNvPr id="51" name="Shape 4471"/>
          <p:cNvSpPr/>
          <p:nvPr/>
        </p:nvSpPr>
        <p:spPr>
          <a:xfrm>
            <a:off x="4185704" y="3819066"/>
            <a:ext cx="476262" cy="419219"/>
          </a:xfrm>
          <a:custGeom>
            <a:avLst/>
            <a:gdLst/>
            <a:ahLst/>
            <a:cxnLst>
              <a:cxn ang="0">
                <a:pos x="wd2" y="hd2"/>
              </a:cxn>
              <a:cxn ang="5400000">
                <a:pos x="wd2" y="hd2"/>
              </a:cxn>
              <a:cxn ang="10800000">
                <a:pos x="wd2" y="hd2"/>
              </a:cxn>
              <a:cxn ang="16200000">
                <a:pos x="wd2" y="hd2"/>
              </a:cxn>
            </a:cxnLst>
            <a:rect l="0" t="0" r="r" b="b"/>
            <a:pathLst>
              <a:path w="21600" h="21600" extrusionOk="0">
                <a:moveTo>
                  <a:pt x="19440" y="15832"/>
                </a:moveTo>
                <a:lnTo>
                  <a:pt x="2160" y="15832"/>
                </a:lnTo>
                <a:lnTo>
                  <a:pt x="2160" y="2209"/>
                </a:lnTo>
                <a:lnTo>
                  <a:pt x="19440" y="2209"/>
                </a:lnTo>
                <a:cubicBezTo>
                  <a:pt x="19440" y="2209"/>
                  <a:pt x="19440" y="15832"/>
                  <a:pt x="19440" y="15832"/>
                </a:cubicBezTo>
                <a:close/>
                <a:moveTo>
                  <a:pt x="19440" y="0"/>
                </a:moveTo>
                <a:lnTo>
                  <a:pt x="2160" y="0"/>
                </a:lnTo>
                <a:cubicBezTo>
                  <a:pt x="971" y="0"/>
                  <a:pt x="0" y="1104"/>
                  <a:pt x="0" y="2455"/>
                </a:cubicBezTo>
                <a:lnTo>
                  <a:pt x="0" y="15955"/>
                </a:lnTo>
                <a:cubicBezTo>
                  <a:pt x="0" y="17304"/>
                  <a:pt x="953" y="18627"/>
                  <a:pt x="2119" y="18891"/>
                </a:cubicBezTo>
                <a:lnTo>
                  <a:pt x="6839" y="19964"/>
                </a:lnTo>
                <a:cubicBezTo>
                  <a:pt x="6839" y="19964"/>
                  <a:pt x="2775" y="21600"/>
                  <a:pt x="5400" y="21600"/>
                </a:cubicBezTo>
                <a:lnTo>
                  <a:pt x="16200" y="21600"/>
                </a:lnTo>
                <a:cubicBezTo>
                  <a:pt x="18825" y="21600"/>
                  <a:pt x="14761" y="19964"/>
                  <a:pt x="14761" y="19964"/>
                </a:cubicBezTo>
                <a:lnTo>
                  <a:pt x="19483" y="18891"/>
                </a:lnTo>
                <a:cubicBezTo>
                  <a:pt x="20647" y="18627"/>
                  <a:pt x="21600" y="17304"/>
                  <a:pt x="21600" y="15955"/>
                </a:cubicBezTo>
                <a:lnTo>
                  <a:pt x="21600" y="2455"/>
                </a:lnTo>
                <a:cubicBezTo>
                  <a:pt x="21600" y="1104"/>
                  <a:pt x="20629" y="0"/>
                  <a:pt x="19440" y="0"/>
                </a:cubicBezTo>
                <a:close/>
              </a:path>
            </a:pathLst>
          </a:custGeom>
          <a:solidFill>
            <a:schemeClr val="bg1"/>
          </a:solidFill>
          <a:ln w="12700">
            <a:miter lim="400000"/>
          </a:ln>
        </p:spPr>
        <p:txBody>
          <a:bodyPr lIns="38100" tIns="38100" rIns="38100" bIns="38100" anchor="ctr"/>
          <a:lstStyle/>
          <a:p>
            <a:pPr algn="ctr" defTabSz="457200">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sz="3000">
              <a:cs typeface="+mn-ea"/>
              <a:sym typeface="+mn-lt"/>
            </a:endParaRPr>
          </a:p>
        </p:txBody>
      </p:sp>
      <p:grpSp>
        <p:nvGrpSpPr>
          <p:cNvPr id="58" name="Group 57"/>
          <p:cNvGrpSpPr/>
          <p:nvPr/>
        </p:nvGrpSpPr>
        <p:grpSpPr>
          <a:xfrm>
            <a:off x="7089933" y="4093990"/>
            <a:ext cx="480226" cy="480351"/>
            <a:chOff x="5696095" y="2664662"/>
            <a:chExt cx="240998" cy="241061"/>
          </a:xfrm>
          <a:solidFill>
            <a:schemeClr val="bg1"/>
          </a:solidFill>
        </p:grpSpPr>
        <p:sp>
          <p:nvSpPr>
            <p:cNvPr id="59" name="Shape 4432"/>
            <p:cNvSpPr/>
            <p:nvPr/>
          </p:nvSpPr>
          <p:spPr>
            <a:xfrm>
              <a:off x="5696095" y="2664662"/>
              <a:ext cx="240998" cy="241061"/>
            </a:xfrm>
            <a:custGeom>
              <a:avLst/>
              <a:gdLst/>
              <a:ahLst/>
              <a:cxnLst>
                <a:cxn ang="0">
                  <a:pos x="wd2" y="hd2"/>
                </a:cxn>
                <a:cxn ang="5400000">
                  <a:pos x="wd2" y="hd2"/>
                </a:cxn>
                <a:cxn ang="10800000">
                  <a:pos x="wd2" y="hd2"/>
                </a:cxn>
                <a:cxn ang="16200000">
                  <a:pos x="wd2" y="hd2"/>
                </a:cxn>
              </a:cxnLst>
              <a:rect l="0" t="0" r="r" b="b"/>
              <a:pathLst>
                <a:path w="21600" h="21600" extrusionOk="0">
                  <a:moveTo>
                    <a:pt x="10800" y="19252"/>
                  </a:moveTo>
                  <a:cubicBezTo>
                    <a:pt x="6132" y="19252"/>
                    <a:pt x="2348" y="15468"/>
                    <a:pt x="2348" y="10800"/>
                  </a:cubicBezTo>
                  <a:cubicBezTo>
                    <a:pt x="2348" y="6132"/>
                    <a:pt x="6132" y="2348"/>
                    <a:pt x="10800" y="2348"/>
                  </a:cubicBezTo>
                  <a:cubicBezTo>
                    <a:pt x="15469" y="2348"/>
                    <a:pt x="19252" y="6132"/>
                    <a:pt x="19252" y="10800"/>
                  </a:cubicBezTo>
                  <a:cubicBezTo>
                    <a:pt x="19252" y="15468"/>
                    <a:pt x="15469" y="19252"/>
                    <a:pt x="10800" y="19252"/>
                  </a:cubicBezTo>
                  <a:close/>
                  <a:moveTo>
                    <a:pt x="10800" y="0"/>
                  </a:moveTo>
                  <a:cubicBezTo>
                    <a:pt x="4836" y="0"/>
                    <a:pt x="0" y="4836"/>
                    <a:pt x="0" y="10800"/>
                  </a:cubicBezTo>
                  <a:cubicBezTo>
                    <a:pt x="0" y="16765"/>
                    <a:pt x="4836" y="21600"/>
                    <a:pt x="10800" y="21600"/>
                  </a:cubicBezTo>
                  <a:cubicBezTo>
                    <a:pt x="16765" y="21600"/>
                    <a:pt x="21600" y="16765"/>
                    <a:pt x="21600" y="10800"/>
                  </a:cubicBezTo>
                  <a:cubicBezTo>
                    <a:pt x="21600" y="4836"/>
                    <a:pt x="16765" y="0"/>
                    <a:pt x="10800" y="0"/>
                  </a:cubicBezTo>
                  <a:close/>
                </a:path>
              </a:pathLst>
            </a:custGeom>
            <a:grpFill/>
            <a:ln w="12700">
              <a:miter lim="400000"/>
            </a:ln>
          </p:spPr>
          <p:txBody>
            <a:bodyPr lIns="38100" tIns="38100" rIns="38100" bIns="38100" anchor="ctr"/>
            <a:lstStyle/>
            <a:p>
              <a:pPr algn="ctr" defTabSz="457200">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sz="3000">
                <a:cs typeface="+mn-ea"/>
                <a:sym typeface="+mn-lt"/>
              </a:endParaRPr>
            </a:p>
          </p:txBody>
        </p:sp>
        <p:sp>
          <p:nvSpPr>
            <p:cNvPr id="65" name="Shape 4433"/>
            <p:cNvSpPr/>
            <p:nvPr/>
          </p:nvSpPr>
          <p:spPr>
            <a:xfrm>
              <a:off x="5809148" y="2713125"/>
              <a:ext cx="57570" cy="116540"/>
            </a:xfrm>
            <a:custGeom>
              <a:avLst/>
              <a:gdLst/>
              <a:ahLst/>
              <a:cxnLst>
                <a:cxn ang="0">
                  <a:pos x="wd2" y="hd2"/>
                </a:cxn>
                <a:cxn ang="5400000">
                  <a:pos x="wd2" y="hd2"/>
                </a:cxn>
                <a:cxn ang="10800000">
                  <a:pos x="wd2" y="hd2"/>
                </a:cxn>
                <a:cxn ang="16200000">
                  <a:pos x="wd2" y="hd2"/>
                </a:cxn>
              </a:cxnLst>
              <a:rect l="0" t="0" r="r" b="b"/>
              <a:pathLst>
                <a:path w="21600" h="21600" extrusionOk="0">
                  <a:moveTo>
                    <a:pt x="6876" y="0"/>
                  </a:moveTo>
                  <a:lnTo>
                    <a:pt x="0" y="0"/>
                  </a:lnTo>
                  <a:lnTo>
                    <a:pt x="0" y="13331"/>
                  </a:lnTo>
                  <a:lnTo>
                    <a:pt x="16736" y="21600"/>
                  </a:lnTo>
                  <a:lnTo>
                    <a:pt x="21600" y="19196"/>
                  </a:lnTo>
                  <a:lnTo>
                    <a:pt x="6876" y="11921"/>
                  </a:lnTo>
                  <a:cubicBezTo>
                    <a:pt x="6876" y="11921"/>
                    <a:pt x="6876" y="0"/>
                    <a:pt x="6876" y="0"/>
                  </a:cubicBezTo>
                  <a:close/>
                </a:path>
              </a:pathLst>
            </a:custGeom>
            <a:grpFill/>
            <a:ln w="12700">
              <a:miter lim="400000"/>
            </a:ln>
          </p:spPr>
          <p:txBody>
            <a:bodyPr lIns="38100" tIns="38100" rIns="38100" bIns="38100" anchor="ctr"/>
            <a:lstStyle/>
            <a:p>
              <a:pPr algn="ctr" defTabSz="457200">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sz="3000">
                <a:cs typeface="+mn-ea"/>
                <a:sym typeface="+mn-lt"/>
              </a:endParaRPr>
            </a:p>
          </p:txBody>
        </p:sp>
      </p:grpSp>
      <p:sp>
        <p:nvSpPr>
          <p:cNvPr id="66" name="Shape 4417"/>
          <p:cNvSpPr/>
          <p:nvPr/>
        </p:nvSpPr>
        <p:spPr>
          <a:xfrm>
            <a:off x="5820759" y="2719567"/>
            <a:ext cx="715277" cy="715412"/>
          </a:xfrm>
          <a:custGeom>
            <a:avLst/>
            <a:gdLst/>
            <a:ahLst/>
            <a:cxnLst>
              <a:cxn ang="0">
                <a:pos x="wd2" y="hd2"/>
              </a:cxn>
              <a:cxn ang="5400000">
                <a:pos x="wd2" y="hd2"/>
              </a:cxn>
              <a:cxn ang="10800000">
                <a:pos x="wd2" y="hd2"/>
              </a:cxn>
              <a:cxn ang="16200000">
                <a:pos x="wd2" y="hd2"/>
              </a:cxn>
            </a:cxnLst>
            <a:rect l="0" t="0" r="r" b="b"/>
            <a:pathLst>
              <a:path w="21600" h="21600" extrusionOk="0">
                <a:moveTo>
                  <a:pt x="10800" y="15497"/>
                </a:moveTo>
                <a:cubicBezTo>
                  <a:pt x="8207" y="15497"/>
                  <a:pt x="6104" y="13394"/>
                  <a:pt x="6104" y="10801"/>
                </a:cubicBezTo>
                <a:cubicBezTo>
                  <a:pt x="6104" y="8206"/>
                  <a:pt x="8207" y="6103"/>
                  <a:pt x="10800" y="6103"/>
                </a:cubicBezTo>
                <a:cubicBezTo>
                  <a:pt x="13395" y="6103"/>
                  <a:pt x="15497" y="8206"/>
                  <a:pt x="15497" y="10801"/>
                </a:cubicBezTo>
                <a:cubicBezTo>
                  <a:pt x="15497" y="13394"/>
                  <a:pt x="13395" y="15497"/>
                  <a:pt x="10800" y="15497"/>
                </a:cubicBezTo>
                <a:close/>
                <a:moveTo>
                  <a:pt x="19522" y="10801"/>
                </a:moveTo>
                <a:cubicBezTo>
                  <a:pt x="19522" y="9454"/>
                  <a:pt x="20352" y="8390"/>
                  <a:pt x="21600" y="7659"/>
                </a:cubicBezTo>
                <a:cubicBezTo>
                  <a:pt x="21376" y="6908"/>
                  <a:pt x="21077" y="6187"/>
                  <a:pt x="20711" y="5509"/>
                </a:cubicBezTo>
                <a:cubicBezTo>
                  <a:pt x="19310" y="5876"/>
                  <a:pt x="18177" y="5328"/>
                  <a:pt x="17225" y="4375"/>
                </a:cubicBezTo>
                <a:cubicBezTo>
                  <a:pt x="16273" y="3423"/>
                  <a:pt x="15982" y="2288"/>
                  <a:pt x="16347" y="889"/>
                </a:cubicBezTo>
                <a:cubicBezTo>
                  <a:pt x="15671" y="522"/>
                  <a:pt x="14951" y="224"/>
                  <a:pt x="14198" y="0"/>
                </a:cubicBezTo>
                <a:cubicBezTo>
                  <a:pt x="13467" y="1248"/>
                  <a:pt x="12147" y="2078"/>
                  <a:pt x="10800" y="2078"/>
                </a:cubicBezTo>
                <a:cubicBezTo>
                  <a:pt x="9453" y="2078"/>
                  <a:pt x="8134" y="1248"/>
                  <a:pt x="7403" y="0"/>
                </a:cubicBezTo>
                <a:cubicBezTo>
                  <a:pt x="6651" y="224"/>
                  <a:pt x="5931" y="522"/>
                  <a:pt x="5253" y="889"/>
                </a:cubicBezTo>
                <a:cubicBezTo>
                  <a:pt x="5620" y="2288"/>
                  <a:pt x="5329" y="3422"/>
                  <a:pt x="4375" y="4375"/>
                </a:cubicBezTo>
                <a:cubicBezTo>
                  <a:pt x="3423" y="5328"/>
                  <a:pt x="2290" y="5876"/>
                  <a:pt x="890" y="5510"/>
                </a:cubicBezTo>
                <a:cubicBezTo>
                  <a:pt x="523" y="6187"/>
                  <a:pt x="224" y="6908"/>
                  <a:pt x="0" y="7659"/>
                </a:cubicBezTo>
                <a:cubicBezTo>
                  <a:pt x="1249" y="8390"/>
                  <a:pt x="2078" y="9454"/>
                  <a:pt x="2078" y="10801"/>
                </a:cubicBezTo>
                <a:cubicBezTo>
                  <a:pt x="2078" y="12146"/>
                  <a:pt x="1249" y="13467"/>
                  <a:pt x="0" y="14198"/>
                </a:cubicBezTo>
                <a:cubicBezTo>
                  <a:pt x="224" y="14950"/>
                  <a:pt x="523" y="15670"/>
                  <a:pt x="890" y="16348"/>
                </a:cubicBezTo>
                <a:cubicBezTo>
                  <a:pt x="2290" y="15981"/>
                  <a:pt x="3423" y="16272"/>
                  <a:pt x="4375" y="17226"/>
                </a:cubicBezTo>
                <a:cubicBezTo>
                  <a:pt x="5327" y="18178"/>
                  <a:pt x="5620" y="19312"/>
                  <a:pt x="5253" y="20711"/>
                </a:cubicBezTo>
                <a:cubicBezTo>
                  <a:pt x="5931" y="21078"/>
                  <a:pt x="6651" y="21377"/>
                  <a:pt x="7403" y="21600"/>
                </a:cubicBezTo>
                <a:cubicBezTo>
                  <a:pt x="8134" y="20352"/>
                  <a:pt x="9453" y="19524"/>
                  <a:pt x="10800" y="19524"/>
                </a:cubicBezTo>
                <a:cubicBezTo>
                  <a:pt x="12147" y="19524"/>
                  <a:pt x="13467" y="20352"/>
                  <a:pt x="14198" y="21600"/>
                </a:cubicBezTo>
                <a:cubicBezTo>
                  <a:pt x="14951" y="21376"/>
                  <a:pt x="15671" y="21078"/>
                  <a:pt x="16349" y="20711"/>
                </a:cubicBezTo>
                <a:cubicBezTo>
                  <a:pt x="15982" y="19312"/>
                  <a:pt x="16273" y="18178"/>
                  <a:pt x="17225" y="17226"/>
                </a:cubicBezTo>
                <a:cubicBezTo>
                  <a:pt x="18177" y="16272"/>
                  <a:pt x="19310" y="15724"/>
                  <a:pt x="20711" y="16091"/>
                </a:cubicBezTo>
                <a:cubicBezTo>
                  <a:pt x="21077" y="15413"/>
                  <a:pt x="21376" y="14693"/>
                  <a:pt x="21600" y="13941"/>
                </a:cubicBezTo>
                <a:cubicBezTo>
                  <a:pt x="20352" y="13210"/>
                  <a:pt x="19522" y="12146"/>
                  <a:pt x="19522" y="10801"/>
                </a:cubicBezTo>
                <a:close/>
              </a:path>
            </a:pathLst>
          </a:custGeom>
          <a:solidFill>
            <a:schemeClr val="bg1"/>
          </a:solidFill>
          <a:ln w="12700">
            <a:miter lim="400000"/>
          </a:ln>
        </p:spPr>
        <p:txBody>
          <a:bodyPr lIns="38100" tIns="38100" rIns="38100" bIns="38100" anchor="ctr"/>
          <a:lstStyle/>
          <a:p>
            <a:pPr algn="ctr" defTabSz="457200">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sz="3000">
              <a:cs typeface="+mn-ea"/>
              <a:sym typeface="+mn-lt"/>
            </a:endParaRPr>
          </a:p>
        </p:txBody>
      </p:sp>
      <p:sp>
        <p:nvSpPr>
          <p:cNvPr id="67" name="Shape 4461"/>
          <p:cNvSpPr/>
          <p:nvPr/>
        </p:nvSpPr>
        <p:spPr>
          <a:xfrm>
            <a:off x="5869497" y="4733556"/>
            <a:ext cx="452096" cy="452214"/>
          </a:xfrm>
          <a:custGeom>
            <a:avLst/>
            <a:gdLst/>
            <a:ahLst/>
            <a:cxnLst>
              <a:cxn ang="0">
                <a:pos x="wd2" y="hd2"/>
              </a:cxn>
              <a:cxn ang="5400000">
                <a:pos x="wd2" y="hd2"/>
              </a:cxn>
              <a:cxn ang="10800000">
                <a:pos x="wd2" y="hd2"/>
              </a:cxn>
              <a:cxn ang="16200000">
                <a:pos x="wd2" y="hd2"/>
              </a:cxn>
            </a:cxnLst>
            <a:rect l="0" t="0" r="r" b="b"/>
            <a:pathLst>
              <a:path w="21600" h="21600" extrusionOk="0">
                <a:moveTo>
                  <a:pt x="7903" y="19541"/>
                </a:moveTo>
                <a:cubicBezTo>
                  <a:pt x="8456" y="19250"/>
                  <a:pt x="8513" y="18872"/>
                  <a:pt x="9014" y="18851"/>
                </a:cubicBezTo>
                <a:cubicBezTo>
                  <a:pt x="9588" y="18824"/>
                  <a:pt x="10056" y="18627"/>
                  <a:pt x="10702" y="18486"/>
                </a:cubicBezTo>
                <a:cubicBezTo>
                  <a:pt x="11276" y="18360"/>
                  <a:pt x="12303" y="17777"/>
                  <a:pt x="13208" y="17703"/>
                </a:cubicBezTo>
                <a:cubicBezTo>
                  <a:pt x="13969" y="17640"/>
                  <a:pt x="15474" y="17742"/>
                  <a:pt x="15879" y="18479"/>
                </a:cubicBezTo>
                <a:cubicBezTo>
                  <a:pt x="14422" y="19446"/>
                  <a:pt x="12676" y="20011"/>
                  <a:pt x="10801" y="20011"/>
                </a:cubicBezTo>
                <a:cubicBezTo>
                  <a:pt x="9787" y="20011"/>
                  <a:pt x="8815" y="19844"/>
                  <a:pt x="7903" y="19541"/>
                </a:cubicBezTo>
                <a:close/>
                <a:moveTo>
                  <a:pt x="9534" y="1681"/>
                </a:moveTo>
                <a:cubicBezTo>
                  <a:pt x="9315" y="2109"/>
                  <a:pt x="8733" y="2284"/>
                  <a:pt x="8380" y="2606"/>
                </a:cubicBezTo>
                <a:cubicBezTo>
                  <a:pt x="7610" y="3303"/>
                  <a:pt x="7280" y="3206"/>
                  <a:pt x="6865" y="3874"/>
                </a:cubicBezTo>
                <a:cubicBezTo>
                  <a:pt x="6448" y="4542"/>
                  <a:pt x="5103" y="5505"/>
                  <a:pt x="5103" y="5989"/>
                </a:cubicBezTo>
                <a:cubicBezTo>
                  <a:pt x="5103" y="6471"/>
                  <a:pt x="5783" y="7042"/>
                  <a:pt x="6122" y="6930"/>
                </a:cubicBezTo>
                <a:cubicBezTo>
                  <a:pt x="6462" y="6819"/>
                  <a:pt x="7357" y="6825"/>
                  <a:pt x="7884" y="7010"/>
                </a:cubicBezTo>
                <a:cubicBezTo>
                  <a:pt x="8412" y="7196"/>
                  <a:pt x="12288" y="7383"/>
                  <a:pt x="11054" y="10660"/>
                </a:cubicBezTo>
                <a:cubicBezTo>
                  <a:pt x="10663" y="11702"/>
                  <a:pt x="8946" y="11525"/>
                  <a:pt x="8490" y="13251"/>
                </a:cubicBezTo>
                <a:cubicBezTo>
                  <a:pt x="8422" y="13503"/>
                  <a:pt x="8185" y="14586"/>
                  <a:pt x="8169" y="14939"/>
                </a:cubicBezTo>
                <a:cubicBezTo>
                  <a:pt x="8140" y="15485"/>
                  <a:pt x="8555" y="17547"/>
                  <a:pt x="8028" y="17547"/>
                </a:cubicBezTo>
                <a:cubicBezTo>
                  <a:pt x="7498" y="17547"/>
                  <a:pt x="6073" y="15703"/>
                  <a:pt x="6073" y="15369"/>
                </a:cubicBezTo>
                <a:cubicBezTo>
                  <a:pt x="6073" y="15035"/>
                  <a:pt x="5703" y="13864"/>
                  <a:pt x="5703" y="12860"/>
                </a:cubicBezTo>
                <a:cubicBezTo>
                  <a:pt x="5703" y="11857"/>
                  <a:pt x="3996" y="11874"/>
                  <a:pt x="3996" y="10541"/>
                </a:cubicBezTo>
                <a:cubicBezTo>
                  <a:pt x="3996" y="9336"/>
                  <a:pt x="4923" y="8739"/>
                  <a:pt x="4714" y="8162"/>
                </a:cubicBezTo>
                <a:cubicBezTo>
                  <a:pt x="4510" y="7589"/>
                  <a:pt x="2883" y="7567"/>
                  <a:pt x="2205" y="7499"/>
                </a:cubicBezTo>
                <a:cubicBezTo>
                  <a:pt x="3389" y="4426"/>
                  <a:pt x="6176" y="2144"/>
                  <a:pt x="9534" y="1681"/>
                </a:cubicBezTo>
                <a:close/>
                <a:moveTo>
                  <a:pt x="20011" y="10801"/>
                </a:moveTo>
                <a:cubicBezTo>
                  <a:pt x="20011" y="12907"/>
                  <a:pt x="19296" y="14850"/>
                  <a:pt x="18104" y="16404"/>
                </a:cubicBezTo>
                <a:cubicBezTo>
                  <a:pt x="17766" y="16139"/>
                  <a:pt x="17407" y="15428"/>
                  <a:pt x="17745" y="14690"/>
                </a:cubicBezTo>
                <a:cubicBezTo>
                  <a:pt x="18085" y="13946"/>
                  <a:pt x="18174" y="12228"/>
                  <a:pt x="18097" y="11559"/>
                </a:cubicBezTo>
                <a:cubicBezTo>
                  <a:pt x="18021" y="10891"/>
                  <a:pt x="17674" y="9281"/>
                  <a:pt x="16730" y="9264"/>
                </a:cubicBezTo>
                <a:cubicBezTo>
                  <a:pt x="15787" y="9251"/>
                  <a:pt x="15141" y="8939"/>
                  <a:pt x="14580" y="7822"/>
                </a:cubicBezTo>
                <a:cubicBezTo>
                  <a:pt x="13418" y="5494"/>
                  <a:pt x="16763" y="5049"/>
                  <a:pt x="15600" y="3759"/>
                </a:cubicBezTo>
                <a:cubicBezTo>
                  <a:pt x="15275" y="3399"/>
                  <a:pt x="13594" y="5249"/>
                  <a:pt x="13349" y="2782"/>
                </a:cubicBezTo>
                <a:cubicBezTo>
                  <a:pt x="13331" y="2608"/>
                  <a:pt x="13501" y="2344"/>
                  <a:pt x="13725" y="2070"/>
                </a:cubicBezTo>
                <a:cubicBezTo>
                  <a:pt x="17375" y="3296"/>
                  <a:pt x="20011" y="6745"/>
                  <a:pt x="20011" y="10801"/>
                </a:cubicBezTo>
                <a:close/>
                <a:moveTo>
                  <a:pt x="10801" y="0"/>
                </a:moveTo>
                <a:cubicBezTo>
                  <a:pt x="4844" y="0"/>
                  <a:pt x="0" y="4846"/>
                  <a:pt x="0" y="10801"/>
                </a:cubicBezTo>
                <a:cubicBezTo>
                  <a:pt x="0" y="16756"/>
                  <a:pt x="4844" y="21600"/>
                  <a:pt x="10801" y="21600"/>
                </a:cubicBezTo>
                <a:cubicBezTo>
                  <a:pt x="16756" y="21600"/>
                  <a:pt x="21600" y="16756"/>
                  <a:pt x="21600" y="10801"/>
                </a:cubicBezTo>
                <a:cubicBezTo>
                  <a:pt x="21600" y="4846"/>
                  <a:pt x="16756" y="0"/>
                  <a:pt x="10801" y="0"/>
                </a:cubicBezTo>
                <a:close/>
              </a:path>
            </a:pathLst>
          </a:custGeom>
          <a:solidFill>
            <a:schemeClr val="bg1"/>
          </a:solidFill>
          <a:ln w="12700">
            <a:miter lim="400000"/>
          </a:ln>
        </p:spPr>
        <p:txBody>
          <a:bodyPr lIns="38100" tIns="38100" rIns="38100" bIns="38100" anchor="ctr"/>
          <a:lstStyle/>
          <a:p>
            <a:pPr algn="ctr" defTabSz="457200">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sz="3000">
              <a:cs typeface="+mn-ea"/>
              <a:sym typeface="+mn-lt"/>
            </a:endParaRPr>
          </a:p>
        </p:txBody>
      </p:sp>
      <p:sp>
        <p:nvSpPr>
          <p:cNvPr id="33" name="矩形 32"/>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222" y="-27283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文本框 34"/>
          <p:cNvSpPr txBox="1"/>
          <p:nvPr/>
        </p:nvSpPr>
        <p:spPr>
          <a:xfrm>
            <a:off x="418455" y="312636"/>
            <a:ext cx="2787500" cy="398780"/>
          </a:xfrm>
          <a:prstGeom prst="rect">
            <a:avLst/>
          </a:prstGeom>
          <a:noFill/>
        </p:spPr>
        <p:txBody>
          <a:bodyPr wrap="square" rtlCol="0">
            <a:spAutoFit/>
          </a:bodyPr>
          <a:lstStyle/>
          <a:p>
            <a:r>
              <a:rPr lang="zh-CN" altLang="en-US" sz="2000" b="1" dirty="0">
                <a:cs typeface="+mn-ea"/>
                <a:sym typeface="+mn-lt"/>
              </a:rPr>
              <a:t>合拍发展四原则</a:t>
            </a:r>
          </a:p>
        </p:txBody>
      </p:sp>
      <p:cxnSp>
        <p:nvCxnSpPr>
          <p:cNvPr id="36" name="直接连接符 35"/>
          <p:cNvCxnSpPr/>
          <p:nvPr/>
        </p:nvCxnSpPr>
        <p:spPr>
          <a:xfrm>
            <a:off x="15718" y="710505"/>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 calcmode="lin" valueType="num">
                                      <p:cBhvr>
                                        <p:cTn id="9" dur="500" fill="hold"/>
                                        <p:tgtEl>
                                          <p:spTgt spid="21"/>
                                        </p:tgtEl>
                                        <p:attrNameLst>
                                          <p:attrName>style.rotation</p:attrName>
                                        </p:attrNameLst>
                                      </p:cBhvr>
                                      <p:tavLst>
                                        <p:tav tm="0">
                                          <p:val>
                                            <p:fltVal val="360"/>
                                          </p:val>
                                        </p:tav>
                                        <p:tav tm="100000">
                                          <p:val>
                                            <p:fltVal val="0"/>
                                          </p:val>
                                        </p:tav>
                                      </p:tavLst>
                                    </p:anim>
                                    <p:animEffect transition="in" filter="fade">
                                      <p:cBhvr>
                                        <p:cTn id="10" dur="500"/>
                                        <p:tgtEl>
                                          <p:spTgt spid="21"/>
                                        </p:tgtEl>
                                      </p:cBhvr>
                                    </p:animEffect>
                                  </p:childTnLst>
                                </p:cTn>
                              </p:par>
                            </p:childTnLst>
                          </p:cTn>
                        </p:par>
                        <p:par>
                          <p:cTn id="11" fill="hold">
                            <p:stCondLst>
                              <p:cond delay="500"/>
                            </p:stCondLst>
                            <p:childTnLst>
                              <p:par>
                                <p:cTn id="12" presetID="49" presetClass="entr" presetSubtype="0" decel="100000" fill="hold" grpId="0" nodeType="afterEffect">
                                  <p:stCondLst>
                                    <p:cond delay="0"/>
                                  </p:stCondLst>
                                  <p:childTnLst>
                                    <p:set>
                                      <p:cBhvr>
                                        <p:cTn id="13" dur="1" fill="hold">
                                          <p:stCondLst>
                                            <p:cond delay="0"/>
                                          </p:stCondLst>
                                        </p:cTn>
                                        <p:tgtEl>
                                          <p:spTgt spid="51"/>
                                        </p:tgtEl>
                                        <p:attrNameLst>
                                          <p:attrName>style.visibility</p:attrName>
                                        </p:attrNameLst>
                                      </p:cBhvr>
                                      <p:to>
                                        <p:strVal val="visible"/>
                                      </p:to>
                                    </p:set>
                                    <p:anim calcmode="lin" valueType="num">
                                      <p:cBhvr>
                                        <p:cTn id="14" dur="500" fill="hold"/>
                                        <p:tgtEl>
                                          <p:spTgt spid="51"/>
                                        </p:tgtEl>
                                        <p:attrNameLst>
                                          <p:attrName>ppt_w</p:attrName>
                                        </p:attrNameLst>
                                      </p:cBhvr>
                                      <p:tavLst>
                                        <p:tav tm="0">
                                          <p:val>
                                            <p:fltVal val="0"/>
                                          </p:val>
                                        </p:tav>
                                        <p:tav tm="100000">
                                          <p:val>
                                            <p:strVal val="#ppt_w"/>
                                          </p:val>
                                        </p:tav>
                                      </p:tavLst>
                                    </p:anim>
                                    <p:anim calcmode="lin" valueType="num">
                                      <p:cBhvr>
                                        <p:cTn id="15" dur="500" fill="hold"/>
                                        <p:tgtEl>
                                          <p:spTgt spid="51"/>
                                        </p:tgtEl>
                                        <p:attrNameLst>
                                          <p:attrName>ppt_h</p:attrName>
                                        </p:attrNameLst>
                                      </p:cBhvr>
                                      <p:tavLst>
                                        <p:tav tm="0">
                                          <p:val>
                                            <p:fltVal val="0"/>
                                          </p:val>
                                        </p:tav>
                                        <p:tav tm="100000">
                                          <p:val>
                                            <p:strVal val="#ppt_h"/>
                                          </p:val>
                                        </p:tav>
                                      </p:tavLst>
                                    </p:anim>
                                    <p:anim calcmode="lin" valueType="num">
                                      <p:cBhvr>
                                        <p:cTn id="16" dur="500" fill="hold"/>
                                        <p:tgtEl>
                                          <p:spTgt spid="51"/>
                                        </p:tgtEl>
                                        <p:attrNameLst>
                                          <p:attrName>style.rotation</p:attrName>
                                        </p:attrNameLst>
                                      </p:cBhvr>
                                      <p:tavLst>
                                        <p:tav tm="0">
                                          <p:val>
                                            <p:fltVal val="360"/>
                                          </p:val>
                                        </p:tav>
                                        <p:tav tm="100000">
                                          <p:val>
                                            <p:fltVal val="0"/>
                                          </p:val>
                                        </p:tav>
                                      </p:tavLst>
                                    </p:anim>
                                    <p:animEffect transition="in" filter="fade">
                                      <p:cBhvr>
                                        <p:cTn id="17" dur="500"/>
                                        <p:tgtEl>
                                          <p:spTgt spid="51"/>
                                        </p:tgtEl>
                                      </p:cBhvr>
                                    </p:animEffect>
                                  </p:childTnLst>
                                </p:cTn>
                              </p:par>
                            </p:childTnLst>
                          </p:cTn>
                        </p:par>
                        <p:par>
                          <p:cTn id="18" fill="hold">
                            <p:stCondLst>
                              <p:cond delay="1000"/>
                            </p:stCondLst>
                            <p:childTnLst>
                              <p:par>
                                <p:cTn id="19" presetID="22" presetClass="entr" presetSubtype="2" fill="hold" nodeType="afterEffect">
                                  <p:stCondLst>
                                    <p:cond delay="0"/>
                                  </p:stCondLst>
                                  <p:childTnLst>
                                    <p:set>
                                      <p:cBhvr>
                                        <p:cTn id="20" dur="1" fill="hold">
                                          <p:stCondLst>
                                            <p:cond delay="0"/>
                                          </p:stCondLst>
                                        </p:cTn>
                                        <p:tgtEl>
                                          <p:spTgt spid="47"/>
                                        </p:tgtEl>
                                        <p:attrNameLst>
                                          <p:attrName>style.visibility</p:attrName>
                                        </p:attrNameLst>
                                      </p:cBhvr>
                                      <p:to>
                                        <p:strVal val="visible"/>
                                      </p:to>
                                    </p:set>
                                    <p:animEffect transition="in" filter="wipe(right)">
                                      <p:cBhvr>
                                        <p:cTn id="21" dur="500"/>
                                        <p:tgtEl>
                                          <p:spTgt spid="47"/>
                                        </p:tgtEl>
                                      </p:cBhvr>
                                    </p:animEffect>
                                  </p:childTnLst>
                                </p:cTn>
                              </p:par>
                            </p:childTnLst>
                          </p:cTn>
                        </p:par>
                        <p:par>
                          <p:cTn id="22" fill="hold">
                            <p:stCondLst>
                              <p:cond delay="1500"/>
                            </p:stCondLst>
                            <p:childTnLst>
                              <p:par>
                                <p:cTn id="23" presetID="22" presetClass="entr" presetSubtype="1" fill="hold" grpId="0" nodeType="after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Effect transition="in" filter="wipe(up)">
                                      <p:cBhvr>
                                        <p:cTn id="25" dur="500"/>
                                        <p:tgtEl>
                                          <p:spTgt spid="5">
                                            <p:txEl>
                                              <p:pRg st="0" end="0"/>
                                            </p:txEl>
                                          </p:spTgt>
                                        </p:tgtEl>
                                      </p:cBhvr>
                                    </p:animEffect>
                                  </p:childTnLst>
                                </p:cTn>
                              </p:par>
                            </p:childTnLst>
                          </p:cTn>
                        </p:par>
                        <p:par>
                          <p:cTn id="26" fill="hold">
                            <p:stCondLst>
                              <p:cond delay="2000"/>
                            </p:stCondLst>
                            <p:childTnLst>
                              <p:par>
                                <p:cTn id="27" presetID="9" presetClass="entr" presetSubtype="0" fill="hold" grpId="0" nodeType="after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dissolve">
                                      <p:cBhvr>
                                        <p:cTn id="29" dur="500"/>
                                        <p:tgtEl>
                                          <p:spTgt spid="3">
                                            <p:txEl>
                                              <p:pRg st="0" end="0"/>
                                            </p:txEl>
                                          </p:spTgt>
                                        </p:tgtEl>
                                      </p:cBhvr>
                                    </p:animEffect>
                                  </p:childTnLst>
                                </p:cTn>
                              </p:par>
                            </p:childTnLst>
                          </p:cTn>
                        </p:par>
                        <p:par>
                          <p:cTn id="30" fill="hold">
                            <p:stCondLst>
                              <p:cond delay="2500"/>
                            </p:stCondLst>
                            <p:childTnLst>
                              <p:par>
                                <p:cTn id="31" presetID="49" presetClass="entr" presetSubtype="0" decel="100000" fill="hold" grpId="0" nodeType="afterEffect">
                                  <p:stCondLst>
                                    <p:cond delay="0"/>
                                  </p:stCondLst>
                                  <p:childTnLst>
                                    <p:set>
                                      <p:cBhvr>
                                        <p:cTn id="32" dur="1" fill="hold">
                                          <p:stCondLst>
                                            <p:cond delay="0"/>
                                          </p:stCondLst>
                                        </p:cTn>
                                        <p:tgtEl>
                                          <p:spTgt spid="22"/>
                                        </p:tgtEl>
                                        <p:attrNameLst>
                                          <p:attrName>style.visibility</p:attrName>
                                        </p:attrNameLst>
                                      </p:cBhvr>
                                      <p:to>
                                        <p:strVal val="visible"/>
                                      </p:to>
                                    </p:set>
                                    <p:anim calcmode="lin" valueType="num">
                                      <p:cBhvr>
                                        <p:cTn id="33" dur="500" fill="hold"/>
                                        <p:tgtEl>
                                          <p:spTgt spid="22"/>
                                        </p:tgtEl>
                                        <p:attrNameLst>
                                          <p:attrName>ppt_w</p:attrName>
                                        </p:attrNameLst>
                                      </p:cBhvr>
                                      <p:tavLst>
                                        <p:tav tm="0">
                                          <p:val>
                                            <p:fltVal val="0"/>
                                          </p:val>
                                        </p:tav>
                                        <p:tav tm="100000">
                                          <p:val>
                                            <p:strVal val="#ppt_w"/>
                                          </p:val>
                                        </p:tav>
                                      </p:tavLst>
                                    </p:anim>
                                    <p:anim calcmode="lin" valueType="num">
                                      <p:cBhvr>
                                        <p:cTn id="34" dur="500" fill="hold"/>
                                        <p:tgtEl>
                                          <p:spTgt spid="22"/>
                                        </p:tgtEl>
                                        <p:attrNameLst>
                                          <p:attrName>ppt_h</p:attrName>
                                        </p:attrNameLst>
                                      </p:cBhvr>
                                      <p:tavLst>
                                        <p:tav tm="0">
                                          <p:val>
                                            <p:fltVal val="0"/>
                                          </p:val>
                                        </p:tav>
                                        <p:tav tm="100000">
                                          <p:val>
                                            <p:strVal val="#ppt_h"/>
                                          </p:val>
                                        </p:tav>
                                      </p:tavLst>
                                    </p:anim>
                                    <p:anim calcmode="lin" valueType="num">
                                      <p:cBhvr>
                                        <p:cTn id="35" dur="500" fill="hold"/>
                                        <p:tgtEl>
                                          <p:spTgt spid="22"/>
                                        </p:tgtEl>
                                        <p:attrNameLst>
                                          <p:attrName>style.rotation</p:attrName>
                                        </p:attrNameLst>
                                      </p:cBhvr>
                                      <p:tavLst>
                                        <p:tav tm="0">
                                          <p:val>
                                            <p:fltVal val="360"/>
                                          </p:val>
                                        </p:tav>
                                        <p:tav tm="100000">
                                          <p:val>
                                            <p:fltVal val="0"/>
                                          </p:val>
                                        </p:tav>
                                      </p:tavLst>
                                    </p:anim>
                                    <p:animEffect transition="in" filter="fade">
                                      <p:cBhvr>
                                        <p:cTn id="36" dur="500"/>
                                        <p:tgtEl>
                                          <p:spTgt spid="22"/>
                                        </p:tgtEl>
                                      </p:cBhvr>
                                    </p:animEffect>
                                  </p:childTnLst>
                                </p:cTn>
                              </p:par>
                            </p:childTnLst>
                          </p:cTn>
                        </p:par>
                        <p:par>
                          <p:cTn id="37" fill="hold">
                            <p:stCondLst>
                              <p:cond delay="3000"/>
                            </p:stCondLst>
                            <p:childTnLst>
                              <p:par>
                                <p:cTn id="38" presetID="49" presetClass="entr" presetSubtype="0" decel="100000" fill="hold" grpId="0" nodeType="afterEffect">
                                  <p:stCondLst>
                                    <p:cond delay="0"/>
                                  </p:stCondLst>
                                  <p:childTnLst>
                                    <p:set>
                                      <p:cBhvr>
                                        <p:cTn id="39" dur="1" fill="hold">
                                          <p:stCondLst>
                                            <p:cond delay="0"/>
                                          </p:stCondLst>
                                        </p:cTn>
                                        <p:tgtEl>
                                          <p:spTgt spid="66"/>
                                        </p:tgtEl>
                                        <p:attrNameLst>
                                          <p:attrName>style.visibility</p:attrName>
                                        </p:attrNameLst>
                                      </p:cBhvr>
                                      <p:to>
                                        <p:strVal val="visible"/>
                                      </p:to>
                                    </p:set>
                                    <p:anim calcmode="lin" valueType="num">
                                      <p:cBhvr>
                                        <p:cTn id="40" dur="500" fill="hold"/>
                                        <p:tgtEl>
                                          <p:spTgt spid="66"/>
                                        </p:tgtEl>
                                        <p:attrNameLst>
                                          <p:attrName>ppt_w</p:attrName>
                                        </p:attrNameLst>
                                      </p:cBhvr>
                                      <p:tavLst>
                                        <p:tav tm="0">
                                          <p:val>
                                            <p:fltVal val="0"/>
                                          </p:val>
                                        </p:tav>
                                        <p:tav tm="100000">
                                          <p:val>
                                            <p:strVal val="#ppt_w"/>
                                          </p:val>
                                        </p:tav>
                                      </p:tavLst>
                                    </p:anim>
                                    <p:anim calcmode="lin" valueType="num">
                                      <p:cBhvr>
                                        <p:cTn id="41" dur="500" fill="hold"/>
                                        <p:tgtEl>
                                          <p:spTgt spid="66"/>
                                        </p:tgtEl>
                                        <p:attrNameLst>
                                          <p:attrName>ppt_h</p:attrName>
                                        </p:attrNameLst>
                                      </p:cBhvr>
                                      <p:tavLst>
                                        <p:tav tm="0">
                                          <p:val>
                                            <p:fltVal val="0"/>
                                          </p:val>
                                        </p:tav>
                                        <p:tav tm="100000">
                                          <p:val>
                                            <p:strVal val="#ppt_h"/>
                                          </p:val>
                                        </p:tav>
                                      </p:tavLst>
                                    </p:anim>
                                    <p:anim calcmode="lin" valueType="num">
                                      <p:cBhvr>
                                        <p:cTn id="42" dur="500" fill="hold"/>
                                        <p:tgtEl>
                                          <p:spTgt spid="66"/>
                                        </p:tgtEl>
                                        <p:attrNameLst>
                                          <p:attrName>style.rotation</p:attrName>
                                        </p:attrNameLst>
                                      </p:cBhvr>
                                      <p:tavLst>
                                        <p:tav tm="0">
                                          <p:val>
                                            <p:fltVal val="360"/>
                                          </p:val>
                                        </p:tav>
                                        <p:tav tm="100000">
                                          <p:val>
                                            <p:fltVal val="0"/>
                                          </p:val>
                                        </p:tav>
                                      </p:tavLst>
                                    </p:anim>
                                    <p:animEffect transition="in" filter="fade">
                                      <p:cBhvr>
                                        <p:cTn id="43" dur="500"/>
                                        <p:tgtEl>
                                          <p:spTgt spid="66"/>
                                        </p:tgtEl>
                                      </p:cBhvr>
                                    </p:animEffect>
                                  </p:childTnLst>
                                </p:cTn>
                              </p:par>
                            </p:childTnLst>
                          </p:cTn>
                        </p:par>
                        <p:par>
                          <p:cTn id="44" fill="hold">
                            <p:stCondLst>
                              <p:cond delay="3500"/>
                            </p:stCondLst>
                            <p:childTnLst>
                              <p:par>
                                <p:cTn id="45" presetID="22" presetClass="entr" presetSubtype="8" fill="hold" nodeType="afterEffect">
                                  <p:stCondLst>
                                    <p:cond delay="0"/>
                                  </p:stCondLst>
                                  <p:childTnLst>
                                    <p:set>
                                      <p:cBhvr>
                                        <p:cTn id="46" dur="1" fill="hold">
                                          <p:stCondLst>
                                            <p:cond delay="0"/>
                                          </p:stCondLst>
                                        </p:cTn>
                                        <p:tgtEl>
                                          <p:spTgt spid="55"/>
                                        </p:tgtEl>
                                        <p:attrNameLst>
                                          <p:attrName>style.visibility</p:attrName>
                                        </p:attrNameLst>
                                      </p:cBhvr>
                                      <p:to>
                                        <p:strVal val="visible"/>
                                      </p:to>
                                    </p:set>
                                    <p:animEffect transition="in" filter="wipe(left)">
                                      <p:cBhvr>
                                        <p:cTn id="47" dur="500"/>
                                        <p:tgtEl>
                                          <p:spTgt spid="55"/>
                                        </p:tgtEl>
                                      </p:cBhvr>
                                    </p:animEffect>
                                  </p:childTnLst>
                                </p:cTn>
                              </p:par>
                            </p:childTnLst>
                          </p:cTn>
                        </p:par>
                        <p:par>
                          <p:cTn id="48" fill="hold">
                            <p:stCondLst>
                              <p:cond delay="4000"/>
                            </p:stCondLst>
                            <p:childTnLst>
                              <p:par>
                                <p:cTn id="49" presetID="22" presetClass="entr" presetSubtype="1" fill="hold" grpId="0" nodeType="afterEffect">
                                  <p:stCondLst>
                                    <p:cond delay="0"/>
                                  </p:stCondLst>
                                  <p:childTnLst>
                                    <p:set>
                                      <p:cBhvr>
                                        <p:cTn id="50" dur="1" fill="hold">
                                          <p:stCondLst>
                                            <p:cond delay="0"/>
                                          </p:stCondLst>
                                        </p:cTn>
                                        <p:tgtEl>
                                          <p:spTgt spid="57">
                                            <p:txEl>
                                              <p:pRg st="0" end="0"/>
                                            </p:txEl>
                                          </p:spTgt>
                                        </p:tgtEl>
                                        <p:attrNameLst>
                                          <p:attrName>style.visibility</p:attrName>
                                        </p:attrNameLst>
                                      </p:cBhvr>
                                      <p:to>
                                        <p:strVal val="visible"/>
                                      </p:to>
                                    </p:set>
                                    <p:animEffect transition="in" filter="wipe(up)">
                                      <p:cBhvr>
                                        <p:cTn id="51" dur="500"/>
                                        <p:tgtEl>
                                          <p:spTgt spid="57">
                                            <p:txEl>
                                              <p:pRg st="0" end="0"/>
                                            </p:txEl>
                                          </p:spTgt>
                                        </p:tgtEl>
                                      </p:cBhvr>
                                    </p:animEffect>
                                  </p:childTnLst>
                                </p:cTn>
                              </p:par>
                            </p:childTnLst>
                          </p:cTn>
                        </p:par>
                        <p:par>
                          <p:cTn id="52" fill="hold">
                            <p:stCondLst>
                              <p:cond delay="4500"/>
                            </p:stCondLst>
                            <p:childTnLst>
                              <p:par>
                                <p:cTn id="53" presetID="9" presetClass="entr" presetSubtype="0" fill="hold" grpId="0" nodeType="afterEffect">
                                  <p:stCondLst>
                                    <p:cond delay="0"/>
                                  </p:stCondLst>
                                  <p:childTnLst>
                                    <p:set>
                                      <p:cBhvr>
                                        <p:cTn id="54" dur="1" fill="hold">
                                          <p:stCondLst>
                                            <p:cond delay="0"/>
                                          </p:stCondLst>
                                        </p:cTn>
                                        <p:tgtEl>
                                          <p:spTgt spid="56">
                                            <p:txEl>
                                              <p:pRg st="0" end="0"/>
                                            </p:txEl>
                                          </p:spTgt>
                                        </p:tgtEl>
                                        <p:attrNameLst>
                                          <p:attrName>style.visibility</p:attrName>
                                        </p:attrNameLst>
                                      </p:cBhvr>
                                      <p:to>
                                        <p:strVal val="visible"/>
                                      </p:to>
                                    </p:set>
                                    <p:animEffect transition="in" filter="dissolve">
                                      <p:cBhvr>
                                        <p:cTn id="55" dur="500"/>
                                        <p:tgtEl>
                                          <p:spTgt spid="56">
                                            <p:txEl>
                                              <p:pRg st="0" end="0"/>
                                            </p:txEl>
                                          </p:spTgt>
                                        </p:tgtEl>
                                      </p:cBhvr>
                                    </p:animEffect>
                                  </p:childTnLst>
                                </p:cTn>
                              </p:par>
                            </p:childTnLst>
                          </p:cTn>
                        </p:par>
                        <p:par>
                          <p:cTn id="56" fill="hold">
                            <p:stCondLst>
                              <p:cond delay="5000"/>
                            </p:stCondLst>
                            <p:childTnLst>
                              <p:par>
                                <p:cTn id="57" presetID="49" presetClass="entr" presetSubtype="0" decel="100000" fill="hold" grpId="0" nodeType="afterEffect">
                                  <p:stCondLst>
                                    <p:cond delay="0"/>
                                  </p:stCondLst>
                                  <p:childTnLst>
                                    <p:set>
                                      <p:cBhvr>
                                        <p:cTn id="58" dur="1" fill="hold">
                                          <p:stCondLst>
                                            <p:cond delay="0"/>
                                          </p:stCondLst>
                                        </p:cTn>
                                        <p:tgtEl>
                                          <p:spTgt spid="23"/>
                                        </p:tgtEl>
                                        <p:attrNameLst>
                                          <p:attrName>style.visibility</p:attrName>
                                        </p:attrNameLst>
                                      </p:cBhvr>
                                      <p:to>
                                        <p:strVal val="visible"/>
                                      </p:to>
                                    </p:set>
                                    <p:anim calcmode="lin" valueType="num">
                                      <p:cBhvr>
                                        <p:cTn id="59" dur="500" fill="hold"/>
                                        <p:tgtEl>
                                          <p:spTgt spid="23"/>
                                        </p:tgtEl>
                                        <p:attrNameLst>
                                          <p:attrName>ppt_w</p:attrName>
                                        </p:attrNameLst>
                                      </p:cBhvr>
                                      <p:tavLst>
                                        <p:tav tm="0">
                                          <p:val>
                                            <p:fltVal val="0"/>
                                          </p:val>
                                        </p:tav>
                                        <p:tav tm="100000">
                                          <p:val>
                                            <p:strVal val="#ppt_w"/>
                                          </p:val>
                                        </p:tav>
                                      </p:tavLst>
                                    </p:anim>
                                    <p:anim calcmode="lin" valueType="num">
                                      <p:cBhvr>
                                        <p:cTn id="60" dur="500" fill="hold"/>
                                        <p:tgtEl>
                                          <p:spTgt spid="23"/>
                                        </p:tgtEl>
                                        <p:attrNameLst>
                                          <p:attrName>ppt_h</p:attrName>
                                        </p:attrNameLst>
                                      </p:cBhvr>
                                      <p:tavLst>
                                        <p:tav tm="0">
                                          <p:val>
                                            <p:fltVal val="0"/>
                                          </p:val>
                                        </p:tav>
                                        <p:tav tm="100000">
                                          <p:val>
                                            <p:strVal val="#ppt_h"/>
                                          </p:val>
                                        </p:tav>
                                      </p:tavLst>
                                    </p:anim>
                                    <p:anim calcmode="lin" valueType="num">
                                      <p:cBhvr>
                                        <p:cTn id="61" dur="500" fill="hold"/>
                                        <p:tgtEl>
                                          <p:spTgt spid="23"/>
                                        </p:tgtEl>
                                        <p:attrNameLst>
                                          <p:attrName>style.rotation</p:attrName>
                                        </p:attrNameLst>
                                      </p:cBhvr>
                                      <p:tavLst>
                                        <p:tav tm="0">
                                          <p:val>
                                            <p:fltVal val="360"/>
                                          </p:val>
                                        </p:tav>
                                        <p:tav tm="100000">
                                          <p:val>
                                            <p:fltVal val="0"/>
                                          </p:val>
                                        </p:tav>
                                      </p:tavLst>
                                    </p:anim>
                                    <p:animEffect transition="in" filter="fade">
                                      <p:cBhvr>
                                        <p:cTn id="62" dur="500"/>
                                        <p:tgtEl>
                                          <p:spTgt spid="23"/>
                                        </p:tgtEl>
                                      </p:cBhvr>
                                    </p:animEffect>
                                  </p:childTnLst>
                                </p:cTn>
                              </p:par>
                            </p:childTnLst>
                          </p:cTn>
                        </p:par>
                        <p:par>
                          <p:cTn id="63" fill="hold">
                            <p:stCondLst>
                              <p:cond delay="5500"/>
                            </p:stCondLst>
                            <p:childTnLst>
                              <p:par>
                                <p:cTn id="64" presetID="49" presetClass="entr" presetSubtype="0" decel="100000" fill="hold" nodeType="afterEffect">
                                  <p:stCondLst>
                                    <p:cond delay="0"/>
                                  </p:stCondLst>
                                  <p:childTnLst>
                                    <p:set>
                                      <p:cBhvr>
                                        <p:cTn id="65" dur="1" fill="hold">
                                          <p:stCondLst>
                                            <p:cond delay="0"/>
                                          </p:stCondLst>
                                        </p:cTn>
                                        <p:tgtEl>
                                          <p:spTgt spid="58"/>
                                        </p:tgtEl>
                                        <p:attrNameLst>
                                          <p:attrName>style.visibility</p:attrName>
                                        </p:attrNameLst>
                                      </p:cBhvr>
                                      <p:to>
                                        <p:strVal val="visible"/>
                                      </p:to>
                                    </p:set>
                                    <p:anim calcmode="lin" valueType="num">
                                      <p:cBhvr>
                                        <p:cTn id="66" dur="500" fill="hold"/>
                                        <p:tgtEl>
                                          <p:spTgt spid="58"/>
                                        </p:tgtEl>
                                        <p:attrNameLst>
                                          <p:attrName>ppt_w</p:attrName>
                                        </p:attrNameLst>
                                      </p:cBhvr>
                                      <p:tavLst>
                                        <p:tav tm="0">
                                          <p:val>
                                            <p:fltVal val="0"/>
                                          </p:val>
                                        </p:tav>
                                        <p:tav tm="100000">
                                          <p:val>
                                            <p:strVal val="#ppt_w"/>
                                          </p:val>
                                        </p:tav>
                                      </p:tavLst>
                                    </p:anim>
                                    <p:anim calcmode="lin" valueType="num">
                                      <p:cBhvr>
                                        <p:cTn id="67" dur="500" fill="hold"/>
                                        <p:tgtEl>
                                          <p:spTgt spid="58"/>
                                        </p:tgtEl>
                                        <p:attrNameLst>
                                          <p:attrName>ppt_h</p:attrName>
                                        </p:attrNameLst>
                                      </p:cBhvr>
                                      <p:tavLst>
                                        <p:tav tm="0">
                                          <p:val>
                                            <p:fltVal val="0"/>
                                          </p:val>
                                        </p:tav>
                                        <p:tav tm="100000">
                                          <p:val>
                                            <p:strVal val="#ppt_h"/>
                                          </p:val>
                                        </p:tav>
                                      </p:tavLst>
                                    </p:anim>
                                    <p:anim calcmode="lin" valueType="num">
                                      <p:cBhvr>
                                        <p:cTn id="68" dur="500" fill="hold"/>
                                        <p:tgtEl>
                                          <p:spTgt spid="58"/>
                                        </p:tgtEl>
                                        <p:attrNameLst>
                                          <p:attrName>style.rotation</p:attrName>
                                        </p:attrNameLst>
                                      </p:cBhvr>
                                      <p:tavLst>
                                        <p:tav tm="0">
                                          <p:val>
                                            <p:fltVal val="360"/>
                                          </p:val>
                                        </p:tav>
                                        <p:tav tm="100000">
                                          <p:val>
                                            <p:fltVal val="0"/>
                                          </p:val>
                                        </p:tav>
                                      </p:tavLst>
                                    </p:anim>
                                    <p:animEffect transition="in" filter="fade">
                                      <p:cBhvr>
                                        <p:cTn id="69" dur="500"/>
                                        <p:tgtEl>
                                          <p:spTgt spid="58"/>
                                        </p:tgtEl>
                                      </p:cBhvr>
                                    </p:animEffect>
                                  </p:childTnLst>
                                </p:cTn>
                              </p:par>
                            </p:childTnLst>
                          </p:cTn>
                        </p:par>
                        <p:par>
                          <p:cTn id="70" fill="hold">
                            <p:stCondLst>
                              <p:cond delay="6000"/>
                            </p:stCondLst>
                            <p:childTnLst>
                              <p:par>
                                <p:cTn id="71" presetID="22" presetClass="entr" presetSubtype="8" fill="hold" nodeType="afterEffect">
                                  <p:stCondLst>
                                    <p:cond delay="0"/>
                                  </p:stCondLst>
                                  <p:childTnLst>
                                    <p:set>
                                      <p:cBhvr>
                                        <p:cTn id="72" dur="1" fill="hold">
                                          <p:stCondLst>
                                            <p:cond delay="0"/>
                                          </p:stCondLst>
                                        </p:cTn>
                                        <p:tgtEl>
                                          <p:spTgt spid="62"/>
                                        </p:tgtEl>
                                        <p:attrNameLst>
                                          <p:attrName>style.visibility</p:attrName>
                                        </p:attrNameLst>
                                      </p:cBhvr>
                                      <p:to>
                                        <p:strVal val="visible"/>
                                      </p:to>
                                    </p:set>
                                    <p:animEffect transition="in" filter="wipe(left)">
                                      <p:cBhvr>
                                        <p:cTn id="73" dur="500"/>
                                        <p:tgtEl>
                                          <p:spTgt spid="62"/>
                                        </p:tgtEl>
                                      </p:cBhvr>
                                    </p:animEffect>
                                  </p:childTnLst>
                                </p:cTn>
                              </p:par>
                            </p:childTnLst>
                          </p:cTn>
                        </p:par>
                        <p:par>
                          <p:cTn id="74" fill="hold">
                            <p:stCondLst>
                              <p:cond delay="6500"/>
                            </p:stCondLst>
                            <p:childTnLst>
                              <p:par>
                                <p:cTn id="75" presetID="22" presetClass="entr" presetSubtype="1" fill="hold" grpId="0" nodeType="afterEffect">
                                  <p:stCondLst>
                                    <p:cond delay="0"/>
                                  </p:stCondLst>
                                  <p:childTnLst>
                                    <p:set>
                                      <p:cBhvr>
                                        <p:cTn id="76" dur="1" fill="hold">
                                          <p:stCondLst>
                                            <p:cond delay="0"/>
                                          </p:stCondLst>
                                        </p:cTn>
                                        <p:tgtEl>
                                          <p:spTgt spid="61">
                                            <p:txEl>
                                              <p:pRg st="0" end="0"/>
                                            </p:txEl>
                                          </p:spTgt>
                                        </p:tgtEl>
                                        <p:attrNameLst>
                                          <p:attrName>style.visibility</p:attrName>
                                        </p:attrNameLst>
                                      </p:cBhvr>
                                      <p:to>
                                        <p:strVal val="visible"/>
                                      </p:to>
                                    </p:set>
                                    <p:animEffect transition="in" filter="wipe(up)">
                                      <p:cBhvr>
                                        <p:cTn id="77" dur="500"/>
                                        <p:tgtEl>
                                          <p:spTgt spid="61">
                                            <p:txEl>
                                              <p:pRg st="0" end="0"/>
                                            </p:txEl>
                                          </p:spTgt>
                                        </p:tgtEl>
                                      </p:cBhvr>
                                    </p:animEffect>
                                  </p:childTnLst>
                                </p:cTn>
                              </p:par>
                            </p:childTnLst>
                          </p:cTn>
                        </p:par>
                        <p:par>
                          <p:cTn id="78" fill="hold">
                            <p:stCondLst>
                              <p:cond delay="7000"/>
                            </p:stCondLst>
                            <p:childTnLst>
                              <p:par>
                                <p:cTn id="79" presetID="9" presetClass="entr" presetSubtype="0" fill="hold" grpId="0" nodeType="afterEffect">
                                  <p:stCondLst>
                                    <p:cond delay="0"/>
                                  </p:stCondLst>
                                  <p:childTnLst>
                                    <p:set>
                                      <p:cBhvr>
                                        <p:cTn id="80" dur="1" fill="hold">
                                          <p:stCondLst>
                                            <p:cond delay="0"/>
                                          </p:stCondLst>
                                        </p:cTn>
                                        <p:tgtEl>
                                          <p:spTgt spid="60">
                                            <p:txEl>
                                              <p:pRg st="0" end="0"/>
                                            </p:txEl>
                                          </p:spTgt>
                                        </p:tgtEl>
                                        <p:attrNameLst>
                                          <p:attrName>style.visibility</p:attrName>
                                        </p:attrNameLst>
                                      </p:cBhvr>
                                      <p:to>
                                        <p:strVal val="visible"/>
                                      </p:to>
                                    </p:set>
                                    <p:animEffect transition="in" filter="dissolve">
                                      <p:cBhvr>
                                        <p:cTn id="81" dur="500"/>
                                        <p:tgtEl>
                                          <p:spTgt spid="60">
                                            <p:txEl>
                                              <p:pRg st="0" end="0"/>
                                            </p:txEl>
                                          </p:spTgt>
                                        </p:tgtEl>
                                      </p:cBhvr>
                                    </p:animEffect>
                                  </p:childTnLst>
                                </p:cTn>
                              </p:par>
                            </p:childTnLst>
                          </p:cTn>
                        </p:par>
                        <p:par>
                          <p:cTn id="82" fill="hold">
                            <p:stCondLst>
                              <p:cond delay="7500"/>
                            </p:stCondLst>
                            <p:childTnLst>
                              <p:par>
                                <p:cTn id="83" presetID="49" presetClass="entr" presetSubtype="0" decel="100000" fill="hold" grpId="0" nodeType="afterEffect">
                                  <p:stCondLst>
                                    <p:cond delay="0"/>
                                  </p:stCondLst>
                                  <p:childTnLst>
                                    <p:set>
                                      <p:cBhvr>
                                        <p:cTn id="84" dur="1" fill="hold">
                                          <p:stCondLst>
                                            <p:cond delay="0"/>
                                          </p:stCondLst>
                                        </p:cTn>
                                        <p:tgtEl>
                                          <p:spTgt spid="67"/>
                                        </p:tgtEl>
                                        <p:attrNameLst>
                                          <p:attrName>style.visibility</p:attrName>
                                        </p:attrNameLst>
                                      </p:cBhvr>
                                      <p:to>
                                        <p:strVal val="visible"/>
                                      </p:to>
                                    </p:set>
                                    <p:anim calcmode="lin" valueType="num">
                                      <p:cBhvr>
                                        <p:cTn id="85" dur="500" fill="hold"/>
                                        <p:tgtEl>
                                          <p:spTgt spid="67"/>
                                        </p:tgtEl>
                                        <p:attrNameLst>
                                          <p:attrName>ppt_w</p:attrName>
                                        </p:attrNameLst>
                                      </p:cBhvr>
                                      <p:tavLst>
                                        <p:tav tm="0">
                                          <p:val>
                                            <p:fltVal val="0"/>
                                          </p:val>
                                        </p:tav>
                                        <p:tav tm="100000">
                                          <p:val>
                                            <p:strVal val="#ppt_w"/>
                                          </p:val>
                                        </p:tav>
                                      </p:tavLst>
                                    </p:anim>
                                    <p:anim calcmode="lin" valueType="num">
                                      <p:cBhvr>
                                        <p:cTn id="86" dur="500" fill="hold"/>
                                        <p:tgtEl>
                                          <p:spTgt spid="67"/>
                                        </p:tgtEl>
                                        <p:attrNameLst>
                                          <p:attrName>ppt_h</p:attrName>
                                        </p:attrNameLst>
                                      </p:cBhvr>
                                      <p:tavLst>
                                        <p:tav tm="0">
                                          <p:val>
                                            <p:fltVal val="0"/>
                                          </p:val>
                                        </p:tav>
                                        <p:tav tm="100000">
                                          <p:val>
                                            <p:strVal val="#ppt_h"/>
                                          </p:val>
                                        </p:tav>
                                      </p:tavLst>
                                    </p:anim>
                                    <p:anim calcmode="lin" valueType="num">
                                      <p:cBhvr>
                                        <p:cTn id="87" dur="500" fill="hold"/>
                                        <p:tgtEl>
                                          <p:spTgt spid="67"/>
                                        </p:tgtEl>
                                        <p:attrNameLst>
                                          <p:attrName>style.rotation</p:attrName>
                                        </p:attrNameLst>
                                      </p:cBhvr>
                                      <p:tavLst>
                                        <p:tav tm="0">
                                          <p:val>
                                            <p:fltVal val="360"/>
                                          </p:val>
                                        </p:tav>
                                        <p:tav tm="100000">
                                          <p:val>
                                            <p:fltVal val="0"/>
                                          </p:val>
                                        </p:tav>
                                      </p:tavLst>
                                    </p:anim>
                                    <p:animEffect transition="in" filter="fade">
                                      <p:cBhvr>
                                        <p:cTn id="88" dur="500"/>
                                        <p:tgtEl>
                                          <p:spTgt spid="67"/>
                                        </p:tgtEl>
                                      </p:cBhvr>
                                    </p:animEffect>
                                  </p:childTnLst>
                                </p:cTn>
                              </p:par>
                            </p:childTnLst>
                          </p:cTn>
                        </p:par>
                        <p:par>
                          <p:cTn id="89" fill="hold">
                            <p:stCondLst>
                              <p:cond delay="8000"/>
                            </p:stCondLst>
                            <p:childTnLst>
                              <p:par>
                                <p:cTn id="90" presetID="22" presetClass="entr" presetSubtype="2" fill="hold" nodeType="afterEffect">
                                  <p:stCondLst>
                                    <p:cond delay="0"/>
                                  </p:stCondLst>
                                  <p:childTnLst>
                                    <p:set>
                                      <p:cBhvr>
                                        <p:cTn id="91" dur="1" fill="hold">
                                          <p:stCondLst>
                                            <p:cond delay="0"/>
                                          </p:stCondLst>
                                        </p:cTn>
                                        <p:tgtEl>
                                          <p:spTgt spid="50"/>
                                        </p:tgtEl>
                                        <p:attrNameLst>
                                          <p:attrName>style.visibility</p:attrName>
                                        </p:attrNameLst>
                                      </p:cBhvr>
                                      <p:to>
                                        <p:strVal val="visible"/>
                                      </p:to>
                                    </p:set>
                                    <p:animEffect transition="in" filter="wipe(right)">
                                      <p:cBhvr>
                                        <p:cTn id="92" dur="500"/>
                                        <p:tgtEl>
                                          <p:spTgt spid="50"/>
                                        </p:tgtEl>
                                      </p:cBhvr>
                                    </p:animEffect>
                                  </p:childTnLst>
                                </p:cTn>
                              </p:par>
                            </p:childTnLst>
                          </p:cTn>
                        </p:par>
                        <p:par>
                          <p:cTn id="93" fill="hold">
                            <p:stCondLst>
                              <p:cond delay="8500"/>
                            </p:stCondLst>
                            <p:childTnLst>
                              <p:par>
                                <p:cTn id="94" presetID="22" presetClass="entr" presetSubtype="1" fill="hold" grpId="0" nodeType="afterEffect">
                                  <p:stCondLst>
                                    <p:cond delay="0"/>
                                  </p:stCondLst>
                                  <p:childTnLst>
                                    <p:set>
                                      <p:cBhvr>
                                        <p:cTn id="95" dur="1" fill="hold">
                                          <p:stCondLst>
                                            <p:cond delay="0"/>
                                          </p:stCondLst>
                                        </p:cTn>
                                        <p:tgtEl>
                                          <p:spTgt spid="54">
                                            <p:txEl>
                                              <p:pRg st="0" end="0"/>
                                            </p:txEl>
                                          </p:spTgt>
                                        </p:tgtEl>
                                        <p:attrNameLst>
                                          <p:attrName>style.visibility</p:attrName>
                                        </p:attrNameLst>
                                      </p:cBhvr>
                                      <p:to>
                                        <p:strVal val="visible"/>
                                      </p:to>
                                    </p:set>
                                    <p:animEffect transition="in" filter="wipe(up)">
                                      <p:cBhvr>
                                        <p:cTn id="96" dur="500"/>
                                        <p:tgtEl>
                                          <p:spTgt spid="54">
                                            <p:txEl>
                                              <p:pRg st="0" end="0"/>
                                            </p:txEl>
                                          </p:spTgt>
                                        </p:tgtEl>
                                      </p:cBhvr>
                                    </p:animEffect>
                                  </p:childTnLst>
                                </p:cTn>
                              </p:par>
                            </p:childTnLst>
                          </p:cTn>
                        </p:par>
                        <p:par>
                          <p:cTn id="97" fill="hold">
                            <p:stCondLst>
                              <p:cond delay="9000"/>
                            </p:stCondLst>
                            <p:childTnLst>
                              <p:par>
                                <p:cTn id="98" presetID="9" presetClass="entr" presetSubtype="0" fill="hold" grpId="0" nodeType="afterEffect">
                                  <p:stCondLst>
                                    <p:cond delay="0"/>
                                  </p:stCondLst>
                                  <p:childTnLst>
                                    <p:set>
                                      <p:cBhvr>
                                        <p:cTn id="99" dur="1" fill="hold">
                                          <p:stCondLst>
                                            <p:cond delay="0"/>
                                          </p:stCondLst>
                                        </p:cTn>
                                        <p:tgtEl>
                                          <p:spTgt spid="53">
                                            <p:txEl>
                                              <p:pRg st="0" end="0"/>
                                            </p:txEl>
                                          </p:spTgt>
                                        </p:tgtEl>
                                        <p:attrNameLst>
                                          <p:attrName>style.visibility</p:attrName>
                                        </p:attrNameLst>
                                      </p:cBhvr>
                                      <p:to>
                                        <p:strVal val="visible"/>
                                      </p:to>
                                    </p:set>
                                    <p:animEffect transition="in" filter="dissolve">
                                      <p:cBhvr>
                                        <p:cTn id="100" dur="500"/>
                                        <p:tgtEl>
                                          <p:spTgt spid="5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P spid="53" grpId="0" build="p"/>
      <p:bldP spid="54" grpId="0" build="p"/>
      <p:bldP spid="56" grpId="0" build="p"/>
      <p:bldP spid="57" grpId="0" build="p"/>
      <p:bldP spid="60" grpId="0" build="p"/>
      <p:bldP spid="61" grpId="0" build="p"/>
      <p:bldP spid="21" grpId="0" animBg="1"/>
      <p:bldP spid="22" grpId="0" animBg="1"/>
      <p:bldP spid="23" grpId="0" animBg="1"/>
      <p:bldP spid="51" grpId="0" animBg="1"/>
      <p:bldP spid="66" grpId="0" animBg="1"/>
      <p:bldP spid="6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12479453" y="7170811"/>
            <a:ext cx="358140" cy="675640"/>
          </a:xfrm>
          <a:prstGeom prst="rect">
            <a:avLst/>
          </a:prstGeom>
          <a:noFill/>
        </p:spPr>
        <p:txBody>
          <a:bodyPr wrap="none" rtlCol="0">
            <a:spAutoFit/>
          </a:bodyPr>
          <a:lstStyle/>
          <a:p>
            <a:r>
              <a:rPr lang="en-US" altLang="zh-CN" sz="3800" dirty="0">
                <a:solidFill>
                  <a:schemeClr val="bg1"/>
                </a:solidFill>
              </a:rPr>
              <a:t>.</a:t>
            </a:r>
            <a:endParaRPr lang="zh-CN" altLang="en-US" sz="3800" dirty="0">
              <a:solidFill>
                <a:schemeClr val="bg1"/>
              </a:solidFill>
            </a:endParaRPr>
          </a:p>
        </p:txBody>
      </p:sp>
      <p:sp>
        <p:nvSpPr>
          <p:cNvPr id="12" name="矩形 11"/>
          <p:cNvSpPr/>
          <p:nvPr/>
        </p:nvSpPr>
        <p:spPr>
          <a:xfrm>
            <a:off x="3563660" y="1832017"/>
            <a:ext cx="2411111" cy="1153160"/>
          </a:xfrm>
          <a:prstGeom prst="rect">
            <a:avLst/>
          </a:prstGeom>
        </p:spPr>
        <p:txBody>
          <a:bodyPr wrap="square">
            <a:spAutoFit/>
          </a:bodyPr>
          <a:lstStyle/>
          <a:p>
            <a:pPr>
              <a:lnSpc>
                <a:spcPct val="150000"/>
              </a:lnSpc>
            </a:pPr>
            <a:r>
              <a:rPr lang="zh-CN" altLang="en-US" b="1" dirty="0">
                <a:solidFill>
                  <a:srgbClr val="FFC000"/>
                </a:solidFill>
                <a:latin typeface="微软雅黑" panose="020B0503020204020204" charset="-122"/>
                <a:ea typeface="微软雅黑" panose="020B0503020204020204" charset="-122"/>
              </a:rPr>
              <a:t>核实内容</a:t>
            </a:r>
            <a:endParaRPr lang="zh-CN" altLang="en-US" sz="1400" dirty="0">
              <a:solidFill>
                <a:srgbClr val="404040"/>
              </a:solidFill>
              <a:latin typeface="微软雅黑" panose="020B0503020204020204" charset="-122"/>
              <a:ea typeface="微软雅黑" panose="020B0503020204020204" charset="-122"/>
            </a:endParaRPr>
          </a:p>
          <a:p>
            <a:pPr>
              <a:lnSpc>
                <a:spcPct val="150000"/>
              </a:lnSpc>
            </a:pPr>
            <a:r>
              <a:rPr lang="zh-CN" altLang="en-US" sz="1400" dirty="0">
                <a:solidFill>
                  <a:srgbClr val="404040"/>
                </a:solidFill>
                <a:latin typeface="微软雅黑" panose="020B0503020204020204" charset="-122"/>
                <a:ea typeface="微软雅黑" panose="020B0503020204020204" charset="-122"/>
                <a:sym typeface="+mn-ea"/>
              </a:rPr>
              <a:t>身份证，银行对账单，就职</a:t>
            </a:r>
            <a:endParaRPr lang="en-US" altLang="zh-CN" sz="1400" dirty="0">
              <a:solidFill>
                <a:srgbClr val="404040"/>
              </a:solidFill>
              <a:latin typeface="微软雅黑" panose="020B0503020204020204" charset="-122"/>
              <a:ea typeface="微软雅黑" panose="020B0503020204020204" charset="-122"/>
            </a:endParaRPr>
          </a:p>
          <a:p>
            <a:pPr>
              <a:lnSpc>
                <a:spcPct val="150000"/>
              </a:lnSpc>
            </a:pPr>
            <a:r>
              <a:rPr lang="zh-CN" altLang="en-US" sz="1400" dirty="0">
                <a:solidFill>
                  <a:srgbClr val="404040"/>
                </a:solidFill>
                <a:latin typeface="微软雅黑" panose="020B0503020204020204" charset="-122"/>
                <a:ea typeface="微软雅黑" panose="020B0503020204020204" charset="-122"/>
                <a:sym typeface="+mn-ea"/>
              </a:rPr>
              <a:t>单位，信用报告等</a:t>
            </a:r>
          </a:p>
        </p:txBody>
      </p:sp>
      <p:grpSp>
        <p:nvGrpSpPr>
          <p:cNvPr id="13" name="组合 12"/>
          <p:cNvGrpSpPr/>
          <p:nvPr/>
        </p:nvGrpSpPr>
        <p:grpSpPr>
          <a:xfrm>
            <a:off x="985907" y="1428501"/>
            <a:ext cx="4944672" cy="1799119"/>
            <a:chOff x="1073371" y="1613417"/>
            <a:chExt cx="4944672" cy="1799119"/>
          </a:xfrm>
        </p:grpSpPr>
        <p:sp>
          <p:nvSpPr>
            <p:cNvPr id="14" name="矩形 13"/>
            <p:cNvSpPr/>
            <p:nvPr/>
          </p:nvSpPr>
          <p:spPr>
            <a:xfrm>
              <a:off x="1073371" y="1907870"/>
              <a:ext cx="2448000" cy="1504666"/>
            </a:xfrm>
            <a:prstGeom prst="rect">
              <a:avLst/>
            </a:prstGeom>
            <a:blipFill dpi="0" rotWithShape="1">
              <a:blip r:embed="rId3" cstate="print">
                <a:extLst>
                  <a:ext uri="{28A0092B-C50C-407E-A947-70E740481C1C}">
                    <a14:useLocalDpi xmlns:a14="http://schemas.microsoft.com/office/drawing/2010/main"/>
                  </a:ext>
                </a:extLst>
              </a:blip>
              <a:srcRect/>
              <a:stretch>
                <a:fillRect/>
              </a:stretch>
            </a:bli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矩形 14"/>
            <p:cNvSpPr/>
            <p:nvPr/>
          </p:nvSpPr>
          <p:spPr>
            <a:xfrm>
              <a:off x="3570043" y="1613417"/>
              <a:ext cx="2448000" cy="338554"/>
            </a:xfrm>
            <a:prstGeom prst="rect">
              <a:avLst/>
            </a:prstGeom>
            <a:noFill/>
            <a:ln w="38100">
              <a:noFill/>
            </a:ln>
          </p:spPr>
          <p:txBody>
            <a:bodyPr wrap="none" anchor="ctr">
              <a:noAutofit/>
            </a:bodyPr>
            <a:lstStyle/>
            <a:p>
              <a:pPr algn="ctr"/>
              <a:r>
                <a:rPr lang="zh-CN" altLang="en-US" sz="1600" b="1" dirty="0">
                  <a:solidFill>
                    <a:schemeClr val="bg1"/>
                  </a:solidFill>
                  <a:latin typeface="微软雅黑" panose="020B0503020204020204" charset="-122"/>
                  <a:ea typeface="微软雅黑" panose="020B0503020204020204" charset="-122"/>
                </a:rPr>
                <a:t>点击此处添加内容</a:t>
              </a:r>
              <a:endParaRPr lang="zh-CN" altLang="en-US" sz="1600" b="1" dirty="0">
                <a:solidFill>
                  <a:schemeClr val="bg1"/>
                </a:solidFill>
              </a:endParaRPr>
            </a:p>
          </p:txBody>
        </p:sp>
      </p:grpSp>
      <p:sp>
        <p:nvSpPr>
          <p:cNvPr id="16" name="矩形 15"/>
          <p:cNvSpPr/>
          <p:nvPr/>
        </p:nvSpPr>
        <p:spPr>
          <a:xfrm>
            <a:off x="3579427" y="4119009"/>
            <a:ext cx="2411111" cy="1476375"/>
          </a:xfrm>
          <a:prstGeom prst="rect">
            <a:avLst/>
          </a:prstGeom>
        </p:spPr>
        <p:txBody>
          <a:bodyPr wrap="square">
            <a:spAutoFit/>
          </a:bodyPr>
          <a:lstStyle/>
          <a:p>
            <a:pPr>
              <a:lnSpc>
                <a:spcPct val="150000"/>
              </a:lnSpc>
            </a:pPr>
            <a:r>
              <a:rPr lang="zh-CN" altLang="en-US" b="1" dirty="0">
                <a:solidFill>
                  <a:srgbClr val="FFC000"/>
                </a:solidFill>
                <a:latin typeface="微软雅黑" panose="020B0503020204020204" charset="-122"/>
                <a:ea typeface="微软雅黑" panose="020B0503020204020204" charset="-122"/>
                <a:sym typeface="+mn-ea"/>
              </a:rPr>
              <a:t>调查对象数量</a:t>
            </a:r>
            <a:endParaRPr lang="zh-CN" altLang="en-US" sz="1200" dirty="0">
              <a:latin typeface="微软雅黑" panose="020B0503020204020204" charset="-122"/>
              <a:ea typeface="微软雅黑" panose="020B0503020204020204" charset="-122"/>
              <a:sym typeface="+mn-ea"/>
            </a:endParaRPr>
          </a:p>
          <a:p>
            <a:pPr>
              <a:lnSpc>
                <a:spcPct val="150000"/>
              </a:lnSpc>
            </a:pPr>
            <a:r>
              <a:rPr lang="zh-CN" altLang="en-US" sz="1400" dirty="0">
                <a:solidFill>
                  <a:srgbClr val="404040"/>
                </a:solidFill>
                <a:latin typeface="微软雅黑" panose="020B0503020204020204" charset="-122"/>
                <a:ea typeface="微软雅黑" panose="020B0503020204020204" charset="-122"/>
                <a:sym typeface="+mn-ea"/>
              </a:rPr>
              <a:t>通过至少</a:t>
            </a:r>
            <a:r>
              <a:rPr lang="en-US" altLang="zh-CN" sz="1400" dirty="0">
                <a:solidFill>
                  <a:srgbClr val="404040"/>
                </a:solidFill>
                <a:latin typeface="微软雅黑" panose="020B0503020204020204" charset="-122"/>
                <a:ea typeface="微软雅黑" panose="020B0503020204020204" charset="-122"/>
                <a:sym typeface="+mn-ea"/>
              </a:rPr>
              <a:t>6</a:t>
            </a:r>
            <a:r>
              <a:rPr lang="zh-CN" altLang="en-US" sz="1400" dirty="0">
                <a:solidFill>
                  <a:srgbClr val="404040"/>
                </a:solidFill>
                <a:latin typeface="微软雅黑" panose="020B0503020204020204" charset="-122"/>
                <a:ea typeface="微软雅黑" panose="020B0503020204020204" charset="-122"/>
                <a:sym typeface="+mn-ea"/>
              </a:rPr>
              <a:t>个以上联系人，包括亲属，单位同事，朋友等</a:t>
            </a:r>
          </a:p>
        </p:txBody>
      </p:sp>
      <p:grpSp>
        <p:nvGrpSpPr>
          <p:cNvPr id="17" name="组合 16"/>
          <p:cNvGrpSpPr/>
          <p:nvPr/>
        </p:nvGrpSpPr>
        <p:grpSpPr>
          <a:xfrm>
            <a:off x="972312" y="3687813"/>
            <a:ext cx="5072737" cy="1882309"/>
            <a:chOff x="914004" y="3872732"/>
            <a:chExt cx="5072737" cy="1882310"/>
          </a:xfrm>
        </p:grpSpPr>
        <p:sp>
          <p:nvSpPr>
            <p:cNvPr id="18" name="矩形 17"/>
            <p:cNvSpPr/>
            <p:nvPr/>
          </p:nvSpPr>
          <p:spPr>
            <a:xfrm>
              <a:off x="914004" y="4250376"/>
              <a:ext cx="2448000" cy="1504666"/>
            </a:xfrm>
            <a:prstGeom prst="rect">
              <a:avLst/>
            </a:prstGeom>
            <a:blipFill dpi="0" rotWithShape="1">
              <a:blip r:embed="rId4"/>
              <a:srcRect/>
              <a:stretch>
                <a:fillRect/>
              </a:stretch>
            </a:bli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19" name="矩形 18"/>
            <p:cNvSpPr/>
            <p:nvPr/>
          </p:nvSpPr>
          <p:spPr>
            <a:xfrm>
              <a:off x="3538741" y="3872732"/>
              <a:ext cx="2448000" cy="338554"/>
            </a:xfrm>
            <a:prstGeom prst="rect">
              <a:avLst/>
            </a:prstGeom>
            <a:noFill/>
            <a:ln w="38100">
              <a:noFill/>
            </a:ln>
          </p:spPr>
          <p:txBody>
            <a:bodyPr wrap="none" anchor="ctr">
              <a:noAutofit/>
            </a:bodyPr>
            <a:lstStyle/>
            <a:p>
              <a:pPr algn="ctr"/>
              <a:r>
                <a:rPr lang="zh-CN" altLang="en-US" sz="1600" b="1" dirty="0">
                  <a:solidFill>
                    <a:schemeClr val="bg1"/>
                  </a:solidFill>
                  <a:latin typeface="微软雅黑" panose="020B0503020204020204" charset="-122"/>
                  <a:ea typeface="微软雅黑" panose="020B0503020204020204" charset="-122"/>
                </a:rPr>
                <a:t>点击此处添加内容</a:t>
              </a:r>
              <a:endParaRPr lang="zh-CN" altLang="en-US" sz="1600" b="1" dirty="0">
                <a:solidFill>
                  <a:schemeClr val="bg1"/>
                </a:solidFill>
              </a:endParaRPr>
            </a:p>
          </p:txBody>
        </p:sp>
      </p:grpSp>
      <p:sp>
        <p:nvSpPr>
          <p:cNvPr id="20" name="矩形 19"/>
          <p:cNvSpPr/>
          <p:nvPr/>
        </p:nvSpPr>
        <p:spPr>
          <a:xfrm>
            <a:off x="9070373" y="1832017"/>
            <a:ext cx="2411111" cy="1476375"/>
          </a:xfrm>
          <a:prstGeom prst="rect">
            <a:avLst/>
          </a:prstGeom>
        </p:spPr>
        <p:txBody>
          <a:bodyPr wrap="square">
            <a:spAutoFit/>
          </a:bodyPr>
          <a:lstStyle/>
          <a:p>
            <a:pPr>
              <a:lnSpc>
                <a:spcPct val="150000"/>
              </a:lnSpc>
            </a:pPr>
            <a:r>
              <a:rPr lang="zh-CN" altLang="en-US" b="1" dirty="0">
                <a:solidFill>
                  <a:srgbClr val="FFC000"/>
                </a:solidFill>
                <a:latin typeface="微软雅黑" panose="020B0503020204020204" charset="-122"/>
                <a:ea typeface="微软雅黑" panose="020B0503020204020204" charset="-122"/>
              </a:rPr>
              <a:t>调查方式</a:t>
            </a:r>
            <a:endParaRPr lang="zh-CN" altLang="en-US" sz="1400" dirty="0">
              <a:solidFill>
                <a:srgbClr val="404040"/>
              </a:solidFill>
              <a:latin typeface="微软雅黑" panose="020B0503020204020204" charset="-122"/>
              <a:ea typeface="微软雅黑" panose="020B0503020204020204" charset="-122"/>
            </a:endParaRPr>
          </a:p>
          <a:p>
            <a:pPr algn="l">
              <a:lnSpc>
                <a:spcPct val="150000"/>
              </a:lnSpc>
            </a:pPr>
            <a:r>
              <a:rPr lang="zh-CN" altLang="en-US" sz="1400" dirty="0">
                <a:solidFill>
                  <a:srgbClr val="404040"/>
                </a:solidFill>
                <a:latin typeface="微软雅黑" panose="020B0503020204020204" charset="-122"/>
                <a:ea typeface="微软雅黑" panose="020B0503020204020204" charset="-122"/>
                <a:sym typeface="+mn-ea"/>
              </a:rPr>
              <a:t>电话调查，上门调查，正面</a:t>
            </a:r>
            <a:endParaRPr lang="en-US" altLang="zh-CN" sz="1400" dirty="0">
              <a:solidFill>
                <a:srgbClr val="404040"/>
              </a:solidFill>
              <a:latin typeface="微软雅黑" panose="020B0503020204020204" charset="-122"/>
              <a:ea typeface="微软雅黑" panose="020B0503020204020204" charset="-122"/>
            </a:endParaRPr>
          </a:p>
          <a:p>
            <a:pPr algn="l">
              <a:lnSpc>
                <a:spcPct val="150000"/>
              </a:lnSpc>
            </a:pPr>
            <a:r>
              <a:rPr lang="zh-CN" altLang="en-US" sz="1400" dirty="0">
                <a:solidFill>
                  <a:srgbClr val="404040"/>
                </a:solidFill>
                <a:latin typeface="微软雅黑" panose="020B0503020204020204" charset="-122"/>
                <a:ea typeface="微软雅黑" panose="020B0503020204020204" charset="-122"/>
                <a:sym typeface="+mn-ea"/>
              </a:rPr>
              <a:t>调查，侧面调查等</a:t>
            </a:r>
            <a:endParaRPr lang="zh-CN" altLang="en-US" sz="1400" dirty="0">
              <a:solidFill>
                <a:srgbClr val="404040"/>
              </a:solidFill>
              <a:latin typeface="微软雅黑" panose="020B0503020204020204" charset="-122"/>
              <a:ea typeface="微软雅黑" panose="020B0503020204020204" charset="-122"/>
            </a:endParaRPr>
          </a:p>
          <a:p>
            <a:pPr algn="l">
              <a:lnSpc>
                <a:spcPct val="150000"/>
              </a:lnSpc>
            </a:pPr>
            <a:endParaRPr lang="zh-CN" altLang="en-US" sz="1400" dirty="0">
              <a:solidFill>
                <a:srgbClr val="404040"/>
              </a:solidFill>
              <a:latin typeface="微软雅黑" panose="020B0503020204020204" charset="-122"/>
              <a:ea typeface="微软雅黑" panose="020B0503020204020204" charset="-122"/>
            </a:endParaRPr>
          </a:p>
        </p:txBody>
      </p:sp>
      <p:grpSp>
        <p:nvGrpSpPr>
          <p:cNvPr id="21" name="组合 20"/>
          <p:cNvGrpSpPr/>
          <p:nvPr/>
        </p:nvGrpSpPr>
        <p:grpSpPr>
          <a:xfrm>
            <a:off x="6479024" y="1348793"/>
            <a:ext cx="5025159" cy="1881113"/>
            <a:chOff x="6420716" y="1533709"/>
            <a:chExt cx="5025158" cy="1881114"/>
          </a:xfrm>
        </p:grpSpPr>
        <p:sp>
          <p:nvSpPr>
            <p:cNvPr id="22" name="矩形 21"/>
            <p:cNvSpPr/>
            <p:nvPr/>
          </p:nvSpPr>
          <p:spPr>
            <a:xfrm>
              <a:off x="6420716" y="1910157"/>
              <a:ext cx="2448000" cy="1504666"/>
            </a:xfrm>
            <a:prstGeom prst="rect">
              <a:avLst/>
            </a:prstGeom>
            <a:blipFill dpi="0" rotWithShape="1">
              <a:blip r:embed="rId5"/>
              <a:srcRect/>
              <a:stretch>
                <a:fillRect/>
              </a:stretch>
            </a:bli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23" name="矩形 22"/>
            <p:cNvSpPr/>
            <p:nvPr/>
          </p:nvSpPr>
          <p:spPr>
            <a:xfrm>
              <a:off x="8997874" y="1533709"/>
              <a:ext cx="2448000" cy="338554"/>
            </a:xfrm>
            <a:prstGeom prst="rect">
              <a:avLst/>
            </a:prstGeom>
            <a:noFill/>
            <a:ln w="38100">
              <a:noFill/>
            </a:ln>
          </p:spPr>
          <p:txBody>
            <a:bodyPr wrap="none" anchor="ctr">
              <a:noAutofit/>
            </a:bodyPr>
            <a:lstStyle/>
            <a:p>
              <a:pPr algn="ctr"/>
              <a:r>
                <a:rPr lang="zh-CN" altLang="en-US" sz="1600" b="1" dirty="0">
                  <a:solidFill>
                    <a:schemeClr val="bg1"/>
                  </a:solidFill>
                  <a:latin typeface="微软雅黑" panose="020B0503020204020204" charset="-122"/>
                  <a:ea typeface="微软雅黑" panose="020B0503020204020204" charset="-122"/>
                </a:rPr>
                <a:t>点击此处添加内容</a:t>
              </a:r>
              <a:endParaRPr lang="zh-CN" altLang="en-US" sz="1600" b="1" dirty="0">
                <a:solidFill>
                  <a:schemeClr val="bg1"/>
                </a:solidFill>
              </a:endParaRPr>
            </a:p>
          </p:txBody>
        </p:sp>
      </p:grpSp>
      <p:sp>
        <p:nvSpPr>
          <p:cNvPr id="24" name="矩形 23"/>
          <p:cNvSpPr/>
          <p:nvPr/>
        </p:nvSpPr>
        <p:spPr>
          <a:xfrm>
            <a:off x="9083625" y="4158765"/>
            <a:ext cx="2411111" cy="1799590"/>
          </a:xfrm>
          <a:prstGeom prst="rect">
            <a:avLst/>
          </a:prstGeom>
        </p:spPr>
        <p:txBody>
          <a:bodyPr wrap="square">
            <a:spAutoFit/>
          </a:bodyPr>
          <a:lstStyle/>
          <a:p>
            <a:pPr>
              <a:lnSpc>
                <a:spcPct val="150000"/>
              </a:lnSpc>
            </a:pPr>
            <a:r>
              <a:rPr lang="zh-CN" altLang="en-US" b="1" dirty="0">
                <a:solidFill>
                  <a:srgbClr val="FFC000"/>
                </a:solidFill>
                <a:latin typeface="微软雅黑" panose="020B0503020204020204" charset="-122"/>
                <a:ea typeface="微软雅黑" panose="020B0503020204020204" charset="-122"/>
              </a:rPr>
              <a:t>调查疑点处理</a:t>
            </a:r>
            <a:endParaRPr lang="zh-CN" altLang="en-US" sz="1200" dirty="0">
              <a:solidFill>
                <a:srgbClr val="404040"/>
              </a:solidFill>
              <a:latin typeface="微软雅黑" panose="020B0503020204020204" charset="-122"/>
              <a:ea typeface="微软雅黑" panose="020B0503020204020204" charset="-122"/>
            </a:endParaRPr>
          </a:p>
          <a:p>
            <a:pPr algn="l">
              <a:lnSpc>
                <a:spcPct val="150000"/>
              </a:lnSpc>
            </a:pPr>
            <a:r>
              <a:rPr lang="zh-CN" altLang="en-US" sz="1400" dirty="0">
                <a:solidFill>
                  <a:srgbClr val="404040"/>
                </a:solidFill>
                <a:latin typeface="微软雅黑" panose="020B0503020204020204" charset="-122"/>
                <a:ea typeface="微软雅黑" panose="020B0503020204020204" charset="-122"/>
                <a:sym typeface="+mn-ea"/>
              </a:rPr>
              <a:t>是否批贷，反复多渠道再次核查。若仍存在问题，要求申请人变更贷款方式，额度或期限等</a:t>
            </a:r>
          </a:p>
        </p:txBody>
      </p:sp>
      <p:grpSp>
        <p:nvGrpSpPr>
          <p:cNvPr id="25" name="组合 24"/>
          <p:cNvGrpSpPr/>
          <p:nvPr/>
        </p:nvGrpSpPr>
        <p:grpSpPr>
          <a:xfrm>
            <a:off x="6502672" y="3714124"/>
            <a:ext cx="4970980" cy="1856003"/>
            <a:chOff x="6444364" y="3914805"/>
            <a:chExt cx="4970980" cy="1856003"/>
          </a:xfrm>
        </p:grpSpPr>
        <p:sp>
          <p:nvSpPr>
            <p:cNvPr id="26" name="矩形 25"/>
            <p:cNvSpPr/>
            <p:nvPr/>
          </p:nvSpPr>
          <p:spPr>
            <a:xfrm>
              <a:off x="6444364" y="4266141"/>
              <a:ext cx="2448000" cy="1504667"/>
            </a:xfrm>
            <a:prstGeom prst="rect">
              <a:avLst/>
            </a:prstGeom>
            <a:blipFill dpi="0" rotWithShape="1">
              <a:blip r:embed="rId6">
                <a:extLst>
                  <a:ext uri="{28A0092B-C50C-407E-A947-70E740481C1C}">
                    <a14:useLocalDpi xmlns:a14="http://schemas.microsoft.com/office/drawing/2010/main"/>
                  </a:ext>
                </a:extLst>
              </a:blip>
              <a:srcRect/>
              <a:stretch>
                <a:fillRect/>
              </a:stretch>
            </a:bli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7" name="矩形 26"/>
            <p:cNvSpPr/>
            <p:nvPr/>
          </p:nvSpPr>
          <p:spPr>
            <a:xfrm>
              <a:off x="8967344" y="3914805"/>
              <a:ext cx="2448000" cy="338554"/>
            </a:xfrm>
            <a:prstGeom prst="rect">
              <a:avLst/>
            </a:prstGeom>
            <a:noFill/>
            <a:ln w="38100">
              <a:noFill/>
            </a:ln>
          </p:spPr>
          <p:txBody>
            <a:bodyPr wrap="none" anchor="ctr">
              <a:noAutofit/>
            </a:bodyPr>
            <a:lstStyle/>
            <a:p>
              <a:pPr algn="ctr"/>
              <a:r>
                <a:rPr lang="zh-CN" altLang="en-US" sz="1600" b="1" dirty="0">
                  <a:solidFill>
                    <a:schemeClr val="bg1"/>
                  </a:solidFill>
                  <a:latin typeface="微软雅黑" panose="020B0503020204020204" charset="-122"/>
                  <a:ea typeface="微软雅黑" panose="020B0503020204020204" charset="-122"/>
                </a:rPr>
                <a:t>点击此处添加内容</a:t>
              </a:r>
              <a:endParaRPr lang="zh-CN" altLang="en-US" sz="1600" b="1" dirty="0">
                <a:solidFill>
                  <a:schemeClr val="bg1"/>
                </a:solidFill>
              </a:endParaRPr>
            </a:p>
          </p:txBody>
        </p:sp>
      </p:grpSp>
      <p:sp>
        <p:nvSpPr>
          <p:cNvPr id="33" name="矩形 32"/>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222" y="-27283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文本框 1"/>
          <p:cNvSpPr txBox="1"/>
          <p:nvPr/>
        </p:nvSpPr>
        <p:spPr>
          <a:xfrm>
            <a:off x="418455" y="312636"/>
            <a:ext cx="2787500" cy="398780"/>
          </a:xfrm>
          <a:prstGeom prst="rect">
            <a:avLst/>
          </a:prstGeom>
          <a:noFill/>
        </p:spPr>
        <p:txBody>
          <a:bodyPr wrap="square" rtlCol="0">
            <a:spAutoFit/>
          </a:bodyPr>
          <a:lstStyle/>
          <a:p>
            <a:r>
              <a:rPr lang="zh-CN" altLang="en-US" sz="2000" b="1" dirty="0">
                <a:cs typeface="+mn-ea"/>
                <a:sym typeface="+mn-lt"/>
              </a:rPr>
              <a:t>合拍发展四原则</a:t>
            </a:r>
          </a:p>
        </p:txBody>
      </p:sp>
      <p:cxnSp>
        <p:nvCxnSpPr>
          <p:cNvPr id="36" name="直接连接符 35"/>
          <p:cNvCxnSpPr/>
          <p:nvPr/>
        </p:nvCxnSpPr>
        <p:spPr>
          <a:xfrm>
            <a:off x="15718" y="710505"/>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50" advClick="0" advTm="0">
        <p:pull/>
      </p:transition>
    </mc:Choice>
    <mc:Fallback xmlns="">
      <p:transition spd="slow" advClick="0" advTm="0">
        <p:pul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up)">
                                      <p:cBhvr>
                                        <p:cTn id="15" dur="500"/>
                                        <p:tgtEl>
                                          <p:spTgt spid="21"/>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up)">
                                      <p:cBhvr>
                                        <p:cTn id="19" dur="500"/>
                                        <p:tgtEl>
                                          <p:spTgt spid="20"/>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up)">
                                      <p:cBhvr>
                                        <p:cTn id="23" dur="500"/>
                                        <p:tgtEl>
                                          <p:spTgt spid="17"/>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up)">
                                      <p:cBhvr>
                                        <p:cTn id="27" dur="500"/>
                                        <p:tgtEl>
                                          <p:spTgt spid="16"/>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up)">
                                      <p:cBhvr>
                                        <p:cTn id="31" dur="500"/>
                                        <p:tgtEl>
                                          <p:spTgt spid="25"/>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up)">
                                      <p:cBhvr>
                                        <p:cTn id="35" dur="500"/>
                                        <p:tgtEl>
                                          <p:spTgt spid="24"/>
                                        </p:tgtEl>
                                      </p:cBhvr>
                                    </p:animEffect>
                                  </p:childTnLst>
                                </p:cTn>
                              </p:par>
                            </p:childTnLst>
                          </p:cTn>
                        </p:par>
                        <p:par>
                          <p:cTn id="36" fill="hold">
                            <p:stCondLst>
                              <p:cond delay="4000"/>
                            </p:stCondLst>
                            <p:childTnLst>
                              <p:par>
                                <p:cTn id="37" presetID="10" presetClass="exit" presetSubtype="0" fill="hold" grpId="0" nodeType="afterEffect">
                                  <p:stCondLst>
                                    <p:cond delay="0"/>
                                  </p:stCondLst>
                                  <p:childTnLst>
                                    <p:animEffect transition="out" filter="fade">
                                      <p:cBhvr>
                                        <p:cTn id="38" dur="500"/>
                                        <p:tgtEl>
                                          <p:spTgt spid="35"/>
                                        </p:tgtEl>
                                      </p:cBhvr>
                                    </p:animEffect>
                                    <p:set>
                                      <p:cBhvr>
                                        <p:cTn id="39" dur="1" fill="hold">
                                          <p:stCondLst>
                                            <p:cond delay="499"/>
                                          </p:stCondLst>
                                        </p:cTn>
                                        <p:tgtEl>
                                          <p:spTgt spid="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2" grpId="0"/>
      <p:bldP spid="16" grpId="0"/>
      <p:bldP spid="20" grpId="0"/>
      <p:bldP spid="2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1" y="5430129"/>
            <a:ext cx="12192000" cy="1427871"/>
          </a:xfrm>
          <a:prstGeom prst="rect">
            <a:avLst/>
          </a:prstGeom>
          <a:solidFill>
            <a:srgbClr val="404040">
              <a:alpha val="2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矩形 5"/>
          <p:cNvSpPr/>
          <p:nvPr/>
        </p:nvSpPr>
        <p:spPr>
          <a:xfrm>
            <a:off x="1" y="0"/>
            <a:ext cx="12192000" cy="5430129"/>
          </a:xfrm>
          <a:prstGeom prst="rect">
            <a:avLst/>
          </a:prstGeom>
          <a:solidFill>
            <a:srgbClr val="FFC00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pic>
        <p:nvPicPr>
          <p:cNvPr id="4" name="图片 3"/>
          <p:cNvPicPr>
            <a:picLocks noChangeAspect="1"/>
          </p:cNvPicPr>
          <p:nvPr/>
        </p:nvPicPr>
        <p:blipFill>
          <a:blip r:embed="rId3"/>
          <a:stretch>
            <a:fillRect/>
          </a:stretch>
        </p:blipFill>
        <p:spPr>
          <a:xfrm>
            <a:off x="1360" y="364477"/>
            <a:ext cx="4026080" cy="2583017"/>
          </a:xfrm>
          <a:prstGeom prst="rect">
            <a:avLst/>
          </a:prstGeom>
        </p:spPr>
      </p:pic>
      <p:pic>
        <p:nvPicPr>
          <p:cNvPr id="5" name="图片 4"/>
          <p:cNvPicPr>
            <a:picLocks noChangeAspect="1"/>
          </p:cNvPicPr>
          <p:nvPr/>
        </p:nvPicPr>
        <p:blipFill>
          <a:blip r:embed="rId4"/>
          <a:stretch>
            <a:fillRect/>
          </a:stretch>
        </p:blipFill>
        <p:spPr>
          <a:xfrm>
            <a:off x="886265" y="3431549"/>
            <a:ext cx="5844734" cy="3426451"/>
          </a:xfrm>
          <a:prstGeom prst="rect">
            <a:avLst/>
          </a:prstGeom>
        </p:spPr>
      </p:pic>
      <p:sp>
        <p:nvSpPr>
          <p:cNvPr id="15" name="文本框 14"/>
          <p:cNvSpPr txBox="1"/>
          <p:nvPr/>
        </p:nvSpPr>
        <p:spPr>
          <a:xfrm>
            <a:off x="4913704" y="2588374"/>
            <a:ext cx="6615526" cy="922020"/>
          </a:xfrm>
          <a:prstGeom prst="rect">
            <a:avLst/>
          </a:prstGeom>
          <a:noFill/>
        </p:spPr>
        <p:txBody>
          <a:bodyPr wrap="square" rtlCol="0">
            <a:spAutoFit/>
          </a:bodyPr>
          <a:lstStyle/>
          <a:p>
            <a:pPr algn="ctr"/>
            <a:r>
              <a:rPr lang="zh-CN" altLang="en-US" sz="5400" b="1" dirty="0">
                <a:latin typeface="微软雅黑" panose="020B0503020204020204" charset="-122"/>
                <a:ea typeface="微软雅黑" panose="020B0503020204020204" charset="-122"/>
                <a:sym typeface="+mn-ea"/>
              </a:rPr>
              <a:t>财务专题分析</a:t>
            </a:r>
            <a:endParaRPr lang="zh-CN" altLang="en-US" sz="3200" b="1" dirty="0">
              <a:solidFill>
                <a:schemeClr val="tx1">
                  <a:lumMod val="85000"/>
                  <a:lumOff val="15000"/>
                </a:schemeClr>
              </a:solidFill>
              <a:cs typeface="+mn-ea"/>
              <a:sym typeface="+mn-lt"/>
            </a:endParaRPr>
          </a:p>
        </p:txBody>
      </p:sp>
      <p:sp>
        <p:nvSpPr>
          <p:cNvPr id="2" name="文本框 1"/>
          <p:cNvSpPr txBox="1"/>
          <p:nvPr/>
        </p:nvSpPr>
        <p:spPr>
          <a:xfrm>
            <a:off x="4478655" y="1520190"/>
            <a:ext cx="5189855" cy="11068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chemeClr val="tx1">
                    <a:lumMod val="85000"/>
                    <a:lumOff val="15000"/>
                  </a:schemeClr>
                </a:solidFill>
                <a:effectLst/>
                <a:uLnTx/>
                <a:uFillTx/>
                <a:cs typeface="+mn-ea"/>
                <a:sym typeface="+mn-lt"/>
              </a:rPr>
              <a:t>Part four</a:t>
            </a:r>
            <a:endParaRPr kumimoji="0" lang="zh-CN" altLang="en-US" sz="6600" b="0" i="0" u="none" strike="noStrike" kern="1200" cap="none" spc="0" normalizeH="0" baseline="0" noProof="0" dirty="0">
              <a:ln>
                <a:noFill/>
              </a:ln>
              <a:solidFill>
                <a:schemeClr val="tx1">
                  <a:lumMod val="85000"/>
                  <a:lumOff val="15000"/>
                </a:schemeClr>
              </a:solidFill>
              <a:effectLst/>
              <a:uLnTx/>
              <a:uFillTx/>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300" advTm="1000">
        <p14:pan dir="u"/>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 presetClass="entr" presetSubtype="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63" presetClass="path" presetSubtype="0" accel="50000" decel="50000" fill="hold" nodeType="withEffect">
                                  <p:stCondLst>
                                    <p:cond delay="0"/>
                                  </p:stCondLst>
                                  <p:childTnLst>
                                    <p:animMotion origin="layout" path="M -0.36146 -0.08333 L 2.22222E-6 -3.7037E-7 " pathEditMode="relative" rAng="0" ptsTypes="AA">
                                      <p:cBhvr>
                                        <p:cTn id="13" dur="2000" fill="hold"/>
                                        <p:tgtEl>
                                          <p:spTgt spid="4"/>
                                        </p:tgtEl>
                                        <p:attrNameLst>
                                          <p:attrName>ppt_x</p:attrName>
                                          <p:attrName>ppt_y</p:attrName>
                                        </p:attrNameLst>
                                      </p:cBhvr>
                                      <p:rCtr x="18073" y="4167"/>
                                    </p:animMotion>
                                  </p:childTnLst>
                                </p:cTn>
                              </p:par>
                            </p:childTnLst>
                          </p:cTn>
                        </p:par>
                        <p:par>
                          <p:cTn id="14" fill="hold">
                            <p:stCondLst>
                              <p:cond delay="1000"/>
                            </p:stCondLst>
                            <p:childTnLst>
                              <p:par>
                                <p:cTn id="15" presetID="12" presetClass="entr" presetSubtype="8"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p:tgtEl>
                                          <p:spTgt spid="15"/>
                                        </p:tgtEl>
                                        <p:attrNameLst>
                                          <p:attrName>ppt_x</p:attrName>
                                        </p:attrNameLst>
                                      </p:cBhvr>
                                      <p:tavLst>
                                        <p:tav tm="0">
                                          <p:val>
                                            <p:strVal val="#ppt_x-#ppt_w*1.125000"/>
                                          </p:val>
                                        </p:tav>
                                        <p:tav tm="100000">
                                          <p:val>
                                            <p:strVal val="#ppt_x"/>
                                          </p:val>
                                        </p:tav>
                                      </p:tavLst>
                                    </p:anim>
                                    <p:animEffect transition="in" filter="wipe(right)">
                                      <p:cBhvr>
                                        <p:cTn id="18" dur="500"/>
                                        <p:tgtEl>
                                          <p:spTgt spid="15"/>
                                        </p:tgtEl>
                                      </p:cBhvr>
                                    </p:animEffect>
                                  </p:childTnLst>
                                </p:cTn>
                              </p:par>
                            </p:childTnLst>
                          </p:cTn>
                        </p:par>
                        <p:par>
                          <p:cTn id="19" fill="hold">
                            <p:stCondLst>
                              <p:cond delay="1500"/>
                            </p:stCondLst>
                            <p:childTnLst>
                              <p:par>
                                <p:cTn id="20" presetID="12" presetClass="entr" presetSubtype="8" fill="hold" grpId="0" nodeType="after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p:tgtEl>
                                          <p:spTgt spid="2"/>
                                        </p:tgtEl>
                                        <p:attrNameLst>
                                          <p:attrName>ppt_x</p:attrName>
                                        </p:attrNameLst>
                                      </p:cBhvr>
                                      <p:tavLst>
                                        <p:tav tm="0">
                                          <p:val>
                                            <p:strVal val="#ppt_x-#ppt_w*1.125000"/>
                                          </p:val>
                                        </p:tav>
                                        <p:tav tm="100000">
                                          <p:val>
                                            <p:strVal val="#ppt_x"/>
                                          </p:val>
                                        </p:tav>
                                      </p:tavLst>
                                    </p:anim>
                                    <p:animEffect transition="in" filter="wipe(right)">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Straight Connector 4"/>
          <p:cNvCxnSpPr/>
          <p:nvPr>
            <p:custDataLst>
              <p:tags r:id="rId2"/>
            </p:custDataLst>
          </p:nvPr>
        </p:nvCxnSpPr>
        <p:spPr>
          <a:xfrm>
            <a:off x="442272" y="3399645"/>
            <a:ext cx="11307456"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5" name="Oval 6"/>
          <p:cNvSpPr/>
          <p:nvPr>
            <p:custDataLst>
              <p:tags r:id="rId3"/>
            </p:custDataLst>
          </p:nvPr>
        </p:nvSpPr>
        <p:spPr>
          <a:xfrm>
            <a:off x="3251758" y="3275057"/>
            <a:ext cx="239531" cy="23953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0">
              <a:sym typeface="Arial" panose="020B0604020202020204" pitchFamily="34" charset="0"/>
            </a:endParaRPr>
          </a:p>
        </p:txBody>
      </p:sp>
      <p:cxnSp>
        <p:nvCxnSpPr>
          <p:cNvPr id="97" name="Straight Connector 44"/>
          <p:cNvCxnSpPr>
            <a:stCxn id="85" idx="0"/>
            <a:endCxn id="109" idx="4"/>
          </p:cNvCxnSpPr>
          <p:nvPr>
            <p:custDataLst>
              <p:tags r:id="rId4"/>
            </p:custDataLst>
          </p:nvPr>
        </p:nvCxnSpPr>
        <p:spPr>
          <a:xfrm flipV="1">
            <a:off x="3371524" y="3069545"/>
            <a:ext cx="0" cy="20551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3" name="Elbow Connector 61"/>
          <p:cNvCxnSpPr>
            <a:stCxn id="109" idx="0"/>
          </p:cNvCxnSpPr>
          <p:nvPr>
            <p:custDataLst>
              <p:tags r:id="rId5"/>
            </p:custDataLst>
          </p:nvPr>
        </p:nvCxnSpPr>
        <p:spPr>
          <a:xfrm rot="5400000" flipH="1" flipV="1">
            <a:off x="3463470" y="1812643"/>
            <a:ext cx="470826" cy="654718"/>
          </a:xfrm>
          <a:prstGeom prst="bentConnector2">
            <a:avLst/>
          </a:prstGeom>
          <a:ln w="12700">
            <a:solidFill>
              <a:schemeClr val="bg1">
                <a:lumMod val="85000"/>
              </a:schemeClr>
            </a:solidFill>
            <a:tailEnd type="oval"/>
          </a:ln>
        </p:spPr>
        <p:style>
          <a:lnRef idx="1">
            <a:schemeClr val="accent1"/>
          </a:lnRef>
          <a:fillRef idx="0">
            <a:schemeClr val="accent1"/>
          </a:fillRef>
          <a:effectRef idx="0">
            <a:schemeClr val="accent1"/>
          </a:effectRef>
          <a:fontRef idx="minor">
            <a:schemeClr val="tx1"/>
          </a:fontRef>
        </p:style>
      </p:cxnSp>
      <p:sp>
        <p:nvSpPr>
          <p:cNvPr id="109" name="Oval 5"/>
          <p:cNvSpPr/>
          <p:nvPr>
            <p:custDataLst>
              <p:tags r:id="rId6"/>
            </p:custDataLst>
          </p:nvPr>
        </p:nvSpPr>
        <p:spPr>
          <a:xfrm>
            <a:off x="3012227" y="2375415"/>
            <a:ext cx="718594" cy="69413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rmAutofit/>
          </a:bodyPr>
          <a:lstStyle/>
          <a:p>
            <a:pPr algn="ctr"/>
            <a:r>
              <a:rPr lang="en-US" sz="2400" b="1" dirty="0">
                <a:sym typeface="Arial" panose="020B0604020202020204" pitchFamily="34" charset="0"/>
              </a:rPr>
              <a:t>1</a:t>
            </a:r>
          </a:p>
        </p:txBody>
      </p:sp>
      <p:sp>
        <p:nvSpPr>
          <p:cNvPr id="129" name="TextBox 30"/>
          <p:cNvSpPr txBox="1"/>
          <p:nvPr>
            <p:custDataLst>
              <p:tags r:id="rId7"/>
            </p:custDataLst>
          </p:nvPr>
        </p:nvSpPr>
        <p:spPr>
          <a:xfrm>
            <a:off x="4140835" y="1320800"/>
            <a:ext cx="3816350" cy="338455"/>
          </a:xfrm>
          <a:prstGeom prst="rect">
            <a:avLst/>
          </a:prstGeom>
          <a:noFill/>
        </p:spPr>
        <p:txBody>
          <a:bodyPr wrap="square" rtlCol="0" anchor="ctr" anchorCtr="0"/>
          <a:lstStyle/>
          <a:p>
            <a:r>
              <a:rPr lang="zh-CN" altLang="en-US" b="1" dirty="0">
                <a:solidFill>
                  <a:srgbClr val="FFC000"/>
                </a:solidFill>
                <a:latin typeface="微软雅黑" panose="020B0503020204020204" charset="-122"/>
                <a:ea typeface="微软雅黑" panose="020B0503020204020204" charset="-122"/>
                <a:sym typeface="+mn-ea"/>
              </a:rPr>
              <a:t>代理商保证金信息比对进度汇报</a:t>
            </a:r>
            <a:endParaRPr lang="zh-CN" altLang="en-US" b="1" dirty="0">
              <a:solidFill>
                <a:srgbClr val="FFC000"/>
              </a:solidFill>
              <a:latin typeface="微软雅黑" panose="020B0503020204020204" charset="-122"/>
              <a:ea typeface="微软雅黑" panose="020B0503020204020204" charset="-122"/>
              <a:cs typeface="+mj-cs"/>
              <a:sym typeface="+mn-ea"/>
            </a:endParaRPr>
          </a:p>
        </p:txBody>
      </p:sp>
      <p:sp>
        <p:nvSpPr>
          <p:cNvPr id="130" name="MH_Text_1"/>
          <p:cNvSpPr txBox="1">
            <a:spLocks noChangeArrowheads="1"/>
          </p:cNvSpPr>
          <p:nvPr>
            <p:custDataLst>
              <p:tags r:id="rId8"/>
            </p:custDataLst>
          </p:nvPr>
        </p:nvSpPr>
        <p:spPr bwMode="auto">
          <a:xfrm>
            <a:off x="4114165" y="1784350"/>
            <a:ext cx="4245610" cy="1490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7500" lnSpcReduction="10000"/>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atinLnBrk="1">
              <a:defRPr/>
            </a:pPr>
            <a:r>
              <a:rPr lang="zh-CN" altLang="en-US" sz="1600" dirty="0">
                <a:solidFill>
                  <a:srgbClr val="404040"/>
                </a:solidFill>
                <a:latin typeface="微软雅黑" panose="020B0503020204020204" charset="-122"/>
                <a:ea typeface="微软雅黑" panose="020B0503020204020204" charset="-122"/>
                <a:sym typeface="+mn-ea"/>
              </a:rPr>
              <a:t>在前期由各县区渠道协助收集了各代理商保证金的缴纳信息和押金单拍照取证后，转由业务支撑中心承接后续的信息比对工作，根据收集的押金单已初步比对了代理商保证金的缴纳信息，并对前期通报的</a:t>
            </a:r>
            <a:r>
              <a:rPr lang="en-US" altLang="zh-CN" sz="1600" dirty="0">
                <a:solidFill>
                  <a:srgbClr val="404040"/>
                </a:solidFill>
                <a:latin typeface="微软雅黑" panose="020B0503020204020204" charset="-122"/>
                <a:ea typeface="微软雅黑" panose="020B0503020204020204" charset="-122"/>
                <a:sym typeface="+mn-ea"/>
              </a:rPr>
              <a:t>60</a:t>
            </a:r>
            <a:r>
              <a:rPr lang="zh-CN" altLang="en-US" sz="1600" dirty="0">
                <a:solidFill>
                  <a:srgbClr val="404040"/>
                </a:solidFill>
                <a:latin typeface="微软雅黑" panose="020B0503020204020204" charset="-122"/>
                <a:ea typeface="微软雅黑" panose="020B0503020204020204" charset="-122"/>
                <a:sym typeface="+mn-ea"/>
              </a:rPr>
              <a:t>家未缴纳保证金网点的反馈情况加以进一步的稽核。</a:t>
            </a:r>
          </a:p>
        </p:txBody>
      </p:sp>
      <p:sp>
        <p:nvSpPr>
          <p:cNvPr id="86" name="Oval 35"/>
          <p:cNvSpPr/>
          <p:nvPr>
            <p:custDataLst>
              <p:tags r:id="rId9"/>
            </p:custDataLst>
          </p:nvPr>
        </p:nvSpPr>
        <p:spPr>
          <a:xfrm>
            <a:off x="7261038" y="3275057"/>
            <a:ext cx="239531" cy="23953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0">
              <a:sym typeface="Arial" panose="020B0604020202020204" pitchFamily="34" charset="0"/>
            </a:endParaRPr>
          </a:p>
        </p:txBody>
      </p:sp>
      <p:cxnSp>
        <p:nvCxnSpPr>
          <p:cNvPr id="98" name="Straight Connector 46"/>
          <p:cNvCxnSpPr>
            <a:stCxn id="86" idx="4"/>
            <a:endCxn id="111" idx="0"/>
          </p:cNvCxnSpPr>
          <p:nvPr>
            <p:custDataLst>
              <p:tags r:id="rId10"/>
            </p:custDataLst>
          </p:nvPr>
        </p:nvCxnSpPr>
        <p:spPr>
          <a:xfrm>
            <a:off x="7380803" y="3514588"/>
            <a:ext cx="0" cy="240519"/>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6" name="Elbow Connector 70"/>
          <p:cNvCxnSpPr>
            <a:stCxn id="111" idx="4"/>
          </p:cNvCxnSpPr>
          <p:nvPr>
            <p:custDataLst>
              <p:tags r:id="rId11"/>
            </p:custDataLst>
          </p:nvPr>
        </p:nvCxnSpPr>
        <p:spPr>
          <a:xfrm rot="16200000" flipH="1">
            <a:off x="7406619" y="4447885"/>
            <a:ext cx="327031" cy="378662"/>
          </a:xfrm>
          <a:prstGeom prst="bentConnector2">
            <a:avLst/>
          </a:prstGeom>
          <a:ln w="12700">
            <a:solidFill>
              <a:schemeClr val="bg1">
                <a:lumMod val="85000"/>
              </a:schemeClr>
            </a:solidFill>
            <a:tailEnd type="oval"/>
          </a:ln>
        </p:spPr>
        <p:style>
          <a:lnRef idx="1">
            <a:schemeClr val="accent1"/>
          </a:lnRef>
          <a:fillRef idx="0">
            <a:schemeClr val="accent1"/>
          </a:fillRef>
          <a:effectRef idx="0">
            <a:schemeClr val="accent1"/>
          </a:effectRef>
          <a:fontRef idx="minor">
            <a:schemeClr val="tx1"/>
          </a:fontRef>
        </p:style>
      </p:cxnSp>
      <p:sp>
        <p:nvSpPr>
          <p:cNvPr id="111" name="Oval 10"/>
          <p:cNvSpPr/>
          <p:nvPr>
            <p:custDataLst>
              <p:tags r:id="rId12"/>
            </p:custDataLst>
          </p:nvPr>
        </p:nvSpPr>
        <p:spPr>
          <a:xfrm>
            <a:off x="7021506" y="3755107"/>
            <a:ext cx="718594" cy="718594"/>
          </a:xfrm>
          <a:prstGeom prst="ellipse">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rmAutofit/>
          </a:bodyPr>
          <a:lstStyle/>
          <a:p>
            <a:pPr algn="ctr"/>
            <a:r>
              <a:rPr lang="en-US" sz="2400" b="1" dirty="0">
                <a:sym typeface="Arial" panose="020B0604020202020204" pitchFamily="34" charset="0"/>
              </a:rPr>
              <a:t>2</a:t>
            </a:r>
          </a:p>
        </p:txBody>
      </p:sp>
      <p:sp>
        <p:nvSpPr>
          <p:cNvPr id="131" name="TextBox 30"/>
          <p:cNvSpPr txBox="1"/>
          <p:nvPr>
            <p:custDataLst>
              <p:tags r:id="rId13"/>
            </p:custDataLst>
          </p:nvPr>
        </p:nvSpPr>
        <p:spPr>
          <a:xfrm>
            <a:off x="7956924" y="4135566"/>
            <a:ext cx="2880509" cy="338554"/>
          </a:xfrm>
          <a:prstGeom prst="rect">
            <a:avLst/>
          </a:prstGeom>
          <a:noFill/>
        </p:spPr>
        <p:txBody>
          <a:bodyPr wrap="square" rtlCol="0" anchor="ctr" anchorCtr="0"/>
          <a:lstStyle/>
          <a:p>
            <a:r>
              <a:rPr lang="zh-CN" altLang="en-US" sz="1600" b="1" dirty="0">
                <a:solidFill>
                  <a:schemeClr val="bg2">
                    <a:lumMod val="25000"/>
                  </a:schemeClr>
                </a:solidFill>
                <a:latin typeface="微软雅黑" panose="020B0503020204020204" charset="-122"/>
                <a:ea typeface="微软雅黑" panose="020B0503020204020204" charset="-122"/>
                <a:sym typeface="+mn-ea"/>
              </a:rPr>
              <a:t>注释</a:t>
            </a:r>
            <a:endParaRPr lang="zh-CN" altLang="en-US" sz="1600" b="1" dirty="0">
              <a:solidFill>
                <a:schemeClr val="bg2">
                  <a:lumMod val="25000"/>
                </a:schemeClr>
              </a:solidFill>
              <a:latin typeface="微软雅黑" panose="020B0503020204020204" charset="-122"/>
              <a:ea typeface="微软雅黑" panose="020B0503020204020204" charset="-122"/>
              <a:cs typeface="+mj-cs"/>
              <a:sym typeface="+mn-ea"/>
            </a:endParaRPr>
          </a:p>
        </p:txBody>
      </p:sp>
      <p:sp>
        <p:nvSpPr>
          <p:cNvPr id="132" name="MH_Text_1"/>
          <p:cNvSpPr txBox="1">
            <a:spLocks noChangeArrowheads="1"/>
          </p:cNvSpPr>
          <p:nvPr>
            <p:custDataLst>
              <p:tags r:id="rId14"/>
            </p:custDataLst>
          </p:nvPr>
        </p:nvSpPr>
        <p:spPr bwMode="auto">
          <a:xfrm>
            <a:off x="7833360" y="4474210"/>
            <a:ext cx="3916045" cy="1750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atinLnBrk="1">
              <a:lnSpc>
                <a:spcPct val="110000"/>
              </a:lnSpc>
              <a:defRPr/>
            </a:pPr>
            <a:r>
              <a:rPr lang="en-US" altLang="zh-CN" sz="1600" dirty="0">
                <a:solidFill>
                  <a:srgbClr val="404040"/>
                </a:solidFill>
                <a:latin typeface="微软雅黑" panose="020B0503020204020204" charset="-122"/>
                <a:ea typeface="微软雅黑" panose="020B0503020204020204" charset="-122"/>
                <a:sym typeface="+mn-ea"/>
              </a:rPr>
              <a:t>181</a:t>
            </a:r>
            <a:r>
              <a:rPr lang="zh-CN" altLang="en-US" sz="1600" dirty="0">
                <a:solidFill>
                  <a:srgbClr val="404040"/>
                </a:solidFill>
                <a:latin typeface="微软雅黑" panose="020B0503020204020204" charset="-122"/>
                <a:ea typeface="微软雅黑" panose="020B0503020204020204" charset="-122"/>
                <a:sym typeface="+mn-ea"/>
              </a:rPr>
              <a:t>家有受理信息的专营店中</a:t>
            </a:r>
            <a:r>
              <a:rPr lang="en-US" altLang="zh-CN" sz="1600" dirty="0">
                <a:solidFill>
                  <a:srgbClr val="404040"/>
                </a:solidFill>
                <a:latin typeface="微软雅黑" panose="020B0503020204020204" charset="-122"/>
                <a:ea typeface="微软雅黑" panose="020B0503020204020204" charset="-122"/>
                <a:sym typeface="+mn-ea"/>
              </a:rPr>
              <a:t>20</a:t>
            </a:r>
            <a:r>
              <a:rPr lang="zh-CN" altLang="en-US" sz="1600" dirty="0">
                <a:solidFill>
                  <a:srgbClr val="404040"/>
                </a:solidFill>
                <a:latin typeface="微软雅黑" panose="020B0503020204020204" charset="-122"/>
                <a:ea typeface="微软雅黑" panose="020B0503020204020204" charset="-122"/>
                <a:sym typeface="+mn-ea"/>
              </a:rPr>
              <a:t>家未缴足，部分是由于内部员工创业，押金减半，部分是余款用于缴纳房屋租赁押金，其他未说明原因；</a:t>
            </a:r>
            <a:r>
              <a:rPr lang="en-US" altLang="zh-CN" sz="1600" dirty="0">
                <a:solidFill>
                  <a:srgbClr val="404040"/>
                </a:solidFill>
                <a:latin typeface="微软雅黑" panose="020B0503020204020204" charset="-122"/>
                <a:ea typeface="微软雅黑" panose="020B0503020204020204" charset="-122"/>
                <a:sym typeface="+mn-ea"/>
              </a:rPr>
              <a:t>8</a:t>
            </a:r>
            <a:r>
              <a:rPr lang="zh-CN" altLang="en-US" sz="1600" dirty="0">
                <a:solidFill>
                  <a:srgbClr val="404040"/>
                </a:solidFill>
                <a:latin typeface="微软雅黑" panose="020B0503020204020204" charset="-122"/>
                <a:ea typeface="微软雅黑" panose="020B0503020204020204" charset="-122"/>
                <a:sym typeface="+mn-ea"/>
              </a:rPr>
              <a:t>家代理商上报已缴纳押金，且部分网点上报信息中有押金单拍照取，但系统中显示已退款证，有待进一步确认原因；其余</a:t>
            </a:r>
            <a:r>
              <a:rPr lang="en-US" altLang="zh-CN" sz="1600" dirty="0">
                <a:solidFill>
                  <a:srgbClr val="404040"/>
                </a:solidFill>
                <a:latin typeface="微软雅黑" panose="020B0503020204020204" charset="-122"/>
                <a:ea typeface="微软雅黑" panose="020B0503020204020204" charset="-122"/>
                <a:sym typeface="+mn-ea"/>
              </a:rPr>
              <a:t>77</a:t>
            </a:r>
            <a:r>
              <a:rPr lang="zh-CN" altLang="en-US" sz="1600" dirty="0">
                <a:solidFill>
                  <a:srgbClr val="404040"/>
                </a:solidFill>
                <a:latin typeface="微软雅黑" panose="020B0503020204020204" charset="-122"/>
                <a:ea typeface="微软雅黑" panose="020B0503020204020204" charset="-122"/>
                <a:sym typeface="+mn-ea"/>
              </a:rPr>
              <a:t>家未稽核，其中</a:t>
            </a:r>
            <a:r>
              <a:rPr lang="en-US" altLang="zh-CN" sz="1600" dirty="0">
                <a:solidFill>
                  <a:srgbClr val="404040"/>
                </a:solidFill>
                <a:latin typeface="微软雅黑" panose="020B0503020204020204" charset="-122"/>
                <a:ea typeface="微软雅黑" panose="020B0503020204020204" charset="-122"/>
                <a:sym typeface="+mn-ea"/>
              </a:rPr>
              <a:t>30</a:t>
            </a:r>
            <a:r>
              <a:rPr lang="zh-CN" altLang="en-US" sz="1600" dirty="0">
                <a:solidFill>
                  <a:srgbClr val="404040"/>
                </a:solidFill>
                <a:latin typeface="微软雅黑" panose="020B0503020204020204" charset="-122"/>
                <a:ea typeface="微软雅黑" panose="020B0503020204020204" charset="-122"/>
                <a:sym typeface="+mn-ea"/>
              </a:rPr>
              <a:t>家已反馈收集，</a:t>
            </a:r>
            <a:r>
              <a:rPr lang="en-US" altLang="zh-CN" sz="1600" dirty="0">
                <a:solidFill>
                  <a:srgbClr val="404040"/>
                </a:solidFill>
                <a:latin typeface="微软雅黑" panose="020B0503020204020204" charset="-122"/>
                <a:ea typeface="微软雅黑" panose="020B0503020204020204" charset="-122"/>
                <a:sym typeface="+mn-ea"/>
              </a:rPr>
              <a:t>47</a:t>
            </a:r>
            <a:r>
              <a:rPr lang="zh-CN" altLang="en-US" sz="1600" dirty="0">
                <a:solidFill>
                  <a:srgbClr val="404040"/>
                </a:solidFill>
                <a:latin typeface="微软雅黑" panose="020B0503020204020204" charset="-122"/>
                <a:ea typeface="微软雅黑" panose="020B0503020204020204" charset="-122"/>
                <a:sym typeface="+mn-ea"/>
              </a:rPr>
              <a:t>家信息不全，暂未稽核。</a:t>
            </a:r>
          </a:p>
        </p:txBody>
      </p:sp>
      <p:sp>
        <p:nvSpPr>
          <p:cNvPr id="33" name="矩形 32"/>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222" y="-27283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文本框 1"/>
          <p:cNvSpPr txBox="1"/>
          <p:nvPr/>
        </p:nvSpPr>
        <p:spPr>
          <a:xfrm>
            <a:off x="418455" y="312636"/>
            <a:ext cx="2787500" cy="398780"/>
          </a:xfrm>
          <a:prstGeom prst="rect">
            <a:avLst/>
          </a:prstGeom>
          <a:noFill/>
        </p:spPr>
        <p:txBody>
          <a:bodyPr wrap="square" rtlCol="0">
            <a:spAutoFit/>
          </a:bodyPr>
          <a:lstStyle/>
          <a:p>
            <a:r>
              <a:rPr lang="zh-CN" altLang="en-US" sz="2000" b="1" dirty="0">
                <a:cs typeface="+mn-ea"/>
                <a:sym typeface="+mn-lt"/>
              </a:rPr>
              <a:t>代理商保证金</a:t>
            </a:r>
          </a:p>
        </p:txBody>
      </p:sp>
      <p:cxnSp>
        <p:nvCxnSpPr>
          <p:cNvPr id="36" name="直接连接符 35"/>
          <p:cNvCxnSpPr/>
          <p:nvPr/>
        </p:nvCxnSpPr>
        <p:spPr>
          <a:xfrm>
            <a:off x="15718" y="710505"/>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41960" y="831850"/>
            <a:ext cx="2804160" cy="337185"/>
          </a:xfrm>
          <a:prstGeom prst="rect">
            <a:avLst/>
          </a:prstGeom>
          <a:noFill/>
        </p:spPr>
        <p:txBody>
          <a:bodyPr wrap="none" rtlCol="0" anchor="t">
            <a:spAutoFit/>
          </a:bodyPr>
          <a:lstStyle/>
          <a:p>
            <a:r>
              <a:rPr lang="en-US" altLang="zh-CN" sz="1600" b="1" dirty="0">
                <a:solidFill>
                  <a:srgbClr val="FFC000"/>
                </a:solidFill>
                <a:latin typeface="微软雅黑" panose="020B0503020204020204" charset="-122"/>
                <a:ea typeface="微软雅黑" panose="020B0503020204020204" charset="-122"/>
                <a:sym typeface="+mn-ea"/>
              </a:rPr>
              <a:t>1.</a:t>
            </a:r>
            <a:r>
              <a:rPr lang="zh-CN" altLang="en-US" sz="1600" b="1" dirty="0">
                <a:solidFill>
                  <a:srgbClr val="FFC000"/>
                </a:solidFill>
                <a:latin typeface="微软雅黑" panose="020B0503020204020204" charset="-122"/>
                <a:ea typeface="微软雅黑" panose="020B0503020204020204" charset="-122"/>
                <a:sym typeface="+mn-ea"/>
              </a:rPr>
              <a:t>代理商保证金信息比对情况</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椭圆 88"/>
          <p:cNvSpPr/>
          <p:nvPr>
            <p:custDataLst>
              <p:tags r:id="rId2"/>
            </p:custDataLst>
          </p:nvPr>
        </p:nvSpPr>
        <p:spPr>
          <a:xfrm>
            <a:off x="673533" y="3147520"/>
            <a:ext cx="2678704" cy="2678702"/>
          </a:xfrm>
          <a:prstGeom prst="ellipse">
            <a:avLst/>
          </a:prstGeom>
          <a:solidFill>
            <a:srgbClr val="FFC000"/>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ym typeface="+mn-lt"/>
            </a:endParaRPr>
          </a:p>
        </p:txBody>
      </p:sp>
      <p:sp>
        <p:nvSpPr>
          <p:cNvPr id="91" name="文本框 90"/>
          <p:cNvSpPr txBox="1"/>
          <p:nvPr>
            <p:custDataLst>
              <p:tags r:id="rId3"/>
            </p:custDataLst>
          </p:nvPr>
        </p:nvSpPr>
        <p:spPr>
          <a:xfrm>
            <a:off x="868045" y="3735705"/>
            <a:ext cx="2289810" cy="1457960"/>
          </a:xfrm>
          <a:prstGeom prst="rect">
            <a:avLst/>
          </a:prstGeom>
          <a:noFill/>
        </p:spPr>
        <p:txBody>
          <a:bodyPr wrap="square" lIns="90000" tIns="46800" rIns="90000" bIns="46800" rtlCol="0">
            <a:noAutofit/>
          </a:bodyPr>
          <a:lstStyle/>
          <a:p>
            <a:pPr indent="0">
              <a:lnSpc>
                <a:spcPct val="200000"/>
              </a:lnSpc>
              <a:buFont typeface="Arial" panose="020B0604020202020204" pitchFamily="34" charset="0"/>
              <a:buNone/>
            </a:pPr>
            <a:r>
              <a:rPr lang="zh-CN" altLang="en-US" sz="1400" dirty="0">
                <a:solidFill>
                  <a:srgbClr val="404040"/>
                </a:solidFill>
                <a:effectLst/>
                <a:latin typeface="微软雅黑" panose="020B0503020204020204" charset="-122"/>
                <a:ea typeface="微软雅黑" panose="020B0503020204020204" charset="-122"/>
                <a:sym typeface="+mn-ea"/>
              </a:rPr>
              <a:t>其中，部分单笔金额小于</a:t>
            </a:r>
            <a:r>
              <a:rPr lang="en-US" altLang="zh-CN" sz="1400" dirty="0">
                <a:solidFill>
                  <a:srgbClr val="404040"/>
                </a:solidFill>
                <a:effectLst/>
                <a:latin typeface="微软雅黑" panose="020B0503020204020204" charset="-122"/>
                <a:ea typeface="微软雅黑" panose="020B0503020204020204" charset="-122"/>
                <a:sym typeface="+mn-ea"/>
              </a:rPr>
              <a:t>1000</a:t>
            </a:r>
            <a:r>
              <a:rPr lang="zh-CN" altLang="en-US" sz="1400" dirty="0">
                <a:solidFill>
                  <a:srgbClr val="404040"/>
                </a:solidFill>
                <a:effectLst/>
                <a:latin typeface="微软雅黑" panose="020B0503020204020204" charset="-122"/>
                <a:ea typeface="微软雅黑" panose="020B0503020204020204" charset="-122"/>
                <a:sym typeface="+mn-ea"/>
              </a:rPr>
              <a:t>元，一般是其他话机押金、电子售卡押金等；</a:t>
            </a:r>
          </a:p>
        </p:txBody>
      </p:sp>
      <p:cxnSp>
        <p:nvCxnSpPr>
          <p:cNvPr id="4" name="直接连接符 3"/>
          <p:cNvCxnSpPr/>
          <p:nvPr>
            <p:custDataLst>
              <p:tags r:id="rId4"/>
            </p:custDataLst>
          </p:nvPr>
        </p:nvCxnSpPr>
        <p:spPr>
          <a:xfrm>
            <a:off x="670718" y="2352923"/>
            <a:ext cx="10850565" cy="0"/>
          </a:xfrm>
          <a:prstGeom prst="line">
            <a:avLst/>
          </a:prstGeom>
          <a:ln w="9525" cap="rnd">
            <a:solidFill>
              <a:schemeClr val="tx1">
                <a:lumMod val="50000"/>
                <a:lumOff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85" name="椭圆 84"/>
          <p:cNvSpPr/>
          <p:nvPr>
            <p:custDataLst>
              <p:tags r:id="rId5"/>
            </p:custDataLst>
          </p:nvPr>
        </p:nvSpPr>
        <p:spPr>
          <a:xfrm>
            <a:off x="8849189" y="3147521"/>
            <a:ext cx="2678704" cy="2678702"/>
          </a:xfrm>
          <a:prstGeom prst="ellipse">
            <a:avLst/>
          </a:prstGeom>
          <a:solidFill>
            <a:schemeClr val="bg2">
              <a:lumMod val="25000"/>
            </a:schemeClr>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sym typeface="+mn-lt"/>
            </a:endParaRPr>
          </a:p>
        </p:txBody>
      </p:sp>
      <p:sp>
        <p:nvSpPr>
          <p:cNvPr id="87" name="文本框 86"/>
          <p:cNvSpPr txBox="1"/>
          <p:nvPr>
            <p:custDataLst>
              <p:tags r:id="rId6"/>
            </p:custDataLst>
          </p:nvPr>
        </p:nvSpPr>
        <p:spPr>
          <a:xfrm>
            <a:off x="8936610" y="3837272"/>
            <a:ext cx="2503862" cy="1562446"/>
          </a:xfrm>
          <a:prstGeom prst="rect">
            <a:avLst/>
          </a:prstGeom>
          <a:noFill/>
        </p:spPr>
        <p:txBody>
          <a:bodyPr wrap="square" lIns="90000" tIns="46800" rIns="90000" bIns="46800" rtlCol="0">
            <a:noAutofit/>
          </a:bodyPr>
          <a:lstStyle/>
          <a:p>
            <a:pPr indent="0">
              <a:lnSpc>
                <a:spcPct val="160000"/>
              </a:lnSpc>
              <a:buFont typeface="Arial" panose="020B0604020202020204" pitchFamily="34" charset="0"/>
              <a:buNone/>
            </a:pPr>
            <a:r>
              <a:rPr lang="zh-CN" altLang="en-US" sz="1400" dirty="0">
                <a:solidFill>
                  <a:schemeClr val="bg1"/>
                </a:solidFill>
                <a:effectLst/>
                <a:latin typeface="微软雅黑" panose="020B0503020204020204" charset="-122"/>
                <a:ea typeface="微软雅黑" panose="020B0503020204020204" charset="-122"/>
                <a:sym typeface="+mn-ea"/>
              </a:rPr>
              <a:t>部分金额较大的可能是代理点或专营店的押金，但仍需要核实是否存在实际已退款、系统未受理退款的情形</a:t>
            </a:r>
            <a:endParaRPr lang="zh-CN" altLang="en-US" sz="1200" dirty="0">
              <a:solidFill>
                <a:srgbClr val="404040"/>
              </a:solidFill>
              <a:effectLst/>
              <a:latin typeface="微软雅黑" panose="020B0503020204020204" charset="-122"/>
              <a:ea typeface="微软雅黑" panose="020B0503020204020204" charset="-122"/>
              <a:sym typeface="+mn-ea"/>
            </a:endParaRPr>
          </a:p>
          <a:p>
            <a:pPr marL="171450" indent="-171450">
              <a:lnSpc>
                <a:spcPct val="160000"/>
              </a:lnSpc>
              <a:buFont typeface="Arial" panose="020B0604020202020204" pitchFamily="34" charset="0"/>
              <a:buChar char="•"/>
            </a:pPr>
            <a:endParaRPr lang="en-US" altLang="zh-CN" sz="1200">
              <a:solidFill>
                <a:schemeClr val="bg1"/>
              </a:solidFill>
              <a:sym typeface="+mn-lt"/>
            </a:endParaRPr>
          </a:p>
        </p:txBody>
      </p:sp>
      <p:sp>
        <p:nvSpPr>
          <p:cNvPr id="6" name="文本框 5"/>
          <p:cNvSpPr txBox="1"/>
          <p:nvPr>
            <p:custDataLst>
              <p:tags r:id="rId7"/>
            </p:custDataLst>
          </p:nvPr>
        </p:nvSpPr>
        <p:spPr>
          <a:xfrm>
            <a:off x="2328545" y="1108710"/>
            <a:ext cx="7839075" cy="1139190"/>
          </a:xfrm>
          <a:prstGeom prst="rect">
            <a:avLst/>
          </a:prstGeom>
          <a:noFill/>
        </p:spPr>
        <p:txBody>
          <a:bodyPr wrap="square" lIns="90000" tIns="46800" rIns="90000" bIns="46800" rtlCol="0"/>
          <a:lstStyle/>
          <a:p>
            <a:pPr algn="l">
              <a:lnSpc>
                <a:spcPct val="150000"/>
              </a:lnSpc>
            </a:pPr>
            <a:r>
              <a:rPr lang="zh-CN" altLang="en-US" sz="1400" dirty="0">
                <a:solidFill>
                  <a:schemeClr val="bg2">
                    <a:lumMod val="50000"/>
                  </a:schemeClr>
                </a:solidFill>
                <a:effectLst/>
                <a:latin typeface="微软雅黑" panose="020B0503020204020204" charset="-122"/>
                <a:ea typeface="微软雅黑" panose="020B0503020204020204" charset="-122"/>
                <a:sym typeface="+mn-ea"/>
              </a:rPr>
              <a:t>以此次代理商保证金信息比对为主，对手工帐系统和押金管理系统中受理的记录进行初步筛查。除去系统中已退款的、系统中仍有</a:t>
            </a:r>
            <a:r>
              <a:rPr lang="en-US" altLang="zh-CN" sz="1400" dirty="0">
                <a:solidFill>
                  <a:schemeClr val="bg2">
                    <a:lumMod val="50000"/>
                  </a:schemeClr>
                </a:solidFill>
                <a:effectLst/>
                <a:latin typeface="微软雅黑" panose="020B0503020204020204" charset="-122"/>
                <a:ea typeface="微软雅黑" panose="020B0503020204020204" charset="-122"/>
                <a:sym typeface="+mn-ea"/>
              </a:rPr>
              <a:t>84.73</a:t>
            </a:r>
            <a:r>
              <a:rPr lang="zh-CN" altLang="en-US" sz="1400" dirty="0">
                <a:solidFill>
                  <a:schemeClr val="bg2">
                    <a:lumMod val="50000"/>
                  </a:schemeClr>
                </a:solidFill>
                <a:effectLst/>
                <a:latin typeface="微软雅黑" panose="020B0503020204020204" charset="-122"/>
                <a:ea typeface="微软雅黑" panose="020B0503020204020204" charset="-122"/>
                <a:sym typeface="+mn-ea"/>
              </a:rPr>
              <a:t>万元的押金未核实清楚，其中手工帐系统</a:t>
            </a:r>
            <a:r>
              <a:rPr lang="en-US" altLang="zh-CN" sz="1400" dirty="0">
                <a:solidFill>
                  <a:schemeClr val="bg2">
                    <a:lumMod val="50000"/>
                  </a:schemeClr>
                </a:solidFill>
                <a:effectLst/>
                <a:latin typeface="微软雅黑" panose="020B0503020204020204" charset="-122"/>
                <a:ea typeface="微软雅黑" panose="020B0503020204020204" charset="-122"/>
                <a:sym typeface="+mn-ea"/>
              </a:rPr>
              <a:t>69</a:t>
            </a:r>
            <a:r>
              <a:rPr lang="zh-CN" altLang="en-US" sz="1400" dirty="0">
                <a:solidFill>
                  <a:schemeClr val="bg2">
                    <a:lumMod val="50000"/>
                  </a:schemeClr>
                </a:solidFill>
                <a:effectLst/>
                <a:latin typeface="微软雅黑" panose="020B0503020204020204" charset="-122"/>
                <a:ea typeface="微软雅黑" panose="020B0503020204020204" charset="-122"/>
                <a:sym typeface="+mn-ea"/>
              </a:rPr>
              <a:t>条记录，涉及金额</a:t>
            </a:r>
            <a:r>
              <a:rPr lang="en-US" altLang="zh-CN" sz="1400" dirty="0">
                <a:solidFill>
                  <a:schemeClr val="bg2">
                    <a:lumMod val="50000"/>
                  </a:schemeClr>
                </a:solidFill>
                <a:effectLst/>
                <a:latin typeface="微软雅黑" panose="020B0503020204020204" charset="-122"/>
                <a:ea typeface="微软雅黑" panose="020B0503020204020204" charset="-122"/>
                <a:sym typeface="+mn-ea"/>
              </a:rPr>
              <a:t>34.32</a:t>
            </a:r>
            <a:r>
              <a:rPr lang="zh-CN" altLang="en-US" sz="1400" dirty="0">
                <a:solidFill>
                  <a:schemeClr val="bg2">
                    <a:lumMod val="50000"/>
                  </a:schemeClr>
                </a:solidFill>
                <a:effectLst/>
                <a:latin typeface="微软雅黑" panose="020B0503020204020204" charset="-122"/>
                <a:ea typeface="微软雅黑" panose="020B0503020204020204" charset="-122"/>
                <a:sym typeface="+mn-ea"/>
              </a:rPr>
              <a:t>万元；押金管理系统中</a:t>
            </a:r>
            <a:r>
              <a:rPr lang="en-US" altLang="zh-CN" sz="1400" dirty="0">
                <a:solidFill>
                  <a:schemeClr val="bg2">
                    <a:lumMod val="50000"/>
                  </a:schemeClr>
                </a:solidFill>
                <a:effectLst/>
                <a:latin typeface="微软雅黑" panose="020B0503020204020204" charset="-122"/>
                <a:ea typeface="微软雅黑" panose="020B0503020204020204" charset="-122"/>
                <a:sym typeface="+mn-ea"/>
              </a:rPr>
              <a:t>80</a:t>
            </a:r>
            <a:r>
              <a:rPr lang="zh-CN" altLang="en-US" sz="1400" dirty="0">
                <a:solidFill>
                  <a:schemeClr val="bg2">
                    <a:lumMod val="50000"/>
                  </a:schemeClr>
                </a:solidFill>
                <a:effectLst/>
                <a:latin typeface="微软雅黑" panose="020B0503020204020204" charset="-122"/>
                <a:ea typeface="微软雅黑" panose="020B0503020204020204" charset="-122"/>
                <a:sym typeface="+mn-ea"/>
              </a:rPr>
              <a:t>条记录，涉及金额</a:t>
            </a:r>
            <a:r>
              <a:rPr lang="en-US" altLang="zh-CN" sz="1400" dirty="0">
                <a:solidFill>
                  <a:schemeClr val="bg2">
                    <a:lumMod val="50000"/>
                  </a:schemeClr>
                </a:solidFill>
                <a:effectLst/>
                <a:latin typeface="微软雅黑" panose="020B0503020204020204" charset="-122"/>
                <a:ea typeface="微软雅黑" panose="020B0503020204020204" charset="-122"/>
                <a:sym typeface="+mn-ea"/>
              </a:rPr>
              <a:t>50.41</a:t>
            </a:r>
            <a:r>
              <a:rPr lang="zh-CN" altLang="en-US" sz="1400" dirty="0">
                <a:solidFill>
                  <a:schemeClr val="bg2">
                    <a:lumMod val="50000"/>
                  </a:schemeClr>
                </a:solidFill>
                <a:effectLst/>
                <a:latin typeface="微软雅黑" panose="020B0503020204020204" charset="-122"/>
                <a:ea typeface="微软雅黑" panose="020B0503020204020204" charset="-122"/>
                <a:sym typeface="+mn-ea"/>
              </a:rPr>
              <a:t>万元。</a:t>
            </a:r>
          </a:p>
        </p:txBody>
      </p:sp>
      <p:sp>
        <p:nvSpPr>
          <p:cNvPr id="8" name="任意多边形 7"/>
          <p:cNvSpPr/>
          <p:nvPr>
            <p:custDataLst>
              <p:tags r:id="rId8"/>
            </p:custDataLst>
          </p:nvPr>
        </p:nvSpPr>
        <p:spPr bwMode="auto">
          <a:xfrm>
            <a:off x="4349843" y="2646632"/>
            <a:ext cx="1968160" cy="429475"/>
          </a:xfrm>
          <a:custGeom>
            <a:avLst/>
            <a:gdLst>
              <a:gd name="T0" fmla="*/ 0 w 4258"/>
              <a:gd name="T1" fmla="*/ 752 h 929"/>
              <a:gd name="T2" fmla="*/ 177 w 4258"/>
              <a:gd name="T3" fmla="*/ 929 h 929"/>
              <a:gd name="T4" fmla="*/ 4081 w 4258"/>
              <a:gd name="T5" fmla="*/ 929 h 929"/>
              <a:gd name="T6" fmla="*/ 4258 w 4258"/>
              <a:gd name="T7" fmla="*/ 752 h 929"/>
              <a:gd name="T8" fmla="*/ 4258 w 4258"/>
              <a:gd name="T9" fmla="*/ 177 h 929"/>
              <a:gd name="T10" fmla="*/ 4081 w 4258"/>
              <a:gd name="T11" fmla="*/ 0 h 929"/>
              <a:gd name="T12" fmla="*/ 177 w 4258"/>
              <a:gd name="T13" fmla="*/ 0 h 929"/>
              <a:gd name="T14" fmla="*/ 0 w 4258"/>
              <a:gd name="T15" fmla="*/ 177 h 929"/>
              <a:gd name="T16" fmla="*/ 0 w 4258"/>
              <a:gd name="T17" fmla="*/ 752 h 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58" h="929">
                <a:moveTo>
                  <a:pt x="0" y="752"/>
                </a:moveTo>
                <a:cubicBezTo>
                  <a:pt x="0" y="849"/>
                  <a:pt x="80" y="929"/>
                  <a:pt x="177" y="929"/>
                </a:cubicBezTo>
                <a:cubicBezTo>
                  <a:pt x="4081" y="929"/>
                  <a:pt x="4081" y="929"/>
                  <a:pt x="4081" y="929"/>
                </a:cubicBezTo>
                <a:cubicBezTo>
                  <a:pt x="4179" y="929"/>
                  <a:pt x="4258" y="849"/>
                  <a:pt x="4258" y="752"/>
                </a:cubicBezTo>
                <a:cubicBezTo>
                  <a:pt x="4258" y="177"/>
                  <a:pt x="4258" y="177"/>
                  <a:pt x="4258" y="177"/>
                </a:cubicBezTo>
                <a:cubicBezTo>
                  <a:pt x="4258" y="79"/>
                  <a:pt x="4179" y="0"/>
                  <a:pt x="4081" y="0"/>
                </a:cubicBezTo>
                <a:cubicBezTo>
                  <a:pt x="177" y="0"/>
                  <a:pt x="177" y="0"/>
                  <a:pt x="177" y="0"/>
                </a:cubicBezTo>
                <a:cubicBezTo>
                  <a:pt x="80" y="0"/>
                  <a:pt x="0" y="79"/>
                  <a:pt x="0" y="177"/>
                </a:cubicBezTo>
                <a:lnTo>
                  <a:pt x="0" y="752"/>
                </a:lnTo>
                <a:close/>
              </a:path>
            </a:pathLst>
          </a:custGeom>
          <a:solidFill>
            <a:srgbClr val="2A404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9" name="任意多边形 8"/>
          <p:cNvSpPr/>
          <p:nvPr>
            <p:custDataLst>
              <p:tags r:id="rId9"/>
            </p:custDataLst>
          </p:nvPr>
        </p:nvSpPr>
        <p:spPr bwMode="auto">
          <a:xfrm>
            <a:off x="4791428" y="2685382"/>
            <a:ext cx="1484596" cy="351976"/>
          </a:xfrm>
          <a:custGeom>
            <a:avLst/>
            <a:gdLst>
              <a:gd name="T0" fmla="*/ 3066 w 3211"/>
              <a:gd name="T1" fmla="*/ 0 h 761"/>
              <a:gd name="T2" fmla="*/ 3211 w 3211"/>
              <a:gd name="T3" fmla="*/ 145 h 761"/>
              <a:gd name="T4" fmla="*/ 3211 w 3211"/>
              <a:gd name="T5" fmla="*/ 616 h 761"/>
              <a:gd name="T6" fmla="*/ 3066 w 3211"/>
              <a:gd name="T7" fmla="*/ 761 h 761"/>
              <a:gd name="T8" fmla="*/ 0 w 3211"/>
              <a:gd name="T9" fmla="*/ 761 h 761"/>
              <a:gd name="T10" fmla="*/ 0 w 3211"/>
              <a:gd name="T11" fmla="*/ 0 h 761"/>
              <a:gd name="T12" fmla="*/ 3066 w 3211"/>
              <a:gd name="T13" fmla="*/ 0 h 761"/>
            </a:gdLst>
            <a:ahLst/>
            <a:cxnLst>
              <a:cxn ang="0">
                <a:pos x="T0" y="T1"/>
              </a:cxn>
              <a:cxn ang="0">
                <a:pos x="T2" y="T3"/>
              </a:cxn>
              <a:cxn ang="0">
                <a:pos x="T4" y="T5"/>
              </a:cxn>
              <a:cxn ang="0">
                <a:pos x="T6" y="T7"/>
              </a:cxn>
              <a:cxn ang="0">
                <a:pos x="T8" y="T9"/>
              </a:cxn>
              <a:cxn ang="0">
                <a:pos x="T10" y="T11"/>
              </a:cxn>
              <a:cxn ang="0">
                <a:pos x="T12" y="T13"/>
              </a:cxn>
            </a:cxnLst>
            <a:rect l="0" t="0" r="r" b="b"/>
            <a:pathLst>
              <a:path w="3211" h="761">
                <a:moveTo>
                  <a:pt x="3066" y="0"/>
                </a:moveTo>
                <a:cubicBezTo>
                  <a:pt x="3146" y="0"/>
                  <a:pt x="3211" y="65"/>
                  <a:pt x="3211" y="145"/>
                </a:cubicBezTo>
                <a:cubicBezTo>
                  <a:pt x="3211" y="616"/>
                  <a:pt x="3211" y="616"/>
                  <a:pt x="3211" y="616"/>
                </a:cubicBezTo>
                <a:cubicBezTo>
                  <a:pt x="3211" y="696"/>
                  <a:pt x="3146" y="761"/>
                  <a:pt x="3066" y="761"/>
                </a:cubicBezTo>
                <a:cubicBezTo>
                  <a:pt x="0" y="761"/>
                  <a:pt x="0" y="761"/>
                  <a:pt x="0" y="761"/>
                </a:cubicBezTo>
                <a:cubicBezTo>
                  <a:pt x="0" y="0"/>
                  <a:pt x="0" y="0"/>
                  <a:pt x="0" y="0"/>
                </a:cubicBezTo>
                <a:lnTo>
                  <a:pt x="306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10" name="任意多边形 9"/>
          <p:cNvSpPr/>
          <p:nvPr>
            <p:custDataLst>
              <p:tags r:id="rId10"/>
            </p:custDataLst>
          </p:nvPr>
        </p:nvSpPr>
        <p:spPr bwMode="auto">
          <a:xfrm>
            <a:off x="4424113" y="2703143"/>
            <a:ext cx="332601" cy="308383"/>
          </a:xfrm>
          <a:custGeom>
            <a:avLst/>
            <a:gdLst>
              <a:gd name="T0" fmla="*/ 644 w 718"/>
              <a:gd name="T1" fmla="*/ 92 h 667"/>
              <a:gd name="T2" fmla="*/ 359 w 718"/>
              <a:gd name="T3" fmla="*/ 74 h 667"/>
              <a:gd name="T4" fmla="*/ 329 w 718"/>
              <a:gd name="T5" fmla="*/ 343 h 667"/>
              <a:gd name="T6" fmla="*/ 242 w 718"/>
              <a:gd name="T7" fmla="*/ 420 h 667"/>
              <a:gd name="T8" fmla="*/ 198 w 718"/>
              <a:gd name="T9" fmla="*/ 425 h 667"/>
              <a:gd name="T10" fmla="*/ 17 w 718"/>
              <a:gd name="T11" fmla="*/ 584 h 667"/>
              <a:gd name="T12" fmla="*/ 16 w 718"/>
              <a:gd name="T13" fmla="*/ 645 h 667"/>
              <a:gd name="T14" fmla="*/ 76 w 718"/>
              <a:gd name="T15" fmla="*/ 652 h 667"/>
              <a:gd name="T16" fmla="*/ 257 w 718"/>
              <a:gd name="T17" fmla="*/ 493 h 667"/>
              <a:gd name="T18" fmla="*/ 268 w 718"/>
              <a:gd name="T19" fmla="*/ 450 h 667"/>
              <a:gd name="T20" fmla="*/ 355 w 718"/>
              <a:gd name="T21" fmla="*/ 373 h 667"/>
              <a:gd name="T22" fmla="*/ 626 w 718"/>
              <a:gd name="T23" fmla="*/ 377 h 667"/>
              <a:gd name="T24" fmla="*/ 644 w 718"/>
              <a:gd name="T25" fmla="*/ 92 h 667"/>
              <a:gd name="T26" fmla="*/ 492 w 718"/>
              <a:gd name="T27" fmla="*/ 390 h 667"/>
              <a:gd name="T28" fmla="*/ 327 w 718"/>
              <a:gd name="T29" fmla="*/ 225 h 667"/>
              <a:gd name="T30" fmla="*/ 492 w 718"/>
              <a:gd name="T31" fmla="*/ 60 h 667"/>
              <a:gd name="T32" fmla="*/ 656 w 718"/>
              <a:gd name="T33" fmla="*/ 225 h 667"/>
              <a:gd name="T34" fmla="*/ 492 w 718"/>
              <a:gd name="T35" fmla="*/ 390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18" h="667">
                <a:moveTo>
                  <a:pt x="644" y="92"/>
                </a:moveTo>
                <a:cubicBezTo>
                  <a:pt x="571" y="9"/>
                  <a:pt x="443" y="0"/>
                  <a:pt x="359" y="74"/>
                </a:cubicBezTo>
                <a:cubicBezTo>
                  <a:pt x="281" y="143"/>
                  <a:pt x="269" y="260"/>
                  <a:pt x="329" y="343"/>
                </a:cubicBezTo>
                <a:cubicBezTo>
                  <a:pt x="242" y="420"/>
                  <a:pt x="242" y="420"/>
                  <a:pt x="242" y="420"/>
                </a:cubicBezTo>
                <a:cubicBezTo>
                  <a:pt x="227" y="413"/>
                  <a:pt x="210" y="415"/>
                  <a:pt x="198" y="425"/>
                </a:cubicBezTo>
                <a:cubicBezTo>
                  <a:pt x="17" y="584"/>
                  <a:pt x="17" y="584"/>
                  <a:pt x="17" y="584"/>
                </a:cubicBezTo>
                <a:cubicBezTo>
                  <a:pt x="0" y="599"/>
                  <a:pt x="0" y="626"/>
                  <a:pt x="16" y="645"/>
                </a:cubicBezTo>
                <a:cubicBezTo>
                  <a:pt x="32" y="663"/>
                  <a:pt x="59" y="667"/>
                  <a:pt x="76" y="652"/>
                </a:cubicBezTo>
                <a:cubicBezTo>
                  <a:pt x="257" y="493"/>
                  <a:pt x="257" y="493"/>
                  <a:pt x="257" y="493"/>
                </a:cubicBezTo>
                <a:cubicBezTo>
                  <a:pt x="269" y="482"/>
                  <a:pt x="273" y="465"/>
                  <a:pt x="268" y="450"/>
                </a:cubicBezTo>
                <a:cubicBezTo>
                  <a:pt x="355" y="373"/>
                  <a:pt x="355" y="373"/>
                  <a:pt x="355" y="373"/>
                </a:cubicBezTo>
                <a:cubicBezTo>
                  <a:pt x="430" y="443"/>
                  <a:pt x="547" y="447"/>
                  <a:pt x="626" y="377"/>
                </a:cubicBezTo>
                <a:cubicBezTo>
                  <a:pt x="710" y="304"/>
                  <a:pt x="718" y="176"/>
                  <a:pt x="644" y="92"/>
                </a:cubicBezTo>
                <a:close/>
                <a:moveTo>
                  <a:pt x="492" y="390"/>
                </a:moveTo>
                <a:cubicBezTo>
                  <a:pt x="401" y="390"/>
                  <a:pt x="327" y="316"/>
                  <a:pt x="327" y="225"/>
                </a:cubicBezTo>
                <a:cubicBezTo>
                  <a:pt x="327" y="134"/>
                  <a:pt x="401" y="60"/>
                  <a:pt x="492" y="60"/>
                </a:cubicBezTo>
                <a:cubicBezTo>
                  <a:pt x="583" y="60"/>
                  <a:pt x="656" y="134"/>
                  <a:pt x="656" y="225"/>
                </a:cubicBezTo>
                <a:cubicBezTo>
                  <a:pt x="656" y="316"/>
                  <a:pt x="583" y="390"/>
                  <a:pt x="492" y="39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11" name="椭圆 10"/>
          <p:cNvSpPr/>
          <p:nvPr>
            <p:custDataLst>
              <p:tags r:id="rId11"/>
            </p:custDataLst>
          </p:nvPr>
        </p:nvSpPr>
        <p:spPr bwMode="auto">
          <a:xfrm>
            <a:off x="5794075" y="2816162"/>
            <a:ext cx="89609" cy="90416"/>
          </a:xfrm>
          <a:prstGeom prst="ellipse">
            <a:avLst/>
          </a:prstGeom>
          <a:solidFill>
            <a:srgbClr val="2A404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12" name="椭圆 11"/>
          <p:cNvSpPr/>
          <p:nvPr>
            <p:custDataLst>
              <p:tags r:id="rId12"/>
            </p:custDataLst>
          </p:nvPr>
        </p:nvSpPr>
        <p:spPr bwMode="auto">
          <a:xfrm>
            <a:off x="5488922" y="2816162"/>
            <a:ext cx="89609" cy="90416"/>
          </a:xfrm>
          <a:prstGeom prst="ellipse">
            <a:avLst/>
          </a:prstGeom>
          <a:solidFill>
            <a:srgbClr val="2A404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13" name="椭圆 12"/>
          <p:cNvSpPr/>
          <p:nvPr>
            <p:custDataLst>
              <p:tags r:id="rId13"/>
            </p:custDataLst>
          </p:nvPr>
        </p:nvSpPr>
        <p:spPr bwMode="auto">
          <a:xfrm>
            <a:off x="5183768" y="2816162"/>
            <a:ext cx="89609" cy="90416"/>
          </a:xfrm>
          <a:prstGeom prst="ellipse">
            <a:avLst/>
          </a:prstGeom>
          <a:solidFill>
            <a:srgbClr val="2A404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14" name="任意多边形 13"/>
          <p:cNvSpPr/>
          <p:nvPr>
            <p:custDataLst>
              <p:tags r:id="rId14"/>
            </p:custDataLst>
          </p:nvPr>
        </p:nvSpPr>
        <p:spPr bwMode="auto">
          <a:xfrm>
            <a:off x="5765820" y="5451945"/>
            <a:ext cx="851686" cy="201014"/>
          </a:xfrm>
          <a:custGeom>
            <a:avLst/>
            <a:gdLst>
              <a:gd name="T0" fmla="*/ 0 w 1842"/>
              <a:gd name="T1" fmla="*/ 335 h 436"/>
              <a:gd name="T2" fmla="*/ 276 w 1842"/>
              <a:gd name="T3" fmla="*/ 0 h 436"/>
              <a:gd name="T4" fmla="*/ 1566 w 1842"/>
              <a:gd name="T5" fmla="*/ 0 h 436"/>
              <a:gd name="T6" fmla="*/ 1842 w 1842"/>
              <a:gd name="T7" fmla="*/ 335 h 436"/>
              <a:gd name="T8" fmla="*/ 1842 w 1842"/>
              <a:gd name="T9" fmla="*/ 436 h 436"/>
              <a:gd name="T10" fmla="*/ 0 w 1842"/>
              <a:gd name="T11" fmla="*/ 436 h 436"/>
              <a:gd name="T12" fmla="*/ 0 w 1842"/>
              <a:gd name="T13" fmla="*/ 335 h 436"/>
            </a:gdLst>
            <a:ahLst/>
            <a:cxnLst>
              <a:cxn ang="0">
                <a:pos x="T0" y="T1"/>
              </a:cxn>
              <a:cxn ang="0">
                <a:pos x="T2" y="T3"/>
              </a:cxn>
              <a:cxn ang="0">
                <a:pos x="T4" y="T5"/>
              </a:cxn>
              <a:cxn ang="0">
                <a:pos x="T6" y="T7"/>
              </a:cxn>
              <a:cxn ang="0">
                <a:pos x="T8" y="T9"/>
              </a:cxn>
              <a:cxn ang="0">
                <a:pos x="T10" y="T11"/>
              </a:cxn>
              <a:cxn ang="0">
                <a:pos x="T12" y="T13"/>
              </a:cxn>
            </a:cxnLst>
            <a:rect l="0" t="0" r="r" b="b"/>
            <a:pathLst>
              <a:path w="1842" h="436">
                <a:moveTo>
                  <a:pt x="0" y="335"/>
                </a:moveTo>
                <a:cubicBezTo>
                  <a:pt x="0" y="150"/>
                  <a:pt x="124" y="0"/>
                  <a:pt x="276" y="0"/>
                </a:cubicBezTo>
                <a:cubicBezTo>
                  <a:pt x="1566" y="0"/>
                  <a:pt x="1566" y="0"/>
                  <a:pt x="1566" y="0"/>
                </a:cubicBezTo>
                <a:cubicBezTo>
                  <a:pt x="1718" y="0"/>
                  <a:pt x="1842" y="150"/>
                  <a:pt x="1842" y="335"/>
                </a:cubicBezTo>
                <a:cubicBezTo>
                  <a:pt x="1842" y="436"/>
                  <a:pt x="1842" y="436"/>
                  <a:pt x="1842" y="436"/>
                </a:cubicBezTo>
                <a:cubicBezTo>
                  <a:pt x="0" y="436"/>
                  <a:pt x="0" y="436"/>
                  <a:pt x="0" y="436"/>
                </a:cubicBezTo>
                <a:lnTo>
                  <a:pt x="0" y="335"/>
                </a:lnTo>
                <a:close/>
              </a:path>
            </a:pathLst>
          </a:custGeom>
          <a:solidFill>
            <a:srgbClr val="10151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15" name="任意多边形 14"/>
          <p:cNvSpPr/>
          <p:nvPr>
            <p:custDataLst>
              <p:tags r:id="rId15"/>
            </p:custDataLst>
          </p:nvPr>
        </p:nvSpPr>
        <p:spPr bwMode="auto">
          <a:xfrm>
            <a:off x="5765820" y="5652959"/>
            <a:ext cx="851686" cy="344711"/>
          </a:xfrm>
          <a:custGeom>
            <a:avLst/>
            <a:gdLst>
              <a:gd name="T0" fmla="*/ 1842 w 1842"/>
              <a:gd name="T1" fmla="*/ 0 h 747"/>
              <a:gd name="T2" fmla="*/ 1842 w 1842"/>
              <a:gd name="T3" fmla="*/ 412 h 747"/>
              <a:gd name="T4" fmla="*/ 1566 w 1842"/>
              <a:gd name="T5" fmla="*/ 747 h 747"/>
              <a:gd name="T6" fmla="*/ 276 w 1842"/>
              <a:gd name="T7" fmla="*/ 747 h 747"/>
              <a:gd name="T8" fmla="*/ 0 w 1842"/>
              <a:gd name="T9" fmla="*/ 412 h 747"/>
              <a:gd name="T10" fmla="*/ 0 w 1842"/>
              <a:gd name="T11" fmla="*/ 0 h 747"/>
              <a:gd name="T12" fmla="*/ 1842 w 1842"/>
              <a:gd name="T13" fmla="*/ 0 h 747"/>
            </a:gdLst>
            <a:ahLst/>
            <a:cxnLst>
              <a:cxn ang="0">
                <a:pos x="T0" y="T1"/>
              </a:cxn>
              <a:cxn ang="0">
                <a:pos x="T2" y="T3"/>
              </a:cxn>
              <a:cxn ang="0">
                <a:pos x="T4" y="T5"/>
              </a:cxn>
              <a:cxn ang="0">
                <a:pos x="T6" y="T7"/>
              </a:cxn>
              <a:cxn ang="0">
                <a:pos x="T8" y="T9"/>
              </a:cxn>
              <a:cxn ang="0">
                <a:pos x="T10" y="T11"/>
              </a:cxn>
              <a:cxn ang="0">
                <a:pos x="T12" y="T13"/>
              </a:cxn>
            </a:cxnLst>
            <a:rect l="0" t="0" r="r" b="b"/>
            <a:pathLst>
              <a:path w="1842" h="747">
                <a:moveTo>
                  <a:pt x="1842" y="0"/>
                </a:moveTo>
                <a:cubicBezTo>
                  <a:pt x="1842" y="412"/>
                  <a:pt x="1842" y="412"/>
                  <a:pt x="1842" y="412"/>
                </a:cubicBezTo>
                <a:cubicBezTo>
                  <a:pt x="1842" y="597"/>
                  <a:pt x="1718" y="747"/>
                  <a:pt x="1566" y="747"/>
                </a:cubicBezTo>
                <a:cubicBezTo>
                  <a:pt x="276" y="747"/>
                  <a:pt x="276" y="747"/>
                  <a:pt x="276" y="747"/>
                </a:cubicBezTo>
                <a:cubicBezTo>
                  <a:pt x="124" y="747"/>
                  <a:pt x="0" y="597"/>
                  <a:pt x="0" y="412"/>
                </a:cubicBezTo>
                <a:cubicBezTo>
                  <a:pt x="0" y="0"/>
                  <a:pt x="0" y="0"/>
                  <a:pt x="0" y="0"/>
                </a:cubicBezTo>
                <a:lnTo>
                  <a:pt x="1842" y="0"/>
                </a:lnTo>
                <a:close/>
              </a:path>
            </a:pathLst>
          </a:custGeom>
          <a:solidFill>
            <a:srgbClr val="202C2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16" name="任意多边形 15"/>
          <p:cNvSpPr/>
          <p:nvPr>
            <p:custDataLst>
              <p:tags r:id="rId16"/>
            </p:custDataLst>
          </p:nvPr>
        </p:nvSpPr>
        <p:spPr bwMode="auto">
          <a:xfrm>
            <a:off x="4660648" y="3420010"/>
            <a:ext cx="3062031" cy="2158678"/>
          </a:xfrm>
          <a:custGeom>
            <a:avLst/>
            <a:gdLst>
              <a:gd name="T0" fmla="*/ 0 w 6624"/>
              <a:gd name="T1" fmla="*/ 4343 h 4677"/>
              <a:gd name="T2" fmla="*/ 335 w 6624"/>
              <a:gd name="T3" fmla="*/ 4677 h 4677"/>
              <a:gd name="T4" fmla="*/ 6289 w 6624"/>
              <a:gd name="T5" fmla="*/ 4677 h 4677"/>
              <a:gd name="T6" fmla="*/ 6624 w 6624"/>
              <a:gd name="T7" fmla="*/ 4343 h 4677"/>
              <a:gd name="T8" fmla="*/ 6624 w 6624"/>
              <a:gd name="T9" fmla="*/ 335 h 4677"/>
              <a:gd name="T10" fmla="*/ 6289 w 6624"/>
              <a:gd name="T11" fmla="*/ 0 h 4677"/>
              <a:gd name="T12" fmla="*/ 335 w 6624"/>
              <a:gd name="T13" fmla="*/ 0 h 4677"/>
              <a:gd name="T14" fmla="*/ 0 w 6624"/>
              <a:gd name="T15" fmla="*/ 335 h 4677"/>
              <a:gd name="T16" fmla="*/ 0 w 6624"/>
              <a:gd name="T17" fmla="*/ 4343 h 46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24" h="4677">
                <a:moveTo>
                  <a:pt x="0" y="4343"/>
                </a:moveTo>
                <a:cubicBezTo>
                  <a:pt x="0" y="4527"/>
                  <a:pt x="150" y="4677"/>
                  <a:pt x="335" y="4677"/>
                </a:cubicBezTo>
                <a:cubicBezTo>
                  <a:pt x="6289" y="4677"/>
                  <a:pt x="6289" y="4677"/>
                  <a:pt x="6289" y="4677"/>
                </a:cubicBezTo>
                <a:cubicBezTo>
                  <a:pt x="6474" y="4677"/>
                  <a:pt x="6624" y="4527"/>
                  <a:pt x="6624" y="4343"/>
                </a:cubicBezTo>
                <a:cubicBezTo>
                  <a:pt x="6624" y="335"/>
                  <a:pt x="6624" y="335"/>
                  <a:pt x="6624" y="335"/>
                </a:cubicBezTo>
                <a:cubicBezTo>
                  <a:pt x="6624" y="150"/>
                  <a:pt x="6474" y="0"/>
                  <a:pt x="6289" y="0"/>
                </a:cubicBezTo>
                <a:cubicBezTo>
                  <a:pt x="335" y="0"/>
                  <a:pt x="335" y="0"/>
                  <a:pt x="335" y="0"/>
                </a:cubicBezTo>
                <a:cubicBezTo>
                  <a:pt x="150" y="0"/>
                  <a:pt x="0" y="150"/>
                  <a:pt x="0" y="335"/>
                </a:cubicBezTo>
                <a:cubicBezTo>
                  <a:pt x="0" y="4343"/>
                  <a:pt x="0" y="4343"/>
                  <a:pt x="0" y="4343"/>
                </a:cubicBezTo>
              </a:path>
            </a:pathLst>
          </a:custGeom>
          <a:solidFill>
            <a:srgbClr val="2A404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17" name="任意多边形 16"/>
          <p:cNvSpPr/>
          <p:nvPr>
            <p:custDataLst>
              <p:tags r:id="rId17"/>
            </p:custDataLst>
          </p:nvPr>
        </p:nvSpPr>
        <p:spPr bwMode="auto">
          <a:xfrm>
            <a:off x="5362178" y="5861238"/>
            <a:ext cx="1658970" cy="272862"/>
          </a:xfrm>
          <a:custGeom>
            <a:avLst/>
            <a:gdLst>
              <a:gd name="T0" fmla="*/ 501 w 2055"/>
              <a:gd name="T1" fmla="*/ 0 h 338"/>
              <a:gd name="T2" fmla="*/ 1554 w 2055"/>
              <a:gd name="T3" fmla="*/ 0 h 338"/>
              <a:gd name="T4" fmla="*/ 2055 w 2055"/>
              <a:gd name="T5" fmla="*/ 338 h 338"/>
              <a:gd name="T6" fmla="*/ 0 w 2055"/>
              <a:gd name="T7" fmla="*/ 338 h 338"/>
              <a:gd name="T8" fmla="*/ 501 w 2055"/>
              <a:gd name="T9" fmla="*/ 0 h 338"/>
            </a:gdLst>
            <a:ahLst/>
            <a:cxnLst>
              <a:cxn ang="0">
                <a:pos x="T0" y="T1"/>
              </a:cxn>
              <a:cxn ang="0">
                <a:pos x="T2" y="T3"/>
              </a:cxn>
              <a:cxn ang="0">
                <a:pos x="T4" y="T5"/>
              </a:cxn>
              <a:cxn ang="0">
                <a:pos x="T6" y="T7"/>
              </a:cxn>
              <a:cxn ang="0">
                <a:pos x="T8" y="T9"/>
              </a:cxn>
            </a:cxnLst>
            <a:rect l="0" t="0" r="r" b="b"/>
            <a:pathLst>
              <a:path w="2055" h="338">
                <a:moveTo>
                  <a:pt x="501" y="0"/>
                </a:moveTo>
                <a:lnTo>
                  <a:pt x="1554" y="0"/>
                </a:lnTo>
                <a:lnTo>
                  <a:pt x="2055" y="338"/>
                </a:lnTo>
                <a:lnTo>
                  <a:pt x="0" y="338"/>
                </a:lnTo>
                <a:lnTo>
                  <a:pt x="501" y="0"/>
                </a:lnTo>
                <a:close/>
              </a:path>
            </a:pathLst>
          </a:custGeom>
          <a:solidFill>
            <a:srgbClr val="2A404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18" name="任意多边形 17"/>
          <p:cNvSpPr/>
          <p:nvPr>
            <p:custDataLst>
              <p:tags r:id="rId18"/>
            </p:custDataLst>
          </p:nvPr>
        </p:nvSpPr>
        <p:spPr bwMode="auto">
          <a:xfrm>
            <a:off x="4764788" y="3544332"/>
            <a:ext cx="2839220" cy="1836572"/>
          </a:xfrm>
          <a:custGeom>
            <a:avLst/>
            <a:gdLst>
              <a:gd name="T0" fmla="*/ 6116 w 6141"/>
              <a:gd name="T1" fmla="*/ 0 h 3978"/>
              <a:gd name="T2" fmla="*/ 6141 w 6141"/>
              <a:gd name="T3" fmla="*/ 25 h 3978"/>
              <a:gd name="T4" fmla="*/ 6141 w 6141"/>
              <a:gd name="T5" fmla="*/ 3953 h 3978"/>
              <a:gd name="T6" fmla="*/ 6116 w 6141"/>
              <a:gd name="T7" fmla="*/ 3978 h 3978"/>
              <a:gd name="T8" fmla="*/ 0 w 6141"/>
              <a:gd name="T9" fmla="*/ 0 h 3978"/>
              <a:gd name="T10" fmla="*/ 6116 w 6141"/>
              <a:gd name="T11" fmla="*/ 0 h 3978"/>
            </a:gdLst>
            <a:ahLst/>
            <a:cxnLst>
              <a:cxn ang="0">
                <a:pos x="T0" y="T1"/>
              </a:cxn>
              <a:cxn ang="0">
                <a:pos x="T2" y="T3"/>
              </a:cxn>
              <a:cxn ang="0">
                <a:pos x="T4" y="T5"/>
              </a:cxn>
              <a:cxn ang="0">
                <a:pos x="T6" y="T7"/>
              </a:cxn>
              <a:cxn ang="0">
                <a:pos x="T8" y="T9"/>
              </a:cxn>
              <a:cxn ang="0">
                <a:pos x="T10" y="T11"/>
              </a:cxn>
            </a:cxnLst>
            <a:rect l="0" t="0" r="r" b="b"/>
            <a:pathLst>
              <a:path w="6141" h="3978">
                <a:moveTo>
                  <a:pt x="6116" y="0"/>
                </a:moveTo>
                <a:cubicBezTo>
                  <a:pt x="6130" y="0"/>
                  <a:pt x="6141" y="11"/>
                  <a:pt x="6141" y="25"/>
                </a:cubicBezTo>
                <a:cubicBezTo>
                  <a:pt x="6141" y="3953"/>
                  <a:pt x="6141" y="3953"/>
                  <a:pt x="6141" y="3953"/>
                </a:cubicBezTo>
                <a:cubicBezTo>
                  <a:pt x="6141" y="3967"/>
                  <a:pt x="6130" y="3978"/>
                  <a:pt x="6116" y="3978"/>
                </a:cubicBezTo>
                <a:cubicBezTo>
                  <a:pt x="0" y="0"/>
                  <a:pt x="0" y="0"/>
                  <a:pt x="0" y="0"/>
                </a:cubicBezTo>
                <a:cubicBezTo>
                  <a:pt x="6116" y="0"/>
                  <a:pt x="6116" y="0"/>
                  <a:pt x="6116"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19" name="任意多边形 18"/>
          <p:cNvSpPr/>
          <p:nvPr>
            <p:custDataLst>
              <p:tags r:id="rId19"/>
            </p:custDataLst>
          </p:nvPr>
        </p:nvSpPr>
        <p:spPr bwMode="auto">
          <a:xfrm>
            <a:off x="4742184" y="3544332"/>
            <a:ext cx="2849714" cy="1836572"/>
          </a:xfrm>
          <a:custGeom>
            <a:avLst/>
            <a:gdLst>
              <a:gd name="T0" fmla="*/ 25 w 6164"/>
              <a:gd name="T1" fmla="*/ 0 h 3978"/>
              <a:gd name="T2" fmla="*/ 48 w 6164"/>
              <a:gd name="T3" fmla="*/ 0 h 3978"/>
              <a:gd name="T4" fmla="*/ 6164 w 6164"/>
              <a:gd name="T5" fmla="*/ 3978 h 3978"/>
              <a:gd name="T6" fmla="*/ 25 w 6164"/>
              <a:gd name="T7" fmla="*/ 3978 h 3978"/>
              <a:gd name="T8" fmla="*/ 0 w 6164"/>
              <a:gd name="T9" fmla="*/ 3953 h 3978"/>
              <a:gd name="T10" fmla="*/ 0 w 6164"/>
              <a:gd name="T11" fmla="*/ 25 h 3978"/>
              <a:gd name="T12" fmla="*/ 25 w 6164"/>
              <a:gd name="T13" fmla="*/ 0 h 3978"/>
            </a:gdLst>
            <a:ahLst/>
            <a:cxnLst>
              <a:cxn ang="0">
                <a:pos x="T0" y="T1"/>
              </a:cxn>
              <a:cxn ang="0">
                <a:pos x="T2" y="T3"/>
              </a:cxn>
              <a:cxn ang="0">
                <a:pos x="T4" y="T5"/>
              </a:cxn>
              <a:cxn ang="0">
                <a:pos x="T6" y="T7"/>
              </a:cxn>
              <a:cxn ang="0">
                <a:pos x="T8" y="T9"/>
              </a:cxn>
              <a:cxn ang="0">
                <a:pos x="T10" y="T11"/>
              </a:cxn>
              <a:cxn ang="0">
                <a:pos x="T12" y="T13"/>
              </a:cxn>
            </a:cxnLst>
            <a:rect l="0" t="0" r="r" b="b"/>
            <a:pathLst>
              <a:path w="6164" h="3978">
                <a:moveTo>
                  <a:pt x="25" y="0"/>
                </a:moveTo>
                <a:cubicBezTo>
                  <a:pt x="48" y="0"/>
                  <a:pt x="48" y="0"/>
                  <a:pt x="48" y="0"/>
                </a:cubicBezTo>
                <a:cubicBezTo>
                  <a:pt x="6164" y="3978"/>
                  <a:pt x="6164" y="3978"/>
                  <a:pt x="6164" y="3978"/>
                </a:cubicBezTo>
                <a:cubicBezTo>
                  <a:pt x="25" y="3978"/>
                  <a:pt x="25" y="3978"/>
                  <a:pt x="25" y="3978"/>
                </a:cubicBezTo>
                <a:cubicBezTo>
                  <a:pt x="11" y="3978"/>
                  <a:pt x="0" y="3967"/>
                  <a:pt x="0" y="3953"/>
                </a:cubicBezTo>
                <a:cubicBezTo>
                  <a:pt x="0" y="25"/>
                  <a:pt x="0" y="25"/>
                  <a:pt x="0" y="25"/>
                </a:cubicBezTo>
                <a:cubicBezTo>
                  <a:pt x="0" y="11"/>
                  <a:pt x="11" y="0"/>
                  <a:pt x="25" y="0"/>
                </a:cubicBezTo>
              </a:path>
            </a:pathLst>
          </a:custGeom>
          <a:solidFill>
            <a:srgbClr val="EAEA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20" name="任意多边形 19"/>
          <p:cNvSpPr/>
          <p:nvPr>
            <p:custDataLst>
              <p:tags r:id="rId20"/>
            </p:custDataLst>
          </p:nvPr>
        </p:nvSpPr>
        <p:spPr bwMode="auto">
          <a:xfrm>
            <a:off x="6568261" y="2921109"/>
            <a:ext cx="847649" cy="1416784"/>
          </a:xfrm>
          <a:custGeom>
            <a:avLst/>
            <a:gdLst>
              <a:gd name="T0" fmla="*/ 1040 w 1834"/>
              <a:gd name="T1" fmla="*/ 366 h 3069"/>
              <a:gd name="T2" fmla="*/ 1281 w 1834"/>
              <a:gd name="T3" fmla="*/ 1 h 3069"/>
              <a:gd name="T4" fmla="*/ 1283 w 1834"/>
              <a:gd name="T5" fmla="*/ 0 h 3069"/>
              <a:gd name="T6" fmla="*/ 1431 w 1834"/>
              <a:gd name="T7" fmla="*/ 0 h 3069"/>
              <a:gd name="T8" fmla="*/ 1834 w 1834"/>
              <a:gd name="T9" fmla="*/ 482 h 3069"/>
              <a:gd name="T10" fmla="*/ 1834 w 1834"/>
              <a:gd name="T11" fmla="*/ 482 h 3069"/>
              <a:gd name="T12" fmla="*/ 1834 w 1834"/>
              <a:gd name="T13" fmla="*/ 482 h 3069"/>
              <a:gd name="T14" fmla="*/ 1834 w 1834"/>
              <a:gd name="T15" fmla="*/ 3069 h 3069"/>
              <a:gd name="T16" fmla="*/ 40 w 1834"/>
              <a:gd name="T17" fmla="*/ 3069 h 3069"/>
              <a:gd name="T18" fmla="*/ 0 w 1834"/>
              <a:gd name="T19" fmla="*/ 213 h 3069"/>
              <a:gd name="T20" fmla="*/ 1040 w 1834"/>
              <a:gd name="T21" fmla="*/ 366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34" h="3069">
                <a:moveTo>
                  <a:pt x="1040" y="366"/>
                </a:moveTo>
                <a:cubicBezTo>
                  <a:pt x="1083" y="69"/>
                  <a:pt x="1281" y="1"/>
                  <a:pt x="1281" y="1"/>
                </a:cubicBezTo>
                <a:cubicBezTo>
                  <a:pt x="1283" y="0"/>
                  <a:pt x="1283" y="0"/>
                  <a:pt x="1283" y="0"/>
                </a:cubicBezTo>
                <a:cubicBezTo>
                  <a:pt x="1352" y="0"/>
                  <a:pt x="1403" y="0"/>
                  <a:pt x="1431" y="0"/>
                </a:cubicBezTo>
                <a:cubicBezTo>
                  <a:pt x="1767" y="0"/>
                  <a:pt x="1834" y="482"/>
                  <a:pt x="1834" y="482"/>
                </a:cubicBezTo>
                <a:cubicBezTo>
                  <a:pt x="1834" y="482"/>
                  <a:pt x="1834" y="482"/>
                  <a:pt x="1834" y="482"/>
                </a:cubicBezTo>
                <a:cubicBezTo>
                  <a:pt x="1834" y="482"/>
                  <a:pt x="1834" y="482"/>
                  <a:pt x="1834" y="482"/>
                </a:cubicBezTo>
                <a:cubicBezTo>
                  <a:pt x="1834" y="3069"/>
                  <a:pt x="1834" y="3069"/>
                  <a:pt x="1834" y="3069"/>
                </a:cubicBezTo>
                <a:cubicBezTo>
                  <a:pt x="40" y="3069"/>
                  <a:pt x="40" y="3069"/>
                  <a:pt x="40" y="3069"/>
                </a:cubicBezTo>
                <a:cubicBezTo>
                  <a:pt x="0" y="213"/>
                  <a:pt x="0" y="213"/>
                  <a:pt x="0" y="213"/>
                </a:cubicBezTo>
                <a:lnTo>
                  <a:pt x="1040" y="366"/>
                </a:lnTo>
                <a:close/>
              </a:path>
            </a:pathLst>
          </a:custGeom>
          <a:solidFill>
            <a:srgbClr val="8CB7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21" name="任意多边形 20"/>
          <p:cNvSpPr/>
          <p:nvPr>
            <p:custDataLst>
              <p:tags r:id="rId21"/>
            </p:custDataLst>
          </p:nvPr>
        </p:nvSpPr>
        <p:spPr bwMode="auto">
          <a:xfrm>
            <a:off x="5135331" y="2921109"/>
            <a:ext cx="2026285" cy="2410550"/>
          </a:xfrm>
          <a:custGeom>
            <a:avLst/>
            <a:gdLst>
              <a:gd name="T0" fmla="*/ 3185 w 4383"/>
              <a:gd name="T1" fmla="*/ 4743 h 5221"/>
              <a:gd name="T2" fmla="*/ 0 w 4383"/>
              <a:gd name="T3" fmla="*/ 4743 h 5221"/>
              <a:gd name="T4" fmla="*/ 0 w 4383"/>
              <a:gd name="T5" fmla="*/ 396 h 5221"/>
              <a:gd name="T6" fmla="*/ 401 w 4383"/>
              <a:gd name="T7" fmla="*/ 0 h 5221"/>
              <a:gd name="T8" fmla="*/ 524 w 4383"/>
              <a:gd name="T9" fmla="*/ 0 h 5221"/>
              <a:gd name="T10" fmla="*/ 4128 w 4383"/>
              <a:gd name="T11" fmla="*/ 0 h 5221"/>
              <a:gd name="T12" fmla="*/ 4128 w 4383"/>
              <a:gd name="T13" fmla="*/ 0 h 5221"/>
              <a:gd name="T14" fmla="*/ 4383 w 4383"/>
              <a:gd name="T15" fmla="*/ 0 h 5221"/>
              <a:gd name="T16" fmla="*/ 4381 w 4383"/>
              <a:gd name="T17" fmla="*/ 1 h 5221"/>
              <a:gd name="T18" fmla="*/ 4132 w 4383"/>
              <a:gd name="T19" fmla="*/ 482 h 5221"/>
              <a:gd name="T20" fmla="*/ 4126 w 4383"/>
              <a:gd name="T21" fmla="*/ 482 h 5221"/>
              <a:gd name="T22" fmla="*/ 4126 w 4383"/>
              <a:gd name="T23" fmla="*/ 577 h 5221"/>
              <a:gd name="T24" fmla="*/ 4126 w 4383"/>
              <a:gd name="T25" fmla="*/ 4822 h 5221"/>
              <a:gd name="T26" fmla="*/ 4126 w 4383"/>
              <a:gd name="T27" fmla="*/ 4825 h 5221"/>
              <a:gd name="T28" fmla="*/ 3725 w 4383"/>
              <a:gd name="T29" fmla="*/ 5221 h 5221"/>
              <a:gd name="T30" fmla="*/ 3602 w 4383"/>
              <a:gd name="T31" fmla="*/ 5221 h 5221"/>
              <a:gd name="T32" fmla="*/ 3185 w 4383"/>
              <a:gd name="T33" fmla="*/ 4743 h 5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83" h="5221">
                <a:moveTo>
                  <a:pt x="3185" y="4743"/>
                </a:moveTo>
                <a:cubicBezTo>
                  <a:pt x="0" y="4743"/>
                  <a:pt x="0" y="4743"/>
                  <a:pt x="0" y="4743"/>
                </a:cubicBezTo>
                <a:cubicBezTo>
                  <a:pt x="0" y="396"/>
                  <a:pt x="0" y="396"/>
                  <a:pt x="0" y="396"/>
                </a:cubicBezTo>
                <a:cubicBezTo>
                  <a:pt x="5" y="361"/>
                  <a:pt x="60" y="34"/>
                  <a:pt x="401" y="0"/>
                </a:cubicBezTo>
                <a:cubicBezTo>
                  <a:pt x="524" y="0"/>
                  <a:pt x="524" y="0"/>
                  <a:pt x="524" y="0"/>
                </a:cubicBezTo>
                <a:cubicBezTo>
                  <a:pt x="4128" y="0"/>
                  <a:pt x="4128" y="0"/>
                  <a:pt x="4128" y="0"/>
                </a:cubicBezTo>
                <a:cubicBezTo>
                  <a:pt x="4128" y="0"/>
                  <a:pt x="4128" y="0"/>
                  <a:pt x="4128" y="0"/>
                </a:cubicBezTo>
                <a:cubicBezTo>
                  <a:pt x="4228" y="0"/>
                  <a:pt x="4315" y="0"/>
                  <a:pt x="4383" y="0"/>
                </a:cubicBezTo>
                <a:cubicBezTo>
                  <a:pt x="4381" y="1"/>
                  <a:pt x="4381" y="1"/>
                  <a:pt x="4381" y="1"/>
                </a:cubicBezTo>
                <a:cubicBezTo>
                  <a:pt x="4381" y="1"/>
                  <a:pt x="4132" y="86"/>
                  <a:pt x="4132" y="482"/>
                </a:cubicBezTo>
                <a:cubicBezTo>
                  <a:pt x="4126" y="482"/>
                  <a:pt x="4126" y="482"/>
                  <a:pt x="4126" y="482"/>
                </a:cubicBezTo>
                <a:cubicBezTo>
                  <a:pt x="4126" y="577"/>
                  <a:pt x="4126" y="577"/>
                  <a:pt x="4126" y="577"/>
                </a:cubicBezTo>
                <a:cubicBezTo>
                  <a:pt x="4126" y="4822"/>
                  <a:pt x="4126" y="4822"/>
                  <a:pt x="4126" y="4822"/>
                </a:cubicBezTo>
                <a:cubicBezTo>
                  <a:pt x="4126" y="4822"/>
                  <a:pt x="4126" y="4823"/>
                  <a:pt x="4126" y="4825"/>
                </a:cubicBezTo>
                <a:cubicBezTo>
                  <a:pt x="4121" y="4860"/>
                  <a:pt x="4066" y="5187"/>
                  <a:pt x="3725" y="5221"/>
                </a:cubicBezTo>
                <a:cubicBezTo>
                  <a:pt x="3602" y="5221"/>
                  <a:pt x="3602" y="5221"/>
                  <a:pt x="3602" y="5221"/>
                </a:cubicBezTo>
                <a:cubicBezTo>
                  <a:pt x="3162" y="5182"/>
                  <a:pt x="3185" y="4743"/>
                  <a:pt x="3185" y="4743"/>
                </a:cubicBezTo>
              </a:path>
            </a:pathLst>
          </a:custGeom>
          <a:solidFill>
            <a:srgbClr val="A8DEE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22" name="任意多边形 21"/>
          <p:cNvSpPr/>
          <p:nvPr>
            <p:custDataLst>
              <p:tags r:id="rId22"/>
            </p:custDataLst>
          </p:nvPr>
        </p:nvSpPr>
        <p:spPr bwMode="auto">
          <a:xfrm>
            <a:off x="4764788" y="5111271"/>
            <a:ext cx="2077144" cy="231691"/>
          </a:xfrm>
          <a:custGeom>
            <a:avLst/>
            <a:gdLst>
              <a:gd name="T0" fmla="*/ 3989 w 4494"/>
              <a:gd name="T1" fmla="*/ 0 h 503"/>
              <a:gd name="T2" fmla="*/ 0 w 4494"/>
              <a:gd name="T3" fmla="*/ 0 h 503"/>
              <a:gd name="T4" fmla="*/ 403 w 4494"/>
              <a:gd name="T5" fmla="*/ 482 h 503"/>
              <a:gd name="T6" fmla="*/ 4494 w 4494"/>
              <a:gd name="T7" fmla="*/ 482 h 503"/>
              <a:gd name="T8" fmla="*/ 3989 w 4494"/>
              <a:gd name="T9" fmla="*/ 0 h 503"/>
            </a:gdLst>
            <a:ahLst/>
            <a:cxnLst>
              <a:cxn ang="0">
                <a:pos x="T0" y="T1"/>
              </a:cxn>
              <a:cxn ang="0">
                <a:pos x="T2" y="T3"/>
              </a:cxn>
              <a:cxn ang="0">
                <a:pos x="T4" y="T5"/>
              </a:cxn>
              <a:cxn ang="0">
                <a:pos x="T6" y="T7"/>
              </a:cxn>
              <a:cxn ang="0">
                <a:pos x="T8" y="T9"/>
              </a:cxn>
            </a:cxnLst>
            <a:rect l="0" t="0" r="r" b="b"/>
            <a:pathLst>
              <a:path w="4494" h="503">
                <a:moveTo>
                  <a:pt x="3989" y="0"/>
                </a:moveTo>
                <a:cubicBezTo>
                  <a:pt x="0" y="0"/>
                  <a:pt x="0" y="0"/>
                  <a:pt x="0" y="0"/>
                </a:cubicBezTo>
                <a:cubicBezTo>
                  <a:pt x="0" y="0"/>
                  <a:pt x="67" y="482"/>
                  <a:pt x="403" y="482"/>
                </a:cubicBezTo>
                <a:cubicBezTo>
                  <a:pt x="739" y="482"/>
                  <a:pt x="4494" y="482"/>
                  <a:pt x="4494" y="482"/>
                </a:cubicBezTo>
                <a:cubicBezTo>
                  <a:pt x="4494" y="482"/>
                  <a:pt x="3987" y="503"/>
                  <a:pt x="3989" y="0"/>
                </a:cubicBezTo>
                <a:close/>
              </a:path>
            </a:pathLst>
          </a:custGeom>
          <a:solidFill>
            <a:srgbClr val="8CB7B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23" name="矩形 22"/>
          <p:cNvSpPr/>
          <p:nvPr>
            <p:custDataLst>
              <p:tags r:id="rId23"/>
            </p:custDataLst>
          </p:nvPr>
        </p:nvSpPr>
        <p:spPr bwMode="auto">
          <a:xfrm>
            <a:off x="5949881" y="3159257"/>
            <a:ext cx="928377" cy="51666"/>
          </a:xfrm>
          <a:prstGeom prst="rect">
            <a:avLst/>
          </a:prstGeom>
          <a:solidFill>
            <a:srgbClr val="F1F9F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ym typeface="+mn-lt"/>
            </a:endParaRPr>
          </a:p>
        </p:txBody>
      </p:sp>
      <p:sp>
        <p:nvSpPr>
          <p:cNvPr id="24" name="矩形 23"/>
          <p:cNvSpPr/>
          <p:nvPr>
            <p:custDataLst>
              <p:tags r:id="rId24"/>
            </p:custDataLst>
          </p:nvPr>
        </p:nvSpPr>
        <p:spPr bwMode="auto">
          <a:xfrm>
            <a:off x="5783580" y="3311027"/>
            <a:ext cx="929185" cy="51666"/>
          </a:xfrm>
          <a:prstGeom prst="rect">
            <a:avLst/>
          </a:prstGeom>
          <a:solidFill>
            <a:srgbClr val="F1F9F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ym typeface="+mn-lt"/>
            </a:endParaRPr>
          </a:p>
        </p:txBody>
      </p:sp>
      <p:sp>
        <p:nvSpPr>
          <p:cNvPr id="25" name="矩形 24"/>
          <p:cNvSpPr/>
          <p:nvPr>
            <p:custDataLst>
              <p:tags r:id="rId25"/>
            </p:custDataLst>
          </p:nvPr>
        </p:nvSpPr>
        <p:spPr bwMode="auto">
          <a:xfrm>
            <a:off x="5465510" y="3311027"/>
            <a:ext cx="206665" cy="51666"/>
          </a:xfrm>
          <a:prstGeom prst="rect">
            <a:avLst/>
          </a:prstGeom>
          <a:solidFill>
            <a:srgbClr val="F1F9F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ym typeface="+mn-lt"/>
            </a:endParaRPr>
          </a:p>
        </p:txBody>
      </p:sp>
      <p:sp>
        <p:nvSpPr>
          <p:cNvPr id="26" name="矩形 25"/>
          <p:cNvSpPr/>
          <p:nvPr>
            <p:custDataLst>
              <p:tags r:id="rId26"/>
            </p:custDataLst>
          </p:nvPr>
        </p:nvSpPr>
        <p:spPr bwMode="auto">
          <a:xfrm>
            <a:off x="5637462" y="3462797"/>
            <a:ext cx="928377" cy="51666"/>
          </a:xfrm>
          <a:prstGeom prst="rect">
            <a:avLst/>
          </a:prstGeom>
          <a:solidFill>
            <a:srgbClr val="F1F9F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ym typeface="+mn-lt"/>
            </a:endParaRPr>
          </a:p>
        </p:txBody>
      </p:sp>
      <p:sp>
        <p:nvSpPr>
          <p:cNvPr id="27" name="矩形 26"/>
          <p:cNvSpPr/>
          <p:nvPr>
            <p:custDataLst>
              <p:tags r:id="rId27"/>
            </p:custDataLst>
          </p:nvPr>
        </p:nvSpPr>
        <p:spPr bwMode="auto">
          <a:xfrm>
            <a:off x="5949881" y="3614566"/>
            <a:ext cx="928377" cy="51666"/>
          </a:xfrm>
          <a:prstGeom prst="rect">
            <a:avLst/>
          </a:prstGeom>
          <a:solidFill>
            <a:srgbClr val="F1F9F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ym typeface="+mn-lt"/>
            </a:endParaRPr>
          </a:p>
        </p:txBody>
      </p:sp>
      <p:sp>
        <p:nvSpPr>
          <p:cNvPr id="28" name="矩形 27"/>
          <p:cNvSpPr/>
          <p:nvPr>
            <p:custDataLst>
              <p:tags r:id="rId28"/>
            </p:custDataLst>
          </p:nvPr>
        </p:nvSpPr>
        <p:spPr bwMode="auto">
          <a:xfrm>
            <a:off x="5561577" y="3614566"/>
            <a:ext cx="314034" cy="51666"/>
          </a:xfrm>
          <a:prstGeom prst="rect">
            <a:avLst/>
          </a:prstGeom>
          <a:solidFill>
            <a:srgbClr val="F1F9F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ym typeface="+mn-lt"/>
            </a:endParaRPr>
          </a:p>
        </p:txBody>
      </p:sp>
      <p:sp>
        <p:nvSpPr>
          <p:cNvPr id="29" name="矩形 28"/>
          <p:cNvSpPr/>
          <p:nvPr>
            <p:custDataLst>
              <p:tags r:id="rId29"/>
            </p:custDataLst>
          </p:nvPr>
        </p:nvSpPr>
        <p:spPr bwMode="auto">
          <a:xfrm>
            <a:off x="5314549" y="4363726"/>
            <a:ext cx="402028" cy="66197"/>
          </a:xfrm>
          <a:prstGeom prst="rect">
            <a:avLst/>
          </a:prstGeom>
          <a:solidFill>
            <a:srgbClr val="F1F9F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ym typeface="+mn-lt"/>
            </a:endParaRPr>
          </a:p>
        </p:txBody>
      </p:sp>
      <p:sp>
        <p:nvSpPr>
          <p:cNvPr id="30" name="矩形 29"/>
          <p:cNvSpPr/>
          <p:nvPr>
            <p:custDataLst>
              <p:tags r:id="rId30"/>
            </p:custDataLst>
          </p:nvPr>
        </p:nvSpPr>
        <p:spPr bwMode="auto">
          <a:xfrm>
            <a:off x="5314549" y="4363726"/>
            <a:ext cx="402028" cy="66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ym typeface="+mn-lt"/>
            </a:endParaRPr>
          </a:p>
        </p:txBody>
      </p:sp>
      <p:sp>
        <p:nvSpPr>
          <p:cNvPr id="31" name="矩形 30"/>
          <p:cNvSpPr/>
          <p:nvPr>
            <p:custDataLst>
              <p:tags r:id="rId31"/>
            </p:custDataLst>
          </p:nvPr>
        </p:nvSpPr>
        <p:spPr bwMode="auto">
          <a:xfrm>
            <a:off x="5324236" y="4829528"/>
            <a:ext cx="929185" cy="51666"/>
          </a:xfrm>
          <a:prstGeom prst="rect">
            <a:avLst/>
          </a:prstGeom>
          <a:solidFill>
            <a:srgbClr val="F1F9F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ym typeface="+mn-lt"/>
            </a:endParaRPr>
          </a:p>
        </p:txBody>
      </p:sp>
      <p:sp>
        <p:nvSpPr>
          <p:cNvPr id="32" name="矩形 31"/>
          <p:cNvSpPr/>
          <p:nvPr>
            <p:custDataLst>
              <p:tags r:id="rId32"/>
            </p:custDataLst>
          </p:nvPr>
        </p:nvSpPr>
        <p:spPr bwMode="auto">
          <a:xfrm>
            <a:off x="6326883" y="4829528"/>
            <a:ext cx="314034" cy="51666"/>
          </a:xfrm>
          <a:prstGeom prst="rect">
            <a:avLst/>
          </a:prstGeom>
          <a:solidFill>
            <a:srgbClr val="F1F9F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ym typeface="+mn-lt"/>
            </a:endParaRPr>
          </a:p>
        </p:txBody>
      </p:sp>
      <p:sp>
        <p:nvSpPr>
          <p:cNvPr id="33" name="矩形 32"/>
          <p:cNvSpPr/>
          <p:nvPr>
            <p:custDataLst>
              <p:tags r:id="rId33"/>
            </p:custDataLst>
          </p:nvPr>
        </p:nvSpPr>
        <p:spPr bwMode="auto">
          <a:xfrm>
            <a:off x="5949881" y="4981298"/>
            <a:ext cx="928377" cy="51666"/>
          </a:xfrm>
          <a:prstGeom prst="rect">
            <a:avLst/>
          </a:prstGeom>
          <a:solidFill>
            <a:srgbClr val="F1F9F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ym typeface="+mn-lt"/>
            </a:endParaRPr>
          </a:p>
        </p:txBody>
      </p:sp>
      <p:sp>
        <p:nvSpPr>
          <p:cNvPr id="34" name="椭圆 33"/>
          <p:cNvSpPr/>
          <p:nvPr>
            <p:custDataLst>
              <p:tags r:id="rId34"/>
            </p:custDataLst>
          </p:nvPr>
        </p:nvSpPr>
        <p:spPr bwMode="auto">
          <a:xfrm>
            <a:off x="6123447" y="5434185"/>
            <a:ext cx="113020" cy="113828"/>
          </a:xfrm>
          <a:prstGeom prst="ellipse">
            <a:avLst/>
          </a:prstGeom>
          <a:solidFill>
            <a:srgbClr val="B7B7B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35" name="椭圆 34"/>
          <p:cNvSpPr/>
          <p:nvPr>
            <p:custDataLst>
              <p:tags r:id="rId35"/>
            </p:custDataLst>
          </p:nvPr>
        </p:nvSpPr>
        <p:spPr bwMode="auto">
          <a:xfrm>
            <a:off x="7221354" y="5038615"/>
            <a:ext cx="949367" cy="948559"/>
          </a:xfrm>
          <a:prstGeom prst="ellipse">
            <a:avLst/>
          </a:prstGeom>
          <a:solidFill>
            <a:srgbClr val="2A404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36" name="任意多边形 35"/>
          <p:cNvSpPr/>
          <p:nvPr>
            <p:custDataLst>
              <p:tags r:id="rId36"/>
            </p:custDataLst>
          </p:nvPr>
        </p:nvSpPr>
        <p:spPr bwMode="auto">
          <a:xfrm>
            <a:off x="7175339" y="4993407"/>
            <a:ext cx="1041397" cy="1039782"/>
          </a:xfrm>
          <a:custGeom>
            <a:avLst/>
            <a:gdLst>
              <a:gd name="T0" fmla="*/ 1126 w 2252"/>
              <a:gd name="T1" fmla="*/ 99 h 2252"/>
              <a:gd name="T2" fmla="*/ 2153 w 2252"/>
              <a:gd name="T3" fmla="*/ 1126 h 2252"/>
              <a:gd name="T4" fmla="*/ 1126 w 2252"/>
              <a:gd name="T5" fmla="*/ 2153 h 2252"/>
              <a:gd name="T6" fmla="*/ 99 w 2252"/>
              <a:gd name="T7" fmla="*/ 1126 h 2252"/>
              <a:gd name="T8" fmla="*/ 1126 w 2252"/>
              <a:gd name="T9" fmla="*/ 99 h 2252"/>
              <a:gd name="T10" fmla="*/ 1126 w 2252"/>
              <a:gd name="T11" fmla="*/ 0 h 2252"/>
              <a:gd name="T12" fmla="*/ 688 w 2252"/>
              <a:gd name="T13" fmla="*/ 89 h 2252"/>
              <a:gd name="T14" fmla="*/ 330 w 2252"/>
              <a:gd name="T15" fmla="*/ 330 h 2252"/>
              <a:gd name="T16" fmla="*/ 89 w 2252"/>
              <a:gd name="T17" fmla="*/ 688 h 2252"/>
              <a:gd name="T18" fmla="*/ 0 w 2252"/>
              <a:gd name="T19" fmla="*/ 1126 h 2252"/>
              <a:gd name="T20" fmla="*/ 89 w 2252"/>
              <a:gd name="T21" fmla="*/ 1565 h 2252"/>
              <a:gd name="T22" fmla="*/ 330 w 2252"/>
              <a:gd name="T23" fmla="*/ 1922 h 2252"/>
              <a:gd name="T24" fmla="*/ 688 w 2252"/>
              <a:gd name="T25" fmla="*/ 2164 h 2252"/>
              <a:gd name="T26" fmla="*/ 1126 w 2252"/>
              <a:gd name="T27" fmla="*/ 2252 h 2252"/>
              <a:gd name="T28" fmla="*/ 1565 w 2252"/>
              <a:gd name="T29" fmla="*/ 2164 h 2252"/>
              <a:gd name="T30" fmla="*/ 1922 w 2252"/>
              <a:gd name="T31" fmla="*/ 1922 h 2252"/>
              <a:gd name="T32" fmla="*/ 2164 w 2252"/>
              <a:gd name="T33" fmla="*/ 1565 h 2252"/>
              <a:gd name="T34" fmla="*/ 2252 w 2252"/>
              <a:gd name="T35" fmla="*/ 1126 h 2252"/>
              <a:gd name="T36" fmla="*/ 2164 w 2252"/>
              <a:gd name="T37" fmla="*/ 688 h 2252"/>
              <a:gd name="T38" fmla="*/ 1922 w 2252"/>
              <a:gd name="T39" fmla="*/ 330 h 2252"/>
              <a:gd name="T40" fmla="*/ 1565 w 2252"/>
              <a:gd name="T41" fmla="*/ 89 h 2252"/>
              <a:gd name="T42" fmla="*/ 1126 w 2252"/>
              <a:gd name="T43" fmla="*/ 0 h 2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52" h="2252">
                <a:moveTo>
                  <a:pt x="1126" y="99"/>
                </a:moveTo>
                <a:cubicBezTo>
                  <a:pt x="1693" y="99"/>
                  <a:pt x="2153" y="559"/>
                  <a:pt x="2153" y="1126"/>
                </a:cubicBezTo>
                <a:cubicBezTo>
                  <a:pt x="2153" y="1693"/>
                  <a:pt x="1693" y="2153"/>
                  <a:pt x="1126" y="2153"/>
                </a:cubicBezTo>
                <a:cubicBezTo>
                  <a:pt x="559" y="2153"/>
                  <a:pt x="99" y="1693"/>
                  <a:pt x="99" y="1126"/>
                </a:cubicBezTo>
                <a:cubicBezTo>
                  <a:pt x="99" y="559"/>
                  <a:pt x="559" y="99"/>
                  <a:pt x="1126" y="99"/>
                </a:cubicBezTo>
                <a:moveTo>
                  <a:pt x="1126" y="0"/>
                </a:moveTo>
                <a:cubicBezTo>
                  <a:pt x="974" y="0"/>
                  <a:pt x="827" y="30"/>
                  <a:pt x="688" y="89"/>
                </a:cubicBezTo>
                <a:cubicBezTo>
                  <a:pt x="554" y="146"/>
                  <a:pt x="433" y="227"/>
                  <a:pt x="330" y="330"/>
                </a:cubicBezTo>
                <a:cubicBezTo>
                  <a:pt x="227" y="433"/>
                  <a:pt x="146" y="554"/>
                  <a:pt x="89" y="688"/>
                </a:cubicBezTo>
                <a:cubicBezTo>
                  <a:pt x="30" y="827"/>
                  <a:pt x="0" y="974"/>
                  <a:pt x="0" y="1126"/>
                </a:cubicBezTo>
                <a:cubicBezTo>
                  <a:pt x="0" y="1278"/>
                  <a:pt x="30" y="1426"/>
                  <a:pt x="89" y="1565"/>
                </a:cubicBezTo>
                <a:cubicBezTo>
                  <a:pt x="146" y="1699"/>
                  <a:pt x="227" y="1819"/>
                  <a:pt x="330" y="1922"/>
                </a:cubicBezTo>
                <a:cubicBezTo>
                  <a:pt x="433" y="2026"/>
                  <a:pt x="554" y="2107"/>
                  <a:pt x="688" y="2164"/>
                </a:cubicBezTo>
                <a:cubicBezTo>
                  <a:pt x="827" y="2222"/>
                  <a:pt x="974" y="2252"/>
                  <a:pt x="1126" y="2252"/>
                </a:cubicBezTo>
                <a:cubicBezTo>
                  <a:pt x="1278" y="2252"/>
                  <a:pt x="1426" y="2222"/>
                  <a:pt x="1565" y="2164"/>
                </a:cubicBezTo>
                <a:cubicBezTo>
                  <a:pt x="1699" y="2107"/>
                  <a:pt x="1819" y="2026"/>
                  <a:pt x="1922" y="1922"/>
                </a:cubicBezTo>
                <a:cubicBezTo>
                  <a:pt x="2026" y="1819"/>
                  <a:pt x="2107" y="1699"/>
                  <a:pt x="2164" y="1565"/>
                </a:cubicBezTo>
                <a:cubicBezTo>
                  <a:pt x="2222" y="1426"/>
                  <a:pt x="2252" y="1278"/>
                  <a:pt x="2252" y="1126"/>
                </a:cubicBezTo>
                <a:cubicBezTo>
                  <a:pt x="2252" y="974"/>
                  <a:pt x="2222" y="827"/>
                  <a:pt x="2164" y="688"/>
                </a:cubicBezTo>
                <a:cubicBezTo>
                  <a:pt x="2107" y="554"/>
                  <a:pt x="2026" y="433"/>
                  <a:pt x="1922" y="330"/>
                </a:cubicBezTo>
                <a:cubicBezTo>
                  <a:pt x="1819" y="227"/>
                  <a:pt x="1699" y="146"/>
                  <a:pt x="1565" y="89"/>
                </a:cubicBezTo>
                <a:cubicBezTo>
                  <a:pt x="1426" y="30"/>
                  <a:pt x="1278" y="0"/>
                  <a:pt x="1126" y="0"/>
                </a:cubicBezTo>
                <a:close/>
              </a:path>
            </a:pathLst>
          </a:custGeom>
          <a:solidFill>
            <a:srgbClr val="202C2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37" name="任意多边形 36"/>
          <p:cNvSpPr/>
          <p:nvPr>
            <p:custDataLst>
              <p:tags r:id="rId37"/>
            </p:custDataLst>
          </p:nvPr>
        </p:nvSpPr>
        <p:spPr bwMode="auto">
          <a:xfrm>
            <a:off x="7352941" y="5180697"/>
            <a:ext cx="630490" cy="653900"/>
          </a:xfrm>
          <a:custGeom>
            <a:avLst/>
            <a:gdLst>
              <a:gd name="T0" fmla="*/ 342 w 1364"/>
              <a:gd name="T1" fmla="*/ 1185 h 1417"/>
              <a:gd name="T2" fmla="*/ 271 w 1364"/>
              <a:gd name="T3" fmla="*/ 1063 h 1417"/>
              <a:gd name="T4" fmla="*/ 199 w 1364"/>
              <a:gd name="T5" fmla="*/ 1044 h 1417"/>
              <a:gd name="T6" fmla="*/ 0 w 1364"/>
              <a:gd name="T7" fmla="*/ 1159 h 1417"/>
              <a:gd name="T8" fmla="*/ 122 w 1364"/>
              <a:gd name="T9" fmla="*/ 946 h 1417"/>
              <a:gd name="T10" fmla="*/ 316 w 1364"/>
              <a:gd name="T11" fmla="*/ 924 h 1417"/>
              <a:gd name="T12" fmla="*/ 350 w 1364"/>
              <a:gd name="T13" fmla="*/ 900 h 1417"/>
              <a:gd name="T14" fmla="*/ 649 w 1364"/>
              <a:gd name="T15" fmla="*/ 589 h 1417"/>
              <a:gd name="T16" fmla="*/ 649 w 1364"/>
              <a:gd name="T17" fmla="*/ 589 h 1417"/>
              <a:gd name="T18" fmla="*/ 859 w 1364"/>
              <a:gd name="T19" fmla="*/ 370 h 1417"/>
              <a:gd name="T20" fmla="*/ 883 w 1364"/>
              <a:gd name="T21" fmla="*/ 331 h 1417"/>
              <a:gd name="T22" fmla="*/ 995 w 1364"/>
              <a:gd name="T23" fmla="*/ 46 h 1417"/>
              <a:gd name="T24" fmla="*/ 1240 w 1364"/>
              <a:gd name="T25" fmla="*/ 46 h 1417"/>
              <a:gd name="T26" fmla="*/ 1041 w 1364"/>
              <a:gd name="T27" fmla="*/ 161 h 1417"/>
              <a:gd name="T28" fmla="*/ 1022 w 1364"/>
              <a:gd name="T29" fmla="*/ 233 h 1417"/>
              <a:gd name="T30" fmla="*/ 1092 w 1364"/>
              <a:gd name="T31" fmla="*/ 355 h 1417"/>
              <a:gd name="T32" fmla="*/ 1165 w 1364"/>
              <a:gd name="T33" fmla="*/ 374 h 1417"/>
              <a:gd name="T34" fmla="*/ 1364 w 1364"/>
              <a:gd name="T35" fmla="*/ 258 h 1417"/>
              <a:gd name="T36" fmla="*/ 1241 w 1364"/>
              <a:gd name="T37" fmla="*/ 471 h 1417"/>
              <a:gd name="T38" fmla="*/ 1048 w 1364"/>
              <a:gd name="T39" fmla="*/ 494 h 1417"/>
              <a:gd name="T40" fmla="*/ 1013 w 1364"/>
              <a:gd name="T41" fmla="*/ 518 h 1417"/>
              <a:gd name="T42" fmla="*/ 715 w 1364"/>
              <a:gd name="T43" fmla="*/ 828 h 1417"/>
              <a:gd name="T44" fmla="*/ 715 w 1364"/>
              <a:gd name="T45" fmla="*/ 828 h 1417"/>
              <a:gd name="T46" fmla="*/ 504 w 1364"/>
              <a:gd name="T47" fmla="*/ 1048 h 1417"/>
              <a:gd name="T48" fmla="*/ 481 w 1364"/>
              <a:gd name="T49" fmla="*/ 1087 h 1417"/>
              <a:gd name="T50" fmla="*/ 369 w 1364"/>
              <a:gd name="T51" fmla="*/ 1372 h 1417"/>
              <a:gd name="T52" fmla="*/ 123 w 1364"/>
              <a:gd name="T53" fmla="*/ 1372 h 1417"/>
              <a:gd name="T54" fmla="*/ 323 w 1364"/>
              <a:gd name="T55" fmla="*/ 1257 h 1417"/>
              <a:gd name="T56" fmla="*/ 342 w 1364"/>
              <a:gd name="T57" fmla="*/ 1185 h 1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64" h="1417">
                <a:moveTo>
                  <a:pt x="342" y="1185"/>
                </a:moveTo>
                <a:cubicBezTo>
                  <a:pt x="271" y="1063"/>
                  <a:pt x="271" y="1063"/>
                  <a:pt x="271" y="1063"/>
                </a:cubicBezTo>
                <a:cubicBezTo>
                  <a:pt x="257" y="1038"/>
                  <a:pt x="224" y="1029"/>
                  <a:pt x="199" y="1044"/>
                </a:cubicBezTo>
                <a:cubicBezTo>
                  <a:pt x="0" y="1159"/>
                  <a:pt x="0" y="1159"/>
                  <a:pt x="0" y="1159"/>
                </a:cubicBezTo>
                <a:cubicBezTo>
                  <a:pt x="0" y="1075"/>
                  <a:pt x="44" y="992"/>
                  <a:pt x="122" y="946"/>
                </a:cubicBezTo>
                <a:cubicBezTo>
                  <a:pt x="183" y="911"/>
                  <a:pt x="253" y="905"/>
                  <a:pt x="316" y="924"/>
                </a:cubicBezTo>
                <a:cubicBezTo>
                  <a:pt x="328" y="918"/>
                  <a:pt x="340" y="911"/>
                  <a:pt x="350" y="900"/>
                </a:cubicBezTo>
                <a:cubicBezTo>
                  <a:pt x="649" y="589"/>
                  <a:pt x="649" y="589"/>
                  <a:pt x="649" y="589"/>
                </a:cubicBezTo>
                <a:cubicBezTo>
                  <a:pt x="649" y="589"/>
                  <a:pt x="649" y="589"/>
                  <a:pt x="649" y="589"/>
                </a:cubicBezTo>
                <a:cubicBezTo>
                  <a:pt x="859" y="370"/>
                  <a:pt x="859" y="370"/>
                  <a:pt x="859" y="370"/>
                </a:cubicBezTo>
                <a:cubicBezTo>
                  <a:pt x="871" y="359"/>
                  <a:pt x="878" y="345"/>
                  <a:pt x="883" y="331"/>
                </a:cubicBezTo>
                <a:cubicBezTo>
                  <a:pt x="850" y="224"/>
                  <a:pt x="893" y="105"/>
                  <a:pt x="995" y="46"/>
                </a:cubicBezTo>
                <a:cubicBezTo>
                  <a:pt x="1073" y="0"/>
                  <a:pt x="1167" y="3"/>
                  <a:pt x="1240" y="46"/>
                </a:cubicBezTo>
                <a:cubicBezTo>
                  <a:pt x="1041" y="161"/>
                  <a:pt x="1041" y="161"/>
                  <a:pt x="1041" y="161"/>
                </a:cubicBezTo>
                <a:cubicBezTo>
                  <a:pt x="1016" y="176"/>
                  <a:pt x="1007" y="208"/>
                  <a:pt x="1022" y="233"/>
                </a:cubicBezTo>
                <a:cubicBezTo>
                  <a:pt x="1092" y="355"/>
                  <a:pt x="1092" y="355"/>
                  <a:pt x="1092" y="355"/>
                </a:cubicBezTo>
                <a:cubicBezTo>
                  <a:pt x="1107" y="380"/>
                  <a:pt x="1139" y="389"/>
                  <a:pt x="1165" y="374"/>
                </a:cubicBezTo>
                <a:cubicBezTo>
                  <a:pt x="1364" y="258"/>
                  <a:pt x="1364" y="258"/>
                  <a:pt x="1364" y="258"/>
                </a:cubicBezTo>
                <a:cubicBezTo>
                  <a:pt x="1364" y="343"/>
                  <a:pt x="1320" y="426"/>
                  <a:pt x="1241" y="471"/>
                </a:cubicBezTo>
                <a:cubicBezTo>
                  <a:pt x="1180" y="507"/>
                  <a:pt x="1111" y="513"/>
                  <a:pt x="1048" y="494"/>
                </a:cubicBezTo>
                <a:cubicBezTo>
                  <a:pt x="1035" y="500"/>
                  <a:pt x="1023" y="507"/>
                  <a:pt x="1013" y="518"/>
                </a:cubicBezTo>
                <a:cubicBezTo>
                  <a:pt x="715" y="828"/>
                  <a:pt x="715" y="828"/>
                  <a:pt x="715" y="828"/>
                </a:cubicBezTo>
                <a:cubicBezTo>
                  <a:pt x="715" y="828"/>
                  <a:pt x="715" y="828"/>
                  <a:pt x="715" y="828"/>
                </a:cubicBezTo>
                <a:cubicBezTo>
                  <a:pt x="504" y="1048"/>
                  <a:pt x="504" y="1048"/>
                  <a:pt x="504" y="1048"/>
                </a:cubicBezTo>
                <a:cubicBezTo>
                  <a:pt x="493" y="1059"/>
                  <a:pt x="485" y="1072"/>
                  <a:pt x="481" y="1087"/>
                </a:cubicBezTo>
                <a:cubicBezTo>
                  <a:pt x="514" y="1194"/>
                  <a:pt x="470" y="1313"/>
                  <a:pt x="369" y="1372"/>
                </a:cubicBezTo>
                <a:cubicBezTo>
                  <a:pt x="290" y="1417"/>
                  <a:pt x="197" y="1414"/>
                  <a:pt x="123" y="1372"/>
                </a:cubicBezTo>
                <a:cubicBezTo>
                  <a:pt x="323" y="1257"/>
                  <a:pt x="323" y="1257"/>
                  <a:pt x="323" y="1257"/>
                </a:cubicBezTo>
                <a:cubicBezTo>
                  <a:pt x="348" y="1242"/>
                  <a:pt x="356" y="1210"/>
                  <a:pt x="342" y="1185"/>
                </a:cubicBezTo>
                <a:close/>
              </a:path>
            </a:pathLst>
          </a:custGeom>
          <a:solidFill>
            <a:srgbClr val="DFDF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38" name="任意多边形 37"/>
          <p:cNvSpPr/>
          <p:nvPr>
            <p:custDataLst>
              <p:tags r:id="rId38"/>
            </p:custDataLst>
          </p:nvPr>
        </p:nvSpPr>
        <p:spPr bwMode="auto">
          <a:xfrm>
            <a:off x="7368280" y="5177468"/>
            <a:ext cx="411715" cy="410908"/>
          </a:xfrm>
          <a:custGeom>
            <a:avLst/>
            <a:gdLst>
              <a:gd name="T0" fmla="*/ 0 w 890"/>
              <a:gd name="T1" fmla="*/ 87 h 890"/>
              <a:gd name="T2" fmla="*/ 86 w 890"/>
              <a:gd name="T3" fmla="*/ 0 h 890"/>
              <a:gd name="T4" fmla="*/ 231 w 890"/>
              <a:gd name="T5" fmla="*/ 59 h 890"/>
              <a:gd name="T6" fmla="*/ 290 w 890"/>
              <a:gd name="T7" fmla="*/ 204 h 890"/>
              <a:gd name="T8" fmla="*/ 862 w 890"/>
              <a:gd name="T9" fmla="*/ 777 h 890"/>
              <a:gd name="T10" fmla="*/ 866 w 890"/>
              <a:gd name="T11" fmla="*/ 867 h 890"/>
              <a:gd name="T12" fmla="*/ 776 w 890"/>
              <a:gd name="T13" fmla="*/ 863 h 890"/>
              <a:gd name="T14" fmla="*/ 203 w 890"/>
              <a:gd name="T15" fmla="*/ 290 h 890"/>
              <a:gd name="T16" fmla="*/ 59 w 890"/>
              <a:gd name="T17" fmla="*/ 231 h 890"/>
              <a:gd name="T18" fmla="*/ 0 w 890"/>
              <a:gd name="T19" fmla="*/ 87 h 8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0" h="890">
                <a:moveTo>
                  <a:pt x="0" y="87"/>
                </a:moveTo>
                <a:cubicBezTo>
                  <a:pt x="86" y="0"/>
                  <a:pt x="86" y="0"/>
                  <a:pt x="86" y="0"/>
                </a:cubicBezTo>
                <a:cubicBezTo>
                  <a:pt x="231" y="59"/>
                  <a:pt x="231" y="59"/>
                  <a:pt x="231" y="59"/>
                </a:cubicBezTo>
                <a:cubicBezTo>
                  <a:pt x="290" y="204"/>
                  <a:pt x="290" y="204"/>
                  <a:pt x="290" y="204"/>
                </a:cubicBezTo>
                <a:cubicBezTo>
                  <a:pt x="862" y="777"/>
                  <a:pt x="862" y="777"/>
                  <a:pt x="862" y="777"/>
                </a:cubicBezTo>
                <a:cubicBezTo>
                  <a:pt x="888" y="802"/>
                  <a:pt x="890" y="843"/>
                  <a:pt x="866" y="867"/>
                </a:cubicBezTo>
                <a:cubicBezTo>
                  <a:pt x="842" y="890"/>
                  <a:pt x="802" y="889"/>
                  <a:pt x="776" y="863"/>
                </a:cubicBezTo>
                <a:cubicBezTo>
                  <a:pt x="203" y="290"/>
                  <a:pt x="203" y="290"/>
                  <a:pt x="203" y="290"/>
                </a:cubicBezTo>
                <a:cubicBezTo>
                  <a:pt x="59" y="231"/>
                  <a:pt x="59" y="231"/>
                  <a:pt x="59" y="231"/>
                </a:cubicBezTo>
                <a:lnTo>
                  <a:pt x="0" y="87"/>
                </a:lnTo>
                <a:close/>
              </a:path>
            </a:pathLst>
          </a:custGeom>
          <a:solidFill>
            <a:srgbClr val="67666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39" name="任意多边形 38"/>
          <p:cNvSpPr/>
          <p:nvPr>
            <p:custDataLst>
              <p:tags r:id="rId39"/>
            </p:custDataLst>
          </p:nvPr>
        </p:nvSpPr>
        <p:spPr bwMode="auto">
          <a:xfrm>
            <a:off x="7700074" y="5509262"/>
            <a:ext cx="343903" cy="343903"/>
          </a:xfrm>
          <a:custGeom>
            <a:avLst/>
            <a:gdLst>
              <a:gd name="T0" fmla="*/ 488 w 745"/>
              <a:gd name="T1" fmla="*/ 704 h 746"/>
              <a:gd name="T2" fmla="*/ 623 w 745"/>
              <a:gd name="T3" fmla="*/ 710 h 746"/>
              <a:gd name="T4" fmla="*/ 709 w 745"/>
              <a:gd name="T5" fmla="*/ 624 h 746"/>
              <a:gd name="T6" fmla="*/ 703 w 745"/>
              <a:gd name="T7" fmla="*/ 489 h 746"/>
              <a:gd name="T8" fmla="*/ 257 w 745"/>
              <a:gd name="T9" fmla="*/ 42 h 746"/>
              <a:gd name="T10" fmla="*/ 121 w 745"/>
              <a:gd name="T11" fmla="*/ 36 h 746"/>
              <a:gd name="T12" fmla="*/ 35 w 745"/>
              <a:gd name="T13" fmla="*/ 122 h 746"/>
              <a:gd name="T14" fmla="*/ 41 w 745"/>
              <a:gd name="T15" fmla="*/ 257 h 746"/>
              <a:gd name="T16" fmla="*/ 488 w 745"/>
              <a:gd name="T17" fmla="*/ 704 h 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5" h="746">
                <a:moveTo>
                  <a:pt x="488" y="704"/>
                </a:moveTo>
                <a:cubicBezTo>
                  <a:pt x="527" y="743"/>
                  <a:pt x="588" y="746"/>
                  <a:pt x="623" y="710"/>
                </a:cubicBezTo>
                <a:cubicBezTo>
                  <a:pt x="709" y="624"/>
                  <a:pt x="709" y="624"/>
                  <a:pt x="709" y="624"/>
                </a:cubicBezTo>
                <a:cubicBezTo>
                  <a:pt x="745" y="588"/>
                  <a:pt x="742" y="528"/>
                  <a:pt x="703" y="489"/>
                </a:cubicBezTo>
                <a:cubicBezTo>
                  <a:pt x="257" y="42"/>
                  <a:pt x="257" y="42"/>
                  <a:pt x="257" y="42"/>
                </a:cubicBezTo>
                <a:cubicBezTo>
                  <a:pt x="218" y="3"/>
                  <a:pt x="157" y="0"/>
                  <a:pt x="121" y="36"/>
                </a:cubicBezTo>
                <a:cubicBezTo>
                  <a:pt x="35" y="122"/>
                  <a:pt x="35" y="122"/>
                  <a:pt x="35" y="122"/>
                </a:cubicBezTo>
                <a:cubicBezTo>
                  <a:pt x="0" y="158"/>
                  <a:pt x="2" y="218"/>
                  <a:pt x="41" y="257"/>
                </a:cubicBezTo>
                <a:lnTo>
                  <a:pt x="488" y="704"/>
                </a:lnTo>
                <a:close/>
              </a:path>
            </a:pathLst>
          </a:custGeom>
          <a:solidFill>
            <a:srgbClr val="F37A5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40" name="任意多边形 39"/>
          <p:cNvSpPr/>
          <p:nvPr>
            <p:custDataLst>
              <p:tags r:id="rId40"/>
            </p:custDataLst>
          </p:nvPr>
        </p:nvSpPr>
        <p:spPr bwMode="auto">
          <a:xfrm>
            <a:off x="7785646" y="5535095"/>
            <a:ext cx="232498" cy="231691"/>
          </a:xfrm>
          <a:custGeom>
            <a:avLst/>
            <a:gdLst>
              <a:gd name="T0" fmla="*/ 408 w 502"/>
              <a:gd name="T1" fmla="*/ 452 h 502"/>
              <a:gd name="T2" fmla="*/ 477 w 502"/>
              <a:gd name="T3" fmla="*/ 495 h 502"/>
              <a:gd name="T4" fmla="*/ 495 w 502"/>
              <a:gd name="T5" fmla="*/ 478 h 502"/>
              <a:gd name="T6" fmla="*/ 451 w 502"/>
              <a:gd name="T7" fmla="*/ 409 h 502"/>
              <a:gd name="T8" fmla="*/ 94 w 502"/>
              <a:gd name="T9" fmla="*/ 51 h 502"/>
              <a:gd name="T10" fmla="*/ 24 w 502"/>
              <a:gd name="T11" fmla="*/ 8 h 502"/>
              <a:gd name="T12" fmla="*/ 7 w 502"/>
              <a:gd name="T13" fmla="*/ 25 h 502"/>
              <a:gd name="T14" fmla="*/ 51 w 502"/>
              <a:gd name="T15" fmla="*/ 94 h 502"/>
              <a:gd name="T16" fmla="*/ 408 w 502"/>
              <a:gd name="T17" fmla="*/ 452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2" h="502">
                <a:moveTo>
                  <a:pt x="408" y="452"/>
                </a:moveTo>
                <a:cubicBezTo>
                  <a:pt x="439" y="483"/>
                  <a:pt x="470" y="502"/>
                  <a:pt x="477" y="495"/>
                </a:cubicBezTo>
                <a:cubicBezTo>
                  <a:pt x="495" y="478"/>
                  <a:pt x="495" y="478"/>
                  <a:pt x="495" y="478"/>
                </a:cubicBezTo>
                <a:cubicBezTo>
                  <a:pt x="502" y="471"/>
                  <a:pt x="482" y="440"/>
                  <a:pt x="451" y="409"/>
                </a:cubicBezTo>
                <a:cubicBezTo>
                  <a:pt x="94" y="51"/>
                  <a:pt x="94" y="51"/>
                  <a:pt x="94" y="51"/>
                </a:cubicBezTo>
                <a:cubicBezTo>
                  <a:pt x="63" y="20"/>
                  <a:pt x="31" y="0"/>
                  <a:pt x="24" y="8"/>
                </a:cubicBezTo>
                <a:cubicBezTo>
                  <a:pt x="7" y="25"/>
                  <a:pt x="7" y="25"/>
                  <a:pt x="7" y="25"/>
                </a:cubicBezTo>
                <a:cubicBezTo>
                  <a:pt x="0" y="32"/>
                  <a:pt x="20" y="63"/>
                  <a:pt x="51" y="94"/>
                </a:cubicBezTo>
                <a:lnTo>
                  <a:pt x="408" y="452"/>
                </a:lnTo>
                <a:close/>
              </a:path>
            </a:pathLst>
          </a:custGeom>
          <a:solidFill>
            <a:srgbClr val="F7AB9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41" name="任意多边形 40"/>
          <p:cNvSpPr/>
          <p:nvPr>
            <p:custDataLst>
              <p:tags r:id="rId41"/>
            </p:custDataLst>
          </p:nvPr>
        </p:nvSpPr>
        <p:spPr bwMode="auto">
          <a:xfrm>
            <a:off x="7725907" y="5594834"/>
            <a:ext cx="232498" cy="231691"/>
          </a:xfrm>
          <a:custGeom>
            <a:avLst/>
            <a:gdLst>
              <a:gd name="T0" fmla="*/ 408 w 502"/>
              <a:gd name="T1" fmla="*/ 451 h 501"/>
              <a:gd name="T2" fmla="*/ 477 w 502"/>
              <a:gd name="T3" fmla="*/ 494 h 501"/>
              <a:gd name="T4" fmla="*/ 495 w 502"/>
              <a:gd name="T5" fmla="*/ 477 h 501"/>
              <a:gd name="T6" fmla="*/ 451 w 502"/>
              <a:gd name="T7" fmla="*/ 408 h 501"/>
              <a:gd name="T8" fmla="*/ 94 w 502"/>
              <a:gd name="T9" fmla="*/ 50 h 501"/>
              <a:gd name="T10" fmla="*/ 24 w 502"/>
              <a:gd name="T11" fmla="*/ 7 h 501"/>
              <a:gd name="T12" fmla="*/ 7 w 502"/>
              <a:gd name="T13" fmla="*/ 24 h 501"/>
              <a:gd name="T14" fmla="*/ 50 w 502"/>
              <a:gd name="T15" fmla="*/ 93 h 501"/>
              <a:gd name="T16" fmla="*/ 408 w 502"/>
              <a:gd name="T17" fmla="*/ 451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2" h="501">
                <a:moveTo>
                  <a:pt x="408" y="451"/>
                </a:moveTo>
                <a:cubicBezTo>
                  <a:pt x="439" y="482"/>
                  <a:pt x="470" y="501"/>
                  <a:pt x="477" y="494"/>
                </a:cubicBezTo>
                <a:cubicBezTo>
                  <a:pt x="495" y="477"/>
                  <a:pt x="495" y="477"/>
                  <a:pt x="495" y="477"/>
                </a:cubicBezTo>
                <a:cubicBezTo>
                  <a:pt x="502" y="470"/>
                  <a:pt x="482" y="439"/>
                  <a:pt x="451" y="408"/>
                </a:cubicBezTo>
                <a:cubicBezTo>
                  <a:pt x="94" y="50"/>
                  <a:pt x="94" y="50"/>
                  <a:pt x="94" y="50"/>
                </a:cubicBezTo>
                <a:cubicBezTo>
                  <a:pt x="62" y="19"/>
                  <a:pt x="31" y="0"/>
                  <a:pt x="24" y="7"/>
                </a:cubicBezTo>
                <a:cubicBezTo>
                  <a:pt x="7" y="24"/>
                  <a:pt x="7" y="24"/>
                  <a:pt x="7" y="24"/>
                </a:cubicBezTo>
                <a:cubicBezTo>
                  <a:pt x="0" y="31"/>
                  <a:pt x="19" y="62"/>
                  <a:pt x="50" y="93"/>
                </a:cubicBezTo>
                <a:lnTo>
                  <a:pt x="408" y="451"/>
                </a:lnTo>
                <a:close/>
              </a:path>
            </a:pathLst>
          </a:custGeom>
          <a:solidFill>
            <a:srgbClr val="F7AB9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42" name="任意多边形 41"/>
          <p:cNvSpPr/>
          <p:nvPr>
            <p:custDataLst>
              <p:tags r:id="rId42"/>
            </p:custDataLst>
          </p:nvPr>
        </p:nvSpPr>
        <p:spPr bwMode="auto">
          <a:xfrm>
            <a:off x="7755777" y="5564965"/>
            <a:ext cx="232498" cy="231691"/>
          </a:xfrm>
          <a:custGeom>
            <a:avLst/>
            <a:gdLst>
              <a:gd name="T0" fmla="*/ 409 w 502"/>
              <a:gd name="T1" fmla="*/ 451 h 502"/>
              <a:gd name="T2" fmla="*/ 478 w 502"/>
              <a:gd name="T3" fmla="*/ 495 h 502"/>
              <a:gd name="T4" fmla="*/ 495 w 502"/>
              <a:gd name="T5" fmla="*/ 477 h 502"/>
              <a:gd name="T6" fmla="*/ 452 w 502"/>
              <a:gd name="T7" fmla="*/ 408 h 502"/>
              <a:gd name="T8" fmla="*/ 94 w 502"/>
              <a:gd name="T9" fmla="*/ 51 h 502"/>
              <a:gd name="T10" fmla="*/ 25 w 502"/>
              <a:gd name="T11" fmla="*/ 7 h 502"/>
              <a:gd name="T12" fmla="*/ 8 w 502"/>
              <a:gd name="T13" fmla="*/ 24 h 502"/>
              <a:gd name="T14" fmla="*/ 51 w 502"/>
              <a:gd name="T15" fmla="*/ 94 h 502"/>
              <a:gd name="T16" fmla="*/ 409 w 502"/>
              <a:gd name="T17" fmla="*/ 451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2" h="502">
                <a:moveTo>
                  <a:pt x="409" y="451"/>
                </a:moveTo>
                <a:cubicBezTo>
                  <a:pt x="440" y="482"/>
                  <a:pt x="471" y="502"/>
                  <a:pt x="478" y="495"/>
                </a:cubicBezTo>
                <a:cubicBezTo>
                  <a:pt x="495" y="477"/>
                  <a:pt x="495" y="477"/>
                  <a:pt x="495" y="477"/>
                </a:cubicBezTo>
                <a:cubicBezTo>
                  <a:pt x="502" y="470"/>
                  <a:pt x="483" y="439"/>
                  <a:pt x="452" y="408"/>
                </a:cubicBezTo>
                <a:cubicBezTo>
                  <a:pt x="94" y="51"/>
                  <a:pt x="94" y="51"/>
                  <a:pt x="94" y="51"/>
                </a:cubicBezTo>
                <a:cubicBezTo>
                  <a:pt x="63" y="20"/>
                  <a:pt x="32" y="0"/>
                  <a:pt x="25" y="7"/>
                </a:cubicBezTo>
                <a:cubicBezTo>
                  <a:pt x="8" y="24"/>
                  <a:pt x="8" y="24"/>
                  <a:pt x="8" y="24"/>
                </a:cubicBezTo>
                <a:cubicBezTo>
                  <a:pt x="0" y="32"/>
                  <a:pt x="20" y="63"/>
                  <a:pt x="51" y="94"/>
                </a:cubicBezTo>
                <a:lnTo>
                  <a:pt x="409" y="451"/>
                </a:lnTo>
                <a:close/>
              </a:path>
            </a:pathLst>
          </a:custGeom>
          <a:solidFill>
            <a:srgbClr val="F7AB9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43" name="任意多边形 42"/>
          <p:cNvSpPr/>
          <p:nvPr>
            <p:custDataLst>
              <p:tags r:id="rId43"/>
            </p:custDataLst>
          </p:nvPr>
        </p:nvSpPr>
        <p:spPr bwMode="auto">
          <a:xfrm>
            <a:off x="5974907" y="3766335"/>
            <a:ext cx="685385" cy="51666"/>
          </a:xfrm>
          <a:custGeom>
            <a:avLst/>
            <a:gdLst>
              <a:gd name="T0" fmla="*/ 849 w 849"/>
              <a:gd name="T1" fmla="*/ 0 h 64"/>
              <a:gd name="T2" fmla="*/ 0 w 849"/>
              <a:gd name="T3" fmla="*/ 0 h 64"/>
              <a:gd name="T4" fmla="*/ 80 w 849"/>
              <a:gd name="T5" fmla="*/ 64 h 64"/>
              <a:gd name="T6" fmla="*/ 849 w 849"/>
              <a:gd name="T7" fmla="*/ 64 h 64"/>
              <a:gd name="T8" fmla="*/ 849 w 849"/>
              <a:gd name="T9" fmla="*/ 0 h 64"/>
            </a:gdLst>
            <a:ahLst/>
            <a:cxnLst>
              <a:cxn ang="0">
                <a:pos x="T0" y="T1"/>
              </a:cxn>
              <a:cxn ang="0">
                <a:pos x="T2" y="T3"/>
              </a:cxn>
              <a:cxn ang="0">
                <a:pos x="T4" y="T5"/>
              </a:cxn>
              <a:cxn ang="0">
                <a:pos x="T6" y="T7"/>
              </a:cxn>
              <a:cxn ang="0">
                <a:pos x="T8" y="T9"/>
              </a:cxn>
            </a:cxnLst>
            <a:rect l="0" t="0" r="r" b="b"/>
            <a:pathLst>
              <a:path w="849" h="64">
                <a:moveTo>
                  <a:pt x="849" y="0"/>
                </a:moveTo>
                <a:lnTo>
                  <a:pt x="0" y="0"/>
                </a:lnTo>
                <a:lnTo>
                  <a:pt x="80" y="64"/>
                </a:lnTo>
                <a:lnTo>
                  <a:pt x="849" y="64"/>
                </a:lnTo>
                <a:lnTo>
                  <a:pt x="849" y="0"/>
                </a:lnTo>
                <a:close/>
              </a:path>
            </a:pathLst>
          </a:custGeom>
          <a:solidFill>
            <a:srgbClr val="F1F9F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44" name="任意多边形 43"/>
          <p:cNvSpPr/>
          <p:nvPr>
            <p:custDataLst>
              <p:tags r:id="rId44"/>
            </p:custDataLst>
          </p:nvPr>
        </p:nvSpPr>
        <p:spPr bwMode="auto">
          <a:xfrm>
            <a:off x="5706081" y="3767950"/>
            <a:ext cx="394762" cy="66197"/>
          </a:xfrm>
          <a:custGeom>
            <a:avLst/>
            <a:gdLst>
              <a:gd name="T0" fmla="*/ 0 w 489"/>
              <a:gd name="T1" fmla="*/ 0 h 82"/>
              <a:gd name="T2" fmla="*/ 0 w 489"/>
              <a:gd name="T3" fmla="*/ 82 h 82"/>
              <a:gd name="T4" fmla="*/ 489 w 489"/>
              <a:gd name="T5" fmla="*/ 82 h 82"/>
              <a:gd name="T6" fmla="*/ 385 w 489"/>
              <a:gd name="T7" fmla="*/ 0 h 82"/>
              <a:gd name="T8" fmla="*/ 0 w 489"/>
              <a:gd name="T9" fmla="*/ 0 h 82"/>
            </a:gdLst>
            <a:ahLst/>
            <a:cxnLst>
              <a:cxn ang="0">
                <a:pos x="T0" y="T1"/>
              </a:cxn>
              <a:cxn ang="0">
                <a:pos x="T2" y="T3"/>
              </a:cxn>
              <a:cxn ang="0">
                <a:pos x="T4" y="T5"/>
              </a:cxn>
              <a:cxn ang="0">
                <a:pos x="T6" y="T7"/>
              </a:cxn>
              <a:cxn ang="0">
                <a:pos x="T8" y="T9"/>
              </a:cxn>
            </a:cxnLst>
            <a:rect l="0" t="0" r="r" b="b"/>
            <a:pathLst>
              <a:path w="489" h="82">
                <a:moveTo>
                  <a:pt x="0" y="0"/>
                </a:moveTo>
                <a:lnTo>
                  <a:pt x="0" y="82"/>
                </a:lnTo>
                <a:lnTo>
                  <a:pt x="489" y="82"/>
                </a:lnTo>
                <a:lnTo>
                  <a:pt x="385" y="0"/>
                </a:lnTo>
                <a:lnTo>
                  <a:pt x="0" y="0"/>
                </a:lnTo>
                <a:close/>
              </a:path>
            </a:pathLst>
          </a:custGeom>
          <a:solidFill>
            <a:srgbClr val="F1F9F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45" name="任意多边形 44"/>
          <p:cNvSpPr/>
          <p:nvPr>
            <p:custDataLst>
              <p:tags r:id="rId45"/>
            </p:custDataLst>
          </p:nvPr>
        </p:nvSpPr>
        <p:spPr bwMode="auto">
          <a:xfrm>
            <a:off x="5706081" y="3767950"/>
            <a:ext cx="394762" cy="66197"/>
          </a:xfrm>
          <a:custGeom>
            <a:avLst/>
            <a:gdLst>
              <a:gd name="T0" fmla="*/ 0 w 489"/>
              <a:gd name="T1" fmla="*/ 0 h 82"/>
              <a:gd name="T2" fmla="*/ 0 w 489"/>
              <a:gd name="T3" fmla="*/ 82 h 82"/>
              <a:gd name="T4" fmla="*/ 489 w 489"/>
              <a:gd name="T5" fmla="*/ 82 h 82"/>
              <a:gd name="T6" fmla="*/ 385 w 489"/>
              <a:gd name="T7" fmla="*/ 0 h 82"/>
              <a:gd name="T8" fmla="*/ 0 w 489"/>
              <a:gd name="T9" fmla="*/ 0 h 82"/>
            </a:gdLst>
            <a:ahLst/>
            <a:cxnLst>
              <a:cxn ang="0">
                <a:pos x="T0" y="T1"/>
              </a:cxn>
              <a:cxn ang="0">
                <a:pos x="T2" y="T3"/>
              </a:cxn>
              <a:cxn ang="0">
                <a:pos x="T4" y="T5"/>
              </a:cxn>
              <a:cxn ang="0">
                <a:pos x="T6" y="T7"/>
              </a:cxn>
              <a:cxn ang="0">
                <a:pos x="T8" y="T9"/>
              </a:cxn>
            </a:cxnLst>
            <a:rect l="0" t="0" r="r" b="b"/>
            <a:pathLst>
              <a:path w="489" h="82">
                <a:moveTo>
                  <a:pt x="0" y="0"/>
                </a:moveTo>
                <a:lnTo>
                  <a:pt x="0" y="82"/>
                </a:lnTo>
                <a:lnTo>
                  <a:pt x="489" y="82"/>
                </a:lnTo>
                <a:lnTo>
                  <a:pt x="385"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46" name="任意多边形 45"/>
          <p:cNvSpPr/>
          <p:nvPr>
            <p:custDataLst>
              <p:tags r:id="rId46"/>
            </p:custDataLst>
          </p:nvPr>
        </p:nvSpPr>
        <p:spPr bwMode="auto">
          <a:xfrm>
            <a:off x="6130713" y="3918105"/>
            <a:ext cx="347940" cy="51666"/>
          </a:xfrm>
          <a:custGeom>
            <a:avLst/>
            <a:gdLst>
              <a:gd name="T0" fmla="*/ 431 w 431"/>
              <a:gd name="T1" fmla="*/ 0 h 64"/>
              <a:gd name="T2" fmla="*/ 0 w 431"/>
              <a:gd name="T3" fmla="*/ 0 h 64"/>
              <a:gd name="T4" fmla="*/ 12 w 431"/>
              <a:gd name="T5" fmla="*/ 31 h 64"/>
              <a:gd name="T6" fmla="*/ 33 w 431"/>
              <a:gd name="T7" fmla="*/ 64 h 64"/>
              <a:gd name="T8" fmla="*/ 431 w 431"/>
              <a:gd name="T9" fmla="*/ 64 h 64"/>
              <a:gd name="T10" fmla="*/ 431 w 431"/>
              <a:gd name="T11" fmla="*/ 0 h 64"/>
            </a:gdLst>
            <a:ahLst/>
            <a:cxnLst>
              <a:cxn ang="0">
                <a:pos x="T0" y="T1"/>
              </a:cxn>
              <a:cxn ang="0">
                <a:pos x="T2" y="T3"/>
              </a:cxn>
              <a:cxn ang="0">
                <a:pos x="T4" y="T5"/>
              </a:cxn>
              <a:cxn ang="0">
                <a:pos x="T6" y="T7"/>
              </a:cxn>
              <a:cxn ang="0">
                <a:pos x="T8" y="T9"/>
              </a:cxn>
              <a:cxn ang="0">
                <a:pos x="T10" y="T11"/>
              </a:cxn>
            </a:cxnLst>
            <a:rect l="0" t="0" r="r" b="b"/>
            <a:pathLst>
              <a:path w="431" h="64">
                <a:moveTo>
                  <a:pt x="431" y="0"/>
                </a:moveTo>
                <a:lnTo>
                  <a:pt x="0" y="0"/>
                </a:lnTo>
                <a:lnTo>
                  <a:pt x="12" y="31"/>
                </a:lnTo>
                <a:lnTo>
                  <a:pt x="33" y="64"/>
                </a:lnTo>
                <a:lnTo>
                  <a:pt x="431" y="64"/>
                </a:lnTo>
                <a:lnTo>
                  <a:pt x="431" y="0"/>
                </a:lnTo>
                <a:close/>
              </a:path>
            </a:pathLst>
          </a:custGeom>
          <a:solidFill>
            <a:srgbClr val="F1F9F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47" name="任意多边形 46"/>
          <p:cNvSpPr/>
          <p:nvPr>
            <p:custDataLst>
              <p:tags r:id="rId47"/>
            </p:custDataLst>
          </p:nvPr>
        </p:nvSpPr>
        <p:spPr bwMode="auto">
          <a:xfrm>
            <a:off x="5975714" y="3924563"/>
            <a:ext cx="200207" cy="66197"/>
          </a:xfrm>
          <a:custGeom>
            <a:avLst/>
            <a:gdLst>
              <a:gd name="T0" fmla="*/ 205 w 248"/>
              <a:gd name="T1" fmla="*/ 0 h 82"/>
              <a:gd name="T2" fmla="*/ 0 w 248"/>
              <a:gd name="T3" fmla="*/ 0 h 82"/>
              <a:gd name="T4" fmla="*/ 0 w 248"/>
              <a:gd name="T5" fmla="*/ 82 h 82"/>
              <a:gd name="T6" fmla="*/ 248 w 248"/>
              <a:gd name="T7" fmla="*/ 82 h 82"/>
              <a:gd name="T8" fmla="*/ 221 w 248"/>
              <a:gd name="T9" fmla="*/ 39 h 82"/>
              <a:gd name="T10" fmla="*/ 205 w 248"/>
              <a:gd name="T11" fmla="*/ 0 h 82"/>
            </a:gdLst>
            <a:ahLst/>
            <a:cxnLst>
              <a:cxn ang="0">
                <a:pos x="T0" y="T1"/>
              </a:cxn>
              <a:cxn ang="0">
                <a:pos x="T2" y="T3"/>
              </a:cxn>
              <a:cxn ang="0">
                <a:pos x="T4" y="T5"/>
              </a:cxn>
              <a:cxn ang="0">
                <a:pos x="T6" y="T7"/>
              </a:cxn>
              <a:cxn ang="0">
                <a:pos x="T8" y="T9"/>
              </a:cxn>
              <a:cxn ang="0">
                <a:pos x="T10" y="T11"/>
              </a:cxn>
            </a:cxnLst>
            <a:rect l="0" t="0" r="r" b="b"/>
            <a:pathLst>
              <a:path w="248" h="82">
                <a:moveTo>
                  <a:pt x="205" y="0"/>
                </a:moveTo>
                <a:lnTo>
                  <a:pt x="0" y="0"/>
                </a:lnTo>
                <a:lnTo>
                  <a:pt x="0" y="82"/>
                </a:lnTo>
                <a:lnTo>
                  <a:pt x="248" y="82"/>
                </a:lnTo>
                <a:lnTo>
                  <a:pt x="221" y="39"/>
                </a:lnTo>
                <a:lnTo>
                  <a:pt x="205" y="0"/>
                </a:lnTo>
                <a:close/>
              </a:path>
            </a:pathLst>
          </a:custGeom>
          <a:solidFill>
            <a:srgbClr val="F1F9F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48" name="任意多边形 47"/>
          <p:cNvSpPr/>
          <p:nvPr>
            <p:custDataLst>
              <p:tags r:id="rId48"/>
            </p:custDataLst>
          </p:nvPr>
        </p:nvSpPr>
        <p:spPr bwMode="auto">
          <a:xfrm>
            <a:off x="5975714" y="3924563"/>
            <a:ext cx="200207" cy="66197"/>
          </a:xfrm>
          <a:custGeom>
            <a:avLst/>
            <a:gdLst>
              <a:gd name="T0" fmla="*/ 205 w 248"/>
              <a:gd name="T1" fmla="*/ 0 h 82"/>
              <a:gd name="T2" fmla="*/ 0 w 248"/>
              <a:gd name="T3" fmla="*/ 0 h 82"/>
              <a:gd name="T4" fmla="*/ 0 w 248"/>
              <a:gd name="T5" fmla="*/ 82 h 82"/>
              <a:gd name="T6" fmla="*/ 248 w 248"/>
              <a:gd name="T7" fmla="*/ 82 h 82"/>
              <a:gd name="T8" fmla="*/ 221 w 248"/>
              <a:gd name="T9" fmla="*/ 39 h 82"/>
              <a:gd name="T10" fmla="*/ 205 w 248"/>
              <a:gd name="T11" fmla="*/ 0 h 82"/>
            </a:gdLst>
            <a:ahLst/>
            <a:cxnLst>
              <a:cxn ang="0">
                <a:pos x="T0" y="T1"/>
              </a:cxn>
              <a:cxn ang="0">
                <a:pos x="T2" y="T3"/>
              </a:cxn>
              <a:cxn ang="0">
                <a:pos x="T4" y="T5"/>
              </a:cxn>
              <a:cxn ang="0">
                <a:pos x="T6" y="T7"/>
              </a:cxn>
              <a:cxn ang="0">
                <a:pos x="T8" y="T9"/>
              </a:cxn>
              <a:cxn ang="0">
                <a:pos x="T10" y="T11"/>
              </a:cxn>
            </a:cxnLst>
            <a:rect l="0" t="0" r="r" b="b"/>
            <a:pathLst>
              <a:path w="248" h="82">
                <a:moveTo>
                  <a:pt x="205" y="0"/>
                </a:moveTo>
                <a:lnTo>
                  <a:pt x="0" y="0"/>
                </a:lnTo>
                <a:lnTo>
                  <a:pt x="0" y="82"/>
                </a:lnTo>
                <a:lnTo>
                  <a:pt x="248" y="82"/>
                </a:lnTo>
                <a:lnTo>
                  <a:pt x="221" y="39"/>
                </a:lnTo>
                <a:lnTo>
                  <a:pt x="20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49" name="任意多边形 48"/>
          <p:cNvSpPr/>
          <p:nvPr>
            <p:custDataLst>
              <p:tags r:id="rId49"/>
            </p:custDataLst>
          </p:nvPr>
        </p:nvSpPr>
        <p:spPr bwMode="auto">
          <a:xfrm>
            <a:off x="5673790" y="4062609"/>
            <a:ext cx="619995" cy="65390"/>
          </a:xfrm>
          <a:custGeom>
            <a:avLst/>
            <a:gdLst>
              <a:gd name="T0" fmla="*/ 0 w 768"/>
              <a:gd name="T1" fmla="*/ 0 h 81"/>
              <a:gd name="T2" fmla="*/ 0 w 768"/>
              <a:gd name="T3" fmla="*/ 81 h 81"/>
              <a:gd name="T4" fmla="*/ 768 w 768"/>
              <a:gd name="T5" fmla="*/ 81 h 81"/>
              <a:gd name="T6" fmla="*/ 756 w 768"/>
              <a:gd name="T7" fmla="*/ 0 h 81"/>
              <a:gd name="T8" fmla="*/ 0 w 768"/>
              <a:gd name="T9" fmla="*/ 0 h 81"/>
            </a:gdLst>
            <a:ahLst/>
            <a:cxnLst>
              <a:cxn ang="0">
                <a:pos x="T0" y="T1"/>
              </a:cxn>
              <a:cxn ang="0">
                <a:pos x="T2" y="T3"/>
              </a:cxn>
              <a:cxn ang="0">
                <a:pos x="T4" y="T5"/>
              </a:cxn>
              <a:cxn ang="0">
                <a:pos x="T6" y="T7"/>
              </a:cxn>
              <a:cxn ang="0">
                <a:pos x="T8" y="T9"/>
              </a:cxn>
            </a:cxnLst>
            <a:rect l="0" t="0" r="r" b="b"/>
            <a:pathLst>
              <a:path w="768" h="81">
                <a:moveTo>
                  <a:pt x="0" y="0"/>
                </a:moveTo>
                <a:lnTo>
                  <a:pt x="0" y="81"/>
                </a:lnTo>
                <a:lnTo>
                  <a:pt x="768" y="81"/>
                </a:lnTo>
                <a:lnTo>
                  <a:pt x="756" y="0"/>
                </a:lnTo>
                <a:lnTo>
                  <a:pt x="0" y="0"/>
                </a:lnTo>
                <a:close/>
              </a:path>
            </a:pathLst>
          </a:custGeom>
          <a:solidFill>
            <a:srgbClr val="F1F9F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50" name="任意多边形 49"/>
          <p:cNvSpPr/>
          <p:nvPr>
            <p:custDataLst>
              <p:tags r:id="rId50"/>
            </p:custDataLst>
          </p:nvPr>
        </p:nvSpPr>
        <p:spPr bwMode="auto">
          <a:xfrm>
            <a:off x="5673790" y="4062609"/>
            <a:ext cx="619995" cy="65390"/>
          </a:xfrm>
          <a:custGeom>
            <a:avLst/>
            <a:gdLst>
              <a:gd name="T0" fmla="*/ 0 w 768"/>
              <a:gd name="T1" fmla="*/ 0 h 81"/>
              <a:gd name="T2" fmla="*/ 0 w 768"/>
              <a:gd name="T3" fmla="*/ 81 h 81"/>
              <a:gd name="T4" fmla="*/ 768 w 768"/>
              <a:gd name="T5" fmla="*/ 81 h 81"/>
              <a:gd name="T6" fmla="*/ 756 w 768"/>
              <a:gd name="T7" fmla="*/ 0 h 81"/>
              <a:gd name="T8" fmla="*/ 0 w 768"/>
              <a:gd name="T9" fmla="*/ 0 h 81"/>
            </a:gdLst>
            <a:ahLst/>
            <a:cxnLst>
              <a:cxn ang="0">
                <a:pos x="T0" y="T1"/>
              </a:cxn>
              <a:cxn ang="0">
                <a:pos x="T2" y="T3"/>
              </a:cxn>
              <a:cxn ang="0">
                <a:pos x="T4" y="T5"/>
              </a:cxn>
              <a:cxn ang="0">
                <a:pos x="T6" y="T7"/>
              </a:cxn>
              <a:cxn ang="0">
                <a:pos x="T8" y="T9"/>
              </a:cxn>
            </a:cxnLst>
            <a:rect l="0" t="0" r="r" b="b"/>
            <a:pathLst>
              <a:path w="768" h="81">
                <a:moveTo>
                  <a:pt x="0" y="0"/>
                </a:moveTo>
                <a:lnTo>
                  <a:pt x="0" y="81"/>
                </a:lnTo>
                <a:lnTo>
                  <a:pt x="768" y="81"/>
                </a:lnTo>
                <a:lnTo>
                  <a:pt x="756"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51" name="任意多边形 50"/>
          <p:cNvSpPr/>
          <p:nvPr>
            <p:custDataLst>
              <p:tags r:id="rId51"/>
            </p:custDataLst>
          </p:nvPr>
        </p:nvSpPr>
        <p:spPr bwMode="auto">
          <a:xfrm>
            <a:off x="6211442" y="4070681"/>
            <a:ext cx="452079" cy="51666"/>
          </a:xfrm>
          <a:custGeom>
            <a:avLst/>
            <a:gdLst>
              <a:gd name="T0" fmla="*/ 560 w 560"/>
              <a:gd name="T1" fmla="*/ 0 h 64"/>
              <a:gd name="T2" fmla="*/ 0 w 560"/>
              <a:gd name="T3" fmla="*/ 0 h 64"/>
              <a:gd name="T4" fmla="*/ 9 w 560"/>
              <a:gd name="T5" fmla="*/ 64 h 64"/>
              <a:gd name="T6" fmla="*/ 560 w 560"/>
              <a:gd name="T7" fmla="*/ 64 h 64"/>
              <a:gd name="T8" fmla="*/ 560 w 560"/>
              <a:gd name="T9" fmla="*/ 0 h 64"/>
            </a:gdLst>
            <a:ahLst/>
            <a:cxnLst>
              <a:cxn ang="0">
                <a:pos x="T0" y="T1"/>
              </a:cxn>
              <a:cxn ang="0">
                <a:pos x="T2" y="T3"/>
              </a:cxn>
              <a:cxn ang="0">
                <a:pos x="T4" y="T5"/>
              </a:cxn>
              <a:cxn ang="0">
                <a:pos x="T6" y="T7"/>
              </a:cxn>
              <a:cxn ang="0">
                <a:pos x="T8" y="T9"/>
              </a:cxn>
            </a:cxnLst>
            <a:rect l="0" t="0" r="r" b="b"/>
            <a:pathLst>
              <a:path w="560" h="64">
                <a:moveTo>
                  <a:pt x="560" y="0"/>
                </a:moveTo>
                <a:lnTo>
                  <a:pt x="0" y="0"/>
                </a:lnTo>
                <a:lnTo>
                  <a:pt x="9" y="64"/>
                </a:lnTo>
                <a:lnTo>
                  <a:pt x="560" y="64"/>
                </a:lnTo>
                <a:lnTo>
                  <a:pt x="560" y="0"/>
                </a:lnTo>
                <a:close/>
              </a:path>
            </a:pathLst>
          </a:custGeom>
          <a:solidFill>
            <a:srgbClr val="F1F9F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52" name="任意多边形 51"/>
          <p:cNvSpPr/>
          <p:nvPr>
            <p:custDataLst>
              <p:tags r:id="rId52"/>
            </p:custDataLst>
          </p:nvPr>
        </p:nvSpPr>
        <p:spPr bwMode="auto">
          <a:xfrm>
            <a:off x="5948266" y="4219222"/>
            <a:ext cx="281742" cy="65390"/>
          </a:xfrm>
          <a:custGeom>
            <a:avLst/>
            <a:gdLst>
              <a:gd name="T0" fmla="*/ 0 w 349"/>
              <a:gd name="T1" fmla="*/ 0 h 81"/>
              <a:gd name="T2" fmla="*/ 0 w 349"/>
              <a:gd name="T3" fmla="*/ 81 h 81"/>
              <a:gd name="T4" fmla="*/ 349 w 349"/>
              <a:gd name="T5" fmla="*/ 81 h 81"/>
              <a:gd name="T6" fmla="*/ 346 w 349"/>
              <a:gd name="T7" fmla="*/ 0 h 81"/>
              <a:gd name="T8" fmla="*/ 0 w 349"/>
              <a:gd name="T9" fmla="*/ 0 h 81"/>
            </a:gdLst>
            <a:ahLst/>
            <a:cxnLst>
              <a:cxn ang="0">
                <a:pos x="T0" y="T1"/>
              </a:cxn>
              <a:cxn ang="0">
                <a:pos x="T2" y="T3"/>
              </a:cxn>
              <a:cxn ang="0">
                <a:pos x="T4" y="T5"/>
              </a:cxn>
              <a:cxn ang="0">
                <a:pos x="T6" y="T7"/>
              </a:cxn>
              <a:cxn ang="0">
                <a:pos x="T8" y="T9"/>
              </a:cxn>
            </a:cxnLst>
            <a:rect l="0" t="0" r="r" b="b"/>
            <a:pathLst>
              <a:path w="349" h="81">
                <a:moveTo>
                  <a:pt x="0" y="0"/>
                </a:moveTo>
                <a:lnTo>
                  <a:pt x="0" y="81"/>
                </a:lnTo>
                <a:lnTo>
                  <a:pt x="349" y="81"/>
                </a:lnTo>
                <a:lnTo>
                  <a:pt x="346" y="0"/>
                </a:lnTo>
                <a:lnTo>
                  <a:pt x="0" y="0"/>
                </a:lnTo>
                <a:close/>
              </a:path>
            </a:pathLst>
          </a:custGeom>
          <a:solidFill>
            <a:srgbClr val="F1F9F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53" name="任意多边形 52"/>
          <p:cNvSpPr/>
          <p:nvPr>
            <p:custDataLst>
              <p:tags r:id="rId53"/>
            </p:custDataLst>
          </p:nvPr>
        </p:nvSpPr>
        <p:spPr bwMode="auto">
          <a:xfrm>
            <a:off x="5948266" y="4219222"/>
            <a:ext cx="281742" cy="65390"/>
          </a:xfrm>
          <a:custGeom>
            <a:avLst/>
            <a:gdLst>
              <a:gd name="T0" fmla="*/ 0 w 349"/>
              <a:gd name="T1" fmla="*/ 0 h 81"/>
              <a:gd name="T2" fmla="*/ 0 w 349"/>
              <a:gd name="T3" fmla="*/ 81 h 81"/>
              <a:gd name="T4" fmla="*/ 349 w 349"/>
              <a:gd name="T5" fmla="*/ 81 h 81"/>
              <a:gd name="T6" fmla="*/ 346 w 349"/>
              <a:gd name="T7" fmla="*/ 0 h 81"/>
              <a:gd name="T8" fmla="*/ 0 w 349"/>
              <a:gd name="T9" fmla="*/ 0 h 81"/>
            </a:gdLst>
            <a:ahLst/>
            <a:cxnLst>
              <a:cxn ang="0">
                <a:pos x="T0" y="T1"/>
              </a:cxn>
              <a:cxn ang="0">
                <a:pos x="T2" y="T3"/>
              </a:cxn>
              <a:cxn ang="0">
                <a:pos x="T4" y="T5"/>
              </a:cxn>
              <a:cxn ang="0">
                <a:pos x="T6" y="T7"/>
              </a:cxn>
              <a:cxn ang="0">
                <a:pos x="T8" y="T9"/>
              </a:cxn>
            </a:cxnLst>
            <a:rect l="0" t="0" r="r" b="b"/>
            <a:pathLst>
              <a:path w="349" h="81">
                <a:moveTo>
                  <a:pt x="0" y="0"/>
                </a:moveTo>
                <a:lnTo>
                  <a:pt x="0" y="81"/>
                </a:lnTo>
                <a:lnTo>
                  <a:pt x="349" y="81"/>
                </a:lnTo>
                <a:lnTo>
                  <a:pt x="346"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54" name="任意多边形 53"/>
          <p:cNvSpPr/>
          <p:nvPr>
            <p:custDataLst>
              <p:tags r:id="rId54"/>
            </p:custDataLst>
          </p:nvPr>
        </p:nvSpPr>
        <p:spPr bwMode="auto">
          <a:xfrm>
            <a:off x="6227587" y="4222451"/>
            <a:ext cx="650671" cy="51666"/>
          </a:xfrm>
          <a:custGeom>
            <a:avLst/>
            <a:gdLst>
              <a:gd name="T0" fmla="*/ 806 w 806"/>
              <a:gd name="T1" fmla="*/ 0 h 64"/>
              <a:gd name="T2" fmla="*/ 0 w 806"/>
              <a:gd name="T3" fmla="*/ 0 h 64"/>
              <a:gd name="T4" fmla="*/ 1 w 806"/>
              <a:gd name="T5" fmla="*/ 64 h 64"/>
              <a:gd name="T6" fmla="*/ 806 w 806"/>
              <a:gd name="T7" fmla="*/ 64 h 64"/>
              <a:gd name="T8" fmla="*/ 806 w 806"/>
              <a:gd name="T9" fmla="*/ 0 h 64"/>
            </a:gdLst>
            <a:ahLst/>
            <a:cxnLst>
              <a:cxn ang="0">
                <a:pos x="T0" y="T1"/>
              </a:cxn>
              <a:cxn ang="0">
                <a:pos x="T2" y="T3"/>
              </a:cxn>
              <a:cxn ang="0">
                <a:pos x="T4" y="T5"/>
              </a:cxn>
              <a:cxn ang="0">
                <a:pos x="T6" y="T7"/>
              </a:cxn>
              <a:cxn ang="0">
                <a:pos x="T8" y="T9"/>
              </a:cxn>
            </a:cxnLst>
            <a:rect l="0" t="0" r="r" b="b"/>
            <a:pathLst>
              <a:path w="806" h="64">
                <a:moveTo>
                  <a:pt x="806" y="0"/>
                </a:moveTo>
                <a:lnTo>
                  <a:pt x="0" y="0"/>
                </a:lnTo>
                <a:lnTo>
                  <a:pt x="1" y="64"/>
                </a:lnTo>
                <a:lnTo>
                  <a:pt x="806" y="64"/>
                </a:lnTo>
                <a:lnTo>
                  <a:pt x="806" y="0"/>
                </a:lnTo>
                <a:close/>
              </a:path>
            </a:pathLst>
          </a:custGeom>
          <a:solidFill>
            <a:srgbClr val="F1F9F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55" name="任意多边形 54"/>
          <p:cNvSpPr/>
          <p:nvPr>
            <p:custDataLst>
              <p:tags r:id="rId55"/>
            </p:custDataLst>
          </p:nvPr>
        </p:nvSpPr>
        <p:spPr bwMode="auto">
          <a:xfrm>
            <a:off x="5811028" y="4363726"/>
            <a:ext cx="393955" cy="66197"/>
          </a:xfrm>
          <a:custGeom>
            <a:avLst/>
            <a:gdLst>
              <a:gd name="T0" fmla="*/ 0 w 488"/>
              <a:gd name="T1" fmla="*/ 82 h 82"/>
              <a:gd name="T2" fmla="*/ 469 w 488"/>
              <a:gd name="T3" fmla="*/ 82 h 82"/>
              <a:gd name="T4" fmla="*/ 481 w 488"/>
              <a:gd name="T5" fmla="*/ 51 h 82"/>
              <a:gd name="T6" fmla="*/ 488 w 488"/>
              <a:gd name="T7" fmla="*/ 0 h 82"/>
              <a:gd name="T8" fmla="*/ 0 w 488"/>
              <a:gd name="T9" fmla="*/ 0 h 82"/>
              <a:gd name="T10" fmla="*/ 0 w 488"/>
              <a:gd name="T11" fmla="*/ 82 h 82"/>
            </a:gdLst>
            <a:ahLst/>
            <a:cxnLst>
              <a:cxn ang="0">
                <a:pos x="T0" y="T1"/>
              </a:cxn>
              <a:cxn ang="0">
                <a:pos x="T2" y="T3"/>
              </a:cxn>
              <a:cxn ang="0">
                <a:pos x="T4" y="T5"/>
              </a:cxn>
              <a:cxn ang="0">
                <a:pos x="T6" y="T7"/>
              </a:cxn>
              <a:cxn ang="0">
                <a:pos x="T8" y="T9"/>
              </a:cxn>
              <a:cxn ang="0">
                <a:pos x="T10" y="T11"/>
              </a:cxn>
            </a:cxnLst>
            <a:rect l="0" t="0" r="r" b="b"/>
            <a:pathLst>
              <a:path w="488" h="82">
                <a:moveTo>
                  <a:pt x="0" y="82"/>
                </a:moveTo>
                <a:lnTo>
                  <a:pt x="469" y="82"/>
                </a:lnTo>
                <a:lnTo>
                  <a:pt x="481" y="51"/>
                </a:lnTo>
                <a:lnTo>
                  <a:pt x="488" y="0"/>
                </a:lnTo>
                <a:lnTo>
                  <a:pt x="0" y="0"/>
                </a:lnTo>
                <a:lnTo>
                  <a:pt x="0" y="82"/>
                </a:lnTo>
                <a:close/>
              </a:path>
            </a:pathLst>
          </a:custGeom>
          <a:solidFill>
            <a:srgbClr val="F1F9F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56" name="任意多边形 55"/>
          <p:cNvSpPr/>
          <p:nvPr>
            <p:custDataLst>
              <p:tags r:id="rId56"/>
            </p:custDataLst>
          </p:nvPr>
        </p:nvSpPr>
        <p:spPr bwMode="auto">
          <a:xfrm>
            <a:off x="5811028" y="4363726"/>
            <a:ext cx="393955" cy="66197"/>
          </a:xfrm>
          <a:custGeom>
            <a:avLst/>
            <a:gdLst>
              <a:gd name="T0" fmla="*/ 0 w 488"/>
              <a:gd name="T1" fmla="*/ 82 h 82"/>
              <a:gd name="T2" fmla="*/ 469 w 488"/>
              <a:gd name="T3" fmla="*/ 82 h 82"/>
              <a:gd name="T4" fmla="*/ 481 w 488"/>
              <a:gd name="T5" fmla="*/ 51 h 82"/>
              <a:gd name="T6" fmla="*/ 488 w 488"/>
              <a:gd name="T7" fmla="*/ 0 h 82"/>
              <a:gd name="T8" fmla="*/ 0 w 488"/>
              <a:gd name="T9" fmla="*/ 0 h 82"/>
              <a:gd name="T10" fmla="*/ 0 w 488"/>
              <a:gd name="T11" fmla="*/ 82 h 82"/>
            </a:gdLst>
            <a:ahLst/>
            <a:cxnLst>
              <a:cxn ang="0">
                <a:pos x="T0" y="T1"/>
              </a:cxn>
              <a:cxn ang="0">
                <a:pos x="T2" y="T3"/>
              </a:cxn>
              <a:cxn ang="0">
                <a:pos x="T4" y="T5"/>
              </a:cxn>
              <a:cxn ang="0">
                <a:pos x="T6" y="T7"/>
              </a:cxn>
              <a:cxn ang="0">
                <a:pos x="T8" y="T9"/>
              </a:cxn>
              <a:cxn ang="0">
                <a:pos x="T10" y="T11"/>
              </a:cxn>
            </a:cxnLst>
            <a:rect l="0" t="0" r="r" b="b"/>
            <a:pathLst>
              <a:path w="488" h="82">
                <a:moveTo>
                  <a:pt x="0" y="82"/>
                </a:moveTo>
                <a:lnTo>
                  <a:pt x="469" y="82"/>
                </a:lnTo>
                <a:lnTo>
                  <a:pt x="481" y="51"/>
                </a:lnTo>
                <a:lnTo>
                  <a:pt x="488" y="0"/>
                </a:lnTo>
                <a:lnTo>
                  <a:pt x="0" y="0"/>
                </a:lnTo>
                <a:lnTo>
                  <a:pt x="0" y="8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57" name="任意多边形 56"/>
          <p:cNvSpPr/>
          <p:nvPr>
            <p:custDataLst>
              <p:tags r:id="rId57"/>
            </p:custDataLst>
          </p:nvPr>
        </p:nvSpPr>
        <p:spPr bwMode="auto">
          <a:xfrm>
            <a:off x="6207405" y="4374221"/>
            <a:ext cx="554605" cy="51666"/>
          </a:xfrm>
          <a:custGeom>
            <a:avLst/>
            <a:gdLst>
              <a:gd name="T0" fmla="*/ 0 w 687"/>
              <a:gd name="T1" fmla="*/ 64 h 64"/>
              <a:gd name="T2" fmla="*/ 687 w 687"/>
              <a:gd name="T3" fmla="*/ 64 h 64"/>
              <a:gd name="T4" fmla="*/ 687 w 687"/>
              <a:gd name="T5" fmla="*/ 0 h 64"/>
              <a:gd name="T6" fmla="*/ 14 w 687"/>
              <a:gd name="T7" fmla="*/ 0 h 64"/>
              <a:gd name="T8" fmla="*/ 9 w 687"/>
              <a:gd name="T9" fmla="*/ 39 h 64"/>
              <a:gd name="T10" fmla="*/ 0 w 687"/>
              <a:gd name="T11" fmla="*/ 64 h 64"/>
            </a:gdLst>
            <a:ahLst/>
            <a:cxnLst>
              <a:cxn ang="0">
                <a:pos x="T0" y="T1"/>
              </a:cxn>
              <a:cxn ang="0">
                <a:pos x="T2" y="T3"/>
              </a:cxn>
              <a:cxn ang="0">
                <a:pos x="T4" y="T5"/>
              </a:cxn>
              <a:cxn ang="0">
                <a:pos x="T6" y="T7"/>
              </a:cxn>
              <a:cxn ang="0">
                <a:pos x="T8" y="T9"/>
              </a:cxn>
              <a:cxn ang="0">
                <a:pos x="T10" y="T11"/>
              </a:cxn>
            </a:cxnLst>
            <a:rect l="0" t="0" r="r" b="b"/>
            <a:pathLst>
              <a:path w="687" h="64">
                <a:moveTo>
                  <a:pt x="0" y="64"/>
                </a:moveTo>
                <a:lnTo>
                  <a:pt x="687" y="64"/>
                </a:lnTo>
                <a:lnTo>
                  <a:pt x="687" y="0"/>
                </a:lnTo>
                <a:lnTo>
                  <a:pt x="14" y="0"/>
                </a:lnTo>
                <a:lnTo>
                  <a:pt x="9" y="39"/>
                </a:lnTo>
                <a:lnTo>
                  <a:pt x="0" y="64"/>
                </a:lnTo>
                <a:close/>
              </a:path>
            </a:pathLst>
          </a:custGeom>
          <a:solidFill>
            <a:srgbClr val="F1F9F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58" name="任意多边形 57"/>
          <p:cNvSpPr/>
          <p:nvPr>
            <p:custDataLst>
              <p:tags r:id="rId58"/>
            </p:custDataLst>
          </p:nvPr>
        </p:nvSpPr>
        <p:spPr bwMode="auto">
          <a:xfrm>
            <a:off x="6150087" y="4525990"/>
            <a:ext cx="300310" cy="51666"/>
          </a:xfrm>
          <a:custGeom>
            <a:avLst/>
            <a:gdLst>
              <a:gd name="T0" fmla="*/ 0 w 372"/>
              <a:gd name="T1" fmla="*/ 64 h 64"/>
              <a:gd name="T2" fmla="*/ 372 w 372"/>
              <a:gd name="T3" fmla="*/ 64 h 64"/>
              <a:gd name="T4" fmla="*/ 372 w 372"/>
              <a:gd name="T5" fmla="*/ 0 h 64"/>
              <a:gd name="T6" fmla="*/ 24 w 372"/>
              <a:gd name="T7" fmla="*/ 0 h 64"/>
              <a:gd name="T8" fmla="*/ 21 w 372"/>
              <a:gd name="T9" fmla="*/ 9 h 64"/>
              <a:gd name="T10" fmla="*/ 0 w 372"/>
              <a:gd name="T11" fmla="*/ 64 h 64"/>
            </a:gdLst>
            <a:ahLst/>
            <a:cxnLst>
              <a:cxn ang="0">
                <a:pos x="T0" y="T1"/>
              </a:cxn>
              <a:cxn ang="0">
                <a:pos x="T2" y="T3"/>
              </a:cxn>
              <a:cxn ang="0">
                <a:pos x="T4" y="T5"/>
              </a:cxn>
              <a:cxn ang="0">
                <a:pos x="T6" y="T7"/>
              </a:cxn>
              <a:cxn ang="0">
                <a:pos x="T8" y="T9"/>
              </a:cxn>
              <a:cxn ang="0">
                <a:pos x="T10" y="T11"/>
              </a:cxn>
            </a:cxnLst>
            <a:rect l="0" t="0" r="r" b="b"/>
            <a:pathLst>
              <a:path w="372" h="64">
                <a:moveTo>
                  <a:pt x="0" y="64"/>
                </a:moveTo>
                <a:lnTo>
                  <a:pt x="372" y="64"/>
                </a:lnTo>
                <a:lnTo>
                  <a:pt x="372" y="0"/>
                </a:lnTo>
                <a:lnTo>
                  <a:pt x="24" y="0"/>
                </a:lnTo>
                <a:lnTo>
                  <a:pt x="21" y="9"/>
                </a:lnTo>
                <a:lnTo>
                  <a:pt x="0" y="64"/>
                </a:lnTo>
                <a:close/>
              </a:path>
            </a:pathLst>
          </a:custGeom>
          <a:solidFill>
            <a:srgbClr val="F1F9F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59" name="任意多边形 58"/>
          <p:cNvSpPr/>
          <p:nvPr>
            <p:custDataLst>
              <p:tags r:id="rId59"/>
            </p:custDataLst>
          </p:nvPr>
        </p:nvSpPr>
        <p:spPr bwMode="auto">
          <a:xfrm>
            <a:off x="5991859" y="4677759"/>
            <a:ext cx="643406" cy="51666"/>
          </a:xfrm>
          <a:custGeom>
            <a:avLst/>
            <a:gdLst>
              <a:gd name="T0" fmla="*/ 0 w 797"/>
              <a:gd name="T1" fmla="*/ 64 h 64"/>
              <a:gd name="T2" fmla="*/ 797 w 797"/>
              <a:gd name="T3" fmla="*/ 64 h 64"/>
              <a:gd name="T4" fmla="*/ 797 w 797"/>
              <a:gd name="T5" fmla="*/ 0 h 64"/>
              <a:gd name="T6" fmla="*/ 59 w 797"/>
              <a:gd name="T7" fmla="*/ 0 h 64"/>
              <a:gd name="T8" fmla="*/ 48 w 797"/>
              <a:gd name="T9" fmla="*/ 8 h 64"/>
              <a:gd name="T10" fmla="*/ 0 w 797"/>
              <a:gd name="T11" fmla="*/ 64 h 64"/>
            </a:gdLst>
            <a:ahLst/>
            <a:cxnLst>
              <a:cxn ang="0">
                <a:pos x="T0" y="T1"/>
              </a:cxn>
              <a:cxn ang="0">
                <a:pos x="T2" y="T3"/>
              </a:cxn>
              <a:cxn ang="0">
                <a:pos x="T4" y="T5"/>
              </a:cxn>
              <a:cxn ang="0">
                <a:pos x="T6" y="T7"/>
              </a:cxn>
              <a:cxn ang="0">
                <a:pos x="T8" y="T9"/>
              </a:cxn>
              <a:cxn ang="0">
                <a:pos x="T10" y="T11"/>
              </a:cxn>
            </a:cxnLst>
            <a:rect l="0" t="0" r="r" b="b"/>
            <a:pathLst>
              <a:path w="797" h="64">
                <a:moveTo>
                  <a:pt x="0" y="64"/>
                </a:moveTo>
                <a:lnTo>
                  <a:pt x="797" y="64"/>
                </a:lnTo>
                <a:lnTo>
                  <a:pt x="797" y="0"/>
                </a:lnTo>
                <a:lnTo>
                  <a:pt x="59" y="0"/>
                </a:lnTo>
                <a:lnTo>
                  <a:pt x="48" y="8"/>
                </a:lnTo>
                <a:lnTo>
                  <a:pt x="0" y="64"/>
                </a:lnTo>
                <a:close/>
              </a:path>
            </a:pathLst>
          </a:custGeom>
          <a:solidFill>
            <a:srgbClr val="F1F9F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60" name="任意多边形 59"/>
          <p:cNvSpPr/>
          <p:nvPr>
            <p:custDataLst>
              <p:tags r:id="rId60"/>
            </p:custDataLst>
          </p:nvPr>
        </p:nvSpPr>
        <p:spPr bwMode="auto">
          <a:xfrm>
            <a:off x="5866731" y="4521954"/>
            <a:ext cx="280935" cy="66197"/>
          </a:xfrm>
          <a:custGeom>
            <a:avLst/>
            <a:gdLst>
              <a:gd name="T0" fmla="*/ 0 w 348"/>
              <a:gd name="T1" fmla="*/ 0 h 82"/>
              <a:gd name="T2" fmla="*/ 0 w 348"/>
              <a:gd name="T3" fmla="*/ 82 h 82"/>
              <a:gd name="T4" fmla="*/ 348 w 348"/>
              <a:gd name="T5" fmla="*/ 82 h 82"/>
              <a:gd name="T6" fmla="*/ 345 w 348"/>
              <a:gd name="T7" fmla="*/ 0 h 82"/>
              <a:gd name="T8" fmla="*/ 0 w 348"/>
              <a:gd name="T9" fmla="*/ 0 h 82"/>
            </a:gdLst>
            <a:ahLst/>
            <a:cxnLst>
              <a:cxn ang="0">
                <a:pos x="T0" y="T1"/>
              </a:cxn>
              <a:cxn ang="0">
                <a:pos x="T2" y="T3"/>
              </a:cxn>
              <a:cxn ang="0">
                <a:pos x="T4" y="T5"/>
              </a:cxn>
              <a:cxn ang="0">
                <a:pos x="T6" y="T7"/>
              </a:cxn>
              <a:cxn ang="0">
                <a:pos x="T8" y="T9"/>
              </a:cxn>
            </a:cxnLst>
            <a:rect l="0" t="0" r="r" b="b"/>
            <a:pathLst>
              <a:path w="348" h="82">
                <a:moveTo>
                  <a:pt x="0" y="0"/>
                </a:moveTo>
                <a:lnTo>
                  <a:pt x="0" y="82"/>
                </a:lnTo>
                <a:lnTo>
                  <a:pt x="348" y="82"/>
                </a:lnTo>
                <a:lnTo>
                  <a:pt x="345" y="0"/>
                </a:lnTo>
                <a:lnTo>
                  <a:pt x="0" y="0"/>
                </a:lnTo>
                <a:close/>
              </a:path>
            </a:pathLst>
          </a:custGeom>
          <a:solidFill>
            <a:srgbClr val="F1F9F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61" name="任意多边形 60"/>
          <p:cNvSpPr/>
          <p:nvPr>
            <p:custDataLst>
              <p:tags r:id="rId61"/>
            </p:custDataLst>
          </p:nvPr>
        </p:nvSpPr>
        <p:spPr bwMode="auto">
          <a:xfrm>
            <a:off x="5866731" y="4521954"/>
            <a:ext cx="280935" cy="66197"/>
          </a:xfrm>
          <a:custGeom>
            <a:avLst/>
            <a:gdLst>
              <a:gd name="T0" fmla="*/ 0 w 348"/>
              <a:gd name="T1" fmla="*/ 0 h 82"/>
              <a:gd name="T2" fmla="*/ 0 w 348"/>
              <a:gd name="T3" fmla="*/ 82 h 82"/>
              <a:gd name="T4" fmla="*/ 348 w 348"/>
              <a:gd name="T5" fmla="*/ 82 h 82"/>
              <a:gd name="T6" fmla="*/ 345 w 348"/>
              <a:gd name="T7" fmla="*/ 0 h 82"/>
              <a:gd name="T8" fmla="*/ 0 w 348"/>
              <a:gd name="T9" fmla="*/ 0 h 82"/>
            </a:gdLst>
            <a:ahLst/>
            <a:cxnLst>
              <a:cxn ang="0">
                <a:pos x="T0" y="T1"/>
              </a:cxn>
              <a:cxn ang="0">
                <a:pos x="T2" y="T3"/>
              </a:cxn>
              <a:cxn ang="0">
                <a:pos x="T4" y="T5"/>
              </a:cxn>
              <a:cxn ang="0">
                <a:pos x="T6" y="T7"/>
              </a:cxn>
              <a:cxn ang="0">
                <a:pos x="T8" y="T9"/>
              </a:cxn>
            </a:cxnLst>
            <a:rect l="0" t="0" r="r" b="b"/>
            <a:pathLst>
              <a:path w="348" h="82">
                <a:moveTo>
                  <a:pt x="0" y="0"/>
                </a:moveTo>
                <a:lnTo>
                  <a:pt x="0" y="82"/>
                </a:lnTo>
                <a:lnTo>
                  <a:pt x="348" y="82"/>
                </a:lnTo>
                <a:lnTo>
                  <a:pt x="345"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62" name="任意多边形 61"/>
          <p:cNvSpPr/>
          <p:nvPr>
            <p:custDataLst>
              <p:tags r:id="rId62"/>
            </p:custDataLst>
          </p:nvPr>
        </p:nvSpPr>
        <p:spPr bwMode="auto">
          <a:xfrm>
            <a:off x="4794657" y="4485626"/>
            <a:ext cx="370544" cy="289816"/>
          </a:xfrm>
          <a:custGeom>
            <a:avLst/>
            <a:gdLst>
              <a:gd name="T0" fmla="*/ 76 w 459"/>
              <a:gd name="T1" fmla="*/ 359 h 359"/>
              <a:gd name="T2" fmla="*/ 0 w 459"/>
              <a:gd name="T3" fmla="*/ 235 h 359"/>
              <a:gd name="T4" fmla="*/ 383 w 459"/>
              <a:gd name="T5" fmla="*/ 0 h 359"/>
              <a:gd name="T6" fmla="*/ 459 w 459"/>
              <a:gd name="T7" fmla="*/ 124 h 359"/>
              <a:gd name="T8" fmla="*/ 76 w 459"/>
              <a:gd name="T9" fmla="*/ 359 h 359"/>
            </a:gdLst>
            <a:ahLst/>
            <a:cxnLst>
              <a:cxn ang="0">
                <a:pos x="T0" y="T1"/>
              </a:cxn>
              <a:cxn ang="0">
                <a:pos x="T2" y="T3"/>
              </a:cxn>
              <a:cxn ang="0">
                <a:pos x="T4" y="T5"/>
              </a:cxn>
              <a:cxn ang="0">
                <a:pos x="T6" y="T7"/>
              </a:cxn>
              <a:cxn ang="0">
                <a:pos x="T8" y="T9"/>
              </a:cxn>
            </a:cxnLst>
            <a:rect l="0" t="0" r="r" b="b"/>
            <a:pathLst>
              <a:path w="459" h="359">
                <a:moveTo>
                  <a:pt x="76" y="359"/>
                </a:moveTo>
                <a:lnTo>
                  <a:pt x="0" y="235"/>
                </a:lnTo>
                <a:lnTo>
                  <a:pt x="383" y="0"/>
                </a:lnTo>
                <a:lnTo>
                  <a:pt x="459" y="124"/>
                </a:lnTo>
                <a:lnTo>
                  <a:pt x="76" y="359"/>
                </a:lnTo>
                <a:close/>
              </a:path>
            </a:pathLst>
          </a:custGeom>
          <a:solidFill>
            <a:srgbClr val="43686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63" name="任意多边形 62"/>
          <p:cNvSpPr/>
          <p:nvPr>
            <p:custDataLst>
              <p:tags r:id="rId63"/>
            </p:custDataLst>
          </p:nvPr>
        </p:nvSpPr>
        <p:spPr bwMode="auto">
          <a:xfrm>
            <a:off x="4879422" y="3503161"/>
            <a:ext cx="1503972" cy="1502356"/>
          </a:xfrm>
          <a:custGeom>
            <a:avLst/>
            <a:gdLst>
              <a:gd name="T0" fmla="*/ 2838 w 3254"/>
              <a:gd name="T1" fmla="*/ 875 h 3254"/>
              <a:gd name="T2" fmla="*/ 875 w 3254"/>
              <a:gd name="T3" fmla="*/ 416 h 3254"/>
              <a:gd name="T4" fmla="*/ 415 w 3254"/>
              <a:gd name="T5" fmla="*/ 2379 h 3254"/>
              <a:gd name="T6" fmla="*/ 2379 w 3254"/>
              <a:gd name="T7" fmla="*/ 2839 h 3254"/>
              <a:gd name="T8" fmla="*/ 2838 w 3254"/>
              <a:gd name="T9" fmla="*/ 875 h 3254"/>
              <a:gd name="T10" fmla="*/ 2250 w 3254"/>
              <a:gd name="T11" fmla="*/ 2631 h 3254"/>
              <a:gd name="T12" fmla="*/ 623 w 3254"/>
              <a:gd name="T13" fmla="*/ 2250 h 3254"/>
              <a:gd name="T14" fmla="*/ 1004 w 3254"/>
              <a:gd name="T15" fmla="*/ 623 h 3254"/>
              <a:gd name="T16" fmla="*/ 2630 w 3254"/>
              <a:gd name="T17" fmla="*/ 1004 h 3254"/>
              <a:gd name="T18" fmla="*/ 2250 w 3254"/>
              <a:gd name="T19" fmla="*/ 2631 h 3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54" h="3254">
                <a:moveTo>
                  <a:pt x="2838" y="875"/>
                </a:moveTo>
                <a:cubicBezTo>
                  <a:pt x="2423" y="206"/>
                  <a:pt x="1544" y="0"/>
                  <a:pt x="875" y="416"/>
                </a:cubicBezTo>
                <a:cubicBezTo>
                  <a:pt x="206" y="831"/>
                  <a:pt x="0" y="1710"/>
                  <a:pt x="415" y="2379"/>
                </a:cubicBezTo>
                <a:cubicBezTo>
                  <a:pt x="830" y="3048"/>
                  <a:pt x="1710" y="3254"/>
                  <a:pt x="2379" y="2839"/>
                </a:cubicBezTo>
                <a:cubicBezTo>
                  <a:pt x="3048" y="2423"/>
                  <a:pt x="3254" y="1544"/>
                  <a:pt x="2838" y="875"/>
                </a:cubicBezTo>
                <a:moveTo>
                  <a:pt x="2250" y="2631"/>
                </a:moveTo>
                <a:cubicBezTo>
                  <a:pt x="1695" y="2975"/>
                  <a:pt x="967" y="2804"/>
                  <a:pt x="623" y="2250"/>
                </a:cubicBezTo>
                <a:cubicBezTo>
                  <a:pt x="279" y="1696"/>
                  <a:pt x="450" y="967"/>
                  <a:pt x="1004" y="623"/>
                </a:cubicBezTo>
                <a:cubicBezTo>
                  <a:pt x="1558" y="280"/>
                  <a:pt x="2286" y="450"/>
                  <a:pt x="2630" y="1004"/>
                </a:cubicBezTo>
                <a:cubicBezTo>
                  <a:pt x="2974" y="1559"/>
                  <a:pt x="2804" y="2287"/>
                  <a:pt x="2250" y="2631"/>
                </a:cubicBezTo>
              </a:path>
            </a:pathLst>
          </a:custGeom>
          <a:solidFill>
            <a:srgbClr val="43686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64" name="任意多边形 63"/>
          <p:cNvSpPr/>
          <p:nvPr>
            <p:custDataLst>
              <p:tags r:id="rId64"/>
            </p:custDataLst>
          </p:nvPr>
        </p:nvSpPr>
        <p:spPr bwMode="auto">
          <a:xfrm>
            <a:off x="5085279" y="4027088"/>
            <a:ext cx="50051" cy="455309"/>
          </a:xfrm>
          <a:custGeom>
            <a:avLst/>
            <a:gdLst>
              <a:gd name="T0" fmla="*/ 108 w 108"/>
              <a:gd name="T1" fmla="*/ 0 h 986"/>
              <a:gd name="T2" fmla="*/ 1 w 108"/>
              <a:gd name="T3" fmla="*/ 495 h 986"/>
              <a:gd name="T4" fmla="*/ 108 w 108"/>
              <a:gd name="T5" fmla="*/ 986 h 986"/>
              <a:gd name="T6" fmla="*/ 108 w 108"/>
              <a:gd name="T7" fmla="*/ 0 h 986"/>
            </a:gdLst>
            <a:ahLst/>
            <a:cxnLst>
              <a:cxn ang="0">
                <a:pos x="T0" y="T1"/>
              </a:cxn>
              <a:cxn ang="0">
                <a:pos x="T2" y="T3"/>
              </a:cxn>
              <a:cxn ang="0">
                <a:pos x="T4" y="T5"/>
              </a:cxn>
              <a:cxn ang="0">
                <a:pos x="T6" y="T7"/>
              </a:cxn>
            </a:cxnLst>
            <a:rect l="0" t="0" r="r" b="b"/>
            <a:pathLst>
              <a:path w="108" h="986">
                <a:moveTo>
                  <a:pt x="108" y="0"/>
                </a:moveTo>
                <a:cubicBezTo>
                  <a:pt x="37" y="155"/>
                  <a:pt x="0" y="324"/>
                  <a:pt x="1" y="495"/>
                </a:cubicBezTo>
                <a:cubicBezTo>
                  <a:pt x="1" y="661"/>
                  <a:pt x="36" y="828"/>
                  <a:pt x="108" y="986"/>
                </a:cubicBezTo>
                <a:cubicBezTo>
                  <a:pt x="108" y="0"/>
                  <a:pt x="108" y="0"/>
                  <a:pt x="108" y="0"/>
                </a:cubicBezTo>
              </a:path>
            </a:pathLst>
          </a:custGeom>
          <a:solidFill>
            <a:srgbClr val="B8D5D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65" name="任意多边形 64"/>
          <p:cNvSpPr/>
          <p:nvPr>
            <p:custDataLst>
              <p:tags r:id="rId65"/>
            </p:custDataLst>
          </p:nvPr>
        </p:nvSpPr>
        <p:spPr bwMode="auto">
          <a:xfrm>
            <a:off x="5135331" y="3709018"/>
            <a:ext cx="930800" cy="833117"/>
          </a:xfrm>
          <a:custGeom>
            <a:avLst/>
            <a:gdLst>
              <a:gd name="T0" fmla="*/ 1073 w 2014"/>
              <a:gd name="T1" fmla="*/ 0 h 1804"/>
              <a:gd name="T2" fmla="*/ 1073 w 2014"/>
              <a:gd name="T3" fmla="*/ 0 h 1804"/>
              <a:gd name="T4" fmla="*/ 455 w 2014"/>
              <a:gd name="T5" fmla="*/ 175 h 1804"/>
              <a:gd name="T6" fmla="*/ 451 w 2014"/>
              <a:gd name="T7" fmla="*/ 177 h 1804"/>
              <a:gd name="T8" fmla="*/ 451 w 2014"/>
              <a:gd name="T9" fmla="*/ 177 h 1804"/>
              <a:gd name="T10" fmla="*/ 0 w 2014"/>
              <a:gd name="T11" fmla="*/ 688 h 1804"/>
              <a:gd name="T12" fmla="*/ 0 w 2014"/>
              <a:gd name="T13" fmla="*/ 1674 h 1804"/>
              <a:gd name="T14" fmla="*/ 70 w 2014"/>
              <a:gd name="T15" fmla="*/ 1804 h 1804"/>
              <a:gd name="T16" fmla="*/ 70 w 2014"/>
              <a:gd name="T17" fmla="*/ 1804 h 1804"/>
              <a:gd name="T18" fmla="*/ 70 w 2014"/>
              <a:gd name="T19" fmla="*/ 1804 h 1804"/>
              <a:gd name="T20" fmla="*/ 461 w 2014"/>
              <a:gd name="T21" fmla="*/ 1561 h 1804"/>
              <a:gd name="T22" fmla="*/ 389 w 2014"/>
              <a:gd name="T23" fmla="*/ 1561 h 1804"/>
              <a:gd name="T24" fmla="*/ 389 w 2014"/>
              <a:gd name="T25" fmla="*/ 1418 h 1804"/>
              <a:gd name="T26" fmla="*/ 691 w 2014"/>
              <a:gd name="T27" fmla="*/ 1418 h 1804"/>
              <a:gd name="T28" fmla="*/ 1515 w 2014"/>
              <a:gd name="T29" fmla="*/ 907 h 1804"/>
              <a:gd name="T30" fmla="*/ 1166 w 2014"/>
              <a:gd name="T31" fmla="*/ 907 h 1804"/>
              <a:gd name="T32" fmla="*/ 1166 w 2014"/>
              <a:gd name="T33" fmla="*/ 765 h 1804"/>
              <a:gd name="T34" fmla="*/ 1745 w 2014"/>
              <a:gd name="T35" fmla="*/ 765 h 1804"/>
              <a:gd name="T36" fmla="*/ 1995 w 2014"/>
              <a:gd name="T37" fmla="*/ 609 h 1804"/>
              <a:gd name="T38" fmla="*/ 1819 w 2014"/>
              <a:gd name="T39" fmla="*/ 609 h 1804"/>
              <a:gd name="T40" fmla="*/ 1819 w 2014"/>
              <a:gd name="T41" fmla="*/ 466 h 1804"/>
              <a:gd name="T42" fmla="*/ 2014 w 2014"/>
              <a:gd name="T43" fmla="*/ 466 h 1804"/>
              <a:gd name="T44" fmla="*/ 1826 w 2014"/>
              <a:gd name="T45" fmla="*/ 270 h 1804"/>
              <a:gd name="T46" fmla="*/ 1236 w 2014"/>
              <a:gd name="T47" fmla="*/ 270 h 1804"/>
              <a:gd name="T48" fmla="*/ 1236 w 2014"/>
              <a:gd name="T49" fmla="*/ 127 h 1804"/>
              <a:gd name="T50" fmla="*/ 1607 w 2014"/>
              <a:gd name="T51" fmla="*/ 127 h 1804"/>
              <a:gd name="T52" fmla="*/ 1073 w 2014"/>
              <a:gd name="T53" fmla="*/ 0 h 1804"/>
              <a:gd name="T54" fmla="*/ 1073 w 2014"/>
              <a:gd name="T55" fmla="*/ 0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014" h="1804">
                <a:moveTo>
                  <a:pt x="1073" y="0"/>
                </a:moveTo>
                <a:cubicBezTo>
                  <a:pt x="1073" y="0"/>
                  <a:pt x="1073" y="0"/>
                  <a:pt x="1073" y="0"/>
                </a:cubicBezTo>
                <a:cubicBezTo>
                  <a:pt x="862" y="0"/>
                  <a:pt x="648" y="56"/>
                  <a:pt x="455" y="175"/>
                </a:cubicBezTo>
                <a:cubicBezTo>
                  <a:pt x="454" y="176"/>
                  <a:pt x="452" y="177"/>
                  <a:pt x="451" y="177"/>
                </a:cubicBezTo>
                <a:cubicBezTo>
                  <a:pt x="451" y="177"/>
                  <a:pt x="451" y="177"/>
                  <a:pt x="451" y="177"/>
                </a:cubicBezTo>
                <a:cubicBezTo>
                  <a:pt x="246" y="305"/>
                  <a:pt x="94" y="484"/>
                  <a:pt x="0" y="688"/>
                </a:cubicBezTo>
                <a:cubicBezTo>
                  <a:pt x="0" y="1674"/>
                  <a:pt x="0" y="1674"/>
                  <a:pt x="0" y="1674"/>
                </a:cubicBezTo>
                <a:cubicBezTo>
                  <a:pt x="21" y="1718"/>
                  <a:pt x="44" y="1762"/>
                  <a:pt x="70" y="1804"/>
                </a:cubicBezTo>
                <a:cubicBezTo>
                  <a:pt x="70" y="1804"/>
                  <a:pt x="70" y="1804"/>
                  <a:pt x="70" y="1804"/>
                </a:cubicBezTo>
                <a:cubicBezTo>
                  <a:pt x="70" y="1804"/>
                  <a:pt x="70" y="1804"/>
                  <a:pt x="70" y="1804"/>
                </a:cubicBezTo>
                <a:cubicBezTo>
                  <a:pt x="461" y="1561"/>
                  <a:pt x="461" y="1561"/>
                  <a:pt x="461" y="1561"/>
                </a:cubicBezTo>
                <a:cubicBezTo>
                  <a:pt x="389" y="1561"/>
                  <a:pt x="389" y="1561"/>
                  <a:pt x="389" y="1561"/>
                </a:cubicBezTo>
                <a:cubicBezTo>
                  <a:pt x="389" y="1418"/>
                  <a:pt x="389" y="1418"/>
                  <a:pt x="389" y="1418"/>
                </a:cubicBezTo>
                <a:cubicBezTo>
                  <a:pt x="691" y="1418"/>
                  <a:pt x="691" y="1418"/>
                  <a:pt x="691" y="1418"/>
                </a:cubicBezTo>
                <a:cubicBezTo>
                  <a:pt x="1515" y="907"/>
                  <a:pt x="1515" y="907"/>
                  <a:pt x="1515" y="907"/>
                </a:cubicBezTo>
                <a:cubicBezTo>
                  <a:pt x="1166" y="907"/>
                  <a:pt x="1166" y="907"/>
                  <a:pt x="1166" y="907"/>
                </a:cubicBezTo>
                <a:cubicBezTo>
                  <a:pt x="1166" y="765"/>
                  <a:pt x="1166" y="765"/>
                  <a:pt x="1166" y="765"/>
                </a:cubicBezTo>
                <a:cubicBezTo>
                  <a:pt x="1745" y="765"/>
                  <a:pt x="1745" y="765"/>
                  <a:pt x="1745" y="765"/>
                </a:cubicBezTo>
                <a:cubicBezTo>
                  <a:pt x="1995" y="609"/>
                  <a:pt x="1995" y="609"/>
                  <a:pt x="1995" y="609"/>
                </a:cubicBezTo>
                <a:cubicBezTo>
                  <a:pt x="1819" y="609"/>
                  <a:pt x="1819" y="609"/>
                  <a:pt x="1819" y="609"/>
                </a:cubicBezTo>
                <a:cubicBezTo>
                  <a:pt x="1819" y="466"/>
                  <a:pt x="1819" y="466"/>
                  <a:pt x="1819" y="466"/>
                </a:cubicBezTo>
                <a:cubicBezTo>
                  <a:pt x="2014" y="466"/>
                  <a:pt x="2014" y="466"/>
                  <a:pt x="2014" y="466"/>
                </a:cubicBezTo>
                <a:cubicBezTo>
                  <a:pt x="1958" y="392"/>
                  <a:pt x="1895" y="327"/>
                  <a:pt x="1826" y="270"/>
                </a:cubicBezTo>
                <a:cubicBezTo>
                  <a:pt x="1236" y="270"/>
                  <a:pt x="1236" y="270"/>
                  <a:pt x="1236" y="270"/>
                </a:cubicBezTo>
                <a:cubicBezTo>
                  <a:pt x="1236" y="127"/>
                  <a:pt x="1236" y="127"/>
                  <a:pt x="1236" y="127"/>
                </a:cubicBezTo>
                <a:cubicBezTo>
                  <a:pt x="1607" y="127"/>
                  <a:pt x="1607" y="127"/>
                  <a:pt x="1607" y="127"/>
                </a:cubicBezTo>
                <a:cubicBezTo>
                  <a:pt x="1442" y="43"/>
                  <a:pt x="1258" y="0"/>
                  <a:pt x="1073" y="0"/>
                </a:cubicBezTo>
                <a:cubicBezTo>
                  <a:pt x="1073" y="0"/>
                  <a:pt x="1073" y="0"/>
                  <a:pt x="1073" y="0"/>
                </a:cubicBezTo>
              </a:path>
            </a:pathLst>
          </a:custGeom>
          <a:solidFill>
            <a:srgbClr val="84CAD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66" name="任意多边形 65"/>
          <p:cNvSpPr/>
          <p:nvPr>
            <p:custDataLst>
              <p:tags r:id="rId66"/>
            </p:custDataLst>
          </p:nvPr>
        </p:nvSpPr>
        <p:spPr bwMode="auto">
          <a:xfrm>
            <a:off x="5314549" y="4363726"/>
            <a:ext cx="139660" cy="66197"/>
          </a:xfrm>
          <a:custGeom>
            <a:avLst/>
            <a:gdLst>
              <a:gd name="T0" fmla="*/ 173 w 173"/>
              <a:gd name="T1" fmla="*/ 0 h 82"/>
              <a:gd name="T2" fmla="*/ 0 w 173"/>
              <a:gd name="T3" fmla="*/ 0 h 82"/>
              <a:gd name="T4" fmla="*/ 0 w 173"/>
              <a:gd name="T5" fmla="*/ 82 h 82"/>
              <a:gd name="T6" fmla="*/ 42 w 173"/>
              <a:gd name="T7" fmla="*/ 82 h 82"/>
              <a:gd name="T8" fmla="*/ 173 w 173"/>
              <a:gd name="T9" fmla="*/ 0 h 82"/>
            </a:gdLst>
            <a:ahLst/>
            <a:cxnLst>
              <a:cxn ang="0">
                <a:pos x="T0" y="T1"/>
              </a:cxn>
              <a:cxn ang="0">
                <a:pos x="T2" y="T3"/>
              </a:cxn>
              <a:cxn ang="0">
                <a:pos x="T4" y="T5"/>
              </a:cxn>
              <a:cxn ang="0">
                <a:pos x="T6" y="T7"/>
              </a:cxn>
              <a:cxn ang="0">
                <a:pos x="T8" y="T9"/>
              </a:cxn>
            </a:cxnLst>
            <a:rect l="0" t="0" r="r" b="b"/>
            <a:pathLst>
              <a:path w="173" h="82">
                <a:moveTo>
                  <a:pt x="173" y="0"/>
                </a:moveTo>
                <a:lnTo>
                  <a:pt x="0" y="0"/>
                </a:lnTo>
                <a:lnTo>
                  <a:pt x="0" y="82"/>
                </a:lnTo>
                <a:lnTo>
                  <a:pt x="42" y="82"/>
                </a:lnTo>
                <a:lnTo>
                  <a:pt x="173" y="0"/>
                </a:lnTo>
                <a:close/>
              </a:path>
            </a:pathLst>
          </a:custGeom>
          <a:solidFill>
            <a:srgbClr val="BDE3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67" name="任意多边形 66"/>
          <p:cNvSpPr/>
          <p:nvPr>
            <p:custDataLst>
              <p:tags r:id="rId67"/>
            </p:custDataLst>
          </p:nvPr>
        </p:nvSpPr>
        <p:spPr bwMode="auto">
          <a:xfrm>
            <a:off x="5314549" y="4363726"/>
            <a:ext cx="139660" cy="66197"/>
          </a:xfrm>
          <a:custGeom>
            <a:avLst/>
            <a:gdLst>
              <a:gd name="T0" fmla="*/ 173 w 173"/>
              <a:gd name="T1" fmla="*/ 0 h 82"/>
              <a:gd name="T2" fmla="*/ 0 w 173"/>
              <a:gd name="T3" fmla="*/ 0 h 82"/>
              <a:gd name="T4" fmla="*/ 0 w 173"/>
              <a:gd name="T5" fmla="*/ 82 h 82"/>
              <a:gd name="T6" fmla="*/ 42 w 173"/>
              <a:gd name="T7" fmla="*/ 82 h 82"/>
              <a:gd name="T8" fmla="*/ 173 w 173"/>
              <a:gd name="T9" fmla="*/ 0 h 82"/>
            </a:gdLst>
            <a:ahLst/>
            <a:cxnLst>
              <a:cxn ang="0">
                <a:pos x="T0" y="T1"/>
              </a:cxn>
              <a:cxn ang="0">
                <a:pos x="T2" y="T3"/>
              </a:cxn>
              <a:cxn ang="0">
                <a:pos x="T4" y="T5"/>
              </a:cxn>
              <a:cxn ang="0">
                <a:pos x="T6" y="T7"/>
              </a:cxn>
              <a:cxn ang="0">
                <a:pos x="T8" y="T9"/>
              </a:cxn>
            </a:cxnLst>
            <a:rect l="0" t="0" r="r" b="b"/>
            <a:pathLst>
              <a:path w="173" h="82">
                <a:moveTo>
                  <a:pt x="173" y="0"/>
                </a:moveTo>
                <a:lnTo>
                  <a:pt x="0" y="0"/>
                </a:lnTo>
                <a:lnTo>
                  <a:pt x="0" y="82"/>
                </a:lnTo>
                <a:lnTo>
                  <a:pt x="42" y="82"/>
                </a:lnTo>
                <a:lnTo>
                  <a:pt x="17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68" name="任意多边形 67"/>
          <p:cNvSpPr/>
          <p:nvPr>
            <p:custDataLst>
              <p:tags r:id="rId68"/>
            </p:custDataLst>
          </p:nvPr>
        </p:nvSpPr>
        <p:spPr bwMode="auto">
          <a:xfrm>
            <a:off x="5706081" y="3767950"/>
            <a:ext cx="272862" cy="66197"/>
          </a:xfrm>
          <a:custGeom>
            <a:avLst/>
            <a:gdLst>
              <a:gd name="T0" fmla="*/ 371 w 590"/>
              <a:gd name="T1" fmla="*/ 0 h 143"/>
              <a:gd name="T2" fmla="*/ 0 w 590"/>
              <a:gd name="T3" fmla="*/ 0 h 143"/>
              <a:gd name="T4" fmla="*/ 0 w 590"/>
              <a:gd name="T5" fmla="*/ 143 h 143"/>
              <a:gd name="T6" fmla="*/ 590 w 590"/>
              <a:gd name="T7" fmla="*/ 143 h 143"/>
              <a:gd name="T8" fmla="*/ 371 w 590"/>
              <a:gd name="T9" fmla="*/ 0 h 143"/>
            </a:gdLst>
            <a:ahLst/>
            <a:cxnLst>
              <a:cxn ang="0">
                <a:pos x="T0" y="T1"/>
              </a:cxn>
              <a:cxn ang="0">
                <a:pos x="T2" y="T3"/>
              </a:cxn>
              <a:cxn ang="0">
                <a:pos x="T4" y="T5"/>
              </a:cxn>
              <a:cxn ang="0">
                <a:pos x="T6" y="T7"/>
              </a:cxn>
              <a:cxn ang="0">
                <a:pos x="T8" y="T9"/>
              </a:cxn>
            </a:cxnLst>
            <a:rect l="0" t="0" r="r" b="b"/>
            <a:pathLst>
              <a:path w="590" h="143">
                <a:moveTo>
                  <a:pt x="371" y="0"/>
                </a:moveTo>
                <a:cubicBezTo>
                  <a:pt x="0" y="0"/>
                  <a:pt x="0" y="0"/>
                  <a:pt x="0" y="0"/>
                </a:cubicBezTo>
                <a:cubicBezTo>
                  <a:pt x="0" y="143"/>
                  <a:pt x="0" y="143"/>
                  <a:pt x="0" y="143"/>
                </a:cubicBezTo>
                <a:cubicBezTo>
                  <a:pt x="590" y="143"/>
                  <a:pt x="590" y="143"/>
                  <a:pt x="590" y="143"/>
                </a:cubicBezTo>
                <a:cubicBezTo>
                  <a:pt x="522" y="87"/>
                  <a:pt x="448" y="39"/>
                  <a:pt x="371" y="0"/>
                </a:cubicBezTo>
              </a:path>
            </a:pathLst>
          </a:custGeom>
          <a:solidFill>
            <a:srgbClr val="BDE3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69" name="任意多边形 68"/>
          <p:cNvSpPr/>
          <p:nvPr>
            <p:custDataLst>
              <p:tags r:id="rId69"/>
            </p:custDataLst>
          </p:nvPr>
        </p:nvSpPr>
        <p:spPr bwMode="auto">
          <a:xfrm>
            <a:off x="5975714" y="3924563"/>
            <a:ext cx="119478" cy="66197"/>
          </a:xfrm>
          <a:custGeom>
            <a:avLst/>
            <a:gdLst>
              <a:gd name="T0" fmla="*/ 195 w 258"/>
              <a:gd name="T1" fmla="*/ 0 h 143"/>
              <a:gd name="T2" fmla="*/ 0 w 258"/>
              <a:gd name="T3" fmla="*/ 0 h 143"/>
              <a:gd name="T4" fmla="*/ 0 w 258"/>
              <a:gd name="T5" fmla="*/ 143 h 143"/>
              <a:gd name="T6" fmla="*/ 176 w 258"/>
              <a:gd name="T7" fmla="*/ 143 h 143"/>
              <a:gd name="T8" fmla="*/ 258 w 258"/>
              <a:gd name="T9" fmla="*/ 92 h 143"/>
              <a:gd name="T10" fmla="*/ 195 w 258"/>
              <a:gd name="T11" fmla="*/ 0 h 143"/>
            </a:gdLst>
            <a:ahLst/>
            <a:cxnLst>
              <a:cxn ang="0">
                <a:pos x="T0" y="T1"/>
              </a:cxn>
              <a:cxn ang="0">
                <a:pos x="T2" y="T3"/>
              </a:cxn>
              <a:cxn ang="0">
                <a:pos x="T4" y="T5"/>
              </a:cxn>
              <a:cxn ang="0">
                <a:pos x="T6" y="T7"/>
              </a:cxn>
              <a:cxn ang="0">
                <a:pos x="T8" y="T9"/>
              </a:cxn>
              <a:cxn ang="0">
                <a:pos x="T10" y="T11"/>
              </a:cxn>
            </a:cxnLst>
            <a:rect l="0" t="0" r="r" b="b"/>
            <a:pathLst>
              <a:path w="258" h="143">
                <a:moveTo>
                  <a:pt x="195" y="0"/>
                </a:moveTo>
                <a:cubicBezTo>
                  <a:pt x="0" y="0"/>
                  <a:pt x="0" y="0"/>
                  <a:pt x="0" y="0"/>
                </a:cubicBezTo>
                <a:cubicBezTo>
                  <a:pt x="0" y="143"/>
                  <a:pt x="0" y="143"/>
                  <a:pt x="0" y="143"/>
                </a:cubicBezTo>
                <a:cubicBezTo>
                  <a:pt x="176" y="143"/>
                  <a:pt x="176" y="143"/>
                  <a:pt x="176" y="143"/>
                </a:cubicBezTo>
                <a:cubicBezTo>
                  <a:pt x="258" y="92"/>
                  <a:pt x="258" y="92"/>
                  <a:pt x="258" y="92"/>
                </a:cubicBezTo>
                <a:cubicBezTo>
                  <a:pt x="239" y="60"/>
                  <a:pt x="218" y="30"/>
                  <a:pt x="195" y="0"/>
                </a:cubicBezTo>
              </a:path>
            </a:pathLst>
          </a:custGeom>
          <a:solidFill>
            <a:srgbClr val="BDE3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70" name="任意多边形 69"/>
          <p:cNvSpPr/>
          <p:nvPr>
            <p:custDataLst>
              <p:tags r:id="rId70"/>
            </p:custDataLst>
          </p:nvPr>
        </p:nvSpPr>
        <p:spPr bwMode="auto">
          <a:xfrm>
            <a:off x="5673790" y="4062609"/>
            <a:ext cx="268019" cy="65390"/>
          </a:xfrm>
          <a:custGeom>
            <a:avLst/>
            <a:gdLst>
              <a:gd name="T0" fmla="*/ 332 w 332"/>
              <a:gd name="T1" fmla="*/ 0 h 81"/>
              <a:gd name="T2" fmla="*/ 0 w 332"/>
              <a:gd name="T3" fmla="*/ 0 h 81"/>
              <a:gd name="T4" fmla="*/ 0 w 332"/>
              <a:gd name="T5" fmla="*/ 81 h 81"/>
              <a:gd name="T6" fmla="*/ 200 w 332"/>
              <a:gd name="T7" fmla="*/ 81 h 81"/>
              <a:gd name="T8" fmla="*/ 332 w 332"/>
              <a:gd name="T9" fmla="*/ 0 h 81"/>
            </a:gdLst>
            <a:ahLst/>
            <a:cxnLst>
              <a:cxn ang="0">
                <a:pos x="T0" y="T1"/>
              </a:cxn>
              <a:cxn ang="0">
                <a:pos x="T2" y="T3"/>
              </a:cxn>
              <a:cxn ang="0">
                <a:pos x="T4" y="T5"/>
              </a:cxn>
              <a:cxn ang="0">
                <a:pos x="T6" y="T7"/>
              </a:cxn>
              <a:cxn ang="0">
                <a:pos x="T8" y="T9"/>
              </a:cxn>
            </a:cxnLst>
            <a:rect l="0" t="0" r="r" b="b"/>
            <a:pathLst>
              <a:path w="332" h="81">
                <a:moveTo>
                  <a:pt x="332" y="0"/>
                </a:moveTo>
                <a:lnTo>
                  <a:pt x="0" y="0"/>
                </a:lnTo>
                <a:lnTo>
                  <a:pt x="0" y="81"/>
                </a:lnTo>
                <a:lnTo>
                  <a:pt x="200" y="81"/>
                </a:lnTo>
                <a:lnTo>
                  <a:pt x="332" y="0"/>
                </a:lnTo>
                <a:close/>
              </a:path>
            </a:pathLst>
          </a:custGeom>
          <a:solidFill>
            <a:srgbClr val="BDE3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71" name="任意多边形 70"/>
          <p:cNvSpPr/>
          <p:nvPr>
            <p:custDataLst>
              <p:tags r:id="rId71"/>
            </p:custDataLst>
          </p:nvPr>
        </p:nvSpPr>
        <p:spPr bwMode="auto">
          <a:xfrm>
            <a:off x="5673790" y="4062609"/>
            <a:ext cx="268019" cy="65390"/>
          </a:xfrm>
          <a:custGeom>
            <a:avLst/>
            <a:gdLst>
              <a:gd name="T0" fmla="*/ 332 w 332"/>
              <a:gd name="T1" fmla="*/ 0 h 81"/>
              <a:gd name="T2" fmla="*/ 0 w 332"/>
              <a:gd name="T3" fmla="*/ 0 h 81"/>
              <a:gd name="T4" fmla="*/ 0 w 332"/>
              <a:gd name="T5" fmla="*/ 81 h 81"/>
              <a:gd name="T6" fmla="*/ 200 w 332"/>
              <a:gd name="T7" fmla="*/ 81 h 81"/>
              <a:gd name="T8" fmla="*/ 332 w 332"/>
              <a:gd name="T9" fmla="*/ 0 h 81"/>
            </a:gdLst>
            <a:ahLst/>
            <a:cxnLst>
              <a:cxn ang="0">
                <a:pos x="T0" y="T1"/>
              </a:cxn>
              <a:cxn ang="0">
                <a:pos x="T2" y="T3"/>
              </a:cxn>
              <a:cxn ang="0">
                <a:pos x="T4" y="T5"/>
              </a:cxn>
              <a:cxn ang="0">
                <a:pos x="T6" y="T7"/>
              </a:cxn>
              <a:cxn ang="0">
                <a:pos x="T8" y="T9"/>
              </a:cxn>
            </a:cxnLst>
            <a:rect l="0" t="0" r="r" b="b"/>
            <a:pathLst>
              <a:path w="332" h="81">
                <a:moveTo>
                  <a:pt x="332" y="0"/>
                </a:moveTo>
                <a:lnTo>
                  <a:pt x="0" y="0"/>
                </a:lnTo>
                <a:lnTo>
                  <a:pt x="0" y="81"/>
                </a:lnTo>
                <a:lnTo>
                  <a:pt x="200" y="81"/>
                </a:lnTo>
                <a:lnTo>
                  <a:pt x="3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72" name="任意多边形 71"/>
          <p:cNvSpPr/>
          <p:nvPr>
            <p:custDataLst>
              <p:tags r:id="rId72"/>
            </p:custDataLst>
          </p:nvPr>
        </p:nvSpPr>
        <p:spPr bwMode="auto">
          <a:xfrm>
            <a:off x="5085279" y="3709018"/>
            <a:ext cx="545725" cy="546531"/>
          </a:xfrm>
          <a:custGeom>
            <a:avLst/>
            <a:gdLst>
              <a:gd name="T0" fmla="*/ 559 w 1181"/>
              <a:gd name="T1" fmla="*/ 177 h 1183"/>
              <a:gd name="T2" fmla="*/ 559 w 1181"/>
              <a:gd name="T3" fmla="*/ 177 h 1183"/>
              <a:gd name="T4" fmla="*/ 1 w 1181"/>
              <a:gd name="T5" fmla="*/ 1183 h 1183"/>
              <a:gd name="T6" fmla="*/ 108 w 1181"/>
              <a:gd name="T7" fmla="*/ 688 h 1183"/>
              <a:gd name="T8" fmla="*/ 559 w 1181"/>
              <a:gd name="T9" fmla="*/ 177 h 1183"/>
              <a:gd name="T10" fmla="*/ 559 w 1181"/>
              <a:gd name="T11" fmla="*/ 177 h 1183"/>
              <a:gd name="T12" fmla="*/ 1181 w 1181"/>
              <a:gd name="T13" fmla="*/ 0 h 1183"/>
              <a:gd name="T14" fmla="*/ 563 w 1181"/>
              <a:gd name="T15" fmla="*/ 175 h 1183"/>
              <a:gd name="T16" fmla="*/ 1181 w 1181"/>
              <a:gd name="T17" fmla="*/ 0 h 1183"/>
              <a:gd name="T18" fmla="*/ 1181 w 1181"/>
              <a:gd name="T19" fmla="*/ 0 h 1183"/>
              <a:gd name="T20" fmla="*/ 1181 w 1181"/>
              <a:gd name="T21" fmla="*/ 0 h 1183"/>
              <a:gd name="T22" fmla="*/ 1181 w 1181"/>
              <a:gd name="T23" fmla="*/ 0 h 1183"/>
              <a:gd name="T24" fmla="*/ 1181 w 1181"/>
              <a:gd name="T25" fmla="*/ 0 h 1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1" h="1183">
                <a:moveTo>
                  <a:pt x="559" y="177"/>
                </a:moveTo>
                <a:cubicBezTo>
                  <a:pt x="559" y="177"/>
                  <a:pt x="559" y="177"/>
                  <a:pt x="559" y="177"/>
                </a:cubicBezTo>
                <a:cubicBezTo>
                  <a:pt x="199" y="401"/>
                  <a:pt x="0" y="787"/>
                  <a:pt x="1" y="1183"/>
                </a:cubicBezTo>
                <a:cubicBezTo>
                  <a:pt x="0" y="1012"/>
                  <a:pt x="37" y="843"/>
                  <a:pt x="108" y="688"/>
                </a:cubicBezTo>
                <a:cubicBezTo>
                  <a:pt x="202" y="484"/>
                  <a:pt x="354" y="305"/>
                  <a:pt x="559" y="177"/>
                </a:cubicBezTo>
                <a:cubicBezTo>
                  <a:pt x="559" y="177"/>
                  <a:pt x="559" y="177"/>
                  <a:pt x="559" y="177"/>
                </a:cubicBezTo>
                <a:moveTo>
                  <a:pt x="1181" y="0"/>
                </a:moveTo>
                <a:cubicBezTo>
                  <a:pt x="970" y="0"/>
                  <a:pt x="756" y="56"/>
                  <a:pt x="563" y="175"/>
                </a:cubicBezTo>
                <a:cubicBezTo>
                  <a:pt x="756" y="56"/>
                  <a:pt x="970" y="0"/>
                  <a:pt x="1181" y="0"/>
                </a:cubicBezTo>
                <a:moveTo>
                  <a:pt x="1181" y="0"/>
                </a:moveTo>
                <a:cubicBezTo>
                  <a:pt x="1181" y="0"/>
                  <a:pt x="1181" y="0"/>
                  <a:pt x="1181" y="0"/>
                </a:cubicBezTo>
                <a:cubicBezTo>
                  <a:pt x="1181" y="0"/>
                  <a:pt x="1181" y="0"/>
                  <a:pt x="1181" y="0"/>
                </a:cubicBezTo>
                <a:cubicBezTo>
                  <a:pt x="1181" y="0"/>
                  <a:pt x="1181" y="0"/>
                  <a:pt x="1181" y="0"/>
                </a:cubicBezTo>
              </a:path>
            </a:pathLst>
          </a:custGeom>
          <a:solidFill>
            <a:srgbClr val="355F5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73" name="任意多边形 72"/>
          <p:cNvSpPr/>
          <p:nvPr>
            <p:custDataLst>
              <p:tags r:id="rId73"/>
            </p:custDataLst>
          </p:nvPr>
        </p:nvSpPr>
        <p:spPr bwMode="auto">
          <a:xfrm>
            <a:off x="5167623" y="3990760"/>
            <a:ext cx="1009106" cy="808899"/>
          </a:xfrm>
          <a:custGeom>
            <a:avLst/>
            <a:gdLst>
              <a:gd name="T0" fmla="*/ 2153 w 2183"/>
              <a:gd name="T1" fmla="*/ 298 h 1753"/>
              <a:gd name="T2" fmla="*/ 1445 w 2183"/>
              <a:gd name="T3" fmla="*/ 298 h 1753"/>
              <a:gd name="T4" fmla="*/ 621 w 2183"/>
              <a:gd name="T5" fmla="*/ 809 h 1753"/>
              <a:gd name="T6" fmla="*/ 1188 w 2183"/>
              <a:gd name="T7" fmla="*/ 809 h 1753"/>
              <a:gd name="T8" fmla="*/ 1188 w 2183"/>
              <a:gd name="T9" fmla="*/ 952 h 1753"/>
              <a:gd name="T10" fmla="*/ 391 w 2183"/>
              <a:gd name="T11" fmla="*/ 952 h 1753"/>
              <a:gd name="T12" fmla="*/ 0 w 2183"/>
              <a:gd name="T13" fmla="*/ 1195 h 1753"/>
              <a:gd name="T14" fmla="*/ 0 w 2183"/>
              <a:gd name="T15" fmla="*/ 1195 h 1753"/>
              <a:gd name="T16" fmla="*/ 2 w 2183"/>
              <a:gd name="T17" fmla="*/ 1198 h 1753"/>
              <a:gd name="T18" fmla="*/ 5 w 2183"/>
              <a:gd name="T19" fmla="*/ 1203 h 1753"/>
              <a:gd name="T20" fmla="*/ 6 w 2183"/>
              <a:gd name="T21" fmla="*/ 1203 h 1753"/>
              <a:gd name="T22" fmla="*/ 1005 w 2183"/>
              <a:gd name="T23" fmla="*/ 1753 h 1753"/>
              <a:gd name="T24" fmla="*/ 1005 w 2183"/>
              <a:gd name="T25" fmla="*/ 1753 h 1753"/>
              <a:gd name="T26" fmla="*/ 1005 w 2183"/>
              <a:gd name="T27" fmla="*/ 1753 h 1753"/>
              <a:gd name="T28" fmla="*/ 1627 w 2183"/>
              <a:gd name="T29" fmla="*/ 1576 h 1753"/>
              <a:gd name="T30" fmla="*/ 1627 w 2183"/>
              <a:gd name="T31" fmla="*/ 1576 h 1753"/>
              <a:gd name="T32" fmla="*/ 1939 w 2183"/>
              <a:gd name="T33" fmla="*/ 1295 h 1753"/>
              <a:gd name="T34" fmla="*/ 1512 w 2183"/>
              <a:gd name="T35" fmla="*/ 1295 h 1753"/>
              <a:gd name="T36" fmla="*/ 1512 w 2183"/>
              <a:gd name="T37" fmla="*/ 1152 h 1753"/>
              <a:gd name="T38" fmla="*/ 2033 w 2183"/>
              <a:gd name="T39" fmla="*/ 1152 h 1753"/>
              <a:gd name="T40" fmla="*/ 2122 w 2183"/>
              <a:gd name="T41" fmla="*/ 952 h 1753"/>
              <a:gd name="T42" fmla="*/ 1393 w 2183"/>
              <a:gd name="T43" fmla="*/ 952 h 1753"/>
              <a:gd name="T44" fmla="*/ 1393 w 2183"/>
              <a:gd name="T45" fmla="*/ 809 h 1753"/>
              <a:gd name="T46" fmla="*/ 2161 w 2183"/>
              <a:gd name="T47" fmla="*/ 809 h 1753"/>
              <a:gd name="T48" fmla="*/ 2183 w 2183"/>
              <a:gd name="T49" fmla="*/ 638 h 1753"/>
              <a:gd name="T50" fmla="*/ 1690 w 2183"/>
              <a:gd name="T51" fmla="*/ 638 h 1753"/>
              <a:gd name="T52" fmla="*/ 1690 w 2183"/>
              <a:gd name="T53" fmla="*/ 495 h 1753"/>
              <a:gd name="T54" fmla="*/ 2183 w 2183"/>
              <a:gd name="T55" fmla="*/ 495 h 1753"/>
              <a:gd name="T56" fmla="*/ 2153 w 2183"/>
              <a:gd name="T57" fmla="*/ 298 h 1753"/>
              <a:gd name="T58" fmla="*/ 2037 w 2183"/>
              <a:gd name="T59" fmla="*/ 0 h 1753"/>
              <a:gd name="T60" fmla="*/ 1925 w 2183"/>
              <a:gd name="T61" fmla="*/ 0 h 1753"/>
              <a:gd name="T62" fmla="*/ 1675 w 2183"/>
              <a:gd name="T63" fmla="*/ 156 h 1753"/>
              <a:gd name="T64" fmla="*/ 2109 w 2183"/>
              <a:gd name="T65" fmla="*/ 156 h 1753"/>
              <a:gd name="T66" fmla="*/ 2037 w 2183"/>
              <a:gd name="T67" fmla="*/ 0 h 1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83" h="1753">
                <a:moveTo>
                  <a:pt x="2153" y="298"/>
                </a:moveTo>
                <a:cubicBezTo>
                  <a:pt x="1445" y="298"/>
                  <a:pt x="1445" y="298"/>
                  <a:pt x="1445" y="298"/>
                </a:cubicBezTo>
                <a:cubicBezTo>
                  <a:pt x="621" y="809"/>
                  <a:pt x="621" y="809"/>
                  <a:pt x="621" y="809"/>
                </a:cubicBezTo>
                <a:cubicBezTo>
                  <a:pt x="1188" y="809"/>
                  <a:pt x="1188" y="809"/>
                  <a:pt x="1188" y="809"/>
                </a:cubicBezTo>
                <a:cubicBezTo>
                  <a:pt x="1188" y="952"/>
                  <a:pt x="1188" y="952"/>
                  <a:pt x="1188" y="952"/>
                </a:cubicBezTo>
                <a:cubicBezTo>
                  <a:pt x="391" y="952"/>
                  <a:pt x="391" y="952"/>
                  <a:pt x="391" y="952"/>
                </a:cubicBezTo>
                <a:cubicBezTo>
                  <a:pt x="0" y="1195"/>
                  <a:pt x="0" y="1195"/>
                  <a:pt x="0" y="1195"/>
                </a:cubicBezTo>
                <a:cubicBezTo>
                  <a:pt x="0" y="1195"/>
                  <a:pt x="0" y="1195"/>
                  <a:pt x="0" y="1195"/>
                </a:cubicBezTo>
                <a:cubicBezTo>
                  <a:pt x="1" y="1196"/>
                  <a:pt x="2" y="1197"/>
                  <a:pt x="2" y="1198"/>
                </a:cubicBezTo>
                <a:cubicBezTo>
                  <a:pt x="3" y="1200"/>
                  <a:pt x="4" y="1201"/>
                  <a:pt x="5" y="1203"/>
                </a:cubicBezTo>
                <a:cubicBezTo>
                  <a:pt x="5" y="1203"/>
                  <a:pt x="5" y="1203"/>
                  <a:pt x="6" y="1203"/>
                </a:cubicBezTo>
                <a:cubicBezTo>
                  <a:pt x="230" y="1558"/>
                  <a:pt x="613" y="1753"/>
                  <a:pt x="1005" y="1753"/>
                </a:cubicBezTo>
                <a:cubicBezTo>
                  <a:pt x="1005" y="1753"/>
                  <a:pt x="1005" y="1753"/>
                  <a:pt x="1005" y="1753"/>
                </a:cubicBezTo>
                <a:cubicBezTo>
                  <a:pt x="1005" y="1753"/>
                  <a:pt x="1005" y="1753"/>
                  <a:pt x="1005" y="1753"/>
                </a:cubicBezTo>
                <a:cubicBezTo>
                  <a:pt x="1218" y="1753"/>
                  <a:pt x="1433" y="1696"/>
                  <a:pt x="1627" y="1576"/>
                </a:cubicBezTo>
                <a:cubicBezTo>
                  <a:pt x="1627" y="1576"/>
                  <a:pt x="1627" y="1576"/>
                  <a:pt x="1627" y="1576"/>
                </a:cubicBezTo>
                <a:cubicBezTo>
                  <a:pt x="1750" y="1499"/>
                  <a:pt x="1855" y="1403"/>
                  <a:pt x="1939" y="1295"/>
                </a:cubicBezTo>
                <a:cubicBezTo>
                  <a:pt x="1512" y="1295"/>
                  <a:pt x="1512" y="1295"/>
                  <a:pt x="1512" y="1295"/>
                </a:cubicBezTo>
                <a:cubicBezTo>
                  <a:pt x="1512" y="1152"/>
                  <a:pt x="1512" y="1152"/>
                  <a:pt x="1512" y="1152"/>
                </a:cubicBezTo>
                <a:cubicBezTo>
                  <a:pt x="2033" y="1152"/>
                  <a:pt x="2033" y="1152"/>
                  <a:pt x="2033" y="1152"/>
                </a:cubicBezTo>
                <a:cubicBezTo>
                  <a:pt x="2069" y="1088"/>
                  <a:pt x="2099" y="1021"/>
                  <a:pt x="2122" y="952"/>
                </a:cubicBezTo>
                <a:cubicBezTo>
                  <a:pt x="1393" y="952"/>
                  <a:pt x="1393" y="952"/>
                  <a:pt x="1393" y="952"/>
                </a:cubicBezTo>
                <a:cubicBezTo>
                  <a:pt x="1393" y="809"/>
                  <a:pt x="1393" y="809"/>
                  <a:pt x="1393" y="809"/>
                </a:cubicBezTo>
                <a:cubicBezTo>
                  <a:pt x="2161" y="809"/>
                  <a:pt x="2161" y="809"/>
                  <a:pt x="2161" y="809"/>
                </a:cubicBezTo>
                <a:cubicBezTo>
                  <a:pt x="2173" y="753"/>
                  <a:pt x="2180" y="696"/>
                  <a:pt x="2183" y="638"/>
                </a:cubicBezTo>
                <a:cubicBezTo>
                  <a:pt x="1690" y="638"/>
                  <a:pt x="1690" y="638"/>
                  <a:pt x="1690" y="638"/>
                </a:cubicBezTo>
                <a:cubicBezTo>
                  <a:pt x="1690" y="495"/>
                  <a:pt x="1690" y="495"/>
                  <a:pt x="1690" y="495"/>
                </a:cubicBezTo>
                <a:cubicBezTo>
                  <a:pt x="2183" y="495"/>
                  <a:pt x="2183" y="495"/>
                  <a:pt x="2183" y="495"/>
                </a:cubicBezTo>
                <a:cubicBezTo>
                  <a:pt x="2178" y="429"/>
                  <a:pt x="2169" y="363"/>
                  <a:pt x="2153" y="298"/>
                </a:cubicBezTo>
                <a:moveTo>
                  <a:pt x="2037" y="0"/>
                </a:moveTo>
                <a:cubicBezTo>
                  <a:pt x="1925" y="0"/>
                  <a:pt x="1925" y="0"/>
                  <a:pt x="1925" y="0"/>
                </a:cubicBezTo>
                <a:cubicBezTo>
                  <a:pt x="1675" y="156"/>
                  <a:pt x="1675" y="156"/>
                  <a:pt x="1675" y="156"/>
                </a:cubicBezTo>
                <a:cubicBezTo>
                  <a:pt x="2109" y="156"/>
                  <a:pt x="2109" y="156"/>
                  <a:pt x="2109" y="156"/>
                </a:cubicBezTo>
                <a:cubicBezTo>
                  <a:pt x="2089" y="103"/>
                  <a:pt x="2065" y="51"/>
                  <a:pt x="2037" y="0"/>
                </a:cubicBezTo>
              </a:path>
            </a:pathLst>
          </a:custGeom>
          <a:solidFill>
            <a:srgbClr val="77B9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74" name="任意多边形 73"/>
          <p:cNvSpPr/>
          <p:nvPr>
            <p:custDataLst>
              <p:tags r:id="rId74"/>
            </p:custDataLst>
          </p:nvPr>
        </p:nvSpPr>
        <p:spPr bwMode="auto">
          <a:xfrm>
            <a:off x="5348455" y="4363726"/>
            <a:ext cx="368122" cy="66197"/>
          </a:xfrm>
          <a:custGeom>
            <a:avLst/>
            <a:gdLst>
              <a:gd name="T0" fmla="*/ 456 w 456"/>
              <a:gd name="T1" fmla="*/ 0 h 82"/>
              <a:gd name="T2" fmla="*/ 131 w 456"/>
              <a:gd name="T3" fmla="*/ 0 h 82"/>
              <a:gd name="T4" fmla="*/ 0 w 456"/>
              <a:gd name="T5" fmla="*/ 82 h 82"/>
              <a:gd name="T6" fmla="*/ 456 w 456"/>
              <a:gd name="T7" fmla="*/ 82 h 82"/>
              <a:gd name="T8" fmla="*/ 456 w 456"/>
              <a:gd name="T9" fmla="*/ 0 h 82"/>
            </a:gdLst>
            <a:ahLst/>
            <a:cxnLst>
              <a:cxn ang="0">
                <a:pos x="T0" y="T1"/>
              </a:cxn>
              <a:cxn ang="0">
                <a:pos x="T2" y="T3"/>
              </a:cxn>
              <a:cxn ang="0">
                <a:pos x="T4" y="T5"/>
              </a:cxn>
              <a:cxn ang="0">
                <a:pos x="T6" y="T7"/>
              </a:cxn>
              <a:cxn ang="0">
                <a:pos x="T8" y="T9"/>
              </a:cxn>
            </a:cxnLst>
            <a:rect l="0" t="0" r="r" b="b"/>
            <a:pathLst>
              <a:path w="456" h="82">
                <a:moveTo>
                  <a:pt x="456" y="0"/>
                </a:moveTo>
                <a:lnTo>
                  <a:pt x="131" y="0"/>
                </a:lnTo>
                <a:lnTo>
                  <a:pt x="0" y="82"/>
                </a:lnTo>
                <a:lnTo>
                  <a:pt x="456" y="82"/>
                </a:lnTo>
                <a:lnTo>
                  <a:pt x="456" y="0"/>
                </a:lnTo>
                <a:close/>
              </a:path>
            </a:pathLst>
          </a:custGeom>
          <a:solidFill>
            <a:srgbClr val="AAD0D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75" name="任意多边形 74"/>
          <p:cNvSpPr/>
          <p:nvPr>
            <p:custDataLst>
              <p:tags r:id="rId75"/>
            </p:custDataLst>
          </p:nvPr>
        </p:nvSpPr>
        <p:spPr bwMode="auto">
          <a:xfrm>
            <a:off x="5348455" y="4363726"/>
            <a:ext cx="368122" cy="66197"/>
          </a:xfrm>
          <a:custGeom>
            <a:avLst/>
            <a:gdLst>
              <a:gd name="T0" fmla="*/ 456 w 456"/>
              <a:gd name="T1" fmla="*/ 0 h 82"/>
              <a:gd name="T2" fmla="*/ 131 w 456"/>
              <a:gd name="T3" fmla="*/ 0 h 82"/>
              <a:gd name="T4" fmla="*/ 0 w 456"/>
              <a:gd name="T5" fmla="*/ 82 h 82"/>
              <a:gd name="T6" fmla="*/ 456 w 456"/>
              <a:gd name="T7" fmla="*/ 82 h 82"/>
              <a:gd name="T8" fmla="*/ 456 w 456"/>
              <a:gd name="T9" fmla="*/ 0 h 82"/>
            </a:gdLst>
            <a:ahLst/>
            <a:cxnLst>
              <a:cxn ang="0">
                <a:pos x="T0" y="T1"/>
              </a:cxn>
              <a:cxn ang="0">
                <a:pos x="T2" y="T3"/>
              </a:cxn>
              <a:cxn ang="0">
                <a:pos x="T4" y="T5"/>
              </a:cxn>
              <a:cxn ang="0">
                <a:pos x="T6" y="T7"/>
              </a:cxn>
              <a:cxn ang="0">
                <a:pos x="T8" y="T9"/>
              </a:cxn>
            </a:cxnLst>
            <a:rect l="0" t="0" r="r" b="b"/>
            <a:pathLst>
              <a:path w="456" h="82">
                <a:moveTo>
                  <a:pt x="456" y="0"/>
                </a:moveTo>
                <a:lnTo>
                  <a:pt x="131" y="0"/>
                </a:lnTo>
                <a:lnTo>
                  <a:pt x="0" y="82"/>
                </a:lnTo>
                <a:lnTo>
                  <a:pt x="456" y="82"/>
                </a:lnTo>
                <a:lnTo>
                  <a:pt x="45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76" name="任意多边形 75"/>
          <p:cNvSpPr/>
          <p:nvPr>
            <p:custDataLst>
              <p:tags r:id="rId76"/>
            </p:custDataLst>
          </p:nvPr>
        </p:nvSpPr>
        <p:spPr bwMode="auto">
          <a:xfrm>
            <a:off x="6057250" y="3966542"/>
            <a:ext cx="51666" cy="24219"/>
          </a:xfrm>
          <a:custGeom>
            <a:avLst/>
            <a:gdLst>
              <a:gd name="T0" fmla="*/ 82 w 112"/>
              <a:gd name="T1" fmla="*/ 0 h 51"/>
              <a:gd name="T2" fmla="*/ 0 w 112"/>
              <a:gd name="T3" fmla="*/ 51 h 51"/>
              <a:gd name="T4" fmla="*/ 112 w 112"/>
              <a:gd name="T5" fmla="*/ 51 h 51"/>
              <a:gd name="T6" fmla="*/ 82 w 112"/>
              <a:gd name="T7" fmla="*/ 0 h 51"/>
              <a:gd name="T8" fmla="*/ 82 w 112"/>
              <a:gd name="T9" fmla="*/ 0 h 51"/>
            </a:gdLst>
            <a:ahLst/>
            <a:cxnLst>
              <a:cxn ang="0">
                <a:pos x="T0" y="T1"/>
              </a:cxn>
              <a:cxn ang="0">
                <a:pos x="T2" y="T3"/>
              </a:cxn>
              <a:cxn ang="0">
                <a:pos x="T4" y="T5"/>
              </a:cxn>
              <a:cxn ang="0">
                <a:pos x="T6" y="T7"/>
              </a:cxn>
              <a:cxn ang="0">
                <a:pos x="T8" y="T9"/>
              </a:cxn>
            </a:cxnLst>
            <a:rect l="0" t="0" r="r" b="b"/>
            <a:pathLst>
              <a:path w="112" h="51">
                <a:moveTo>
                  <a:pt x="82" y="0"/>
                </a:moveTo>
                <a:cubicBezTo>
                  <a:pt x="0" y="51"/>
                  <a:pt x="0" y="51"/>
                  <a:pt x="0" y="51"/>
                </a:cubicBezTo>
                <a:cubicBezTo>
                  <a:pt x="112" y="51"/>
                  <a:pt x="112" y="51"/>
                  <a:pt x="112" y="51"/>
                </a:cubicBezTo>
                <a:cubicBezTo>
                  <a:pt x="103" y="34"/>
                  <a:pt x="93" y="17"/>
                  <a:pt x="82" y="0"/>
                </a:cubicBezTo>
                <a:cubicBezTo>
                  <a:pt x="82" y="0"/>
                  <a:pt x="82" y="0"/>
                  <a:pt x="82" y="0"/>
                </a:cubicBezTo>
              </a:path>
            </a:pathLst>
          </a:custGeom>
          <a:solidFill>
            <a:srgbClr val="AAD0D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77" name="任意多边形 76"/>
          <p:cNvSpPr/>
          <p:nvPr>
            <p:custDataLst>
              <p:tags r:id="rId77"/>
            </p:custDataLst>
          </p:nvPr>
        </p:nvSpPr>
        <p:spPr bwMode="auto">
          <a:xfrm>
            <a:off x="5835247" y="4062609"/>
            <a:ext cx="327757" cy="65390"/>
          </a:xfrm>
          <a:custGeom>
            <a:avLst/>
            <a:gdLst>
              <a:gd name="T0" fmla="*/ 664 w 708"/>
              <a:gd name="T1" fmla="*/ 0 h 142"/>
              <a:gd name="T2" fmla="*/ 230 w 708"/>
              <a:gd name="T3" fmla="*/ 0 h 142"/>
              <a:gd name="T4" fmla="*/ 0 w 708"/>
              <a:gd name="T5" fmla="*/ 142 h 142"/>
              <a:gd name="T6" fmla="*/ 708 w 708"/>
              <a:gd name="T7" fmla="*/ 142 h 142"/>
              <a:gd name="T8" fmla="*/ 664 w 708"/>
              <a:gd name="T9" fmla="*/ 0 h 142"/>
            </a:gdLst>
            <a:ahLst/>
            <a:cxnLst>
              <a:cxn ang="0">
                <a:pos x="T0" y="T1"/>
              </a:cxn>
              <a:cxn ang="0">
                <a:pos x="T2" y="T3"/>
              </a:cxn>
              <a:cxn ang="0">
                <a:pos x="T4" y="T5"/>
              </a:cxn>
              <a:cxn ang="0">
                <a:pos x="T6" y="T7"/>
              </a:cxn>
              <a:cxn ang="0">
                <a:pos x="T8" y="T9"/>
              </a:cxn>
            </a:cxnLst>
            <a:rect l="0" t="0" r="r" b="b"/>
            <a:pathLst>
              <a:path w="708" h="142">
                <a:moveTo>
                  <a:pt x="664" y="0"/>
                </a:moveTo>
                <a:cubicBezTo>
                  <a:pt x="230" y="0"/>
                  <a:pt x="230" y="0"/>
                  <a:pt x="230" y="0"/>
                </a:cubicBezTo>
                <a:cubicBezTo>
                  <a:pt x="0" y="142"/>
                  <a:pt x="0" y="142"/>
                  <a:pt x="0" y="142"/>
                </a:cubicBezTo>
                <a:cubicBezTo>
                  <a:pt x="708" y="142"/>
                  <a:pt x="708" y="142"/>
                  <a:pt x="708" y="142"/>
                </a:cubicBezTo>
                <a:cubicBezTo>
                  <a:pt x="697" y="94"/>
                  <a:pt x="682" y="47"/>
                  <a:pt x="664" y="0"/>
                </a:cubicBezTo>
              </a:path>
            </a:pathLst>
          </a:custGeom>
          <a:solidFill>
            <a:srgbClr val="AAD0D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78" name="任意多边形 77"/>
          <p:cNvSpPr/>
          <p:nvPr>
            <p:custDataLst>
              <p:tags r:id="rId78"/>
            </p:custDataLst>
          </p:nvPr>
        </p:nvSpPr>
        <p:spPr bwMode="auto">
          <a:xfrm>
            <a:off x="5948266" y="4219222"/>
            <a:ext cx="229269" cy="65390"/>
          </a:xfrm>
          <a:custGeom>
            <a:avLst/>
            <a:gdLst>
              <a:gd name="T0" fmla="*/ 493 w 495"/>
              <a:gd name="T1" fmla="*/ 0 h 143"/>
              <a:gd name="T2" fmla="*/ 0 w 495"/>
              <a:gd name="T3" fmla="*/ 0 h 143"/>
              <a:gd name="T4" fmla="*/ 0 w 495"/>
              <a:gd name="T5" fmla="*/ 143 h 143"/>
              <a:gd name="T6" fmla="*/ 493 w 495"/>
              <a:gd name="T7" fmla="*/ 143 h 143"/>
              <a:gd name="T8" fmla="*/ 495 w 495"/>
              <a:gd name="T9" fmla="*/ 76 h 143"/>
              <a:gd name="T10" fmla="*/ 493 w 495"/>
              <a:gd name="T11" fmla="*/ 0 h 143"/>
            </a:gdLst>
            <a:ahLst/>
            <a:cxnLst>
              <a:cxn ang="0">
                <a:pos x="T0" y="T1"/>
              </a:cxn>
              <a:cxn ang="0">
                <a:pos x="T2" y="T3"/>
              </a:cxn>
              <a:cxn ang="0">
                <a:pos x="T4" y="T5"/>
              </a:cxn>
              <a:cxn ang="0">
                <a:pos x="T6" y="T7"/>
              </a:cxn>
              <a:cxn ang="0">
                <a:pos x="T8" y="T9"/>
              </a:cxn>
              <a:cxn ang="0">
                <a:pos x="T10" y="T11"/>
              </a:cxn>
            </a:cxnLst>
            <a:rect l="0" t="0" r="r" b="b"/>
            <a:pathLst>
              <a:path w="495" h="143">
                <a:moveTo>
                  <a:pt x="493" y="0"/>
                </a:moveTo>
                <a:cubicBezTo>
                  <a:pt x="0" y="0"/>
                  <a:pt x="0" y="0"/>
                  <a:pt x="0" y="0"/>
                </a:cubicBezTo>
                <a:cubicBezTo>
                  <a:pt x="0" y="143"/>
                  <a:pt x="0" y="143"/>
                  <a:pt x="0" y="143"/>
                </a:cubicBezTo>
                <a:cubicBezTo>
                  <a:pt x="493" y="143"/>
                  <a:pt x="493" y="143"/>
                  <a:pt x="493" y="143"/>
                </a:cubicBezTo>
                <a:cubicBezTo>
                  <a:pt x="495" y="120"/>
                  <a:pt x="495" y="98"/>
                  <a:pt x="495" y="76"/>
                </a:cubicBezTo>
                <a:cubicBezTo>
                  <a:pt x="495" y="50"/>
                  <a:pt x="494" y="25"/>
                  <a:pt x="493" y="0"/>
                </a:cubicBezTo>
              </a:path>
            </a:pathLst>
          </a:custGeom>
          <a:solidFill>
            <a:srgbClr val="AAD0D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79" name="任意多边形 78"/>
          <p:cNvSpPr/>
          <p:nvPr>
            <p:custDataLst>
              <p:tags r:id="rId79"/>
            </p:custDataLst>
          </p:nvPr>
        </p:nvSpPr>
        <p:spPr bwMode="auto">
          <a:xfrm>
            <a:off x="5811028" y="4363726"/>
            <a:ext cx="355205" cy="66197"/>
          </a:xfrm>
          <a:custGeom>
            <a:avLst/>
            <a:gdLst>
              <a:gd name="T0" fmla="*/ 768 w 768"/>
              <a:gd name="T1" fmla="*/ 0 h 143"/>
              <a:gd name="T2" fmla="*/ 0 w 768"/>
              <a:gd name="T3" fmla="*/ 0 h 143"/>
              <a:gd name="T4" fmla="*/ 0 w 768"/>
              <a:gd name="T5" fmla="*/ 143 h 143"/>
              <a:gd name="T6" fmla="*/ 729 w 768"/>
              <a:gd name="T7" fmla="*/ 143 h 143"/>
              <a:gd name="T8" fmla="*/ 768 w 768"/>
              <a:gd name="T9" fmla="*/ 0 h 143"/>
            </a:gdLst>
            <a:ahLst/>
            <a:cxnLst>
              <a:cxn ang="0">
                <a:pos x="T0" y="T1"/>
              </a:cxn>
              <a:cxn ang="0">
                <a:pos x="T2" y="T3"/>
              </a:cxn>
              <a:cxn ang="0">
                <a:pos x="T4" y="T5"/>
              </a:cxn>
              <a:cxn ang="0">
                <a:pos x="T6" y="T7"/>
              </a:cxn>
              <a:cxn ang="0">
                <a:pos x="T8" y="T9"/>
              </a:cxn>
            </a:cxnLst>
            <a:rect l="0" t="0" r="r" b="b"/>
            <a:pathLst>
              <a:path w="768" h="143">
                <a:moveTo>
                  <a:pt x="768" y="0"/>
                </a:moveTo>
                <a:cubicBezTo>
                  <a:pt x="0" y="0"/>
                  <a:pt x="0" y="0"/>
                  <a:pt x="0" y="0"/>
                </a:cubicBezTo>
                <a:cubicBezTo>
                  <a:pt x="0" y="143"/>
                  <a:pt x="0" y="143"/>
                  <a:pt x="0" y="143"/>
                </a:cubicBezTo>
                <a:cubicBezTo>
                  <a:pt x="729" y="143"/>
                  <a:pt x="729" y="143"/>
                  <a:pt x="729" y="143"/>
                </a:cubicBezTo>
                <a:cubicBezTo>
                  <a:pt x="745" y="97"/>
                  <a:pt x="758" y="49"/>
                  <a:pt x="768" y="0"/>
                </a:cubicBezTo>
              </a:path>
            </a:pathLst>
          </a:custGeom>
          <a:solidFill>
            <a:srgbClr val="AAD0D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80" name="任意多边形 79"/>
          <p:cNvSpPr/>
          <p:nvPr>
            <p:custDataLst>
              <p:tags r:id="rId80"/>
            </p:custDataLst>
          </p:nvPr>
        </p:nvSpPr>
        <p:spPr bwMode="auto">
          <a:xfrm>
            <a:off x="5866731" y="4521954"/>
            <a:ext cx="240571" cy="66197"/>
          </a:xfrm>
          <a:custGeom>
            <a:avLst/>
            <a:gdLst>
              <a:gd name="T0" fmla="*/ 521 w 521"/>
              <a:gd name="T1" fmla="*/ 0 h 143"/>
              <a:gd name="T2" fmla="*/ 0 w 521"/>
              <a:gd name="T3" fmla="*/ 0 h 143"/>
              <a:gd name="T4" fmla="*/ 0 w 521"/>
              <a:gd name="T5" fmla="*/ 143 h 143"/>
              <a:gd name="T6" fmla="*/ 427 w 521"/>
              <a:gd name="T7" fmla="*/ 143 h 143"/>
              <a:gd name="T8" fmla="*/ 521 w 521"/>
              <a:gd name="T9" fmla="*/ 0 h 143"/>
            </a:gdLst>
            <a:ahLst/>
            <a:cxnLst>
              <a:cxn ang="0">
                <a:pos x="T0" y="T1"/>
              </a:cxn>
              <a:cxn ang="0">
                <a:pos x="T2" y="T3"/>
              </a:cxn>
              <a:cxn ang="0">
                <a:pos x="T4" y="T5"/>
              </a:cxn>
              <a:cxn ang="0">
                <a:pos x="T6" y="T7"/>
              </a:cxn>
              <a:cxn ang="0">
                <a:pos x="T8" y="T9"/>
              </a:cxn>
            </a:cxnLst>
            <a:rect l="0" t="0" r="r" b="b"/>
            <a:pathLst>
              <a:path w="521" h="143">
                <a:moveTo>
                  <a:pt x="521" y="0"/>
                </a:moveTo>
                <a:cubicBezTo>
                  <a:pt x="0" y="0"/>
                  <a:pt x="0" y="0"/>
                  <a:pt x="0" y="0"/>
                </a:cubicBezTo>
                <a:cubicBezTo>
                  <a:pt x="0" y="143"/>
                  <a:pt x="0" y="143"/>
                  <a:pt x="0" y="143"/>
                </a:cubicBezTo>
                <a:cubicBezTo>
                  <a:pt x="427" y="143"/>
                  <a:pt x="427" y="143"/>
                  <a:pt x="427" y="143"/>
                </a:cubicBezTo>
                <a:cubicBezTo>
                  <a:pt x="462" y="97"/>
                  <a:pt x="494" y="49"/>
                  <a:pt x="521" y="0"/>
                </a:cubicBezTo>
              </a:path>
            </a:pathLst>
          </a:custGeom>
          <a:solidFill>
            <a:srgbClr val="AAD0D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81" name="任意多边形 80"/>
          <p:cNvSpPr/>
          <p:nvPr>
            <p:custDataLst>
              <p:tags r:id="rId81"/>
            </p:custDataLst>
          </p:nvPr>
        </p:nvSpPr>
        <p:spPr bwMode="auto">
          <a:xfrm>
            <a:off x="5167623" y="3966542"/>
            <a:ext cx="1009913" cy="833117"/>
          </a:xfrm>
          <a:custGeom>
            <a:avLst/>
            <a:gdLst>
              <a:gd name="T0" fmla="*/ 1005 w 2185"/>
              <a:gd name="T1" fmla="*/ 1804 h 1804"/>
              <a:gd name="T2" fmla="*/ 1005 w 2185"/>
              <a:gd name="T3" fmla="*/ 1804 h 1804"/>
              <a:gd name="T4" fmla="*/ 1005 w 2185"/>
              <a:gd name="T5" fmla="*/ 1804 h 1804"/>
              <a:gd name="T6" fmla="*/ 1005 w 2185"/>
              <a:gd name="T7" fmla="*/ 1804 h 1804"/>
              <a:gd name="T8" fmla="*/ 1627 w 2185"/>
              <a:gd name="T9" fmla="*/ 1627 h 1804"/>
              <a:gd name="T10" fmla="*/ 1005 w 2185"/>
              <a:gd name="T11" fmla="*/ 1804 h 1804"/>
              <a:gd name="T12" fmla="*/ 1627 w 2185"/>
              <a:gd name="T13" fmla="*/ 1627 h 1804"/>
              <a:gd name="T14" fmla="*/ 5 w 2185"/>
              <a:gd name="T15" fmla="*/ 1254 h 1804"/>
              <a:gd name="T16" fmla="*/ 6 w 2185"/>
              <a:gd name="T17" fmla="*/ 1254 h 1804"/>
              <a:gd name="T18" fmla="*/ 5 w 2185"/>
              <a:gd name="T19" fmla="*/ 1254 h 1804"/>
              <a:gd name="T20" fmla="*/ 0 w 2185"/>
              <a:gd name="T21" fmla="*/ 1246 h 1804"/>
              <a:gd name="T22" fmla="*/ 2 w 2185"/>
              <a:gd name="T23" fmla="*/ 1249 h 1804"/>
              <a:gd name="T24" fmla="*/ 0 w 2185"/>
              <a:gd name="T25" fmla="*/ 1246 h 1804"/>
              <a:gd name="T26" fmla="*/ 2007 w 2185"/>
              <a:gd name="T27" fmla="*/ 0 h 1804"/>
              <a:gd name="T28" fmla="*/ 2007 w 2185"/>
              <a:gd name="T29" fmla="*/ 0 h 1804"/>
              <a:gd name="T30" fmla="*/ 2007 w 2185"/>
              <a:gd name="T31" fmla="*/ 0 h 1804"/>
              <a:gd name="T32" fmla="*/ 2007 w 2185"/>
              <a:gd name="T33" fmla="*/ 0 h 1804"/>
              <a:gd name="T34" fmla="*/ 2007 w 2185"/>
              <a:gd name="T35" fmla="*/ 0 h 1804"/>
              <a:gd name="T36" fmla="*/ 2037 w 2185"/>
              <a:gd name="T37" fmla="*/ 51 h 1804"/>
              <a:gd name="T38" fmla="*/ 2109 w 2185"/>
              <a:gd name="T39" fmla="*/ 207 h 1804"/>
              <a:gd name="T40" fmla="*/ 2153 w 2185"/>
              <a:gd name="T41" fmla="*/ 349 h 1804"/>
              <a:gd name="T42" fmla="*/ 2183 w 2185"/>
              <a:gd name="T43" fmla="*/ 546 h 1804"/>
              <a:gd name="T44" fmla="*/ 2185 w 2185"/>
              <a:gd name="T45" fmla="*/ 622 h 1804"/>
              <a:gd name="T46" fmla="*/ 2007 w 2185"/>
              <a:gd name="T47" fmla="*/ 0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185" h="1804">
                <a:moveTo>
                  <a:pt x="1005" y="1804"/>
                </a:moveTo>
                <a:cubicBezTo>
                  <a:pt x="1005" y="1804"/>
                  <a:pt x="1005" y="1804"/>
                  <a:pt x="1005" y="1804"/>
                </a:cubicBezTo>
                <a:cubicBezTo>
                  <a:pt x="1005" y="1804"/>
                  <a:pt x="1005" y="1804"/>
                  <a:pt x="1005" y="1804"/>
                </a:cubicBezTo>
                <a:cubicBezTo>
                  <a:pt x="1005" y="1804"/>
                  <a:pt x="1005" y="1804"/>
                  <a:pt x="1005" y="1804"/>
                </a:cubicBezTo>
                <a:moveTo>
                  <a:pt x="1627" y="1627"/>
                </a:moveTo>
                <a:cubicBezTo>
                  <a:pt x="1433" y="1747"/>
                  <a:pt x="1218" y="1804"/>
                  <a:pt x="1005" y="1804"/>
                </a:cubicBezTo>
                <a:cubicBezTo>
                  <a:pt x="1218" y="1804"/>
                  <a:pt x="1433" y="1747"/>
                  <a:pt x="1627" y="1627"/>
                </a:cubicBezTo>
                <a:moveTo>
                  <a:pt x="5" y="1254"/>
                </a:moveTo>
                <a:cubicBezTo>
                  <a:pt x="5" y="1254"/>
                  <a:pt x="5" y="1254"/>
                  <a:pt x="6" y="1254"/>
                </a:cubicBezTo>
                <a:cubicBezTo>
                  <a:pt x="5" y="1254"/>
                  <a:pt x="5" y="1254"/>
                  <a:pt x="5" y="1254"/>
                </a:cubicBezTo>
                <a:moveTo>
                  <a:pt x="0" y="1246"/>
                </a:moveTo>
                <a:cubicBezTo>
                  <a:pt x="1" y="1247"/>
                  <a:pt x="2" y="1248"/>
                  <a:pt x="2" y="1249"/>
                </a:cubicBezTo>
                <a:cubicBezTo>
                  <a:pt x="2" y="1248"/>
                  <a:pt x="1" y="1247"/>
                  <a:pt x="0" y="1246"/>
                </a:cubicBezTo>
                <a:moveTo>
                  <a:pt x="2007" y="0"/>
                </a:moveTo>
                <a:cubicBezTo>
                  <a:pt x="2007" y="0"/>
                  <a:pt x="2007" y="0"/>
                  <a:pt x="2007" y="0"/>
                </a:cubicBezTo>
                <a:cubicBezTo>
                  <a:pt x="2007" y="0"/>
                  <a:pt x="2007" y="0"/>
                  <a:pt x="2007" y="0"/>
                </a:cubicBezTo>
                <a:cubicBezTo>
                  <a:pt x="2007" y="0"/>
                  <a:pt x="2007" y="0"/>
                  <a:pt x="2007" y="0"/>
                </a:cubicBezTo>
                <a:cubicBezTo>
                  <a:pt x="2007" y="0"/>
                  <a:pt x="2007" y="0"/>
                  <a:pt x="2007" y="0"/>
                </a:cubicBezTo>
                <a:cubicBezTo>
                  <a:pt x="2018" y="17"/>
                  <a:pt x="2028" y="34"/>
                  <a:pt x="2037" y="51"/>
                </a:cubicBezTo>
                <a:cubicBezTo>
                  <a:pt x="2065" y="102"/>
                  <a:pt x="2089" y="154"/>
                  <a:pt x="2109" y="207"/>
                </a:cubicBezTo>
                <a:cubicBezTo>
                  <a:pt x="2127" y="254"/>
                  <a:pt x="2142" y="301"/>
                  <a:pt x="2153" y="349"/>
                </a:cubicBezTo>
                <a:cubicBezTo>
                  <a:pt x="2169" y="414"/>
                  <a:pt x="2178" y="480"/>
                  <a:pt x="2183" y="546"/>
                </a:cubicBezTo>
                <a:cubicBezTo>
                  <a:pt x="2184" y="571"/>
                  <a:pt x="2185" y="596"/>
                  <a:pt x="2185" y="622"/>
                </a:cubicBezTo>
                <a:cubicBezTo>
                  <a:pt x="2185" y="409"/>
                  <a:pt x="2128" y="194"/>
                  <a:pt x="2007" y="0"/>
                </a:cubicBezTo>
              </a:path>
            </a:pathLst>
          </a:custGeom>
          <a:solidFill>
            <a:srgbClr val="2F575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82" name="任意多边形 81"/>
          <p:cNvSpPr/>
          <p:nvPr>
            <p:custDataLst>
              <p:tags r:id="rId82"/>
            </p:custDataLst>
          </p:nvPr>
        </p:nvSpPr>
        <p:spPr bwMode="auto">
          <a:xfrm>
            <a:off x="5195877" y="3734852"/>
            <a:ext cx="588511" cy="422210"/>
          </a:xfrm>
          <a:custGeom>
            <a:avLst/>
            <a:gdLst>
              <a:gd name="T0" fmla="*/ 69 w 1272"/>
              <a:gd name="T1" fmla="*/ 909 h 914"/>
              <a:gd name="T2" fmla="*/ 4 w 1272"/>
              <a:gd name="T3" fmla="*/ 823 h 914"/>
              <a:gd name="T4" fmla="*/ 356 w 1272"/>
              <a:gd name="T5" fmla="*/ 268 h 914"/>
              <a:gd name="T6" fmla="*/ 1214 w 1272"/>
              <a:gd name="T7" fmla="*/ 183 h 914"/>
              <a:gd name="T8" fmla="*/ 1254 w 1272"/>
              <a:gd name="T9" fmla="*/ 287 h 914"/>
              <a:gd name="T10" fmla="*/ 1151 w 1272"/>
              <a:gd name="T11" fmla="*/ 327 h 914"/>
              <a:gd name="T12" fmla="*/ 439 w 1272"/>
              <a:gd name="T13" fmla="*/ 402 h 914"/>
              <a:gd name="T14" fmla="*/ 160 w 1272"/>
              <a:gd name="T15" fmla="*/ 840 h 914"/>
              <a:gd name="T16" fmla="*/ 74 w 1272"/>
              <a:gd name="T17" fmla="*/ 910 h 914"/>
              <a:gd name="T18" fmla="*/ 69 w 1272"/>
              <a:gd name="T19" fmla="*/ 909 h 9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2" h="914">
                <a:moveTo>
                  <a:pt x="69" y="909"/>
                </a:moveTo>
                <a:cubicBezTo>
                  <a:pt x="28" y="902"/>
                  <a:pt x="0" y="865"/>
                  <a:pt x="4" y="823"/>
                </a:cubicBezTo>
                <a:cubicBezTo>
                  <a:pt x="6" y="809"/>
                  <a:pt x="46" y="462"/>
                  <a:pt x="356" y="268"/>
                </a:cubicBezTo>
                <a:cubicBezTo>
                  <a:pt x="788" y="0"/>
                  <a:pt x="1197" y="176"/>
                  <a:pt x="1214" y="183"/>
                </a:cubicBezTo>
                <a:cubicBezTo>
                  <a:pt x="1254" y="201"/>
                  <a:pt x="1272" y="247"/>
                  <a:pt x="1254" y="287"/>
                </a:cubicBezTo>
                <a:cubicBezTo>
                  <a:pt x="1237" y="327"/>
                  <a:pt x="1191" y="345"/>
                  <a:pt x="1151" y="327"/>
                </a:cubicBezTo>
                <a:cubicBezTo>
                  <a:pt x="1137" y="321"/>
                  <a:pt x="798" y="178"/>
                  <a:pt x="439" y="402"/>
                </a:cubicBezTo>
                <a:cubicBezTo>
                  <a:pt x="193" y="555"/>
                  <a:pt x="161" y="837"/>
                  <a:pt x="160" y="840"/>
                </a:cubicBezTo>
                <a:cubicBezTo>
                  <a:pt x="156" y="883"/>
                  <a:pt x="117" y="914"/>
                  <a:pt x="74" y="910"/>
                </a:cubicBezTo>
                <a:cubicBezTo>
                  <a:pt x="72" y="910"/>
                  <a:pt x="71" y="909"/>
                  <a:pt x="69" y="90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83" name="任意多边形 82"/>
          <p:cNvSpPr/>
          <p:nvPr>
            <p:custDataLst>
              <p:tags r:id="rId83"/>
            </p:custDataLst>
          </p:nvPr>
        </p:nvSpPr>
        <p:spPr bwMode="auto">
          <a:xfrm>
            <a:off x="5019889" y="3644436"/>
            <a:ext cx="1216578" cy="1214156"/>
          </a:xfrm>
          <a:custGeom>
            <a:avLst/>
            <a:gdLst>
              <a:gd name="T0" fmla="*/ 1114 w 2631"/>
              <a:gd name="T1" fmla="*/ 2520 h 2631"/>
              <a:gd name="T2" fmla="*/ 112 w 2631"/>
              <a:gd name="T3" fmla="*/ 1114 h 2631"/>
              <a:gd name="T4" fmla="*/ 1517 w 2631"/>
              <a:gd name="T5" fmla="*/ 111 h 2631"/>
              <a:gd name="T6" fmla="*/ 2520 w 2631"/>
              <a:gd name="T7" fmla="*/ 1517 h 2631"/>
              <a:gd name="T8" fmla="*/ 1114 w 2631"/>
              <a:gd name="T9" fmla="*/ 2520 h 2631"/>
              <a:gd name="T10" fmla="*/ 1508 w 2631"/>
              <a:gd name="T11" fmla="*/ 168 h 2631"/>
              <a:gd name="T12" fmla="*/ 168 w 2631"/>
              <a:gd name="T13" fmla="*/ 1123 h 2631"/>
              <a:gd name="T14" fmla="*/ 1124 w 2631"/>
              <a:gd name="T15" fmla="*/ 2464 h 2631"/>
              <a:gd name="T16" fmla="*/ 2464 w 2631"/>
              <a:gd name="T17" fmla="*/ 1508 h 2631"/>
              <a:gd name="T18" fmla="*/ 1508 w 2631"/>
              <a:gd name="T19" fmla="*/ 168 h 2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31" h="2631">
                <a:moveTo>
                  <a:pt x="1114" y="2520"/>
                </a:moveTo>
                <a:cubicBezTo>
                  <a:pt x="450" y="2409"/>
                  <a:pt x="0" y="1778"/>
                  <a:pt x="112" y="1114"/>
                </a:cubicBezTo>
                <a:cubicBezTo>
                  <a:pt x="223" y="450"/>
                  <a:pt x="853" y="0"/>
                  <a:pt x="1517" y="111"/>
                </a:cubicBezTo>
                <a:cubicBezTo>
                  <a:pt x="2181" y="222"/>
                  <a:pt x="2631" y="853"/>
                  <a:pt x="2520" y="1517"/>
                </a:cubicBezTo>
                <a:cubicBezTo>
                  <a:pt x="2409" y="2181"/>
                  <a:pt x="1778" y="2631"/>
                  <a:pt x="1114" y="2520"/>
                </a:cubicBezTo>
                <a:close/>
                <a:moveTo>
                  <a:pt x="1508" y="168"/>
                </a:moveTo>
                <a:cubicBezTo>
                  <a:pt x="875" y="62"/>
                  <a:pt x="274" y="491"/>
                  <a:pt x="168" y="1123"/>
                </a:cubicBezTo>
                <a:cubicBezTo>
                  <a:pt x="62" y="1756"/>
                  <a:pt x="491" y="2358"/>
                  <a:pt x="1124" y="2464"/>
                </a:cubicBezTo>
                <a:cubicBezTo>
                  <a:pt x="1757" y="2570"/>
                  <a:pt x="2358" y="2141"/>
                  <a:pt x="2464" y="1508"/>
                </a:cubicBezTo>
                <a:cubicBezTo>
                  <a:pt x="2569" y="875"/>
                  <a:pt x="2141" y="274"/>
                  <a:pt x="1508" y="168"/>
                </a:cubicBezTo>
                <a:close/>
              </a:path>
            </a:pathLst>
          </a:custGeom>
          <a:solidFill>
            <a:srgbClr val="09383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84" name="任意多边形 83"/>
          <p:cNvSpPr/>
          <p:nvPr>
            <p:custDataLst>
              <p:tags r:id="rId84"/>
            </p:custDataLst>
          </p:nvPr>
        </p:nvSpPr>
        <p:spPr bwMode="auto">
          <a:xfrm>
            <a:off x="3975263" y="4585729"/>
            <a:ext cx="964706" cy="736243"/>
          </a:xfrm>
          <a:custGeom>
            <a:avLst/>
            <a:gdLst>
              <a:gd name="T0" fmla="*/ 99 w 2087"/>
              <a:gd name="T1" fmla="*/ 1377 h 1594"/>
              <a:gd name="T2" fmla="*/ 190 w 2087"/>
              <a:gd name="T3" fmla="*/ 920 h 1594"/>
              <a:gd name="T4" fmla="*/ 1539 w 2087"/>
              <a:gd name="T5" fmla="*/ 92 h 1594"/>
              <a:gd name="T6" fmla="*/ 1988 w 2087"/>
              <a:gd name="T7" fmla="*/ 218 h 1594"/>
              <a:gd name="T8" fmla="*/ 1897 w 2087"/>
              <a:gd name="T9" fmla="*/ 675 h 1594"/>
              <a:gd name="T10" fmla="*/ 547 w 2087"/>
              <a:gd name="T11" fmla="*/ 1503 h 1594"/>
              <a:gd name="T12" fmla="*/ 99 w 2087"/>
              <a:gd name="T13" fmla="*/ 1377 h 1594"/>
            </a:gdLst>
            <a:ahLst/>
            <a:cxnLst>
              <a:cxn ang="0">
                <a:pos x="T0" y="T1"/>
              </a:cxn>
              <a:cxn ang="0">
                <a:pos x="T2" y="T3"/>
              </a:cxn>
              <a:cxn ang="0">
                <a:pos x="T4" y="T5"/>
              </a:cxn>
              <a:cxn ang="0">
                <a:pos x="T6" y="T7"/>
              </a:cxn>
              <a:cxn ang="0">
                <a:pos x="T8" y="T9"/>
              </a:cxn>
              <a:cxn ang="0">
                <a:pos x="T10" y="T11"/>
              </a:cxn>
              <a:cxn ang="0">
                <a:pos x="T12" y="T13"/>
              </a:cxn>
            </a:cxnLst>
            <a:rect l="0" t="0" r="r" b="b"/>
            <a:pathLst>
              <a:path w="2087" h="1594">
                <a:moveTo>
                  <a:pt x="99" y="1377"/>
                </a:moveTo>
                <a:cubicBezTo>
                  <a:pt x="0" y="1216"/>
                  <a:pt x="41" y="1011"/>
                  <a:pt x="190" y="920"/>
                </a:cubicBezTo>
                <a:cubicBezTo>
                  <a:pt x="1539" y="92"/>
                  <a:pt x="1539" y="92"/>
                  <a:pt x="1539" y="92"/>
                </a:cubicBezTo>
                <a:cubicBezTo>
                  <a:pt x="1688" y="0"/>
                  <a:pt x="1889" y="57"/>
                  <a:pt x="1988" y="218"/>
                </a:cubicBezTo>
                <a:cubicBezTo>
                  <a:pt x="2087" y="379"/>
                  <a:pt x="2046" y="584"/>
                  <a:pt x="1897" y="675"/>
                </a:cubicBezTo>
                <a:cubicBezTo>
                  <a:pt x="547" y="1503"/>
                  <a:pt x="547" y="1503"/>
                  <a:pt x="547" y="1503"/>
                </a:cubicBezTo>
                <a:cubicBezTo>
                  <a:pt x="399" y="1594"/>
                  <a:pt x="198" y="1538"/>
                  <a:pt x="99" y="1377"/>
                </a:cubicBezTo>
                <a:close/>
              </a:path>
            </a:pathLst>
          </a:custGeom>
          <a:solidFill>
            <a:srgbClr val="10151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sym typeface="+mn-lt"/>
            </a:endParaRPr>
          </a:p>
        </p:txBody>
      </p:sp>
      <p:sp>
        <p:nvSpPr>
          <p:cNvPr id="2" name="矩形 1"/>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矩形 2"/>
          <p:cNvSpPr/>
          <p:nvPr/>
        </p:nvSpPr>
        <p:spPr>
          <a:xfrm>
            <a:off x="-222" y="-27283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文本框 4"/>
          <p:cNvSpPr txBox="1"/>
          <p:nvPr/>
        </p:nvSpPr>
        <p:spPr>
          <a:xfrm>
            <a:off x="418455" y="312636"/>
            <a:ext cx="2787500" cy="398780"/>
          </a:xfrm>
          <a:prstGeom prst="rect">
            <a:avLst/>
          </a:prstGeom>
          <a:noFill/>
        </p:spPr>
        <p:txBody>
          <a:bodyPr wrap="square" rtlCol="0">
            <a:spAutoFit/>
          </a:bodyPr>
          <a:lstStyle/>
          <a:p>
            <a:r>
              <a:rPr lang="zh-CN" altLang="en-US" sz="2000" b="1" dirty="0">
                <a:cs typeface="+mn-ea"/>
                <a:sym typeface="+mn-lt"/>
              </a:rPr>
              <a:t>代理商保证金</a:t>
            </a:r>
          </a:p>
        </p:txBody>
      </p:sp>
      <p:cxnSp>
        <p:nvCxnSpPr>
          <p:cNvPr id="7" name="直接连接符 6"/>
          <p:cNvCxnSpPr/>
          <p:nvPr/>
        </p:nvCxnSpPr>
        <p:spPr>
          <a:xfrm>
            <a:off x="15718" y="710505"/>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86" name="文本框 85"/>
          <p:cNvSpPr txBox="1"/>
          <p:nvPr/>
        </p:nvSpPr>
        <p:spPr>
          <a:xfrm>
            <a:off x="418465" y="771525"/>
            <a:ext cx="2194560" cy="337185"/>
          </a:xfrm>
          <a:prstGeom prst="rect">
            <a:avLst/>
          </a:prstGeom>
          <a:noFill/>
        </p:spPr>
        <p:txBody>
          <a:bodyPr wrap="none" rtlCol="0" anchor="t">
            <a:spAutoFit/>
          </a:bodyPr>
          <a:lstStyle/>
          <a:p>
            <a:pPr algn="ctr" defTabSz="839470"/>
            <a:r>
              <a:rPr lang="en-US" altLang="zh-CN" sz="1600" b="1" dirty="0">
                <a:solidFill>
                  <a:srgbClr val="FFC000"/>
                </a:solidFill>
                <a:latin typeface="微软雅黑" panose="020B0503020204020204" charset="-122"/>
                <a:ea typeface="微软雅黑" panose="020B0503020204020204" charset="-122"/>
                <a:sym typeface="+mn-ea"/>
              </a:rPr>
              <a:t>2.</a:t>
            </a:r>
            <a:r>
              <a:rPr lang="zh-CN" altLang="en-US" sz="1600" b="1" dirty="0">
                <a:solidFill>
                  <a:srgbClr val="FFC000"/>
                </a:solidFill>
                <a:latin typeface="微软雅黑" panose="020B0503020204020204" charset="-122"/>
                <a:ea typeface="微软雅黑" panose="020B0503020204020204" charset="-122"/>
                <a:sym typeface="+mn-ea"/>
              </a:rPr>
              <a:t>系统数据的稽核过滤</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35567" y="3935457"/>
            <a:ext cx="954108" cy="923331"/>
          </a:xfrm>
          <a:prstGeom prst="rect">
            <a:avLst/>
          </a:prstGeom>
          <a:noFill/>
        </p:spPr>
        <p:txBody>
          <a:bodyPr wrap="none" rtlCol="0" anchor="ctr">
            <a:normAutofit/>
          </a:bodyPr>
          <a:lstStyle/>
          <a:p>
            <a:pPr algn="ctr" defTabSz="685800"/>
            <a:r>
              <a:rPr lang="en-US" altLang="zh-CN" sz="5400" dirty="0">
                <a:solidFill>
                  <a:srgbClr val="FFC000"/>
                </a:solidFill>
              </a:rPr>
              <a:t>01</a:t>
            </a:r>
          </a:p>
        </p:txBody>
      </p:sp>
      <p:sp>
        <p:nvSpPr>
          <p:cNvPr id="5" name="文本框 4"/>
          <p:cNvSpPr txBox="1"/>
          <p:nvPr>
            <p:custDataLst>
              <p:tags r:id="rId3"/>
            </p:custDataLst>
          </p:nvPr>
        </p:nvSpPr>
        <p:spPr>
          <a:xfrm>
            <a:off x="882015" y="4964430"/>
            <a:ext cx="2680970" cy="384810"/>
          </a:xfrm>
          <a:prstGeom prst="rect">
            <a:avLst/>
          </a:prstGeom>
          <a:noFill/>
        </p:spPr>
        <p:txBody>
          <a:bodyPr wrap="none" rtlCol="0" anchor="ctr">
            <a:normAutofit fontScale="97500" lnSpcReduction="10000"/>
          </a:bodyPr>
          <a:lstStyle/>
          <a:p>
            <a:pPr algn="ctr" defTabSz="685800"/>
            <a:r>
              <a:rPr lang="zh-CN" altLang="en-US" sz="2000" b="1" dirty="0">
                <a:solidFill>
                  <a:srgbClr val="000000"/>
                </a:solidFill>
                <a:latin typeface="微软雅黑" panose="020B0503020204020204" charset="-122"/>
                <a:ea typeface="微软雅黑" panose="020B0503020204020204" charset="-122"/>
                <a:sym typeface="+mn-ea"/>
              </a:rPr>
              <a:t>其余信息比对的协同配合</a:t>
            </a:r>
            <a:endParaRPr lang="zh-CN" altLang="en-US" sz="2000" dirty="0">
              <a:latin typeface="+mj-lt"/>
              <a:ea typeface="+mj-ea"/>
              <a:cs typeface="+mj-cs"/>
            </a:endParaRPr>
          </a:p>
        </p:txBody>
      </p:sp>
      <p:sp>
        <p:nvSpPr>
          <p:cNvPr id="14" name="文本框 13"/>
          <p:cNvSpPr txBox="1"/>
          <p:nvPr>
            <p:custDataLst>
              <p:tags r:id="rId4"/>
            </p:custDataLst>
          </p:nvPr>
        </p:nvSpPr>
        <p:spPr>
          <a:xfrm>
            <a:off x="6943910" y="738017"/>
            <a:ext cx="954107" cy="923331"/>
          </a:xfrm>
          <a:prstGeom prst="rect">
            <a:avLst/>
          </a:prstGeom>
          <a:noFill/>
        </p:spPr>
        <p:txBody>
          <a:bodyPr wrap="none" rtlCol="0" anchor="ctr">
            <a:normAutofit/>
          </a:bodyPr>
          <a:lstStyle/>
          <a:p>
            <a:pPr algn="ctr" defTabSz="685800"/>
            <a:r>
              <a:rPr lang="en-US" altLang="zh-CN" sz="5400" dirty="0">
                <a:solidFill>
                  <a:srgbClr val="FFC000"/>
                </a:solidFill>
              </a:rPr>
              <a:t>02</a:t>
            </a:r>
          </a:p>
        </p:txBody>
      </p:sp>
      <p:sp>
        <p:nvSpPr>
          <p:cNvPr id="17" name="文本框 16"/>
          <p:cNvSpPr txBox="1"/>
          <p:nvPr>
            <p:custDataLst>
              <p:tags r:id="rId5"/>
            </p:custDataLst>
          </p:nvPr>
        </p:nvSpPr>
        <p:spPr>
          <a:xfrm>
            <a:off x="6326817" y="1884068"/>
            <a:ext cx="2189019" cy="384721"/>
          </a:xfrm>
          <a:prstGeom prst="rect">
            <a:avLst/>
          </a:prstGeom>
          <a:noFill/>
        </p:spPr>
        <p:txBody>
          <a:bodyPr wrap="none" rtlCol="0" anchor="ctr">
            <a:normAutofit fontScale="97500" lnSpcReduction="10000"/>
          </a:bodyPr>
          <a:lstStyle/>
          <a:p>
            <a:pPr algn="l" defTabSz="685800"/>
            <a:r>
              <a:rPr lang="zh-CN" altLang="en-US" sz="2000" b="1" dirty="0">
                <a:solidFill>
                  <a:srgbClr val="000000"/>
                </a:solidFill>
                <a:latin typeface="微软雅黑" panose="020B0503020204020204" charset="-122"/>
                <a:ea typeface="微软雅黑" panose="020B0503020204020204" charset="-122"/>
                <a:sym typeface="+mn-ea"/>
              </a:rPr>
              <a:t>系统数据筛查</a:t>
            </a:r>
            <a:endParaRPr lang="zh-CN" altLang="en-US" sz="2000" dirty="0">
              <a:latin typeface="+mj-lt"/>
              <a:ea typeface="+mj-ea"/>
              <a:cs typeface="+mj-cs"/>
            </a:endParaRPr>
          </a:p>
        </p:txBody>
      </p:sp>
      <p:sp>
        <p:nvSpPr>
          <p:cNvPr id="6" name="文本框 5"/>
          <p:cNvSpPr txBox="1"/>
          <p:nvPr>
            <p:custDataLst>
              <p:tags r:id="rId6"/>
            </p:custDataLst>
          </p:nvPr>
        </p:nvSpPr>
        <p:spPr>
          <a:xfrm>
            <a:off x="6240145" y="2268855"/>
            <a:ext cx="4974590" cy="887730"/>
          </a:xfrm>
          <a:prstGeom prst="rect">
            <a:avLst/>
          </a:prstGeom>
        </p:spPr>
        <p:txBody>
          <a:bodyPr wrap="square" anchor="t"/>
          <a:lstStyle>
            <a:defPPr>
              <a:defRPr lang="zh-CN"/>
            </a:defPPr>
            <a:lvl1pPr>
              <a:defRPr>
                <a:solidFill>
                  <a:schemeClr val="bg2">
                    <a:lumMod val="50000"/>
                  </a:schemeClr>
                </a:solidFill>
              </a:defRPr>
            </a:lvl1pPr>
          </a:lstStyle>
          <a:p>
            <a:pPr defTabSz="685800">
              <a:lnSpc>
                <a:spcPct val="150000"/>
              </a:lnSpc>
            </a:pPr>
            <a:r>
              <a:rPr lang="zh-CN" altLang="en-US" sz="1400" dirty="0">
                <a:solidFill>
                  <a:srgbClr val="404040"/>
                </a:solidFill>
                <a:latin typeface="微软雅黑" panose="020B0503020204020204" charset="-122"/>
                <a:ea typeface="微软雅黑" panose="020B0503020204020204" charset="-122"/>
                <a:sym typeface="+mn-ea"/>
              </a:rPr>
              <a:t>目前，未比对的代理商保证金有</a:t>
            </a:r>
            <a:r>
              <a:rPr lang="en-US" altLang="zh-CN" sz="1400" dirty="0">
                <a:solidFill>
                  <a:srgbClr val="404040"/>
                </a:solidFill>
                <a:latin typeface="微软雅黑" panose="020B0503020204020204" charset="-122"/>
                <a:ea typeface="微软雅黑" panose="020B0503020204020204" charset="-122"/>
                <a:sym typeface="+mn-ea"/>
              </a:rPr>
              <a:t>43.05</a:t>
            </a:r>
            <a:r>
              <a:rPr lang="zh-CN" altLang="en-US" sz="1400" dirty="0">
                <a:solidFill>
                  <a:srgbClr val="404040"/>
                </a:solidFill>
                <a:latin typeface="微软雅黑" panose="020B0503020204020204" charset="-122"/>
                <a:ea typeface="微软雅黑" panose="020B0503020204020204" charset="-122"/>
                <a:sym typeface="+mn-ea"/>
              </a:rPr>
              <a:t>万元，而系统中未稽核的受理记录有</a:t>
            </a:r>
            <a:r>
              <a:rPr lang="en-US" altLang="zh-CN" sz="1400" dirty="0">
                <a:solidFill>
                  <a:srgbClr val="404040"/>
                </a:solidFill>
                <a:latin typeface="微软雅黑" panose="020B0503020204020204" charset="-122"/>
                <a:ea typeface="微软雅黑" panose="020B0503020204020204" charset="-122"/>
                <a:sym typeface="+mn-ea"/>
              </a:rPr>
              <a:t>83.65</a:t>
            </a:r>
            <a:r>
              <a:rPr lang="zh-CN" altLang="en-US" sz="1400" dirty="0">
                <a:solidFill>
                  <a:srgbClr val="404040"/>
                </a:solidFill>
                <a:latin typeface="微软雅黑" panose="020B0503020204020204" charset="-122"/>
                <a:ea typeface="微软雅黑" panose="020B0503020204020204" charset="-122"/>
                <a:sym typeface="+mn-ea"/>
              </a:rPr>
              <a:t>万元，那么，待其余</a:t>
            </a:r>
            <a:r>
              <a:rPr lang="en-US" altLang="zh-CN" sz="1400" dirty="0">
                <a:solidFill>
                  <a:srgbClr val="404040"/>
                </a:solidFill>
                <a:latin typeface="微软雅黑" panose="020B0503020204020204" charset="-122"/>
                <a:ea typeface="微软雅黑" panose="020B0503020204020204" charset="-122"/>
                <a:sym typeface="+mn-ea"/>
              </a:rPr>
              <a:t>47</a:t>
            </a:r>
            <a:r>
              <a:rPr lang="zh-CN" altLang="en-US" sz="1400" dirty="0">
                <a:solidFill>
                  <a:srgbClr val="404040"/>
                </a:solidFill>
                <a:latin typeface="微软雅黑" panose="020B0503020204020204" charset="-122"/>
                <a:ea typeface="微软雅黑" panose="020B0503020204020204" charset="-122"/>
                <a:sym typeface="+mn-ea"/>
              </a:rPr>
              <a:t>家都比对完毕，系统中仍有不少于</a:t>
            </a:r>
            <a:r>
              <a:rPr lang="en-US" altLang="zh-CN" sz="1400" dirty="0">
                <a:solidFill>
                  <a:srgbClr val="404040"/>
                </a:solidFill>
                <a:latin typeface="微软雅黑" panose="020B0503020204020204" charset="-122"/>
                <a:ea typeface="微软雅黑" panose="020B0503020204020204" charset="-122"/>
                <a:sym typeface="+mn-ea"/>
              </a:rPr>
              <a:t>40.6</a:t>
            </a:r>
            <a:r>
              <a:rPr lang="zh-CN" altLang="en-US" sz="1400" dirty="0">
                <a:solidFill>
                  <a:srgbClr val="404040"/>
                </a:solidFill>
                <a:latin typeface="微软雅黑" panose="020B0503020204020204" charset="-122"/>
                <a:ea typeface="微软雅黑" panose="020B0503020204020204" charset="-122"/>
                <a:sym typeface="+mn-ea"/>
              </a:rPr>
              <a:t>万元的记录，还有待进一步筛查</a:t>
            </a:r>
          </a:p>
        </p:txBody>
      </p:sp>
      <p:sp>
        <p:nvSpPr>
          <p:cNvPr id="7" name="文本框 6"/>
          <p:cNvSpPr txBox="1"/>
          <p:nvPr>
            <p:custDataLst>
              <p:tags r:id="rId7"/>
            </p:custDataLst>
          </p:nvPr>
        </p:nvSpPr>
        <p:spPr>
          <a:xfrm>
            <a:off x="687070" y="5349240"/>
            <a:ext cx="4592320" cy="887730"/>
          </a:xfrm>
          <a:prstGeom prst="rect">
            <a:avLst/>
          </a:prstGeom>
        </p:spPr>
        <p:txBody>
          <a:bodyPr wrap="square" anchor="t"/>
          <a:lstStyle>
            <a:defPPr>
              <a:defRPr lang="zh-CN"/>
            </a:defPPr>
            <a:lvl1pPr>
              <a:defRPr>
                <a:solidFill>
                  <a:schemeClr val="bg2">
                    <a:lumMod val="50000"/>
                  </a:schemeClr>
                </a:solidFill>
              </a:defRPr>
            </a:lvl1pPr>
          </a:lstStyle>
          <a:p>
            <a:pPr defTabSz="685800">
              <a:lnSpc>
                <a:spcPct val="150000"/>
              </a:lnSpc>
            </a:pPr>
            <a:r>
              <a:rPr lang="zh-CN" altLang="en-US" sz="1400" dirty="0">
                <a:solidFill>
                  <a:srgbClr val="404040"/>
                </a:solidFill>
                <a:latin typeface="微软雅黑" panose="020B0503020204020204" charset="-122"/>
                <a:ea typeface="微软雅黑" panose="020B0503020204020204" charset="-122"/>
                <a:sym typeface="+mn-ea"/>
              </a:rPr>
              <a:t>对于目前未稽核的</a:t>
            </a:r>
            <a:r>
              <a:rPr lang="en-US" altLang="zh-CN" sz="1400" dirty="0">
                <a:solidFill>
                  <a:srgbClr val="404040"/>
                </a:solidFill>
                <a:latin typeface="微软雅黑" panose="020B0503020204020204" charset="-122"/>
                <a:ea typeface="微软雅黑" panose="020B0503020204020204" charset="-122"/>
                <a:sym typeface="+mn-ea"/>
              </a:rPr>
              <a:t>47</a:t>
            </a:r>
            <a:r>
              <a:rPr lang="zh-CN" altLang="en-US" sz="1400" dirty="0">
                <a:solidFill>
                  <a:srgbClr val="404040"/>
                </a:solidFill>
                <a:latin typeface="微软雅黑" panose="020B0503020204020204" charset="-122"/>
                <a:ea typeface="微软雅黑" panose="020B0503020204020204" charset="-122"/>
                <a:sym typeface="+mn-ea"/>
              </a:rPr>
              <a:t>家，建议渠道运营中心配合业务支撑中心，收集尽可能多的信息字段，供业务支撑中心加以比对，并协调后续的核实工作，</a:t>
            </a:r>
          </a:p>
        </p:txBody>
      </p:sp>
      <p:sp>
        <p:nvSpPr>
          <p:cNvPr id="8" name="矩形 7"/>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p:cNvSpPr/>
          <p:nvPr/>
        </p:nvSpPr>
        <p:spPr>
          <a:xfrm>
            <a:off x="-222" y="-27283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0" name="图片 9"/>
          <p:cNvPicPr>
            <a:picLocks noChangeAspect="1"/>
          </p:cNvPicPr>
          <p:nvPr/>
        </p:nvPicPr>
        <p:blipFill>
          <a:blip r:embed="rId10"/>
          <a:srcRect/>
          <a:stretch>
            <a:fillRect/>
          </a:stretch>
        </p:blipFill>
        <p:spPr>
          <a:xfrm>
            <a:off x="342900" y="428625"/>
            <a:ext cx="5403850" cy="3107690"/>
          </a:xfrm>
          <a:prstGeom prst="rect">
            <a:avLst/>
          </a:prstGeom>
        </p:spPr>
      </p:pic>
      <p:pic>
        <p:nvPicPr>
          <p:cNvPr id="20" name="图片 19"/>
          <p:cNvPicPr>
            <a:picLocks noChangeAspect="1"/>
          </p:cNvPicPr>
          <p:nvPr/>
        </p:nvPicPr>
        <p:blipFill>
          <a:blip r:embed="rId11"/>
          <a:stretch>
            <a:fillRect/>
          </a:stretch>
        </p:blipFill>
        <p:spPr>
          <a:xfrm>
            <a:off x="5746750" y="3536315"/>
            <a:ext cx="5467985" cy="307467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2000" fill="hold"/>
                                        <p:tgtEl>
                                          <p:spTgt spid="10"/>
                                        </p:tgtEl>
                                        <p:attrNameLst>
                                          <p:attrName>ppt_x</p:attrName>
                                        </p:attrNameLst>
                                      </p:cBhvr>
                                      <p:tavLst>
                                        <p:tav tm="0">
                                          <p:val>
                                            <p:strVal val="#ppt_x"/>
                                          </p:val>
                                        </p:tav>
                                        <p:tav tm="100000">
                                          <p:val>
                                            <p:strVal val="#ppt_x"/>
                                          </p:val>
                                        </p:tav>
                                      </p:tavLst>
                                    </p:anim>
                                    <p:anim calcmode="lin" valueType="num">
                                      <p:cBhvr additive="base">
                                        <p:cTn id="8" dur="2000" fill="hold"/>
                                        <p:tgtEl>
                                          <p:spTgt spid="10"/>
                                        </p:tgtEl>
                                        <p:attrNameLst>
                                          <p:attrName>ppt_y</p:attrName>
                                        </p:attrNameLst>
                                      </p:cBhvr>
                                      <p:tavLst>
                                        <p:tav tm="0">
                                          <p:val>
                                            <p:strVal val="1+#ppt_h/2"/>
                                          </p:val>
                                        </p:tav>
                                        <p:tav tm="100000">
                                          <p:val>
                                            <p:strVal val="#ppt_y"/>
                                          </p:val>
                                        </p:tav>
                                      </p:tavLst>
                                    </p:anim>
                                  </p:childTnLst>
                                </p:cTn>
                              </p:par>
                            </p:childTnLst>
                          </p:cTn>
                        </p:par>
                        <p:par>
                          <p:cTn id="9" fill="hold">
                            <p:stCondLst>
                              <p:cond delay="2000"/>
                            </p:stCondLst>
                            <p:childTnLst>
                              <p:par>
                                <p:cTn id="10" presetID="2" presetClass="entr" presetSubtype="4" fill="hold" nodeType="after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2000" fill="hold"/>
                                        <p:tgtEl>
                                          <p:spTgt spid="20"/>
                                        </p:tgtEl>
                                        <p:attrNameLst>
                                          <p:attrName>ppt_x</p:attrName>
                                        </p:attrNameLst>
                                      </p:cBhvr>
                                      <p:tavLst>
                                        <p:tav tm="0">
                                          <p:val>
                                            <p:strVal val="#ppt_x"/>
                                          </p:val>
                                        </p:tav>
                                        <p:tav tm="100000">
                                          <p:val>
                                            <p:strVal val="#ppt_x"/>
                                          </p:val>
                                        </p:tav>
                                      </p:tavLst>
                                    </p:anim>
                                    <p:anim calcmode="lin" valueType="num">
                                      <p:cBhvr additive="base">
                                        <p:cTn id="13" dur="20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1" y="5430129"/>
            <a:ext cx="12192000" cy="1427871"/>
          </a:xfrm>
          <a:prstGeom prst="rect">
            <a:avLst/>
          </a:prstGeom>
          <a:solidFill>
            <a:srgbClr val="404040">
              <a:alpha val="2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矩形 5"/>
          <p:cNvSpPr/>
          <p:nvPr/>
        </p:nvSpPr>
        <p:spPr>
          <a:xfrm>
            <a:off x="1" y="0"/>
            <a:ext cx="12192000" cy="5430129"/>
          </a:xfrm>
          <a:prstGeom prst="rect">
            <a:avLst/>
          </a:prstGeom>
          <a:solidFill>
            <a:srgbClr val="FFC00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pic>
        <p:nvPicPr>
          <p:cNvPr id="4" name="图片 3"/>
          <p:cNvPicPr>
            <a:picLocks noChangeAspect="1"/>
          </p:cNvPicPr>
          <p:nvPr/>
        </p:nvPicPr>
        <p:blipFill>
          <a:blip r:embed="rId3"/>
          <a:stretch>
            <a:fillRect/>
          </a:stretch>
        </p:blipFill>
        <p:spPr>
          <a:xfrm>
            <a:off x="1360" y="364477"/>
            <a:ext cx="4026080" cy="2583017"/>
          </a:xfrm>
          <a:prstGeom prst="rect">
            <a:avLst/>
          </a:prstGeom>
        </p:spPr>
      </p:pic>
      <p:pic>
        <p:nvPicPr>
          <p:cNvPr id="5" name="图片 4"/>
          <p:cNvPicPr>
            <a:picLocks noChangeAspect="1"/>
          </p:cNvPicPr>
          <p:nvPr/>
        </p:nvPicPr>
        <p:blipFill>
          <a:blip r:embed="rId4"/>
          <a:stretch>
            <a:fillRect/>
          </a:stretch>
        </p:blipFill>
        <p:spPr>
          <a:xfrm>
            <a:off x="886265" y="3431549"/>
            <a:ext cx="5844734" cy="3426451"/>
          </a:xfrm>
          <a:prstGeom prst="rect">
            <a:avLst/>
          </a:prstGeom>
        </p:spPr>
      </p:pic>
      <p:sp>
        <p:nvSpPr>
          <p:cNvPr id="15" name="文本框 14"/>
          <p:cNvSpPr txBox="1"/>
          <p:nvPr/>
        </p:nvSpPr>
        <p:spPr>
          <a:xfrm>
            <a:off x="5797550" y="2535555"/>
            <a:ext cx="5854065" cy="922020"/>
          </a:xfrm>
          <a:prstGeom prst="rect">
            <a:avLst/>
          </a:prstGeom>
          <a:noFill/>
        </p:spPr>
        <p:txBody>
          <a:bodyPr wrap="square" rtlCol="0">
            <a:spAutoFit/>
          </a:bodyPr>
          <a:lstStyle/>
          <a:p>
            <a:pPr algn="ctr"/>
            <a:r>
              <a:rPr lang="zh-CN" altLang="en-US" sz="5400" b="1" dirty="0">
                <a:latin typeface="微软雅黑" panose="020B0503020204020204" charset="-122"/>
                <a:ea typeface="微软雅黑" panose="020B0503020204020204" charset="-122"/>
                <a:sym typeface="+mn-ea"/>
              </a:rPr>
              <a:t>年度财务预算分析</a:t>
            </a:r>
            <a:endParaRPr lang="zh-CN" altLang="en-US" sz="3200" b="1" dirty="0">
              <a:solidFill>
                <a:schemeClr val="tx1">
                  <a:lumMod val="85000"/>
                  <a:lumOff val="15000"/>
                </a:schemeClr>
              </a:solidFill>
              <a:cs typeface="+mn-ea"/>
              <a:sym typeface="+mn-lt"/>
            </a:endParaRPr>
          </a:p>
        </p:txBody>
      </p:sp>
      <p:sp>
        <p:nvSpPr>
          <p:cNvPr id="2" name="文本框 1"/>
          <p:cNvSpPr txBox="1"/>
          <p:nvPr/>
        </p:nvSpPr>
        <p:spPr>
          <a:xfrm>
            <a:off x="4478695" y="1520176"/>
            <a:ext cx="4889240" cy="11068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chemeClr val="tx1">
                    <a:lumMod val="85000"/>
                    <a:lumOff val="15000"/>
                  </a:schemeClr>
                </a:solidFill>
                <a:effectLst/>
                <a:uLnTx/>
                <a:uFillTx/>
                <a:cs typeface="+mn-ea"/>
                <a:sym typeface="+mn-lt"/>
              </a:rPr>
              <a:t>Part Five</a:t>
            </a:r>
            <a:endParaRPr kumimoji="0" lang="zh-CN" altLang="en-US" sz="6600" b="0" i="0" u="none" strike="noStrike" kern="1200" cap="none" spc="0" normalizeH="0" baseline="0" noProof="0" dirty="0">
              <a:ln>
                <a:noFill/>
              </a:ln>
              <a:solidFill>
                <a:schemeClr val="tx1">
                  <a:lumMod val="85000"/>
                  <a:lumOff val="15000"/>
                </a:schemeClr>
              </a:solidFill>
              <a:effectLst/>
              <a:uLnTx/>
              <a:uFillTx/>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300" advTm="1000">
        <p14:pan dir="u"/>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 presetClass="entr" presetSubtype="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63" presetClass="path" presetSubtype="0" accel="50000" decel="50000" fill="hold" nodeType="withEffect">
                                  <p:stCondLst>
                                    <p:cond delay="0"/>
                                  </p:stCondLst>
                                  <p:childTnLst>
                                    <p:animMotion origin="layout" path="M -0.36146 -0.08333 L 2.22222E-6 -3.7037E-7 " pathEditMode="relative" rAng="0" ptsTypes="AA">
                                      <p:cBhvr>
                                        <p:cTn id="13" dur="2000" fill="hold"/>
                                        <p:tgtEl>
                                          <p:spTgt spid="4"/>
                                        </p:tgtEl>
                                        <p:attrNameLst>
                                          <p:attrName>ppt_x</p:attrName>
                                          <p:attrName>ppt_y</p:attrName>
                                        </p:attrNameLst>
                                      </p:cBhvr>
                                      <p:rCtr x="18073" y="4167"/>
                                    </p:animMotion>
                                  </p:childTnLst>
                                </p:cTn>
                              </p:par>
                            </p:childTnLst>
                          </p:cTn>
                        </p:par>
                        <p:par>
                          <p:cTn id="14" fill="hold">
                            <p:stCondLst>
                              <p:cond delay="1000"/>
                            </p:stCondLst>
                            <p:childTnLst>
                              <p:par>
                                <p:cTn id="15" presetID="12" presetClass="entr" presetSubtype="8"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p:tgtEl>
                                          <p:spTgt spid="2"/>
                                        </p:tgtEl>
                                        <p:attrNameLst>
                                          <p:attrName>ppt_x</p:attrName>
                                        </p:attrNameLst>
                                      </p:cBhvr>
                                      <p:tavLst>
                                        <p:tav tm="0">
                                          <p:val>
                                            <p:strVal val="#ppt_x-#ppt_w*1.125000"/>
                                          </p:val>
                                        </p:tav>
                                        <p:tav tm="100000">
                                          <p:val>
                                            <p:strVal val="#ppt_x"/>
                                          </p:val>
                                        </p:tav>
                                      </p:tavLst>
                                    </p:anim>
                                    <p:animEffect transition="in" filter="wipe(right)">
                                      <p:cBhvr>
                                        <p:cTn id="18" dur="500"/>
                                        <p:tgtEl>
                                          <p:spTgt spid="2"/>
                                        </p:tgtEl>
                                      </p:cBhvr>
                                    </p:animEffect>
                                  </p:childTnLst>
                                </p:cTn>
                              </p:par>
                            </p:childTnLst>
                          </p:cTn>
                        </p:par>
                        <p:par>
                          <p:cTn id="19" fill="hold">
                            <p:stCondLst>
                              <p:cond delay="1500"/>
                            </p:stCondLst>
                            <p:childTnLst>
                              <p:par>
                                <p:cTn id="20" presetID="12" presetClass="entr" presetSubtype="8"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500"/>
                                        <p:tgtEl>
                                          <p:spTgt spid="15"/>
                                        </p:tgtEl>
                                        <p:attrNameLst>
                                          <p:attrName>ppt_x</p:attrName>
                                        </p:attrNameLst>
                                      </p:cBhvr>
                                      <p:tavLst>
                                        <p:tav tm="0">
                                          <p:val>
                                            <p:strVal val="#ppt_x-#ppt_w*1.125000"/>
                                          </p:val>
                                        </p:tav>
                                        <p:tav tm="100000">
                                          <p:val>
                                            <p:strVal val="#ppt_x"/>
                                          </p:val>
                                        </p:tav>
                                      </p:tavLst>
                                    </p:anim>
                                    <p:animEffect transition="in" filter="wipe(righ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12479453" y="7170811"/>
            <a:ext cx="358140" cy="675640"/>
          </a:xfrm>
          <a:prstGeom prst="rect">
            <a:avLst/>
          </a:prstGeom>
          <a:noFill/>
        </p:spPr>
        <p:txBody>
          <a:bodyPr wrap="none" rtlCol="0">
            <a:spAutoFit/>
          </a:bodyPr>
          <a:lstStyle/>
          <a:p>
            <a:r>
              <a:rPr lang="en-US" altLang="zh-CN" sz="3800" dirty="0">
                <a:solidFill>
                  <a:schemeClr val="bg1"/>
                </a:solidFill>
              </a:rPr>
              <a:t>.</a:t>
            </a:r>
            <a:endParaRPr lang="zh-CN" altLang="en-US" sz="3800" dirty="0">
              <a:solidFill>
                <a:schemeClr val="bg1"/>
              </a:solidFill>
            </a:endParaRPr>
          </a:p>
        </p:txBody>
      </p:sp>
      <p:sp>
        <p:nvSpPr>
          <p:cNvPr id="12" name="矩形 11"/>
          <p:cNvSpPr/>
          <p:nvPr/>
        </p:nvSpPr>
        <p:spPr>
          <a:xfrm>
            <a:off x="3547718" y="1629845"/>
            <a:ext cx="2326033" cy="2149577"/>
          </a:xfrm>
          <a:prstGeom prst="rect">
            <a:avLst/>
          </a:prstGeom>
          <a:noFill/>
          <a:ln w="254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矩形 12"/>
          <p:cNvSpPr/>
          <p:nvPr/>
        </p:nvSpPr>
        <p:spPr>
          <a:xfrm>
            <a:off x="8119578" y="1629845"/>
            <a:ext cx="2318015" cy="2149577"/>
          </a:xfrm>
          <a:prstGeom prst="rect">
            <a:avLst/>
          </a:prstGeom>
          <a:noFill/>
          <a:ln w="254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矩形 13"/>
          <p:cNvSpPr/>
          <p:nvPr/>
        </p:nvSpPr>
        <p:spPr>
          <a:xfrm>
            <a:off x="1309911" y="3771401"/>
            <a:ext cx="2237807" cy="2149577"/>
          </a:xfrm>
          <a:prstGeom prst="rect">
            <a:avLst/>
          </a:prstGeom>
          <a:noFill/>
          <a:ln w="254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矩形 14"/>
          <p:cNvSpPr/>
          <p:nvPr/>
        </p:nvSpPr>
        <p:spPr>
          <a:xfrm>
            <a:off x="5897814" y="3771401"/>
            <a:ext cx="2253847" cy="2149577"/>
          </a:xfrm>
          <a:prstGeom prst="rect">
            <a:avLst/>
          </a:prstGeom>
          <a:noFill/>
          <a:ln w="254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nvGrpSpPr>
          <p:cNvPr id="16" name="组合 15"/>
          <p:cNvGrpSpPr/>
          <p:nvPr/>
        </p:nvGrpSpPr>
        <p:grpSpPr>
          <a:xfrm>
            <a:off x="1309910" y="1629845"/>
            <a:ext cx="2414265" cy="2149577"/>
            <a:chOff x="1532021" y="1636297"/>
            <a:chExt cx="2414338" cy="2149642"/>
          </a:xfrm>
        </p:grpSpPr>
        <p:sp>
          <p:nvSpPr>
            <p:cNvPr id="17" name="矩形 16"/>
            <p:cNvSpPr/>
            <p:nvPr/>
          </p:nvSpPr>
          <p:spPr>
            <a:xfrm>
              <a:off x="1532021" y="1636297"/>
              <a:ext cx="2245895" cy="2149642"/>
            </a:xfrm>
            <a:prstGeom prst="rect">
              <a:avLst/>
            </a:prstGeom>
            <a:blipFill dpi="0" rotWithShape="1">
              <a:blip r:embed="rId3" cstate="print">
                <a:extLst>
                  <a:ext uri="{28A0092B-C50C-407E-A947-70E740481C1C}">
                    <a14:useLocalDpi xmlns:a14="http://schemas.microsoft.com/office/drawing/2010/main"/>
                  </a:ext>
                </a:extLst>
              </a:blip>
              <a:srcRect/>
              <a:stretch>
                <a:fillRect/>
              </a:stretch>
            </a:bli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8" name="等腰三角形 17"/>
            <p:cNvSpPr/>
            <p:nvPr/>
          </p:nvSpPr>
          <p:spPr>
            <a:xfrm rot="5400000">
              <a:off x="3568359" y="1906487"/>
              <a:ext cx="576000" cy="180000"/>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grpSp>
        <p:nvGrpSpPr>
          <p:cNvPr id="19" name="组合 18"/>
          <p:cNvGrpSpPr/>
          <p:nvPr/>
        </p:nvGrpSpPr>
        <p:grpSpPr>
          <a:xfrm>
            <a:off x="5873751" y="1629845"/>
            <a:ext cx="2449136" cy="2149577"/>
            <a:chOff x="6096001" y="1636297"/>
            <a:chExt cx="2449211" cy="2149642"/>
          </a:xfrm>
        </p:grpSpPr>
        <p:sp>
          <p:nvSpPr>
            <p:cNvPr id="20" name="矩形 19"/>
            <p:cNvSpPr/>
            <p:nvPr/>
          </p:nvSpPr>
          <p:spPr>
            <a:xfrm>
              <a:off x="6096001" y="1636297"/>
              <a:ext cx="2269958" cy="2149642"/>
            </a:xfrm>
            <a:prstGeom prst="rect">
              <a:avLst/>
            </a:prstGeom>
            <a:blipFill dpi="0" rotWithShape="1">
              <a:blip r:embed="rId4" cstate="print">
                <a:extLst>
                  <a:ext uri="{28A0092B-C50C-407E-A947-70E740481C1C}">
                    <a14:useLocalDpi xmlns:a14="http://schemas.microsoft.com/office/drawing/2010/main"/>
                  </a:ext>
                </a:extLst>
              </a:blip>
              <a:srcRect/>
              <a:stretch>
                <a:fillRect/>
              </a:stretch>
            </a:bli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1" name="等腰三角形 20"/>
            <p:cNvSpPr/>
            <p:nvPr/>
          </p:nvSpPr>
          <p:spPr>
            <a:xfrm rot="5400000">
              <a:off x="8167212" y="1906487"/>
              <a:ext cx="576000" cy="180000"/>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grpSp>
        <p:nvGrpSpPr>
          <p:cNvPr id="22" name="组合 21"/>
          <p:cNvGrpSpPr/>
          <p:nvPr/>
        </p:nvGrpSpPr>
        <p:grpSpPr>
          <a:xfrm>
            <a:off x="3379281" y="3771401"/>
            <a:ext cx="2526553" cy="2149577"/>
            <a:chOff x="3601453" y="3777919"/>
            <a:chExt cx="2526631" cy="2149642"/>
          </a:xfrm>
        </p:grpSpPr>
        <p:sp>
          <p:nvSpPr>
            <p:cNvPr id="23" name="矩形 22"/>
            <p:cNvSpPr/>
            <p:nvPr/>
          </p:nvSpPr>
          <p:spPr>
            <a:xfrm>
              <a:off x="3769896" y="3777919"/>
              <a:ext cx="2358188" cy="2149642"/>
            </a:xfrm>
            <a:prstGeom prst="rect">
              <a:avLst/>
            </a:prstGeom>
            <a:blipFill dpi="0" rotWithShape="1">
              <a:blip r:embed="rId5">
                <a:extLst>
                  <a:ext uri="{28A0092B-C50C-407E-A947-70E740481C1C}">
                    <a14:useLocalDpi xmlns:a14="http://schemas.microsoft.com/office/drawing/2010/main"/>
                  </a:ext>
                </a:extLst>
              </a:blip>
              <a:srcRect/>
              <a:stretch>
                <a:fillRect/>
              </a:stretch>
            </a:bli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4" name="等腰三角形 23"/>
            <p:cNvSpPr/>
            <p:nvPr/>
          </p:nvSpPr>
          <p:spPr>
            <a:xfrm rot="16200000">
              <a:off x="3403453" y="4078908"/>
              <a:ext cx="576000" cy="180000"/>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grpSp>
        <p:nvGrpSpPr>
          <p:cNvPr id="25" name="组合 24"/>
          <p:cNvGrpSpPr/>
          <p:nvPr/>
        </p:nvGrpSpPr>
        <p:grpSpPr>
          <a:xfrm>
            <a:off x="7975199" y="3771401"/>
            <a:ext cx="2462391" cy="2149577"/>
            <a:chOff x="8197515" y="3777919"/>
            <a:chExt cx="2462465" cy="2149642"/>
          </a:xfrm>
        </p:grpSpPr>
        <p:sp>
          <p:nvSpPr>
            <p:cNvPr id="26" name="矩形 25"/>
            <p:cNvSpPr/>
            <p:nvPr/>
          </p:nvSpPr>
          <p:spPr>
            <a:xfrm>
              <a:off x="8357938" y="3777919"/>
              <a:ext cx="2302042" cy="2149642"/>
            </a:xfrm>
            <a:prstGeom prst="rect">
              <a:avLst/>
            </a:prstGeom>
            <a:blipFill dpi="0" rotWithShape="1">
              <a:blip r:embed="rId6" cstate="print">
                <a:extLst>
                  <a:ext uri="{28A0092B-C50C-407E-A947-70E740481C1C}">
                    <a14:useLocalDpi xmlns:a14="http://schemas.microsoft.com/office/drawing/2010/main"/>
                  </a:ext>
                </a:extLst>
              </a:blip>
              <a:srcRect/>
              <a:stretch>
                <a:fillRect/>
              </a:stretch>
            </a:bli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7" name="等腰三角形 26"/>
            <p:cNvSpPr/>
            <p:nvPr/>
          </p:nvSpPr>
          <p:spPr>
            <a:xfrm rot="16200000">
              <a:off x="7999515" y="4078910"/>
              <a:ext cx="576000" cy="180000"/>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sp>
        <p:nvSpPr>
          <p:cNvPr id="28" name="矩形 27"/>
          <p:cNvSpPr/>
          <p:nvPr/>
        </p:nvSpPr>
        <p:spPr>
          <a:xfrm>
            <a:off x="3723640" y="2386330"/>
            <a:ext cx="2041525" cy="337185"/>
          </a:xfrm>
          <a:prstGeom prst="rect">
            <a:avLst/>
          </a:prstGeom>
        </p:spPr>
        <p:txBody>
          <a:bodyPr wrap="square">
            <a:spAutoFit/>
          </a:bodyPr>
          <a:lstStyle/>
          <a:p>
            <a:pPr algn="l"/>
            <a:r>
              <a:rPr lang="zh-CN" altLang="en-US" sz="1600" dirty="0">
                <a:solidFill>
                  <a:srgbClr val="404040"/>
                </a:solidFill>
                <a:latin typeface="微软雅黑" panose="020B0503020204020204" charset="-122"/>
                <a:ea typeface="微软雅黑" panose="020B0503020204020204" charset="-122"/>
                <a:cs typeface="Arial" panose="020B0604020202020204" pitchFamily="34" charset="0"/>
                <a:sym typeface="+mn-ea"/>
              </a:rPr>
              <a:t>购买内容服务</a:t>
            </a:r>
          </a:p>
        </p:txBody>
      </p:sp>
      <p:sp>
        <p:nvSpPr>
          <p:cNvPr id="30" name="矩形 29"/>
          <p:cNvSpPr/>
          <p:nvPr/>
        </p:nvSpPr>
        <p:spPr>
          <a:xfrm>
            <a:off x="1454287" y="4597398"/>
            <a:ext cx="1989159" cy="337185"/>
          </a:xfrm>
          <a:prstGeom prst="rect">
            <a:avLst/>
          </a:prstGeom>
        </p:spPr>
        <p:txBody>
          <a:bodyPr wrap="square">
            <a:spAutoFit/>
          </a:bodyPr>
          <a:lstStyle/>
          <a:p>
            <a:pPr algn="r"/>
            <a:r>
              <a:rPr lang="zh-CN" altLang="en-US" sz="1600" dirty="0">
                <a:solidFill>
                  <a:srgbClr val="404040"/>
                </a:solidFill>
                <a:effectLst/>
                <a:latin typeface="微软雅黑" panose="020B0503020204020204" charset="-122"/>
                <a:ea typeface="微软雅黑" panose="020B0503020204020204" charset="-122"/>
                <a:cs typeface="Arial" panose="020B0604020202020204" pitchFamily="34" charset="0"/>
                <a:sym typeface="+mn-ea"/>
              </a:rPr>
              <a:t>增加服务器带宽</a:t>
            </a:r>
          </a:p>
        </p:txBody>
      </p:sp>
      <p:sp>
        <p:nvSpPr>
          <p:cNvPr id="32" name="矩形 31"/>
          <p:cNvSpPr/>
          <p:nvPr/>
        </p:nvSpPr>
        <p:spPr>
          <a:xfrm>
            <a:off x="6090317" y="4629481"/>
            <a:ext cx="1989159" cy="337185"/>
          </a:xfrm>
          <a:prstGeom prst="rect">
            <a:avLst/>
          </a:prstGeom>
        </p:spPr>
        <p:txBody>
          <a:bodyPr wrap="square">
            <a:spAutoFit/>
          </a:bodyPr>
          <a:lstStyle/>
          <a:p>
            <a:pPr algn="r"/>
            <a:r>
              <a:rPr lang="zh-CN" altLang="en-US" sz="1600" dirty="0">
                <a:solidFill>
                  <a:srgbClr val="404040"/>
                </a:solidFill>
                <a:latin typeface="微软雅黑" panose="020B0503020204020204" charset="-122"/>
                <a:ea typeface="微软雅黑" panose="020B0503020204020204" charset="-122"/>
                <a:cs typeface="Arial" panose="020B0604020202020204" pitchFamily="34" charset="0"/>
                <a:sym typeface="+mn-ea"/>
              </a:rPr>
              <a:t>市场推广费用</a:t>
            </a:r>
          </a:p>
        </p:txBody>
      </p:sp>
      <p:sp>
        <p:nvSpPr>
          <p:cNvPr id="34" name="文本框 33"/>
          <p:cNvSpPr txBox="1"/>
          <p:nvPr/>
        </p:nvSpPr>
        <p:spPr>
          <a:xfrm>
            <a:off x="3746546" y="1851935"/>
            <a:ext cx="923290" cy="398780"/>
          </a:xfrm>
          <a:prstGeom prst="rect">
            <a:avLst/>
          </a:prstGeom>
          <a:noFill/>
        </p:spPr>
        <p:txBody>
          <a:bodyPr wrap="none" rtlCol="0">
            <a:spAutoFit/>
          </a:bodyPr>
          <a:lstStyle/>
          <a:p>
            <a:r>
              <a:rPr lang="zh-CN" altLang="en-US" sz="2000" b="1" dirty="0">
                <a:solidFill>
                  <a:srgbClr val="FFC000"/>
                </a:solidFill>
                <a:latin typeface="微软雅黑" panose="020B0503020204020204" charset="-122"/>
                <a:ea typeface="微软雅黑" panose="020B0503020204020204" charset="-122"/>
                <a:cs typeface="微软雅黑" panose="020B0503020204020204" charset="-122"/>
              </a:rPr>
              <a:t>产品</a:t>
            </a:r>
            <a:r>
              <a:rPr lang="en-US" altLang="zh-CN" sz="2000" b="1" dirty="0">
                <a:solidFill>
                  <a:srgbClr val="FFC000"/>
                </a:solidFill>
                <a:latin typeface="微软雅黑" panose="020B0503020204020204" charset="-122"/>
                <a:ea typeface="微软雅黑" panose="020B0503020204020204" charset="-122"/>
                <a:cs typeface="微软雅黑" panose="020B0503020204020204" charset="-122"/>
              </a:rPr>
              <a:t> 1</a:t>
            </a:r>
          </a:p>
        </p:txBody>
      </p:sp>
      <p:sp>
        <p:nvSpPr>
          <p:cNvPr id="36" name="文本框 35"/>
          <p:cNvSpPr txBox="1"/>
          <p:nvPr/>
        </p:nvSpPr>
        <p:spPr>
          <a:xfrm>
            <a:off x="6929915" y="3998787"/>
            <a:ext cx="923290" cy="398780"/>
          </a:xfrm>
          <a:prstGeom prst="rect">
            <a:avLst/>
          </a:prstGeom>
          <a:noFill/>
        </p:spPr>
        <p:txBody>
          <a:bodyPr wrap="none" rtlCol="0">
            <a:spAutoFit/>
          </a:bodyPr>
          <a:lstStyle/>
          <a:p>
            <a:r>
              <a:rPr lang="zh-CN" altLang="en-US" sz="2000" b="1" dirty="0">
                <a:solidFill>
                  <a:srgbClr val="FFC000"/>
                </a:solidFill>
                <a:latin typeface="微软雅黑" panose="020B0503020204020204" charset="-122"/>
                <a:ea typeface="微软雅黑" panose="020B0503020204020204" charset="-122"/>
                <a:cs typeface="微软雅黑" panose="020B0503020204020204" charset="-122"/>
              </a:rPr>
              <a:t>产品 </a:t>
            </a:r>
            <a:r>
              <a:rPr lang="en-US" altLang="zh-CN" sz="2000" b="1" dirty="0">
                <a:solidFill>
                  <a:srgbClr val="FFC000"/>
                </a:solidFill>
                <a:latin typeface="微软雅黑" panose="020B0503020204020204" charset="-122"/>
                <a:ea typeface="微软雅黑" panose="020B0503020204020204" charset="-122"/>
                <a:cs typeface="微软雅黑" panose="020B0503020204020204" charset="-122"/>
              </a:rPr>
              <a:t>4</a:t>
            </a:r>
          </a:p>
        </p:txBody>
      </p:sp>
      <p:sp>
        <p:nvSpPr>
          <p:cNvPr id="37" name="文本框 36"/>
          <p:cNvSpPr txBox="1"/>
          <p:nvPr/>
        </p:nvSpPr>
        <p:spPr>
          <a:xfrm>
            <a:off x="2275182" y="3998787"/>
            <a:ext cx="923290" cy="398780"/>
          </a:xfrm>
          <a:prstGeom prst="rect">
            <a:avLst/>
          </a:prstGeom>
          <a:noFill/>
        </p:spPr>
        <p:txBody>
          <a:bodyPr wrap="none" rtlCol="0">
            <a:spAutoFit/>
          </a:bodyPr>
          <a:lstStyle/>
          <a:p>
            <a:r>
              <a:rPr lang="zh-CN" altLang="en-US" sz="2000" b="1" dirty="0">
                <a:solidFill>
                  <a:srgbClr val="FFC000"/>
                </a:solidFill>
                <a:latin typeface="微软雅黑" panose="020B0503020204020204" charset="-122"/>
                <a:ea typeface="微软雅黑" panose="020B0503020204020204" charset="-122"/>
                <a:cs typeface="微软雅黑" panose="020B0503020204020204" charset="-122"/>
              </a:rPr>
              <a:t>产品 </a:t>
            </a:r>
            <a:r>
              <a:rPr lang="en-US" altLang="zh-CN" sz="2000" b="1" dirty="0">
                <a:solidFill>
                  <a:srgbClr val="FFC000"/>
                </a:solidFill>
                <a:latin typeface="微软雅黑" panose="020B0503020204020204" charset="-122"/>
                <a:ea typeface="微软雅黑" panose="020B0503020204020204" charset="-122"/>
                <a:cs typeface="微软雅黑" panose="020B0503020204020204" charset="-122"/>
              </a:rPr>
              <a:t>3</a:t>
            </a:r>
          </a:p>
        </p:txBody>
      </p:sp>
      <p:sp>
        <p:nvSpPr>
          <p:cNvPr id="38" name="矩形 37"/>
          <p:cNvSpPr/>
          <p:nvPr/>
        </p:nvSpPr>
        <p:spPr>
          <a:xfrm>
            <a:off x="8354150" y="2387590"/>
            <a:ext cx="1909767" cy="337185"/>
          </a:xfrm>
          <a:prstGeom prst="rect">
            <a:avLst/>
          </a:prstGeom>
        </p:spPr>
        <p:txBody>
          <a:bodyPr wrap="square">
            <a:spAutoFit/>
          </a:bodyPr>
          <a:lstStyle/>
          <a:p>
            <a:pPr algn="l"/>
            <a:r>
              <a:rPr lang="zh-CN" altLang="en-US" sz="1600" dirty="0">
                <a:solidFill>
                  <a:srgbClr val="404040"/>
                </a:solidFill>
                <a:latin typeface="微软雅黑" panose="020B0503020204020204" charset="-122"/>
                <a:ea typeface="微软雅黑" panose="020B0503020204020204" charset="-122"/>
                <a:cs typeface="Arial" panose="020B0604020202020204" pitchFamily="34" charset="0"/>
                <a:sym typeface="+mn-ea"/>
              </a:rPr>
              <a:t>增加产品研发能力</a:t>
            </a:r>
          </a:p>
        </p:txBody>
      </p:sp>
      <p:sp>
        <p:nvSpPr>
          <p:cNvPr id="40" name="文本框 39"/>
          <p:cNvSpPr txBox="1"/>
          <p:nvPr/>
        </p:nvSpPr>
        <p:spPr>
          <a:xfrm>
            <a:off x="8354123" y="1860304"/>
            <a:ext cx="923290" cy="398780"/>
          </a:xfrm>
          <a:prstGeom prst="rect">
            <a:avLst/>
          </a:prstGeom>
          <a:noFill/>
        </p:spPr>
        <p:txBody>
          <a:bodyPr wrap="none" rtlCol="0">
            <a:spAutoFit/>
          </a:bodyPr>
          <a:lstStyle/>
          <a:p>
            <a:r>
              <a:rPr lang="zh-CN" altLang="en-US" sz="2000" b="1" dirty="0">
                <a:solidFill>
                  <a:srgbClr val="FFC000"/>
                </a:solidFill>
                <a:latin typeface="微软雅黑" panose="020B0503020204020204" charset="-122"/>
                <a:ea typeface="微软雅黑" panose="020B0503020204020204" charset="-122"/>
                <a:cs typeface="微软雅黑" panose="020B0503020204020204" charset="-122"/>
              </a:rPr>
              <a:t>产品 </a:t>
            </a:r>
            <a:r>
              <a:rPr lang="en-US" altLang="zh-CN" sz="2000" b="1" dirty="0">
                <a:solidFill>
                  <a:srgbClr val="FFC000"/>
                </a:solidFill>
                <a:latin typeface="微软雅黑" panose="020B0503020204020204" charset="-122"/>
                <a:ea typeface="微软雅黑" panose="020B0503020204020204" charset="-122"/>
                <a:cs typeface="微软雅黑" panose="020B0503020204020204" charset="-122"/>
              </a:rPr>
              <a:t>2</a:t>
            </a:r>
          </a:p>
        </p:txBody>
      </p:sp>
      <p:sp>
        <p:nvSpPr>
          <p:cNvPr id="45" name="文本框 44"/>
          <p:cNvSpPr txBox="1"/>
          <p:nvPr/>
        </p:nvSpPr>
        <p:spPr>
          <a:xfrm>
            <a:off x="12631853" y="7323211"/>
            <a:ext cx="358140" cy="675640"/>
          </a:xfrm>
          <a:prstGeom prst="rect">
            <a:avLst/>
          </a:prstGeom>
          <a:noFill/>
        </p:spPr>
        <p:txBody>
          <a:bodyPr wrap="none" rtlCol="0">
            <a:spAutoFit/>
          </a:bodyPr>
          <a:lstStyle/>
          <a:p>
            <a:r>
              <a:rPr lang="en-US" altLang="zh-CN" sz="3800" dirty="0">
                <a:solidFill>
                  <a:schemeClr val="bg1"/>
                </a:solidFill>
              </a:rPr>
              <a:t>.</a:t>
            </a:r>
            <a:endParaRPr lang="zh-CN" altLang="en-US" sz="3800" dirty="0">
              <a:solidFill>
                <a:schemeClr val="bg1"/>
              </a:solidFill>
            </a:endParaRPr>
          </a:p>
        </p:txBody>
      </p:sp>
      <p:sp>
        <p:nvSpPr>
          <p:cNvPr id="43" name="矩形 42"/>
          <p:cNvSpPr/>
          <p:nvPr/>
        </p:nvSpPr>
        <p:spPr>
          <a:xfrm>
            <a:off x="671077" y="353101"/>
            <a:ext cx="3446780" cy="706755"/>
          </a:xfrm>
          <a:prstGeom prst="rect">
            <a:avLst/>
          </a:prstGeom>
        </p:spPr>
        <p:txBody>
          <a:bodyPr wrap="none">
            <a:spAutoFit/>
          </a:bodyPr>
          <a:lstStyle/>
          <a:p>
            <a:pPr marL="215900"/>
            <a:r>
              <a:rPr lang="zh-CN" altLang="en-US" sz="4000" b="1" dirty="0">
                <a:solidFill>
                  <a:schemeClr val="bg1"/>
                </a:solidFill>
                <a:latin typeface="微软雅黑" panose="020B0503020204020204" charset="-122"/>
                <a:ea typeface="微软雅黑" panose="020B0503020204020204" charset="-122"/>
              </a:rPr>
              <a:t>点击添加标题</a:t>
            </a:r>
          </a:p>
        </p:txBody>
      </p:sp>
      <p:sp>
        <p:nvSpPr>
          <p:cNvPr id="8" name="矩形 7"/>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p:cNvSpPr/>
          <p:nvPr/>
        </p:nvSpPr>
        <p:spPr>
          <a:xfrm>
            <a:off x="-222" y="-27283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文本框 4"/>
          <p:cNvSpPr txBox="1"/>
          <p:nvPr/>
        </p:nvSpPr>
        <p:spPr>
          <a:xfrm>
            <a:off x="418455" y="312636"/>
            <a:ext cx="2787500" cy="398780"/>
          </a:xfrm>
          <a:prstGeom prst="rect">
            <a:avLst/>
          </a:prstGeom>
          <a:noFill/>
        </p:spPr>
        <p:txBody>
          <a:bodyPr wrap="square" rtlCol="0">
            <a:spAutoFit/>
          </a:bodyPr>
          <a:lstStyle/>
          <a:p>
            <a:r>
              <a:rPr lang="zh-CN" altLang="en-US" sz="2000" b="1" dirty="0">
                <a:cs typeface="+mn-ea"/>
                <a:sym typeface="+mn-lt"/>
              </a:rPr>
              <a:t>投资回报及收益</a:t>
            </a:r>
          </a:p>
        </p:txBody>
      </p:sp>
      <p:cxnSp>
        <p:nvCxnSpPr>
          <p:cNvPr id="7" name="直接连接符 6"/>
          <p:cNvCxnSpPr/>
          <p:nvPr/>
        </p:nvCxnSpPr>
        <p:spPr>
          <a:xfrm>
            <a:off x="15718" y="710505"/>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50" advClick="0" advTm="0">
        <p:pull/>
      </p:transition>
    </mc:Choice>
    <mc:Fallback xmlns="">
      <p:transition spd="slow" advClick="0" advTm="0">
        <p:pul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afterEffect">
                                  <p:stCondLst>
                                    <p:cond delay="0"/>
                                  </p:stCondLst>
                                  <p:childTnLst>
                                    <p:animEffect transition="out" filter="fade">
                                      <p:cBhvr>
                                        <p:cTn id="6" dur="500"/>
                                        <p:tgtEl>
                                          <p:spTgt spid="35"/>
                                        </p:tgtEl>
                                      </p:cBhvr>
                                    </p:animEffect>
                                    <p:set>
                                      <p:cBhvr>
                                        <p:cTn id="7" dur="1" fill="hold">
                                          <p:stCondLst>
                                            <p:cond delay="499"/>
                                          </p:stCondLst>
                                        </p:cTn>
                                        <p:tgtEl>
                                          <p:spTgt spid="35"/>
                                        </p:tgtEl>
                                        <p:attrNameLst>
                                          <p:attrName>style.visibility</p:attrName>
                                        </p:attrNameLst>
                                      </p:cBhvr>
                                      <p:to>
                                        <p:strVal val="hidden"/>
                                      </p:to>
                                    </p:set>
                                  </p:childTnLst>
                                </p:cTn>
                              </p:par>
                            </p:childTnLst>
                          </p:cTn>
                        </p:par>
                        <p:par>
                          <p:cTn id="8" fill="hold">
                            <p:stCondLst>
                              <p:cond delay="500"/>
                            </p:stCondLst>
                            <p:childTnLst>
                              <p:par>
                                <p:cTn id="9" presetID="18" presetClass="entr" presetSubtype="3"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strips(upRight)">
                                      <p:cBhvr>
                                        <p:cTn id="11" dur="500"/>
                                        <p:tgtEl>
                                          <p:spTgt spid="1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left)">
                                      <p:cBhvr>
                                        <p:cTn id="19" dur="500"/>
                                        <p:tgtEl>
                                          <p:spTgt spid="34"/>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left)">
                                      <p:cBhvr>
                                        <p:cTn id="23" dur="500"/>
                                        <p:tgtEl>
                                          <p:spTgt spid="28"/>
                                        </p:tgtEl>
                                      </p:cBhvr>
                                    </p:animEffect>
                                  </p:childTnLst>
                                </p:cTn>
                              </p:par>
                            </p:childTnLst>
                          </p:cTn>
                        </p:par>
                        <p:par>
                          <p:cTn id="24" fill="hold">
                            <p:stCondLst>
                              <p:cond delay="2500"/>
                            </p:stCondLst>
                            <p:childTnLst>
                              <p:par>
                                <p:cTn id="25" presetID="18" presetClass="entr" presetSubtype="3"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strips(upRight)">
                                      <p:cBhvr>
                                        <p:cTn id="27" dur="500"/>
                                        <p:tgtEl>
                                          <p:spTgt spid="19"/>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wipe(left)">
                                      <p:cBhvr>
                                        <p:cTn id="35" dur="500"/>
                                        <p:tgtEl>
                                          <p:spTgt spid="40"/>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wipe(left)">
                                      <p:cBhvr>
                                        <p:cTn id="39" dur="500"/>
                                        <p:tgtEl>
                                          <p:spTgt spid="38"/>
                                        </p:tgtEl>
                                      </p:cBhvr>
                                    </p:animEffect>
                                  </p:childTnLst>
                                </p:cTn>
                              </p:par>
                            </p:childTnLst>
                          </p:cTn>
                        </p:par>
                        <p:par>
                          <p:cTn id="40" fill="hold">
                            <p:stCondLst>
                              <p:cond delay="4500"/>
                            </p:stCondLst>
                            <p:childTnLst>
                              <p:par>
                                <p:cTn id="41" presetID="18" presetClass="entr" presetSubtype="9" fill="hold"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strips(upLeft)">
                                      <p:cBhvr>
                                        <p:cTn id="43" dur="500"/>
                                        <p:tgtEl>
                                          <p:spTgt spid="22"/>
                                        </p:tgtEl>
                                      </p:cBhvr>
                                    </p:animEffect>
                                  </p:childTnLst>
                                </p:cTn>
                              </p:par>
                            </p:childTnLst>
                          </p:cTn>
                        </p:par>
                        <p:par>
                          <p:cTn id="44" fill="hold">
                            <p:stCondLst>
                              <p:cond delay="5000"/>
                            </p:stCondLst>
                            <p:childTnLst>
                              <p:par>
                                <p:cTn id="45" presetID="22" presetClass="entr" presetSubtype="2"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right)">
                                      <p:cBhvr>
                                        <p:cTn id="47" dur="500"/>
                                        <p:tgtEl>
                                          <p:spTgt spid="14"/>
                                        </p:tgtEl>
                                      </p:cBhvr>
                                    </p:animEffect>
                                  </p:childTnLst>
                                </p:cTn>
                              </p:par>
                            </p:childTnLst>
                          </p:cTn>
                        </p:par>
                        <p:par>
                          <p:cTn id="48" fill="hold">
                            <p:stCondLst>
                              <p:cond delay="5500"/>
                            </p:stCondLst>
                            <p:childTnLst>
                              <p:par>
                                <p:cTn id="49" presetID="22" presetClass="entr" presetSubtype="2" fill="hold" grpId="0" nodeType="after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wipe(right)">
                                      <p:cBhvr>
                                        <p:cTn id="51" dur="500"/>
                                        <p:tgtEl>
                                          <p:spTgt spid="37"/>
                                        </p:tgtEl>
                                      </p:cBhvr>
                                    </p:animEffect>
                                  </p:childTnLst>
                                </p:cTn>
                              </p:par>
                            </p:childTnLst>
                          </p:cTn>
                        </p:par>
                        <p:par>
                          <p:cTn id="52" fill="hold">
                            <p:stCondLst>
                              <p:cond delay="6000"/>
                            </p:stCondLst>
                            <p:childTnLst>
                              <p:par>
                                <p:cTn id="53" presetID="22" presetClass="entr" presetSubtype="2" fill="hold" grpId="0" nodeType="after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wipe(right)">
                                      <p:cBhvr>
                                        <p:cTn id="55" dur="500"/>
                                        <p:tgtEl>
                                          <p:spTgt spid="30"/>
                                        </p:tgtEl>
                                      </p:cBhvr>
                                    </p:animEffect>
                                  </p:childTnLst>
                                </p:cTn>
                              </p:par>
                            </p:childTnLst>
                          </p:cTn>
                        </p:par>
                        <p:par>
                          <p:cTn id="56" fill="hold">
                            <p:stCondLst>
                              <p:cond delay="6500"/>
                            </p:stCondLst>
                            <p:childTnLst>
                              <p:par>
                                <p:cTn id="57" presetID="18" presetClass="entr" presetSubtype="9" fill="hold" nodeType="after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strips(upLeft)">
                                      <p:cBhvr>
                                        <p:cTn id="59" dur="500"/>
                                        <p:tgtEl>
                                          <p:spTgt spid="25"/>
                                        </p:tgtEl>
                                      </p:cBhvr>
                                    </p:animEffect>
                                  </p:childTnLst>
                                </p:cTn>
                              </p:par>
                            </p:childTnLst>
                          </p:cTn>
                        </p:par>
                        <p:par>
                          <p:cTn id="60" fill="hold">
                            <p:stCondLst>
                              <p:cond delay="7000"/>
                            </p:stCondLst>
                            <p:childTnLst>
                              <p:par>
                                <p:cTn id="61" presetID="22" presetClass="entr" presetSubtype="2" fill="hold" grpId="0" nodeType="after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wipe(right)">
                                      <p:cBhvr>
                                        <p:cTn id="63" dur="500"/>
                                        <p:tgtEl>
                                          <p:spTgt spid="15"/>
                                        </p:tgtEl>
                                      </p:cBhvr>
                                    </p:animEffect>
                                  </p:childTnLst>
                                </p:cTn>
                              </p:par>
                            </p:childTnLst>
                          </p:cTn>
                        </p:par>
                        <p:par>
                          <p:cTn id="64" fill="hold">
                            <p:stCondLst>
                              <p:cond delay="7500"/>
                            </p:stCondLst>
                            <p:childTnLst>
                              <p:par>
                                <p:cTn id="65" presetID="22" presetClass="entr" presetSubtype="2" fill="hold" grpId="0" nodeType="after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wipe(right)">
                                      <p:cBhvr>
                                        <p:cTn id="67" dur="500"/>
                                        <p:tgtEl>
                                          <p:spTgt spid="36"/>
                                        </p:tgtEl>
                                      </p:cBhvr>
                                    </p:animEffect>
                                  </p:childTnLst>
                                </p:cTn>
                              </p:par>
                            </p:childTnLst>
                          </p:cTn>
                        </p:par>
                        <p:par>
                          <p:cTn id="68" fill="hold">
                            <p:stCondLst>
                              <p:cond delay="8000"/>
                            </p:stCondLst>
                            <p:childTnLst>
                              <p:par>
                                <p:cTn id="69" presetID="22" presetClass="entr" presetSubtype="2" fill="hold" grpId="0" nodeType="after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wipe(right)">
                                      <p:cBhvr>
                                        <p:cTn id="71" dur="500"/>
                                        <p:tgtEl>
                                          <p:spTgt spid="32"/>
                                        </p:tgtEl>
                                      </p:cBhvr>
                                    </p:animEffect>
                                  </p:childTnLst>
                                </p:cTn>
                              </p:par>
                            </p:childTnLst>
                          </p:cTn>
                        </p:par>
                        <p:par>
                          <p:cTn id="72" fill="hold">
                            <p:stCondLst>
                              <p:cond delay="8500"/>
                            </p:stCondLst>
                            <p:childTnLst>
                              <p:par>
                                <p:cTn id="73" presetID="10" presetClass="exit" presetSubtype="0" fill="hold" grpId="0" nodeType="afterEffect">
                                  <p:stCondLst>
                                    <p:cond delay="0"/>
                                  </p:stCondLst>
                                  <p:childTnLst>
                                    <p:animEffect transition="out" filter="fade">
                                      <p:cBhvr>
                                        <p:cTn id="74" dur="500"/>
                                        <p:tgtEl>
                                          <p:spTgt spid="45"/>
                                        </p:tgtEl>
                                      </p:cBhvr>
                                    </p:animEffect>
                                    <p:set>
                                      <p:cBhvr>
                                        <p:cTn id="75" dur="1" fill="hold">
                                          <p:stCondLst>
                                            <p:cond delay="499"/>
                                          </p:stCondLst>
                                        </p:cTn>
                                        <p:tgtEl>
                                          <p:spTgt spid="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2" grpId="0" bldLvl="0" animBg="1"/>
      <p:bldP spid="13" grpId="0" bldLvl="0" animBg="1"/>
      <p:bldP spid="14" grpId="0" bldLvl="0" animBg="1"/>
      <p:bldP spid="15" grpId="0" bldLvl="0" animBg="1"/>
      <p:bldP spid="28" grpId="0"/>
      <p:bldP spid="30" grpId="0"/>
      <p:bldP spid="32" grpId="0"/>
      <p:bldP spid="34" grpId="0"/>
      <p:bldP spid="36" grpId="0"/>
      <p:bldP spid="37" grpId="0"/>
      <p:bldP spid="38" grpId="0"/>
      <p:bldP spid="40" grpId="0"/>
      <p:bldP spid="4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 name="组合 86"/>
          <p:cNvGrpSpPr/>
          <p:nvPr/>
        </p:nvGrpSpPr>
        <p:grpSpPr>
          <a:xfrm>
            <a:off x="1752811" y="1420197"/>
            <a:ext cx="2491778" cy="3786925"/>
            <a:chOff x="1735666" y="1443057"/>
            <a:chExt cx="2491778" cy="3786925"/>
          </a:xfrm>
        </p:grpSpPr>
        <p:grpSp>
          <p:nvGrpSpPr>
            <p:cNvPr id="79" name="组合 78"/>
            <p:cNvGrpSpPr/>
            <p:nvPr/>
          </p:nvGrpSpPr>
          <p:grpSpPr>
            <a:xfrm>
              <a:off x="1735666" y="1466365"/>
              <a:ext cx="2491778" cy="3763617"/>
              <a:chOff x="1735666" y="1466365"/>
              <a:chExt cx="2491778" cy="3763617"/>
            </a:xfrm>
          </p:grpSpPr>
          <p:sp>
            <p:nvSpPr>
              <p:cNvPr id="75" name="圆角矩形 74"/>
              <p:cNvSpPr/>
              <p:nvPr/>
            </p:nvSpPr>
            <p:spPr>
              <a:xfrm>
                <a:off x="1735666" y="1466365"/>
                <a:ext cx="2491778" cy="3763617"/>
              </a:xfrm>
              <a:prstGeom prst="roundRect">
                <a:avLst>
                  <a:gd name="adj" fmla="val 6030"/>
                </a:avLst>
              </a:prstGeom>
              <a:noFill/>
              <a:ln w="2540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0" name="组合 69"/>
              <p:cNvGrpSpPr/>
              <p:nvPr/>
            </p:nvGrpSpPr>
            <p:grpSpPr>
              <a:xfrm>
                <a:off x="2052079" y="1662209"/>
                <a:ext cx="1858952" cy="3226822"/>
                <a:chOff x="2031061" y="1542941"/>
                <a:chExt cx="1858952" cy="3226822"/>
              </a:xfrm>
            </p:grpSpPr>
            <p:grpSp>
              <p:nvGrpSpPr>
                <p:cNvPr id="15" name="组合 14"/>
                <p:cNvGrpSpPr/>
                <p:nvPr/>
              </p:nvGrpSpPr>
              <p:grpSpPr>
                <a:xfrm>
                  <a:off x="2096441" y="2320442"/>
                  <a:ext cx="1728193" cy="1636303"/>
                  <a:chOff x="539551" y="1408861"/>
                  <a:chExt cx="2383029" cy="2256321"/>
                </a:xfrm>
              </p:grpSpPr>
              <p:sp>
                <p:nvSpPr>
                  <p:cNvPr id="16" name="饼形 15"/>
                  <p:cNvSpPr/>
                  <p:nvPr/>
                </p:nvSpPr>
                <p:spPr>
                  <a:xfrm rot="16200000">
                    <a:off x="749029" y="1491631"/>
                    <a:ext cx="2173551" cy="2173551"/>
                  </a:xfrm>
                  <a:prstGeom prst="pie">
                    <a:avLst>
                      <a:gd name="adj1" fmla="val 19042979"/>
                      <a:gd name="adj2" fmla="val 1620000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饼形 16"/>
                  <p:cNvSpPr/>
                  <p:nvPr/>
                </p:nvSpPr>
                <p:spPr>
                  <a:xfrm rot="18074981">
                    <a:off x="539551" y="1419621"/>
                    <a:ext cx="2173551" cy="2173551"/>
                  </a:xfrm>
                  <a:prstGeom prst="pie">
                    <a:avLst>
                      <a:gd name="adj1" fmla="val 14346449"/>
                      <a:gd name="adj2" fmla="val 16200000"/>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饼形 17"/>
                  <p:cNvSpPr/>
                  <p:nvPr/>
                </p:nvSpPr>
                <p:spPr>
                  <a:xfrm rot="19616781">
                    <a:off x="558088" y="1408861"/>
                    <a:ext cx="2173551" cy="2173551"/>
                  </a:xfrm>
                  <a:prstGeom prst="pie">
                    <a:avLst>
                      <a:gd name="adj1" fmla="val 14346449"/>
                      <a:gd name="adj2" fmla="val 15576997"/>
                    </a:avLst>
                  </a:prstGeom>
                  <a:solidFill>
                    <a:srgbClr val="00B0F0"/>
                  </a:solidFill>
                  <a:ln>
                    <a:solidFill>
                      <a:srgbClr val="E0E6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9" name="TextBox 10"/>
                <p:cNvSpPr txBox="1"/>
                <p:nvPr/>
              </p:nvSpPr>
              <p:spPr>
                <a:xfrm>
                  <a:off x="2031061" y="4308098"/>
                  <a:ext cx="1858952" cy="461665"/>
                </a:xfrm>
                <a:prstGeom prst="rect">
                  <a:avLst/>
                </a:prstGeom>
                <a:noFill/>
              </p:spPr>
              <p:txBody>
                <a:bodyPr wrap="square" rtlCol="0">
                  <a:spAutoFit/>
                </a:bodyPr>
                <a:lstStyle/>
                <a:p>
                  <a:pPr algn="ctr"/>
                  <a:r>
                    <a:rPr lang="zh-CN" altLang="en-US" sz="2400" b="1" dirty="0">
                      <a:solidFill>
                        <a:srgbClr val="404040"/>
                      </a:solidFill>
                      <a:latin typeface="微软雅黑" panose="020B0503020204020204" charset="-122"/>
                      <a:ea typeface="微软雅黑" panose="020B0503020204020204" charset="-122"/>
                    </a:rPr>
                    <a:t>市场覆盖率</a:t>
                  </a:r>
                </a:p>
              </p:txBody>
            </p:sp>
            <p:sp>
              <p:nvSpPr>
                <p:cNvPr id="20" name="矩形 19"/>
                <p:cNvSpPr/>
                <p:nvPr/>
              </p:nvSpPr>
              <p:spPr>
                <a:xfrm>
                  <a:off x="2323985" y="1542941"/>
                  <a:ext cx="1273105" cy="830997"/>
                </a:xfrm>
                <a:prstGeom prst="rect">
                  <a:avLst/>
                </a:prstGeom>
              </p:spPr>
              <p:txBody>
                <a:bodyPr wrap="none">
                  <a:spAutoFit/>
                </a:bodyPr>
                <a:lstStyle/>
                <a:p>
                  <a:pPr algn="ctr"/>
                  <a:r>
                    <a:rPr lang="en-US" altLang="zh-CN" sz="4800" dirty="0">
                      <a:solidFill>
                        <a:srgbClr val="FFC000"/>
                      </a:solidFill>
                      <a:latin typeface="Impact" panose="020B0806030902050204" pitchFamily="34" charset="0"/>
                      <a:ea typeface="微软雅黑" panose="020B0503020204020204" charset="-122"/>
                    </a:rPr>
                    <a:t>85</a:t>
                  </a:r>
                  <a:r>
                    <a:rPr lang="en-US" altLang="zh-CN" sz="3600" b="1" dirty="0">
                      <a:solidFill>
                        <a:srgbClr val="FFC000"/>
                      </a:solidFill>
                      <a:latin typeface="微软雅黑" panose="020B0503020204020204" charset="-122"/>
                      <a:ea typeface="微软雅黑" panose="020B0503020204020204" charset="-122"/>
                    </a:rPr>
                    <a:t>%</a:t>
                  </a:r>
                </a:p>
              </p:txBody>
            </p:sp>
          </p:grpSp>
        </p:grpSp>
        <p:sp>
          <p:nvSpPr>
            <p:cNvPr id="84" name="同侧圆角矩形 83"/>
            <p:cNvSpPr/>
            <p:nvPr/>
          </p:nvSpPr>
          <p:spPr>
            <a:xfrm>
              <a:off x="1735666" y="1443057"/>
              <a:ext cx="2491778" cy="164496"/>
            </a:xfrm>
            <a:prstGeom prst="round2SameRect">
              <a:avLst>
                <a:gd name="adj1" fmla="val 49085"/>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a:off x="4698653" y="1443057"/>
            <a:ext cx="2820381" cy="3786925"/>
            <a:chOff x="4698653" y="1443057"/>
            <a:chExt cx="2820381" cy="3786925"/>
          </a:xfrm>
        </p:grpSpPr>
        <p:grpSp>
          <p:nvGrpSpPr>
            <p:cNvPr id="78" name="组合 77"/>
            <p:cNvGrpSpPr/>
            <p:nvPr/>
          </p:nvGrpSpPr>
          <p:grpSpPr>
            <a:xfrm>
              <a:off x="4711905" y="1466365"/>
              <a:ext cx="2807129" cy="3763617"/>
              <a:chOff x="4711905" y="1466365"/>
              <a:chExt cx="2807129" cy="3763617"/>
            </a:xfrm>
          </p:grpSpPr>
          <p:sp>
            <p:nvSpPr>
              <p:cNvPr id="76" name="圆角矩形 75"/>
              <p:cNvSpPr/>
              <p:nvPr/>
            </p:nvSpPr>
            <p:spPr>
              <a:xfrm>
                <a:off x="4711905" y="1466365"/>
                <a:ext cx="2807129" cy="3763617"/>
              </a:xfrm>
              <a:prstGeom prst="roundRect">
                <a:avLst>
                  <a:gd name="adj" fmla="val 6030"/>
                </a:avLst>
              </a:prstGeom>
              <a:noFill/>
              <a:ln w="2540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1" name="组合 70"/>
              <p:cNvGrpSpPr/>
              <p:nvPr/>
            </p:nvGrpSpPr>
            <p:grpSpPr>
              <a:xfrm>
                <a:off x="4894182" y="1662209"/>
                <a:ext cx="2442575" cy="3224840"/>
                <a:chOff x="5082353" y="1542941"/>
                <a:chExt cx="2442575" cy="3224840"/>
              </a:xfrm>
            </p:grpSpPr>
            <p:grpSp>
              <p:nvGrpSpPr>
                <p:cNvPr id="26" name="组合 25"/>
                <p:cNvGrpSpPr/>
                <p:nvPr/>
              </p:nvGrpSpPr>
              <p:grpSpPr>
                <a:xfrm>
                  <a:off x="5082353" y="2178400"/>
                  <a:ext cx="2442575" cy="2007323"/>
                  <a:chOff x="1197960" y="1763811"/>
                  <a:chExt cx="5256213" cy="4319588"/>
                </a:xfrm>
                <a:solidFill>
                  <a:schemeClr val="bg1"/>
                </a:solidFill>
                <a:effectLst>
                  <a:outerShdw blurRad="50800" dist="38100" dir="2700000" algn="tl" rotWithShape="0">
                    <a:prstClr val="black">
                      <a:alpha val="40000"/>
                    </a:prstClr>
                  </a:outerShdw>
                </a:effectLst>
              </p:grpSpPr>
              <p:sp>
                <p:nvSpPr>
                  <p:cNvPr id="27" name="Freeform 4"/>
                  <p:cNvSpPr/>
                  <p:nvPr/>
                </p:nvSpPr>
                <p:spPr bwMode="auto">
                  <a:xfrm>
                    <a:off x="5263548" y="1763811"/>
                    <a:ext cx="1190625" cy="1057275"/>
                  </a:xfrm>
                  <a:custGeom>
                    <a:avLst/>
                    <a:gdLst>
                      <a:gd name="T0" fmla="*/ 332 w 1088"/>
                      <a:gd name="T1" fmla="*/ 807 h 988"/>
                      <a:gd name="T2" fmla="*/ 394 w 1088"/>
                      <a:gd name="T3" fmla="*/ 879 h 988"/>
                      <a:gd name="T4" fmla="*/ 441 w 1088"/>
                      <a:gd name="T5" fmla="*/ 869 h 988"/>
                      <a:gd name="T6" fmla="*/ 502 w 1088"/>
                      <a:gd name="T7" fmla="*/ 874 h 988"/>
                      <a:gd name="T8" fmla="*/ 567 w 1088"/>
                      <a:gd name="T9" fmla="*/ 859 h 988"/>
                      <a:gd name="T10" fmla="*/ 614 w 1088"/>
                      <a:gd name="T11" fmla="*/ 915 h 988"/>
                      <a:gd name="T12" fmla="*/ 651 w 1088"/>
                      <a:gd name="T13" fmla="*/ 929 h 988"/>
                      <a:gd name="T14" fmla="*/ 695 w 1088"/>
                      <a:gd name="T15" fmla="*/ 957 h 988"/>
                      <a:gd name="T16" fmla="*/ 707 w 1088"/>
                      <a:gd name="T17" fmla="*/ 903 h 988"/>
                      <a:gd name="T18" fmla="*/ 754 w 1088"/>
                      <a:gd name="T19" fmla="*/ 959 h 988"/>
                      <a:gd name="T20" fmla="*/ 797 w 1088"/>
                      <a:gd name="T21" fmla="*/ 984 h 988"/>
                      <a:gd name="T22" fmla="*/ 843 w 1088"/>
                      <a:gd name="T23" fmla="*/ 927 h 988"/>
                      <a:gd name="T24" fmla="*/ 873 w 1088"/>
                      <a:gd name="T25" fmla="*/ 922 h 988"/>
                      <a:gd name="T26" fmla="*/ 922 w 1088"/>
                      <a:gd name="T27" fmla="*/ 957 h 988"/>
                      <a:gd name="T28" fmla="*/ 964 w 1088"/>
                      <a:gd name="T29" fmla="*/ 959 h 988"/>
                      <a:gd name="T30" fmla="*/ 950 w 1088"/>
                      <a:gd name="T31" fmla="*/ 881 h 988"/>
                      <a:gd name="T32" fmla="*/ 929 w 1088"/>
                      <a:gd name="T33" fmla="*/ 786 h 988"/>
                      <a:gd name="T34" fmla="*/ 1035 w 1088"/>
                      <a:gd name="T35" fmla="*/ 744 h 988"/>
                      <a:gd name="T36" fmla="*/ 1045 w 1088"/>
                      <a:gd name="T37" fmla="*/ 697 h 988"/>
                      <a:gd name="T38" fmla="*/ 1058 w 1088"/>
                      <a:gd name="T39" fmla="*/ 651 h 988"/>
                      <a:gd name="T40" fmla="*/ 1063 w 1088"/>
                      <a:gd name="T41" fmla="*/ 468 h 988"/>
                      <a:gd name="T42" fmla="*/ 1059 w 1088"/>
                      <a:gd name="T43" fmla="*/ 388 h 988"/>
                      <a:gd name="T44" fmla="*/ 1053 w 1088"/>
                      <a:gd name="T45" fmla="*/ 352 h 988"/>
                      <a:gd name="T46" fmla="*/ 983 w 1088"/>
                      <a:gd name="T47" fmla="*/ 406 h 988"/>
                      <a:gd name="T48" fmla="*/ 909 w 1088"/>
                      <a:gd name="T49" fmla="*/ 473 h 988"/>
                      <a:gd name="T50" fmla="*/ 777 w 1088"/>
                      <a:gd name="T51" fmla="*/ 473 h 988"/>
                      <a:gd name="T52" fmla="*/ 761 w 1088"/>
                      <a:gd name="T53" fmla="*/ 422 h 988"/>
                      <a:gd name="T54" fmla="*/ 715 w 1088"/>
                      <a:gd name="T55" fmla="*/ 388 h 988"/>
                      <a:gd name="T56" fmla="*/ 629 w 1088"/>
                      <a:gd name="T57" fmla="*/ 366 h 988"/>
                      <a:gd name="T58" fmla="*/ 559 w 1088"/>
                      <a:gd name="T59" fmla="*/ 358 h 988"/>
                      <a:gd name="T60" fmla="*/ 497 w 1088"/>
                      <a:gd name="T61" fmla="*/ 314 h 988"/>
                      <a:gd name="T62" fmla="*/ 467 w 1088"/>
                      <a:gd name="T63" fmla="*/ 263 h 988"/>
                      <a:gd name="T64" fmla="*/ 424 w 1088"/>
                      <a:gd name="T65" fmla="*/ 208 h 988"/>
                      <a:gd name="T66" fmla="*/ 370 w 1088"/>
                      <a:gd name="T67" fmla="*/ 122 h 988"/>
                      <a:gd name="T68" fmla="*/ 313 w 1088"/>
                      <a:gd name="T69" fmla="*/ 35 h 988"/>
                      <a:gd name="T70" fmla="*/ 221 w 1088"/>
                      <a:gd name="T71" fmla="*/ 21 h 988"/>
                      <a:gd name="T72" fmla="*/ 118 w 1088"/>
                      <a:gd name="T73" fmla="*/ 0 h 988"/>
                      <a:gd name="T74" fmla="*/ 4 w 1088"/>
                      <a:gd name="T75" fmla="*/ 49 h 988"/>
                      <a:gd name="T76" fmla="*/ 0 w 1088"/>
                      <a:gd name="T77" fmla="*/ 139 h 988"/>
                      <a:gd name="T78" fmla="*/ 50 w 1088"/>
                      <a:gd name="T79" fmla="*/ 173 h 988"/>
                      <a:gd name="T80" fmla="*/ 110 w 1088"/>
                      <a:gd name="T81" fmla="*/ 161 h 988"/>
                      <a:gd name="T82" fmla="*/ 123 w 1088"/>
                      <a:gd name="T83" fmla="*/ 223 h 988"/>
                      <a:gd name="T84" fmla="*/ 197 w 1088"/>
                      <a:gd name="T85" fmla="*/ 257 h 988"/>
                      <a:gd name="T86" fmla="*/ 242 w 1088"/>
                      <a:gd name="T87" fmla="*/ 238 h 988"/>
                      <a:gd name="T88" fmla="*/ 370 w 1088"/>
                      <a:gd name="T89" fmla="*/ 245 h 988"/>
                      <a:gd name="T90" fmla="*/ 350 w 1088"/>
                      <a:gd name="T91" fmla="*/ 417 h 988"/>
                      <a:gd name="T92" fmla="*/ 332 w 1088"/>
                      <a:gd name="T93" fmla="*/ 471 h 988"/>
                      <a:gd name="T94" fmla="*/ 325 w 1088"/>
                      <a:gd name="T95" fmla="*/ 582 h 988"/>
                      <a:gd name="T96" fmla="*/ 295 w 1088"/>
                      <a:gd name="T97" fmla="*/ 558 h 988"/>
                      <a:gd name="T98" fmla="*/ 229 w 1088"/>
                      <a:gd name="T99" fmla="*/ 659 h 988"/>
                      <a:gd name="T100" fmla="*/ 202 w 1088"/>
                      <a:gd name="T101" fmla="*/ 708 h 988"/>
                      <a:gd name="T102" fmla="*/ 295 w 1088"/>
                      <a:gd name="T103" fmla="*/ 742 h 988"/>
                      <a:gd name="T104" fmla="*/ 295 w 1088"/>
                      <a:gd name="T105" fmla="*/ 762 h 988"/>
                      <a:gd name="T106" fmla="*/ 262 w 1088"/>
                      <a:gd name="T107" fmla="*/ 804 h 9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88" h="988">
                        <a:moveTo>
                          <a:pt x="275" y="816"/>
                        </a:moveTo>
                        <a:lnTo>
                          <a:pt x="332" y="807"/>
                        </a:lnTo>
                        <a:lnTo>
                          <a:pt x="357" y="853"/>
                        </a:lnTo>
                        <a:lnTo>
                          <a:pt x="394" y="879"/>
                        </a:lnTo>
                        <a:lnTo>
                          <a:pt x="419" y="869"/>
                        </a:lnTo>
                        <a:lnTo>
                          <a:pt x="441" y="869"/>
                        </a:lnTo>
                        <a:lnTo>
                          <a:pt x="478" y="846"/>
                        </a:lnTo>
                        <a:lnTo>
                          <a:pt x="502" y="874"/>
                        </a:lnTo>
                        <a:lnTo>
                          <a:pt x="520" y="879"/>
                        </a:lnTo>
                        <a:lnTo>
                          <a:pt x="567" y="859"/>
                        </a:lnTo>
                        <a:lnTo>
                          <a:pt x="602" y="879"/>
                        </a:lnTo>
                        <a:lnTo>
                          <a:pt x="614" y="915"/>
                        </a:lnTo>
                        <a:lnTo>
                          <a:pt x="638" y="915"/>
                        </a:lnTo>
                        <a:lnTo>
                          <a:pt x="651" y="929"/>
                        </a:lnTo>
                        <a:lnTo>
                          <a:pt x="682" y="964"/>
                        </a:lnTo>
                        <a:lnTo>
                          <a:pt x="695" y="957"/>
                        </a:lnTo>
                        <a:lnTo>
                          <a:pt x="689" y="915"/>
                        </a:lnTo>
                        <a:lnTo>
                          <a:pt x="707" y="903"/>
                        </a:lnTo>
                        <a:lnTo>
                          <a:pt x="733" y="952"/>
                        </a:lnTo>
                        <a:lnTo>
                          <a:pt x="754" y="959"/>
                        </a:lnTo>
                        <a:lnTo>
                          <a:pt x="779" y="987"/>
                        </a:lnTo>
                        <a:lnTo>
                          <a:pt x="797" y="984"/>
                        </a:lnTo>
                        <a:lnTo>
                          <a:pt x="805" y="971"/>
                        </a:lnTo>
                        <a:lnTo>
                          <a:pt x="843" y="927"/>
                        </a:lnTo>
                        <a:lnTo>
                          <a:pt x="860" y="940"/>
                        </a:lnTo>
                        <a:lnTo>
                          <a:pt x="873" y="922"/>
                        </a:lnTo>
                        <a:lnTo>
                          <a:pt x="884" y="945"/>
                        </a:lnTo>
                        <a:lnTo>
                          <a:pt x="922" y="957"/>
                        </a:lnTo>
                        <a:lnTo>
                          <a:pt x="947" y="957"/>
                        </a:lnTo>
                        <a:lnTo>
                          <a:pt x="964" y="959"/>
                        </a:lnTo>
                        <a:lnTo>
                          <a:pt x="955" y="940"/>
                        </a:lnTo>
                        <a:lnTo>
                          <a:pt x="950" y="881"/>
                        </a:lnTo>
                        <a:lnTo>
                          <a:pt x="904" y="811"/>
                        </a:lnTo>
                        <a:lnTo>
                          <a:pt x="929" y="786"/>
                        </a:lnTo>
                        <a:lnTo>
                          <a:pt x="952" y="744"/>
                        </a:lnTo>
                        <a:lnTo>
                          <a:pt x="1035" y="744"/>
                        </a:lnTo>
                        <a:lnTo>
                          <a:pt x="1049" y="733"/>
                        </a:lnTo>
                        <a:lnTo>
                          <a:pt x="1045" y="697"/>
                        </a:lnTo>
                        <a:lnTo>
                          <a:pt x="1063" y="669"/>
                        </a:lnTo>
                        <a:lnTo>
                          <a:pt x="1058" y="651"/>
                        </a:lnTo>
                        <a:lnTo>
                          <a:pt x="1064" y="622"/>
                        </a:lnTo>
                        <a:lnTo>
                          <a:pt x="1063" y="468"/>
                        </a:lnTo>
                        <a:lnTo>
                          <a:pt x="1087" y="419"/>
                        </a:lnTo>
                        <a:lnTo>
                          <a:pt x="1059" y="388"/>
                        </a:lnTo>
                        <a:lnTo>
                          <a:pt x="1064" y="368"/>
                        </a:lnTo>
                        <a:lnTo>
                          <a:pt x="1053" y="352"/>
                        </a:lnTo>
                        <a:lnTo>
                          <a:pt x="1021" y="363"/>
                        </a:lnTo>
                        <a:lnTo>
                          <a:pt x="983" y="406"/>
                        </a:lnTo>
                        <a:lnTo>
                          <a:pt x="947" y="422"/>
                        </a:lnTo>
                        <a:lnTo>
                          <a:pt x="909" y="473"/>
                        </a:lnTo>
                        <a:lnTo>
                          <a:pt x="818" y="503"/>
                        </a:lnTo>
                        <a:lnTo>
                          <a:pt x="777" y="473"/>
                        </a:lnTo>
                        <a:lnTo>
                          <a:pt x="782" y="454"/>
                        </a:lnTo>
                        <a:lnTo>
                          <a:pt x="761" y="422"/>
                        </a:lnTo>
                        <a:lnTo>
                          <a:pt x="749" y="388"/>
                        </a:lnTo>
                        <a:lnTo>
                          <a:pt x="715" y="388"/>
                        </a:lnTo>
                        <a:lnTo>
                          <a:pt x="652" y="357"/>
                        </a:lnTo>
                        <a:lnTo>
                          <a:pt x="629" y="366"/>
                        </a:lnTo>
                        <a:lnTo>
                          <a:pt x="602" y="352"/>
                        </a:lnTo>
                        <a:lnTo>
                          <a:pt x="559" y="358"/>
                        </a:lnTo>
                        <a:lnTo>
                          <a:pt x="520" y="345"/>
                        </a:lnTo>
                        <a:lnTo>
                          <a:pt x="497" y="314"/>
                        </a:lnTo>
                        <a:lnTo>
                          <a:pt x="478" y="290"/>
                        </a:lnTo>
                        <a:lnTo>
                          <a:pt x="467" y="263"/>
                        </a:lnTo>
                        <a:lnTo>
                          <a:pt x="441" y="236"/>
                        </a:lnTo>
                        <a:lnTo>
                          <a:pt x="424" y="208"/>
                        </a:lnTo>
                        <a:lnTo>
                          <a:pt x="382" y="154"/>
                        </a:lnTo>
                        <a:lnTo>
                          <a:pt x="370" y="122"/>
                        </a:lnTo>
                        <a:lnTo>
                          <a:pt x="325" y="65"/>
                        </a:lnTo>
                        <a:lnTo>
                          <a:pt x="313" y="35"/>
                        </a:lnTo>
                        <a:lnTo>
                          <a:pt x="259" y="9"/>
                        </a:lnTo>
                        <a:lnTo>
                          <a:pt x="221" y="21"/>
                        </a:lnTo>
                        <a:lnTo>
                          <a:pt x="190" y="14"/>
                        </a:lnTo>
                        <a:lnTo>
                          <a:pt x="118" y="0"/>
                        </a:lnTo>
                        <a:lnTo>
                          <a:pt x="22" y="33"/>
                        </a:lnTo>
                        <a:lnTo>
                          <a:pt x="4" y="49"/>
                        </a:lnTo>
                        <a:lnTo>
                          <a:pt x="25" y="76"/>
                        </a:lnTo>
                        <a:lnTo>
                          <a:pt x="0" y="139"/>
                        </a:lnTo>
                        <a:lnTo>
                          <a:pt x="7" y="146"/>
                        </a:lnTo>
                        <a:lnTo>
                          <a:pt x="50" y="173"/>
                        </a:lnTo>
                        <a:lnTo>
                          <a:pt x="71" y="136"/>
                        </a:lnTo>
                        <a:lnTo>
                          <a:pt x="110" y="161"/>
                        </a:lnTo>
                        <a:lnTo>
                          <a:pt x="107" y="179"/>
                        </a:lnTo>
                        <a:lnTo>
                          <a:pt x="123" y="223"/>
                        </a:lnTo>
                        <a:lnTo>
                          <a:pt x="147" y="249"/>
                        </a:lnTo>
                        <a:lnTo>
                          <a:pt x="197" y="257"/>
                        </a:lnTo>
                        <a:lnTo>
                          <a:pt x="212" y="243"/>
                        </a:lnTo>
                        <a:lnTo>
                          <a:pt x="242" y="238"/>
                        </a:lnTo>
                        <a:lnTo>
                          <a:pt x="295" y="190"/>
                        </a:lnTo>
                        <a:lnTo>
                          <a:pt x="370" y="245"/>
                        </a:lnTo>
                        <a:lnTo>
                          <a:pt x="345" y="345"/>
                        </a:lnTo>
                        <a:lnTo>
                          <a:pt x="350" y="417"/>
                        </a:lnTo>
                        <a:lnTo>
                          <a:pt x="350" y="461"/>
                        </a:lnTo>
                        <a:lnTo>
                          <a:pt x="332" y="471"/>
                        </a:lnTo>
                        <a:lnTo>
                          <a:pt x="329" y="585"/>
                        </a:lnTo>
                        <a:lnTo>
                          <a:pt x="325" y="582"/>
                        </a:lnTo>
                        <a:lnTo>
                          <a:pt x="304" y="558"/>
                        </a:lnTo>
                        <a:lnTo>
                          <a:pt x="295" y="558"/>
                        </a:lnTo>
                        <a:lnTo>
                          <a:pt x="289" y="566"/>
                        </a:lnTo>
                        <a:lnTo>
                          <a:pt x="229" y="659"/>
                        </a:lnTo>
                        <a:lnTo>
                          <a:pt x="197" y="696"/>
                        </a:lnTo>
                        <a:lnTo>
                          <a:pt x="202" y="708"/>
                        </a:lnTo>
                        <a:lnTo>
                          <a:pt x="265" y="749"/>
                        </a:lnTo>
                        <a:lnTo>
                          <a:pt x="295" y="742"/>
                        </a:lnTo>
                        <a:lnTo>
                          <a:pt x="299" y="749"/>
                        </a:lnTo>
                        <a:lnTo>
                          <a:pt x="295" y="762"/>
                        </a:lnTo>
                        <a:lnTo>
                          <a:pt x="265" y="774"/>
                        </a:lnTo>
                        <a:lnTo>
                          <a:pt x="262" y="804"/>
                        </a:lnTo>
                        <a:lnTo>
                          <a:pt x="275" y="816"/>
                        </a:lnTo>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 name="Freeform 5"/>
                  <p:cNvSpPr/>
                  <p:nvPr/>
                </p:nvSpPr>
                <p:spPr bwMode="auto">
                  <a:xfrm>
                    <a:off x="3374423" y="1816199"/>
                    <a:ext cx="2314575" cy="2038350"/>
                  </a:xfrm>
                  <a:custGeom>
                    <a:avLst/>
                    <a:gdLst>
                      <a:gd name="T0" fmla="*/ 690 w 2117"/>
                      <a:gd name="T1" fmla="*/ 1843 h 1903"/>
                      <a:gd name="T2" fmla="*/ 782 w 2117"/>
                      <a:gd name="T3" fmla="*/ 1683 h 1903"/>
                      <a:gd name="T4" fmla="*/ 849 w 2117"/>
                      <a:gd name="T5" fmla="*/ 1833 h 1903"/>
                      <a:gd name="T6" fmla="*/ 932 w 2117"/>
                      <a:gd name="T7" fmla="*/ 1866 h 1903"/>
                      <a:gd name="T8" fmla="*/ 1039 w 2117"/>
                      <a:gd name="T9" fmla="*/ 1706 h 1903"/>
                      <a:gd name="T10" fmla="*/ 1151 w 2117"/>
                      <a:gd name="T11" fmla="*/ 1652 h 1903"/>
                      <a:gd name="T12" fmla="*/ 1279 w 2117"/>
                      <a:gd name="T13" fmla="*/ 1550 h 1903"/>
                      <a:gd name="T14" fmla="*/ 1356 w 2117"/>
                      <a:gd name="T15" fmla="*/ 1448 h 1903"/>
                      <a:gd name="T16" fmla="*/ 1430 w 2117"/>
                      <a:gd name="T17" fmla="*/ 1334 h 1903"/>
                      <a:gd name="T18" fmla="*/ 1505 w 2117"/>
                      <a:gd name="T19" fmla="*/ 1339 h 1903"/>
                      <a:gd name="T20" fmla="*/ 1591 w 2117"/>
                      <a:gd name="T21" fmla="*/ 1312 h 1903"/>
                      <a:gd name="T22" fmla="*/ 1700 w 2117"/>
                      <a:gd name="T23" fmla="*/ 1303 h 1903"/>
                      <a:gd name="T24" fmla="*/ 1803 w 2117"/>
                      <a:gd name="T25" fmla="*/ 1342 h 1903"/>
                      <a:gd name="T26" fmla="*/ 1859 w 2117"/>
                      <a:gd name="T27" fmla="*/ 1300 h 1903"/>
                      <a:gd name="T28" fmla="*/ 1967 w 2117"/>
                      <a:gd name="T29" fmla="*/ 1198 h 1903"/>
                      <a:gd name="T30" fmla="*/ 2060 w 2117"/>
                      <a:gd name="T31" fmla="*/ 1146 h 1903"/>
                      <a:gd name="T32" fmla="*/ 2085 w 2117"/>
                      <a:gd name="T33" fmla="*/ 1060 h 1903"/>
                      <a:gd name="T34" fmla="*/ 1971 w 2117"/>
                      <a:gd name="T35" fmla="*/ 996 h 1903"/>
                      <a:gd name="T36" fmla="*/ 1944 w 2117"/>
                      <a:gd name="T37" fmla="*/ 870 h 1903"/>
                      <a:gd name="T38" fmla="*/ 1979 w 2117"/>
                      <a:gd name="T39" fmla="*/ 828 h 1903"/>
                      <a:gd name="T40" fmla="*/ 1992 w 2117"/>
                      <a:gd name="T41" fmla="*/ 729 h 1903"/>
                      <a:gd name="T42" fmla="*/ 1992 w 2117"/>
                      <a:gd name="T43" fmla="*/ 704 h 1903"/>
                      <a:gd name="T44" fmla="*/ 2017 w 2117"/>
                      <a:gd name="T45" fmla="*/ 518 h 1903"/>
                      <a:gd name="T46" fmla="*/ 2058 w 2117"/>
                      <a:gd name="T47" fmla="*/ 538 h 1903"/>
                      <a:gd name="T48" fmla="*/ 2073 w 2117"/>
                      <a:gd name="T49" fmla="*/ 297 h 1903"/>
                      <a:gd name="T50" fmla="*/ 1939 w 2117"/>
                      <a:gd name="T51" fmla="*/ 194 h 1903"/>
                      <a:gd name="T52" fmla="*/ 1836 w 2117"/>
                      <a:gd name="T53" fmla="*/ 132 h 1903"/>
                      <a:gd name="T54" fmla="*/ 1734 w 2117"/>
                      <a:gd name="T55" fmla="*/ 98 h 1903"/>
                      <a:gd name="T56" fmla="*/ 1715 w 2117"/>
                      <a:gd name="T57" fmla="*/ 0 h 1903"/>
                      <a:gd name="T58" fmla="*/ 1674 w 2117"/>
                      <a:gd name="T59" fmla="*/ 98 h 1903"/>
                      <a:gd name="T60" fmla="*/ 1622 w 2117"/>
                      <a:gd name="T61" fmla="*/ 358 h 1903"/>
                      <a:gd name="T62" fmla="*/ 1485 w 2117"/>
                      <a:gd name="T63" fmla="*/ 463 h 1903"/>
                      <a:gd name="T64" fmla="*/ 1393 w 2117"/>
                      <a:gd name="T65" fmla="*/ 646 h 1903"/>
                      <a:gd name="T66" fmla="*/ 1537 w 2117"/>
                      <a:gd name="T67" fmla="*/ 679 h 1903"/>
                      <a:gd name="T68" fmla="*/ 1739 w 2117"/>
                      <a:gd name="T69" fmla="*/ 746 h 1903"/>
                      <a:gd name="T70" fmla="*/ 1596 w 2117"/>
                      <a:gd name="T71" fmla="*/ 807 h 1903"/>
                      <a:gd name="T72" fmla="*/ 1479 w 2117"/>
                      <a:gd name="T73" fmla="*/ 884 h 1903"/>
                      <a:gd name="T74" fmla="*/ 1326 w 2117"/>
                      <a:gd name="T75" fmla="*/ 1023 h 1903"/>
                      <a:gd name="T76" fmla="*/ 1143 w 2117"/>
                      <a:gd name="T77" fmla="*/ 1051 h 1903"/>
                      <a:gd name="T78" fmla="*/ 1104 w 2117"/>
                      <a:gd name="T79" fmla="*/ 1226 h 1903"/>
                      <a:gd name="T80" fmla="*/ 825 w 2117"/>
                      <a:gd name="T81" fmla="*/ 1345 h 1903"/>
                      <a:gd name="T82" fmla="*/ 583 w 2117"/>
                      <a:gd name="T83" fmla="*/ 1420 h 1903"/>
                      <a:gd name="T84" fmla="*/ 212 w 2117"/>
                      <a:gd name="T85" fmla="*/ 1332 h 1903"/>
                      <a:gd name="T86" fmla="*/ 12 w 2117"/>
                      <a:gd name="T87" fmla="*/ 1398 h 1903"/>
                      <a:gd name="T88" fmla="*/ 127 w 2117"/>
                      <a:gd name="T89" fmla="*/ 1527 h 1903"/>
                      <a:gd name="T90" fmla="*/ 240 w 2117"/>
                      <a:gd name="T91" fmla="*/ 1576 h 1903"/>
                      <a:gd name="T92" fmla="*/ 274 w 2117"/>
                      <a:gd name="T93" fmla="*/ 1678 h 1903"/>
                      <a:gd name="T94" fmla="*/ 394 w 2117"/>
                      <a:gd name="T95" fmla="*/ 1744 h 1903"/>
                      <a:gd name="T96" fmla="*/ 566 w 2117"/>
                      <a:gd name="T97" fmla="*/ 1729 h 1903"/>
                      <a:gd name="T98" fmla="*/ 510 w 2117"/>
                      <a:gd name="T99" fmla="*/ 1819 h 1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17" h="1903">
                        <a:moveTo>
                          <a:pt x="596" y="1893"/>
                        </a:moveTo>
                        <a:lnTo>
                          <a:pt x="626" y="1888"/>
                        </a:lnTo>
                        <a:lnTo>
                          <a:pt x="650" y="1879"/>
                        </a:lnTo>
                        <a:lnTo>
                          <a:pt x="690" y="1843"/>
                        </a:lnTo>
                        <a:lnTo>
                          <a:pt x="700" y="1789"/>
                        </a:lnTo>
                        <a:lnTo>
                          <a:pt x="724" y="1711"/>
                        </a:lnTo>
                        <a:lnTo>
                          <a:pt x="775" y="1676"/>
                        </a:lnTo>
                        <a:lnTo>
                          <a:pt x="782" y="1683"/>
                        </a:lnTo>
                        <a:lnTo>
                          <a:pt x="799" y="1738"/>
                        </a:lnTo>
                        <a:lnTo>
                          <a:pt x="775" y="1772"/>
                        </a:lnTo>
                        <a:lnTo>
                          <a:pt x="766" y="1804"/>
                        </a:lnTo>
                        <a:lnTo>
                          <a:pt x="849" y="1833"/>
                        </a:lnTo>
                        <a:lnTo>
                          <a:pt x="854" y="1856"/>
                        </a:lnTo>
                        <a:lnTo>
                          <a:pt x="901" y="1854"/>
                        </a:lnTo>
                        <a:lnTo>
                          <a:pt x="921" y="1860"/>
                        </a:lnTo>
                        <a:lnTo>
                          <a:pt x="932" y="1866"/>
                        </a:lnTo>
                        <a:lnTo>
                          <a:pt x="1014" y="1750"/>
                        </a:lnTo>
                        <a:lnTo>
                          <a:pt x="1036" y="1743"/>
                        </a:lnTo>
                        <a:lnTo>
                          <a:pt x="1041" y="1729"/>
                        </a:lnTo>
                        <a:lnTo>
                          <a:pt x="1039" y="1706"/>
                        </a:lnTo>
                        <a:lnTo>
                          <a:pt x="1067" y="1666"/>
                        </a:lnTo>
                        <a:lnTo>
                          <a:pt x="1119" y="1664"/>
                        </a:lnTo>
                        <a:lnTo>
                          <a:pt x="1139" y="1641"/>
                        </a:lnTo>
                        <a:lnTo>
                          <a:pt x="1151" y="1652"/>
                        </a:lnTo>
                        <a:lnTo>
                          <a:pt x="1181" y="1627"/>
                        </a:lnTo>
                        <a:lnTo>
                          <a:pt x="1197" y="1627"/>
                        </a:lnTo>
                        <a:lnTo>
                          <a:pt x="1251" y="1548"/>
                        </a:lnTo>
                        <a:lnTo>
                          <a:pt x="1279" y="1550"/>
                        </a:lnTo>
                        <a:lnTo>
                          <a:pt x="1314" y="1525"/>
                        </a:lnTo>
                        <a:lnTo>
                          <a:pt x="1323" y="1534"/>
                        </a:lnTo>
                        <a:lnTo>
                          <a:pt x="1388" y="1502"/>
                        </a:lnTo>
                        <a:lnTo>
                          <a:pt x="1356" y="1448"/>
                        </a:lnTo>
                        <a:lnTo>
                          <a:pt x="1365" y="1394"/>
                        </a:lnTo>
                        <a:lnTo>
                          <a:pt x="1393" y="1336"/>
                        </a:lnTo>
                        <a:lnTo>
                          <a:pt x="1416" y="1327"/>
                        </a:lnTo>
                        <a:lnTo>
                          <a:pt x="1430" y="1334"/>
                        </a:lnTo>
                        <a:lnTo>
                          <a:pt x="1430" y="1375"/>
                        </a:lnTo>
                        <a:lnTo>
                          <a:pt x="1447" y="1387"/>
                        </a:lnTo>
                        <a:lnTo>
                          <a:pt x="1488" y="1357"/>
                        </a:lnTo>
                        <a:lnTo>
                          <a:pt x="1505" y="1339"/>
                        </a:lnTo>
                        <a:lnTo>
                          <a:pt x="1521" y="1347"/>
                        </a:lnTo>
                        <a:lnTo>
                          <a:pt x="1542" y="1329"/>
                        </a:lnTo>
                        <a:lnTo>
                          <a:pt x="1584" y="1327"/>
                        </a:lnTo>
                        <a:lnTo>
                          <a:pt x="1591" y="1312"/>
                        </a:lnTo>
                        <a:lnTo>
                          <a:pt x="1581" y="1290"/>
                        </a:lnTo>
                        <a:lnTo>
                          <a:pt x="1610" y="1261"/>
                        </a:lnTo>
                        <a:lnTo>
                          <a:pt x="1645" y="1243"/>
                        </a:lnTo>
                        <a:lnTo>
                          <a:pt x="1700" y="1303"/>
                        </a:lnTo>
                        <a:lnTo>
                          <a:pt x="1697" y="1324"/>
                        </a:lnTo>
                        <a:lnTo>
                          <a:pt x="1724" y="1368"/>
                        </a:lnTo>
                        <a:lnTo>
                          <a:pt x="1789" y="1372"/>
                        </a:lnTo>
                        <a:lnTo>
                          <a:pt x="1803" y="1342"/>
                        </a:lnTo>
                        <a:lnTo>
                          <a:pt x="1787" y="1255"/>
                        </a:lnTo>
                        <a:lnTo>
                          <a:pt x="1801" y="1240"/>
                        </a:lnTo>
                        <a:lnTo>
                          <a:pt x="1831" y="1261"/>
                        </a:lnTo>
                        <a:lnTo>
                          <a:pt x="1859" y="1300"/>
                        </a:lnTo>
                        <a:lnTo>
                          <a:pt x="1901" y="1236"/>
                        </a:lnTo>
                        <a:lnTo>
                          <a:pt x="1921" y="1231"/>
                        </a:lnTo>
                        <a:lnTo>
                          <a:pt x="1951" y="1198"/>
                        </a:lnTo>
                        <a:lnTo>
                          <a:pt x="1967" y="1198"/>
                        </a:lnTo>
                        <a:lnTo>
                          <a:pt x="1994" y="1171"/>
                        </a:lnTo>
                        <a:lnTo>
                          <a:pt x="2009" y="1171"/>
                        </a:lnTo>
                        <a:lnTo>
                          <a:pt x="2023" y="1146"/>
                        </a:lnTo>
                        <a:lnTo>
                          <a:pt x="2060" y="1146"/>
                        </a:lnTo>
                        <a:lnTo>
                          <a:pt x="2099" y="1111"/>
                        </a:lnTo>
                        <a:lnTo>
                          <a:pt x="2116" y="1095"/>
                        </a:lnTo>
                        <a:lnTo>
                          <a:pt x="2116" y="1076"/>
                        </a:lnTo>
                        <a:lnTo>
                          <a:pt x="2085" y="1060"/>
                        </a:lnTo>
                        <a:lnTo>
                          <a:pt x="2085" y="1023"/>
                        </a:lnTo>
                        <a:lnTo>
                          <a:pt x="2036" y="958"/>
                        </a:lnTo>
                        <a:lnTo>
                          <a:pt x="1986" y="1005"/>
                        </a:lnTo>
                        <a:lnTo>
                          <a:pt x="1971" y="996"/>
                        </a:lnTo>
                        <a:lnTo>
                          <a:pt x="1969" y="969"/>
                        </a:lnTo>
                        <a:lnTo>
                          <a:pt x="1949" y="939"/>
                        </a:lnTo>
                        <a:lnTo>
                          <a:pt x="1944" y="907"/>
                        </a:lnTo>
                        <a:lnTo>
                          <a:pt x="1944" y="870"/>
                        </a:lnTo>
                        <a:lnTo>
                          <a:pt x="1910" y="844"/>
                        </a:lnTo>
                        <a:lnTo>
                          <a:pt x="1905" y="832"/>
                        </a:lnTo>
                        <a:lnTo>
                          <a:pt x="1913" y="810"/>
                        </a:lnTo>
                        <a:lnTo>
                          <a:pt x="1979" y="828"/>
                        </a:lnTo>
                        <a:lnTo>
                          <a:pt x="1981" y="798"/>
                        </a:lnTo>
                        <a:lnTo>
                          <a:pt x="2004" y="771"/>
                        </a:lnTo>
                        <a:lnTo>
                          <a:pt x="1989" y="759"/>
                        </a:lnTo>
                        <a:lnTo>
                          <a:pt x="1992" y="729"/>
                        </a:lnTo>
                        <a:lnTo>
                          <a:pt x="2023" y="717"/>
                        </a:lnTo>
                        <a:lnTo>
                          <a:pt x="2028" y="704"/>
                        </a:lnTo>
                        <a:lnTo>
                          <a:pt x="2023" y="697"/>
                        </a:lnTo>
                        <a:lnTo>
                          <a:pt x="1992" y="704"/>
                        </a:lnTo>
                        <a:lnTo>
                          <a:pt x="1931" y="662"/>
                        </a:lnTo>
                        <a:lnTo>
                          <a:pt x="1926" y="650"/>
                        </a:lnTo>
                        <a:lnTo>
                          <a:pt x="1956" y="613"/>
                        </a:lnTo>
                        <a:lnTo>
                          <a:pt x="2017" y="518"/>
                        </a:lnTo>
                        <a:lnTo>
                          <a:pt x="2023" y="511"/>
                        </a:lnTo>
                        <a:lnTo>
                          <a:pt x="2033" y="511"/>
                        </a:lnTo>
                        <a:lnTo>
                          <a:pt x="2053" y="536"/>
                        </a:lnTo>
                        <a:lnTo>
                          <a:pt x="2058" y="538"/>
                        </a:lnTo>
                        <a:lnTo>
                          <a:pt x="2060" y="424"/>
                        </a:lnTo>
                        <a:lnTo>
                          <a:pt x="2078" y="415"/>
                        </a:lnTo>
                        <a:lnTo>
                          <a:pt x="2078" y="370"/>
                        </a:lnTo>
                        <a:lnTo>
                          <a:pt x="2073" y="297"/>
                        </a:lnTo>
                        <a:lnTo>
                          <a:pt x="2099" y="196"/>
                        </a:lnTo>
                        <a:lnTo>
                          <a:pt x="2023" y="142"/>
                        </a:lnTo>
                        <a:lnTo>
                          <a:pt x="1969" y="189"/>
                        </a:lnTo>
                        <a:lnTo>
                          <a:pt x="1939" y="194"/>
                        </a:lnTo>
                        <a:lnTo>
                          <a:pt x="1926" y="210"/>
                        </a:lnTo>
                        <a:lnTo>
                          <a:pt x="1875" y="201"/>
                        </a:lnTo>
                        <a:lnTo>
                          <a:pt x="1851" y="174"/>
                        </a:lnTo>
                        <a:lnTo>
                          <a:pt x="1836" y="132"/>
                        </a:lnTo>
                        <a:lnTo>
                          <a:pt x="1838" y="114"/>
                        </a:lnTo>
                        <a:lnTo>
                          <a:pt x="1799" y="88"/>
                        </a:lnTo>
                        <a:lnTo>
                          <a:pt x="1777" y="126"/>
                        </a:lnTo>
                        <a:lnTo>
                          <a:pt x="1734" y="98"/>
                        </a:lnTo>
                        <a:lnTo>
                          <a:pt x="1727" y="91"/>
                        </a:lnTo>
                        <a:lnTo>
                          <a:pt x="1752" y="27"/>
                        </a:lnTo>
                        <a:lnTo>
                          <a:pt x="1731" y="0"/>
                        </a:lnTo>
                        <a:lnTo>
                          <a:pt x="1715" y="0"/>
                        </a:lnTo>
                        <a:lnTo>
                          <a:pt x="1669" y="32"/>
                        </a:lnTo>
                        <a:lnTo>
                          <a:pt x="1633" y="86"/>
                        </a:lnTo>
                        <a:lnTo>
                          <a:pt x="1647" y="96"/>
                        </a:lnTo>
                        <a:lnTo>
                          <a:pt x="1674" y="98"/>
                        </a:lnTo>
                        <a:lnTo>
                          <a:pt x="1697" y="156"/>
                        </a:lnTo>
                        <a:lnTo>
                          <a:pt x="1685" y="177"/>
                        </a:lnTo>
                        <a:lnTo>
                          <a:pt x="1663" y="210"/>
                        </a:lnTo>
                        <a:lnTo>
                          <a:pt x="1622" y="358"/>
                        </a:lnTo>
                        <a:lnTo>
                          <a:pt x="1638" y="384"/>
                        </a:lnTo>
                        <a:lnTo>
                          <a:pt x="1625" y="405"/>
                        </a:lnTo>
                        <a:lnTo>
                          <a:pt x="1535" y="470"/>
                        </a:lnTo>
                        <a:lnTo>
                          <a:pt x="1485" y="463"/>
                        </a:lnTo>
                        <a:lnTo>
                          <a:pt x="1458" y="452"/>
                        </a:lnTo>
                        <a:lnTo>
                          <a:pt x="1452" y="465"/>
                        </a:lnTo>
                        <a:lnTo>
                          <a:pt x="1412" y="625"/>
                        </a:lnTo>
                        <a:lnTo>
                          <a:pt x="1393" y="646"/>
                        </a:lnTo>
                        <a:lnTo>
                          <a:pt x="1403" y="674"/>
                        </a:lnTo>
                        <a:lnTo>
                          <a:pt x="1428" y="697"/>
                        </a:lnTo>
                        <a:lnTo>
                          <a:pt x="1470" y="672"/>
                        </a:lnTo>
                        <a:lnTo>
                          <a:pt x="1537" y="679"/>
                        </a:lnTo>
                        <a:lnTo>
                          <a:pt x="1556" y="646"/>
                        </a:lnTo>
                        <a:lnTo>
                          <a:pt x="1591" y="637"/>
                        </a:lnTo>
                        <a:lnTo>
                          <a:pt x="1657" y="662"/>
                        </a:lnTo>
                        <a:lnTo>
                          <a:pt x="1739" y="746"/>
                        </a:lnTo>
                        <a:lnTo>
                          <a:pt x="1739" y="764"/>
                        </a:lnTo>
                        <a:lnTo>
                          <a:pt x="1722" y="776"/>
                        </a:lnTo>
                        <a:lnTo>
                          <a:pt x="1627" y="783"/>
                        </a:lnTo>
                        <a:lnTo>
                          <a:pt x="1596" y="807"/>
                        </a:lnTo>
                        <a:lnTo>
                          <a:pt x="1572" y="802"/>
                        </a:lnTo>
                        <a:lnTo>
                          <a:pt x="1554" y="832"/>
                        </a:lnTo>
                        <a:lnTo>
                          <a:pt x="1509" y="840"/>
                        </a:lnTo>
                        <a:lnTo>
                          <a:pt x="1479" y="884"/>
                        </a:lnTo>
                        <a:lnTo>
                          <a:pt x="1475" y="916"/>
                        </a:lnTo>
                        <a:lnTo>
                          <a:pt x="1411" y="958"/>
                        </a:lnTo>
                        <a:lnTo>
                          <a:pt x="1370" y="964"/>
                        </a:lnTo>
                        <a:lnTo>
                          <a:pt x="1326" y="1023"/>
                        </a:lnTo>
                        <a:lnTo>
                          <a:pt x="1284" y="1048"/>
                        </a:lnTo>
                        <a:lnTo>
                          <a:pt x="1202" y="1030"/>
                        </a:lnTo>
                        <a:lnTo>
                          <a:pt x="1176" y="1018"/>
                        </a:lnTo>
                        <a:lnTo>
                          <a:pt x="1143" y="1051"/>
                        </a:lnTo>
                        <a:lnTo>
                          <a:pt x="1129" y="1107"/>
                        </a:lnTo>
                        <a:lnTo>
                          <a:pt x="1172" y="1171"/>
                        </a:lnTo>
                        <a:lnTo>
                          <a:pt x="1143" y="1201"/>
                        </a:lnTo>
                        <a:lnTo>
                          <a:pt x="1104" y="1226"/>
                        </a:lnTo>
                        <a:lnTo>
                          <a:pt x="1044" y="1300"/>
                        </a:lnTo>
                        <a:lnTo>
                          <a:pt x="967" y="1334"/>
                        </a:lnTo>
                        <a:lnTo>
                          <a:pt x="841" y="1347"/>
                        </a:lnTo>
                        <a:lnTo>
                          <a:pt x="825" y="1345"/>
                        </a:lnTo>
                        <a:lnTo>
                          <a:pt x="679" y="1407"/>
                        </a:lnTo>
                        <a:lnTo>
                          <a:pt x="608" y="1448"/>
                        </a:lnTo>
                        <a:lnTo>
                          <a:pt x="590" y="1438"/>
                        </a:lnTo>
                        <a:lnTo>
                          <a:pt x="583" y="1420"/>
                        </a:lnTo>
                        <a:lnTo>
                          <a:pt x="492" y="1414"/>
                        </a:lnTo>
                        <a:lnTo>
                          <a:pt x="391" y="1382"/>
                        </a:lnTo>
                        <a:lnTo>
                          <a:pt x="363" y="1350"/>
                        </a:lnTo>
                        <a:lnTo>
                          <a:pt x="212" y="1332"/>
                        </a:lnTo>
                        <a:lnTo>
                          <a:pt x="184" y="1345"/>
                        </a:lnTo>
                        <a:lnTo>
                          <a:pt x="2" y="1327"/>
                        </a:lnTo>
                        <a:lnTo>
                          <a:pt x="0" y="1354"/>
                        </a:lnTo>
                        <a:lnTo>
                          <a:pt x="12" y="1398"/>
                        </a:lnTo>
                        <a:lnTo>
                          <a:pt x="4" y="1465"/>
                        </a:lnTo>
                        <a:lnTo>
                          <a:pt x="56" y="1542"/>
                        </a:lnTo>
                        <a:lnTo>
                          <a:pt x="85" y="1560"/>
                        </a:lnTo>
                        <a:lnTo>
                          <a:pt x="127" y="1527"/>
                        </a:lnTo>
                        <a:lnTo>
                          <a:pt x="214" y="1527"/>
                        </a:lnTo>
                        <a:lnTo>
                          <a:pt x="236" y="1534"/>
                        </a:lnTo>
                        <a:lnTo>
                          <a:pt x="249" y="1555"/>
                        </a:lnTo>
                        <a:lnTo>
                          <a:pt x="240" y="1576"/>
                        </a:lnTo>
                        <a:lnTo>
                          <a:pt x="190" y="1616"/>
                        </a:lnTo>
                        <a:lnTo>
                          <a:pt x="195" y="1636"/>
                        </a:lnTo>
                        <a:lnTo>
                          <a:pt x="253" y="1678"/>
                        </a:lnTo>
                        <a:lnTo>
                          <a:pt x="274" y="1678"/>
                        </a:lnTo>
                        <a:lnTo>
                          <a:pt x="282" y="1688"/>
                        </a:lnTo>
                        <a:lnTo>
                          <a:pt x="277" y="1706"/>
                        </a:lnTo>
                        <a:lnTo>
                          <a:pt x="312" y="1734"/>
                        </a:lnTo>
                        <a:lnTo>
                          <a:pt x="394" y="1744"/>
                        </a:lnTo>
                        <a:lnTo>
                          <a:pt x="430" y="1736"/>
                        </a:lnTo>
                        <a:lnTo>
                          <a:pt x="481" y="1686"/>
                        </a:lnTo>
                        <a:lnTo>
                          <a:pt x="541" y="1690"/>
                        </a:lnTo>
                        <a:lnTo>
                          <a:pt x="566" y="1729"/>
                        </a:lnTo>
                        <a:lnTo>
                          <a:pt x="552" y="1761"/>
                        </a:lnTo>
                        <a:lnTo>
                          <a:pt x="554" y="1782"/>
                        </a:lnTo>
                        <a:lnTo>
                          <a:pt x="523" y="1802"/>
                        </a:lnTo>
                        <a:lnTo>
                          <a:pt x="510" y="1819"/>
                        </a:lnTo>
                        <a:lnTo>
                          <a:pt x="514" y="1860"/>
                        </a:lnTo>
                        <a:lnTo>
                          <a:pt x="571" y="1902"/>
                        </a:lnTo>
                        <a:lnTo>
                          <a:pt x="596" y="1893"/>
                        </a:lnTo>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 name="Freeform 6"/>
                  <p:cNvSpPr/>
                  <p:nvPr/>
                </p:nvSpPr>
                <p:spPr bwMode="auto">
                  <a:xfrm>
                    <a:off x="1197960" y="2381349"/>
                    <a:ext cx="2101850" cy="1558925"/>
                  </a:xfrm>
                  <a:custGeom>
                    <a:avLst/>
                    <a:gdLst>
                      <a:gd name="T0" fmla="*/ 1318 w 1922"/>
                      <a:gd name="T1" fmla="*/ 50 h 1456"/>
                      <a:gd name="T2" fmla="*/ 1377 w 1922"/>
                      <a:gd name="T3" fmla="*/ 123 h 1456"/>
                      <a:gd name="T4" fmla="*/ 1460 w 1922"/>
                      <a:gd name="T5" fmla="*/ 177 h 1456"/>
                      <a:gd name="T6" fmla="*/ 1532 w 1922"/>
                      <a:gd name="T7" fmla="*/ 319 h 1456"/>
                      <a:gd name="T8" fmla="*/ 1492 w 1922"/>
                      <a:gd name="T9" fmla="*/ 427 h 1456"/>
                      <a:gd name="T10" fmla="*/ 1701 w 1922"/>
                      <a:gd name="T11" fmla="*/ 521 h 1456"/>
                      <a:gd name="T12" fmla="*/ 1846 w 1922"/>
                      <a:gd name="T13" fmla="*/ 627 h 1456"/>
                      <a:gd name="T14" fmla="*/ 1921 w 1922"/>
                      <a:gd name="T15" fmla="*/ 788 h 1456"/>
                      <a:gd name="T16" fmla="*/ 1867 w 1922"/>
                      <a:gd name="T17" fmla="*/ 858 h 1456"/>
                      <a:gd name="T18" fmla="*/ 1673 w 1922"/>
                      <a:gd name="T19" fmla="*/ 965 h 1456"/>
                      <a:gd name="T20" fmla="*/ 1645 w 1922"/>
                      <a:gd name="T21" fmla="*/ 1133 h 1456"/>
                      <a:gd name="T22" fmla="*/ 1370 w 1922"/>
                      <a:gd name="T23" fmla="*/ 1215 h 1456"/>
                      <a:gd name="T24" fmla="*/ 1419 w 1922"/>
                      <a:gd name="T25" fmla="*/ 1367 h 1456"/>
                      <a:gd name="T26" fmla="*/ 1389 w 1922"/>
                      <a:gd name="T27" fmla="*/ 1416 h 1456"/>
                      <a:gd name="T28" fmla="*/ 1349 w 1922"/>
                      <a:gd name="T29" fmla="*/ 1455 h 1456"/>
                      <a:gd name="T30" fmla="*/ 1240 w 1922"/>
                      <a:gd name="T31" fmla="*/ 1427 h 1456"/>
                      <a:gd name="T32" fmla="*/ 1053 w 1922"/>
                      <a:gd name="T33" fmla="*/ 1401 h 1456"/>
                      <a:gd name="T34" fmla="*/ 865 w 1922"/>
                      <a:gd name="T35" fmla="*/ 1434 h 1456"/>
                      <a:gd name="T36" fmla="*/ 719 w 1922"/>
                      <a:gd name="T37" fmla="*/ 1411 h 1456"/>
                      <a:gd name="T38" fmla="*/ 553 w 1922"/>
                      <a:gd name="T39" fmla="*/ 1425 h 1456"/>
                      <a:gd name="T40" fmla="*/ 459 w 1922"/>
                      <a:gd name="T41" fmla="*/ 1379 h 1456"/>
                      <a:gd name="T42" fmla="*/ 359 w 1922"/>
                      <a:gd name="T43" fmla="*/ 1311 h 1456"/>
                      <a:gd name="T44" fmla="*/ 146 w 1922"/>
                      <a:gd name="T45" fmla="*/ 1272 h 1456"/>
                      <a:gd name="T46" fmla="*/ 118 w 1922"/>
                      <a:gd name="T47" fmla="*/ 1189 h 1456"/>
                      <a:gd name="T48" fmla="*/ 74 w 1922"/>
                      <a:gd name="T49" fmla="*/ 1131 h 1456"/>
                      <a:gd name="T50" fmla="*/ 41 w 1922"/>
                      <a:gd name="T51" fmla="*/ 1074 h 1456"/>
                      <a:gd name="T52" fmla="*/ 71 w 1922"/>
                      <a:gd name="T53" fmla="*/ 1007 h 1456"/>
                      <a:gd name="T54" fmla="*/ 9 w 1922"/>
                      <a:gd name="T55" fmla="*/ 926 h 1456"/>
                      <a:gd name="T56" fmla="*/ 7 w 1922"/>
                      <a:gd name="T57" fmla="*/ 840 h 1456"/>
                      <a:gd name="T58" fmla="*/ 44 w 1922"/>
                      <a:gd name="T59" fmla="*/ 783 h 1456"/>
                      <a:gd name="T60" fmla="*/ 151 w 1922"/>
                      <a:gd name="T61" fmla="*/ 746 h 1456"/>
                      <a:gd name="T62" fmla="*/ 203 w 1922"/>
                      <a:gd name="T63" fmla="*/ 750 h 1456"/>
                      <a:gd name="T64" fmla="*/ 267 w 1922"/>
                      <a:gd name="T65" fmla="*/ 780 h 1456"/>
                      <a:gd name="T66" fmla="*/ 459 w 1922"/>
                      <a:gd name="T67" fmla="*/ 713 h 1456"/>
                      <a:gd name="T68" fmla="*/ 625 w 1922"/>
                      <a:gd name="T69" fmla="*/ 606 h 1456"/>
                      <a:gd name="T70" fmla="*/ 676 w 1922"/>
                      <a:gd name="T71" fmla="*/ 560 h 1456"/>
                      <a:gd name="T72" fmla="*/ 647 w 1922"/>
                      <a:gd name="T73" fmla="*/ 380 h 1456"/>
                      <a:gd name="T74" fmla="*/ 794 w 1922"/>
                      <a:gd name="T75" fmla="*/ 349 h 1456"/>
                      <a:gd name="T76" fmla="*/ 857 w 1922"/>
                      <a:gd name="T77" fmla="*/ 380 h 1456"/>
                      <a:gd name="T78" fmla="*/ 932 w 1922"/>
                      <a:gd name="T79" fmla="*/ 183 h 1456"/>
                      <a:gd name="T80" fmla="*/ 1048 w 1922"/>
                      <a:gd name="T81" fmla="*/ 207 h 1456"/>
                      <a:gd name="T82" fmla="*/ 1147 w 1922"/>
                      <a:gd name="T83" fmla="*/ 92 h 1456"/>
                      <a:gd name="T84" fmla="*/ 1238 w 1922"/>
                      <a:gd name="T85" fmla="*/ 41 h 1456"/>
                      <a:gd name="T86" fmla="*/ 1310 w 1922"/>
                      <a:gd name="T87" fmla="*/ 13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22" h="1456">
                        <a:moveTo>
                          <a:pt x="1310" y="13"/>
                        </a:moveTo>
                        <a:lnTo>
                          <a:pt x="1333" y="13"/>
                        </a:lnTo>
                        <a:lnTo>
                          <a:pt x="1318" y="50"/>
                        </a:lnTo>
                        <a:lnTo>
                          <a:pt x="1337" y="71"/>
                        </a:lnTo>
                        <a:lnTo>
                          <a:pt x="1337" y="87"/>
                        </a:lnTo>
                        <a:lnTo>
                          <a:pt x="1377" y="123"/>
                        </a:lnTo>
                        <a:lnTo>
                          <a:pt x="1387" y="152"/>
                        </a:lnTo>
                        <a:lnTo>
                          <a:pt x="1439" y="158"/>
                        </a:lnTo>
                        <a:lnTo>
                          <a:pt x="1460" y="177"/>
                        </a:lnTo>
                        <a:lnTo>
                          <a:pt x="1473" y="177"/>
                        </a:lnTo>
                        <a:lnTo>
                          <a:pt x="1503" y="239"/>
                        </a:lnTo>
                        <a:lnTo>
                          <a:pt x="1532" y="319"/>
                        </a:lnTo>
                        <a:lnTo>
                          <a:pt x="1517" y="363"/>
                        </a:lnTo>
                        <a:lnTo>
                          <a:pt x="1520" y="380"/>
                        </a:lnTo>
                        <a:lnTo>
                          <a:pt x="1492" y="427"/>
                        </a:lnTo>
                        <a:lnTo>
                          <a:pt x="1499" y="467"/>
                        </a:lnTo>
                        <a:lnTo>
                          <a:pt x="1597" y="506"/>
                        </a:lnTo>
                        <a:lnTo>
                          <a:pt x="1701" y="521"/>
                        </a:lnTo>
                        <a:lnTo>
                          <a:pt x="1809" y="596"/>
                        </a:lnTo>
                        <a:lnTo>
                          <a:pt x="1844" y="606"/>
                        </a:lnTo>
                        <a:lnTo>
                          <a:pt x="1846" y="627"/>
                        </a:lnTo>
                        <a:lnTo>
                          <a:pt x="1869" y="674"/>
                        </a:lnTo>
                        <a:lnTo>
                          <a:pt x="1891" y="735"/>
                        </a:lnTo>
                        <a:lnTo>
                          <a:pt x="1921" y="788"/>
                        </a:lnTo>
                        <a:lnTo>
                          <a:pt x="1904" y="807"/>
                        </a:lnTo>
                        <a:lnTo>
                          <a:pt x="1904" y="843"/>
                        </a:lnTo>
                        <a:lnTo>
                          <a:pt x="1867" y="858"/>
                        </a:lnTo>
                        <a:lnTo>
                          <a:pt x="1774" y="897"/>
                        </a:lnTo>
                        <a:lnTo>
                          <a:pt x="1715" y="945"/>
                        </a:lnTo>
                        <a:lnTo>
                          <a:pt x="1673" y="965"/>
                        </a:lnTo>
                        <a:lnTo>
                          <a:pt x="1666" y="995"/>
                        </a:lnTo>
                        <a:lnTo>
                          <a:pt x="1678" y="1138"/>
                        </a:lnTo>
                        <a:lnTo>
                          <a:pt x="1645" y="1133"/>
                        </a:lnTo>
                        <a:lnTo>
                          <a:pt x="1629" y="1145"/>
                        </a:lnTo>
                        <a:lnTo>
                          <a:pt x="1402" y="1189"/>
                        </a:lnTo>
                        <a:lnTo>
                          <a:pt x="1370" y="1215"/>
                        </a:lnTo>
                        <a:lnTo>
                          <a:pt x="1375" y="1275"/>
                        </a:lnTo>
                        <a:lnTo>
                          <a:pt x="1441" y="1332"/>
                        </a:lnTo>
                        <a:lnTo>
                          <a:pt x="1419" y="1367"/>
                        </a:lnTo>
                        <a:lnTo>
                          <a:pt x="1387" y="1383"/>
                        </a:lnTo>
                        <a:lnTo>
                          <a:pt x="1382" y="1401"/>
                        </a:lnTo>
                        <a:lnTo>
                          <a:pt x="1389" y="1416"/>
                        </a:lnTo>
                        <a:lnTo>
                          <a:pt x="1407" y="1416"/>
                        </a:lnTo>
                        <a:lnTo>
                          <a:pt x="1417" y="1429"/>
                        </a:lnTo>
                        <a:lnTo>
                          <a:pt x="1349" y="1455"/>
                        </a:lnTo>
                        <a:lnTo>
                          <a:pt x="1310" y="1439"/>
                        </a:lnTo>
                        <a:lnTo>
                          <a:pt x="1291" y="1427"/>
                        </a:lnTo>
                        <a:lnTo>
                          <a:pt x="1240" y="1427"/>
                        </a:lnTo>
                        <a:lnTo>
                          <a:pt x="1151" y="1387"/>
                        </a:lnTo>
                        <a:lnTo>
                          <a:pt x="1097" y="1387"/>
                        </a:lnTo>
                        <a:lnTo>
                          <a:pt x="1053" y="1401"/>
                        </a:lnTo>
                        <a:lnTo>
                          <a:pt x="1004" y="1401"/>
                        </a:lnTo>
                        <a:lnTo>
                          <a:pt x="927" y="1441"/>
                        </a:lnTo>
                        <a:lnTo>
                          <a:pt x="865" y="1434"/>
                        </a:lnTo>
                        <a:lnTo>
                          <a:pt x="802" y="1455"/>
                        </a:lnTo>
                        <a:lnTo>
                          <a:pt x="752" y="1439"/>
                        </a:lnTo>
                        <a:lnTo>
                          <a:pt x="719" y="1411"/>
                        </a:lnTo>
                        <a:lnTo>
                          <a:pt x="638" y="1401"/>
                        </a:lnTo>
                        <a:lnTo>
                          <a:pt x="583" y="1437"/>
                        </a:lnTo>
                        <a:lnTo>
                          <a:pt x="553" y="1425"/>
                        </a:lnTo>
                        <a:lnTo>
                          <a:pt x="529" y="1405"/>
                        </a:lnTo>
                        <a:lnTo>
                          <a:pt x="470" y="1389"/>
                        </a:lnTo>
                        <a:lnTo>
                          <a:pt x="459" y="1379"/>
                        </a:lnTo>
                        <a:lnTo>
                          <a:pt x="435" y="1378"/>
                        </a:lnTo>
                        <a:lnTo>
                          <a:pt x="398" y="1319"/>
                        </a:lnTo>
                        <a:lnTo>
                          <a:pt x="359" y="1311"/>
                        </a:lnTo>
                        <a:lnTo>
                          <a:pt x="267" y="1341"/>
                        </a:lnTo>
                        <a:lnTo>
                          <a:pt x="226" y="1332"/>
                        </a:lnTo>
                        <a:lnTo>
                          <a:pt x="146" y="1272"/>
                        </a:lnTo>
                        <a:lnTo>
                          <a:pt x="123" y="1270"/>
                        </a:lnTo>
                        <a:lnTo>
                          <a:pt x="105" y="1229"/>
                        </a:lnTo>
                        <a:lnTo>
                          <a:pt x="118" y="1189"/>
                        </a:lnTo>
                        <a:lnTo>
                          <a:pt x="113" y="1170"/>
                        </a:lnTo>
                        <a:lnTo>
                          <a:pt x="83" y="1150"/>
                        </a:lnTo>
                        <a:lnTo>
                          <a:pt x="74" y="1131"/>
                        </a:lnTo>
                        <a:lnTo>
                          <a:pt x="11" y="1096"/>
                        </a:lnTo>
                        <a:lnTo>
                          <a:pt x="11" y="1086"/>
                        </a:lnTo>
                        <a:lnTo>
                          <a:pt x="41" y="1074"/>
                        </a:lnTo>
                        <a:lnTo>
                          <a:pt x="58" y="1084"/>
                        </a:lnTo>
                        <a:lnTo>
                          <a:pt x="76" y="1067"/>
                        </a:lnTo>
                        <a:lnTo>
                          <a:pt x="71" y="1007"/>
                        </a:lnTo>
                        <a:lnTo>
                          <a:pt x="76" y="958"/>
                        </a:lnTo>
                        <a:lnTo>
                          <a:pt x="37" y="918"/>
                        </a:lnTo>
                        <a:lnTo>
                          <a:pt x="9" y="926"/>
                        </a:lnTo>
                        <a:lnTo>
                          <a:pt x="0" y="897"/>
                        </a:lnTo>
                        <a:lnTo>
                          <a:pt x="14" y="866"/>
                        </a:lnTo>
                        <a:lnTo>
                          <a:pt x="7" y="840"/>
                        </a:lnTo>
                        <a:lnTo>
                          <a:pt x="34" y="815"/>
                        </a:lnTo>
                        <a:lnTo>
                          <a:pt x="44" y="804"/>
                        </a:lnTo>
                        <a:lnTo>
                          <a:pt x="44" y="783"/>
                        </a:lnTo>
                        <a:lnTo>
                          <a:pt x="81" y="766"/>
                        </a:lnTo>
                        <a:lnTo>
                          <a:pt x="118" y="758"/>
                        </a:lnTo>
                        <a:lnTo>
                          <a:pt x="151" y="746"/>
                        </a:lnTo>
                        <a:lnTo>
                          <a:pt x="177" y="753"/>
                        </a:lnTo>
                        <a:lnTo>
                          <a:pt x="197" y="746"/>
                        </a:lnTo>
                        <a:lnTo>
                          <a:pt x="203" y="750"/>
                        </a:lnTo>
                        <a:lnTo>
                          <a:pt x="207" y="776"/>
                        </a:lnTo>
                        <a:lnTo>
                          <a:pt x="224" y="783"/>
                        </a:lnTo>
                        <a:lnTo>
                          <a:pt x="267" y="780"/>
                        </a:lnTo>
                        <a:lnTo>
                          <a:pt x="314" y="728"/>
                        </a:lnTo>
                        <a:lnTo>
                          <a:pt x="410" y="748"/>
                        </a:lnTo>
                        <a:lnTo>
                          <a:pt x="459" y="713"/>
                        </a:lnTo>
                        <a:lnTo>
                          <a:pt x="602" y="681"/>
                        </a:lnTo>
                        <a:lnTo>
                          <a:pt x="611" y="660"/>
                        </a:lnTo>
                        <a:lnTo>
                          <a:pt x="625" y="606"/>
                        </a:lnTo>
                        <a:lnTo>
                          <a:pt x="664" y="575"/>
                        </a:lnTo>
                        <a:lnTo>
                          <a:pt x="676" y="575"/>
                        </a:lnTo>
                        <a:lnTo>
                          <a:pt x="676" y="560"/>
                        </a:lnTo>
                        <a:lnTo>
                          <a:pt x="680" y="422"/>
                        </a:lnTo>
                        <a:lnTo>
                          <a:pt x="686" y="394"/>
                        </a:lnTo>
                        <a:lnTo>
                          <a:pt x="647" y="380"/>
                        </a:lnTo>
                        <a:lnTo>
                          <a:pt x="645" y="370"/>
                        </a:lnTo>
                        <a:lnTo>
                          <a:pt x="686" y="358"/>
                        </a:lnTo>
                        <a:lnTo>
                          <a:pt x="794" y="349"/>
                        </a:lnTo>
                        <a:lnTo>
                          <a:pt x="807" y="370"/>
                        </a:lnTo>
                        <a:lnTo>
                          <a:pt x="848" y="380"/>
                        </a:lnTo>
                        <a:lnTo>
                          <a:pt x="857" y="380"/>
                        </a:lnTo>
                        <a:lnTo>
                          <a:pt x="872" y="362"/>
                        </a:lnTo>
                        <a:lnTo>
                          <a:pt x="853" y="344"/>
                        </a:lnTo>
                        <a:lnTo>
                          <a:pt x="932" y="183"/>
                        </a:lnTo>
                        <a:lnTo>
                          <a:pt x="944" y="172"/>
                        </a:lnTo>
                        <a:lnTo>
                          <a:pt x="1016" y="207"/>
                        </a:lnTo>
                        <a:lnTo>
                          <a:pt x="1048" y="207"/>
                        </a:lnTo>
                        <a:lnTo>
                          <a:pt x="1063" y="227"/>
                        </a:lnTo>
                        <a:lnTo>
                          <a:pt x="1129" y="207"/>
                        </a:lnTo>
                        <a:lnTo>
                          <a:pt x="1147" y="92"/>
                        </a:lnTo>
                        <a:lnTo>
                          <a:pt x="1175" y="74"/>
                        </a:lnTo>
                        <a:lnTo>
                          <a:pt x="1214" y="71"/>
                        </a:lnTo>
                        <a:lnTo>
                          <a:pt x="1238" y="41"/>
                        </a:lnTo>
                        <a:lnTo>
                          <a:pt x="1245" y="13"/>
                        </a:lnTo>
                        <a:lnTo>
                          <a:pt x="1265" y="0"/>
                        </a:lnTo>
                        <a:lnTo>
                          <a:pt x="1310" y="13"/>
                        </a:lnTo>
                      </a:path>
                    </a:pathLst>
                  </a:custGeom>
                  <a:grpFill/>
                  <a:ln w="12700" cap="flat" cmpd="sng">
                    <a:solidFill>
                      <a:srgbClr val="FFC000"/>
                    </a:solidFill>
                    <a:prstDash val="solid"/>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 name="Freeform 7"/>
                  <p:cNvSpPr/>
                  <p:nvPr/>
                </p:nvSpPr>
                <p:spPr bwMode="auto">
                  <a:xfrm>
                    <a:off x="5314348" y="2951261"/>
                    <a:ext cx="596900" cy="568325"/>
                  </a:xfrm>
                  <a:custGeom>
                    <a:avLst/>
                    <a:gdLst>
                      <a:gd name="T0" fmla="*/ 453 w 548"/>
                      <a:gd name="T1" fmla="*/ 368 h 530"/>
                      <a:gd name="T2" fmla="*/ 508 w 548"/>
                      <a:gd name="T3" fmla="*/ 281 h 530"/>
                      <a:gd name="T4" fmla="*/ 547 w 548"/>
                      <a:gd name="T5" fmla="*/ 239 h 530"/>
                      <a:gd name="T6" fmla="*/ 542 w 548"/>
                      <a:gd name="T7" fmla="*/ 197 h 530"/>
                      <a:gd name="T8" fmla="*/ 503 w 548"/>
                      <a:gd name="T9" fmla="*/ 153 h 530"/>
                      <a:gd name="T10" fmla="*/ 497 w 548"/>
                      <a:gd name="T11" fmla="*/ 117 h 530"/>
                      <a:gd name="T12" fmla="*/ 429 w 548"/>
                      <a:gd name="T13" fmla="*/ 22 h 530"/>
                      <a:gd name="T14" fmla="*/ 423 w 548"/>
                      <a:gd name="T15" fmla="*/ 32 h 530"/>
                      <a:gd name="T16" fmla="*/ 411 w 548"/>
                      <a:gd name="T17" fmla="*/ 45 h 530"/>
                      <a:gd name="T18" fmla="*/ 382 w 548"/>
                      <a:gd name="T19" fmla="*/ 13 h 530"/>
                      <a:gd name="T20" fmla="*/ 337 w 548"/>
                      <a:gd name="T21" fmla="*/ 0 h 530"/>
                      <a:gd name="T22" fmla="*/ 337 w 548"/>
                      <a:gd name="T23" fmla="*/ 13 h 530"/>
                      <a:gd name="T24" fmla="*/ 337 w 548"/>
                      <a:gd name="T25" fmla="*/ 32 h 530"/>
                      <a:gd name="T26" fmla="*/ 320 w 548"/>
                      <a:gd name="T27" fmla="*/ 47 h 530"/>
                      <a:gd name="T28" fmla="*/ 283 w 548"/>
                      <a:gd name="T29" fmla="*/ 82 h 530"/>
                      <a:gd name="T30" fmla="*/ 246 w 548"/>
                      <a:gd name="T31" fmla="*/ 82 h 530"/>
                      <a:gd name="T32" fmla="*/ 232 w 548"/>
                      <a:gd name="T33" fmla="*/ 107 h 530"/>
                      <a:gd name="T34" fmla="*/ 218 w 548"/>
                      <a:gd name="T35" fmla="*/ 107 h 530"/>
                      <a:gd name="T36" fmla="*/ 191 w 548"/>
                      <a:gd name="T37" fmla="*/ 134 h 530"/>
                      <a:gd name="T38" fmla="*/ 175 w 548"/>
                      <a:gd name="T39" fmla="*/ 134 h 530"/>
                      <a:gd name="T40" fmla="*/ 144 w 548"/>
                      <a:gd name="T41" fmla="*/ 166 h 530"/>
                      <a:gd name="T42" fmla="*/ 125 w 548"/>
                      <a:gd name="T43" fmla="*/ 171 h 530"/>
                      <a:gd name="T44" fmla="*/ 82 w 548"/>
                      <a:gd name="T45" fmla="*/ 235 h 530"/>
                      <a:gd name="T46" fmla="*/ 55 w 548"/>
                      <a:gd name="T47" fmla="*/ 196 h 530"/>
                      <a:gd name="T48" fmla="*/ 26 w 548"/>
                      <a:gd name="T49" fmla="*/ 176 h 530"/>
                      <a:gd name="T50" fmla="*/ 12 w 548"/>
                      <a:gd name="T51" fmla="*/ 190 h 530"/>
                      <a:gd name="T52" fmla="*/ 28 w 548"/>
                      <a:gd name="T53" fmla="*/ 277 h 530"/>
                      <a:gd name="T54" fmla="*/ 14 w 548"/>
                      <a:gd name="T55" fmla="*/ 307 h 530"/>
                      <a:gd name="T56" fmla="*/ 0 w 548"/>
                      <a:gd name="T57" fmla="*/ 350 h 530"/>
                      <a:gd name="T58" fmla="*/ 42 w 548"/>
                      <a:gd name="T59" fmla="*/ 377 h 530"/>
                      <a:gd name="T60" fmla="*/ 62 w 548"/>
                      <a:gd name="T61" fmla="*/ 380 h 530"/>
                      <a:gd name="T62" fmla="*/ 92 w 548"/>
                      <a:gd name="T63" fmla="*/ 421 h 530"/>
                      <a:gd name="T64" fmla="*/ 115 w 548"/>
                      <a:gd name="T65" fmla="*/ 409 h 530"/>
                      <a:gd name="T66" fmla="*/ 149 w 548"/>
                      <a:gd name="T67" fmla="*/ 368 h 530"/>
                      <a:gd name="T68" fmla="*/ 182 w 548"/>
                      <a:gd name="T69" fmla="*/ 308 h 530"/>
                      <a:gd name="T70" fmla="*/ 240 w 548"/>
                      <a:gd name="T71" fmla="*/ 296 h 530"/>
                      <a:gd name="T72" fmla="*/ 276 w 548"/>
                      <a:gd name="T73" fmla="*/ 332 h 530"/>
                      <a:gd name="T74" fmla="*/ 251 w 548"/>
                      <a:gd name="T75" fmla="*/ 392 h 530"/>
                      <a:gd name="T76" fmla="*/ 218 w 548"/>
                      <a:gd name="T77" fmla="*/ 445 h 530"/>
                      <a:gd name="T78" fmla="*/ 246 w 548"/>
                      <a:gd name="T79" fmla="*/ 467 h 530"/>
                      <a:gd name="T80" fmla="*/ 246 w 548"/>
                      <a:gd name="T81" fmla="*/ 494 h 530"/>
                      <a:gd name="T82" fmla="*/ 223 w 548"/>
                      <a:gd name="T83" fmla="*/ 518 h 530"/>
                      <a:gd name="T84" fmla="*/ 228 w 548"/>
                      <a:gd name="T85" fmla="*/ 529 h 530"/>
                      <a:gd name="T86" fmla="*/ 269 w 548"/>
                      <a:gd name="T87" fmla="*/ 507 h 530"/>
                      <a:gd name="T88" fmla="*/ 330 w 548"/>
                      <a:gd name="T89" fmla="*/ 425 h 530"/>
                      <a:gd name="T90" fmla="*/ 423 w 548"/>
                      <a:gd name="T91" fmla="*/ 374 h 530"/>
                      <a:gd name="T92" fmla="*/ 453 w 548"/>
                      <a:gd name="T93" fmla="*/ 36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48" h="530">
                        <a:moveTo>
                          <a:pt x="453" y="368"/>
                        </a:moveTo>
                        <a:lnTo>
                          <a:pt x="508" y="281"/>
                        </a:lnTo>
                        <a:lnTo>
                          <a:pt x="547" y="239"/>
                        </a:lnTo>
                        <a:lnTo>
                          <a:pt x="542" y="197"/>
                        </a:lnTo>
                        <a:lnTo>
                          <a:pt x="503" y="153"/>
                        </a:lnTo>
                        <a:lnTo>
                          <a:pt x="497" y="117"/>
                        </a:lnTo>
                        <a:lnTo>
                          <a:pt x="429" y="22"/>
                        </a:lnTo>
                        <a:lnTo>
                          <a:pt x="423" y="32"/>
                        </a:lnTo>
                        <a:lnTo>
                          <a:pt x="411" y="45"/>
                        </a:lnTo>
                        <a:lnTo>
                          <a:pt x="382" y="13"/>
                        </a:lnTo>
                        <a:lnTo>
                          <a:pt x="337" y="0"/>
                        </a:lnTo>
                        <a:lnTo>
                          <a:pt x="337" y="13"/>
                        </a:lnTo>
                        <a:lnTo>
                          <a:pt x="337" y="32"/>
                        </a:lnTo>
                        <a:lnTo>
                          <a:pt x="320" y="47"/>
                        </a:lnTo>
                        <a:lnTo>
                          <a:pt x="283" y="82"/>
                        </a:lnTo>
                        <a:lnTo>
                          <a:pt x="246" y="82"/>
                        </a:lnTo>
                        <a:lnTo>
                          <a:pt x="232" y="107"/>
                        </a:lnTo>
                        <a:lnTo>
                          <a:pt x="218" y="107"/>
                        </a:lnTo>
                        <a:lnTo>
                          <a:pt x="191" y="134"/>
                        </a:lnTo>
                        <a:lnTo>
                          <a:pt x="175" y="134"/>
                        </a:lnTo>
                        <a:lnTo>
                          <a:pt x="144" y="166"/>
                        </a:lnTo>
                        <a:lnTo>
                          <a:pt x="125" y="171"/>
                        </a:lnTo>
                        <a:lnTo>
                          <a:pt x="82" y="235"/>
                        </a:lnTo>
                        <a:lnTo>
                          <a:pt x="55" y="196"/>
                        </a:lnTo>
                        <a:lnTo>
                          <a:pt x="26" y="176"/>
                        </a:lnTo>
                        <a:lnTo>
                          <a:pt x="12" y="190"/>
                        </a:lnTo>
                        <a:lnTo>
                          <a:pt x="28" y="277"/>
                        </a:lnTo>
                        <a:lnTo>
                          <a:pt x="14" y="307"/>
                        </a:lnTo>
                        <a:lnTo>
                          <a:pt x="0" y="350"/>
                        </a:lnTo>
                        <a:lnTo>
                          <a:pt x="42" y="377"/>
                        </a:lnTo>
                        <a:lnTo>
                          <a:pt x="62" y="380"/>
                        </a:lnTo>
                        <a:lnTo>
                          <a:pt x="92" y="421"/>
                        </a:lnTo>
                        <a:lnTo>
                          <a:pt x="115" y="409"/>
                        </a:lnTo>
                        <a:lnTo>
                          <a:pt x="149" y="368"/>
                        </a:lnTo>
                        <a:lnTo>
                          <a:pt x="182" y="308"/>
                        </a:lnTo>
                        <a:lnTo>
                          <a:pt x="240" y="296"/>
                        </a:lnTo>
                        <a:lnTo>
                          <a:pt x="276" y="332"/>
                        </a:lnTo>
                        <a:lnTo>
                          <a:pt x="251" y="392"/>
                        </a:lnTo>
                        <a:lnTo>
                          <a:pt x="218" y="445"/>
                        </a:lnTo>
                        <a:lnTo>
                          <a:pt x="246" y="467"/>
                        </a:lnTo>
                        <a:lnTo>
                          <a:pt x="246" y="494"/>
                        </a:lnTo>
                        <a:lnTo>
                          <a:pt x="223" y="518"/>
                        </a:lnTo>
                        <a:lnTo>
                          <a:pt x="228" y="529"/>
                        </a:lnTo>
                        <a:lnTo>
                          <a:pt x="269" y="507"/>
                        </a:lnTo>
                        <a:lnTo>
                          <a:pt x="330" y="425"/>
                        </a:lnTo>
                        <a:lnTo>
                          <a:pt x="423" y="374"/>
                        </a:lnTo>
                        <a:lnTo>
                          <a:pt x="453" y="368"/>
                        </a:lnTo>
                      </a:path>
                    </a:pathLst>
                  </a:custGeom>
                  <a:grpFill/>
                  <a:ln w="12700" cap="flat" cmpd="sng">
                    <a:solidFill>
                      <a:srgbClr val="FF66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 name="Freeform 8"/>
                  <p:cNvSpPr/>
                  <p:nvPr/>
                </p:nvSpPr>
                <p:spPr bwMode="auto">
                  <a:xfrm>
                    <a:off x="5458810" y="2630586"/>
                    <a:ext cx="869950" cy="579438"/>
                  </a:xfrm>
                  <a:custGeom>
                    <a:avLst/>
                    <a:gdLst>
                      <a:gd name="T0" fmla="*/ 768 w 793"/>
                      <a:gd name="T1" fmla="*/ 148 h 540"/>
                      <a:gd name="T2" fmla="*/ 705 w 793"/>
                      <a:gd name="T3" fmla="*/ 136 h 540"/>
                      <a:gd name="T4" fmla="*/ 681 w 793"/>
                      <a:gd name="T5" fmla="*/ 133 h 540"/>
                      <a:gd name="T6" fmla="*/ 625 w 793"/>
                      <a:gd name="T7" fmla="*/ 163 h 540"/>
                      <a:gd name="T8" fmla="*/ 600 w 793"/>
                      <a:gd name="T9" fmla="*/ 178 h 540"/>
                      <a:gd name="T10" fmla="*/ 554 w 793"/>
                      <a:gd name="T11" fmla="*/ 144 h 540"/>
                      <a:gd name="T12" fmla="*/ 511 w 793"/>
                      <a:gd name="T13" fmla="*/ 108 h 540"/>
                      <a:gd name="T14" fmla="*/ 504 w 793"/>
                      <a:gd name="T15" fmla="*/ 156 h 540"/>
                      <a:gd name="T16" fmla="*/ 460 w 793"/>
                      <a:gd name="T17" fmla="*/ 108 h 540"/>
                      <a:gd name="T18" fmla="*/ 423 w 793"/>
                      <a:gd name="T19" fmla="*/ 70 h 540"/>
                      <a:gd name="T20" fmla="*/ 342 w 793"/>
                      <a:gd name="T21" fmla="*/ 70 h 540"/>
                      <a:gd name="T22" fmla="*/ 301 w 793"/>
                      <a:gd name="T23" fmla="*/ 39 h 540"/>
                      <a:gd name="T24" fmla="*/ 241 w 793"/>
                      <a:gd name="T25" fmla="*/ 61 h 540"/>
                      <a:gd name="T26" fmla="*/ 180 w 793"/>
                      <a:gd name="T27" fmla="*/ 45 h 540"/>
                      <a:gd name="T28" fmla="*/ 98 w 793"/>
                      <a:gd name="T29" fmla="*/ 9 h 540"/>
                      <a:gd name="T30" fmla="*/ 73 w 793"/>
                      <a:gd name="T31" fmla="*/ 66 h 540"/>
                      <a:gd name="T32" fmla="*/ 0 w 793"/>
                      <a:gd name="T33" fmla="*/ 70 h 540"/>
                      <a:gd name="T34" fmla="*/ 39 w 793"/>
                      <a:gd name="T35" fmla="*/ 108 h 540"/>
                      <a:gd name="T36" fmla="*/ 44 w 793"/>
                      <a:gd name="T37" fmla="*/ 176 h 540"/>
                      <a:gd name="T38" fmla="*/ 66 w 793"/>
                      <a:gd name="T39" fmla="*/ 231 h 540"/>
                      <a:gd name="T40" fmla="*/ 130 w 793"/>
                      <a:gd name="T41" fmla="*/ 195 h 540"/>
                      <a:gd name="T42" fmla="*/ 180 w 793"/>
                      <a:gd name="T43" fmla="*/ 296 h 540"/>
                      <a:gd name="T44" fmla="*/ 208 w 793"/>
                      <a:gd name="T45" fmla="*/ 298 h 540"/>
                      <a:gd name="T46" fmla="*/ 283 w 793"/>
                      <a:gd name="T47" fmla="*/ 344 h 540"/>
                      <a:gd name="T48" fmla="*/ 301 w 793"/>
                      <a:gd name="T49" fmla="*/ 320 h 540"/>
                      <a:gd name="T50" fmla="*/ 375 w 793"/>
                      <a:gd name="T51" fmla="*/ 452 h 540"/>
                      <a:gd name="T52" fmla="*/ 418 w 793"/>
                      <a:gd name="T53" fmla="*/ 539 h 540"/>
                      <a:gd name="T54" fmla="*/ 483 w 793"/>
                      <a:gd name="T55" fmla="*/ 426 h 540"/>
                      <a:gd name="T56" fmla="*/ 534 w 793"/>
                      <a:gd name="T57" fmla="*/ 440 h 540"/>
                      <a:gd name="T58" fmla="*/ 609 w 793"/>
                      <a:gd name="T59" fmla="*/ 415 h 540"/>
                      <a:gd name="T60" fmla="*/ 591 w 793"/>
                      <a:gd name="T61" fmla="*/ 364 h 540"/>
                      <a:gd name="T62" fmla="*/ 664 w 793"/>
                      <a:gd name="T63" fmla="*/ 307 h 540"/>
                      <a:gd name="T64" fmla="*/ 694 w 793"/>
                      <a:gd name="T65" fmla="*/ 252 h 540"/>
                      <a:gd name="T66" fmla="*/ 716 w 793"/>
                      <a:gd name="T67" fmla="*/ 220 h 540"/>
                      <a:gd name="T68" fmla="*/ 745 w 793"/>
                      <a:gd name="T69" fmla="*/ 246 h 540"/>
                      <a:gd name="T70" fmla="*/ 792 w 793"/>
                      <a:gd name="T71" fmla="*/ 160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93" h="540">
                        <a:moveTo>
                          <a:pt x="784" y="151"/>
                        </a:moveTo>
                        <a:lnTo>
                          <a:pt x="768" y="148"/>
                        </a:lnTo>
                        <a:lnTo>
                          <a:pt x="742" y="148"/>
                        </a:lnTo>
                        <a:lnTo>
                          <a:pt x="705" y="136"/>
                        </a:lnTo>
                        <a:lnTo>
                          <a:pt x="694" y="115"/>
                        </a:lnTo>
                        <a:lnTo>
                          <a:pt x="681" y="133"/>
                        </a:lnTo>
                        <a:lnTo>
                          <a:pt x="664" y="120"/>
                        </a:lnTo>
                        <a:lnTo>
                          <a:pt x="625" y="163"/>
                        </a:lnTo>
                        <a:lnTo>
                          <a:pt x="618" y="176"/>
                        </a:lnTo>
                        <a:lnTo>
                          <a:pt x="600" y="178"/>
                        </a:lnTo>
                        <a:lnTo>
                          <a:pt x="576" y="151"/>
                        </a:lnTo>
                        <a:lnTo>
                          <a:pt x="554" y="144"/>
                        </a:lnTo>
                        <a:lnTo>
                          <a:pt x="529" y="94"/>
                        </a:lnTo>
                        <a:lnTo>
                          <a:pt x="511" y="108"/>
                        </a:lnTo>
                        <a:lnTo>
                          <a:pt x="517" y="148"/>
                        </a:lnTo>
                        <a:lnTo>
                          <a:pt x="504" y="156"/>
                        </a:lnTo>
                        <a:lnTo>
                          <a:pt x="472" y="122"/>
                        </a:lnTo>
                        <a:lnTo>
                          <a:pt x="460" y="108"/>
                        </a:lnTo>
                        <a:lnTo>
                          <a:pt x="435" y="108"/>
                        </a:lnTo>
                        <a:lnTo>
                          <a:pt x="423" y="70"/>
                        </a:lnTo>
                        <a:lnTo>
                          <a:pt x="388" y="51"/>
                        </a:lnTo>
                        <a:lnTo>
                          <a:pt x="342" y="70"/>
                        </a:lnTo>
                        <a:lnTo>
                          <a:pt x="325" y="66"/>
                        </a:lnTo>
                        <a:lnTo>
                          <a:pt x="301" y="39"/>
                        </a:lnTo>
                        <a:lnTo>
                          <a:pt x="262" y="61"/>
                        </a:lnTo>
                        <a:lnTo>
                          <a:pt x="241" y="61"/>
                        </a:lnTo>
                        <a:lnTo>
                          <a:pt x="216" y="70"/>
                        </a:lnTo>
                        <a:lnTo>
                          <a:pt x="180" y="45"/>
                        </a:lnTo>
                        <a:lnTo>
                          <a:pt x="154" y="0"/>
                        </a:lnTo>
                        <a:lnTo>
                          <a:pt x="98" y="9"/>
                        </a:lnTo>
                        <a:lnTo>
                          <a:pt x="75" y="37"/>
                        </a:lnTo>
                        <a:lnTo>
                          <a:pt x="73" y="66"/>
                        </a:lnTo>
                        <a:lnTo>
                          <a:pt x="7" y="48"/>
                        </a:lnTo>
                        <a:lnTo>
                          <a:pt x="0" y="70"/>
                        </a:lnTo>
                        <a:lnTo>
                          <a:pt x="4" y="82"/>
                        </a:lnTo>
                        <a:lnTo>
                          <a:pt x="39" y="108"/>
                        </a:lnTo>
                        <a:lnTo>
                          <a:pt x="39" y="144"/>
                        </a:lnTo>
                        <a:lnTo>
                          <a:pt x="44" y="176"/>
                        </a:lnTo>
                        <a:lnTo>
                          <a:pt x="64" y="206"/>
                        </a:lnTo>
                        <a:lnTo>
                          <a:pt x="66" y="231"/>
                        </a:lnTo>
                        <a:lnTo>
                          <a:pt x="80" y="241"/>
                        </a:lnTo>
                        <a:lnTo>
                          <a:pt x="130" y="195"/>
                        </a:lnTo>
                        <a:lnTo>
                          <a:pt x="180" y="259"/>
                        </a:lnTo>
                        <a:lnTo>
                          <a:pt x="180" y="296"/>
                        </a:lnTo>
                        <a:lnTo>
                          <a:pt x="208" y="312"/>
                        </a:lnTo>
                        <a:lnTo>
                          <a:pt x="208" y="298"/>
                        </a:lnTo>
                        <a:lnTo>
                          <a:pt x="253" y="312"/>
                        </a:lnTo>
                        <a:lnTo>
                          <a:pt x="283" y="344"/>
                        </a:lnTo>
                        <a:lnTo>
                          <a:pt x="295" y="330"/>
                        </a:lnTo>
                        <a:lnTo>
                          <a:pt x="301" y="320"/>
                        </a:lnTo>
                        <a:lnTo>
                          <a:pt x="368" y="415"/>
                        </a:lnTo>
                        <a:lnTo>
                          <a:pt x="375" y="452"/>
                        </a:lnTo>
                        <a:lnTo>
                          <a:pt x="414" y="495"/>
                        </a:lnTo>
                        <a:lnTo>
                          <a:pt x="418" y="539"/>
                        </a:lnTo>
                        <a:lnTo>
                          <a:pt x="452" y="517"/>
                        </a:lnTo>
                        <a:lnTo>
                          <a:pt x="483" y="426"/>
                        </a:lnTo>
                        <a:lnTo>
                          <a:pt x="499" y="420"/>
                        </a:lnTo>
                        <a:lnTo>
                          <a:pt x="534" y="440"/>
                        </a:lnTo>
                        <a:lnTo>
                          <a:pt x="591" y="433"/>
                        </a:lnTo>
                        <a:lnTo>
                          <a:pt x="609" y="415"/>
                        </a:lnTo>
                        <a:lnTo>
                          <a:pt x="583" y="375"/>
                        </a:lnTo>
                        <a:lnTo>
                          <a:pt x="591" y="364"/>
                        </a:lnTo>
                        <a:lnTo>
                          <a:pt x="642" y="346"/>
                        </a:lnTo>
                        <a:lnTo>
                          <a:pt x="664" y="307"/>
                        </a:lnTo>
                        <a:lnTo>
                          <a:pt x="691" y="294"/>
                        </a:lnTo>
                        <a:lnTo>
                          <a:pt x="694" y="252"/>
                        </a:lnTo>
                        <a:lnTo>
                          <a:pt x="700" y="225"/>
                        </a:lnTo>
                        <a:lnTo>
                          <a:pt x="716" y="220"/>
                        </a:lnTo>
                        <a:lnTo>
                          <a:pt x="729" y="235"/>
                        </a:lnTo>
                        <a:lnTo>
                          <a:pt x="745" y="246"/>
                        </a:lnTo>
                        <a:lnTo>
                          <a:pt x="782" y="199"/>
                        </a:lnTo>
                        <a:lnTo>
                          <a:pt x="792" y="160"/>
                        </a:lnTo>
                        <a:lnTo>
                          <a:pt x="784" y="151"/>
                        </a:lnTo>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 name="Freeform 9"/>
                  <p:cNvSpPr/>
                  <p:nvPr/>
                </p:nvSpPr>
                <p:spPr bwMode="auto">
                  <a:xfrm>
                    <a:off x="3299810" y="4803874"/>
                    <a:ext cx="947738" cy="962025"/>
                  </a:xfrm>
                  <a:custGeom>
                    <a:avLst/>
                    <a:gdLst>
                      <a:gd name="T0" fmla="*/ 756 w 867"/>
                      <a:gd name="T1" fmla="*/ 139 h 900"/>
                      <a:gd name="T2" fmla="*/ 695 w 867"/>
                      <a:gd name="T3" fmla="*/ 156 h 900"/>
                      <a:gd name="T4" fmla="*/ 671 w 867"/>
                      <a:gd name="T5" fmla="*/ 110 h 900"/>
                      <a:gd name="T6" fmla="*/ 658 w 867"/>
                      <a:gd name="T7" fmla="*/ 78 h 900"/>
                      <a:gd name="T8" fmla="*/ 616 w 867"/>
                      <a:gd name="T9" fmla="*/ 80 h 900"/>
                      <a:gd name="T10" fmla="*/ 591 w 867"/>
                      <a:gd name="T11" fmla="*/ 117 h 900"/>
                      <a:gd name="T12" fmla="*/ 591 w 867"/>
                      <a:gd name="T13" fmla="*/ 157 h 900"/>
                      <a:gd name="T14" fmla="*/ 540 w 867"/>
                      <a:gd name="T15" fmla="*/ 313 h 900"/>
                      <a:gd name="T16" fmla="*/ 497 w 867"/>
                      <a:gd name="T17" fmla="*/ 322 h 900"/>
                      <a:gd name="T18" fmla="*/ 416 w 867"/>
                      <a:gd name="T19" fmla="*/ 345 h 900"/>
                      <a:gd name="T20" fmla="*/ 296 w 867"/>
                      <a:gd name="T21" fmla="*/ 156 h 900"/>
                      <a:gd name="T22" fmla="*/ 255 w 867"/>
                      <a:gd name="T23" fmla="*/ 124 h 900"/>
                      <a:gd name="T24" fmla="*/ 245 w 867"/>
                      <a:gd name="T25" fmla="*/ 80 h 900"/>
                      <a:gd name="T26" fmla="*/ 188 w 867"/>
                      <a:gd name="T27" fmla="*/ 110 h 900"/>
                      <a:gd name="T28" fmla="*/ 163 w 867"/>
                      <a:gd name="T29" fmla="*/ 0 h 900"/>
                      <a:gd name="T30" fmla="*/ 121 w 867"/>
                      <a:gd name="T31" fmla="*/ 44 h 900"/>
                      <a:gd name="T32" fmla="*/ 116 w 867"/>
                      <a:gd name="T33" fmla="*/ 112 h 900"/>
                      <a:gd name="T34" fmla="*/ 88 w 867"/>
                      <a:gd name="T35" fmla="*/ 100 h 900"/>
                      <a:gd name="T36" fmla="*/ 88 w 867"/>
                      <a:gd name="T37" fmla="*/ 182 h 900"/>
                      <a:gd name="T38" fmla="*/ 121 w 867"/>
                      <a:gd name="T39" fmla="*/ 192 h 900"/>
                      <a:gd name="T40" fmla="*/ 117 w 867"/>
                      <a:gd name="T41" fmla="*/ 367 h 900"/>
                      <a:gd name="T42" fmla="*/ 20 w 867"/>
                      <a:gd name="T43" fmla="*/ 482 h 900"/>
                      <a:gd name="T44" fmla="*/ 0 w 867"/>
                      <a:gd name="T45" fmla="*/ 514 h 900"/>
                      <a:gd name="T46" fmla="*/ 2 w 867"/>
                      <a:gd name="T47" fmla="*/ 583 h 900"/>
                      <a:gd name="T48" fmla="*/ 57 w 867"/>
                      <a:gd name="T49" fmla="*/ 572 h 900"/>
                      <a:gd name="T50" fmla="*/ 116 w 867"/>
                      <a:gd name="T51" fmla="*/ 597 h 900"/>
                      <a:gd name="T52" fmla="*/ 133 w 867"/>
                      <a:gd name="T53" fmla="*/ 660 h 900"/>
                      <a:gd name="T54" fmla="*/ 179 w 867"/>
                      <a:gd name="T55" fmla="*/ 672 h 900"/>
                      <a:gd name="T56" fmla="*/ 177 w 867"/>
                      <a:gd name="T57" fmla="*/ 709 h 900"/>
                      <a:gd name="T58" fmla="*/ 160 w 867"/>
                      <a:gd name="T59" fmla="*/ 775 h 900"/>
                      <a:gd name="T60" fmla="*/ 195 w 867"/>
                      <a:gd name="T61" fmla="*/ 790 h 900"/>
                      <a:gd name="T62" fmla="*/ 230 w 867"/>
                      <a:gd name="T63" fmla="*/ 820 h 900"/>
                      <a:gd name="T64" fmla="*/ 297 w 867"/>
                      <a:gd name="T65" fmla="*/ 861 h 900"/>
                      <a:gd name="T66" fmla="*/ 361 w 867"/>
                      <a:gd name="T67" fmla="*/ 841 h 900"/>
                      <a:gd name="T68" fmla="*/ 368 w 867"/>
                      <a:gd name="T69" fmla="*/ 882 h 900"/>
                      <a:gd name="T70" fmla="*/ 409 w 867"/>
                      <a:gd name="T71" fmla="*/ 891 h 900"/>
                      <a:gd name="T72" fmla="*/ 428 w 867"/>
                      <a:gd name="T73" fmla="*/ 886 h 900"/>
                      <a:gd name="T74" fmla="*/ 410 w 867"/>
                      <a:gd name="T75" fmla="*/ 775 h 900"/>
                      <a:gd name="T76" fmla="*/ 465 w 867"/>
                      <a:gd name="T77" fmla="*/ 756 h 900"/>
                      <a:gd name="T78" fmla="*/ 497 w 867"/>
                      <a:gd name="T79" fmla="*/ 728 h 900"/>
                      <a:gd name="T80" fmla="*/ 578 w 867"/>
                      <a:gd name="T81" fmla="*/ 726 h 900"/>
                      <a:gd name="T82" fmla="*/ 616 w 867"/>
                      <a:gd name="T83" fmla="*/ 721 h 900"/>
                      <a:gd name="T84" fmla="*/ 647 w 867"/>
                      <a:gd name="T85" fmla="*/ 745 h 900"/>
                      <a:gd name="T86" fmla="*/ 676 w 867"/>
                      <a:gd name="T87" fmla="*/ 714 h 900"/>
                      <a:gd name="T88" fmla="*/ 713 w 867"/>
                      <a:gd name="T89" fmla="*/ 716 h 900"/>
                      <a:gd name="T90" fmla="*/ 762 w 867"/>
                      <a:gd name="T91" fmla="*/ 660 h 900"/>
                      <a:gd name="T92" fmla="*/ 809 w 867"/>
                      <a:gd name="T93" fmla="*/ 672 h 900"/>
                      <a:gd name="T94" fmla="*/ 846 w 867"/>
                      <a:gd name="T95" fmla="*/ 636 h 900"/>
                      <a:gd name="T96" fmla="*/ 866 w 867"/>
                      <a:gd name="T97" fmla="*/ 595 h 900"/>
                      <a:gd name="T98" fmla="*/ 771 w 867"/>
                      <a:gd name="T99" fmla="*/ 561 h 900"/>
                      <a:gd name="T100" fmla="*/ 734 w 867"/>
                      <a:gd name="T101" fmla="*/ 538 h 900"/>
                      <a:gd name="T102" fmla="*/ 694 w 867"/>
                      <a:gd name="T103" fmla="*/ 512 h 900"/>
                      <a:gd name="T104" fmla="*/ 706 w 867"/>
                      <a:gd name="T105" fmla="*/ 438 h 900"/>
                      <a:gd name="T106" fmla="*/ 695 w 867"/>
                      <a:gd name="T107" fmla="*/ 302 h 900"/>
                      <a:gd name="T108" fmla="*/ 628 w 867"/>
                      <a:gd name="T109" fmla="*/ 306 h 900"/>
                      <a:gd name="T110" fmla="*/ 616 w 867"/>
                      <a:gd name="T111" fmla="*/ 258 h 900"/>
                      <a:gd name="T112" fmla="*/ 630 w 867"/>
                      <a:gd name="T113" fmla="*/ 210 h 900"/>
                      <a:gd name="T114" fmla="*/ 671 w 867"/>
                      <a:gd name="T115" fmla="*/ 207 h 900"/>
                      <a:gd name="T116" fmla="*/ 752 w 867"/>
                      <a:gd name="T117" fmla="*/ 207 h 9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7" h="900">
                        <a:moveTo>
                          <a:pt x="762" y="165"/>
                        </a:moveTo>
                        <a:lnTo>
                          <a:pt x="756" y="139"/>
                        </a:lnTo>
                        <a:lnTo>
                          <a:pt x="734" y="133"/>
                        </a:lnTo>
                        <a:lnTo>
                          <a:pt x="695" y="156"/>
                        </a:lnTo>
                        <a:lnTo>
                          <a:pt x="671" y="142"/>
                        </a:lnTo>
                        <a:lnTo>
                          <a:pt x="671" y="110"/>
                        </a:lnTo>
                        <a:lnTo>
                          <a:pt x="658" y="96"/>
                        </a:lnTo>
                        <a:lnTo>
                          <a:pt x="658" y="78"/>
                        </a:lnTo>
                        <a:lnTo>
                          <a:pt x="623" y="72"/>
                        </a:lnTo>
                        <a:lnTo>
                          <a:pt x="616" y="80"/>
                        </a:lnTo>
                        <a:lnTo>
                          <a:pt x="621" y="105"/>
                        </a:lnTo>
                        <a:lnTo>
                          <a:pt x="591" y="117"/>
                        </a:lnTo>
                        <a:lnTo>
                          <a:pt x="585" y="134"/>
                        </a:lnTo>
                        <a:lnTo>
                          <a:pt x="591" y="157"/>
                        </a:lnTo>
                        <a:lnTo>
                          <a:pt x="528" y="229"/>
                        </a:lnTo>
                        <a:lnTo>
                          <a:pt x="540" y="313"/>
                        </a:lnTo>
                        <a:lnTo>
                          <a:pt x="510" y="337"/>
                        </a:lnTo>
                        <a:lnTo>
                          <a:pt x="497" y="322"/>
                        </a:lnTo>
                        <a:lnTo>
                          <a:pt x="437" y="357"/>
                        </a:lnTo>
                        <a:lnTo>
                          <a:pt x="416" y="345"/>
                        </a:lnTo>
                        <a:lnTo>
                          <a:pt x="329" y="180"/>
                        </a:lnTo>
                        <a:lnTo>
                          <a:pt x="296" y="156"/>
                        </a:lnTo>
                        <a:lnTo>
                          <a:pt x="268" y="147"/>
                        </a:lnTo>
                        <a:lnTo>
                          <a:pt x="255" y="124"/>
                        </a:lnTo>
                        <a:lnTo>
                          <a:pt x="271" y="100"/>
                        </a:lnTo>
                        <a:lnTo>
                          <a:pt x="245" y="80"/>
                        </a:lnTo>
                        <a:lnTo>
                          <a:pt x="217" y="105"/>
                        </a:lnTo>
                        <a:lnTo>
                          <a:pt x="188" y="110"/>
                        </a:lnTo>
                        <a:lnTo>
                          <a:pt x="167" y="22"/>
                        </a:lnTo>
                        <a:lnTo>
                          <a:pt x="163" y="0"/>
                        </a:lnTo>
                        <a:lnTo>
                          <a:pt x="133" y="37"/>
                        </a:lnTo>
                        <a:lnTo>
                          <a:pt x="121" y="44"/>
                        </a:lnTo>
                        <a:lnTo>
                          <a:pt x="122" y="100"/>
                        </a:lnTo>
                        <a:lnTo>
                          <a:pt x="116" y="112"/>
                        </a:lnTo>
                        <a:lnTo>
                          <a:pt x="100" y="112"/>
                        </a:lnTo>
                        <a:lnTo>
                          <a:pt x="88" y="100"/>
                        </a:lnTo>
                        <a:lnTo>
                          <a:pt x="73" y="117"/>
                        </a:lnTo>
                        <a:lnTo>
                          <a:pt x="88" y="182"/>
                        </a:lnTo>
                        <a:lnTo>
                          <a:pt x="105" y="182"/>
                        </a:lnTo>
                        <a:lnTo>
                          <a:pt x="121" y="192"/>
                        </a:lnTo>
                        <a:lnTo>
                          <a:pt x="125" y="231"/>
                        </a:lnTo>
                        <a:lnTo>
                          <a:pt x="117" y="367"/>
                        </a:lnTo>
                        <a:lnTo>
                          <a:pt x="25" y="451"/>
                        </a:lnTo>
                        <a:lnTo>
                          <a:pt x="20" y="482"/>
                        </a:lnTo>
                        <a:lnTo>
                          <a:pt x="2" y="496"/>
                        </a:lnTo>
                        <a:lnTo>
                          <a:pt x="0" y="514"/>
                        </a:lnTo>
                        <a:lnTo>
                          <a:pt x="15" y="553"/>
                        </a:lnTo>
                        <a:lnTo>
                          <a:pt x="2" y="583"/>
                        </a:lnTo>
                        <a:lnTo>
                          <a:pt x="10" y="585"/>
                        </a:lnTo>
                        <a:lnTo>
                          <a:pt x="57" y="572"/>
                        </a:lnTo>
                        <a:lnTo>
                          <a:pt x="122" y="571"/>
                        </a:lnTo>
                        <a:lnTo>
                          <a:pt x="116" y="597"/>
                        </a:lnTo>
                        <a:lnTo>
                          <a:pt x="127" y="622"/>
                        </a:lnTo>
                        <a:lnTo>
                          <a:pt x="133" y="660"/>
                        </a:lnTo>
                        <a:lnTo>
                          <a:pt x="140" y="672"/>
                        </a:lnTo>
                        <a:lnTo>
                          <a:pt x="179" y="672"/>
                        </a:lnTo>
                        <a:lnTo>
                          <a:pt x="197" y="684"/>
                        </a:lnTo>
                        <a:lnTo>
                          <a:pt x="177" y="709"/>
                        </a:lnTo>
                        <a:lnTo>
                          <a:pt x="175" y="740"/>
                        </a:lnTo>
                        <a:lnTo>
                          <a:pt x="160" y="775"/>
                        </a:lnTo>
                        <a:lnTo>
                          <a:pt x="170" y="788"/>
                        </a:lnTo>
                        <a:lnTo>
                          <a:pt x="195" y="790"/>
                        </a:lnTo>
                        <a:lnTo>
                          <a:pt x="236" y="806"/>
                        </a:lnTo>
                        <a:lnTo>
                          <a:pt x="230" y="820"/>
                        </a:lnTo>
                        <a:lnTo>
                          <a:pt x="257" y="861"/>
                        </a:lnTo>
                        <a:lnTo>
                          <a:pt x="297" y="861"/>
                        </a:lnTo>
                        <a:lnTo>
                          <a:pt x="347" y="831"/>
                        </a:lnTo>
                        <a:lnTo>
                          <a:pt x="361" y="841"/>
                        </a:lnTo>
                        <a:lnTo>
                          <a:pt x="361" y="856"/>
                        </a:lnTo>
                        <a:lnTo>
                          <a:pt x="368" y="882"/>
                        </a:lnTo>
                        <a:lnTo>
                          <a:pt x="381" y="894"/>
                        </a:lnTo>
                        <a:lnTo>
                          <a:pt x="409" y="891"/>
                        </a:lnTo>
                        <a:lnTo>
                          <a:pt x="418" y="899"/>
                        </a:lnTo>
                        <a:lnTo>
                          <a:pt x="428" y="886"/>
                        </a:lnTo>
                        <a:lnTo>
                          <a:pt x="428" y="848"/>
                        </a:lnTo>
                        <a:lnTo>
                          <a:pt x="410" y="775"/>
                        </a:lnTo>
                        <a:lnTo>
                          <a:pt x="423" y="756"/>
                        </a:lnTo>
                        <a:lnTo>
                          <a:pt x="465" y="756"/>
                        </a:lnTo>
                        <a:lnTo>
                          <a:pt x="474" y="756"/>
                        </a:lnTo>
                        <a:lnTo>
                          <a:pt x="497" y="728"/>
                        </a:lnTo>
                        <a:lnTo>
                          <a:pt x="555" y="745"/>
                        </a:lnTo>
                        <a:lnTo>
                          <a:pt x="578" y="726"/>
                        </a:lnTo>
                        <a:lnTo>
                          <a:pt x="591" y="738"/>
                        </a:lnTo>
                        <a:lnTo>
                          <a:pt x="616" y="721"/>
                        </a:lnTo>
                        <a:lnTo>
                          <a:pt x="640" y="745"/>
                        </a:lnTo>
                        <a:lnTo>
                          <a:pt x="647" y="745"/>
                        </a:lnTo>
                        <a:lnTo>
                          <a:pt x="656" y="733"/>
                        </a:lnTo>
                        <a:lnTo>
                          <a:pt x="676" y="714"/>
                        </a:lnTo>
                        <a:lnTo>
                          <a:pt x="683" y="721"/>
                        </a:lnTo>
                        <a:lnTo>
                          <a:pt x="713" y="716"/>
                        </a:lnTo>
                        <a:lnTo>
                          <a:pt x="738" y="693"/>
                        </a:lnTo>
                        <a:lnTo>
                          <a:pt x="762" y="660"/>
                        </a:lnTo>
                        <a:lnTo>
                          <a:pt x="792" y="655"/>
                        </a:lnTo>
                        <a:lnTo>
                          <a:pt x="809" y="672"/>
                        </a:lnTo>
                        <a:lnTo>
                          <a:pt x="821" y="637"/>
                        </a:lnTo>
                        <a:lnTo>
                          <a:pt x="846" y="636"/>
                        </a:lnTo>
                        <a:lnTo>
                          <a:pt x="856" y="627"/>
                        </a:lnTo>
                        <a:lnTo>
                          <a:pt x="866" y="595"/>
                        </a:lnTo>
                        <a:lnTo>
                          <a:pt x="854" y="578"/>
                        </a:lnTo>
                        <a:lnTo>
                          <a:pt x="771" y="561"/>
                        </a:lnTo>
                        <a:lnTo>
                          <a:pt x="756" y="538"/>
                        </a:lnTo>
                        <a:lnTo>
                          <a:pt x="734" y="538"/>
                        </a:lnTo>
                        <a:lnTo>
                          <a:pt x="708" y="538"/>
                        </a:lnTo>
                        <a:lnTo>
                          <a:pt x="694" y="512"/>
                        </a:lnTo>
                        <a:lnTo>
                          <a:pt x="694" y="496"/>
                        </a:lnTo>
                        <a:lnTo>
                          <a:pt x="706" y="438"/>
                        </a:lnTo>
                        <a:lnTo>
                          <a:pt x="671" y="405"/>
                        </a:lnTo>
                        <a:lnTo>
                          <a:pt x="695" y="302"/>
                        </a:lnTo>
                        <a:lnTo>
                          <a:pt x="681" y="288"/>
                        </a:lnTo>
                        <a:lnTo>
                          <a:pt x="628" y="306"/>
                        </a:lnTo>
                        <a:lnTo>
                          <a:pt x="616" y="283"/>
                        </a:lnTo>
                        <a:lnTo>
                          <a:pt x="616" y="258"/>
                        </a:lnTo>
                        <a:lnTo>
                          <a:pt x="603" y="246"/>
                        </a:lnTo>
                        <a:lnTo>
                          <a:pt x="630" y="210"/>
                        </a:lnTo>
                        <a:lnTo>
                          <a:pt x="658" y="219"/>
                        </a:lnTo>
                        <a:lnTo>
                          <a:pt x="671" y="207"/>
                        </a:lnTo>
                        <a:lnTo>
                          <a:pt x="725" y="214"/>
                        </a:lnTo>
                        <a:lnTo>
                          <a:pt x="752" y="207"/>
                        </a:lnTo>
                        <a:lnTo>
                          <a:pt x="762" y="165"/>
                        </a:lnTo>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 name="Freeform 10"/>
                  <p:cNvSpPr/>
                  <p:nvPr/>
                </p:nvSpPr>
                <p:spPr bwMode="auto">
                  <a:xfrm>
                    <a:off x="5031773" y="4603849"/>
                    <a:ext cx="493712" cy="673100"/>
                  </a:xfrm>
                  <a:custGeom>
                    <a:avLst/>
                    <a:gdLst>
                      <a:gd name="T0" fmla="*/ 9 w 449"/>
                      <a:gd name="T1" fmla="*/ 138 h 630"/>
                      <a:gd name="T2" fmla="*/ 38 w 449"/>
                      <a:gd name="T3" fmla="*/ 194 h 630"/>
                      <a:gd name="T4" fmla="*/ 40 w 449"/>
                      <a:gd name="T5" fmla="*/ 223 h 630"/>
                      <a:gd name="T6" fmla="*/ 27 w 449"/>
                      <a:gd name="T7" fmla="*/ 253 h 630"/>
                      <a:gd name="T8" fmla="*/ 4 w 449"/>
                      <a:gd name="T9" fmla="*/ 270 h 630"/>
                      <a:gd name="T10" fmla="*/ 0 w 449"/>
                      <a:gd name="T11" fmla="*/ 322 h 630"/>
                      <a:gd name="T12" fmla="*/ 7 w 449"/>
                      <a:gd name="T13" fmla="*/ 331 h 630"/>
                      <a:gd name="T14" fmla="*/ 19 w 449"/>
                      <a:gd name="T15" fmla="*/ 326 h 630"/>
                      <a:gd name="T16" fmla="*/ 27 w 449"/>
                      <a:gd name="T17" fmla="*/ 331 h 630"/>
                      <a:gd name="T18" fmla="*/ 27 w 449"/>
                      <a:gd name="T19" fmla="*/ 366 h 630"/>
                      <a:gd name="T20" fmla="*/ 40 w 449"/>
                      <a:gd name="T21" fmla="*/ 405 h 630"/>
                      <a:gd name="T22" fmla="*/ 58 w 449"/>
                      <a:gd name="T23" fmla="*/ 412 h 630"/>
                      <a:gd name="T24" fmla="*/ 61 w 449"/>
                      <a:gd name="T25" fmla="*/ 471 h 630"/>
                      <a:gd name="T26" fmla="*/ 50 w 449"/>
                      <a:gd name="T27" fmla="*/ 510 h 630"/>
                      <a:gd name="T28" fmla="*/ 61 w 449"/>
                      <a:gd name="T29" fmla="*/ 528 h 630"/>
                      <a:gd name="T30" fmla="*/ 81 w 449"/>
                      <a:gd name="T31" fmla="*/ 547 h 630"/>
                      <a:gd name="T32" fmla="*/ 126 w 449"/>
                      <a:gd name="T33" fmla="*/ 535 h 630"/>
                      <a:gd name="T34" fmla="*/ 136 w 449"/>
                      <a:gd name="T35" fmla="*/ 553 h 630"/>
                      <a:gd name="T36" fmla="*/ 120 w 449"/>
                      <a:gd name="T37" fmla="*/ 572 h 630"/>
                      <a:gd name="T38" fmla="*/ 97 w 449"/>
                      <a:gd name="T39" fmla="*/ 608 h 630"/>
                      <a:gd name="T40" fmla="*/ 97 w 449"/>
                      <a:gd name="T41" fmla="*/ 618 h 630"/>
                      <a:gd name="T42" fmla="*/ 112 w 449"/>
                      <a:gd name="T43" fmla="*/ 629 h 630"/>
                      <a:gd name="T44" fmla="*/ 209 w 449"/>
                      <a:gd name="T45" fmla="*/ 588 h 630"/>
                      <a:gd name="T46" fmla="*/ 244 w 449"/>
                      <a:gd name="T47" fmla="*/ 608 h 630"/>
                      <a:gd name="T48" fmla="*/ 253 w 449"/>
                      <a:gd name="T49" fmla="*/ 598 h 630"/>
                      <a:gd name="T50" fmla="*/ 244 w 449"/>
                      <a:gd name="T51" fmla="*/ 576 h 630"/>
                      <a:gd name="T52" fmla="*/ 246 w 449"/>
                      <a:gd name="T53" fmla="*/ 562 h 630"/>
                      <a:gd name="T54" fmla="*/ 261 w 449"/>
                      <a:gd name="T55" fmla="*/ 472 h 630"/>
                      <a:gd name="T56" fmla="*/ 275 w 449"/>
                      <a:gd name="T57" fmla="*/ 452 h 630"/>
                      <a:gd name="T58" fmla="*/ 282 w 449"/>
                      <a:gd name="T59" fmla="*/ 427 h 630"/>
                      <a:gd name="T60" fmla="*/ 299 w 449"/>
                      <a:gd name="T61" fmla="*/ 390 h 630"/>
                      <a:gd name="T62" fmla="*/ 289 w 449"/>
                      <a:gd name="T63" fmla="*/ 375 h 630"/>
                      <a:gd name="T64" fmla="*/ 292 w 449"/>
                      <a:gd name="T65" fmla="*/ 344 h 630"/>
                      <a:gd name="T66" fmla="*/ 334 w 449"/>
                      <a:gd name="T67" fmla="*/ 296 h 630"/>
                      <a:gd name="T68" fmla="*/ 333 w 449"/>
                      <a:gd name="T69" fmla="*/ 264 h 630"/>
                      <a:gd name="T70" fmla="*/ 358 w 449"/>
                      <a:gd name="T71" fmla="*/ 218 h 630"/>
                      <a:gd name="T72" fmla="*/ 385 w 449"/>
                      <a:gd name="T73" fmla="*/ 226 h 630"/>
                      <a:gd name="T74" fmla="*/ 438 w 449"/>
                      <a:gd name="T75" fmla="*/ 186 h 630"/>
                      <a:gd name="T76" fmla="*/ 448 w 449"/>
                      <a:gd name="T77" fmla="*/ 166 h 630"/>
                      <a:gd name="T78" fmla="*/ 414 w 449"/>
                      <a:gd name="T79" fmla="*/ 103 h 630"/>
                      <a:gd name="T80" fmla="*/ 392 w 449"/>
                      <a:gd name="T81" fmla="*/ 70 h 630"/>
                      <a:gd name="T82" fmla="*/ 408 w 449"/>
                      <a:gd name="T83" fmla="*/ 56 h 630"/>
                      <a:gd name="T84" fmla="*/ 388 w 449"/>
                      <a:gd name="T85" fmla="*/ 37 h 630"/>
                      <a:gd name="T86" fmla="*/ 336 w 449"/>
                      <a:gd name="T87" fmla="*/ 37 h 630"/>
                      <a:gd name="T88" fmla="*/ 315 w 449"/>
                      <a:gd name="T89" fmla="*/ 12 h 630"/>
                      <a:gd name="T90" fmla="*/ 273 w 449"/>
                      <a:gd name="T91" fmla="*/ 54 h 630"/>
                      <a:gd name="T92" fmla="*/ 258 w 449"/>
                      <a:gd name="T93" fmla="*/ 46 h 630"/>
                      <a:gd name="T94" fmla="*/ 275 w 449"/>
                      <a:gd name="T95" fmla="*/ 14 h 630"/>
                      <a:gd name="T96" fmla="*/ 273 w 449"/>
                      <a:gd name="T97" fmla="*/ 4 h 630"/>
                      <a:gd name="T98" fmla="*/ 258 w 449"/>
                      <a:gd name="T99" fmla="*/ 0 h 630"/>
                      <a:gd name="T100" fmla="*/ 209 w 449"/>
                      <a:gd name="T101" fmla="*/ 27 h 630"/>
                      <a:gd name="T102" fmla="*/ 171 w 449"/>
                      <a:gd name="T103" fmla="*/ 39 h 630"/>
                      <a:gd name="T104" fmla="*/ 138 w 449"/>
                      <a:gd name="T105" fmla="*/ 37 h 630"/>
                      <a:gd name="T106" fmla="*/ 70 w 449"/>
                      <a:gd name="T107" fmla="*/ 100 h 630"/>
                      <a:gd name="T108" fmla="*/ 34 w 449"/>
                      <a:gd name="T109" fmla="*/ 112 h 630"/>
                      <a:gd name="T110" fmla="*/ 9 w 449"/>
                      <a:gd name="T111" fmla="*/ 138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49" h="630">
                        <a:moveTo>
                          <a:pt x="9" y="138"/>
                        </a:moveTo>
                        <a:lnTo>
                          <a:pt x="38" y="194"/>
                        </a:lnTo>
                        <a:lnTo>
                          <a:pt x="40" y="223"/>
                        </a:lnTo>
                        <a:lnTo>
                          <a:pt x="27" y="253"/>
                        </a:lnTo>
                        <a:lnTo>
                          <a:pt x="4" y="270"/>
                        </a:lnTo>
                        <a:lnTo>
                          <a:pt x="0" y="322"/>
                        </a:lnTo>
                        <a:lnTo>
                          <a:pt x="7" y="331"/>
                        </a:lnTo>
                        <a:lnTo>
                          <a:pt x="19" y="326"/>
                        </a:lnTo>
                        <a:lnTo>
                          <a:pt x="27" y="331"/>
                        </a:lnTo>
                        <a:lnTo>
                          <a:pt x="27" y="366"/>
                        </a:lnTo>
                        <a:lnTo>
                          <a:pt x="40" y="405"/>
                        </a:lnTo>
                        <a:lnTo>
                          <a:pt x="58" y="412"/>
                        </a:lnTo>
                        <a:lnTo>
                          <a:pt x="61" y="471"/>
                        </a:lnTo>
                        <a:lnTo>
                          <a:pt x="50" y="510"/>
                        </a:lnTo>
                        <a:lnTo>
                          <a:pt x="61" y="528"/>
                        </a:lnTo>
                        <a:lnTo>
                          <a:pt x="81" y="547"/>
                        </a:lnTo>
                        <a:lnTo>
                          <a:pt x="126" y="535"/>
                        </a:lnTo>
                        <a:lnTo>
                          <a:pt x="136" y="553"/>
                        </a:lnTo>
                        <a:lnTo>
                          <a:pt x="120" y="572"/>
                        </a:lnTo>
                        <a:lnTo>
                          <a:pt x="97" y="608"/>
                        </a:lnTo>
                        <a:lnTo>
                          <a:pt x="97" y="618"/>
                        </a:lnTo>
                        <a:lnTo>
                          <a:pt x="112" y="629"/>
                        </a:lnTo>
                        <a:lnTo>
                          <a:pt x="209" y="588"/>
                        </a:lnTo>
                        <a:lnTo>
                          <a:pt x="244" y="608"/>
                        </a:lnTo>
                        <a:lnTo>
                          <a:pt x="253" y="598"/>
                        </a:lnTo>
                        <a:lnTo>
                          <a:pt x="244" y="576"/>
                        </a:lnTo>
                        <a:lnTo>
                          <a:pt x="246" y="562"/>
                        </a:lnTo>
                        <a:lnTo>
                          <a:pt x="261" y="472"/>
                        </a:lnTo>
                        <a:lnTo>
                          <a:pt x="275" y="452"/>
                        </a:lnTo>
                        <a:lnTo>
                          <a:pt x="282" y="427"/>
                        </a:lnTo>
                        <a:lnTo>
                          <a:pt x="299" y="390"/>
                        </a:lnTo>
                        <a:lnTo>
                          <a:pt x="289" y="375"/>
                        </a:lnTo>
                        <a:lnTo>
                          <a:pt x="292" y="344"/>
                        </a:lnTo>
                        <a:lnTo>
                          <a:pt x="334" y="296"/>
                        </a:lnTo>
                        <a:lnTo>
                          <a:pt x="333" y="264"/>
                        </a:lnTo>
                        <a:lnTo>
                          <a:pt x="358" y="218"/>
                        </a:lnTo>
                        <a:lnTo>
                          <a:pt x="385" y="226"/>
                        </a:lnTo>
                        <a:lnTo>
                          <a:pt x="438" y="186"/>
                        </a:lnTo>
                        <a:lnTo>
                          <a:pt x="448" y="166"/>
                        </a:lnTo>
                        <a:lnTo>
                          <a:pt x="414" y="103"/>
                        </a:lnTo>
                        <a:lnTo>
                          <a:pt x="392" y="70"/>
                        </a:lnTo>
                        <a:lnTo>
                          <a:pt x="408" y="56"/>
                        </a:lnTo>
                        <a:lnTo>
                          <a:pt x="388" y="37"/>
                        </a:lnTo>
                        <a:lnTo>
                          <a:pt x="336" y="37"/>
                        </a:lnTo>
                        <a:lnTo>
                          <a:pt x="315" y="12"/>
                        </a:lnTo>
                        <a:lnTo>
                          <a:pt x="273" y="54"/>
                        </a:lnTo>
                        <a:lnTo>
                          <a:pt x="258" y="46"/>
                        </a:lnTo>
                        <a:lnTo>
                          <a:pt x="275" y="14"/>
                        </a:lnTo>
                        <a:lnTo>
                          <a:pt x="273" y="4"/>
                        </a:lnTo>
                        <a:lnTo>
                          <a:pt x="258" y="0"/>
                        </a:lnTo>
                        <a:lnTo>
                          <a:pt x="209" y="27"/>
                        </a:lnTo>
                        <a:lnTo>
                          <a:pt x="171" y="39"/>
                        </a:lnTo>
                        <a:lnTo>
                          <a:pt x="138" y="37"/>
                        </a:lnTo>
                        <a:lnTo>
                          <a:pt x="70" y="100"/>
                        </a:lnTo>
                        <a:lnTo>
                          <a:pt x="34" y="112"/>
                        </a:lnTo>
                        <a:lnTo>
                          <a:pt x="9" y="138"/>
                        </a:lnTo>
                      </a:path>
                    </a:pathLst>
                  </a:custGeom>
                  <a:grpFill/>
                  <a:ln w="12700" cap="flat" cmpd="sng">
                    <a:solidFill>
                      <a:srgbClr val="FF66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4" name="Freeform 11"/>
                  <p:cNvSpPr/>
                  <p:nvPr/>
                </p:nvSpPr>
                <p:spPr bwMode="auto">
                  <a:xfrm>
                    <a:off x="3960210" y="4800699"/>
                    <a:ext cx="657225" cy="541337"/>
                  </a:xfrm>
                  <a:custGeom>
                    <a:avLst/>
                    <a:gdLst>
                      <a:gd name="T0" fmla="*/ 163 w 600"/>
                      <a:gd name="T1" fmla="*/ 169 h 506"/>
                      <a:gd name="T2" fmla="*/ 152 w 600"/>
                      <a:gd name="T3" fmla="*/ 210 h 506"/>
                      <a:gd name="T4" fmla="*/ 126 w 600"/>
                      <a:gd name="T5" fmla="*/ 217 h 506"/>
                      <a:gd name="T6" fmla="*/ 70 w 600"/>
                      <a:gd name="T7" fmla="*/ 210 h 506"/>
                      <a:gd name="T8" fmla="*/ 57 w 600"/>
                      <a:gd name="T9" fmla="*/ 222 h 506"/>
                      <a:gd name="T10" fmla="*/ 28 w 600"/>
                      <a:gd name="T11" fmla="*/ 212 h 506"/>
                      <a:gd name="T12" fmla="*/ 0 w 600"/>
                      <a:gd name="T13" fmla="*/ 249 h 506"/>
                      <a:gd name="T14" fmla="*/ 13 w 600"/>
                      <a:gd name="T15" fmla="*/ 261 h 506"/>
                      <a:gd name="T16" fmla="*/ 13 w 600"/>
                      <a:gd name="T17" fmla="*/ 286 h 506"/>
                      <a:gd name="T18" fmla="*/ 26 w 600"/>
                      <a:gd name="T19" fmla="*/ 308 h 506"/>
                      <a:gd name="T20" fmla="*/ 80 w 600"/>
                      <a:gd name="T21" fmla="*/ 291 h 506"/>
                      <a:gd name="T22" fmla="*/ 95 w 600"/>
                      <a:gd name="T23" fmla="*/ 304 h 506"/>
                      <a:gd name="T24" fmla="*/ 70 w 600"/>
                      <a:gd name="T25" fmla="*/ 407 h 506"/>
                      <a:gd name="T26" fmla="*/ 106 w 600"/>
                      <a:gd name="T27" fmla="*/ 439 h 506"/>
                      <a:gd name="T28" fmla="*/ 94 w 600"/>
                      <a:gd name="T29" fmla="*/ 496 h 506"/>
                      <a:gd name="T30" fmla="*/ 130 w 600"/>
                      <a:gd name="T31" fmla="*/ 500 h 506"/>
                      <a:gd name="T32" fmla="*/ 163 w 600"/>
                      <a:gd name="T33" fmla="*/ 467 h 506"/>
                      <a:gd name="T34" fmla="*/ 177 w 600"/>
                      <a:gd name="T35" fmla="*/ 476 h 506"/>
                      <a:gd name="T36" fmla="*/ 246 w 600"/>
                      <a:gd name="T37" fmla="*/ 505 h 506"/>
                      <a:gd name="T38" fmla="*/ 257 w 600"/>
                      <a:gd name="T39" fmla="*/ 496 h 506"/>
                      <a:gd name="T40" fmla="*/ 260 w 600"/>
                      <a:gd name="T41" fmla="*/ 476 h 506"/>
                      <a:gd name="T42" fmla="*/ 274 w 600"/>
                      <a:gd name="T43" fmla="*/ 463 h 506"/>
                      <a:gd name="T44" fmla="*/ 372 w 600"/>
                      <a:gd name="T45" fmla="*/ 402 h 506"/>
                      <a:gd name="T46" fmla="*/ 386 w 600"/>
                      <a:gd name="T47" fmla="*/ 422 h 506"/>
                      <a:gd name="T48" fmla="*/ 448 w 600"/>
                      <a:gd name="T49" fmla="*/ 439 h 506"/>
                      <a:gd name="T50" fmla="*/ 478 w 600"/>
                      <a:gd name="T51" fmla="*/ 397 h 506"/>
                      <a:gd name="T52" fmla="*/ 493 w 600"/>
                      <a:gd name="T53" fmla="*/ 407 h 506"/>
                      <a:gd name="T54" fmla="*/ 517 w 600"/>
                      <a:gd name="T55" fmla="*/ 407 h 506"/>
                      <a:gd name="T56" fmla="*/ 517 w 600"/>
                      <a:gd name="T57" fmla="*/ 395 h 506"/>
                      <a:gd name="T58" fmla="*/ 548 w 600"/>
                      <a:gd name="T59" fmla="*/ 385 h 506"/>
                      <a:gd name="T60" fmla="*/ 548 w 600"/>
                      <a:gd name="T61" fmla="*/ 377 h 506"/>
                      <a:gd name="T62" fmla="*/ 559 w 600"/>
                      <a:gd name="T63" fmla="*/ 364 h 506"/>
                      <a:gd name="T64" fmla="*/ 566 w 600"/>
                      <a:gd name="T65" fmla="*/ 366 h 506"/>
                      <a:gd name="T66" fmla="*/ 599 w 600"/>
                      <a:gd name="T67" fmla="*/ 337 h 506"/>
                      <a:gd name="T68" fmla="*/ 571 w 600"/>
                      <a:gd name="T69" fmla="*/ 293 h 506"/>
                      <a:gd name="T70" fmla="*/ 585 w 600"/>
                      <a:gd name="T71" fmla="*/ 232 h 506"/>
                      <a:gd name="T72" fmla="*/ 570 w 600"/>
                      <a:gd name="T73" fmla="*/ 212 h 506"/>
                      <a:gd name="T74" fmla="*/ 524 w 600"/>
                      <a:gd name="T75" fmla="*/ 224 h 506"/>
                      <a:gd name="T76" fmla="*/ 519 w 600"/>
                      <a:gd name="T77" fmla="*/ 217 h 506"/>
                      <a:gd name="T78" fmla="*/ 570 w 600"/>
                      <a:gd name="T79" fmla="*/ 164 h 506"/>
                      <a:gd name="T80" fmla="*/ 548 w 600"/>
                      <a:gd name="T81" fmla="*/ 78 h 506"/>
                      <a:gd name="T82" fmla="*/ 514 w 600"/>
                      <a:gd name="T83" fmla="*/ 103 h 506"/>
                      <a:gd name="T84" fmla="*/ 483 w 600"/>
                      <a:gd name="T85" fmla="*/ 74 h 506"/>
                      <a:gd name="T86" fmla="*/ 456 w 600"/>
                      <a:gd name="T87" fmla="*/ 38 h 506"/>
                      <a:gd name="T88" fmla="*/ 452 w 600"/>
                      <a:gd name="T89" fmla="*/ 15 h 506"/>
                      <a:gd name="T90" fmla="*/ 436 w 600"/>
                      <a:gd name="T91" fmla="*/ 10 h 506"/>
                      <a:gd name="T92" fmla="*/ 410 w 600"/>
                      <a:gd name="T93" fmla="*/ 17 h 506"/>
                      <a:gd name="T94" fmla="*/ 372 w 600"/>
                      <a:gd name="T95" fmla="*/ 0 h 506"/>
                      <a:gd name="T96" fmla="*/ 354 w 600"/>
                      <a:gd name="T97" fmla="*/ 41 h 506"/>
                      <a:gd name="T98" fmla="*/ 322 w 600"/>
                      <a:gd name="T99" fmla="*/ 44 h 506"/>
                      <a:gd name="T100" fmla="*/ 298 w 600"/>
                      <a:gd name="T101" fmla="*/ 78 h 506"/>
                      <a:gd name="T102" fmla="*/ 283 w 600"/>
                      <a:gd name="T103" fmla="*/ 71 h 506"/>
                      <a:gd name="T104" fmla="*/ 260 w 600"/>
                      <a:gd name="T105" fmla="*/ 78 h 506"/>
                      <a:gd name="T106" fmla="*/ 225 w 600"/>
                      <a:gd name="T107" fmla="*/ 58 h 506"/>
                      <a:gd name="T108" fmla="*/ 197 w 600"/>
                      <a:gd name="T109" fmla="*/ 90 h 506"/>
                      <a:gd name="T110" fmla="*/ 197 w 600"/>
                      <a:gd name="T111" fmla="*/ 106 h 506"/>
                      <a:gd name="T112" fmla="*/ 252 w 600"/>
                      <a:gd name="T113" fmla="*/ 133 h 506"/>
                      <a:gd name="T114" fmla="*/ 265 w 600"/>
                      <a:gd name="T115" fmla="*/ 156 h 506"/>
                      <a:gd name="T116" fmla="*/ 225 w 600"/>
                      <a:gd name="T117" fmla="*/ 170 h 506"/>
                      <a:gd name="T118" fmla="*/ 163 w 600"/>
                      <a:gd name="T119" fmla="*/ 169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00" h="506">
                        <a:moveTo>
                          <a:pt x="163" y="169"/>
                        </a:moveTo>
                        <a:lnTo>
                          <a:pt x="152" y="210"/>
                        </a:lnTo>
                        <a:lnTo>
                          <a:pt x="126" y="217"/>
                        </a:lnTo>
                        <a:lnTo>
                          <a:pt x="70" y="210"/>
                        </a:lnTo>
                        <a:lnTo>
                          <a:pt x="57" y="222"/>
                        </a:lnTo>
                        <a:lnTo>
                          <a:pt x="28" y="212"/>
                        </a:lnTo>
                        <a:lnTo>
                          <a:pt x="0" y="249"/>
                        </a:lnTo>
                        <a:lnTo>
                          <a:pt x="13" y="261"/>
                        </a:lnTo>
                        <a:lnTo>
                          <a:pt x="13" y="286"/>
                        </a:lnTo>
                        <a:lnTo>
                          <a:pt x="26" y="308"/>
                        </a:lnTo>
                        <a:lnTo>
                          <a:pt x="80" y="291"/>
                        </a:lnTo>
                        <a:lnTo>
                          <a:pt x="95" y="304"/>
                        </a:lnTo>
                        <a:lnTo>
                          <a:pt x="70" y="407"/>
                        </a:lnTo>
                        <a:lnTo>
                          <a:pt x="106" y="439"/>
                        </a:lnTo>
                        <a:lnTo>
                          <a:pt x="94" y="496"/>
                        </a:lnTo>
                        <a:lnTo>
                          <a:pt x="130" y="500"/>
                        </a:lnTo>
                        <a:lnTo>
                          <a:pt x="163" y="467"/>
                        </a:lnTo>
                        <a:lnTo>
                          <a:pt x="177" y="476"/>
                        </a:lnTo>
                        <a:lnTo>
                          <a:pt x="246" y="505"/>
                        </a:lnTo>
                        <a:lnTo>
                          <a:pt x="257" y="496"/>
                        </a:lnTo>
                        <a:lnTo>
                          <a:pt x="260" y="476"/>
                        </a:lnTo>
                        <a:lnTo>
                          <a:pt x="274" y="463"/>
                        </a:lnTo>
                        <a:lnTo>
                          <a:pt x="372" y="402"/>
                        </a:lnTo>
                        <a:lnTo>
                          <a:pt x="386" y="422"/>
                        </a:lnTo>
                        <a:lnTo>
                          <a:pt x="448" y="439"/>
                        </a:lnTo>
                        <a:lnTo>
                          <a:pt x="478" y="397"/>
                        </a:lnTo>
                        <a:lnTo>
                          <a:pt x="493" y="407"/>
                        </a:lnTo>
                        <a:lnTo>
                          <a:pt x="517" y="407"/>
                        </a:lnTo>
                        <a:lnTo>
                          <a:pt x="517" y="395"/>
                        </a:lnTo>
                        <a:lnTo>
                          <a:pt x="548" y="385"/>
                        </a:lnTo>
                        <a:lnTo>
                          <a:pt x="548" y="377"/>
                        </a:lnTo>
                        <a:lnTo>
                          <a:pt x="559" y="364"/>
                        </a:lnTo>
                        <a:lnTo>
                          <a:pt x="566" y="366"/>
                        </a:lnTo>
                        <a:lnTo>
                          <a:pt x="599" y="337"/>
                        </a:lnTo>
                        <a:lnTo>
                          <a:pt x="571" y="293"/>
                        </a:lnTo>
                        <a:lnTo>
                          <a:pt x="585" y="232"/>
                        </a:lnTo>
                        <a:lnTo>
                          <a:pt x="570" y="212"/>
                        </a:lnTo>
                        <a:lnTo>
                          <a:pt x="524" y="224"/>
                        </a:lnTo>
                        <a:lnTo>
                          <a:pt x="519" y="217"/>
                        </a:lnTo>
                        <a:lnTo>
                          <a:pt x="570" y="164"/>
                        </a:lnTo>
                        <a:lnTo>
                          <a:pt x="548" y="78"/>
                        </a:lnTo>
                        <a:lnTo>
                          <a:pt x="514" y="103"/>
                        </a:lnTo>
                        <a:lnTo>
                          <a:pt x="483" y="74"/>
                        </a:lnTo>
                        <a:lnTo>
                          <a:pt x="456" y="38"/>
                        </a:lnTo>
                        <a:lnTo>
                          <a:pt x="452" y="15"/>
                        </a:lnTo>
                        <a:lnTo>
                          <a:pt x="436" y="10"/>
                        </a:lnTo>
                        <a:lnTo>
                          <a:pt x="410" y="17"/>
                        </a:lnTo>
                        <a:lnTo>
                          <a:pt x="372" y="0"/>
                        </a:lnTo>
                        <a:lnTo>
                          <a:pt x="354" y="41"/>
                        </a:lnTo>
                        <a:lnTo>
                          <a:pt x="322" y="44"/>
                        </a:lnTo>
                        <a:lnTo>
                          <a:pt x="298" y="78"/>
                        </a:lnTo>
                        <a:lnTo>
                          <a:pt x="283" y="71"/>
                        </a:lnTo>
                        <a:lnTo>
                          <a:pt x="260" y="78"/>
                        </a:lnTo>
                        <a:lnTo>
                          <a:pt x="225" y="58"/>
                        </a:lnTo>
                        <a:lnTo>
                          <a:pt x="197" y="90"/>
                        </a:lnTo>
                        <a:lnTo>
                          <a:pt x="197" y="106"/>
                        </a:lnTo>
                        <a:lnTo>
                          <a:pt x="252" y="133"/>
                        </a:lnTo>
                        <a:lnTo>
                          <a:pt x="265" y="156"/>
                        </a:lnTo>
                        <a:lnTo>
                          <a:pt x="225" y="170"/>
                        </a:lnTo>
                        <a:lnTo>
                          <a:pt x="163" y="169"/>
                        </a:lnTo>
                      </a:path>
                    </a:pathLst>
                  </a:custGeom>
                  <a:grpFill/>
                  <a:ln w="12700" cap="flat" cmpd="sng">
                    <a:solidFill>
                      <a:srgbClr val="FF66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5" name="Freeform 12"/>
                  <p:cNvSpPr/>
                  <p:nvPr/>
                </p:nvSpPr>
                <p:spPr bwMode="auto">
                  <a:xfrm>
                    <a:off x="3329973" y="4229199"/>
                    <a:ext cx="1290637" cy="954087"/>
                  </a:xfrm>
                  <a:custGeom>
                    <a:avLst/>
                    <a:gdLst>
                      <a:gd name="T0" fmla="*/ 462 w 1181"/>
                      <a:gd name="T1" fmla="*/ 75 h 893"/>
                      <a:gd name="T2" fmla="*/ 441 w 1181"/>
                      <a:gd name="T3" fmla="*/ 27 h 893"/>
                      <a:gd name="T4" fmla="*/ 517 w 1181"/>
                      <a:gd name="T5" fmla="*/ 0 h 893"/>
                      <a:gd name="T6" fmla="*/ 530 w 1181"/>
                      <a:gd name="T7" fmla="*/ 52 h 893"/>
                      <a:gd name="T8" fmla="*/ 600 w 1181"/>
                      <a:gd name="T9" fmla="*/ 111 h 893"/>
                      <a:gd name="T10" fmla="*/ 636 w 1181"/>
                      <a:gd name="T11" fmla="*/ 111 h 893"/>
                      <a:gd name="T12" fmla="*/ 667 w 1181"/>
                      <a:gd name="T13" fmla="*/ 166 h 893"/>
                      <a:gd name="T14" fmla="*/ 739 w 1181"/>
                      <a:gd name="T15" fmla="*/ 160 h 893"/>
                      <a:gd name="T16" fmla="*/ 771 w 1181"/>
                      <a:gd name="T17" fmla="*/ 135 h 893"/>
                      <a:gd name="T18" fmla="*/ 794 w 1181"/>
                      <a:gd name="T19" fmla="*/ 160 h 893"/>
                      <a:gd name="T20" fmla="*/ 876 w 1181"/>
                      <a:gd name="T21" fmla="*/ 150 h 893"/>
                      <a:gd name="T22" fmla="*/ 893 w 1181"/>
                      <a:gd name="T23" fmla="*/ 171 h 893"/>
                      <a:gd name="T24" fmla="*/ 974 w 1181"/>
                      <a:gd name="T25" fmla="*/ 207 h 893"/>
                      <a:gd name="T26" fmla="*/ 1076 w 1181"/>
                      <a:gd name="T27" fmla="*/ 219 h 893"/>
                      <a:gd name="T28" fmla="*/ 1124 w 1181"/>
                      <a:gd name="T29" fmla="*/ 230 h 893"/>
                      <a:gd name="T30" fmla="*/ 1169 w 1181"/>
                      <a:gd name="T31" fmla="*/ 262 h 893"/>
                      <a:gd name="T32" fmla="*/ 1172 w 1181"/>
                      <a:gd name="T33" fmla="*/ 339 h 893"/>
                      <a:gd name="T34" fmla="*/ 1115 w 1181"/>
                      <a:gd name="T35" fmla="*/ 367 h 893"/>
                      <a:gd name="T36" fmla="*/ 1025 w 1181"/>
                      <a:gd name="T37" fmla="*/ 398 h 893"/>
                      <a:gd name="T38" fmla="*/ 1041 w 1181"/>
                      <a:gd name="T39" fmla="*/ 461 h 893"/>
                      <a:gd name="T40" fmla="*/ 1110 w 1181"/>
                      <a:gd name="T41" fmla="*/ 527 h 893"/>
                      <a:gd name="T42" fmla="*/ 1081 w 1181"/>
                      <a:gd name="T43" fmla="*/ 633 h 893"/>
                      <a:gd name="T44" fmla="*/ 1025 w 1181"/>
                      <a:gd name="T45" fmla="*/ 566 h 893"/>
                      <a:gd name="T46" fmla="*/ 1004 w 1181"/>
                      <a:gd name="T47" fmla="*/ 539 h 893"/>
                      <a:gd name="T48" fmla="*/ 942 w 1181"/>
                      <a:gd name="T49" fmla="*/ 528 h 893"/>
                      <a:gd name="T50" fmla="*/ 893 w 1181"/>
                      <a:gd name="T51" fmla="*/ 573 h 893"/>
                      <a:gd name="T52" fmla="*/ 857 w 1181"/>
                      <a:gd name="T53" fmla="*/ 601 h 893"/>
                      <a:gd name="T54" fmla="*/ 799 w 1181"/>
                      <a:gd name="T55" fmla="*/ 588 h 893"/>
                      <a:gd name="T56" fmla="*/ 771 w 1181"/>
                      <a:gd name="T57" fmla="*/ 636 h 893"/>
                      <a:gd name="T58" fmla="*/ 839 w 1181"/>
                      <a:gd name="T59" fmla="*/ 686 h 893"/>
                      <a:gd name="T60" fmla="*/ 739 w 1181"/>
                      <a:gd name="T61" fmla="*/ 699 h 893"/>
                      <a:gd name="T62" fmla="*/ 710 w 1181"/>
                      <a:gd name="T63" fmla="*/ 668 h 893"/>
                      <a:gd name="T64" fmla="*/ 649 w 1181"/>
                      <a:gd name="T65" fmla="*/ 677 h 893"/>
                      <a:gd name="T66" fmla="*/ 636 w 1181"/>
                      <a:gd name="T67" fmla="*/ 631 h 893"/>
                      <a:gd name="T68" fmla="*/ 600 w 1181"/>
                      <a:gd name="T69" fmla="*/ 606 h 893"/>
                      <a:gd name="T70" fmla="*/ 597 w 1181"/>
                      <a:gd name="T71" fmla="*/ 641 h 893"/>
                      <a:gd name="T72" fmla="*/ 561 w 1181"/>
                      <a:gd name="T73" fmla="*/ 668 h 893"/>
                      <a:gd name="T74" fmla="*/ 505 w 1181"/>
                      <a:gd name="T75" fmla="*/ 764 h 893"/>
                      <a:gd name="T76" fmla="*/ 488 w 1181"/>
                      <a:gd name="T77" fmla="*/ 871 h 893"/>
                      <a:gd name="T78" fmla="*/ 414 w 1181"/>
                      <a:gd name="T79" fmla="*/ 892 h 893"/>
                      <a:gd name="T80" fmla="*/ 304 w 1181"/>
                      <a:gd name="T81" fmla="*/ 714 h 893"/>
                      <a:gd name="T82" fmla="*/ 244 w 1181"/>
                      <a:gd name="T83" fmla="*/ 681 h 893"/>
                      <a:gd name="T84" fmla="*/ 247 w 1181"/>
                      <a:gd name="T85" fmla="*/ 636 h 893"/>
                      <a:gd name="T86" fmla="*/ 192 w 1181"/>
                      <a:gd name="T87" fmla="*/ 641 h 893"/>
                      <a:gd name="T88" fmla="*/ 142 w 1181"/>
                      <a:gd name="T89" fmla="*/ 557 h 893"/>
                      <a:gd name="T90" fmla="*/ 132 w 1181"/>
                      <a:gd name="T91" fmla="*/ 391 h 893"/>
                      <a:gd name="T92" fmla="*/ 124 w 1181"/>
                      <a:gd name="T93" fmla="*/ 306 h 893"/>
                      <a:gd name="T94" fmla="*/ 0 w 1181"/>
                      <a:gd name="T95" fmla="*/ 147 h 893"/>
                      <a:gd name="T96" fmla="*/ 16 w 1181"/>
                      <a:gd name="T97" fmla="*/ 106 h 893"/>
                      <a:gd name="T98" fmla="*/ 184 w 1181"/>
                      <a:gd name="T99" fmla="*/ 111 h 893"/>
                      <a:gd name="T100" fmla="*/ 240 w 1181"/>
                      <a:gd name="T101" fmla="*/ 122 h 893"/>
                      <a:gd name="T102" fmla="*/ 327 w 1181"/>
                      <a:gd name="T103" fmla="*/ 165 h 893"/>
                      <a:gd name="T104" fmla="*/ 337 w 1181"/>
                      <a:gd name="T105" fmla="*/ 116 h 893"/>
                      <a:gd name="T106" fmla="*/ 392 w 1181"/>
                      <a:gd name="T107" fmla="*/ 126 h 893"/>
                      <a:gd name="T108" fmla="*/ 446 w 1181"/>
                      <a:gd name="T109" fmla="*/ 112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81" h="893">
                        <a:moveTo>
                          <a:pt x="446" y="111"/>
                        </a:moveTo>
                        <a:lnTo>
                          <a:pt x="462" y="75"/>
                        </a:lnTo>
                        <a:lnTo>
                          <a:pt x="445" y="57"/>
                        </a:lnTo>
                        <a:lnTo>
                          <a:pt x="441" y="27"/>
                        </a:lnTo>
                        <a:lnTo>
                          <a:pt x="500" y="0"/>
                        </a:lnTo>
                        <a:lnTo>
                          <a:pt x="517" y="0"/>
                        </a:lnTo>
                        <a:lnTo>
                          <a:pt x="525" y="24"/>
                        </a:lnTo>
                        <a:lnTo>
                          <a:pt x="530" y="52"/>
                        </a:lnTo>
                        <a:lnTo>
                          <a:pt x="559" y="74"/>
                        </a:lnTo>
                        <a:lnTo>
                          <a:pt x="600" y="111"/>
                        </a:lnTo>
                        <a:lnTo>
                          <a:pt x="621" y="94"/>
                        </a:lnTo>
                        <a:lnTo>
                          <a:pt x="636" y="111"/>
                        </a:lnTo>
                        <a:lnTo>
                          <a:pt x="642" y="150"/>
                        </a:lnTo>
                        <a:lnTo>
                          <a:pt x="667" y="166"/>
                        </a:lnTo>
                        <a:lnTo>
                          <a:pt x="728" y="171"/>
                        </a:lnTo>
                        <a:lnTo>
                          <a:pt x="739" y="160"/>
                        </a:lnTo>
                        <a:lnTo>
                          <a:pt x="734" y="142"/>
                        </a:lnTo>
                        <a:lnTo>
                          <a:pt x="771" y="135"/>
                        </a:lnTo>
                        <a:lnTo>
                          <a:pt x="794" y="138"/>
                        </a:lnTo>
                        <a:lnTo>
                          <a:pt x="794" y="160"/>
                        </a:lnTo>
                        <a:lnTo>
                          <a:pt x="811" y="162"/>
                        </a:lnTo>
                        <a:lnTo>
                          <a:pt x="876" y="150"/>
                        </a:lnTo>
                        <a:lnTo>
                          <a:pt x="888" y="154"/>
                        </a:lnTo>
                        <a:lnTo>
                          <a:pt x="893" y="171"/>
                        </a:lnTo>
                        <a:lnTo>
                          <a:pt x="917" y="180"/>
                        </a:lnTo>
                        <a:lnTo>
                          <a:pt x="974" y="207"/>
                        </a:lnTo>
                        <a:lnTo>
                          <a:pt x="1007" y="194"/>
                        </a:lnTo>
                        <a:lnTo>
                          <a:pt x="1076" y="219"/>
                        </a:lnTo>
                        <a:lnTo>
                          <a:pt x="1089" y="238"/>
                        </a:lnTo>
                        <a:lnTo>
                          <a:pt x="1124" y="230"/>
                        </a:lnTo>
                        <a:lnTo>
                          <a:pt x="1147" y="234"/>
                        </a:lnTo>
                        <a:lnTo>
                          <a:pt x="1169" y="262"/>
                        </a:lnTo>
                        <a:lnTo>
                          <a:pt x="1180" y="320"/>
                        </a:lnTo>
                        <a:lnTo>
                          <a:pt x="1172" y="339"/>
                        </a:lnTo>
                        <a:lnTo>
                          <a:pt x="1158" y="334"/>
                        </a:lnTo>
                        <a:lnTo>
                          <a:pt x="1115" y="367"/>
                        </a:lnTo>
                        <a:lnTo>
                          <a:pt x="1044" y="379"/>
                        </a:lnTo>
                        <a:lnTo>
                          <a:pt x="1025" y="398"/>
                        </a:lnTo>
                        <a:lnTo>
                          <a:pt x="1039" y="418"/>
                        </a:lnTo>
                        <a:lnTo>
                          <a:pt x="1041" y="461"/>
                        </a:lnTo>
                        <a:lnTo>
                          <a:pt x="1061" y="465"/>
                        </a:lnTo>
                        <a:lnTo>
                          <a:pt x="1110" y="527"/>
                        </a:lnTo>
                        <a:lnTo>
                          <a:pt x="1112" y="608"/>
                        </a:lnTo>
                        <a:lnTo>
                          <a:pt x="1081" y="633"/>
                        </a:lnTo>
                        <a:lnTo>
                          <a:pt x="1051" y="603"/>
                        </a:lnTo>
                        <a:lnTo>
                          <a:pt x="1025" y="566"/>
                        </a:lnTo>
                        <a:lnTo>
                          <a:pt x="1021" y="543"/>
                        </a:lnTo>
                        <a:lnTo>
                          <a:pt x="1004" y="539"/>
                        </a:lnTo>
                        <a:lnTo>
                          <a:pt x="979" y="546"/>
                        </a:lnTo>
                        <a:lnTo>
                          <a:pt x="942" y="528"/>
                        </a:lnTo>
                        <a:lnTo>
                          <a:pt x="925" y="571"/>
                        </a:lnTo>
                        <a:lnTo>
                          <a:pt x="893" y="573"/>
                        </a:lnTo>
                        <a:lnTo>
                          <a:pt x="871" y="608"/>
                        </a:lnTo>
                        <a:lnTo>
                          <a:pt x="857" y="601"/>
                        </a:lnTo>
                        <a:lnTo>
                          <a:pt x="834" y="608"/>
                        </a:lnTo>
                        <a:lnTo>
                          <a:pt x="799" y="588"/>
                        </a:lnTo>
                        <a:lnTo>
                          <a:pt x="771" y="620"/>
                        </a:lnTo>
                        <a:lnTo>
                          <a:pt x="771" y="636"/>
                        </a:lnTo>
                        <a:lnTo>
                          <a:pt x="827" y="665"/>
                        </a:lnTo>
                        <a:lnTo>
                          <a:pt x="839" y="686"/>
                        </a:lnTo>
                        <a:lnTo>
                          <a:pt x="799" y="701"/>
                        </a:lnTo>
                        <a:lnTo>
                          <a:pt x="739" y="699"/>
                        </a:lnTo>
                        <a:lnTo>
                          <a:pt x="733" y="673"/>
                        </a:lnTo>
                        <a:lnTo>
                          <a:pt x="710" y="668"/>
                        </a:lnTo>
                        <a:lnTo>
                          <a:pt x="673" y="690"/>
                        </a:lnTo>
                        <a:lnTo>
                          <a:pt x="649" y="677"/>
                        </a:lnTo>
                        <a:lnTo>
                          <a:pt x="649" y="645"/>
                        </a:lnTo>
                        <a:lnTo>
                          <a:pt x="636" y="631"/>
                        </a:lnTo>
                        <a:lnTo>
                          <a:pt x="636" y="613"/>
                        </a:lnTo>
                        <a:lnTo>
                          <a:pt x="600" y="606"/>
                        </a:lnTo>
                        <a:lnTo>
                          <a:pt x="593" y="615"/>
                        </a:lnTo>
                        <a:lnTo>
                          <a:pt x="597" y="641"/>
                        </a:lnTo>
                        <a:lnTo>
                          <a:pt x="567" y="653"/>
                        </a:lnTo>
                        <a:lnTo>
                          <a:pt x="561" y="668"/>
                        </a:lnTo>
                        <a:lnTo>
                          <a:pt x="567" y="691"/>
                        </a:lnTo>
                        <a:lnTo>
                          <a:pt x="505" y="764"/>
                        </a:lnTo>
                        <a:lnTo>
                          <a:pt x="517" y="847"/>
                        </a:lnTo>
                        <a:lnTo>
                          <a:pt x="488" y="871"/>
                        </a:lnTo>
                        <a:lnTo>
                          <a:pt x="474" y="857"/>
                        </a:lnTo>
                        <a:lnTo>
                          <a:pt x="414" y="892"/>
                        </a:lnTo>
                        <a:lnTo>
                          <a:pt x="392" y="879"/>
                        </a:lnTo>
                        <a:lnTo>
                          <a:pt x="304" y="714"/>
                        </a:lnTo>
                        <a:lnTo>
                          <a:pt x="272" y="690"/>
                        </a:lnTo>
                        <a:lnTo>
                          <a:pt x="244" y="681"/>
                        </a:lnTo>
                        <a:lnTo>
                          <a:pt x="231" y="660"/>
                        </a:lnTo>
                        <a:lnTo>
                          <a:pt x="247" y="636"/>
                        </a:lnTo>
                        <a:lnTo>
                          <a:pt x="222" y="615"/>
                        </a:lnTo>
                        <a:lnTo>
                          <a:pt x="192" y="641"/>
                        </a:lnTo>
                        <a:lnTo>
                          <a:pt x="163" y="645"/>
                        </a:lnTo>
                        <a:lnTo>
                          <a:pt x="142" y="557"/>
                        </a:lnTo>
                        <a:lnTo>
                          <a:pt x="138" y="534"/>
                        </a:lnTo>
                        <a:lnTo>
                          <a:pt x="132" y="391"/>
                        </a:lnTo>
                        <a:lnTo>
                          <a:pt x="105" y="320"/>
                        </a:lnTo>
                        <a:lnTo>
                          <a:pt x="124" y="306"/>
                        </a:lnTo>
                        <a:lnTo>
                          <a:pt x="69" y="202"/>
                        </a:lnTo>
                        <a:lnTo>
                          <a:pt x="0" y="147"/>
                        </a:lnTo>
                        <a:lnTo>
                          <a:pt x="10" y="116"/>
                        </a:lnTo>
                        <a:lnTo>
                          <a:pt x="16" y="106"/>
                        </a:lnTo>
                        <a:lnTo>
                          <a:pt x="117" y="90"/>
                        </a:lnTo>
                        <a:lnTo>
                          <a:pt x="184" y="111"/>
                        </a:lnTo>
                        <a:lnTo>
                          <a:pt x="224" y="98"/>
                        </a:lnTo>
                        <a:lnTo>
                          <a:pt x="240" y="122"/>
                        </a:lnTo>
                        <a:lnTo>
                          <a:pt x="290" y="171"/>
                        </a:lnTo>
                        <a:lnTo>
                          <a:pt x="327" y="165"/>
                        </a:lnTo>
                        <a:lnTo>
                          <a:pt x="327" y="135"/>
                        </a:lnTo>
                        <a:lnTo>
                          <a:pt x="337" y="116"/>
                        </a:lnTo>
                        <a:lnTo>
                          <a:pt x="376" y="99"/>
                        </a:lnTo>
                        <a:lnTo>
                          <a:pt x="392" y="126"/>
                        </a:lnTo>
                        <a:lnTo>
                          <a:pt x="414" y="111"/>
                        </a:lnTo>
                        <a:lnTo>
                          <a:pt x="446" y="112"/>
                        </a:lnTo>
                        <a:lnTo>
                          <a:pt x="446" y="111"/>
                        </a:lnTo>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 name="Freeform 13"/>
                  <p:cNvSpPr/>
                  <p:nvPr/>
                </p:nvSpPr>
                <p:spPr bwMode="auto">
                  <a:xfrm>
                    <a:off x="1445610" y="3865661"/>
                    <a:ext cx="2035175" cy="1076325"/>
                  </a:xfrm>
                  <a:custGeom>
                    <a:avLst/>
                    <a:gdLst>
                      <a:gd name="T0" fmla="*/ 1132 w 1863"/>
                      <a:gd name="T1" fmla="*/ 958 h 1005"/>
                      <a:gd name="T2" fmla="*/ 1161 w 1863"/>
                      <a:gd name="T3" fmla="*/ 990 h 1005"/>
                      <a:gd name="T4" fmla="*/ 1256 w 1863"/>
                      <a:gd name="T5" fmla="*/ 958 h 1005"/>
                      <a:gd name="T6" fmla="*/ 1316 w 1863"/>
                      <a:gd name="T7" fmla="*/ 915 h 1005"/>
                      <a:gd name="T8" fmla="*/ 1386 w 1863"/>
                      <a:gd name="T9" fmla="*/ 887 h 1005"/>
                      <a:gd name="T10" fmla="*/ 1461 w 1863"/>
                      <a:gd name="T11" fmla="*/ 863 h 1005"/>
                      <a:gd name="T12" fmla="*/ 1582 w 1863"/>
                      <a:gd name="T13" fmla="*/ 843 h 1005"/>
                      <a:gd name="T14" fmla="*/ 1584 w 1863"/>
                      <a:gd name="T15" fmla="*/ 887 h 1005"/>
                      <a:gd name="T16" fmla="*/ 1622 w 1863"/>
                      <a:gd name="T17" fmla="*/ 895 h 1005"/>
                      <a:gd name="T18" fmla="*/ 1599 w 1863"/>
                      <a:gd name="T19" fmla="*/ 951 h 1005"/>
                      <a:gd name="T20" fmla="*/ 1622 w 1863"/>
                      <a:gd name="T21" fmla="*/ 958 h 1005"/>
                      <a:gd name="T22" fmla="*/ 1725 w 1863"/>
                      <a:gd name="T23" fmla="*/ 951 h 1005"/>
                      <a:gd name="T24" fmla="*/ 1787 w 1863"/>
                      <a:gd name="T25" fmla="*/ 971 h 1005"/>
                      <a:gd name="T26" fmla="*/ 1815 w 1863"/>
                      <a:gd name="T27" fmla="*/ 983 h 1005"/>
                      <a:gd name="T28" fmla="*/ 1820 w 1863"/>
                      <a:gd name="T29" fmla="*/ 915 h 1005"/>
                      <a:gd name="T30" fmla="*/ 1862 w 1863"/>
                      <a:gd name="T31" fmla="*/ 870 h 1005"/>
                      <a:gd name="T32" fmla="*/ 1829 w 1863"/>
                      <a:gd name="T33" fmla="*/ 655 h 1005"/>
                      <a:gd name="T34" fmla="*/ 1792 w 1863"/>
                      <a:gd name="T35" fmla="*/ 538 h 1005"/>
                      <a:gd name="T36" fmla="*/ 1703 w 1863"/>
                      <a:gd name="T37" fmla="*/ 495 h 1005"/>
                      <a:gd name="T38" fmla="*/ 1647 w 1863"/>
                      <a:gd name="T39" fmla="*/ 602 h 1005"/>
                      <a:gd name="T40" fmla="*/ 1540 w 1863"/>
                      <a:gd name="T41" fmla="*/ 547 h 1005"/>
                      <a:gd name="T42" fmla="*/ 1342 w 1863"/>
                      <a:gd name="T43" fmla="*/ 475 h 1005"/>
                      <a:gd name="T44" fmla="*/ 1260 w 1863"/>
                      <a:gd name="T45" fmla="*/ 463 h 1005"/>
                      <a:gd name="T46" fmla="*/ 1102 w 1863"/>
                      <a:gd name="T47" fmla="*/ 397 h 1005"/>
                      <a:gd name="T48" fmla="*/ 1026 w 1863"/>
                      <a:gd name="T49" fmla="*/ 214 h 1005"/>
                      <a:gd name="T50" fmla="*/ 1055 w 1863"/>
                      <a:gd name="T51" fmla="*/ 157 h 1005"/>
                      <a:gd name="T52" fmla="*/ 1054 w 1863"/>
                      <a:gd name="T53" fmla="*/ 78 h 1005"/>
                      <a:gd name="T54" fmla="*/ 1066 w 1863"/>
                      <a:gd name="T55" fmla="*/ 39 h 1005"/>
                      <a:gd name="T56" fmla="*/ 927 w 1863"/>
                      <a:gd name="T57" fmla="*/ 0 h 1005"/>
                      <a:gd name="T58" fmla="*/ 827 w 1863"/>
                      <a:gd name="T59" fmla="*/ 13 h 1005"/>
                      <a:gd name="T60" fmla="*/ 703 w 1863"/>
                      <a:gd name="T61" fmla="*/ 54 h 1005"/>
                      <a:gd name="T62" fmla="*/ 578 w 1863"/>
                      <a:gd name="T63" fmla="*/ 67 h 1005"/>
                      <a:gd name="T64" fmla="*/ 494 w 1863"/>
                      <a:gd name="T65" fmla="*/ 24 h 1005"/>
                      <a:gd name="T66" fmla="*/ 358 w 1863"/>
                      <a:gd name="T67" fmla="*/ 49 h 1005"/>
                      <a:gd name="T68" fmla="*/ 304 w 1863"/>
                      <a:gd name="T69" fmla="*/ 18 h 1005"/>
                      <a:gd name="T70" fmla="*/ 202 w 1863"/>
                      <a:gd name="T71" fmla="*/ 28 h 1005"/>
                      <a:gd name="T72" fmla="*/ 153 w 1863"/>
                      <a:gd name="T73" fmla="*/ 94 h 1005"/>
                      <a:gd name="T74" fmla="*/ 124 w 1863"/>
                      <a:gd name="T75" fmla="*/ 127 h 1005"/>
                      <a:gd name="T76" fmla="*/ 89 w 1863"/>
                      <a:gd name="T77" fmla="*/ 147 h 1005"/>
                      <a:gd name="T78" fmla="*/ 74 w 1863"/>
                      <a:gd name="T79" fmla="*/ 172 h 1005"/>
                      <a:gd name="T80" fmla="*/ 101 w 1863"/>
                      <a:gd name="T81" fmla="*/ 231 h 1005"/>
                      <a:gd name="T82" fmla="*/ 94 w 1863"/>
                      <a:gd name="T83" fmla="*/ 288 h 1005"/>
                      <a:gd name="T84" fmla="*/ 27 w 1863"/>
                      <a:gd name="T85" fmla="*/ 267 h 1005"/>
                      <a:gd name="T86" fmla="*/ 0 w 1863"/>
                      <a:gd name="T87" fmla="*/ 293 h 1005"/>
                      <a:gd name="T88" fmla="*/ 17 w 1863"/>
                      <a:gd name="T89" fmla="*/ 347 h 1005"/>
                      <a:gd name="T90" fmla="*/ 9 w 1863"/>
                      <a:gd name="T91" fmla="*/ 397 h 1005"/>
                      <a:gd name="T92" fmla="*/ 43 w 1863"/>
                      <a:gd name="T93" fmla="*/ 415 h 1005"/>
                      <a:gd name="T94" fmla="*/ 124 w 1863"/>
                      <a:gd name="T95" fmla="*/ 495 h 1005"/>
                      <a:gd name="T96" fmla="*/ 172 w 1863"/>
                      <a:gd name="T97" fmla="*/ 565 h 1005"/>
                      <a:gd name="T98" fmla="*/ 205 w 1863"/>
                      <a:gd name="T99" fmla="*/ 588 h 1005"/>
                      <a:gd name="T100" fmla="*/ 261 w 1863"/>
                      <a:gd name="T101" fmla="*/ 584 h 1005"/>
                      <a:gd name="T102" fmla="*/ 395 w 1863"/>
                      <a:gd name="T103" fmla="*/ 730 h 1005"/>
                      <a:gd name="T104" fmla="*/ 435 w 1863"/>
                      <a:gd name="T105" fmla="*/ 715 h 1005"/>
                      <a:gd name="T106" fmla="*/ 447 w 1863"/>
                      <a:gd name="T107" fmla="*/ 771 h 1005"/>
                      <a:gd name="T108" fmla="*/ 529 w 1863"/>
                      <a:gd name="T109" fmla="*/ 805 h 1005"/>
                      <a:gd name="T110" fmla="*/ 596 w 1863"/>
                      <a:gd name="T111" fmla="*/ 875 h 1005"/>
                      <a:gd name="T112" fmla="*/ 608 w 1863"/>
                      <a:gd name="T113" fmla="*/ 905 h 1005"/>
                      <a:gd name="T114" fmla="*/ 682 w 1863"/>
                      <a:gd name="T115" fmla="*/ 903 h 1005"/>
                      <a:gd name="T116" fmla="*/ 813 w 1863"/>
                      <a:gd name="T117" fmla="*/ 928 h 1005"/>
                      <a:gd name="T118" fmla="*/ 872 w 1863"/>
                      <a:gd name="T119" fmla="*/ 946 h 1005"/>
                      <a:gd name="T120" fmla="*/ 872 w 1863"/>
                      <a:gd name="T121" fmla="*/ 1004 h 1005"/>
                      <a:gd name="T122" fmla="*/ 984 w 1863"/>
                      <a:gd name="T123" fmla="*/ 918 h 1005"/>
                      <a:gd name="T124" fmla="*/ 1073 w 1863"/>
                      <a:gd name="T125" fmla="*/ 951 h 10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63" h="1005">
                        <a:moveTo>
                          <a:pt x="1073" y="951"/>
                        </a:moveTo>
                        <a:lnTo>
                          <a:pt x="1132" y="958"/>
                        </a:lnTo>
                        <a:lnTo>
                          <a:pt x="1151" y="985"/>
                        </a:lnTo>
                        <a:lnTo>
                          <a:pt x="1161" y="990"/>
                        </a:lnTo>
                        <a:lnTo>
                          <a:pt x="1250" y="973"/>
                        </a:lnTo>
                        <a:lnTo>
                          <a:pt x="1256" y="958"/>
                        </a:lnTo>
                        <a:lnTo>
                          <a:pt x="1272" y="948"/>
                        </a:lnTo>
                        <a:lnTo>
                          <a:pt x="1316" y="915"/>
                        </a:lnTo>
                        <a:lnTo>
                          <a:pt x="1353" y="910"/>
                        </a:lnTo>
                        <a:lnTo>
                          <a:pt x="1386" y="887"/>
                        </a:lnTo>
                        <a:lnTo>
                          <a:pt x="1452" y="850"/>
                        </a:lnTo>
                        <a:lnTo>
                          <a:pt x="1461" y="863"/>
                        </a:lnTo>
                        <a:lnTo>
                          <a:pt x="1510" y="880"/>
                        </a:lnTo>
                        <a:lnTo>
                          <a:pt x="1582" y="843"/>
                        </a:lnTo>
                        <a:lnTo>
                          <a:pt x="1604" y="858"/>
                        </a:lnTo>
                        <a:lnTo>
                          <a:pt x="1584" y="887"/>
                        </a:lnTo>
                        <a:lnTo>
                          <a:pt x="1592" y="895"/>
                        </a:lnTo>
                        <a:lnTo>
                          <a:pt x="1622" y="895"/>
                        </a:lnTo>
                        <a:lnTo>
                          <a:pt x="1624" y="907"/>
                        </a:lnTo>
                        <a:lnTo>
                          <a:pt x="1599" y="951"/>
                        </a:lnTo>
                        <a:lnTo>
                          <a:pt x="1607" y="958"/>
                        </a:lnTo>
                        <a:lnTo>
                          <a:pt x="1622" y="958"/>
                        </a:lnTo>
                        <a:lnTo>
                          <a:pt x="1694" y="978"/>
                        </a:lnTo>
                        <a:lnTo>
                          <a:pt x="1725" y="951"/>
                        </a:lnTo>
                        <a:lnTo>
                          <a:pt x="1772" y="988"/>
                        </a:lnTo>
                        <a:lnTo>
                          <a:pt x="1787" y="971"/>
                        </a:lnTo>
                        <a:lnTo>
                          <a:pt x="1799" y="983"/>
                        </a:lnTo>
                        <a:lnTo>
                          <a:pt x="1815" y="983"/>
                        </a:lnTo>
                        <a:lnTo>
                          <a:pt x="1821" y="971"/>
                        </a:lnTo>
                        <a:lnTo>
                          <a:pt x="1820" y="915"/>
                        </a:lnTo>
                        <a:lnTo>
                          <a:pt x="1832" y="907"/>
                        </a:lnTo>
                        <a:lnTo>
                          <a:pt x="1862" y="870"/>
                        </a:lnTo>
                        <a:lnTo>
                          <a:pt x="1856" y="727"/>
                        </a:lnTo>
                        <a:lnTo>
                          <a:pt x="1829" y="655"/>
                        </a:lnTo>
                        <a:lnTo>
                          <a:pt x="1848" y="641"/>
                        </a:lnTo>
                        <a:lnTo>
                          <a:pt x="1792" y="538"/>
                        </a:lnTo>
                        <a:lnTo>
                          <a:pt x="1722" y="482"/>
                        </a:lnTo>
                        <a:lnTo>
                          <a:pt x="1703" y="495"/>
                        </a:lnTo>
                        <a:lnTo>
                          <a:pt x="1706" y="528"/>
                        </a:lnTo>
                        <a:lnTo>
                          <a:pt x="1647" y="602"/>
                        </a:lnTo>
                        <a:lnTo>
                          <a:pt x="1547" y="584"/>
                        </a:lnTo>
                        <a:lnTo>
                          <a:pt x="1540" y="547"/>
                        </a:lnTo>
                        <a:lnTo>
                          <a:pt x="1478" y="497"/>
                        </a:lnTo>
                        <a:lnTo>
                          <a:pt x="1342" y="475"/>
                        </a:lnTo>
                        <a:lnTo>
                          <a:pt x="1283" y="465"/>
                        </a:lnTo>
                        <a:lnTo>
                          <a:pt x="1260" y="463"/>
                        </a:lnTo>
                        <a:lnTo>
                          <a:pt x="1209" y="420"/>
                        </a:lnTo>
                        <a:lnTo>
                          <a:pt x="1102" y="397"/>
                        </a:lnTo>
                        <a:lnTo>
                          <a:pt x="1028" y="253"/>
                        </a:lnTo>
                        <a:lnTo>
                          <a:pt x="1026" y="214"/>
                        </a:lnTo>
                        <a:lnTo>
                          <a:pt x="1055" y="201"/>
                        </a:lnTo>
                        <a:lnTo>
                          <a:pt x="1055" y="157"/>
                        </a:lnTo>
                        <a:lnTo>
                          <a:pt x="1078" y="103"/>
                        </a:lnTo>
                        <a:lnTo>
                          <a:pt x="1054" y="78"/>
                        </a:lnTo>
                        <a:lnTo>
                          <a:pt x="1085" y="51"/>
                        </a:lnTo>
                        <a:lnTo>
                          <a:pt x="1066" y="39"/>
                        </a:lnTo>
                        <a:lnTo>
                          <a:pt x="1016" y="39"/>
                        </a:lnTo>
                        <a:lnTo>
                          <a:pt x="927" y="0"/>
                        </a:lnTo>
                        <a:lnTo>
                          <a:pt x="872" y="0"/>
                        </a:lnTo>
                        <a:lnTo>
                          <a:pt x="827" y="13"/>
                        </a:lnTo>
                        <a:lnTo>
                          <a:pt x="778" y="13"/>
                        </a:lnTo>
                        <a:lnTo>
                          <a:pt x="703" y="54"/>
                        </a:lnTo>
                        <a:lnTo>
                          <a:pt x="640" y="46"/>
                        </a:lnTo>
                        <a:lnTo>
                          <a:pt x="578" y="67"/>
                        </a:lnTo>
                        <a:lnTo>
                          <a:pt x="526" y="51"/>
                        </a:lnTo>
                        <a:lnTo>
                          <a:pt x="494" y="24"/>
                        </a:lnTo>
                        <a:lnTo>
                          <a:pt x="413" y="13"/>
                        </a:lnTo>
                        <a:lnTo>
                          <a:pt x="358" y="49"/>
                        </a:lnTo>
                        <a:lnTo>
                          <a:pt x="328" y="37"/>
                        </a:lnTo>
                        <a:lnTo>
                          <a:pt x="304" y="18"/>
                        </a:lnTo>
                        <a:lnTo>
                          <a:pt x="244" y="1"/>
                        </a:lnTo>
                        <a:lnTo>
                          <a:pt x="202" y="28"/>
                        </a:lnTo>
                        <a:lnTo>
                          <a:pt x="184" y="76"/>
                        </a:lnTo>
                        <a:lnTo>
                          <a:pt x="153" y="94"/>
                        </a:lnTo>
                        <a:lnTo>
                          <a:pt x="146" y="120"/>
                        </a:lnTo>
                        <a:lnTo>
                          <a:pt x="124" y="127"/>
                        </a:lnTo>
                        <a:lnTo>
                          <a:pt x="99" y="124"/>
                        </a:lnTo>
                        <a:lnTo>
                          <a:pt x="89" y="147"/>
                        </a:lnTo>
                        <a:lnTo>
                          <a:pt x="83" y="175"/>
                        </a:lnTo>
                        <a:lnTo>
                          <a:pt x="74" y="172"/>
                        </a:lnTo>
                        <a:lnTo>
                          <a:pt x="71" y="201"/>
                        </a:lnTo>
                        <a:lnTo>
                          <a:pt x="101" y="231"/>
                        </a:lnTo>
                        <a:lnTo>
                          <a:pt x="104" y="273"/>
                        </a:lnTo>
                        <a:lnTo>
                          <a:pt x="94" y="288"/>
                        </a:lnTo>
                        <a:lnTo>
                          <a:pt x="49" y="293"/>
                        </a:lnTo>
                        <a:lnTo>
                          <a:pt x="27" y="267"/>
                        </a:lnTo>
                        <a:lnTo>
                          <a:pt x="4" y="273"/>
                        </a:lnTo>
                        <a:lnTo>
                          <a:pt x="0" y="293"/>
                        </a:lnTo>
                        <a:lnTo>
                          <a:pt x="11" y="323"/>
                        </a:lnTo>
                        <a:lnTo>
                          <a:pt x="17" y="347"/>
                        </a:lnTo>
                        <a:lnTo>
                          <a:pt x="17" y="374"/>
                        </a:lnTo>
                        <a:lnTo>
                          <a:pt x="9" y="397"/>
                        </a:lnTo>
                        <a:lnTo>
                          <a:pt x="11" y="411"/>
                        </a:lnTo>
                        <a:lnTo>
                          <a:pt x="43" y="415"/>
                        </a:lnTo>
                        <a:lnTo>
                          <a:pt x="57" y="441"/>
                        </a:lnTo>
                        <a:lnTo>
                          <a:pt x="124" y="495"/>
                        </a:lnTo>
                        <a:lnTo>
                          <a:pt x="124" y="510"/>
                        </a:lnTo>
                        <a:lnTo>
                          <a:pt x="172" y="565"/>
                        </a:lnTo>
                        <a:lnTo>
                          <a:pt x="189" y="584"/>
                        </a:lnTo>
                        <a:lnTo>
                          <a:pt x="205" y="588"/>
                        </a:lnTo>
                        <a:lnTo>
                          <a:pt x="233" y="559"/>
                        </a:lnTo>
                        <a:lnTo>
                          <a:pt x="261" y="584"/>
                        </a:lnTo>
                        <a:lnTo>
                          <a:pt x="375" y="679"/>
                        </a:lnTo>
                        <a:lnTo>
                          <a:pt x="395" y="730"/>
                        </a:lnTo>
                        <a:lnTo>
                          <a:pt x="421" y="730"/>
                        </a:lnTo>
                        <a:lnTo>
                          <a:pt x="435" y="715"/>
                        </a:lnTo>
                        <a:lnTo>
                          <a:pt x="447" y="727"/>
                        </a:lnTo>
                        <a:lnTo>
                          <a:pt x="447" y="771"/>
                        </a:lnTo>
                        <a:lnTo>
                          <a:pt x="513" y="808"/>
                        </a:lnTo>
                        <a:lnTo>
                          <a:pt x="529" y="805"/>
                        </a:lnTo>
                        <a:lnTo>
                          <a:pt x="538" y="843"/>
                        </a:lnTo>
                        <a:lnTo>
                          <a:pt x="596" y="875"/>
                        </a:lnTo>
                        <a:lnTo>
                          <a:pt x="596" y="898"/>
                        </a:lnTo>
                        <a:lnTo>
                          <a:pt x="608" y="905"/>
                        </a:lnTo>
                        <a:lnTo>
                          <a:pt x="657" y="903"/>
                        </a:lnTo>
                        <a:lnTo>
                          <a:pt x="682" y="903"/>
                        </a:lnTo>
                        <a:lnTo>
                          <a:pt x="724" y="931"/>
                        </a:lnTo>
                        <a:lnTo>
                          <a:pt x="813" y="928"/>
                        </a:lnTo>
                        <a:lnTo>
                          <a:pt x="860" y="927"/>
                        </a:lnTo>
                        <a:lnTo>
                          <a:pt x="872" y="946"/>
                        </a:lnTo>
                        <a:lnTo>
                          <a:pt x="860" y="988"/>
                        </a:lnTo>
                        <a:lnTo>
                          <a:pt x="872" y="1004"/>
                        </a:lnTo>
                        <a:lnTo>
                          <a:pt x="922" y="961"/>
                        </a:lnTo>
                        <a:lnTo>
                          <a:pt x="984" y="918"/>
                        </a:lnTo>
                        <a:lnTo>
                          <a:pt x="1028" y="923"/>
                        </a:lnTo>
                        <a:lnTo>
                          <a:pt x="1073" y="951"/>
                        </a:lnTo>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 name="Freeform 14"/>
                  <p:cNvSpPr/>
                  <p:nvPr/>
                </p:nvSpPr>
                <p:spPr bwMode="auto">
                  <a:xfrm>
                    <a:off x="4607910" y="3921224"/>
                    <a:ext cx="633413" cy="542925"/>
                  </a:xfrm>
                  <a:custGeom>
                    <a:avLst/>
                    <a:gdLst>
                      <a:gd name="T0" fmla="*/ 67 w 580"/>
                      <a:gd name="T1" fmla="*/ 352 h 507"/>
                      <a:gd name="T2" fmla="*/ 151 w 580"/>
                      <a:gd name="T3" fmla="*/ 423 h 507"/>
                      <a:gd name="T4" fmla="*/ 220 w 580"/>
                      <a:gd name="T5" fmla="*/ 437 h 507"/>
                      <a:gd name="T6" fmla="*/ 282 w 580"/>
                      <a:gd name="T7" fmla="*/ 430 h 507"/>
                      <a:gd name="T8" fmla="*/ 303 w 580"/>
                      <a:gd name="T9" fmla="*/ 437 h 507"/>
                      <a:gd name="T10" fmla="*/ 326 w 580"/>
                      <a:gd name="T11" fmla="*/ 425 h 507"/>
                      <a:gd name="T12" fmla="*/ 340 w 580"/>
                      <a:gd name="T13" fmla="*/ 443 h 507"/>
                      <a:gd name="T14" fmla="*/ 347 w 580"/>
                      <a:gd name="T15" fmla="*/ 465 h 507"/>
                      <a:gd name="T16" fmla="*/ 378 w 580"/>
                      <a:gd name="T17" fmla="*/ 480 h 507"/>
                      <a:gd name="T18" fmla="*/ 418 w 580"/>
                      <a:gd name="T19" fmla="*/ 480 h 507"/>
                      <a:gd name="T20" fmla="*/ 448 w 580"/>
                      <a:gd name="T21" fmla="*/ 506 h 507"/>
                      <a:gd name="T22" fmla="*/ 475 w 580"/>
                      <a:gd name="T23" fmla="*/ 494 h 507"/>
                      <a:gd name="T24" fmla="*/ 496 w 580"/>
                      <a:gd name="T25" fmla="*/ 506 h 507"/>
                      <a:gd name="T26" fmla="*/ 513 w 580"/>
                      <a:gd name="T27" fmla="*/ 471 h 507"/>
                      <a:gd name="T28" fmla="*/ 538 w 580"/>
                      <a:gd name="T29" fmla="*/ 460 h 507"/>
                      <a:gd name="T30" fmla="*/ 543 w 580"/>
                      <a:gd name="T31" fmla="*/ 432 h 507"/>
                      <a:gd name="T32" fmla="*/ 533 w 580"/>
                      <a:gd name="T33" fmla="*/ 382 h 507"/>
                      <a:gd name="T34" fmla="*/ 529 w 580"/>
                      <a:gd name="T35" fmla="*/ 378 h 507"/>
                      <a:gd name="T36" fmla="*/ 503 w 580"/>
                      <a:gd name="T37" fmla="*/ 405 h 507"/>
                      <a:gd name="T38" fmla="*/ 465 w 580"/>
                      <a:gd name="T39" fmla="*/ 374 h 507"/>
                      <a:gd name="T40" fmla="*/ 437 w 580"/>
                      <a:gd name="T41" fmla="*/ 340 h 507"/>
                      <a:gd name="T42" fmla="*/ 465 w 580"/>
                      <a:gd name="T43" fmla="*/ 320 h 507"/>
                      <a:gd name="T44" fmla="*/ 474 w 580"/>
                      <a:gd name="T45" fmla="*/ 286 h 507"/>
                      <a:gd name="T46" fmla="*/ 490 w 580"/>
                      <a:gd name="T47" fmla="*/ 274 h 507"/>
                      <a:gd name="T48" fmla="*/ 489 w 580"/>
                      <a:gd name="T49" fmla="*/ 227 h 507"/>
                      <a:gd name="T50" fmla="*/ 501 w 580"/>
                      <a:gd name="T51" fmla="*/ 217 h 507"/>
                      <a:gd name="T52" fmla="*/ 524 w 580"/>
                      <a:gd name="T53" fmla="*/ 235 h 507"/>
                      <a:gd name="T54" fmla="*/ 538 w 580"/>
                      <a:gd name="T55" fmla="*/ 254 h 507"/>
                      <a:gd name="T56" fmla="*/ 569 w 580"/>
                      <a:gd name="T57" fmla="*/ 235 h 507"/>
                      <a:gd name="T58" fmla="*/ 579 w 580"/>
                      <a:gd name="T59" fmla="*/ 223 h 507"/>
                      <a:gd name="T60" fmla="*/ 574 w 580"/>
                      <a:gd name="T61" fmla="*/ 199 h 507"/>
                      <a:gd name="T62" fmla="*/ 538 w 580"/>
                      <a:gd name="T63" fmla="*/ 181 h 507"/>
                      <a:gd name="T64" fmla="*/ 530 w 580"/>
                      <a:gd name="T65" fmla="*/ 155 h 507"/>
                      <a:gd name="T66" fmla="*/ 469 w 580"/>
                      <a:gd name="T67" fmla="*/ 164 h 507"/>
                      <a:gd name="T68" fmla="*/ 428 w 580"/>
                      <a:gd name="T69" fmla="*/ 131 h 507"/>
                      <a:gd name="T70" fmla="*/ 410 w 580"/>
                      <a:gd name="T71" fmla="*/ 127 h 507"/>
                      <a:gd name="T72" fmla="*/ 410 w 580"/>
                      <a:gd name="T73" fmla="*/ 103 h 507"/>
                      <a:gd name="T74" fmla="*/ 498 w 580"/>
                      <a:gd name="T75" fmla="*/ 9 h 507"/>
                      <a:gd name="T76" fmla="*/ 465 w 580"/>
                      <a:gd name="T77" fmla="*/ 17 h 507"/>
                      <a:gd name="T78" fmla="*/ 445 w 580"/>
                      <a:gd name="T79" fmla="*/ 28 h 507"/>
                      <a:gd name="T80" fmla="*/ 437 w 580"/>
                      <a:gd name="T81" fmla="*/ 17 h 507"/>
                      <a:gd name="T82" fmla="*/ 437 w 580"/>
                      <a:gd name="T83" fmla="*/ 4 h 507"/>
                      <a:gd name="T84" fmla="*/ 423 w 580"/>
                      <a:gd name="T85" fmla="*/ 0 h 507"/>
                      <a:gd name="T86" fmla="*/ 383 w 580"/>
                      <a:gd name="T87" fmla="*/ 14 h 507"/>
                      <a:gd name="T88" fmla="*/ 282 w 580"/>
                      <a:gd name="T89" fmla="*/ 2 h 507"/>
                      <a:gd name="T90" fmla="*/ 277 w 580"/>
                      <a:gd name="T91" fmla="*/ 82 h 507"/>
                      <a:gd name="T92" fmla="*/ 230 w 580"/>
                      <a:gd name="T93" fmla="*/ 121 h 507"/>
                      <a:gd name="T94" fmla="*/ 163 w 580"/>
                      <a:gd name="T95" fmla="*/ 131 h 507"/>
                      <a:gd name="T96" fmla="*/ 72 w 580"/>
                      <a:gd name="T97" fmla="*/ 190 h 507"/>
                      <a:gd name="T98" fmla="*/ 0 w 580"/>
                      <a:gd name="T99" fmla="*/ 211 h 507"/>
                      <a:gd name="T100" fmla="*/ 0 w 580"/>
                      <a:gd name="T101" fmla="*/ 223 h 507"/>
                      <a:gd name="T102" fmla="*/ 67 w 580"/>
                      <a:gd name="T103" fmla="*/ 322 h 507"/>
                      <a:gd name="T104" fmla="*/ 67 w 580"/>
                      <a:gd name="T105" fmla="*/ 352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80" h="507">
                        <a:moveTo>
                          <a:pt x="67" y="352"/>
                        </a:moveTo>
                        <a:lnTo>
                          <a:pt x="151" y="423"/>
                        </a:lnTo>
                        <a:lnTo>
                          <a:pt x="220" y="437"/>
                        </a:lnTo>
                        <a:lnTo>
                          <a:pt x="282" y="430"/>
                        </a:lnTo>
                        <a:lnTo>
                          <a:pt x="303" y="437"/>
                        </a:lnTo>
                        <a:lnTo>
                          <a:pt x="326" y="425"/>
                        </a:lnTo>
                        <a:lnTo>
                          <a:pt x="340" y="443"/>
                        </a:lnTo>
                        <a:lnTo>
                          <a:pt x="347" y="465"/>
                        </a:lnTo>
                        <a:lnTo>
                          <a:pt x="378" y="480"/>
                        </a:lnTo>
                        <a:lnTo>
                          <a:pt x="418" y="480"/>
                        </a:lnTo>
                        <a:lnTo>
                          <a:pt x="448" y="506"/>
                        </a:lnTo>
                        <a:lnTo>
                          <a:pt x="475" y="494"/>
                        </a:lnTo>
                        <a:lnTo>
                          <a:pt x="496" y="506"/>
                        </a:lnTo>
                        <a:lnTo>
                          <a:pt x="513" y="471"/>
                        </a:lnTo>
                        <a:lnTo>
                          <a:pt x="538" y="460"/>
                        </a:lnTo>
                        <a:lnTo>
                          <a:pt x="543" y="432"/>
                        </a:lnTo>
                        <a:lnTo>
                          <a:pt x="533" y="382"/>
                        </a:lnTo>
                        <a:lnTo>
                          <a:pt x="529" y="378"/>
                        </a:lnTo>
                        <a:lnTo>
                          <a:pt x="503" y="405"/>
                        </a:lnTo>
                        <a:lnTo>
                          <a:pt x="465" y="374"/>
                        </a:lnTo>
                        <a:lnTo>
                          <a:pt x="437" y="340"/>
                        </a:lnTo>
                        <a:lnTo>
                          <a:pt x="465" y="320"/>
                        </a:lnTo>
                        <a:lnTo>
                          <a:pt x="474" y="286"/>
                        </a:lnTo>
                        <a:lnTo>
                          <a:pt x="490" y="274"/>
                        </a:lnTo>
                        <a:lnTo>
                          <a:pt x="489" y="227"/>
                        </a:lnTo>
                        <a:lnTo>
                          <a:pt x="501" y="217"/>
                        </a:lnTo>
                        <a:lnTo>
                          <a:pt x="524" y="235"/>
                        </a:lnTo>
                        <a:lnTo>
                          <a:pt x="538" y="254"/>
                        </a:lnTo>
                        <a:lnTo>
                          <a:pt x="569" y="235"/>
                        </a:lnTo>
                        <a:lnTo>
                          <a:pt x="579" y="223"/>
                        </a:lnTo>
                        <a:lnTo>
                          <a:pt x="574" y="199"/>
                        </a:lnTo>
                        <a:lnTo>
                          <a:pt x="538" y="181"/>
                        </a:lnTo>
                        <a:lnTo>
                          <a:pt x="530" y="155"/>
                        </a:lnTo>
                        <a:lnTo>
                          <a:pt x="469" y="164"/>
                        </a:lnTo>
                        <a:lnTo>
                          <a:pt x="428" y="131"/>
                        </a:lnTo>
                        <a:lnTo>
                          <a:pt x="410" y="127"/>
                        </a:lnTo>
                        <a:lnTo>
                          <a:pt x="410" y="103"/>
                        </a:lnTo>
                        <a:lnTo>
                          <a:pt x="498" y="9"/>
                        </a:lnTo>
                        <a:lnTo>
                          <a:pt x="465" y="17"/>
                        </a:lnTo>
                        <a:lnTo>
                          <a:pt x="445" y="28"/>
                        </a:lnTo>
                        <a:lnTo>
                          <a:pt x="437" y="17"/>
                        </a:lnTo>
                        <a:lnTo>
                          <a:pt x="437" y="4"/>
                        </a:lnTo>
                        <a:lnTo>
                          <a:pt x="423" y="0"/>
                        </a:lnTo>
                        <a:lnTo>
                          <a:pt x="383" y="14"/>
                        </a:lnTo>
                        <a:lnTo>
                          <a:pt x="282" y="2"/>
                        </a:lnTo>
                        <a:lnTo>
                          <a:pt x="277" y="82"/>
                        </a:lnTo>
                        <a:lnTo>
                          <a:pt x="230" y="121"/>
                        </a:lnTo>
                        <a:lnTo>
                          <a:pt x="163" y="131"/>
                        </a:lnTo>
                        <a:lnTo>
                          <a:pt x="72" y="190"/>
                        </a:lnTo>
                        <a:lnTo>
                          <a:pt x="0" y="211"/>
                        </a:lnTo>
                        <a:lnTo>
                          <a:pt x="0" y="223"/>
                        </a:lnTo>
                        <a:lnTo>
                          <a:pt x="67" y="322"/>
                        </a:lnTo>
                        <a:lnTo>
                          <a:pt x="67" y="352"/>
                        </a:lnTo>
                      </a:path>
                    </a:pathLst>
                  </a:custGeom>
                  <a:grpFill/>
                  <a:ln w="12700" cap="flat" cmpd="sng">
                    <a:solidFill>
                      <a:srgbClr val="FF66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8" name="Freeform 15"/>
                  <p:cNvSpPr/>
                  <p:nvPr/>
                </p:nvSpPr>
                <p:spPr bwMode="auto">
                  <a:xfrm>
                    <a:off x="2571148" y="3594199"/>
                    <a:ext cx="1317625" cy="915987"/>
                  </a:xfrm>
                  <a:custGeom>
                    <a:avLst/>
                    <a:gdLst>
                      <a:gd name="T0" fmla="*/ 98 w 1202"/>
                      <a:gd name="T1" fmla="*/ 320 h 856"/>
                      <a:gd name="T2" fmla="*/ 154 w 1202"/>
                      <a:gd name="T3" fmla="*/ 281 h 856"/>
                      <a:gd name="T4" fmla="*/ 129 w 1202"/>
                      <a:gd name="T5" fmla="*/ 266 h 856"/>
                      <a:gd name="T6" fmla="*/ 166 w 1202"/>
                      <a:gd name="T7" fmla="*/ 232 h 856"/>
                      <a:gd name="T8" fmla="*/ 122 w 1202"/>
                      <a:gd name="T9" fmla="*/ 140 h 856"/>
                      <a:gd name="T10" fmla="*/ 149 w 1202"/>
                      <a:gd name="T11" fmla="*/ 56 h 856"/>
                      <a:gd name="T12" fmla="*/ 392 w 1202"/>
                      <a:gd name="T13" fmla="*/ 0 h 856"/>
                      <a:gd name="T14" fmla="*/ 539 w 1202"/>
                      <a:gd name="T15" fmla="*/ 31 h 856"/>
                      <a:gd name="T16" fmla="*/ 623 w 1202"/>
                      <a:gd name="T17" fmla="*/ 80 h 856"/>
                      <a:gd name="T18" fmla="*/ 705 w 1202"/>
                      <a:gd name="T19" fmla="*/ 49 h 856"/>
                      <a:gd name="T20" fmla="*/ 811 w 1202"/>
                      <a:gd name="T21" fmla="*/ 37 h 856"/>
                      <a:gd name="T22" fmla="*/ 944 w 1202"/>
                      <a:gd name="T23" fmla="*/ 73 h 856"/>
                      <a:gd name="T24" fmla="*/ 1028 w 1202"/>
                      <a:gd name="T25" fmla="*/ 169 h 856"/>
                      <a:gd name="T26" fmla="*/ 1103 w 1202"/>
                      <a:gd name="T27" fmla="*/ 197 h 856"/>
                      <a:gd name="T28" fmla="*/ 1175 w 1202"/>
                      <a:gd name="T29" fmla="*/ 329 h 856"/>
                      <a:gd name="T30" fmla="*/ 1193 w 1202"/>
                      <a:gd name="T31" fmla="*/ 423 h 856"/>
                      <a:gd name="T32" fmla="*/ 1154 w 1202"/>
                      <a:gd name="T33" fmla="*/ 484 h 856"/>
                      <a:gd name="T34" fmla="*/ 1108 w 1202"/>
                      <a:gd name="T35" fmla="*/ 526 h 856"/>
                      <a:gd name="T36" fmla="*/ 1088 w 1202"/>
                      <a:gd name="T37" fmla="*/ 587 h 856"/>
                      <a:gd name="T38" fmla="*/ 1037 w 1202"/>
                      <a:gd name="T39" fmla="*/ 557 h 856"/>
                      <a:gd name="T40" fmla="*/ 1040 w 1202"/>
                      <a:gd name="T41" fmla="*/ 601 h 856"/>
                      <a:gd name="T42" fmla="*/ 1117 w 1202"/>
                      <a:gd name="T43" fmla="*/ 643 h 856"/>
                      <a:gd name="T44" fmla="*/ 1156 w 1202"/>
                      <a:gd name="T45" fmla="*/ 663 h 856"/>
                      <a:gd name="T46" fmla="*/ 1141 w 1202"/>
                      <a:gd name="T47" fmla="*/ 700 h 856"/>
                      <a:gd name="T48" fmla="*/ 1088 w 1202"/>
                      <a:gd name="T49" fmla="*/ 713 h 856"/>
                      <a:gd name="T50" fmla="*/ 1033 w 1202"/>
                      <a:gd name="T51" fmla="*/ 703 h 856"/>
                      <a:gd name="T52" fmla="*/ 1023 w 1202"/>
                      <a:gd name="T53" fmla="*/ 753 h 856"/>
                      <a:gd name="T54" fmla="*/ 934 w 1202"/>
                      <a:gd name="T55" fmla="*/ 709 h 856"/>
                      <a:gd name="T56" fmla="*/ 880 w 1202"/>
                      <a:gd name="T57" fmla="*/ 699 h 856"/>
                      <a:gd name="T58" fmla="*/ 711 w 1202"/>
                      <a:gd name="T59" fmla="*/ 694 h 856"/>
                      <a:gd name="T60" fmla="*/ 695 w 1202"/>
                      <a:gd name="T61" fmla="*/ 735 h 856"/>
                      <a:gd name="T62" fmla="*/ 677 w 1202"/>
                      <a:gd name="T63" fmla="*/ 780 h 856"/>
                      <a:gd name="T64" fmla="*/ 519 w 1202"/>
                      <a:gd name="T65" fmla="*/ 835 h 856"/>
                      <a:gd name="T66" fmla="*/ 451 w 1202"/>
                      <a:gd name="T67" fmla="*/ 749 h 856"/>
                      <a:gd name="T68" fmla="*/ 256 w 1202"/>
                      <a:gd name="T69" fmla="*/ 718 h 856"/>
                      <a:gd name="T70" fmla="*/ 182 w 1202"/>
                      <a:gd name="T71" fmla="*/ 672 h 856"/>
                      <a:gd name="T72" fmla="*/ 1 w 1202"/>
                      <a:gd name="T73" fmla="*/ 506 h 856"/>
                      <a:gd name="T74" fmla="*/ 28 w 1202"/>
                      <a:gd name="T75" fmla="*/ 454 h 856"/>
                      <a:gd name="T76" fmla="*/ 51 w 1202"/>
                      <a:gd name="T77" fmla="*/ 356 h 856"/>
                      <a:gd name="T78" fmla="*/ 58 w 1202"/>
                      <a:gd name="T79" fmla="*/ 304 h 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02" h="856">
                        <a:moveTo>
                          <a:pt x="58" y="304"/>
                        </a:moveTo>
                        <a:lnTo>
                          <a:pt x="98" y="320"/>
                        </a:lnTo>
                        <a:lnTo>
                          <a:pt x="164" y="294"/>
                        </a:lnTo>
                        <a:lnTo>
                          <a:pt x="154" y="281"/>
                        </a:lnTo>
                        <a:lnTo>
                          <a:pt x="136" y="281"/>
                        </a:lnTo>
                        <a:lnTo>
                          <a:pt x="129" y="266"/>
                        </a:lnTo>
                        <a:lnTo>
                          <a:pt x="134" y="248"/>
                        </a:lnTo>
                        <a:lnTo>
                          <a:pt x="166" y="232"/>
                        </a:lnTo>
                        <a:lnTo>
                          <a:pt x="189" y="197"/>
                        </a:lnTo>
                        <a:lnTo>
                          <a:pt x="122" y="140"/>
                        </a:lnTo>
                        <a:lnTo>
                          <a:pt x="117" y="80"/>
                        </a:lnTo>
                        <a:lnTo>
                          <a:pt x="149" y="56"/>
                        </a:lnTo>
                        <a:lnTo>
                          <a:pt x="376" y="11"/>
                        </a:lnTo>
                        <a:lnTo>
                          <a:pt x="392" y="0"/>
                        </a:lnTo>
                        <a:lnTo>
                          <a:pt x="425" y="4"/>
                        </a:lnTo>
                        <a:lnTo>
                          <a:pt x="539" y="31"/>
                        </a:lnTo>
                        <a:lnTo>
                          <a:pt x="573" y="51"/>
                        </a:lnTo>
                        <a:lnTo>
                          <a:pt x="623" y="80"/>
                        </a:lnTo>
                        <a:lnTo>
                          <a:pt x="656" y="77"/>
                        </a:lnTo>
                        <a:lnTo>
                          <a:pt x="705" y="49"/>
                        </a:lnTo>
                        <a:lnTo>
                          <a:pt x="769" y="58"/>
                        </a:lnTo>
                        <a:lnTo>
                          <a:pt x="811" y="37"/>
                        </a:lnTo>
                        <a:lnTo>
                          <a:pt x="897" y="89"/>
                        </a:lnTo>
                        <a:lnTo>
                          <a:pt x="944" y="73"/>
                        </a:lnTo>
                        <a:lnTo>
                          <a:pt x="968" y="131"/>
                        </a:lnTo>
                        <a:lnTo>
                          <a:pt x="1028" y="169"/>
                        </a:lnTo>
                        <a:lnTo>
                          <a:pt x="1072" y="208"/>
                        </a:lnTo>
                        <a:lnTo>
                          <a:pt x="1103" y="197"/>
                        </a:lnTo>
                        <a:lnTo>
                          <a:pt x="1163" y="277"/>
                        </a:lnTo>
                        <a:lnTo>
                          <a:pt x="1175" y="329"/>
                        </a:lnTo>
                        <a:lnTo>
                          <a:pt x="1201" y="360"/>
                        </a:lnTo>
                        <a:lnTo>
                          <a:pt x="1193" y="423"/>
                        </a:lnTo>
                        <a:lnTo>
                          <a:pt x="1144" y="459"/>
                        </a:lnTo>
                        <a:lnTo>
                          <a:pt x="1154" y="484"/>
                        </a:lnTo>
                        <a:lnTo>
                          <a:pt x="1135" y="503"/>
                        </a:lnTo>
                        <a:lnTo>
                          <a:pt x="1108" y="526"/>
                        </a:lnTo>
                        <a:lnTo>
                          <a:pt x="1108" y="568"/>
                        </a:lnTo>
                        <a:lnTo>
                          <a:pt x="1088" y="587"/>
                        </a:lnTo>
                        <a:lnTo>
                          <a:pt x="1060" y="577"/>
                        </a:lnTo>
                        <a:lnTo>
                          <a:pt x="1037" y="557"/>
                        </a:lnTo>
                        <a:lnTo>
                          <a:pt x="1025" y="580"/>
                        </a:lnTo>
                        <a:lnTo>
                          <a:pt x="1040" y="601"/>
                        </a:lnTo>
                        <a:lnTo>
                          <a:pt x="1081" y="606"/>
                        </a:lnTo>
                        <a:lnTo>
                          <a:pt x="1117" y="643"/>
                        </a:lnTo>
                        <a:lnTo>
                          <a:pt x="1139" y="643"/>
                        </a:lnTo>
                        <a:lnTo>
                          <a:pt x="1156" y="663"/>
                        </a:lnTo>
                        <a:lnTo>
                          <a:pt x="1141" y="699"/>
                        </a:lnTo>
                        <a:lnTo>
                          <a:pt x="1141" y="700"/>
                        </a:lnTo>
                        <a:lnTo>
                          <a:pt x="1108" y="699"/>
                        </a:lnTo>
                        <a:lnTo>
                          <a:pt x="1088" y="713"/>
                        </a:lnTo>
                        <a:lnTo>
                          <a:pt x="1072" y="687"/>
                        </a:lnTo>
                        <a:lnTo>
                          <a:pt x="1033" y="703"/>
                        </a:lnTo>
                        <a:lnTo>
                          <a:pt x="1023" y="723"/>
                        </a:lnTo>
                        <a:lnTo>
                          <a:pt x="1023" y="753"/>
                        </a:lnTo>
                        <a:lnTo>
                          <a:pt x="985" y="759"/>
                        </a:lnTo>
                        <a:lnTo>
                          <a:pt x="934" y="709"/>
                        </a:lnTo>
                        <a:lnTo>
                          <a:pt x="919" y="685"/>
                        </a:lnTo>
                        <a:lnTo>
                          <a:pt x="880" y="699"/>
                        </a:lnTo>
                        <a:lnTo>
                          <a:pt x="813" y="677"/>
                        </a:lnTo>
                        <a:lnTo>
                          <a:pt x="711" y="694"/>
                        </a:lnTo>
                        <a:lnTo>
                          <a:pt x="705" y="703"/>
                        </a:lnTo>
                        <a:lnTo>
                          <a:pt x="695" y="735"/>
                        </a:lnTo>
                        <a:lnTo>
                          <a:pt x="675" y="748"/>
                        </a:lnTo>
                        <a:lnTo>
                          <a:pt x="677" y="780"/>
                        </a:lnTo>
                        <a:lnTo>
                          <a:pt x="619" y="855"/>
                        </a:lnTo>
                        <a:lnTo>
                          <a:pt x="519" y="835"/>
                        </a:lnTo>
                        <a:lnTo>
                          <a:pt x="512" y="798"/>
                        </a:lnTo>
                        <a:lnTo>
                          <a:pt x="451" y="749"/>
                        </a:lnTo>
                        <a:lnTo>
                          <a:pt x="314" y="727"/>
                        </a:lnTo>
                        <a:lnTo>
                          <a:pt x="256" y="718"/>
                        </a:lnTo>
                        <a:lnTo>
                          <a:pt x="233" y="715"/>
                        </a:lnTo>
                        <a:lnTo>
                          <a:pt x="182" y="672"/>
                        </a:lnTo>
                        <a:lnTo>
                          <a:pt x="76" y="648"/>
                        </a:lnTo>
                        <a:lnTo>
                          <a:pt x="1" y="506"/>
                        </a:lnTo>
                        <a:lnTo>
                          <a:pt x="0" y="467"/>
                        </a:lnTo>
                        <a:lnTo>
                          <a:pt x="28" y="454"/>
                        </a:lnTo>
                        <a:lnTo>
                          <a:pt x="28" y="410"/>
                        </a:lnTo>
                        <a:lnTo>
                          <a:pt x="51" y="356"/>
                        </a:lnTo>
                        <a:lnTo>
                          <a:pt x="27" y="330"/>
                        </a:lnTo>
                        <a:lnTo>
                          <a:pt x="58" y="304"/>
                        </a:lnTo>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 name="Freeform 16"/>
                  <p:cNvSpPr/>
                  <p:nvPr/>
                </p:nvSpPr>
                <p:spPr bwMode="auto">
                  <a:xfrm>
                    <a:off x="4036410" y="3618011"/>
                    <a:ext cx="271463" cy="474663"/>
                  </a:xfrm>
                  <a:custGeom>
                    <a:avLst/>
                    <a:gdLst>
                      <a:gd name="T0" fmla="*/ 232 w 252"/>
                      <a:gd name="T1" fmla="*/ 247 h 443"/>
                      <a:gd name="T2" fmla="*/ 236 w 252"/>
                      <a:gd name="T3" fmla="*/ 200 h 443"/>
                      <a:gd name="T4" fmla="*/ 251 w 252"/>
                      <a:gd name="T5" fmla="*/ 178 h 443"/>
                      <a:gd name="T6" fmla="*/ 246 w 252"/>
                      <a:gd name="T7" fmla="*/ 156 h 443"/>
                      <a:gd name="T8" fmla="*/ 165 w 252"/>
                      <a:gd name="T9" fmla="*/ 127 h 443"/>
                      <a:gd name="T10" fmla="*/ 174 w 252"/>
                      <a:gd name="T11" fmla="*/ 96 h 443"/>
                      <a:gd name="T12" fmla="*/ 196 w 252"/>
                      <a:gd name="T13" fmla="*/ 61 h 443"/>
                      <a:gd name="T14" fmla="*/ 181 w 252"/>
                      <a:gd name="T15" fmla="*/ 7 h 443"/>
                      <a:gd name="T16" fmla="*/ 174 w 252"/>
                      <a:gd name="T17" fmla="*/ 0 h 443"/>
                      <a:gd name="T18" fmla="*/ 124 w 252"/>
                      <a:gd name="T19" fmla="*/ 34 h 443"/>
                      <a:gd name="T20" fmla="*/ 102 w 252"/>
                      <a:gd name="T21" fmla="*/ 111 h 443"/>
                      <a:gd name="T22" fmla="*/ 91 w 252"/>
                      <a:gd name="T23" fmla="*/ 165 h 443"/>
                      <a:gd name="T24" fmla="*/ 52 w 252"/>
                      <a:gd name="T25" fmla="*/ 200 h 443"/>
                      <a:gd name="T26" fmla="*/ 28 w 252"/>
                      <a:gd name="T27" fmla="*/ 210 h 443"/>
                      <a:gd name="T28" fmla="*/ 0 w 252"/>
                      <a:gd name="T29" fmla="*/ 214 h 443"/>
                      <a:gd name="T30" fmla="*/ 63 w 252"/>
                      <a:gd name="T31" fmla="*/ 299 h 443"/>
                      <a:gd name="T32" fmla="*/ 80 w 252"/>
                      <a:gd name="T33" fmla="*/ 356 h 443"/>
                      <a:gd name="T34" fmla="*/ 72 w 252"/>
                      <a:gd name="T35" fmla="*/ 389 h 443"/>
                      <a:gd name="T36" fmla="*/ 115 w 252"/>
                      <a:gd name="T37" fmla="*/ 413 h 443"/>
                      <a:gd name="T38" fmla="*/ 115 w 252"/>
                      <a:gd name="T39" fmla="*/ 429 h 443"/>
                      <a:gd name="T40" fmla="*/ 156 w 252"/>
                      <a:gd name="T41" fmla="*/ 442 h 443"/>
                      <a:gd name="T42" fmla="*/ 169 w 252"/>
                      <a:gd name="T43" fmla="*/ 442 h 443"/>
                      <a:gd name="T44" fmla="*/ 169 w 252"/>
                      <a:gd name="T45" fmla="*/ 408 h 443"/>
                      <a:gd name="T46" fmla="*/ 200 w 252"/>
                      <a:gd name="T47" fmla="*/ 402 h 443"/>
                      <a:gd name="T48" fmla="*/ 210 w 252"/>
                      <a:gd name="T49" fmla="*/ 361 h 443"/>
                      <a:gd name="T50" fmla="*/ 186 w 252"/>
                      <a:gd name="T51" fmla="*/ 344 h 443"/>
                      <a:gd name="T52" fmla="*/ 169 w 252"/>
                      <a:gd name="T53" fmla="*/ 327 h 443"/>
                      <a:gd name="T54" fmla="*/ 176 w 252"/>
                      <a:gd name="T55" fmla="*/ 251 h 443"/>
                      <a:gd name="T56" fmla="*/ 192 w 252"/>
                      <a:gd name="T57" fmla="*/ 239 h 443"/>
                      <a:gd name="T58" fmla="*/ 223 w 252"/>
                      <a:gd name="T59" fmla="*/ 252 h 443"/>
                      <a:gd name="T60" fmla="*/ 232 w 252"/>
                      <a:gd name="T61" fmla="*/ 247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52" h="443">
                        <a:moveTo>
                          <a:pt x="232" y="247"/>
                        </a:moveTo>
                        <a:lnTo>
                          <a:pt x="236" y="200"/>
                        </a:lnTo>
                        <a:lnTo>
                          <a:pt x="251" y="178"/>
                        </a:lnTo>
                        <a:lnTo>
                          <a:pt x="246" y="156"/>
                        </a:lnTo>
                        <a:lnTo>
                          <a:pt x="165" y="127"/>
                        </a:lnTo>
                        <a:lnTo>
                          <a:pt x="174" y="96"/>
                        </a:lnTo>
                        <a:lnTo>
                          <a:pt x="196" y="61"/>
                        </a:lnTo>
                        <a:lnTo>
                          <a:pt x="181" y="7"/>
                        </a:lnTo>
                        <a:lnTo>
                          <a:pt x="174" y="0"/>
                        </a:lnTo>
                        <a:lnTo>
                          <a:pt x="124" y="34"/>
                        </a:lnTo>
                        <a:lnTo>
                          <a:pt x="102" y="111"/>
                        </a:lnTo>
                        <a:lnTo>
                          <a:pt x="91" y="165"/>
                        </a:lnTo>
                        <a:lnTo>
                          <a:pt x="52" y="200"/>
                        </a:lnTo>
                        <a:lnTo>
                          <a:pt x="28" y="210"/>
                        </a:lnTo>
                        <a:lnTo>
                          <a:pt x="0" y="214"/>
                        </a:lnTo>
                        <a:lnTo>
                          <a:pt x="63" y="299"/>
                        </a:lnTo>
                        <a:lnTo>
                          <a:pt x="80" y="356"/>
                        </a:lnTo>
                        <a:lnTo>
                          <a:pt x="72" y="389"/>
                        </a:lnTo>
                        <a:lnTo>
                          <a:pt x="115" y="413"/>
                        </a:lnTo>
                        <a:lnTo>
                          <a:pt x="115" y="429"/>
                        </a:lnTo>
                        <a:lnTo>
                          <a:pt x="156" y="442"/>
                        </a:lnTo>
                        <a:lnTo>
                          <a:pt x="169" y="442"/>
                        </a:lnTo>
                        <a:lnTo>
                          <a:pt x="169" y="408"/>
                        </a:lnTo>
                        <a:lnTo>
                          <a:pt x="200" y="402"/>
                        </a:lnTo>
                        <a:lnTo>
                          <a:pt x="210" y="361"/>
                        </a:lnTo>
                        <a:lnTo>
                          <a:pt x="186" y="344"/>
                        </a:lnTo>
                        <a:lnTo>
                          <a:pt x="169" y="327"/>
                        </a:lnTo>
                        <a:lnTo>
                          <a:pt x="176" y="251"/>
                        </a:lnTo>
                        <a:lnTo>
                          <a:pt x="192" y="239"/>
                        </a:lnTo>
                        <a:lnTo>
                          <a:pt x="223" y="252"/>
                        </a:lnTo>
                        <a:lnTo>
                          <a:pt x="232" y="247"/>
                        </a:lnTo>
                      </a:path>
                    </a:pathLst>
                  </a:custGeom>
                  <a:grpFill/>
                  <a:ln w="12700" cap="flat" cmpd="sng">
                    <a:solidFill>
                      <a:srgbClr val="FF66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 name="Freeform 17"/>
                  <p:cNvSpPr/>
                  <p:nvPr/>
                </p:nvSpPr>
                <p:spPr bwMode="auto">
                  <a:xfrm>
                    <a:off x="4861910" y="3148111"/>
                    <a:ext cx="557213" cy="785813"/>
                  </a:xfrm>
                  <a:custGeom>
                    <a:avLst/>
                    <a:gdLst>
                      <a:gd name="T0" fmla="*/ 201 w 507"/>
                      <a:gd name="T1" fmla="*/ 710 h 733"/>
                      <a:gd name="T2" fmla="*/ 243 w 507"/>
                      <a:gd name="T3" fmla="*/ 572 h 733"/>
                      <a:gd name="T4" fmla="*/ 336 w 507"/>
                      <a:gd name="T5" fmla="*/ 514 h 733"/>
                      <a:gd name="T6" fmla="*/ 359 w 507"/>
                      <a:gd name="T7" fmla="*/ 457 h 733"/>
                      <a:gd name="T8" fmla="*/ 317 w 507"/>
                      <a:gd name="T9" fmla="*/ 434 h 733"/>
                      <a:gd name="T10" fmla="*/ 268 w 507"/>
                      <a:gd name="T11" fmla="*/ 411 h 733"/>
                      <a:gd name="T12" fmla="*/ 242 w 507"/>
                      <a:gd name="T13" fmla="*/ 340 h 733"/>
                      <a:gd name="T14" fmla="*/ 195 w 507"/>
                      <a:gd name="T15" fmla="*/ 346 h 733"/>
                      <a:gd name="T16" fmla="*/ 146 w 507"/>
                      <a:gd name="T17" fmla="*/ 334 h 733"/>
                      <a:gd name="T18" fmla="*/ 183 w 507"/>
                      <a:gd name="T19" fmla="*/ 261 h 733"/>
                      <a:gd name="T20" fmla="*/ 221 w 507"/>
                      <a:gd name="T21" fmla="*/ 186 h 733"/>
                      <a:gd name="T22" fmla="*/ 293 w 507"/>
                      <a:gd name="T23" fmla="*/ 216 h 733"/>
                      <a:gd name="T24" fmla="*/ 318 w 507"/>
                      <a:gd name="T25" fmla="*/ 266 h 733"/>
                      <a:gd name="T26" fmla="*/ 324 w 507"/>
                      <a:gd name="T27" fmla="*/ 309 h 733"/>
                      <a:gd name="T28" fmla="*/ 364 w 507"/>
                      <a:gd name="T29" fmla="*/ 354 h 733"/>
                      <a:gd name="T30" fmla="*/ 464 w 507"/>
                      <a:gd name="T31" fmla="*/ 326 h 733"/>
                      <a:gd name="T32" fmla="*/ 506 w 507"/>
                      <a:gd name="T33" fmla="*/ 243 h 733"/>
                      <a:gd name="T34" fmla="*/ 455 w 507"/>
                      <a:gd name="T35" fmla="*/ 199 h 733"/>
                      <a:gd name="T36" fmla="*/ 428 w 507"/>
                      <a:gd name="T37" fmla="*/ 128 h 733"/>
                      <a:gd name="T38" fmla="*/ 336 w 507"/>
                      <a:gd name="T39" fmla="*/ 80 h 733"/>
                      <a:gd name="T40" fmla="*/ 286 w 507"/>
                      <a:gd name="T41" fmla="*/ 0 h 733"/>
                      <a:gd name="T42" fmla="*/ 221 w 507"/>
                      <a:gd name="T43" fmla="*/ 46 h 733"/>
                      <a:gd name="T44" fmla="*/ 224 w 507"/>
                      <a:gd name="T45" fmla="*/ 82 h 733"/>
                      <a:gd name="T46" fmla="*/ 163 w 507"/>
                      <a:gd name="T47" fmla="*/ 103 h 733"/>
                      <a:gd name="T48" fmla="*/ 129 w 507"/>
                      <a:gd name="T49" fmla="*/ 112 h 733"/>
                      <a:gd name="T50" fmla="*/ 73 w 507"/>
                      <a:gd name="T51" fmla="*/ 130 h 733"/>
                      <a:gd name="T52" fmla="*/ 58 w 507"/>
                      <a:gd name="T53" fmla="*/ 82 h 733"/>
                      <a:gd name="T54" fmla="*/ 9 w 507"/>
                      <a:gd name="T55" fmla="*/ 150 h 733"/>
                      <a:gd name="T56" fmla="*/ 32 w 507"/>
                      <a:gd name="T57" fmla="*/ 258 h 733"/>
                      <a:gd name="T58" fmla="*/ 58 w 507"/>
                      <a:gd name="T59" fmla="*/ 326 h 733"/>
                      <a:gd name="T60" fmla="*/ 68 w 507"/>
                      <a:gd name="T61" fmla="*/ 406 h 733"/>
                      <a:gd name="T62" fmla="*/ 7 w 507"/>
                      <a:gd name="T63" fmla="*/ 496 h 733"/>
                      <a:gd name="T64" fmla="*/ 65 w 507"/>
                      <a:gd name="T65" fmla="*/ 584 h 733"/>
                      <a:gd name="T66" fmla="*/ 45 w 507"/>
                      <a:gd name="T67" fmla="*/ 644 h 733"/>
                      <a:gd name="T68" fmla="*/ 23 w 507"/>
                      <a:gd name="T69" fmla="*/ 691 h 733"/>
                      <a:gd name="T70" fmla="*/ 143 w 507"/>
                      <a:gd name="T71" fmla="*/ 732 h 733"/>
                      <a:gd name="T72" fmla="*/ 197 w 507"/>
                      <a:gd name="T73" fmla="*/ 722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7" h="733">
                        <a:moveTo>
                          <a:pt x="197" y="722"/>
                        </a:moveTo>
                        <a:lnTo>
                          <a:pt x="201" y="710"/>
                        </a:lnTo>
                        <a:lnTo>
                          <a:pt x="185" y="681"/>
                        </a:lnTo>
                        <a:lnTo>
                          <a:pt x="243" y="572"/>
                        </a:lnTo>
                        <a:lnTo>
                          <a:pt x="297" y="524"/>
                        </a:lnTo>
                        <a:lnTo>
                          <a:pt x="336" y="514"/>
                        </a:lnTo>
                        <a:lnTo>
                          <a:pt x="374" y="466"/>
                        </a:lnTo>
                        <a:lnTo>
                          <a:pt x="359" y="457"/>
                        </a:lnTo>
                        <a:lnTo>
                          <a:pt x="345" y="423"/>
                        </a:lnTo>
                        <a:lnTo>
                          <a:pt x="317" y="434"/>
                        </a:lnTo>
                        <a:lnTo>
                          <a:pt x="270" y="423"/>
                        </a:lnTo>
                        <a:lnTo>
                          <a:pt x="268" y="411"/>
                        </a:lnTo>
                        <a:lnTo>
                          <a:pt x="266" y="331"/>
                        </a:lnTo>
                        <a:lnTo>
                          <a:pt x="242" y="340"/>
                        </a:lnTo>
                        <a:lnTo>
                          <a:pt x="227" y="356"/>
                        </a:lnTo>
                        <a:lnTo>
                          <a:pt x="195" y="346"/>
                        </a:lnTo>
                        <a:lnTo>
                          <a:pt x="153" y="354"/>
                        </a:lnTo>
                        <a:lnTo>
                          <a:pt x="146" y="334"/>
                        </a:lnTo>
                        <a:lnTo>
                          <a:pt x="151" y="297"/>
                        </a:lnTo>
                        <a:lnTo>
                          <a:pt x="183" y="261"/>
                        </a:lnTo>
                        <a:lnTo>
                          <a:pt x="190" y="218"/>
                        </a:lnTo>
                        <a:lnTo>
                          <a:pt x="221" y="186"/>
                        </a:lnTo>
                        <a:lnTo>
                          <a:pt x="279" y="216"/>
                        </a:lnTo>
                        <a:lnTo>
                          <a:pt x="293" y="216"/>
                        </a:lnTo>
                        <a:lnTo>
                          <a:pt x="303" y="258"/>
                        </a:lnTo>
                        <a:lnTo>
                          <a:pt x="318" y="266"/>
                        </a:lnTo>
                        <a:lnTo>
                          <a:pt x="327" y="292"/>
                        </a:lnTo>
                        <a:lnTo>
                          <a:pt x="324" y="309"/>
                        </a:lnTo>
                        <a:lnTo>
                          <a:pt x="359" y="334"/>
                        </a:lnTo>
                        <a:lnTo>
                          <a:pt x="364" y="354"/>
                        </a:lnTo>
                        <a:lnTo>
                          <a:pt x="393" y="366"/>
                        </a:lnTo>
                        <a:lnTo>
                          <a:pt x="464" y="326"/>
                        </a:lnTo>
                        <a:lnTo>
                          <a:pt x="464" y="304"/>
                        </a:lnTo>
                        <a:lnTo>
                          <a:pt x="506" y="243"/>
                        </a:lnTo>
                        <a:lnTo>
                          <a:pt x="476" y="201"/>
                        </a:lnTo>
                        <a:lnTo>
                          <a:pt x="455" y="199"/>
                        </a:lnTo>
                        <a:lnTo>
                          <a:pt x="413" y="172"/>
                        </a:lnTo>
                        <a:lnTo>
                          <a:pt x="428" y="128"/>
                        </a:lnTo>
                        <a:lnTo>
                          <a:pt x="364" y="123"/>
                        </a:lnTo>
                        <a:lnTo>
                          <a:pt x="336" y="80"/>
                        </a:lnTo>
                        <a:lnTo>
                          <a:pt x="340" y="60"/>
                        </a:lnTo>
                        <a:lnTo>
                          <a:pt x="286" y="0"/>
                        </a:lnTo>
                        <a:lnTo>
                          <a:pt x="251" y="18"/>
                        </a:lnTo>
                        <a:lnTo>
                          <a:pt x="221" y="46"/>
                        </a:lnTo>
                        <a:lnTo>
                          <a:pt x="232" y="68"/>
                        </a:lnTo>
                        <a:lnTo>
                          <a:pt x="224" y="82"/>
                        </a:lnTo>
                        <a:lnTo>
                          <a:pt x="183" y="85"/>
                        </a:lnTo>
                        <a:lnTo>
                          <a:pt x="163" y="103"/>
                        </a:lnTo>
                        <a:lnTo>
                          <a:pt x="146" y="94"/>
                        </a:lnTo>
                        <a:lnTo>
                          <a:pt x="129" y="112"/>
                        </a:lnTo>
                        <a:lnTo>
                          <a:pt x="89" y="142"/>
                        </a:lnTo>
                        <a:lnTo>
                          <a:pt x="73" y="130"/>
                        </a:lnTo>
                        <a:lnTo>
                          <a:pt x="73" y="90"/>
                        </a:lnTo>
                        <a:lnTo>
                          <a:pt x="58" y="82"/>
                        </a:lnTo>
                        <a:lnTo>
                          <a:pt x="37" y="92"/>
                        </a:lnTo>
                        <a:lnTo>
                          <a:pt x="9" y="150"/>
                        </a:lnTo>
                        <a:lnTo>
                          <a:pt x="0" y="204"/>
                        </a:lnTo>
                        <a:lnTo>
                          <a:pt x="32" y="258"/>
                        </a:lnTo>
                        <a:lnTo>
                          <a:pt x="58" y="283"/>
                        </a:lnTo>
                        <a:lnTo>
                          <a:pt x="58" y="326"/>
                        </a:lnTo>
                        <a:lnTo>
                          <a:pt x="75" y="363"/>
                        </a:lnTo>
                        <a:lnTo>
                          <a:pt x="68" y="406"/>
                        </a:lnTo>
                        <a:lnTo>
                          <a:pt x="27" y="432"/>
                        </a:lnTo>
                        <a:lnTo>
                          <a:pt x="7" y="496"/>
                        </a:lnTo>
                        <a:lnTo>
                          <a:pt x="41" y="536"/>
                        </a:lnTo>
                        <a:lnTo>
                          <a:pt x="65" y="584"/>
                        </a:lnTo>
                        <a:lnTo>
                          <a:pt x="50" y="609"/>
                        </a:lnTo>
                        <a:lnTo>
                          <a:pt x="45" y="644"/>
                        </a:lnTo>
                        <a:lnTo>
                          <a:pt x="32" y="666"/>
                        </a:lnTo>
                        <a:lnTo>
                          <a:pt x="23" y="691"/>
                        </a:lnTo>
                        <a:lnTo>
                          <a:pt x="45" y="720"/>
                        </a:lnTo>
                        <a:lnTo>
                          <a:pt x="143" y="732"/>
                        </a:lnTo>
                        <a:lnTo>
                          <a:pt x="183" y="717"/>
                        </a:lnTo>
                        <a:lnTo>
                          <a:pt x="197" y="722"/>
                        </a:lnTo>
                      </a:path>
                    </a:pathLst>
                  </a:custGeom>
                  <a:grpFill/>
                  <a:ln w="12700" cap="flat" cmpd="sng">
                    <a:solidFill>
                      <a:srgbClr val="FF66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 name="Freeform 18"/>
                  <p:cNvSpPr/>
                  <p:nvPr/>
                </p:nvSpPr>
                <p:spPr bwMode="auto">
                  <a:xfrm>
                    <a:off x="5154010" y="3424336"/>
                    <a:ext cx="114300" cy="184150"/>
                  </a:xfrm>
                  <a:custGeom>
                    <a:avLst/>
                    <a:gdLst>
                      <a:gd name="T0" fmla="*/ 86 w 105"/>
                      <a:gd name="T1" fmla="*/ 159 h 173"/>
                      <a:gd name="T2" fmla="*/ 60 w 105"/>
                      <a:gd name="T3" fmla="*/ 172 h 173"/>
                      <a:gd name="T4" fmla="*/ 14 w 105"/>
                      <a:gd name="T5" fmla="*/ 162 h 173"/>
                      <a:gd name="T6" fmla="*/ 3 w 105"/>
                      <a:gd name="T7" fmla="*/ 150 h 173"/>
                      <a:gd name="T8" fmla="*/ 0 w 105"/>
                      <a:gd name="T9" fmla="*/ 74 h 173"/>
                      <a:gd name="T10" fmla="*/ 41 w 105"/>
                      <a:gd name="T11" fmla="*/ 57 h 173"/>
                      <a:gd name="T12" fmla="*/ 37 w 105"/>
                      <a:gd name="T13" fmla="*/ 43 h 173"/>
                      <a:gd name="T14" fmla="*/ 44 w 105"/>
                      <a:gd name="T15" fmla="*/ 14 h 173"/>
                      <a:gd name="T16" fmla="*/ 47 w 105"/>
                      <a:gd name="T17" fmla="*/ 0 h 173"/>
                      <a:gd name="T18" fmla="*/ 62 w 105"/>
                      <a:gd name="T19" fmla="*/ 8 h 173"/>
                      <a:gd name="T20" fmla="*/ 69 w 105"/>
                      <a:gd name="T21" fmla="*/ 33 h 173"/>
                      <a:gd name="T22" fmla="*/ 66 w 105"/>
                      <a:gd name="T23" fmla="*/ 50 h 173"/>
                      <a:gd name="T24" fmla="*/ 99 w 105"/>
                      <a:gd name="T25" fmla="*/ 74 h 173"/>
                      <a:gd name="T26" fmla="*/ 104 w 105"/>
                      <a:gd name="T27" fmla="*/ 93 h 173"/>
                      <a:gd name="T28" fmla="*/ 86 w 105"/>
                      <a:gd name="T29" fmla="*/ 107 h 173"/>
                      <a:gd name="T30" fmla="*/ 78 w 105"/>
                      <a:gd name="T31" fmla="*/ 139 h 173"/>
                      <a:gd name="T32" fmla="*/ 86 w 105"/>
                      <a:gd name="T33" fmla="*/ 159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5" h="173">
                        <a:moveTo>
                          <a:pt x="86" y="159"/>
                        </a:moveTo>
                        <a:lnTo>
                          <a:pt x="60" y="172"/>
                        </a:lnTo>
                        <a:lnTo>
                          <a:pt x="14" y="162"/>
                        </a:lnTo>
                        <a:lnTo>
                          <a:pt x="3" y="150"/>
                        </a:lnTo>
                        <a:lnTo>
                          <a:pt x="0" y="74"/>
                        </a:lnTo>
                        <a:lnTo>
                          <a:pt x="41" y="57"/>
                        </a:lnTo>
                        <a:lnTo>
                          <a:pt x="37" y="43"/>
                        </a:lnTo>
                        <a:lnTo>
                          <a:pt x="44" y="14"/>
                        </a:lnTo>
                        <a:lnTo>
                          <a:pt x="47" y="0"/>
                        </a:lnTo>
                        <a:lnTo>
                          <a:pt x="62" y="8"/>
                        </a:lnTo>
                        <a:lnTo>
                          <a:pt x="69" y="33"/>
                        </a:lnTo>
                        <a:lnTo>
                          <a:pt x="66" y="50"/>
                        </a:lnTo>
                        <a:lnTo>
                          <a:pt x="99" y="74"/>
                        </a:lnTo>
                        <a:lnTo>
                          <a:pt x="104" y="93"/>
                        </a:lnTo>
                        <a:lnTo>
                          <a:pt x="86" y="107"/>
                        </a:lnTo>
                        <a:lnTo>
                          <a:pt x="78" y="139"/>
                        </a:lnTo>
                        <a:lnTo>
                          <a:pt x="86" y="159"/>
                        </a:lnTo>
                      </a:path>
                    </a:pathLst>
                  </a:custGeom>
                  <a:grpFill/>
                  <a:ln w="12700" cap="flat" cmpd="sng">
                    <a:solidFill>
                      <a:srgbClr val="FF66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 name="Freeform 19"/>
                  <p:cNvSpPr/>
                  <p:nvPr/>
                </p:nvSpPr>
                <p:spPr bwMode="auto">
                  <a:xfrm>
                    <a:off x="5019073" y="3344961"/>
                    <a:ext cx="180975" cy="182563"/>
                  </a:xfrm>
                  <a:custGeom>
                    <a:avLst/>
                    <a:gdLst>
                      <a:gd name="T0" fmla="*/ 125 w 164"/>
                      <a:gd name="T1" fmla="*/ 141 h 169"/>
                      <a:gd name="T2" fmla="*/ 124 w 164"/>
                      <a:gd name="T3" fmla="*/ 118 h 169"/>
                      <a:gd name="T4" fmla="*/ 117 w 164"/>
                      <a:gd name="T5" fmla="*/ 100 h 169"/>
                      <a:gd name="T6" fmla="*/ 159 w 164"/>
                      <a:gd name="T7" fmla="*/ 84 h 169"/>
                      <a:gd name="T8" fmla="*/ 163 w 164"/>
                      <a:gd name="T9" fmla="*/ 69 h 169"/>
                      <a:gd name="T10" fmla="*/ 152 w 164"/>
                      <a:gd name="T11" fmla="*/ 30 h 169"/>
                      <a:gd name="T12" fmla="*/ 139 w 164"/>
                      <a:gd name="T13" fmla="*/ 30 h 169"/>
                      <a:gd name="T14" fmla="*/ 74 w 164"/>
                      <a:gd name="T15" fmla="*/ 0 h 169"/>
                      <a:gd name="T16" fmla="*/ 47 w 164"/>
                      <a:gd name="T17" fmla="*/ 30 h 169"/>
                      <a:gd name="T18" fmla="*/ 35 w 164"/>
                      <a:gd name="T19" fmla="*/ 66 h 169"/>
                      <a:gd name="T20" fmla="*/ 5 w 164"/>
                      <a:gd name="T21" fmla="*/ 109 h 169"/>
                      <a:gd name="T22" fmla="*/ 0 w 164"/>
                      <a:gd name="T23" fmla="*/ 139 h 169"/>
                      <a:gd name="T24" fmla="*/ 11 w 164"/>
                      <a:gd name="T25" fmla="*/ 159 h 169"/>
                      <a:gd name="T26" fmla="*/ 57 w 164"/>
                      <a:gd name="T27" fmla="*/ 156 h 169"/>
                      <a:gd name="T28" fmla="*/ 81 w 164"/>
                      <a:gd name="T29" fmla="*/ 168 h 169"/>
                      <a:gd name="T30" fmla="*/ 103 w 164"/>
                      <a:gd name="T31" fmla="*/ 151 h 169"/>
                      <a:gd name="T32" fmla="*/ 125 w 164"/>
                      <a:gd name="T33" fmla="*/ 141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4" h="169">
                        <a:moveTo>
                          <a:pt x="125" y="141"/>
                        </a:moveTo>
                        <a:lnTo>
                          <a:pt x="124" y="118"/>
                        </a:lnTo>
                        <a:lnTo>
                          <a:pt x="117" y="100"/>
                        </a:lnTo>
                        <a:lnTo>
                          <a:pt x="159" y="84"/>
                        </a:lnTo>
                        <a:lnTo>
                          <a:pt x="163" y="69"/>
                        </a:lnTo>
                        <a:lnTo>
                          <a:pt x="152" y="30"/>
                        </a:lnTo>
                        <a:lnTo>
                          <a:pt x="139" y="30"/>
                        </a:lnTo>
                        <a:lnTo>
                          <a:pt x="74" y="0"/>
                        </a:lnTo>
                        <a:lnTo>
                          <a:pt x="47" y="30"/>
                        </a:lnTo>
                        <a:lnTo>
                          <a:pt x="35" y="66"/>
                        </a:lnTo>
                        <a:lnTo>
                          <a:pt x="5" y="109"/>
                        </a:lnTo>
                        <a:lnTo>
                          <a:pt x="0" y="139"/>
                        </a:lnTo>
                        <a:lnTo>
                          <a:pt x="11" y="159"/>
                        </a:lnTo>
                        <a:lnTo>
                          <a:pt x="57" y="156"/>
                        </a:lnTo>
                        <a:lnTo>
                          <a:pt x="81" y="168"/>
                        </a:lnTo>
                        <a:lnTo>
                          <a:pt x="103" y="151"/>
                        </a:lnTo>
                        <a:lnTo>
                          <a:pt x="125" y="141"/>
                        </a:lnTo>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3" name="Freeform 20"/>
                  <p:cNvSpPr/>
                  <p:nvPr/>
                </p:nvSpPr>
                <p:spPr bwMode="auto">
                  <a:xfrm>
                    <a:off x="4590448" y="3419574"/>
                    <a:ext cx="352425" cy="717550"/>
                  </a:xfrm>
                  <a:custGeom>
                    <a:avLst/>
                    <a:gdLst>
                      <a:gd name="T0" fmla="*/ 21 w 323"/>
                      <a:gd name="T1" fmla="*/ 671 h 672"/>
                      <a:gd name="T2" fmla="*/ 90 w 323"/>
                      <a:gd name="T3" fmla="*/ 650 h 672"/>
                      <a:gd name="T4" fmla="*/ 179 w 323"/>
                      <a:gd name="T5" fmla="*/ 592 h 672"/>
                      <a:gd name="T6" fmla="*/ 241 w 323"/>
                      <a:gd name="T7" fmla="*/ 580 h 672"/>
                      <a:gd name="T8" fmla="*/ 288 w 323"/>
                      <a:gd name="T9" fmla="*/ 542 h 672"/>
                      <a:gd name="T10" fmla="*/ 293 w 323"/>
                      <a:gd name="T11" fmla="*/ 462 h 672"/>
                      <a:gd name="T12" fmla="*/ 270 w 323"/>
                      <a:gd name="T13" fmla="*/ 433 h 672"/>
                      <a:gd name="T14" fmla="*/ 278 w 323"/>
                      <a:gd name="T15" fmla="*/ 406 h 672"/>
                      <a:gd name="T16" fmla="*/ 293 w 323"/>
                      <a:gd name="T17" fmla="*/ 386 h 672"/>
                      <a:gd name="T18" fmla="*/ 296 w 323"/>
                      <a:gd name="T19" fmla="*/ 351 h 672"/>
                      <a:gd name="T20" fmla="*/ 312 w 323"/>
                      <a:gd name="T21" fmla="*/ 326 h 672"/>
                      <a:gd name="T22" fmla="*/ 288 w 323"/>
                      <a:gd name="T23" fmla="*/ 278 h 672"/>
                      <a:gd name="T24" fmla="*/ 253 w 323"/>
                      <a:gd name="T25" fmla="*/ 238 h 672"/>
                      <a:gd name="T26" fmla="*/ 274 w 323"/>
                      <a:gd name="T27" fmla="*/ 174 h 672"/>
                      <a:gd name="T28" fmla="*/ 314 w 323"/>
                      <a:gd name="T29" fmla="*/ 148 h 672"/>
                      <a:gd name="T30" fmla="*/ 322 w 323"/>
                      <a:gd name="T31" fmla="*/ 105 h 672"/>
                      <a:gd name="T32" fmla="*/ 305 w 323"/>
                      <a:gd name="T33" fmla="*/ 68 h 672"/>
                      <a:gd name="T34" fmla="*/ 305 w 323"/>
                      <a:gd name="T35" fmla="*/ 25 h 672"/>
                      <a:gd name="T36" fmla="*/ 278 w 323"/>
                      <a:gd name="T37" fmla="*/ 0 h 672"/>
                      <a:gd name="T38" fmla="*/ 215 w 323"/>
                      <a:gd name="T39" fmla="*/ 32 h 672"/>
                      <a:gd name="T40" fmla="*/ 205 w 323"/>
                      <a:gd name="T41" fmla="*/ 22 h 672"/>
                      <a:gd name="T42" fmla="*/ 172 w 323"/>
                      <a:gd name="T43" fmla="*/ 48 h 672"/>
                      <a:gd name="T44" fmla="*/ 144 w 323"/>
                      <a:gd name="T45" fmla="*/ 45 h 672"/>
                      <a:gd name="T46" fmla="*/ 90 w 323"/>
                      <a:gd name="T47" fmla="*/ 123 h 672"/>
                      <a:gd name="T48" fmla="*/ 75 w 323"/>
                      <a:gd name="T49" fmla="*/ 123 h 672"/>
                      <a:gd name="T50" fmla="*/ 45 w 323"/>
                      <a:gd name="T51" fmla="*/ 148 h 672"/>
                      <a:gd name="T52" fmla="*/ 47 w 323"/>
                      <a:gd name="T53" fmla="*/ 181 h 672"/>
                      <a:gd name="T54" fmla="*/ 33 w 323"/>
                      <a:gd name="T55" fmla="*/ 211 h 672"/>
                      <a:gd name="T56" fmla="*/ 28 w 323"/>
                      <a:gd name="T57" fmla="*/ 252 h 672"/>
                      <a:gd name="T58" fmla="*/ 2 w 323"/>
                      <a:gd name="T59" fmla="*/ 292 h 672"/>
                      <a:gd name="T60" fmla="*/ 31 w 323"/>
                      <a:gd name="T61" fmla="*/ 351 h 672"/>
                      <a:gd name="T62" fmla="*/ 21 w 323"/>
                      <a:gd name="T63" fmla="*/ 386 h 672"/>
                      <a:gd name="T64" fmla="*/ 0 w 323"/>
                      <a:gd name="T65" fmla="*/ 423 h 672"/>
                      <a:gd name="T66" fmla="*/ 31 w 323"/>
                      <a:gd name="T67" fmla="*/ 567 h 672"/>
                      <a:gd name="T68" fmla="*/ 10 w 323"/>
                      <a:gd name="T69" fmla="*/ 640 h 672"/>
                      <a:gd name="T70" fmla="*/ 21 w 323"/>
                      <a:gd name="T71" fmla="*/ 671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3" h="672">
                        <a:moveTo>
                          <a:pt x="21" y="671"/>
                        </a:moveTo>
                        <a:lnTo>
                          <a:pt x="90" y="650"/>
                        </a:lnTo>
                        <a:lnTo>
                          <a:pt x="179" y="592"/>
                        </a:lnTo>
                        <a:lnTo>
                          <a:pt x="241" y="580"/>
                        </a:lnTo>
                        <a:lnTo>
                          <a:pt x="288" y="542"/>
                        </a:lnTo>
                        <a:lnTo>
                          <a:pt x="293" y="462"/>
                        </a:lnTo>
                        <a:lnTo>
                          <a:pt x="270" y="433"/>
                        </a:lnTo>
                        <a:lnTo>
                          <a:pt x="278" y="406"/>
                        </a:lnTo>
                        <a:lnTo>
                          <a:pt x="293" y="386"/>
                        </a:lnTo>
                        <a:lnTo>
                          <a:pt x="296" y="351"/>
                        </a:lnTo>
                        <a:lnTo>
                          <a:pt x="312" y="326"/>
                        </a:lnTo>
                        <a:lnTo>
                          <a:pt x="288" y="278"/>
                        </a:lnTo>
                        <a:lnTo>
                          <a:pt x="253" y="238"/>
                        </a:lnTo>
                        <a:lnTo>
                          <a:pt x="274" y="174"/>
                        </a:lnTo>
                        <a:lnTo>
                          <a:pt x="314" y="148"/>
                        </a:lnTo>
                        <a:lnTo>
                          <a:pt x="322" y="105"/>
                        </a:lnTo>
                        <a:lnTo>
                          <a:pt x="305" y="68"/>
                        </a:lnTo>
                        <a:lnTo>
                          <a:pt x="305" y="25"/>
                        </a:lnTo>
                        <a:lnTo>
                          <a:pt x="278" y="0"/>
                        </a:lnTo>
                        <a:lnTo>
                          <a:pt x="215" y="32"/>
                        </a:lnTo>
                        <a:lnTo>
                          <a:pt x="205" y="22"/>
                        </a:lnTo>
                        <a:lnTo>
                          <a:pt x="172" y="48"/>
                        </a:lnTo>
                        <a:lnTo>
                          <a:pt x="144" y="45"/>
                        </a:lnTo>
                        <a:lnTo>
                          <a:pt x="90" y="123"/>
                        </a:lnTo>
                        <a:lnTo>
                          <a:pt x="75" y="123"/>
                        </a:lnTo>
                        <a:lnTo>
                          <a:pt x="45" y="148"/>
                        </a:lnTo>
                        <a:lnTo>
                          <a:pt x="47" y="181"/>
                        </a:lnTo>
                        <a:lnTo>
                          <a:pt x="33" y="211"/>
                        </a:lnTo>
                        <a:lnTo>
                          <a:pt x="28" y="252"/>
                        </a:lnTo>
                        <a:lnTo>
                          <a:pt x="2" y="292"/>
                        </a:lnTo>
                        <a:lnTo>
                          <a:pt x="31" y="351"/>
                        </a:lnTo>
                        <a:lnTo>
                          <a:pt x="21" y="386"/>
                        </a:lnTo>
                        <a:lnTo>
                          <a:pt x="0" y="423"/>
                        </a:lnTo>
                        <a:lnTo>
                          <a:pt x="31" y="567"/>
                        </a:lnTo>
                        <a:lnTo>
                          <a:pt x="10" y="640"/>
                        </a:lnTo>
                        <a:lnTo>
                          <a:pt x="21" y="671"/>
                        </a:lnTo>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4" name="Freeform 21"/>
                  <p:cNvSpPr/>
                  <p:nvPr/>
                </p:nvSpPr>
                <p:spPr bwMode="auto">
                  <a:xfrm>
                    <a:off x="5155598" y="3437036"/>
                    <a:ext cx="41275" cy="58738"/>
                  </a:xfrm>
                  <a:custGeom>
                    <a:avLst/>
                    <a:gdLst>
                      <a:gd name="T0" fmla="*/ 37 w 38"/>
                      <a:gd name="T1" fmla="*/ 0 h 53"/>
                      <a:gd name="T2" fmla="*/ 31 w 38"/>
                      <a:gd name="T3" fmla="*/ 27 h 53"/>
                      <a:gd name="T4" fmla="*/ 34 w 38"/>
                      <a:gd name="T5" fmla="*/ 39 h 53"/>
                      <a:gd name="T6" fmla="*/ 8 w 38"/>
                      <a:gd name="T7" fmla="*/ 52 h 53"/>
                      <a:gd name="T8" fmla="*/ 5 w 38"/>
                      <a:gd name="T9" fmla="*/ 30 h 53"/>
                      <a:gd name="T10" fmla="*/ 0 w 38"/>
                      <a:gd name="T11" fmla="*/ 15 h 53"/>
                      <a:gd name="T12" fmla="*/ 37 w 38"/>
                      <a:gd name="T13" fmla="*/ 0 h 53"/>
                    </a:gdLst>
                    <a:ahLst/>
                    <a:cxnLst>
                      <a:cxn ang="0">
                        <a:pos x="T0" y="T1"/>
                      </a:cxn>
                      <a:cxn ang="0">
                        <a:pos x="T2" y="T3"/>
                      </a:cxn>
                      <a:cxn ang="0">
                        <a:pos x="T4" y="T5"/>
                      </a:cxn>
                      <a:cxn ang="0">
                        <a:pos x="T6" y="T7"/>
                      </a:cxn>
                      <a:cxn ang="0">
                        <a:pos x="T8" y="T9"/>
                      </a:cxn>
                      <a:cxn ang="0">
                        <a:pos x="T10" y="T11"/>
                      </a:cxn>
                      <a:cxn ang="0">
                        <a:pos x="T12" y="T13"/>
                      </a:cxn>
                    </a:cxnLst>
                    <a:rect l="0" t="0" r="r" b="b"/>
                    <a:pathLst>
                      <a:path w="38" h="53">
                        <a:moveTo>
                          <a:pt x="37" y="0"/>
                        </a:moveTo>
                        <a:lnTo>
                          <a:pt x="31" y="27"/>
                        </a:lnTo>
                        <a:lnTo>
                          <a:pt x="34" y="39"/>
                        </a:lnTo>
                        <a:lnTo>
                          <a:pt x="8" y="52"/>
                        </a:lnTo>
                        <a:lnTo>
                          <a:pt x="5" y="30"/>
                        </a:lnTo>
                        <a:lnTo>
                          <a:pt x="0" y="15"/>
                        </a:lnTo>
                        <a:lnTo>
                          <a:pt x="37" y="0"/>
                        </a:lnTo>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5" name="Freeform 22"/>
                  <p:cNvSpPr/>
                  <p:nvPr/>
                </p:nvSpPr>
                <p:spPr bwMode="auto">
                  <a:xfrm>
                    <a:off x="5127023" y="5518249"/>
                    <a:ext cx="79375" cy="55562"/>
                  </a:xfrm>
                  <a:custGeom>
                    <a:avLst/>
                    <a:gdLst>
                      <a:gd name="T0" fmla="*/ 4 w 72"/>
                      <a:gd name="T1" fmla="*/ 13 h 49"/>
                      <a:gd name="T2" fmla="*/ 30 w 72"/>
                      <a:gd name="T3" fmla="*/ 18 h 49"/>
                      <a:gd name="T4" fmla="*/ 57 w 72"/>
                      <a:gd name="T5" fmla="*/ 0 h 49"/>
                      <a:gd name="T6" fmla="*/ 71 w 72"/>
                      <a:gd name="T7" fmla="*/ 36 h 49"/>
                      <a:gd name="T8" fmla="*/ 42 w 72"/>
                      <a:gd name="T9" fmla="*/ 48 h 49"/>
                      <a:gd name="T10" fmla="*/ 6 w 72"/>
                      <a:gd name="T11" fmla="*/ 45 h 49"/>
                      <a:gd name="T12" fmla="*/ 0 w 72"/>
                      <a:gd name="T13" fmla="*/ 18 h 49"/>
                      <a:gd name="T14" fmla="*/ 4 w 72"/>
                      <a:gd name="T15" fmla="*/ 13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49">
                        <a:moveTo>
                          <a:pt x="4" y="13"/>
                        </a:moveTo>
                        <a:lnTo>
                          <a:pt x="30" y="18"/>
                        </a:lnTo>
                        <a:lnTo>
                          <a:pt x="57" y="0"/>
                        </a:lnTo>
                        <a:lnTo>
                          <a:pt x="71" y="36"/>
                        </a:lnTo>
                        <a:lnTo>
                          <a:pt x="42" y="48"/>
                        </a:lnTo>
                        <a:lnTo>
                          <a:pt x="6" y="45"/>
                        </a:lnTo>
                        <a:lnTo>
                          <a:pt x="0" y="18"/>
                        </a:lnTo>
                        <a:lnTo>
                          <a:pt x="4" y="13"/>
                        </a:lnTo>
                      </a:path>
                    </a:pathLst>
                  </a:custGeom>
                  <a:grpFill/>
                  <a:ln w="12700" cap="flat" cmpd="sng">
                    <a:solidFill>
                      <a:srgbClr val="FF66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6" name="Freeform 23"/>
                  <p:cNvSpPr/>
                  <p:nvPr/>
                </p:nvSpPr>
                <p:spPr bwMode="auto">
                  <a:xfrm>
                    <a:off x="4666648" y="5167411"/>
                    <a:ext cx="798512" cy="646113"/>
                  </a:xfrm>
                  <a:custGeom>
                    <a:avLst/>
                    <a:gdLst>
                      <a:gd name="T0" fmla="*/ 214 w 729"/>
                      <a:gd name="T1" fmla="*/ 87 h 604"/>
                      <a:gd name="T2" fmla="*/ 224 w 729"/>
                      <a:gd name="T3" fmla="*/ 49 h 604"/>
                      <a:gd name="T4" fmla="*/ 291 w 729"/>
                      <a:gd name="T5" fmla="*/ 70 h 604"/>
                      <a:gd name="T6" fmla="*/ 289 w 729"/>
                      <a:gd name="T7" fmla="*/ 39 h 604"/>
                      <a:gd name="T8" fmla="*/ 317 w 729"/>
                      <a:gd name="T9" fmla="*/ 4 h 604"/>
                      <a:gd name="T10" fmla="*/ 392 w 729"/>
                      <a:gd name="T11" fmla="*/ 0 h 604"/>
                      <a:gd name="T12" fmla="*/ 458 w 729"/>
                      <a:gd name="T13" fmla="*/ 7 h 604"/>
                      <a:gd name="T14" fmla="*/ 452 w 729"/>
                      <a:gd name="T15" fmla="*/ 44 h 604"/>
                      <a:gd name="T16" fmla="*/ 426 w 729"/>
                      <a:gd name="T17" fmla="*/ 89 h 604"/>
                      <a:gd name="T18" fmla="*/ 542 w 729"/>
                      <a:gd name="T19" fmla="*/ 59 h 604"/>
                      <a:gd name="T20" fmla="*/ 585 w 729"/>
                      <a:gd name="T21" fmla="*/ 70 h 604"/>
                      <a:gd name="T22" fmla="*/ 578 w 729"/>
                      <a:gd name="T23" fmla="*/ 34 h 604"/>
                      <a:gd name="T24" fmla="*/ 654 w 729"/>
                      <a:gd name="T25" fmla="*/ 57 h 604"/>
                      <a:gd name="T26" fmla="*/ 698 w 729"/>
                      <a:gd name="T27" fmla="*/ 89 h 604"/>
                      <a:gd name="T28" fmla="*/ 708 w 729"/>
                      <a:gd name="T29" fmla="*/ 167 h 604"/>
                      <a:gd name="T30" fmla="*/ 675 w 729"/>
                      <a:gd name="T31" fmla="*/ 206 h 604"/>
                      <a:gd name="T32" fmla="*/ 612 w 729"/>
                      <a:gd name="T33" fmla="*/ 258 h 604"/>
                      <a:gd name="T34" fmla="*/ 580 w 729"/>
                      <a:gd name="T35" fmla="*/ 268 h 604"/>
                      <a:gd name="T36" fmla="*/ 566 w 729"/>
                      <a:gd name="T37" fmla="*/ 275 h 604"/>
                      <a:gd name="T38" fmla="*/ 514 w 729"/>
                      <a:gd name="T39" fmla="*/ 293 h 604"/>
                      <a:gd name="T40" fmla="*/ 474 w 729"/>
                      <a:gd name="T41" fmla="*/ 296 h 604"/>
                      <a:gd name="T42" fmla="*/ 376 w 729"/>
                      <a:gd name="T43" fmla="*/ 285 h 604"/>
                      <a:gd name="T44" fmla="*/ 389 w 729"/>
                      <a:gd name="T45" fmla="*/ 354 h 604"/>
                      <a:gd name="T46" fmla="*/ 327 w 729"/>
                      <a:gd name="T47" fmla="*/ 399 h 604"/>
                      <a:gd name="T48" fmla="*/ 263 w 729"/>
                      <a:gd name="T49" fmla="*/ 418 h 604"/>
                      <a:gd name="T50" fmla="*/ 189 w 729"/>
                      <a:gd name="T51" fmla="*/ 450 h 604"/>
                      <a:gd name="T52" fmla="*/ 70 w 729"/>
                      <a:gd name="T53" fmla="*/ 502 h 604"/>
                      <a:gd name="T54" fmla="*/ 88 w 729"/>
                      <a:gd name="T55" fmla="*/ 582 h 604"/>
                      <a:gd name="T56" fmla="*/ 35 w 729"/>
                      <a:gd name="T57" fmla="*/ 599 h 604"/>
                      <a:gd name="T58" fmla="*/ 8 w 729"/>
                      <a:gd name="T59" fmla="*/ 491 h 604"/>
                      <a:gd name="T60" fmla="*/ 33 w 729"/>
                      <a:gd name="T61" fmla="*/ 431 h 604"/>
                      <a:gd name="T62" fmla="*/ 61 w 729"/>
                      <a:gd name="T63" fmla="*/ 403 h 604"/>
                      <a:gd name="T64" fmla="*/ 98 w 729"/>
                      <a:gd name="T65" fmla="*/ 352 h 604"/>
                      <a:gd name="T66" fmla="*/ 153 w 729"/>
                      <a:gd name="T67" fmla="*/ 246 h 604"/>
                      <a:gd name="T68" fmla="*/ 194 w 729"/>
                      <a:gd name="T69" fmla="*/ 170 h 604"/>
                      <a:gd name="T70" fmla="*/ 194 w 729"/>
                      <a:gd name="T71" fmla="*/ 103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29" h="604">
                        <a:moveTo>
                          <a:pt x="194" y="103"/>
                        </a:moveTo>
                        <a:lnTo>
                          <a:pt x="214" y="87"/>
                        </a:lnTo>
                        <a:lnTo>
                          <a:pt x="214" y="57"/>
                        </a:lnTo>
                        <a:lnTo>
                          <a:pt x="224" y="49"/>
                        </a:lnTo>
                        <a:lnTo>
                          <a:pt x="249" y="50"/>
                        </a:lnTo>
                        <a:lnTo>
                          <a:pt x="291" y="70"/>
                        </a:lnTo>
                        <a:lnTo>
                          <a:pt x="298" y="55"/>
                        </a:lnTo>
                        <a:lnTo>
                          <a:pt x="289" y="39"/>
                        </a:lnTo>
                        <a:lnTo>
                          <a:pt x="291" y="27"/>
                        </a:lnTo>
                        <a:lnTo>
                          <a:pt x="317" y="4"/>
                        </a:lnTo>
                        <a:lnTo>
                          <a:pt x="364" y="16"/>
                        </a:lnTo>
                        <a:lnTo>
                          <a:pt x="392" y="0"/>
                        </a:lnTo>
                        <a:lnTo>
                          <a:pt x="412" y="19"/>
                        </a:lnTo>
                        <a:lnTo>
                          <a:pt x="458" y="7"/>
                        </a:lnTo>
                        <a:lnTo>
                          <a:pt x="467" y="25"/>
                        </a:lnTo>
                        <a:lnTo>
                          <a:pt x="452" y="44"/>
                        </a:lnTo>
                        <a:lnTo>
                          <a:pt x="426" y="80"/>
                        </a:lnTo>
                        <a:lnTo>
                          <a:pt x="426" y="89"/>
                        </a:lnTo>
                        <a:lnTo>
                          <a:pt x="442" y="100"/>
                        </a:lnTo>
                        <a:lnTo>
                          <a:pt x="542" y="59"/>
                        </a:lnTo>
                        <a:lnTo>
                          <a:pt x="575" y="80"/>
                        </a:lnTo>
                        <a:lnTo>
                          <a:pt x="585" y="70"/>
                        </a:lnTo>
                        <a:lnTo>
                          <a:pt x="575" y="49"/>
                        </a:lnTo>
                        <a:lnTo>
                          <a:pt x="578" y="34"/>
                        </a:lnTo>
                        <a:lnTo>
                          <a:pt x="642" y="49"/>
                        </a:lnTo>
                        <a:lnTo>
                          <a:pt x="654" y="57"/>
                        </a:lnTo>
                        <a:lnTo>
                          <a:pt x="670" y="55"/>
                        </a:lnTo>
                        <a:lnTo>
                          <a:pt x="698" y="89"/>
                        </a:lnTo>
                        <a:lnTo>
                          <a:pt x="728" y="153"/>
                        </a:lnTo>
                        <a:lnTo>
                          <a:pt x="708" y="167"/>
                        </a:lnTo>
                        <a:lnTo>
                          <a:pt x="690" y="201"/>
                        </a:lnTo>
                        <a:lnTo>
                          <a:pt x="675" y="206"/>
                        </a:lnTo>
                        <a:lnTo>
                          <a:pt x="662" y="234"/>
                        </a:lnTo>
                        <a:lnTo>
                          <a:pt x="612" y="258"/>
                        </a:lnTo>
                        <a:lnTo>
                          <a:pt x="593" y="246"/>
                        </a:lnTo>
                        <a:lnTo>
                          <a:pt x="580" y="268"/>
                        </a:lnTo>
                        <a:lnTo>
                          <a:pt x="580" y="275"/>
                        </a:lnTo>
                        <a:lnTo>
                          <a:pt x="566" y="275"/>
                        </a:lnTo>
                        <a:lnTo>
                          <a:pt x="539" y="275"/>
                        </a:lnTo>
                        <a:lnTo>
                          <a:pt x="514" y="293"/>
                        </a:lnTo>
                        <a:lnTo>
                          <a:pt x="497" y="284"/>
                        </a:lnTo>
                        <a:lnTo>
                          <a:pt x="474" y="296"/>
                        </a:lnTo>
                        <a:lnTo>
                          <a:pt x="422" y="320"/>
                        </a:lnTo>
                        <a:lnTo>
                          <a:pt x="376" y="285"/>
                        </a:lnTo>
                        <a:lnTo>
                          <a:pt x="374" y="312"/>
                        </a:lnTo>
                        <a:lnTo>
                          <a:pt x="389" y="354"/>
                        </a:lnTo>
                        <a:lnTo>
                          <a:pt x="349" y="369"/>
                        </a:lnTo>
                        <a:lnTo>
                          <a:pt x="327" y="399"/>
                        </a:lnTo>
                        <a:lnTo>
                          <a:pt x="286" y="411"/>
                        </a:lnTo>
                        <a:lnTo>
                          <a:pt x="263" y="418"/>
                        </a:lnTo>
                        <a:lnTo>
                          <a:pt x="219" y="418"/>
                        </a:lnTo>
                        <a:lnTo>
                          <a:pt x="189" y="450"/>
                        </a:lnTo>
                        <a:lnTo>
                          <a:pt x="111" y="477"/>
                        </a:lnTo>
                        <a:lnTo>
                          <a:pt x="70" y="502"/>
                        </a:lnTo>
                        <a:lnTo>
                          <a:pt x="52" y="521"/>
                        </a:lnTo>
                        <a:lnTo>
                          <a:pt x="88" y="582"/>
                        </a:lnTo>
                        <a:lnTo>
                          <a:pt x="64" y="603"/>
                        </a:lnTo>
                        <a:lnTo>
                          <a:pt x="35" y="599"/>
                        </a:lnTo>
                        <a:lnTo>
                          <a:pt x="0" y="539"/>
                        </a:lnTo>
                        <a:lnTo>
                          <a:pt x="8" y="491"/>
                        </a:lnTo>
                        <a:lnTo>
                          <a:pt x="8" y="472"/>
                        </a:lnTo>
                        <a:lnTo>
                          <a:pt x="33" y="431"/>
                        </a:lnTo>
                        <a:lnTo>
                          <a:pt x="64" y="423"/>
                        </a:lnTo>
                        <a:lnTo>
                          <a:pt x="61" y="403"/>
                        </a:lnTo>
                        <a:lnTo>
                          <a:pt x="93" y="388"/>
                        </a:lnTo>
                        <a:lnTo>
                          <a:pt x="98" y="352"/>
                        </a:lnTo>
                        <a:lnTo>
                          <a:pt x="155" y="308"/>
                        </a:lnTo>
                        <a:lnTo>
                          <a:pt x="153" y="246"/>
                        </a:lnTo>
                        <a:lnTo>
                          <a:pt x="196" y="193"/>
                        </a:lnTo>
                        <a:lnTo>
                          <a:pt x="194" y="170"/>
                        </a:lnTo>
                        <a:lnTo>
                          <a:pt x="209" y="151"/>
                        </a:lnTo>
                        <a:lnTo>
                          <a:pt x="194" y="103"/>
                        </a:lnTo>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7" name="Freeform 24"/>
                  <p:cNvSpPr/>
                  <p:nvPr/>
                </p:nvSpPr>
                <p:spPr bwMode="auto">
                  <a:xfrm>
                    <a:off x="4069748" y="5099149"/>
                    <a:ext cx="822325" cy="581025"/>
                  </a:xfrm>
                  <a:custGeom>
                    <a:avLst/>
                    <a:gdLst>
                      <a:gd name="T0" fmla="*/ 34 w 753"/>
                      <a:gd name="T1" fmla="*/ 211 h 542"/>
                      <a:gd name="T2" fmla="*/ 80 w 753"/>
                      <a:gd name="T3" fmla="*/ 187 h 542"/>
                      <a:gd name="T4" fmla="*/ 159 w 753"/>
                      <a:gd name="T5" fmla="*/ 207 h 542"/>
                      <a:gd name="T6" fmla="*/ 175 w 753"/>
                      <a:gd name="T7" fmla="*/ 173 h 542"/>
                      <a:gd name="T8" fmla="*/ 284 w 753"/>
                      <a:gd name="T9" fmla="*/ 133 h 542"/>
                      <a:gd name="T10" fmla="*/ 373 w 753"/>
                      <a:gd name="T11" fmla="*/ 107 h 542"/>
                      <a:gd name="T12" fmla="*/ 410 w 753"/>
                      <a:gd name="T13" fmla="*/ 117 h 542"/>
                      <a:gd name="T14" fmla="*/ 438 w 753"/>
                      <a:gd name="T15" fmla="*/ 95 h 542"/>
                      <a:gd name="T16" fmla="*/ 450 w 753"/>
                      <a:gd name="T17" fmla="*/ 73 h 542"/>
                      <a:gd name="T18" fmla="*/ 489 w 753"/>
                      <a:gd name="T19" fmla="*/ 46 h 542"/>
                      <a:gd name="T20" fmla="*/ 537 w 753"/>
                      <a:gd name="T21" fmla="*/ 19 h 542"/>
                      <a:gd name="T22" fmla="*/ 557 w 753"/>
                      <a:gd name="T23" fmla="*/ 44 h 542"/>
                      <a:gd name="T24" fmla="*/ 606 w 753"/>
                      <a:gd name="T25" fmla="*/ 9 h 542"/>
                      <a:gd name="T26" fmla="*/ 656 w 753"/>
                      <a:gd name="T27" fmla="*/ 9 h 542"/>
                      <a:gd name="T28" fmla="*/ 681 w 753"/>
                      <a:gd name="T29" fmla="*/ 47 h 542"/>
                      <a:gd name="T30" fmla="*/ 651 w 753"/>
                      <a:gd name="T31" fmla="*/ 119 h 542"/>
                      <a:gd name="T32" fmla="*/ 651 w 753"/>
                      <a:gd name="T33" fmla="*/ 151 h 542"/>
                      <a:gd name="T34" fmla="*/ 700 w 753"/>
                      <a:gd name="T35" fmla="*/ 176 h 542"/>
                      <a:gd name="T36" fmla="*/ 736 w 753"/>
                      <a:gd name="T37" fmla="*/ 164 h 542"/>
                      <a:gd name="T38" fmla="*/ 736 w 753"/>
                      <a:gd name="T39" fmla="*/ 231 h 542"/>
                      <a:gd name="T40" fmla="*/ 694 w 753"/>
                      <a:gd name="T41" fmla="*/ 308 h 542"/>
                      <a:gd name="T42" fmla="*/ 640 w 753"/>
                      <a:gd name="T43" fmla="*/ 413 h 542"/>
                      <a:gd name="T44" fmla="*/ 603 w 753"/>
                      <a:gd name="T45" fmla="*/ 465 h 542"/>
                      <a:gd name="T46" fmla="*/ 574 w 753"/>
                      <a:gd name="T47" fmla="*/ 493 h 542"/>
                      <a:gd name="T48" fmla="*/ 485 w 753"/>
                      <a:gd name="T49" fmla="*/ 541 h 542"/>
                      <a:gd name="T50" fmla="*/ 417 w 753"/>
                      <a:gd name="T51" fmla="*/ 503 h 542"/>
                      <a:gd name="T52" fmla="*/ 347 w 753"/>
                      <a:gd name="T53" fmla="*/ 541 h 542"/>
                      <a:gd name="T54" fmla="*/ 232 w 753"/>
                      <a:gd name="T55" fmla="*/ 499 h 542"/>
                      <a:gd name="T56" fmla="*/ 237 w 753"/>
                      <a:gd name="T57" fmla="*/ 418 h 542"/>
                      <a:gd name="T58" fmla="*/ 185 w 753"/>
                      <a:gd name="T59" fmla="*/ 404 h 542"/>
                      <a:gd name="T60" fmla="*/ 147 w 753"/>
                      <a:gd name="T61" fmla="*/ 404 h 542"/>
                      <a:gd name="T62" fmla="*/ 127 w 753"/>
                      <a:gd name="T63" fmla="*/ 346 h 542"/>
                      <a:gd name="T64" fmla="*/ 161 w 753"/>
                      <a:gd name="T65" fmla="*/ 337 h 542"/>
                      <a:gd name="T66" fmla="*/ 159 w 753"/>
                      <a:gd name="T67" fmla="*/ 289 h 542"/>
                      <a:gd name="T68" fmla="*/ 62 w 753"/>
                      <a:gd name="T69" fmla="*/ 249 h 542"/>
                      <a:gd name="T70" fmla="*/ 14 w 753"/>
                      <a:gd name="T71" fmla="*/ 249 h 542"/>
                      <a:gd name="T72" fmla="*/ 0 w 753"/>
                      <a:gd name="T73" fmla="*/ 207 h 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53" h="542">
                        <a:moveTo>
                          <a:pt x="0" y="207"/>
                        </a:moveTo>
                        <a:lnTo>
                          <a:pt x="34" y="211"/>
                        </a:lnTo>
                        <a:lnTo>
                          <a:pt x="67" y="178"/>
                        </a:lnTo>
                        <a:lnTo>
                          <a:pt x="80" y="187"/>
                        </a:lnTo>
                        <a:lnTo>
                          <a:pt x="147" y="215"/>
                        </a:lnTo>
                        <a:lnTo>
                          <a:pt x="159" y="207"/>
                        </a:lnTo>
                        <a:lnTo>
                          <a:pt x="161" y="187"/>
                        </a:lnTo>
                        <a:lnTo>
                          <a:pt x="175" y="173"/>
                        </a:lnTo>
                        <a:lnTo>
                          <a:pt x="269" y="112"/>
                        </a:lnTo>
                        <a:lnTo>
                          <a:pt x="284" y="133"/>
                        </a:lnTo>
                        <a:lnTo>
                          <a:pt x="343" y="148"/>
                        </a:lnTo>
                        <a:lnTo>
                          <a:pt x="373" y="107"/>
                        </a:lnTo>
                        <a:lnTo>
                          <a:pt x="387" y="117"/>
                        </a:lnTo>
                        <a:lnTo>
                          <a:pt x="410" y="117"/>
                        </a:lnTo>
                        <a:lnTo>
                          <a:pt x="410" y="105"/>
                        </a:lnTo>
                        <a:lnTo>
                          <a:pt x="438" y="95"/>
                        </a:lnTo>
                        <a:lnTo>
                          <a:pt x="438" y="86"/>
                        </a:lnTo>
                        <a:lnTo>
                          <a:pt x="450" y="73"/>
                        </a:lnTo>
                        <a:lnTo>
                          <a:pt x="458" y="75"/>
                        </a:lnTo>
                        <a:lnTo>
                          <a:pt x="489" y="46"/>
                        </a:lnTo>
                        <a:lnTo>
                          <a:pt x="513" y="52"/>
                        </a:lnTo>
                        <a:lnTo>
                          <a:pt x="537" y="19"/>
                        </a:lnTo>
                        <a:lnTo>
                          <a:pt x="550" y="46"/>
                        </a:lnTo>
                        <a:lnTo>
                          <a:pt x="557" y="44"/>
                        </a:lnTo>
                        <a:lnTo>
                          <a:pt x="596" y="7"/>
                        </a:lnTo>
                        <a:lnTo>
                          <a:pt x="606" y="9"/>
                        </a:lnTo>
                        <a:lnTo>
                          <a:pt x="624" y="0"/>
                        </a:lnTo>
                        <a:lnTo>
                          <a:pt x="656" y="9"/>
                        </a:lnTo>
                        <a:lnTo>
                          <a:pt x="656" y="44"/>
                        </a:lnTo>
                        <a:lnTo>
                          <a:pt x="681" y="47"/>
                        </a:lnTo>
                        <a:lnTo>
                          <a:pt x="672" y="82"/>
                        </a:lnTo>
                        <a:lnTo>
                          <a:pt x="651" y="119"/>
                        </a:lnTo>
                        <a:lnTo>
                          <a:pt x="640" y="151"/>
                        </a:lnTo>
                        <a:lnTo>
                          <a:pt x="651" y="151"/>
                        </a:lnTo>
                        <a:lnTo>
                          <a:pt x="678" y="127"/>
                        </a:lnTo>
                        <a:lnTo>
                          <a:pt x="700" y="176"/>
                        </a:lnTo>
                        <a:lnTo>
                          <a:pt x="717" y="164"/>
                        </a:lnTo>
                        <a:lnTo>
                          <a:pt x="736" y="164"/>
                        </a:lnTo>
                        <a:lnTo>
                          <a:pt x="752" y="213"/>
                        </a:lnTo>
                        <a:lnTo>
                          <a:pt x="736" y="231"/>
                        </a:lnTo>
                        <a:lnTo>
                          <a:pt x="738" y="254"/>
                        </a:lnTo>
                        <a:lnTo>
                          <a:pt x="694" y="308"/>
                        </a:lnTo>
                        <a:lnTo>
                          <a:pt x="696" y="369"/>
                        </a:lnTo>
                        <a:lnTo>
                          <a:pt x="640" y="413"/>
                        </a:lnTo>
                        <a:lnTo>
                          <a:pt x="635" y="449"/>
                        </a:lnTo>
                        <a:lnTo>
                          <a:pt x="603" y="465"/>
                        </a:lnTo>
                        <a:lnTo>
                          <a:pt x="606" y="484"/>
                        </a:lnTo>
                        <a:lnTo>
                          <a:pt x="574" y="493"/>
                        </a:lnTo>
                        <a:lnTo>
                          <a:pt x="550" y="533"/>
                        </a:lnTo>
                        <a:lnTo>
                          <a:pt x="485" y="541"/>
                        </a:lnTo>
                        <a:lnTo>
                          <a:pt x="450" y="517"/>
                        </a:lnTo>
                        <a:lnTo>
                          <a:pt x="417" y="503"/>
                        </a:lnTo>
                        <a:lnTo>
                          <a:pt x="382" y="538"/>
                        </a:lnTo>
                        <a:lnTo>
                          <a:pt x="347" y="541"/>
                        </a:lnTo>
                        <a:lnTo>
                          <a:pt x="311" y="541"/>
                        </a:lnTo>
                        <a:lnTo>
                          <a:pt x="232" y="499"/>
                        </a:lnTo>
                        <a:lnTo>
                          <a:pt x="220" y="460"/>
                        </a:lnTo>
                        <a:lnTo>
                          <a:pt x="237" y="418"/>
                        </a:lnTo>
                        <a:lnTo>
                          <a:pt x="215" y="404"/>
                        </a:lnTo>
                        <a:lnTo>
                          <a:pt x="185" y="404"/>
                        </a:lnTo>
                        <a:lnTo>
                          <a:pt x="179" y="394"/>
                        </a:lnTo>
                        <a:lnTo>
                          <a:pt x="147" y="404"/>
                        </a:lnTo>
                        <a:lnTo>
                          <a:pt x="115" y="381"/>
                        </a:lnTo>
                        <a:lnTo>
                          <a:pt x="127" y="346"/>
                        </a:lnTo>
                        <a:lnTo>
                          <a:pt x="152" y="345"/>
                        </a:lnTo>
                        <a:lnTo>
                          <a:pt x="161" y="337"/>
                        </a:lnTo>
                        <a:lnTo>
                          <a:pt x="171" y="305"/>
                        </a:lnTo>
                        <a:lnTo>
                          <a:pt x="159" y="289"/>
                        </a:lnTo>
                        <a:lnTo>
                          <a:pt x="75" y="272"/>
                        </a:lnTo>
                        <a:lnTo>
                          <a:pt x="62" y="249"/>
                        </a:lnTo>
                        <a:lnTo>
                          <a:pt x="39" y="249"/>
                        </a:lnTo>
                        <a:lnTo>
                          <a:pt x="14" y="249"/>
                        </a:lnTo>
                        <a:lnTo>
                          <a:pt x="0" y="223"/>
                        </a:lnTo>
                        <a:lnTo>
                          <a:pt x="0" y="207"/>
                        </a:lnTo>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8" name="Freeform 25"/>
                  <p:cNvSpPr/>
                  <p:nvPr/>
                </p:nvSpPr>
                <p:spPr bwMode="auto">
                  <a:xfrm>
                    <a:off x="4523773" y="4668936"/>
                    <a:ext cx="569912" cy="622300"/>
                  </a:xfrm>
                  <a:custGeom>
                    <a:avLst/>
                    <a:gdLst>
                      <a:gd name="T0" fmla="*/ 446 w 521"/>
                      <a:gd name="T1" fmla="*/ 70 h 582"/>
                      <a:gd name="T2" fmla="*/ 435 w 521"/>
                      <a:gd name="T3" fmla="*/ 21 h 582"/>
                      <a:gd name="T4" fmla="*/ 399 w 521"/>
                      <a:gd name="T5" fmla="*/ 28 h 582"/>
                      <a:gd name="T6" fmla="*/ 371 w 521"/>
                      <a:gd name="T7" fmla="*/ 46 h 582"/>
                      <a:gd name="T8" fmla="*/ 343 w 521"/>
                      <a:gd name="T9" fmla="*/ 26 h 582"/>
                      <a:gd name="T10" fmla="*/ 295 w 521"/>
                      <a:gd name="T11" fmla="*/ 33 h 582"/>
                      <a:gd name="T12" fmla="*/ 141 w 521"/>
                      <a:gd name="T13" fmla="*/ 0 h 582"/>
                      <a:gd name="T14" fmla="*/ 151 w 521"/>
                      <a:gd name="T15" fmla="*/ 39 h 582"/>
                      <a:gd name="T16" fmla="*/ 82 w 521"/>
                      <a:gd name="T17" fmla="*/ 39 h 582"/>
                      <a:gd name="T18" fmla="*/ 25 w 521"/>
                      <a:gd name="T19" fmla="*/ 110 h 582"/>
                      <a:gd name="T20" fmla="*/ 49 w 521"/>
                      <a:gd name="T21" fmla="*/ 277 h 582"/>
                      <a:gd name="T22" fmla="*/ 4 w 521"/>
                      <a:gd name="T23" fmla="*/ 338 h 582"/>
                      <a:gd name="T24" fmla="*/ 63 w 521"/>
                      <a:gd name="T25" fmla="*/ 345 h 582"/>
                      <a:gd name="T26" fmla="*/ 76 w 521"/>
                      <a:gd name="T27" fmla="*/ 451 h 582"/>
                      <a:gd name="T28" fmla="*/ 124 w 521"/>
                      <a:gd name="T29" fmla="*/ 423 h 582"/>
                      <a:gd name="T30" fmla="*/ 144 w 521"/>
                      <a:gd name="T31" fmla="*/ 447 h 582"/>
                      <a:gd name="T32" fmla="*/ 194 w 521"/>
                      <a:gd name="T33" fmla="*/ 414 h 582"/>
                      <a:gd name="T34" fmla="*/ 242 w 521"/>
                      <a:gd name="T35" fmla="*/ 414 h 582"/>
                      <a:gd name="T36" fmla="*/ 267 w 521"/>
                      <a:gd name="T37" fmla="*/ 452 h 582"/>
                      <a:gd name="T38" fmla="*/ 237 w 521"/>
                      <a:gd name="T39" fmla="*/ 524 h 582"/>
                      <a:gd name="T40" fmla="*/ 237 w 521"/>
                      <a:gd name="T41" fmla="*/ 555 h 582"/>
                      <a:gd name="T42" fmla="*/ 288 w 521"/>
                      <a:gd name="T43" fmla="*/ 581 h 582"/>
                      <a:gd name="T44" fmla="*/ 323 w 521"/>
                      <a:gd name="T45" fmla="*/ 568 h 582"/>
                      <a:gd name="T46" fmla="*/ 343 w 521"/>
                      <a:gd name="T47" fmla="*/ 524 h 582"/>
                      <a:gd name="T48" fmla="*/ 378 w 521"/>
                      <a:gd name="T49" fmla="*/ 517 h 582"/>
                      <a:gd name="T50" fmla="*/ 426 w 521"/>
                      <a:gd name="T51" fmla="*/ 522 h 582"/>
                      <a:gd name="T52" fmla="*/ 419 w 521"/>
                      <a:gd name="T53" fmla="*/ 493 h 582"/>
                      <a:gd name="T54" fmla="*/ 492 w 521"/>
                      <a:gd name="T55" fmla="*/ 482 h 582"/>
                      <a:gd name="T56" fmla="*/ 509 w 521"/>
                      <a:gd name="T57" fmla="*/ 447 h 582"/>
                      <a:gd name="T58" fmla="*/ 517 w 521"/>
                      <a:gd name="T59" fmla="*/ 350 h 582"/>
                      <a:gd name="T60" fmla="*/ 485 w 521"/>
                      <a:gd name="T61" fmla="*/ 303 h 582"/>
                      <a:gd name="T62" fmla="*/ 476 w 521"/>
                      <a:gd name="T63" fmla="*/ 264 h 582"/>
                      <a:gd name="T64" fmla="*/ 458 w 521"/>
                      <a:gd name="T65" fmla="*/ 260 h 582"/>
                      <a:gd name="T66" fmla="*/ 485 w 521"/>
                      <a:gd name="T67" fmla="*/ 190 h 582"/>
                      <a:gd name="T68" fmla="*/ 497 w 521"/>
                      <a:gd name="T69" fmla="*/ 133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21" h="582">
                        <a:moveTo>
                          <a:pt x="468" y="75"/>
                        </a:moveTo>
                        <a:lnTo>
                          <a:pt x="446" y="70"/>
                        </a:lnTo>
                        <a:lnTo>
                          <a:pt x="435" y="55"/>
                        </a:lnTo>
                        <a:lnTo>
                          <a:pt x="435" y="21"/>
                        </a:lnTo>
                        <a:lnTo>
                          <a:pt x="423" y="4"/>
                        </a:lnTo>
                        <a:lnTo>
                          <a:pt x="399" y="28"/>
                        </a:lnTo>
                        <a:lnTo>
                          <a:pt x="387" y="46"/>
                        </a:lnTo>
                        <a:lnTo>
                          <a:pt x="371" y="46"/>
                        </a:lnTo>
                        <a:lnTo>
                          <a:pt x="366" y="19"/>
                        </a:lnTo>
                        <a:lnTo>
                          <a:pt x="343" y="26"/>
                        </a:lnTo>
                        <a:lnTo>
                          <a:pt x="313" y="46"/>
                        </a:lnTo>
                        <a:lnTo>
                          <a:pt x="295" y="33"/>
                        </a:lnTo>
                        <a:lnTo>
                          <a:pt x="254" y="7"/>
                        </a:lnTo>
                        <a:lnTo>
                          <a:pt x="141" y="0"/>
                        </a:lnTo>
                        <a:lnTo>
                          <a:pt x="129" y="12"/>
                        </a:lnTo>
                        <a:lnTo>
                          <a:pt x="151" y="39"/>
                        </a:lnTo>
                        <a:lnTo>
                          <a:pt x="124" y="55"/>
                        </a:lnTo>
                        <a:lnTo>
                          <a:pt x="82" y="39"/>
                        </a:lnTo>
                        <a:lnTo>
                          <a:pt x="39" y="75"/>
                        </a:lnTo>
                        <a:lnTo>
                          <a:pt x="25" y="110"/>
                        </a:lnTo>
                        <a:lnTo>
                          <a:pt x="27" y="190"/>
                        </a:lnTo>
                        <a:lnTo>
                          <a:pt x="49" y="277"/>
                        </a:lnTo>
                        <a:lnTo>
                          <a:pt x="0" y="331"/>
                        </a:lnTo>
                        <a:lnTo>
                          <a:pt x="4" y="338"/>
                        </a:lnTo>
                        <a:lnTo>
                          <a:pt x="49" y="326"/>
                        </a:lnTo>
                        <a:lnTo>
                          <a:pt x="63" y="345"/>
                        </a:lnTo>
                        <a:lnTo>
                          <a:pt x="50" y="406"/>
                        </a:lnTo>
                        <a:lnTo>
                          <a:pt x="76" y="451"/>
                        </a:lnTo>
                        <a:lnTo>
                          <a:pt x="100" y="457"/>
                        </a:lnTo>
                        <a:lnTo>
                          <a:pt x="124" y="423"/>
                        </a:lnTo>
                        <a:lnTo>
                          <a:pt x="136" y="451"/>
                        </a:lnTo>
                        <a:lnTo>
                          <a:pt x="144" y="447"/>
                        </a:lnTo>
                        <a:lnTo>
                          <a:pt x="183" y="411"/>
                        </a:lnTo>
                        <a:lnTo>
                          <a:pt x="194" y="414"/>
                        </a:lnTo>
                        <a:lnTo>
                          <a:pt x="212" y="404"/>
                        </a:lnTo>
                        <a:lnTo>
                          <a:pt x="242" y="414"/>
                        </a:lnTo>
                        <a:lnTo>
                          <a:pt x="242" y="447"/>
                        </a:lnTo>
                        <a:lnTo>
                          <a:pt x="267" y="452"/>
                        </a:lnTo>
                        <a:lnTo>
                          <a:pt x="259" y="487"/>
                        </a:lnTo>
                        <a:lnTo>
                          <a:pt x="237" y="524"/>
                        </a:lnTo>
                        <a:lnTo>
                          <a:pt x="226" y="555"/>
                        </a:lnTo>
                        <a:lnTo>
                          <a:pt x="237" y="555"/>
                        </a:lnTo>
                        <a:lnTo>
                          <a:pt x="265" y="531"/>
                        </a:lnTo>
                        <a:lnTo>
                          <a:pt x="288" y="581"/>
                        </a:lnTo>
                        <a:lnTo>
                          <a:pt x="303" y="568"/>
                        </a:lnTo>
                        <a:lnTo>
                          <a:pt x="323" y="568"/>
                        </a:lnTo>
                        <a:lnTo>
                          <a:pt x="343" y="553"/>
                        </a:lnTo>
                        <a:lnTo>
                          <a:pt x="343" y="524"/>
                        </a:lnTo>
                        <a:lnTo>
                          <a:pt x="353" y="514"/>
                        </a:lnTo>
                        <a:lnTo>
                          <a:pt x="378" y="517"/>
                        </a:lnTo>
                        <a:lnTo>
                          <a:pt x="419" y="536"/>
                        </a:lnTo>
                        <a:lnTo>
                          <a:pt x="426" y="522"/>
                        </a:lnTo>
                        <a:lnTo>
                          <a:pt x="416" y="505"/>
                        </a:lnTo>
                        <a:lnTo>
                          <a:pt x="419" y="493"/>
                        </a:lnTo>
                        <a:lnTo>
                          <a:pt x="446" y="470"/>
                        </a:lnTo>
                        <a:lnTo>
                          <a:pt x="492" y="482"/>
                        </a:lnTo>
                        <a:lnTo>
                          <a:pt x="520" y="465"/>
                        </a:lnTo>
                        <a:lnTo>
                          <a:pt x="509" y="447"/>
                        </a:lnTo>
                        <a:lnTo>
                          <a:pt x="520" y="409"/>
                        </a:lnTo>
                        <a:lnTo>
                          <a:pt x="517" y="350"/>
                        </a:lnTo>
                        <a:lnTo>
                          <a:pt x="499" y="343"/>
                        </a:lnTo>
                        <a:lnTo>
                          <a:pt x="485" y="303"/>
                        </a:lnTo>
                        <a:lnTo>
                          <a:pt x="485" y="268"/>
                        </a:lnTo>
                        <a:lnTo>
                          <a:pt x="476" y="264"/>
                        </a:lnTo>
                        <a:lnTo>
                          <a:pt x="465" y="268"/>
                        </a:lnTo>
                        <a:lnTo>
                          <a:pt x="458" y="260"/>
                        </a:lnTo>
                        <a:lnTo>
                          <a:pt x="463" y="208"/>
                        </a:lnTo>
                        <a:lnTo>
                          <a:pt x="485" y="190"/>
                        </a:lnTo>
                        <a:lnTo>
                          <a:pt x="499" y="160"/>
                        </a:lnTo>
                        <a:lnTo>
                          <a:pt x="497" y="133"/>
                        </a:lnTo>
                        <a:lnTo>
                          <a:pt x="468" y="75"/>
                        </a:lnTo>
                      </a:path>
                    </a:pathLst>
                  </a:custGeom>
                  <a:grpFill/>
                  <a:ln w="12700" cap="flat" cmpd="sng">
                    <a:solidFill>
                      <a:srgbClr val="FF66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9" name="Freeform 26"/>
                  <p:cNvSpPr/>
                  <p:nvPr/>
                </p:nvSpPr>
                <p:spPr bwMode="auto">
                  <a:xfrm>
                    <a:off x="4457098" y="4300636"/>
                    <a:ext cx="801687" cy="490538"/>
                  </a:xfrm>
                  <a:custGeom>
                    <a:avLst/>
                    <a:gdLst>
                      <a:gd name="T0" fmla="*/ 99 w 733"/>
                      <a:gd name="T1" fmla="*/ 420 h 456"/>
                      <a:gd name="T2" fmla="*/ 184 w 733"/>
                      <a:gd name="T3" fmla="*/ 400 h 456"/>
                      <a:gd name="T4" fmla="*/ 189 w 733"/>
                      <a:gd name="T5" fmla="*/ 356 h 456"/>
                      <a:gd name="T6" fmla="*/ 315 w 733"/>
                      <a:gd name="T7" fmla="*/ 351 h 456"/>
                      <a:gd name="T8" fmla="*/ 375 w 733"/>
                      <a:gd name="T9" fmla="*/ 391 h 456"/>
                      <a:gd name="T10" fmla="*/ 427 w 733"/>
                      <a:gd name="T11" fmla="*/ 363 h 456"/>
                      <a:gd name="T12" fmla="*/ 448 w 733"/>
                      <a:gd name="T13" fmla="*/ 391 h 456"/>
                      <a:gd name="T14" fmla="*/ 486 w 733"/>
                      <a:gd name="T15" fmla="*/ 349 h 456"/>
                      <a:gd name="T16" fmla="*/ 498 w 733"/>
                      <a:gd name="T17" fmla="*/ 400 h 456"/>
                      <a:gd name="T18" fmla="*/ 530 w 733"/>
                      <a:gd name="T19" fmla="*/ 420 h 456"/>
                      <a:gd name="T20" fmla="*/ 591 w 733"/>
                      <a:gd name="T21" fmla="*/ 384 h 456"/>
                      <a:gd name="T22" fmla="*/ 692 w 733"/>
                      <a:gd name="T23" fmla="*/ 322 h 456"/>
                      <a:gd name="T24" fmla="*/ 684 w 733"/>
                      <a:gd name="T25" fmla="*/ 222 h 456"/>
                      <a:gd name="T26" fmla="*/ 693 w 733"/>
                      <a:gd name="T27" fmla="*/ 187 h 456"/>
                      <a:gd name="T28" fmla="*/ 628 w 733"/>
                      <a:gd name="T29" fmla="*/ 153 h 456"/>
                      <a:gd name="T30" fmla="*/ 582 w 733"/>
                      <a:gd name="T31" fmla="*/ 153 h 456"/>
                      <a:gd name="T32" fmla="*/ 513 w 733"/>
                      <a:gd name="T33" fmla="*/ 128 h 456"/>
                      <a:gd name="T34" fmla="*/ 476 w 733"/>
                      <a:gd name="T35" fmla="*/ 91 h 456"/>
                      <a:gd name="T36" fmla="*/ 439 w 733"/>
                      <a:gd name="T37" fmla="*/ 85 h 456"/>
                      <a:gd name="T38" fmla="*/ 358 w 733"/>
                      <a:gd name="T39" fmla="*/ 85 h 456"/>
                      <a:gd name="T40" fmla="*/ 210 w 733"/>
                      <a:gd name="T41" fmla="*/ 0 h 456"/>
                      <a:gd name="T42" fmla="*/ 180 w 733"/>
                      <a:gd name="T43" fmla="*/ 10 h 456"/>
                      <a:gd name="T44" fmla="*/ 87 w 733"/>
                      <a:gd name="T45" fmla="*/ 10 h 456"/>
                      <a:gd name="T46" fmla="*/ 99 w 733"/>
                      <a:gd name="T47" fmla="*/ 42 h 456"/>
                      <a:gd name="T48" fmla="*/ 142 w 733"/>
                      <a:gd name="T49" fmla="*/ 52 h 456"/>
                      <a:gd name="T50" fmla="*/ 94 w 733"/>
                      <a:gd name="T51" fmla="*/ 85 h 456"/>
                      <a:gd name="T52" fmla="*/ 94 w 733"/>
                      <a:gd name="T53" fmla="*/ 123 h 456"/>
                      <a:gd name="T54" fmla="*/ 122 w 733"/>
                      <a:gd name="T55" fmla="*/ 164 h 456"/>
                      <a:gd name="T56" fmla="*/ 154 w 733"/>
                      <a:gd name="T57" fmla="*/ 249 h 456"/>
                      <a:gd name="T58" fmla="*/ 133 w 733"/>
                      <a:gd name="T59" fmla="*/ 264 h 456"/>
                      <a:gd name="T60" fmla="*/ 19 w 733"/>
                      <a:gd name="T61" fmla="*/ 308 h 456"/>
                      <a:gd name="T62" fmla="*/ 14 w 733"/>
                      <a:gd name="T63" fmla="*/ 346 h 456"/>
                      <a:gd name="T64" fmla="*/ 36 w 733"/>
                      <a:gd name="T65" fmla="*/ 393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33" h="456">
                        <a:moveTo>
                          <a:pt x="85" y="455"/>
                        </a:moveTo>
                        <a:lnTo>
                          <a:pt x="99" y="420"/>
                        </a:lnTo>
                        <a:lnTo>
                          <a:pt x="144" y="384"/>
                        </a:lnTo>
                        <a:lnTo>
                          <a:pt x="184" y="400"/>
                        </a:lnTo>
                        <a:lnTo>
                          <a:pt x="212" y="384"/>
                        </a:lnTo>
                        <a:lnTo>
                          <a:pt x="189" y="356"/>
                        </a:lnTo>
                        <a:lnTo>
                          <a:pt x="202" y="344"/>
                        </a:lnTo>
                        <a:lnTo>
                          <a:pt x="315" y="351"/>
                        </a:lnTo>
                        <a:lnTo>
                          <a:pt x="356" y="378"/>
                        </a:lnTo>
                        <a:lnTo>
                          <a:pt x="375" y="391"/>
                        </a:lnTo>
                        <a:lnTo>
                          <a:pt x="405" y="370"/>
                        </a:lnTo>
                        <a:lnTo>
                          <a:pt x="427" y="363"/>
                        </a:lnTo>
                        <a:lnTo>
                          <a:pt x="432" y="391"/>
                        </a:lnTo>
                        <a:lnTo>
                          <a:pt x="448" y="391"/>
                        </a:lnTo>
                        <a:lnTo>
                          <a:pt x="462" y="373"/>
                        </a:lnTo>
                        <a:lnTo>
                          <a:pt x="486" y="349"/>
                        </a:lnTo>
                        <a:lnTo>
                          <a:pt x="498" y="366"/>
                        </a:lnTo>
                        <a:lnTo>
                          <a:pt x="498" y="400"/>
                        </a:lnTo>
                        <a:lnTo>
                          <a:pt x="508" y="416"/>
                        </a:lnTo>
                        <a:lnTo>
                          <a:pt x="530" y="420"/>
                        </a:lnTo>
                        <a:lnTo>
                          <a:pt x="554" y="396"/>
                        </a:lnTo>
                        <a:lnTo>
                          <a:pt x="591" y="384"/>
                        </a:lnTo>
                        <a:lnTo>
                          <a:pt x="661" y="320"/>
                        </a:lnTo>
                        <a:lnTo>
                          <a:pt x="692" y="322"/>
                        </a:lnTo>
                        <a:lnTo>
                          <a:pt x="732" y="310"/>
                        </a:lnTo>
                        <a:lnTo>
                          <a:pt x="684" y="222"/>
                        </a:lnTo>
                        <a:lnTo>
                          <a:pt x="699" y="195"/>
                        </a:lnTo>
                        <a:lnTo>
                          <a:pt x="693" y="187"/>
                        </a:lnTo>
                        <a:lnTo>
                          <a:pt x="670" y="178"/>
                        </a:lnTo>
                        <a:lnTo>
                          <a:pt x="628" y="153"/>
                        </a:lnTo>
                        <a:lnTo>
                          <a:pt x="608" y="141"/>
                        </a:lnTo>
                        <a:lnTo>
                          <a:pt x="582" y="153"/>
                        </a:lnTo>
                        <a:lnTo>
                          <a:pt x="552" y="128"/>
                        </a:lnTo>
                        <a:lnTo>
                          <a:pt x="513" y="128"/>
                        </a:lnTo>
                        <a:lnTo>
                          <a:pt x="483" y="114"/>
                        </a:lnTo>
                        <a:lnTo>
                          <a:pt x="476" y="91"/>
                        </a:lnTo>
                        <a:lnTo>
                          <a:pt x="462" y="73"/>
                        </a:lnTo>
                        <a:lnTo>
                          <a:pt x="439" y="85"/>
                        </a:lnTo>
                        <a:lnTo>
                          <a:pt x="420" y="78"/>
                        </a:lnTo>
                        <a:lnTo>
                          <a:pt x="358" y="85"/>
                        </a:lnTo>
                        <a:lnTo>
                          <a:pt x="292" y="70"/>
                        </a:lnTo>
                        <a:lnTo>
                          <a:pt x="210" y="0"/>
                        </a:lnTo>
                        <a:lnTo>
                          <a:pt x="188" y="16"/>
                        </a:lnTo>
                        <a:lnTo>
                          <a:pt x="180" y="10"/>
                        </a:lnTo>
                        <a:lnTo>
                          <a:pt x="162" y="10"/>
                        </a:lnTo>
                        <a:lnTo>
                          <a:pt x="87" y="10"/>
                        </a:lnTo>
                        <a:lnTo>
                          <a:pt x="78" y="20"/>
                        </a:lnTo>
                        <a:lnTo>
                          <a:pt x="99" y="42"/>
                        </a:lnTo>
                        <a:lnTo>
                          <a:pt x="122" y="46"/>
                        </a:lnTo>
                        <a:lnTo>
                          <a:pt x="142" y="52"/>
                        </a:lnTo>
                        <a:lnTo>
                          <a:pt x="133" y="68"/>
                        </a:lnTo>
                        <a:lnTo>
                          <a:pt x="94" y="85"/>
                        </a:lnTo>
                        <a:lnTo>
                          <a:pt x="87" y="114"/>
                        </a:lnTo>
                        <a:lnTo>
                          <a:pt x="94" y="123"/>
                        </a:lnTo>
                        <a:lnTo>
                          <a:pt x="99" y="160"/>
                        </a:lnTo>
                        <a:lnTo>
                          <a:pt x="122" y="164"/>
                        </a:lnTo>
                        <a:lnTo>
                          <a:pt x="144" y="192"/>
                        </a:lnTo>
                        <a:lnTo>
                          <a:pt x="154" y="249"/>
                        </a:lnTo>
                        <a:lnTo>
                          <a:pt x="147" y="267"/>
                        </a:lnTo>
                        <a:lnTo>
                          <a:pt x="133" y="264"/>
                        </a:lnTo>
                        <a:lnTo>
                          <a:pt x="90" y="295"/>
                        </a:lnTo>
                        <a:lnTo>
                          <a:pt x="19" y="308"/>
                        </a:lnTo>
                        <a:lnTo>
                          <a:pt x="0" y="327"/>
                        </a:lnTo>
                        <a:lnTo>
                          <a:pt x="14" y="346"/>
                        </a:lnTo>
                        <a:lnTo>
                          <a:pt x="16" y="388"/>
                        </a:lnTo>
                        <a:lnTo>
                          <a:pt x="36" y="393"/>
                        </a:lnTo>
                        <a:lnTo>
                          <a:pt x="85" y="455"/>
                        </a:lnTo>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0" name="Freeform 27"/>
                  <p:cNvSpPr/>
                  <p:nvPr/>
                </p:nvSpPr>
                <p:spPr bwMode="auto">
                  <a:xfrm>
                    <a:off x="4565048" y="5851624"/>
                    <a:ext cx="258762" cy="231775"/>
                  </a:xfrm>
                  <a:custGeom>
                    <a:avLst/>
                    <a:gdLst>
                      <a:gd name="T0" fmla="*/ 237 w 238"/>
                      <a:gd name="T1" fmla="*/ 36 h 215"/>
                      <a:gd name="T2" fmla="*/ 192 w 238"/>
                      <a:gd name="T3" fmla="*/ 110 h 215"/>
                      <a:gd name="T4" fmla="*/ 192 w 238"/>
                      <a:gd name="T5" fmla="*/ 144 h 215"/>
                      <a:gd name="T6" fmla="*/ 105 w 238"/>
                      <a:gd name="T7" fmla="*/ 214 h 215"/>
                      <a:gd name="T8" fmla="*/ 18 w 238"/>
                      <a:gd name="T9" fmla="*/ 182 h 215"/>
                      <a:gd name="T10" fmla="*/ 0 w 238"/>
                      <a:gd name="T11" fmla="*/ 120 h 215"/>
                      <a:gd name="T12" fmla="*/ 4 w 238"/>
                      <a:gd name="T13" fmla="*/ 90 h 215"/>
                      <a:gd name="T14" fmla="*/ 54 w 238"/>
                      <a:gd name="T15" fmla="*/ 43 h 215"/>
                      <a:gd name="T16" fmla="*/ 69 w 238"/>
                      <a:gd name="T17" fmla="*/ 28 h 215"/>
                      <a:gd name="T18" fmla="*/ 150 w 238"/>
                      <a:gd name="T19" fmla="*/ 16 h 215"/>
                      <a:gd name="T20" fmla="*/ 186 w 238"/>
                      <a:gd name="T21" fmla="*/ 12 h 215"/>
                      <a:gd name="T22" fmla="*/ 198 w 238"/>
                      <a:gd name="T23" fmla="*/ 0 h 215"/>
                      <a:gd name="T24" fmla="*/ 224 w 238"/>
                      <a:gd name="T25" fmla="*/ 4 h 215"/>
                      <a:gd name="T26" fmla="*/ 237 w 238"/>
                      <a:gd name="T27" fmla="*/ 36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8" h="215">
                        <a:moveTo>
                          <a:pt x="237" y="36"/>
                        </a:moveTo>
                        <a:lnTo>
                          <a:pt x="192" y="110"/>
                        </a:lnTo>
                        <a:lnTo>
                          <a:pt x="192" y="144"/>
                        </a:lnTo>
                        <a:lnTo>
                          <a:pt x="105" y="214"/>
                        </a:lnTo>
                        <a:lnTo>
                          <a:pt x="18" y="182"/>
                        </a:lnTo>
                        <a:lnTo>
                          <a:pt x="0" y="120"/>
                        </a:lnTo>
                        <a:lnTo>
                          <a:pt x="4" y="90"/>
                        </a:lnTo>
                        <a:lnTo>
                          <a:pt x="54" y="43"/>
                        </a:lnTo>
                        <a:lnTo>
                          <a:pt x="69" y="28"/>
                        </a:lnTo>
                        <a:lnTo>
                          <a:pt x="150" y="16"/>
                        </a:lnTo>
                        <a:lnTo>
                          <a:pt x="186" y="12"/>
                        </a:lnTo>
                        <a:lnTo>
                          <a:pt x="198" y="0"/>
                        </a:lnTo>
                        <a:lnTo>
                          <a:pt x="224" y="4"/>
                        </a:lnTo>
                        <a:lnTo>
                          <a:pt x="237" y="36"/>
                        </a:lnTo>
                      </a:path>
                    </a:pathLst>
                  </a:custGeom>
                  <a:grpFill/>
                  <a:ln w="12700" cap="flat" cmpd="sng">
                    <a:solidFill>
                      <a:srgbClr val="FF66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 name="Oval 28"/>
                  <p:cNvSpPr>
                    <a:spLocks noChangeArrowheads="1"/>
                  </p:cNvSpPr>
                  <p:nvPr/>
                </p:nvSpPr>
                <p:spPr bwMode="auto">
                  <a:xfrm>
                    <a:off x="5484210" y="4368899"/>
                    <a:ext cx="66675" cy="65087"/>
                  </a:xfrm>
                  <a:prstGeom prst="ellipse">
                    <a:avLst/>
                  </a:prstGeom>
                  <a:grpFill/>
                  <a:ln w="9525">
                    <a:solidFill>
                      <a:srgbClr val="FF66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52121" tIns="26060" rIns="52121" bIns="26060"/>
                  <a:lstStyle/>
                  <a:p>
                    <a:endParaRPr lang="zh-CN" altLang="zh-CN"/>
                  </a:p>
                </p:txBody>
              </p:sp>
              <p:sp>
                <p:nvSpPr>
                  <p:cNvPr id="52" name="Freeform 29"/>
                  <p:cNvSpPr/>
                  <p:nvPr/>
                </p:nvSpPr>
                <p:spPr bwMode="auto">
                  <a:xfrm>
                    <a:off x="3017235" y="3225899"/>
                    <a:ext cx="1417638" cy="1185862"/>
                  </a:xfrm>
                  <a:custGeom>
                    <a:avLst/>
                    <a:gdLst>
                      <a:gd name="T0" fmla="*/ 0 w 1299"/>
                      <a:gd name="T1" fmla="*/ 207 h 1107"/>
                      <a:gd name="T2" fmla="*/ 49 w 1299"/>
                      <a:gd name="T3" fmla="*/ 157 h 1107"/>
                      <a:gd name="T4" fmla="*/ 200 w 1299"/>
                      <a:gd name="T5" fmla="*/ 71 h 1107"/>
                      <a:gd name="T6" fmla="*/ 237 w 1299"/>
                      <a:gd name="T7" fmla="*/ 19 h 1107"/>
                      <a:gd name="T8" fmla="*/ 269 w 1299"/>
                      <a:gd name="T9" fmla="*/ 2 h 1107"/>
                      <a:gd name="T10" fmla="*/ 327 w 1299"/>
                      <a:gd name="T11" fmla="*/ 39 h 1107"/>
                      <a:gd name="T12" fmla="*/ 332 w 1299"/>
                      <a:gd name="T13" fmla="*/ 149 h 1107"/>
                      <a:gd name="T14" fmla="*/ 412 w 1299"/>
                      <a:gd name="T15" fmla="*/ 244 h 1107"/>
                      <a:gd name="T16" fmla="*/ 542 w 1299"/>
                      <a:gd name="T17" fmla="*/ 212 h 1107"/>
                      <a:gd name="T18" fmla="*/ 577 w 1299"/>
                      <a:gd name="T19" fmla="*/ 239 h 1107"/>
                      <a:gd name="T20" fmla="*/ 519 w 1299"/>
                      <a:gd name="T21" fmla="*/ 299 h 1107"/>
                      <a:gd name="T22" fmla="*/ 580 w 1299"/>
                      <a:gd name="T23" fmla="*/ 362 h 1107"/>
                      <a:gd name="T24" fmla="*/ 609 w 1299"/>
                      <a:gd name="T25" fmla="*/ 371 h 1107"/>
                      <a:gd name="T26" fmla="*/ 639 w 1299"/>
                      <a:gd name="T27" fmla="*/ 417 h 1107"/>
                      <a:gd name="T28" fmla="*/ 756 w 1299"/>
                      <a:gd name="T29" fmla="*/ 419 h 1107"/>
                      <a:gd name="T30" fmla="*/ 868 w 1299"/>
                      <a:gd name="T31" fmla="*/ 374 h 1107"/>
                      <a:gd name="T32" fmla="*/ 879 w 1299"/>
                      <a:gd name="T33" fmla="*/ 446 h 1107"/>
                      <a:gd name="T34" fmla="*/ 849 w 1299"/>
                      <a:gd name="T35" fmla="*/ 485 h 1107"/>
                      <a:gd name="T36" fmla="*/ 840 w 1299"/>
                      <a:gd name="T37" fmla="*/ 543 h 1107"/>
                      <a:gd name="T38" fmla="*/ 923 w 1299"/>
                      <a:gd name="T39" fmla="*/ 576 h 1107"/>
                      <a:gd name="T40" fmla="*/ 1005 w 1299"/>
                      <a:gd name="T41" fmla="*/ 719 h 1107"/>
                      <a:gd name="T42" fmla="*/ 1041 w 1299"/>
                      <a:gd name="T43" fmla="*/ 777 h 1107"/>
                      <a:gd name="T44" fmla="*/ 1083 w 1299"/>
                      <a:gd name="T45" fmla="*/ 806 h 1107"/>
                      <a:gd name="T46" fmla="*/ 1096 w 1299"/>
                      <a:gd name="T47" fmla="*/ 772 h 1107"/>
                      <a:gd name="T48" fmla="*/ 1138 w 1299"/>
                      <a:gd name="T49" fmla="*/ 724 h 1107"/>
                      <a:gd name="T50" fmla="*/ 1096 w 1299"/>
                      <a:gd name="T51" fmla="*/ 689 h 1107"/>
                      <a:gd name="T52" fmla="*/ 1120 w 1299"/>
                      <a:gd name="T53" fmla="*/ 600 h 1107"/>
                      <a:gd name="T54" fmla="*/ 1162 w 1299"/>
                      <a:gd name="T55" fmla="*/ 609 h 1107"/>
                      <a:gd name="T56" fmla="*/ 1247 w 1299"/>
                      <a:gd name="T57" fmla="*/ 662 h 1107"/>
                      <a:gd name="T58" fmla="*/ 1298 w 1299"/>
                      <a:gd name="T59" fmla="*/ 714 h 1107"/>
                      <a:gd name="T60" fmla="*/ 1288 w 1299"/>
                      <a:gd name="T61" fmla="*/ 784 h 1107"/>
                      <a:gd name="T62" fmla="*/ 1223 w 1299"/>
                      <a:gd name="T63" fmla="*/ 806 h 1107"/>
                      <a:gd name="T64" fmla="*/ 1214 w 1299"/>
                      <a:gd name="T65" fmla="*/ 824 h 1107"/>
                      <a:gd name="T66" fmla="*/ 1167 w 1299"/>
                      <a:gd name="T67" fmla="*/ 843 h 1107"/>
                      <a:gd name="T68" fmla="*/ 1113 w 1299"/>
                      <a:gd name="T69" fmla="*/ 830 h 1107"/>
                      <a:gd name="T70" fmla="*/ 1113 w 1299"/>
                      <a:gd name="T71" fmla="*/ 855 h 1107"/>
                      <a:gd name="T72" fmla="*/ 1091 w 1299"/>
                      <a:gd name="T73" fmla="*/ 892 h 1107"/>
                      <a:gd name="T74" fmla="*/ 1101 w 1299"/>
                      <a:gd name="T75" fmla="*/ 962 h 1107"/>
                      <a:gd name="T76" fmla="*/ 1106 w 1299"/>
                      <a:gd name="T77" fmla="*/ 996 h 1107"/>
                      <a:gd name="T78" fmla="*/ 1046 w 1299"/>
                      <a:gd name="T79" fmla="*/ 1008 h 1107"/>
                      <a:gd name="T80" fmla="*/ 1053 w 1299"/>
                      <a:gd name="T81" fmla="*/ 1070 h 1107"/>
                      <a:gd name="T82" fmla="*/ 1020 w 1299"/>
                      <a:gd name="T83" fmla="*/ 1095 h 1107"/>
                      <a:gd name="T84" fmla="*/ 948 w 1299"/>
                      <a:gd name="T85" fmla="*/ 1101 h 1107"/>
                      <a:gd name="T86" fmla="*/ 917 w 1299"/>
                      <a:gd name="T87" fmla="*/ 1046 h 1107"/>
                      <a:gd name="T88" fmla="*/ 881 w 1299"/>
                      <a:gd name="T89" fmla="*/ 1046 h 1107"/>
                      <a:gd name="T90" fmla="*/ 812 w 1299"/>
                      <a:gd name="T91" fmla="*/ 987 h 1107"/>
                      <a:gd name="T92" fmla="*/ 798 w 1299"/>
                      <a:gd name="T93" fmla="*/ 934 h 1107"/>
                      <a:gd name="T94" fmla="*/ 723 w 1299"/>
                      <a:gd name="T95" fmla="*/ 962 h 1107"/>
                      <a:gd name="T96" fmla="*/ 704 w 1299"/>
                      <a:gd name="T97" fmla="*/ 992 h 1107"/>
                      <a:gd name="T98" fmla="*/ 626 w 1299"/>
                      <a:gd name="T99" fmla="*/ 948 h 1107"/>
                      <a:gd name="T100" fmla="*/ 623 w 1299"/>
                      <a:gd name="T101" fmla="*/ 904 h 1107"/>
                      <a:gd name="T102" fmla="*/ 674 w 1299"/>
                      <a:gd name="T103" fmla="*/ 934 h 1107"/>
                      <a:gd name="T104" fmla="*/ 695 w 1299"/>
                      <a:gd name="T105" fmla="*/ 873 h 1107"/>
                      <a:gd name="T106" fmla="*/ 741 w 1299"/>
                      <a:gd name="T107" fmla="*/ 830 h 1107"/>
                      <a:gd name="T108" fmla="*/ 779 w 1299"/>
                      <a:gd name="T109" fmla="*/ 770 h 1107"/>
                      <a:gd name="T110" fmla="*/ 761 w 1299"/>
                      <a:gd name="T111" fmla="*/ 675 h 1107"/>
                      <a:gd name="T112" fmla="*/ 690 w 1299"/>
                      <a:gd name="T113" fmla="*/ 543 h 1107"/>
                      <a:gd name="T114" fmla="*/ 614 w 1299"/>
                      <a:gd name="T115" fmla="*/ 514 h 1107"/>
                      <a:gd name="T116" fmla="*/ 531 w 1299"/>
                      <a:gd name="T117" fmla="*/ 419 h 1107"/>
                      <a:gd name="T118" fmla="*/ 397 w 1299"/>
                      <a:gd name="T119" fmla="*/ 382 h 1107"/>
                      <a:gd name="T120" fmla="*/ 292 w 1299"/>
                      <a:gd name="T121" fmla="*/ 394 h 1107"/>
                      <a:gd name="T122" fmla="*/ 209 w 1299"/>
                      <a:gd name="T123" fmla="*/ 427 h 1107"/>
                      <a:gd name="T124" fmla="*/ 125 w 1299"/>
                      <a:gd name="T125" fmla="*/ 376 h 1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99" h="1107">
                        <a:moveTo>
                          <a:pt x="11" y="350"/>
                        </a:moveTo>
                        <a:lnTo>
                          <a:pt x="0" y="207"/>
                        </a:lnTo>
                        <a:lnTo>
                          <a:pt x="7" y="177"/>
                        </a:lnTo>
                        <a:lnTo>
                          <a:pt x="49" y="157"/>
                        </a:lnTo>
                        <a:lnTo>
                          <a:pt x="107" y="109"/>
                        </a:lnTo>
                        <a:lnTo>
                          <a:pt x="200" y="71"/>
                        </a:lnTo>
                        <a:lnTo>
                          <a:pt x="237" y="55"/>
                        </a:lnTo>
                        <a:lnTo>
                          <a:pt x="237" y="19"/>
                        </a:lnTo>
                        <a:lnTo>
                          <a:pt x="254" y="0"/>
                        </a:lnTo>
                        <a:lnTo>
                          <a:pt x="269" y="2"/>
                        </a:lnTo>
                        <a:lnTo>
                          <a:pt x="329" y="11"/>
                        </a:lnTo>
                        <a:lnTo>
                          <a:pt x="327" y="39"/>
                        </a:lnTo>
                        <a:lnTo>
                          <a:pt x="339" y="82"/>
                        </a:lnTo>
                        <a:lnTo>
                          <a:pt x="332" y="149"/>
                        </a:lnTo>
                        <a:lnTo>
                          <a:pt x="383" y="226"/>
                        </a:lnTo>
                        <a:lnTo>
                          <a:pt x="412" y="244"/>
                        </a:lnTo>
                        <a:lnTo>
                          <a:pt x="454" y="212"/>
                        </a:lnTo>
                        <a:lnTo>
                          <a:pt x="542" y="212"/>
                        </a:lnTo>
                        <a:lnTo>
                          <a:pt x="563" y="219"/>
                        </a:lnTo>
                        <a:lnTo>
                          <a:pt x="577" y="239"/>
                        </a:lnTo>
                        <a:lnTo>
                          <a:pt x="567" y="261"/>
                        </a:lnTo>
                        <a:lnTo>
                          <a:pt x="519" y="299"/>
                        </a:lnTo>
                        <a:lnTo>
                          <a:pt x="524" y="320"/>
                        </a:lnTo>
                        <a:lnTo>
                          <a:pt x="580" y="362"/>
                        </a:lnTo>
                        <a:lnTo>
                          <a:pt x="602" y="362"/>
                        </a:lnTo>
                        <a:lnTo>
                          <a:pt x="609" y="371"/>
                        </a:lnTo>
                        <a:lnTo>
                          <a:pt x="604" y="389"/>
                        </a:lnTo>
                        <a:lnTo>
                          <a:pt x="639" y="417"/>
                        </a:lnTo>
                        <a:lnTo>
                          <a:pt x="722" y="429"/>
                        </a:lnTo>
                        <a:lnTo>
                          <a:pt x="756" y="419"/>
                        </a:lnTo>
                        <a:lnTo>
                          <a:pt x="807" y="369"/>
                        </a:lnTo>
                        <a:lnTo>
                          <a:pt x="868" y="374"/>
                        </a:lnTo>
                        <a:lnTo>
                          <a:pt x="893" y="412"/>
                        </a:lnTo>
                        <a:lnTo>
                          <a:pt x="879" y="446"/>
                        </a:lnTo>
                        <a:lnTo>
                          <a:pt x="881" y="465"/>
                        </a:lnTo>
                        <a:lnTo>
                          <a:pt x="849" y="485"/>
                        </a:lnTo>
                        <a:lnTo>
                          <a:pt x="836" y="502"/>
                        </a:lnTo>
                        <a:lnTo>
                          <a:pt x="840" y="543"/>
                        </a:lnTo>
                        <a:lnTo>
                          <a:pt x="898" y="585"/>
                        </a:lnTo>
                        <a:lnTo>
                          <a:pt x="923" y="576"/>
                        </a:lnTo>
                        <a:lnTo>
                          <a:pt x="988" y="660"/>
                        </a:lnTo>
                        <a:lnTo>
                          <a:pt x="1005" y="719"/>
                        </a:lnTo>
                        <a:lnTo>
                          <a:pt x="996" y="752"/>
                        </a:lnTo>
                        <a:lnTo>
                          <a:pt x="1041" y="777"/>
                        </a:lnTo>
                        <a:lnTo>
                          <a:pt x="1041" y="794"/>
                        </a:lnTo>
                        <a:lnTo>
                          <a:pt x="1083" y="806"/>
                        </a:lnTo>
                        <a:lnTo>
                          <a:pt x="1096" y="806"/>
                        </a:lnTo>
                        <a:lnTo>
                          <a:pt x="1096" y="772"/>
                        </a:lnTo>
                        <a:lnTo>
                          <a:pt x="1128" y="765"/>
                        </a:lnTo>
                        <a:lnTo>
                          <a:pt x="1138" y="724"/>
                        </a:lnTo>
                        <a:lnTo>
                          <a:pt x="1113" y="707"/>
                        </a:lnTo>
                        <a:lnTo>
                          <a:pt x="1096" y="689"/>
                        </a:lnTo>
                        <a:lnTo>
                          <a:pt x="1103" y="612"/>
                        </a:lnTo>
                        <a:lnTo>
                          <a:pt x="1120" y="600"/>
                        </a:lnTo>
                        <a:lnTo>
                          <a:pt x="1151" y="614"/>
                        </a:lnTo>
                        <a:lnTo>
                          <a:pt x="1162" y="609"/>
                        </a:lnTo>
                        <a:lnTo>
                          <a:pt x="1170" y="623"/>
                        </a:lnTo>
                        <a:lnTo>
                          <a:pt x="1247" y="662"/>
                        </a:lnTo>
                        <a:lnTo>
                          <a:pt x="1290" y="689"/>
                        </a:lnTo>
                        <a:lnTo>
                          <a:pt x="1298" y="714"/>
                        </a:lnTo>
                        <a:lnTo>
                          <a:pt x="1275" y="747"/>
                        </a:lnTo>
                        <a:lnTo>
                          <a:pt x="1288" y="784"/>
                        </a:lnTo>
                        <a:lnTo>
                          <a:pt x="1280" y="801"/>
                        </a:lnTo>
                        <a:lnTo>
                          <a:pt x="1223" y="806"/>
                        </a:lnTo>
                        <a:lnTo>
                          <a:pt x="1211" y="812"/>
                        </a:lnTo>
                        <a:lnTo>
                          <a:pt x="1214" y="824"/>
                        </a:lnTo>
                        <a:lnTo>
                          <a:pt x="1214" y="838"/>
                        </a:lnTo>
                        <a:lnTo>
                          <a:pt x="1167" y="843"/>
                        </a:lnTo>
                        <a:lnTo>
                          <a:pt x="1143" y="830"/>
                        </a:lnTo>
                        <a:lnTo>
                          <a:pt x="1113" y="830"/>
                        </a:lnTo>
                        <a:lnTo>
                          <a:pt x="1106" y="838"/>
                        </a:lnTo>
                        <a:lnTo>
                          <a:pt x="1113" y="855"/>
                        </a:lnTo>
                        <a:lnTo>
                          <a:pt x="1096" y="873"/>
                        </a:lnTo>
                        <a:lnTo>
                          <a:pt x="1091" y="892"/>
                        </a:lnTo>
                        <a:lnTo>
                          <a:pt x="1120" y="917"/>
                        </a:lnTo>
                        <a:lnTo>
                          <a:pt x="1101" y="962"/>
                        </a:lnTo>
                        <a:lnTo>
                          <a:pt x="1108" y="983"/>
                        </a:lnTo>
                        <a:lnTo>
                          <a:pt x="1106" y="996"/>
                        </a:lnTo>
                        <a:lnTo>
                          <a:pt x="1070" y="996"/>
                        </a:lnTo>
                        <a:lnTo>
                          <a:pt x="1046" y="1008"/>
                        </a:lnTo>
                        <a:lnTo>
                          <a:pt x="1065" y="1032"/>
                        </a:lnTo>
                        <a:lnTo>
                          <a:pt x="1053" y="1070"/>
                        </a:lnTo>
                        <a:lnTo>
                          <a:pt x="1016" y="1077"/>
                        </a:lnTo>
                        <a:lnTo>
                          <a:pt x="1020" y="1095"/>
                        </a:lnTo>
                        <a:lnTo>
                          <a:pt x="1010" y="1106"/>
                        </a:lnTo>
                        <a:lnTo>
                          <a:pt x="948" y="1101"/>
                        </a:lnTo>
                        <a:lnTo>
                          <a:pt x="923" y="1084"/>
                        </a:lnTo>
                        <a:lnTo>
                          <a:pt x="917" y="1046"/>
                        </a:lnTo>
                        <a:lnTo>
                          <a:pt x="903" y="1029"/>
                        </a:lnTo>
                        <a:lnTo>
                          <a:pt x="881" y="1046"/>
                        </a:lnTo>
                        <a:lnTo>
                          <a:pt x="840" y="1008"/>
                        </a:lnTo>
                        <a:lnTo>
                          <a:pt x="812" y="987"/>
                        </a:lnTo>
                        <a:lnTo>
                          <a:pt x="807" y="958"/>
                        </a:lnTo>
                        <a:lnTo>
                          <a:pt x="798" y="934"/>
                        </a:lnTo>
                        <a:lnTo>
                          <a:pt x="782" y="934"/>
                        </a:lnTo>
                        <a:lnTo>
                          <a:pt x="723" y="962"/>
                        </a:lnTo>
                        <a:lnTo>
                          <a:pt x="726" y="992"/>
                        </a:lnTo>
                        <a:lnTo>
                          <a:pt x="704" y="992"/>
                        </a:lnTo>
                        <a:lnTo>
                          <a:pt x="666" y="953"/>
                        </a:lnTo>
                        <a:lnTo>
                          <a:pt x="626" y="948"/>
                        </a:lnTo>
                        <a:lnTo>
                          <a:pt x="611" y="927"/>
                        </a:lnTo>
                        <a:lnTo>
                          <a:pt x="623" y="904"/>
                        </a:lnTo>
                        <a:lnTo>
                          <a:pt x="646" y="924"/>
                        </a:lnTo>
                        <a:lnTo>
                          <a:pt x="674" y="934"/>
                        </a:lnTo>
                        <a:lnTo>
                          <a:pt x="695" y="915"/>
                        </a:lnTo>
                        <a:lnTo>
                          <a:pt x="695" y="873"/>
                        </a:lnTo>
                        <a:lnTo>
                          <a:pt x="722" y="850"/>
                        </a:lnTo>
                        <a:lnTo>
                          <a:pt x="741" y="830"/>
                        </a:lnTo>
                        <a:lnTo>
                          <a:pt x="731" y="806"/>
                        </a:lnTo>
                        <a:lnTo>
                          <a:pt x="779" y="770"/>
                        </a:lnTo>
                        <a:lnTo>
                          <a:pt x="786" y="707"/>
                        </a:lnTo>
                        <a:lnTo>
                          <a:pt x="761" y="675"/>
                        </a:lnTo>
                        <a:lnTo>
                          <a:pt x="750" y="623"/>
                        </a:lnTo>
                        <a:lnTo>
                          <a:pt x="690" y="543"/>
                        </a:lnTo>
                        <a:lnTo>
                          <a:pt x="658" y="554"/>
                        </a:lnTo>
                        <a:lnTo>
                          <a:pt x="614" y="514"/>
                        </a:lnTo>
                        <a:lnTo>
                          <a:pt x="554" y="477"/>
                        </a:lnTo>
                        <a:lnTo>
                          <a:pt x="531" y="419"/>
                        </a:lnTo>
                        <a:lnTo>
                          <a:pt x="483" y="436"/>
                        </a:lnTo>
                        <a:lnTo>
                          <a:pt x="397" y="382"/>
                        </a:lnTo>
                        <a:lnTo>
                          <a:pt x="355" y="404"/>
                        </a:lnTo>
                        <a:lnTo>
                          <a:pt x="292" y="394"/>
                        </a:lnTo>
                        <a:lnTo>
                          <a:pt x="242" y="424"/>
                        </a:lnTo>
                        <a:lnTo>
                          <a:pt x="209" y="427"/>
                        </a:lnTo>
                        <a:lnTo>
                          <a:pt x="159" y="397"/>
                        </a:lnTo>
                        <a:lnTo>
                          <a:pt x="125" y="376"/>
                        </a:lnTo>
                        <a:lnTo>
                          <a:pt x="11" y="350"/>
                        </a:lnTo>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 name="Freeform 30"/>
                  <p:cNvSpPr/>
                  <p:nvPr/>
                </p:nvSpPr>
                <p:spPr bwMode="auto">
                  <a:xfrm>
                    <a:off x="4158648" y="3570386"/>
                    <a:ext cx="530225" cy="908050"/>
                  </a:xfrm>
                  <a:custGeom>
                    <a:avLst/>
                    <a:gdLst>
                      <a:gd name="T0" fmla="*/ 401 w 482"/>
                      <a:gd name="T1" fmla="*/ 504 h 849"/>
                      <a:gd name="T2" fmla="*/ 390 w 482"/>
                      <a:gd name="T3" fmla="*/ 287 h 849"/>
                      <a:gd name="T4" fmla="*/ 424 w 482"/>
                      <a:gd name="T5" fmla="*/ 213 h 849"/>
                      <a:gd name="T6" fmla="*/ 421 w 482"/>
                      <a:gd name="T7" fmla="*/ 114 h 849"/>
                      <a:gd name="T8" fmla="*/ 441 w 482"/>
                      <a:gd name="T9" fmla="*/ 44 h 849"/>
                      <a:gd name="T10" fmla="*/ 426 w 482"/>
                      <a:gd name="T11" fmla="*/ 0 h 849"/>
                      <a:gd name="T12" fmla="*/ 353 w 482"/>
                      <a:gd name="T13" fmla="*/ 25 h 849"/>
                      <a:gd name="T14" fmla="*/ 327 w 482"/>
                      <a:gd name="T15" fmla="*/ 86 h 849"/>
                      <a:gd name="T16" fmla="*/ 299 w 482"/>
                      <a:gd name="T17" fmla="*/ 109 h 849"/>
                      <a:gd name="T18" fmla="*/ 205 w 482"/>
                      <a:gd name="T19" fmla="*/ 217 h 849"/>
                      <a:gd name="T20" fmla="*/ 136 w 482"/>
                      <a:gd name="T21" fmla="*/ 213 h 849"/>
                      <a:gd name="T22" fmla="*/ 118 w 482"/>
                      <a:gd name="T23" fmla="*/ 283 h 849"/>
                      <a:gd name="T24" fmla="*/ 205 w 482"/>
                      <a:gd name="T25" fmla="*/ 337 h 849"/>
                      <a:gd name="T26" fmla="*/ 257 w 482"/>
                      <a:gd name="T27" fmla="*/ 389 h 849"/>
                      <a:gd name="T28" fmla="*/ 247 w 482"/>
                      <a:gd name="T29" fmla="*/ 458 h 849"/>
                      <a:gd name="T30" fmla="*/ 181 w 482"/>
                      <a:gd name="T31" fmla="*/ 480 h 849"/>
                      <a:gd name="T32" fmla="*/ 171 w 482"/>
                      <a:gd name="T33" fmla="*/ 497 h 849"/>
                      <a:gd name="T34" fmla="*/ 122 w 482"/>
                      <a:gd name="T35" fmla="*/ 517 h 849"/>
                      <a:gd name="T36" fmla="*/ 68 w 482"/>
                      <a:gd name="T37" fmla="*/ 504 h 849"/>
                      <a:gd name="T38" fmla="*/ 68 w 482"/>
                      <a:gd name="T39" fmla="*/ 529 h 849"/>
                      <a:gd name="T40" fmla="*/ 45 w 482"/>
                      <a:gd name="T41" fmla="*/ 566 h 849"/>
                      <a:gd name="T42" fmla="*/ 55 w 482"/>
                      <a:gd name="T43" fmla="*/ 636 h 849"/>
                      <a:gd name="T44" fmla="*/ 60 w 482"/>
                      <a:gd name="T45" fmla="*/ 670 h 849"/>
                      <a:gd name="T46" fmla="*/ 0 w 482"/>
                      <a:gd name="T47" fmla="*/ 682 h 849"/>
                      <a:gd name="T48" fmla="*/ 7 w 482"/>
                      <a:gd name="T49" fmla="*/ 744 h 849"/>
                      <a:gd name="T50" fmla="*/ 30 w 482"/>
                      <a:gd name="T51" fmla="*/ 769 h 849"/>
                      <a:gd name="T52" fmla="*/ 113 w 482"/>
                      <a:gd name="T53" fmla="*/ 759 h 849"/>
                      <a:gd name="T54" fmla="*/ 131 w 482"/>
                      <a:gd name="T55" fmla="*/ 779 h 849"/>
                      <a:gd name="T56" fmla="*/ 213 w 482"/>
                      <a:gd name="T57" fmla="*/ 815 h 849"/>
                      <a:gd name="T58" fmla="*/ 317 w 482"/>
                      <a:gd name="T59" fmla="*/ 827 h 849"/>
                      <a:gd name="T60" fmla="*/ 367 w 482"/>
                      <a:gd name="T61" fmla="*/ 839 h 849"/>
                      <a:gd name="T62" fmla="*/ 356 w 482"/>
                      <a:gd name="T63" fmla="*/ 792 h 849"/>
                      <a:gd name="T64" fmla="*/ 401 w 482"/>
                      <a:gd name="T65" fmla="*/ 747 h 849"/>
                      <a:gd name="T66" fmla="*/ 390 w 482"/>
                      <a:gd name="T67" fmla="*/ 725 h 849"/>
                      <a:gd name="T68" fmla="*/ 346 w 482"/>
                      <a:gd name="T69" fmla="*/ 697 h 849"/>
                      <a:gd name="T70" fmla="*/ 431 w 482"/>
                      <a:gd name="T71" fmla="*/ 688 h 849"/>
                      <a:gd name="T72" fmla="*/ 458 w 482"/>
                      <a:gd name="T73" fmla="*/ 694 h 849"/>
                      <a:gd name="T74" fmla="*/ 481 w 482"/>
                      <a:gd name="T75" fmla="*/ 647 h 849"/>
                      <a:gd name="T76" fmla="*/ 412 w 482"/>
                      <a:gd name="T77" fmla="*/ 534 h 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2" h="849">
                        <a:moveTo>
                          <a:pt x="412" y="534"/>
                        </a:moveTo>
                        <a:lnTo>
                          <a:pt x="401" y="504"/>
                        </a:lnTo>
                        <a:lnTo>
                          <a:pt x="424" y="431"/>
                        </a:lnTo>
                        <a:lnTo>
                          <a:pt x="390" y="287"/>
                        </a:lnTo>
                        <a:lnTo>
                          <a:pt x="412" y="248"/>
                        </a:lnTo>
                        <a:lnTo>
                          <a:pt x="424" y="213"/>
                        </a:lnTo>
                        <a:lnTo>
                          <a:pt x="393" y="156"/>
                        </a:lnTo>
                        <a:lnTo>
                          <a:pt x="421" y="114"/>
                        </a:lnTo>
                        <a:lnTo>
                          <a:pt x="426" y="73"/>
                        </a:lnTo>
                        <a:lnTo>
                          <a:pt x="441" y="44"/>
                        </a:lnTo>
                        <a:lnTo>
                          <a:pt x="438" y="10"/>
                        </a:lnTo>
                        <a:lnTo>
                          <a:pt x="426" y="0"/>
                        </a:lnTo>
                        <a:lnTo>
                          <a:pt x="406" y="22"/>
                        </a:lnTo>
                        <a:lnTo>
                          <a:pt x="353" y="25"/>
                        </a:lnTo>
                        <a:lnTo>
                          <a:pt x="325" y="64"/>
                        </a:lnTo>
                        <a:lnTo>
                          <a:pt x="327" y="86"/>
                        </a:lnTo>
                        <a:lnTo>
                          <a:pt x="322" y="100"/>
                        </a:lnTo>
                        <a:lnTo>
                          <a:pt x="299" y="109"/>
                        </a:lnTo>
                        <a:lnTo>
                          <a:pt x="216" y="223"/>
                        </a:lnTo>
                        <a:lnTo>
                          <a:pt x="205" y="217"/>
                        </a:lnTo>
                        <a:lnTo>
                          <a:pt x="185" y="212"/>
                        </a:lnTo>
                        <a:lnTo>
                          <a:pt x="136" y="213"/>
                        </a:lnTo>
                        <a:lnTo>
                          <a:pt x="121" y="236"/>
                        </a:lnTo>
                        <a:lnTo>
                          <a:pt x="118" y="283"/>
                        </a:lnTo>
                        <a:lnTo>
                          <a:pt x="126" y="297"/>
                        </a:lnTo>
                        <a:lnTo>
                          <a:pt x="205" y="337"/>
                        </a:lnTo>
                        <a:lnTo>
                          <a:pt x="249" y="363"/>
                        </a:lnTo>
                        <a:lnTo>
                          <a:pt x="257" y="389"/>
                        </a:lnTo>
                        <a:lnTo>
                          <a:pt x="233" y="421"/>
                        </a:lnTo>
                        <a:lnTo>
                          <a:pt x="247" y="458"/>
                        </a:lnTo>
                        <a:lnTo>
                          <a:pt x="238" y="475"/>
                        </a:lnTo>
                        <a:lnTo>
                          <a:pt x="181" y="480"/>
                        </a:lnTo>
                        <a:lnTo>
                          <a:pt x="169" y="486"/>
                        </a:lnTo>
                        <a:lnTo>
                          <a:pt x="171" y="497"/>
                        </a:lnTo>
                        <a:lnTo>
                          <a:pt x="171" y="512"/>
                        </a:lnTo>
                        <a:lnTo>
                          <a:pt x="122" y="517"/>
                        </a:lnTo>
                        <a:lnTo>
                          <a:pt x="98" y="504"/>
                        </a:lnTo>
                        <a:lnTo>
                          <a:pt x="68" y="504"/>
                        </a:lnTo>
                        <a:lnTo>
                          <a:pt x="60" y="512"/>
                        </a:lnTo>
                        <a:lnTo>
                          <a:pt x="68" y="529"/>
                        </a:lnTo>
                        <a:lnTo>
                          <a:pt x="50" y="547"/>
                        </a:lnTo>
                        <a:lnTo>
                          <a:pt x="45" y="566"/>
                        </a:lnTo>
                        <a:lnTo>
                          <a:pt x="75" y="592"/>
                        </a:lnTo>
                        <a:lnTo>
                          <a:pt x="55" y="636"/>
                        </a:lnTo>
                        <a:lnTo>
                          <a:pt x="63" y="657"/>
                        </a:lnTo>
                        <a:lnTo>
                          <a:pt x="60" y="670"/>
                        </a:lnTo>
                        <a:lnTo>
                          <a:pt x="24" y="670"/>
                        </a:lnTo>
                        <a:lnTo>
                          <a:pt x="0" y="682"/>
                        </a:lnTo>
                        <a:lnTo>
                          <a:pt x="19" y="707"/>
                        </a:lnTo>
                        <a:lnTo>
                          <a:pt x="7" y="744"/>
                        </a:lnTo>
                        <a:lnTo>
                          <a:pt x="30" y="747"/>
                        </a:lnTo>
                        <a:lnTo>
                          <a:pt x="30" y="769"/>
                        </a:lnTo>
                        <a:lnTo>
                          <a:pt x="46" y="771"/>
                        </a:lnTo>
                        <a:lnTo>
                          <a:pt x="113" y="759"/>
                        </a:lnTo>
                        <a:lnTo>
                          <a:pt x="126" y="763"/>
                        </a:lnTo>
                        <a:lnTo>
                          <a:pt x="131" y="779"/>
                        </a:lnTo>
                        <a:lnTo>
                          <a:pt x="155" y="787"/>
                        </a:lnTo>
                        <a:lnTo>
                          <a:pt x="213" y="815"/>
                        </a:lnTo>
                        <a:lnTo>
                          <a:pt x="247" y="802"/>
                        </a:lnTo>
                        <a:lnTo>
                          <a:pt x="317" y="827"/>
                        </a:lnTo>
                        <a:lnTo>
                          <a:pt x="332" y="848"/>
                        </a:lnTo>
                        <a:lnTo>
                          <a:pt x="367" y="839"/>
                        </a:lnTo>
                        <a:lnTo>
                          <a:pt x="362" y="802"/>
                        </a:lnTo>
                        <a:lnTo>
                          <a:pt x="356" y="792"/>
                        </a:lnTo>
                        <a:lnTo>
                          <a:pt x="362" y="763"/>
                        </a:lnTo>
                        <a:lnTo>
                          <a:pt x="401" y="747"/>
                        </a:lnTo>
                        <a:lnTo>
                          <a:pt x="411" y="731"/>
                        </a:lnTo>
                        <a:lnTo>
                          <a:pt x="390" y="725"/>
                        </a:lnTo>
                        <a:lnTo>
                          <a:pt x="367" y="720"/>
                        </a:lnTo>
                        <a:lnTo>
                          <a:pt x="346" y="697"/>
                        </a:lnTo>
                        <a:lnTo>
                          <a:pt x="356" y="688"/>
                        </a:lnTo>
                        <a:lnTo>
                          <a:pt x="431" y="688"/>
                        </a:lnTo>
                        <a:lnTo>
                          <a:pt x="448" y="688"/>
                        </a:lnTo>
                        <a:lnTo>
                          <a:pt x="458" y="694"/>
                        </a:lnTo>
                        <a:lnTo>
                          <a:pt x="481" y="677"/>
                        </a:lnTo>
                        <a:lnTo>
                          <a:pt x="481" y="647"/>
                        </a:lnTo>
                        <a:lnTo>
                          <a:pt x="412" y="547"/>
                        </a:lnTo>
                        <a:lnTo>
                          <a:pt x="412" y="534"/>
                        </a:lnTo>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4" name="Freeform 31"/>
                  <p:cNvSpPr/>
                  <p:nvPr/>
                </p:nvSpPr>
                <p:spPr bwMode="auto">
                  <a:xfrm>
                    <a:off x="5088923" y="4083149"/>
                    <a:ext cx="493712" cy="582612"/>
                  </a:xfrm>
                  <a:custGeom>
                    <a:avLst/>
                    <a:gdLst>
                      <a:gd name="T0" fmla="*/ 108 w 451"/>
                      <a:gd name="T1" fmla="*/ 0 h 543"/>
                      <a:gd name="T2" fmla="*/ 186 w 451"/>
                      <a:gd name="T3" fmla="*/ 46 h 543"/>
                      <a:gd name="T4" fmla="*/ 247 w 451"/>
                      <a:gd name="T5" fmla="*/ 73 h 543"/>
                      <a:gd name="T6" fmla="*/ 276 w 451"/>
                      <a:gd name="T7" fmla="*/ 77 h 543"/>
                      <a:gd name="T8" fmla="*/ 292 w 451"/>
                      <a:gd name="T9" fmla="*/ 143 h 543"/>
                      <a:gd name="T10" fmla="*/ 339 w 451"/>
                      <a:gd name="T11" fmla="*/ 171 h 543"/>
                      <a:gd name="T12" fmla="*/ 376 w 451"/>
                      <a:gd name="T13" fmla="*/ 148 h 543"/>
                      <a:gd name="T14" fmla="*/ 388 w 451"/>
                      <a:gd name="T15" fmla="*/ 187 h 543"/>
                      <a:gd name="T16" fmla="*/ 344 w 451"/>
                      <a:gd name="T17" fmla="*/ 212 h 543"/>
                      <a:gd name="T18" fmla="*/ 328 w 451"/>
                      <a:gd name="T19" fmla="*/ 244 h 543"/>
                      <a:gd name="T20" fmla="*/ 376 w 451"/>
                      <a:gd name="T21" fmla="*/ 292 h 543"/>
                      <a:gd name="T22" fmla="*/ 450 w 451"/>
                      <a:gd name="T23" fmla="*/ 328 h 543"/>
                      <a:gd name="T24" fmla="*/ 438 w 451"/>
                      <a:gd name="T25" fmla="*/ 388 h 543"/>
                      <a:gd name="T26" fmla="*/ 438 w 451"/>
                      <a:gd name="T27" fmla="*/ 418 h 543"/>
                      <a:gd name="T28" fmla="*/ 398 w 451"/>
                      <a:gd name="T29" fmla="*/ 441 h 543"/>
                      <a:gd name="T30" fmla="*/ 364 w 451"/>
                      <a:gd name="T31" fmla="*/ 534 h 543"/>
                      <a:gd name="T32" fmla="*/ 337 w 451"/>
                      <a:gd name="T33" fmla="*/ 521 h 543"/>
                      <a:gd name="T34" fmla="*/ 264 w 451"/>
                      <a:gd name="T35" fmla="*/ 496 h 543"/>
                      <a:gd name="T36" fmla="*/ 207 w 451"/>
                      <a:gd name="T37" fmla="*/ 531 h 543"/>
                      <a:gd name="T38" fmla="*/ 223 w 451"/>
                      <a:gd name="T39" fmla="*/ 490 h 543"/>
                      <a:gd name="T40" fmla="*/ 159 w 451"/>
                      <a:gd name="T41" fmla="*/ 512 h 543"/>
                      <a:gd name="T42" fmla="*/ 127 w 451"/>
                      <a:gd name="T43" fmla="*/ 398 h 543"/>
                      <a:gd name="T44" fmla="*/ 98 w 451"/>
                      <a:gd name="T45" fmla="*/ 380 h 543"/>
                      <a:gd name="T46" fmla="*/ 73 w 451"/>
                      <a:gd name="T47" fmla="*/ 320 h 543"/>
                      <a:gd name="T48" fmla="*/ 103 w 451"/>
                      <a:gd name="T49" fmla="*/ 281 h 543"/>
                      <a:gd name="T50" fmla="*/ 88 w 451"/>
                      <a:gd name="T51" fmla="*/ 226 h 543"/>
                      <a:gd name="T52" fmla="*/ 27 w 451"/>
                      <a:gd name="T53" fmla="*/ 223 h 543"/>
                      <a:gd name="T54" fmla="*/ 27 w 451"/>
                      <a:gd name="T55" fmla="*/ 169 h 543"/>
                      <a:gd name="T56" fmla="*/ 50 w 451"/>
                      <a:gd name="T57" fmla="*/ 123 h 543"/>
                      <a:gd name="T58" fmla="*/ 61 w 451"/>
                      <a:gd name="T59" fmla="*/ 65 h 543"/>
                      <a:gd name="T60" fmla="*/ 98 w 451"/>
                      <a:gd name="T61" fmla="*/ 103 h 543"/>
                      <a:gd name="T62" fmla="*/ 136 w 451"/>
                      <a:gd name="T63" fmla="*/ 71 h 543"/>
                      <a:gd name="T64" fmla="*/ 98 w 451"/>
                      <a:gd name="T65" fmla="*/ 29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1" h="543">
                        <a:moveTo>
                          <a:pt x="91" y="4"/>
                        </a:moveTo>
                        <a:lnTo>
                          <a:pt x="108" y="0"/>
                        </a:lnTo>
                        <a:lnTo>
                          <a:pt x="162" y="22"/>
                        </a:lnTo>
                        <a:lnTo>
                          <a:pt x="186" y="46"/>
                        </a:lnTo>
                        <a:lnTo>
                          <a:pt x="230" y="58"/>
                        </a:lnTo>
                        <a:lnTo>
                          <a:pt x="247" y="73"/>
                        </a:lnTo>
                        <a:lnTo>
                          <a:pt x="271" y="71"/>
                        </a:lnTo>
                        <a:lnTo>
                          <a:pt x="276" y="77"/>
                        </a:lnTo>
                        <a:lnTo>
                          <a:pt x="268" y="133"/>
                        </a:lnTo>
                        <a:lnTo>
                          <a:pt x="292" y="143"/>
                        </a:lnTo>
                        <a:lnTo>
                          <a:pt x="303" y="164"/>
                        </a:lnTo>
                        <a:lnTo>
                          <a:pt x="339" y="171"/>
                        </a:lnTo>
                        <a:lnTo>
                          <a:pt x="351" y="146"/>
                        </a:lnTo>
                        <a:lnTo>
                          <a:pt x="376" y="148"/>
                        </a:lnTo>
                        <a:lnTo>
                          <a:pt x="391" y="169"/>
                        </a:lnTo>
                        <a:lnTo>
                          <a:pt x="388" y="187"/>
                        </a:lnTo>
                        <a:lnTo>
                          <a:pt x="344" y="194"/>
                        </a:lnTo>
                        <a:lnTo>
                          <a:pt x="344" y="212"/>
                        </a:lnTo>
                        <a:lnTo>
                          <a:pt x="344" y="225"/>
                        </a:lnTo>
                        <a:lnTo>
                          <a:pt x="328" y="244"/>
                        </a:lnTo>
                        <a:lnTo>
                          <a:pt x="339" y="267"/>
                        </a:lnTo>
                        <a:lnTo>
                          <a:pt x="376" y="292"/>
                        </a:lnTo>
                        <a:lnTo>
                          <a:pt x="379" y="320"/>
                        </a:lnTo>
                        <a:lnTo>
                          <a:pt x="450" y="328"/>
                        </a:lnTo>
                        <a:lnTo>
                          <a:pt x="450" y="366"/>
                        </a:lnTo>
                        <a:lnTo>
                          <a:pt x="438" y="388"/>
                        </a:lnTo>
                        <a:lnTo>
                          <a:pt x="447" y="406"/>
                        </a:lnTo>
                        <a:lnTo>
                          <a:pt x="438" y="418"/>
                        </a:lnTo>
                        <a:lnTo>
                          <a:pt x="411" y="423"/>
                        </a:lnTo>
                        <a:lnTo>
                          <a:pt x="398" y="441"/>
                        </a:lnTo>
                        <a:lnTo>
                          <a:pt x="400" y="483"/>
                        </a:lnTo>
                        <a:lnTo>
                          <a:pt x="364" y="534"/>
                        </a:lnTo>
                        <a:lnTo>
                          <a:pt x="357" y="542"/>
                        </a:lnTo>
                        <a:lnTo>
                          <a:pt x="337" y="521"/>
                        </a:lnTo>
                        <a:lnTo>
                          <a:pt x="286" y="521"/>
                        </a:lnTo>
                        <a:lnTo>
                          <a:pt x="264" y="496"/>
                        </a:lnTo>
                        <a:lnTo>
                          <a:pt x="223" y="539"/>
                        </a:lnTo>
                        <a:lnTo>
                          <a:pt x="207" y="531"/>
                        </a:lnTo>
                        <a:lnTo>
                          <a:pt x="225" y="498"/>
                        </a:lnTo>
                        <a:lnTo>
                          <a:pt x="223" y="490"/>
                        </a:lnTo>
                        <a:lnTo>
                          <a:pt x="207" y="485"/>
                        </a:lnTo>
                        <a:lnTo>
                          <a:pt x="159" y="512"/>
                        </a:lnTo>
                        <a:lnTo>
                          <a:pt x="112" y="423"/>
                        </a:lnTo>
                        <a:lnTo>
                          <a:pt x="127" y="398"/>
                        </a:lnTo>
                        <a:lnTo>
                          <a:pt x="121" y="388"/>
                        </a:lnTo>
                        <a:lnTo>
                          <a:pt x="98" y="380"/>
                        </a:lnTo>
                        <a:lnTo>
                          <a:pt x="56" y="354"/>
                        </a:lnTo>
                        <a:lnTo>
                          <a:pt x="73" y="320"/>
                        </a:lnTo>
                        <a:lnTo>
                          <a:pt x="98" y="309"/>
                        </a:lnTo>
                        <a:lnTo>
                          <a:pt x="103" y="281"/>
                        </a:lnTo>
                        <a:lnTo>
                          <a:pt x="93" y="231"/>
                        </a:lnTo>
                        <a:lnTo>
                          <a:pt x="88" y="226"/>
                        </a:lnTo>
                        <a:lnTo>
                          <a:pt x="63" y="254"/>
                        </a:lnTo>
                        <a:lnTo>
                          <a:pt x="27" y="223"/>
                        </a:lnTo>
                        <a:lnTo>
                          <a:pt x="0" y="189"/>
                        </a:lnTo>
                        <a:lnTo>
                          <a:pt x="27" y="169"/>
                        </a:lnTo>
                        <a:lnTo>
                          <a:pt x="36" y="135"/>
                        </a:lnTo>
                        <a:lnTo>
                          <a:pt x="50" y="123"/>
                        </a:lnTo>
                        <a:lnTo>
                          <a:pt x="49" y="76"/>
                        </a:lnTo>
                        <a:lnTo>
                          <a:pt x="61" y="65"/>
                        </a:lnTo>
                        <a:lnTo>
                          <a:pt x="84" y="83"/>
                        </a:lnTo>
                        <a:lnTo>
                          <a:pt x="98" y="103"/>
                        </a:lnTo>
                        <a:lnTo>
                          <a:pt x="127" y="83"/>
                        </a:lnTo>
                        <a:lnTo>
                          <a:pt x="136" y="71"/>
                        </a:lnTo>
                        <a:lnTo>
                          <a:pt x="132" y="46"/>
                        </a:lnTo>
                        <a:lnTo>
                          <a:pt x="98" y="29"/>
                        </a:lnTo>
                        <a:lnTo>
                          <a:pt x="91" y="4"/>
                        </a:lnTo>
                      </a:path>
                    </a:pathLst>
                  </a:custGeom>
                  <a:grpFill/>
                  <a:ln w="12700" cap="flat" cmpd="sng">
                    <a:solidFill>
                      <a:srgbClr val="FF66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5" name="Freeform 32"/>
                  <p:cNvSpPr/>
                  <p:nvPr/>
                </p:nvSpPr>
                <p:spPr bwMode="auto">
                  <a:xfrm>
                    <a:off x="5207985" y="3997424"/>
                    <a:ext cx="584200" cy="454025"/>
                  </a:xfrm>
                  <a:custGeom>
                    <a:avLst/>
                    <a:gdLst>
                      <a:gd name="T0" fmla="*/ 494 w 533"/>
                      <a:gd name="T1" fmla="*/ 338 h 427"/>
                      <a:gd name="T2" fmla="*/ 483 w 533"/>
                      <a:gd name="T3" fmla="*/ 374 h 427"/>
                      <a:gd name="T4" fmla="*/ 468 w 533"/>
                      <a:gd name="T5" fmla="*/ 394 h 427"/>
                      <a:gd name="T6" fmla="*/ 441 w 533"/>
                      <a:gd name="T7" fmla="*/ 426 h 427"/>
                      <a:gd name="T8" fmla="*/ 398 w 533"/>
                      <a:gd name="T9" fmla="*/ 418 h 427"/>
                      <a:gd name="T10" fmla="*/ 365 w 533"/>
                      <a:gd name="T11" fmla="*/ 399 h 427"/>
                      <a:gd name="T12" fmla="*/ 343 w 533"/>
                      <a:gd name="T13" fmla="*/ 409 h 427"/>
                      <a:gd name="T14" fmla="*/ 272 w 533"/>
                      <a:gd name="T15" fmla="*/ 400 h 427"/>
                      <a:gd name="T16" fmla="*/ 270 w 533"/>
                      <a:gd name="T17" fmla="*/ 373 h 427"/>
                      <a:gd name="T18" fmla="*/ 232 w 533"/>
                      <a:gd name="T19" fmla="*/ 347 h 427"/>
                      <a:gd name="T20" fmla="*/ 222 w 533"/>
                      <a:gd name="T21" fmla="*/ 324 h 427"/>
                      <a:gd name="T22" fmla="*/ 237 w 533"/>
                      <a:gd name="T23" fmla="*/ 306 h 427"/>
                      <a:gd name="T24" fmla="*/ 237 w 533"/>
                      <a:gd name="T25" fmla="*/ 292 h 427"/>
                      <a:gd name="T26" fmla="*/ 237 w 533"/>
                      <a:gd name="T27" fmla="*/ 274 h 427"/>
                      <a:gd name="T28" fmla="*/ 282 w 533"/>
                      <a:gd name="T29" fmla="*/ 267 h 427"/>
                      <a:gd name="T30" fmla="*/ 284 w 533"/>
                      <a:gd name="T31" fmla="*/ 249 h 427"/>
                      <a:gd name="T32" fmla="*/ 270 w 533"/>
                      <a:gd name="T33" fmla="*/ 229 h 427"/>
                      <a:gd name="T34" fmla="*/ 244 w 533"/>
                      <a:gd name="T35" fmla="*/ 227 h 427"/>
                      <a:gd name="T36" fmla="*/ 232 w 533"/>
                      <a:gd name="T37" fmla="*/ 251 h 427"/>
                      <a:gd name="T38" fmla="*/ 196 w 533"/>
                      <a:gd name="T39" fmla="*/ 245 h 427"/>
                      <a:gd name="T40" fmla="*/ 186 w 533"/>
                      <a:gd name="T41" fmla="*/ 225 h 427"/>
                      <a:gd name="T42" fmla="*/ 162 w 533"/>
                      <a:gd name="T43" fmla="*/ 213 h 427"/>
                      <a:gd name="T44" fmla="*/ 169 w 533"/>
                      <a:gd name="T45" fmla="*/ 158 h 427"/>
                      <a:gd name="T46" fmla="*/ 164 w 533"/>
                      <a:gd name="T47" fmla="*/ 152 h 427"/>
                      <a:gd name="T48" fmla="*/ 139 w 533"/>
                      <a:gd name="T49" fmla="*/ 154 h 427"/>
                      <a:gd name="T50" fmla="*/ 123 w 533"/>
                      <a:gd name="T51" fmla="*/ 139 h 427"/>
                      <a:gd name="T52" fmla="*/ 78 w 533"/>
                      <a:gd name="T53" fmla="*/ 127 h 427"/>
                      <a:gd name="T54" fmla="*/ 54 w 533"/>
                      <a:gd name="T55" fmla="*/ 103 h 427"/>
                      <a:gd name="T56" fmla="*/ 0 w 533"/>
                      <a:gd name="T57" fmla="*/ 80 h 427"/>
                      <a:gd name="T58" fmla="*/ 4 w 533"/>
                      <a:gd name="T59" fmla="*/ 56 h 427"/>
                      <a:gd name="T60" fmla="*/ 27 w 533"/>
                      <a:gd name="T61" fmla="*/ 49 h 427"/>
                      <a:gd name="T62" fmla="*/ 66 w 533"/>
                      <a:gd name="T63" fmla="*/ 80 h 427"/>
                      <a:gd name="T64" fmla="*/ 78 w 533"/>
                      <a:gd name="T65" fmla="*/ 80 h 427"/>
                      <a:gd name="T66" fmla="*/ 116 w 533"/>
                      <a:gd name="T67" fmla="*/ 78 h 427"/>
                      <a:gd name="T68" fmla="*/ 136 w 533"/>
                      <a:gd name="T69" fmla="*/ 61 h 427"/>
                      <a:gd name="T70" fmla="*/ 166 w 533"/>
                      <a:gd name="T71" fmla="*/ 85 h 427"/>
                      <a:gd name="T72" fmla="*/ 180 w 533"/>
                      <a:gd name="T73" fmla="*/ 63 h 427"/>
                      <a:gd name="T74" fmla="*/ 181 w 533"/>
                      <a:gd name="T75" fmla="*/ 51 h 427"/>
                      <a:gd name="T76" fmla="*/ 206 w 533"/>
                      <a:gd name="T77" fmla="*/ 36 h 427"/>
                      <a:gd name="T78" fmla="*/ 214 w 533"/>
                      <a:gd name="T79" fmla="*/ 4 h 427"/>
                      <a:gd name="T80" fmla="*/ 237 w 533"/>
                      <a:gd name="T81" fmla="*/ 0 h 427"/>
                      <a:gd name="T82" fmla="*/ 300 w 533"/>
                      <a:gd name="T83" fmla="*/ 44 h 427"/>
                      <a:gd name="T84" fmla="*/ 343 w 533"/>
                      <a:gd name="T85" fmla="*/ 61 h 427"/>
                      <a:gd name="T86" fmla="*/ 427 w 533"/>
                      <a:gd name="T87" fmla="*/ 200 h 427"/>
                      <a:gd name="T88" fmla="*/ 422 w 533"/>
                      <a:gd name="T89" fmla="*/ 213 h 427"/>
                      <a:gd name="T90" fmla="*/ 479 w 533"/>
                      <a:gd name="T91" fmla="*/ 240 h 427"/>
                      <a:gd name="T92" fmla="*/ 494 w 533"/>
                      <a:gd name="T93" fmla="*/ 264 h 427"/>
                      <a:gd name="T94" fmla="*/ 519 w 533"/>
                      <a:gd name="T95" fmla="*/ 276 h 427"/>
                      <a:gd name="T96" fmla="*/ 532 w 533"/>
                      <a:gd name="T97" fmla="*/ 302 h 427"/>
                      <a:gd name="T98" fmla="*/ 515 w 533"/>
                      <a:gd name="T99" fmla="*/ 308 h 427"/>
                      <a:gd name="T100" fmla="*/ 487 w 533"/>
                      <a:gd name="T101" fmla="*/ 298 h 427"/>
                      <a:gd name="T102" fmla="*/ 446 w 533"/>
                      <a:gd name="T103" fmla="*/ 298 h 427"/>
                      <a:gd name="T104" fmla="*/ 409 w 533"/>
                      <a:gd name="T105" fmla="*/ 286 h 427"/>
                      <a:gd name="T106" fmla="*/ 398 w 533"/>
                      <a:gd name="T107" fmla="*/ 298 h 427"/>
                      <a:gd name="T108" fmla="*/ 429 w 533"/>
                      <a:gd name="T109" fmla="*/ 308 h 427"/>
                      <a:gd name="T110" fmla="*/ 463 w 533"/>
                      <a:gd name="T111" fmla="*/ 323 h 427"/>
                      <a:gd name="T112" fmla="*/ 494 w 533"/>
                      <a:gd name="T113" fmla="*/ 338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33" h="427">
                        <a:moveTo>
                          <a:pt x="494" y="338"/>
                        </a:moveTo>
                        <a:lnTo>
                          <a:pt x="483" y="374"/>
                        </a:lnTo>
                        <a:lnTo>
                          <a:pt x="468" y="394"/>
                        </a:lnTo>
                        <a:lnTo>
                          <a:pt x="441" y="426"/>
                        </a:lnTo>
                        <a:lnTo>
                          <a:pt x="398" y="418"/>
                        </a:lnTo>
                        <a:lnTo>
                          <a:pt x="365" y="399"/>
                        </a:lnTo>
                        <a:lnTo>
                          <a:pt x="343" y="409"/>
                        </a:lnTo>
                        <a:lnTo>
                          <a:pt x="272" y="400"/>
                        </a:lnTo>
                        <a:lnTo>
                          <a:pt x="270" y="373"/>
                        </a:lnTo>
                        <a:lnTo>
                          <a:pt x="232" y="347"/>
                        </a:lnTo>
                        <a:lnTo>
                          <a:pt x="222" y="324"/>
                        </a:lnTo>
                        <a:lnTo>
                          <a:pt x="237" y="306"/>
                        </a:lnTo>
                        <a:lnTo>
                          <a:pt x="237" y="292"/>
                        </a:lnTo>
                        <a:lnTo>
                          <a:pt x="237" y="274"/>
                        </a:lnTo>
                        <a:lnTo>
                          <a:pt x="282" y="267"/>
                        </a:lnTo>
                        <a:lnTo>
                          <a:pt x="284" y="249"/>
                        </a:lnTo>
                        <a:lnTo>
                          <a:pt x="270" y="229"/>
                        </a:lnTo>
                        <a:lnTo>
                          <a:pt x="244" y="227"/>
                        </a:lnTo>
                        <a:lnTo>
                          <a:pt x="232" y="251"/>
                        </a:lnTo>
                        <a:lnTo>
                          <a:pt x="196" y="245"/>
                        </a:lnTo>
                        <a:lnTo>
                          <a:pt x="186" y="225"/>
                        </a:lnTo>
                        <a:lnTo>
                          <a:pt x="162" y="213"/>
                        </a:lnTo>
                        <a:lnTo>
                          <a:pt x="169" y="158"/>
                        </a:lnTo>
                        <a:lnTo>
                          <a:pt x="164" y="152"/>
                        </a:lnTo>
                        <a:lnTo>
                          <a:pt x="139" y="154"/>
                        </a:lnTo>
                        <a:lnTo>
                          <a:pt x="123" y="139"/>
                        </a:lnTo>
                        <a:lnTo>
                          <a:pt x="78" y="127"/>
                        </a:lnTo>
                        <a:lnTo>
                          <a:pt x="54" y="103"/>
                        </a:lnTo>
                        <a:lnTo>
                          <a:pt x="0" y="80"/>
                        </a:lnTo>
                        <a:lnTo>
                          <a:pt x="4" y="56"/>
                        </a:lnTo>
                        <a:lnTo>
                          <a:pt x="27" y="49"/>
                        </a:lnTo>
                        <a:lnTo>
                          <a:pt x="66" y="80"/>
                        </a:lnTo>
                        <a:lnTo>
                          <a:pt x="78" y="80"/>
                        </a:lnTo>
                        <a:lnTo>
                          <a:pt x="116" y="78"/>
                        </a:lnTo>
                        <a:lnTo>
                          <a:pt x="136" y="61"/>
                        </a:lnTo>
                        <a:lnTo>
                          <a:pt x="166" y="85"/>
                        </a:lnTo>
                        <a:lnTo>
                          <a:pt x="180" y="63"/>
                        </a:lnTo>
                        <a:lnTo>
                          <a:pt x="181" y="51"/>
                        </a:lnTo>
                        <a:lnTo>
                          <a:pt x="206" y="36"/>
                        </a:lnTo>
                        <a:lnTo>
                          <a:pt x="214" y="4"/>
                        </a:lnTo>
                        <a:lnTo>
                          <a:pt x="237" y="0"/>
                        </a:lnTo>
                        <a:lnTo>
                          <a:pt x="300" y="44"/>
                        </a:lnTo>
                        <a:lnTo>
                          <a:pt x="343" y="61"/>
                        </a:lnTo>
                        <a:lnTo>
                          <a:pt x="427" y="200"/>
                        </a:lnTo>
                        <a:lnTo>
                          <a:pt x="422" y="213"/>
                        </a:lnTo>
                        <a:lnTo>
                          <a:pt x="479" y="240"/>
                        </a:lnTo>
                        <a:lnTo>
                          <a:pt x="494" y="264"/>
                        </a:lnTo>
                        <a:lnTo>
                          <a:pt x="519" y="276"/>
                        </a:lnTo>
                        <a:lnTo>
                          <a:pt x="532" y="302"/>
                        </a:lnTo>
                        <a:lnTo>
                          <a:pt x="515" y="308"/>
                        </a:lnTo>
                        <a:lnTo>
                          <a:pt x="487" y="298"/>
                        </a:lnTo>
                        <a:lnTo>
                          <a:pt x="446" y="298"/>
                        </a:lnTo>
                        <a:lnTo>
                          <a:pt x="409" y="286"/>
                        </a:lnTo>
                        <a:lnTo>
                          <a:pt x="398" y="298"/>
                        </a:lnTo>
                        <a:lnTo>
                          <a:pt x="429" y="308"/>
                        </a:lnTo>
                        <a:lnTo>
                          <a:pt x="463" y="323"/>
                        </a:lnTo>
                        <a:lnTo>
                          <a:pt x="494" y="338"/>
                        </a:lnTo>
                      </a:path>
                    </a:pathLst>
                  </a:custGeom>
                  <a:grpFill/>
                  <a:ln w="12700" cap="flat" cmpd="sng">
                    <a:solidFill>
                      <a:srgbClr val="FF66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6" name="Freeform 33"/>
                  <p:cNvSpPr/>
                  <p:nvPr/>
                </p:nvSpPr>
                <p:spPr bwMode="auto">
                  <a:xfrm>
                    <a:off x="5727098" y="4364136"/>
                    <a:ext cx="82550" cy="85725"/>
                  </a:xfrm>
                  <a:custGeom>
                    <a:avLst/>
                    <a:gdLst>
                      <a:gd name="T0" fmla="*/ 32 w 76"/>
                      <a:gd name="T1" fmla="*/ 79 h 80"/>
                      <a:gd name="T2" fmla="*/ 0 w 76"/>
                      <a:gd name="T3" fmla="*/ 52 h 80"/>
                      <a:gd name="T4" fmla="*/ 14 w 76"/>
                      <a:gd name="T5" fmla="*/ 33 h 80"/>
                      <a:gd name="T6" fmla="*/ 25 w 76"/>
                      <a:gd name="T7" fmla="*/ 0 h 80"/>
                      <a:gd name="T8" fmla="*/ 58 w 76"/>
                      <a:gd name="T9" fmla="*/ 13 h 80"/>
                      <a:gd name="T10" fmla="*/ 75 w 76"/>
                      <a:gd name="T11" fmla="*/ 35 h 80"/>
                      <a:gd name="T12" fmla="*/ 64 w 76"/>
                      <a:gd name="T13" fmla="*/ 52 h 80"/>
                      <a:gd name="T14" fmla="*/ 32 w 76"/>
                      <a:gd name="T15" fmla="*/ 79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80">
                        <a:moveTo>
                          <a:pt x="32" y="79"/>
                        </a:moveTo>
                        <a:lnTo>
                          <a:pt x="0" y="52"/>
                        </a:lnTo>
                        <a:lnTo>
                          <a:pt x="14" y="33"/>
                        </a:lnTo>
                        <a:lnTo>
                          <a:pt x="25" y="0"/>
                        </a:lnTo>
                        <a:lnTo>
                          <a:pt x="58" y="13"/>
                        </a:lnTo>
                        <a:lnTo>
                          <a:pt x="75" y="35"/>
                        </a:lnTo>
                        <a:lnTo>
                          <a:pt x="64" y="52"/>
                        </a:lnTo>
                        <a:lnTo>
                          <a:pt x="32" y="79"/>
                        </a:lnTo>
                      </a:path>
                    </a:pathLst>
                  </a:custGeom>
                  <a:grpFill/>
                  <a:ln w="12700" cap="flat" cmpd="sng">
                    <a:solidFill>
                      <a:srgbClr val="FF66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7" name="Freeform 34"/>
                  <p:cNvSpPr/>
                  <p:nvPr/>
                </p:nvSpPr>
                <p:spPr bwMode="auto">
                  <a:xfrm>
                    <a:off x="5306410" y="4784824"/>
                    <a:ext cx="450850" cy="550862"/>
                  </a:xfrm>
                  <a:custGeom>
                    <a:avLst/>
                    <a:gdLst>
                      <a:gd name="T0" fmla="*/ 0 w 410"/>
                      <a:gd name="T1" fmla="*/ 393 h 515"/>
                      <a:gd name="T2" fmla="*/ 15 w 410"/>
                      <a:gd name="T3" fmla="*/ 305 h 515"/>
                      <a:gd name="T4" fmla="*/ 30 w 410"/>
                      <a:gd name="T5" fmla="*/ 284 h 515"/>
                      <a:gd name="T6" fmla="*/ 36 w 410"/>
                      <a:gd name="T7" fmla="*/ 259 h 515"/>
                      <a:gd name="T8" fmla="*/ 52 w 410"/>
                      <a:gd name="T9" fmla="*/ 222 h 515"/>
                      <a:gd name="T10" fmla="*/ 43 w 410"/>
                      <a:gd name="T11" fmla="*/ 208 h 515"/>
                      <a:gd name="T12" fmla="*/ 45 w 410"/>
                      <a:gd name="T13" fmla="*/ 176 h 515"/>
                      <a:gd name="T14" fmla="*/ 87 w 410"/>
                      <a:gd name="T15" fmla="*/ 128 h 515"/>
                      <a:gd name="T16" fmla="*/ 86 w 410"/>
                      <a:gd name="T17" fmla="*/ 97 h 515"/>
                      <a:gd name="T18" fmla="*/ 111 w 410"/>
                      <a:gd name="T19" fmla="*/ 50 h 515"/>
                      <a:gd name="T20" fmla="*/ 139 w 410"/>
                      <a:gd name="T21" fmla="*/ 58 h 515"/>
                      <a:gd name="T22" fmla="*/ 192 w 410"/>
                      <a:gd name="T23" fmla="*/ 19 h 515"/>
                      <a:gd name="T24" fmla="*/ 202 w 410"/>
                      <a:gd name="T25" fmla="*/ 0 h 515"/>
                      <a:gd name="T26" fmla="*/ 235 w 410"/>
                      <a:gd name="T27" fmla="*/ 4 h 515"/>
                      <a:gd name="T28" fmla="*/ 251 w 410"/>
                      <a:gd name="T29" fmla="*/ 48 h 515"/>
                      <a:gd name="T30" fmla="*/ 265 w 410"/>
                      <a:gd name="T31" fmla="*/ 78 h 515"/>
                      <a:gd name="T32" fmla="*/ 300 w 410"/>
                      <a:gd name="T33" fmla="*/ 78 h 515"/>
                      <a:gd name="T34" fmla="*/ 319 w 410"/>
                      <a:gd name="T35" fmla="*/ 50 h 515"/>
                      <a:gd name="T36" fmla="*/ 352 w 410"/>
                      <a:gd name="T37" fmla="*/ 82 h 515"/>
                      <a:gd name="T38" fmla="*/ 409 w 410"/>
                      <a:gd name="T39" fmla="*/ 63 h 515"/>
                      <a:gd name="T40" fmla="*/ 374 w 410"/>
                      <a:gd name="T41" fmla="*/ 145 h 515"/>
                      <a:gd name="T42" fmla="*/ 352 w 410"/>
                      <a:gd name="T43" fmla="*/ 135 h 515"/>
                      <a:gd name="T44" fmla="*/ 340 w 410"/>
                      <a:gd name="T45" fmla="*/ 144 h 515"/>
                      <a:gd name="T46" fmla="*/ 338 w 410"/>
                      <a:gd name="T47" fmla="*/ 150 h 515"/>
                      <a:gd name="T48" fmla="*/ 357 w 410"/>
                      <a:gd name="T49" fmla="*/ 172 h 515"/>
                      <a:gd name="T50" fmla="*/ 352 w 410"/>
                      <a:gd name="T51" fmla="*/ 249 h 515"/>
                      <a:gd name="T52" fmla="*/ 357 w 410"/>
                      <a:gd name="T53" fmla="*/ 273 h 515"/>
                      <a:gd name="T54" fmla="*/ 352 w 410"/>
                      <a:gd name="T55" fmla="*/ 281 h 515"/>
                      <a:gd name="T56" fmla="*/ 327 w 410"/>
                      <a:gd name="T57" fmla="*/ 276 h 515"/>
                      <a:gd name="T58" fmla="*/ 315 w 410"/>
                      <a:gd name="T59" fmla="*/ 290 h 515"/>
                      <a:gd name="T60" fmla="*/ 324 w 410"/>
                      <a:gd name="T61" fmla="*/ 311 h 515"/>
                      <a:gd name="T62" fmla="*/ 295 w 410"/>
                      <a:gd name="T63" fmla="*/ 337 h 515"/>
                      <a:gd name="T64" fmla="*/ 303 w 410"/>
                      <a:gd name="T65" fmla="*/ 347 h 515"/>
                      <a:gd name="T66" fmla="*/ 275 w 410"/>
                      <a:gd name="T67" fmla="*/ 362 h 515"/>
                      <a:gd name="T68" fmla="*/ 279 w 410"/>
                      <a:gd name="T69" fmla="*/ 381 h 515"/>
                      <a:gd name="T70" fmla="*/ 270 w 410"/>
                      <a:gd name="T71" fmla="*/ 391 h 515"/>
                      <a:gd name="T72" fmla="*/ 235 w 410"/>
                      <a:gd name="T73" fmla="*/ 391 h 515"/>
                      <a:gd name="T74" fmla="*/ 215 w 410"/>
                      <a:gd name="T75" fmla="*/ 408 h 515"/>
                      <a:gd name="T76" fmla="*/ 212 w 410"/>
                      <a:gd name="T77" fmla="*/ 415 h 515"/>
                      <a:gd name="T78" fmla="*/ 229 w 410"/>
                      <a:gd name="T79" fmla="*/ 427 h 515"/>
                      <a:gd name="T80" fmla="*/ 210 w 410"/>
                      <a:gd name="T81" fmla="*/ 457 h 515"/>
                      <a:gd name="T82" fmla="*/ 185 w 410"/>
                      <a:gd name="T83" fmla="*/ 489 h 515"/>
                      <a:gd name="T84" fmla="*/ 173 w 410"/>
                      <a:gd name="T85" fmla="*/ 485 h 515"/>
                      <a:gd name="T86" fmla="*/ 149 w 410"/>
                      <a:gd name="T87" fmla="*/ 514 h 515"/>
                      <a:gd name="T88" fmla="*/ 119 w 410"/>
                      <a:gd name="T89" fmla="*/ 450 h 515"/>
                      <a:gd name="T90" fmla="*/ 92 w 410"/>
                      <a:gd name="T91" fmla="*/ 415 h 515"/>
                      <a:gd name="T92" fmla="*/ 75 w 410"/>
                      <a:gd name="T93" fmla="*/ 417 h 515"/>
                      <a:gd name="T94" fmla="*/ 63 w 410"/>
                      <a:gd name="T95" fmla="*/ 408 h 515"/>
                      <a:gd name="T96" fmla="*/ 0 w 410"/>
                      <a:gd name="T97" fmla="*/ 393 h 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0" h="515">
                        <a:moveTo>
                          <a:pt x="0" y="393"/>
                        </a:moveTo>
                        <a:lnTo>
                          <a:pt x="15" y="305"/>
                        </a:lnTo>
                        <a:lnTo>
                          <a:pt x="30" y="284"/>
                        </a:lnTo>
                        <a:lnTo>
                          <a:pt x="36" y="259"/>
                        </a:lnTo>
                        <a:lnTo>
                          <a:pt x="52" y="222"/>
                        </a:lnTo>
                        <a:lnTo>
                          <a:pt x="43" y="208"/>
                        </a:lnTo>
                        <a:lnTo>
                          <a:pt x="45" y="176"/>
                        </a:lnTo>
                        <a:lnTo>
                          <a:pt x="87" y="128"/>
                        </a:lnTo>
                        <a:lnTo>
                          <a:pt x="86" y="97"/>
                        </a:lnTo>
                        <a:lnTo>
                          <a:pt x="111" y="50"/>
                        </a:lnTo>
                        <a:lnTo>
                          <a:pt x="139" y="58"/>
                        </a:lnTo>
                        <a:lnTo>
                          <a:pt x="192" y="19"/>
                        </a:lnTo>
                        <a:lnTo>
                          <a:pt x="202" y="0"/>
                        </a:lnTo>
                        <a:lnTo>
                          <a:pt x="235" y="4"/>
                        </a:lnTo>
                        <a:lnTo>
                          <a:pt x="251" y="48"/>
                        </a:lnTo>
                        <a:lnTo>
                          <a:pt x="265" y="78"/>
                        </a:lnTo>
                        <a:lnTo>
                          <a:pt x="300" y="78"/>
                        </a:lnTo>
                        <a:lnTo>
                          <a:pt x="319" y="50"/>
                        </a:lnTo>
                        <a:lnTo>
                          <a:pt x="352" y="82"/>
                        </a:lnTo>
                        <a:lnTo>
                          <a:pt x="409" y="63"/>
                        </a:lnTo>
                        <a:lnTo>
                          <a:pt x="374" y="145"/>
                        </a:lnTo>
                        <a:lnTo>
                          <a:pt x="352" y="135"/>
                        </a:lnTo>
                        <a:lnTo>
                          <a:pt x="340" y="144"/>
                        </a:lnTo>
                        <a:lnTo>
                          <a:pt x="338" y="150"/>
                        </a:lnTo>
                        <a:lnTo>
                          <a:pt x="357" y="172"/>
                        </a:lnTo>
                        <a:lnTo>
                          <a:pt x="352" y="249"/>
                        </a:lnTo>
                        <a:lnTo>
                          <a:pt x="357" y="273"/>
                        </a:lnTo>
                        <a:lnTo>
                          <a:pt x="352" y="281"/>
                        </a:lnTo>
                        <a:lnTo>
                          <a:pt x="327" y="276"/>
                        </a:lnTo>
                        <a:lnTo>
                          <a:pt x="315" y="290"/>
                        </a:lnTo>
                        <a:lnTo>
                          <a:pt x="324" y="311"/>
                        </a:lnTo>
                        <a:lnTo>
                          <a:pt x="295" y="337"/>
                        </a:lnTo>
                        <a:lnTo>
                          <a:pt x="303" y="347"/>
                        </a:lnTo>
                        <a:lnTo>
                          <a:pt x="275" y="362"/>
                        </a:lnTo>
                        <a:lnTo>
                          <a:pt x="279" y="381"/>
                        </a:lnTo>
                        <a:lnTo>
                          <a:pt x="270" y="391"/>
                        </a:lnTo>
                        <a:lnTo>
                          <a:pt x="235" y="391"/>
                        </a:lnTo>
                        <a:lnTo>
                          <a:pt x="215" y="408"/>
                        </a:lnTo>
                        <a:lnTo>
                          <a:pt x="212" y="415"/>
                        </a:lnTo>
                        <a:lnTo>
                          <a:pt x="229" y="427"/>
                        </a:lnTo>
                        <a:lnTo>
                          <a:pt x="210" y="457"/>
                        </a:lnTo>
                        <a:lnTo>
                          <a:pt x="185" y="489"/>
                        </a:lnTo>
                        <a:lnTo>
                          <a:pt x="173" y="485"/>
                        </a:lnTo>
                        <a:lnTo>
                          <a:pt x="149" y="514"/>
                        </a:lnTo>
                        <a:lnTo>
                          <a:pt x="119" y="450"/>
                        </a:lnTo>
                        <a:lnTo>
                          <a:pt x="92" y="415"/>
                        </a:lnTo>
                        <a:lnTo>
                          <a:pt x="75" y="417"/>
                        </a:lnTo>
                        <a:lnTo>
                          <a:pt x="63" y="408"/>
                        </a:lnTo>
                        <a:lnTo>
                          <a:pt x="0" y="393"/>
                        </a:lnTo>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8" name="Freeform 35"/>
                  <p:cNvSpPr/>
                  <p:nvPr/>
                </p:nvSpPr>
                <p:spPr bwMode="auto">
                  <a:xfrm>
                    <a:off x="5447698" y="4403824"/>
                    <a:ext cx="395287" cy="452437"/>
                  </a:xfrm>
                  <a:custGeom>
                    <a:avLst/>
                    <a:gdLst>
                      <a:gd name="T0" fmla="*/ 261 w 361"/>
                      <a:gd name="T1" fmla="*/ 399 h 420"/>
                      <a:gd name="T2" fmla="*/ 205 w 361"/>
                      <a:gd name="T3" fmla="*/ 419 h 420"/>
                      <a:gd name="T4" fmla="*/ 172 w 361"/>
                      <a:gd name="T5" fmla="*/ 386 h 420"/>
                      <a:gd name="T6" fmla="*/ 152 w 361"/>
                      <a:gd name="T7" fmla="*/ 414 h 420"/>
                      <a:gd name="T8" fmla="*/ 118 w 361"/>
                      <a:gd name="T9" fmla="*/ 414 h 420"/>
                      <a:gd name="T10" fmla="*/ 104 w 361"/>
                      <a:gd name="T11" fmla="*/ 384 h 420"/>
                      <a:gd name="T12" fmla="*/ 88 w 361"/>
                      <a:gd name="T13" fmla="*/ 340 h 420"/>
                      <a:gd name="T14" fmla="*/ 55 w 361"/>
                      <a:gd name="T15" fmla="*/ 336 h 420"/>
                      <a:gd name="T16" fmla="*/ 22 w 361"/>
                      <a:gd name="T17" fmla="*/ 272 h 420"/>
                      <a:gd name="T18" fmla="*/ 0 w 361"/>
                      <a:gd name="T19" fmla="*/ 241 h 420"/>
                      <a:gd name="T20" fmla="*/ 15 w 361"/>
                      <a:gd name="T21" fmla="*/ 226 h 420"/>
                      <a:gd name="T22" fmla="*/ 22 w 361"/>
                      <a:gd name="T23" fmla="*/ 219 h 420"/>
                      <a:gd name="T24" fmla="*/ 57 w 361"/>
                      <a:gd name="T25" fmla="*/ 168 h 420"/>
                      <a:gd name="T26" fmla="*/ 55 w 361"/>
                      <a:gd name="T27" fmla="*/ 126 h 420"/>
                      <a:gd name="T28" fmla="*/ 68 w 361"/>
                      <a:gd name="T29" fmla="*/ 108 h 420"/>
                      <a:gd name="T30" fmla="*/ 94 w 361"/>
                      <a:gd name="T31" fmla="*/ 104 h 420"/>
                      <a:gd name="T32" fmla="*/ 104 w 361"/>
                      <a:gd name="T33" fmla="*/ 92 h 420"/>
                      <a:gd name="T34" fmla="*/ 94 w 361"/>
                      <a:gd name="T35" fmla="*/ 73 h 420"/>
                      <a:gd name="T36" fmla="*/ 106 w 361"/>
                      <a:gd name="T37" fmla="*/ 51 h 420"/>
                      <a:gd name="T38" fmla="*/ 106 w 361"/>
                      <a:gd name="T39" fmla="*/ 14 h 420"/>
                      <a:gd name="T40" fmla="*/ 128 w 361"/>
                      <a:gd name="T41" fmla="*/ 4 h 420"/>
                      <a:gd name="T42" fmla="*/ 160 w 361"/>
                      <a:gd name="T43" fmla="*/ 24 h 420"/>
                      <a:gd name="T44" fmla="*/ 205 w 361"/>
                      <a:gd name="T45" fmla="*/ 31 h 420"/>
                      <a:gd name="T46" fmla="*/ 230 w 361"/>
                      <a:gd name="T47" fmla="*/ 0 h 420"/>
                      <a:gd name="T48" fmla="*/ 266 w 361"/>
                      <a:gd name="T49" fmla="*/ 28 h 420"/>
                      <a:gd name="T50" fmla="*/ 250 w 361"/>
                      <a:gd name="T51" fmla="*/ 37 h 420"/>
                      <a:gd name="T52" fmla="*/ 232 w 361"/>
                      <a:gd name="T53" fmla="*/ 64 h 420"/>
                      <a:gd name="T54" fmla="*/ 205 w 361"/>
                      <a:gd name="T55" fmla="*/ 73 h 420"/>
                      <a:gd name="T56" fmla="*/ 198 w 361"/>
                      <a:gd name="T57" fmla="*/ 79 h 420"/>
                      <a:gd name="T58" fmla="*/ 220 w 361"/>
                      <a:gd name="T59" fmla="*/ 94 h 420"/>
                      <a:gd name="T60" fmla="*/ 270 w 361"/>
                      <a:gd name="T61" fmla="*/ 73 h 420"/>
                      <a:gd name="T62" fmla="*/ 350 w 361"/>
                      <a:gd name="T63" fmla="*/ 105 h 420"/>
                      <a:gd name="T64" fmla="*/ 360 w 361"/>
                      <a:gd name="T65" fmla="*/ 174 h 420"/>
                      <a:gd name="T66" fmla="*/ 326 w 361"/>
                      <a:gd name="T67" fmla="*/ 174 h 420"/>
                      <a:gd name="T68" fmla="*/ 324 w 361"/>
                      <a:gd name="T69" fmla="*/ 194 h 420"/>
                      <a:gd name="T70" fmla="*/ 340 w 361"/>
                      <a:gd name="T71" fmla="*/ 224 h 420"/>
                      <a:gd name="T72" fmla="*/ 326 w 361"/>
                      <a:gd name="T73" fmla="*/ 241 h 420"/>
                      <a:gd name="T74" fmla="*/ 343 w 361"/>
                      <a:gd name="T75" fmla="*/ 266 h 420"/>
                      <a:gd name="T76" fmla="*/ 316 w 361"/>
                      <a:gd name="T77" fmla="*/ 300 h 420"/>
                      <a:gd name="T78" fmla="*/ 306 w 361"/>
                      <a:gd name="T79" fmla="*/ 284 h 420"/>
                      <a:gd name="T80" fmla="*/ 266 w 361"/>
                      <a:gd name="T81" fmla="*/ 384 h 420"/>
                      <a:gd name="T82" fmla="*/ 261 w 361"/>
                      <a:gd name="T83" fmla="*/ 399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61" h="420">
                        <a:moveTo>
                          <a:pt x="261" y="399"/>
                        </a:moveTo>
                        <a:lnTo>
                          <a:pt x="205" y="419"/>
                        </a:lnTo>
                        <a:lnTo>
                          <a:pt x="172" y="386"/>
                        </a:lnTo>
                        <a:lnTo>
                          <a:pt x="152" y="414"/>
                        </a:lnTo>
                        <a:lnTo>
                          <a:pt x="118" y="414"/>
                        </a:lnTo>
                        <a:lnTo>
                          <a:pt x="104" y="384"/>
                        </a:lnTo>
                        <a:lnTo>
                          <a:pt x="88" y="340"/>
                        </a:lnTo>
                        <a:lnTo>
                          <a:pt x="55" y="336"/>
                        </a:lnTo>
                        <a:lnTo>
                          <a:pt x="22" y="272"/>
                        </a:lnTo>
                        <a:lnTo>
                          <a:pt x="0" y="241"/>
                        </a:lnTo>
                        <a:lnTo>
                          <a:pt x="15" y="226"/>
                        </a:lnTo>
                        <a:lnTo>
                          <a:pt x="22" y="219"/>
                        </a:lnTo>
                        <a:lnTo>
                          <a:pt x="57" y="168"/>
                        </a:lnTo>
                        <a:lnTo>
                          <a:pt x="55" y="126"/>
                        </a:lnTo>
                        <a:lnTo>
                          <a:pt x="68" y="108"/>
                        </a:lnTo>
                        <a:lnTo>
                          <a:pt x="94" y="104"/>
                        </a:lnTo>
                        <a:lnTo>
                          <a:pt x="104" y="92"/>
                        </a:lnTo>
                        <a:lnTo>
                          <a:pt x="94" y="73"/>
                        </a:lnTo>
                        <a:lnTo>
                          <a:pt x="106" y="51"/>
                        </a:lnTo>
                        <a:lnTo>
                          <a:pt x="106" y="14"/>
                        </a:lnTo>
                        <a:lnTo>
                          <a:pt x="128" y="4"/>
                        </a:lnTo>
                        <a:lnTo>
                          <a:pt x="160" y="24"/>
                        </a:lnTo>
                        <a:lnTo>
                          <a:pt x="205" y="31"/>
                        </a:lnTo>
                        <a:lnTo>
                          <a:pt x="230" y="0"/>
                        </a:lnTo>
                        <a:lnTo>
                          <a:pt x="266" y="28"/>
                        </a:lnTo>
                        <a:lnTo>
                          <a:pt x="250" y="37"/>
                        </a:lnTo>
                        <a:lnTo>
                          <a:pt x="232" y="64"/>
                        </a:lnTo>
                        <a:lnTo>
                          <a:pt x="205" y="73"/>
                        </a:lnTo>
                        <a:lnTo>
                          <a:pt x="198" y="79"/>
                        </a:lnTo>
                        <a:lnTo>
                          <a:pt x="220" y="94"/>
                        </a:lnTo>
                        <a:lnTo>
                          <a:pt x="270" y="73"/>
                        </a:lnTo>
                        <a:lnTo>
                          <a:pt x="350" y="105"/>
                        </a:lnTo>
                        <a:lnTo>
                          <a:pt x="360" y="174"/>
                        </a:lnTo>
                        <a:lnTo>
                          <a:pt x="326" y="174"/>
                        </a:lnTo>
                        <a:lnTo>
                          <a:pt x="324" y="194"/>
                        </a:lnTo>
                        <a:lnTo>
                          <a:pt x="340" y="224"/>
                        </a:lnTo>
                        <a:lnTo>
                          <a:pt x="326" y="241"/>
                        </a:lnTo>
                        <a:lnTo>
                          <a:pt x="343" y="266"/>
                        </a:lnTo>
                        <a:lnTo>
                          <a:pt x="316" y="300"/>
                        </a:lnTo>
                        <a:lnTo>
                          <a:pt x="306" y="284"/>
                        </a:lnTo>
                        <a:lnTo>
                          <a:pt x="266" y="384"/>
                        </a:lnTo>
                        <a:lnTo>
                          <a:pt x="261" y="399"/>
                        </a:lnTo>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9" name="Freeform 36"/>
                  <p:cNvSpPr/>
                  <p:nvPr/>
                </p:nvSpPr>
                <p:spPr bwMode="auto">
                  <a:xfrm>
                    <a:off x="5803298" y="5132486"/>
                    <a:ext cx="168275" cy="333375"/>
                  </a:xfrm>
                  <a:custGeom>
                    <a:avLst/>
                    <a:gdLst>
                      <a:gd name="T0" fmla="*/ 0 w 152"/>
                      <a:gd name="T1" fmla="*/ 151 h 313"/>
                      <a:gd name="T2" fmla="*/ 0 w 152"/>
                      <a:gd name="T3" fmla="*/ 200 h 313"/>
                      <a:gd name="T4" fmla="*/ 10 w 152"/>
                      <a:gd name="T5" fmla="*/ 252 h 313"/>
                      <a:gd name="T6" fmla="*/ 40 w 152"/>
                      <a:gd name="T7" fmla="*/ 271 h 313"/>
                      <a:gd name="T8" fmla="*/ 59 w 152"/>
                      <a:gd name="T9" fmla="*/ 312 h 313"/>
                      <a:gd name="T10" fmla="*/ 70 w 152"/>
                      <a:gd name="T11" fmla="*/ 252 h 313"/>
                      <a:gd name="T12" fmla="*/ 99 w 152"/>
                      <a:gd name="T13" fmla="*/ 217 h 313"/>
                      <a:gd name="T14" fmla="*/ 151 w 152"/>
                      <a:gd name="T15" fmla="*/ 65 h 313"/>
                      <a:gd name="T16" fmla="*/ 151 w 152"/>
                      <a:gd name="T17" fmla="*/ 16 h 313"/>
                      <a:gd name="T18" fmla="*/ 124 w 152"/>
                      <a:gd name="T19" fmla="*/ 0 h 313"/>
                      <a:gd name="T20" fmla="*/ 75 w 152"/>
                      <a:gd name="T21" fmla="*/ 21 h 313"/>
                      <a:gd name="T22" fmla="*/ 0 w 152"/>
                      <a:gd name="T23" fmla="*/ 151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2" h="313">
                        <a:moveTo>
                          <a:pt x="0" y="151"/>
                        </a:moveTo>
                        <a:lnTo>
                          <a:pt x="0" y="200"/>
                        </a:lnTo>
                        <a:lnTo>
                          <a:pt x="10" y="252"/>
                        </a:lnTo>
                        <a:lnTo>
                          <a:pt x="40" y="271"/>
                        </a:lnTo>
                        <a:lnTo>
                          <a:pt x="59" y="312"/>
                        </a:lnTo>
                        <a:lnTo>
                          <a:pt x="70" y="252"/>
                        </a:lnTo>
                        <a:lnTo>
                          <a:pt x="99" y="217"/>
                        </a:lnTo>
                        <a:lnTo>
                          <a:pt x="151" y="65"/>
                        </a:lnTo>
                        <a:lnTo>
                          <a:pt x="151" y="16"/>
                        </a:lnTo>
                        <a:lnTo>
                          <a:pt x="124" y="0"/>
                        </a:lnTo>
                        <a:lnTo>
                          <a:pt x="75" y="21"/>
                        </a:lnTo>
                        <a:lnTo>
                          <a:pt x="0" y="151"/>
                        </a:lnTo>
                      </a:path>
                    </a:pathLst>
                  </a:custGeom>
                  <a:grpFill/>
                  <a:ln w="9525" cap="flat" cmpd="sng">
                    <a:solidFill>
                      <a:srgbClr val="FF6600"/>
                    </a:solidFill>
                    <a:prstDash val="solid"/>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 name="Freeform 37"/>
                  <p:cNvSpPr/>
                  <p:nvPr/>
                </p:nvSpPr>
                <p:spPr bwMode="auto">
                  <a:xfrm>
                    <a:off x="5046060" y="3648174"/>
                    <a:ext cx="692150" cy="447675"/>
                  </a:xfrm>
                  <a:custGeom>
                    <a:avLst/>
                    <a:gdLst>
                      <a:gd name="T0" fmla="*/ 139 w 629"/>
                      <a:gd name="T1" fmla="*/ 403 h 418"/>
                      <a:gd name="T2" fmla="*/ 144 w 629"/>
                      <a:gd name="T3" fmla="*/ 380 h 418"/>
                      <a:gd name="T4" fmla="*/ 166 w 629"/>
                      <a:gd name="T5" fmla="*/ 373 h 418"/>
                      <a:gd name="T6" fmla="*/ 206 w 629"/>
                      <a:gd name="T7" fmla="*/ 403 h 418"/>
                      <a:gd name="T8" fmla="*/ 219 w 629"/>
                      <a:gd name="T9" fmla="*/ 403 h 418"/>
                      <a:gd name="T10" fmla="*/ 258 w 629"/>
                      <a:gd name="T11" fmla="*/ 401 h 418"/>
                      <a:gd name="T12" fmla="*/ 279 w 629"/>
                      <a:gd name="T13" fmla="*/ 384 h 418"/>
                      <a:gd name="T14" fmla="*/ 310 w 629"/>
                      <a:gd name="T15" fmla="*/ 408 h 418"/>
                      <a:gd name="T16" fmla="*/ 323 w 629"/>
                      <a:gd name="T17" fmla="*/ 386 h 418"/>
                      <a:gd name="T18" fmla="*/ 325 w 629"/>
                      <a:gd name="T19" fmla="*/ 376 h 418"/>
                      <a:gd name="T20" fmla="*/ 350 w 629"/>
                      <a:gd name="T21" fmla="*/ 360 h 418"/>
                      <a:gd name="T22" fmla="*/ 359 w 629"/>
                      <a:gd name="T23" fmla="*/ 327 h 418"/>
                      <a:gd name="T24" fmla="*/ 382 w 629"/>
                      <a:gd name="T25" fmla="*/ 322 h 418"/>
                      <a:gd name="T26" fmla="*/ 454 w 629"/>
                      <a:gd name="T27" fmla="*/ 208 h 418"/>
                      <a:gd name="T28" fmla="*/ 440 w 629"/>
                      <a:gd name="T29" fmla="*/ 190 h 418"/>
                      <a:gd name="T30" fmla="*/ 454 w 629"/>
                      <a:gd name="T31" fmla="*/ 178 h 418"/>
                      <a:gd name="T32" fmla="*/ 470 w 629"/>
                      <a:gd name="T33" fmla="*/ 183 h 418"/>
                      <a:gd name="T34" fmla="*/ 491 w 629"/>
                      <a:gd name="T35" fmla="*/ 172 h 418"/>
                      <a:gd name="T36" fmla="*/ 503 w 629"/>
                      <a:gd name="T37" fmla="*/ 144 h 418"/>
                      <a:gd name="T38" fmla="*/ 560 w 629"/>
                      <a:gd name="T39" fmla="*/ 94 h 418"/>
                      <a:gd name="T40" fmla="*/ 604 w 629"/>
                      <a:gd name="T41" fmla="*/ 78 h 418"/>
                      <a:gd name="T42" fmla="*/ 628 w 629"/>
                      <a:gd name="T43" fmla="*/ 59 h 418"/>
                      <a:gd name="T44" fmla="*/ 621 w 629"/>
                      <a:gd name="T45" fmla="*/ 18 h 418"/>
                      <a:gd name="T46" fmla="*/ 592 w 629"/>
                      <a:gd name="T47" fmla="*/ 15 h 418"/>
                      <a:gd name="T48" fmla="*/ 522 w 629"/>
                      <a:gd name="T49" fmla="*/ 22 h 418"/>
                      <a:gd name="T50" fmla="*/ 476 w 629"/>
                      <a:gd name="T51" fmla="*/ 0 h 418"/>
                      <a:gd name="T52" fmla="*/ 449 w 629"/>
                      <a:gd name="T53" fmla="*/ 4 h 418"/>
                      <a:gd name="T54" fmla="*/ 378 w 629"/>
                      <a:gd name="T55" fmla="*/ 94 h 418"/>
                      <a:gd name="T56" fmla="*/ 359 w 629"/>
                      <a:gd name="T57" fmla="*/ 104 h 418"/>
                      <a:gd name="T58" fmla="*/ 312 w 629"/>
                      <a:gd name="T59" fmla="*/ 86 h 418"/>
                      <a:gd name="T60" fmla="*/ 310 w 629"/>
                      <a:gd name="T61" fmla="*/ 63 h 418"/>
                      <a:gd name="T62" fmla="*/ 300 w 629"/>
                      <a:gd name="T63" fmla="*/ 25 h 418"/>
                      <a:gd name="T64" fmla="*/ 274 w 629"/>
                      <a:gd name="T65" fmla="*/ 9 h 418"/>
                      <a:gd name="T66" fmla="*/ 235 w 629"/>
                      <a:gd name="T67" fmla="*/ 20 h 418"/>
                      <a:gd name="T68" fmla="*/ 209 w 629"/>
                      <a:gd name="T69" fmla="*/ 2 h 418"/>
                      <a:gd name="T70" fmla="*/ 171 w 629"/>
                      <a:gd name="T71" fmla="*/ 49 h 418"/>
                      <a:gd name="T72" fmla="*/ 131 w 629"/>
                      <a:gd name="T73" fmla="*/ 59 h 418"/>
                      <a:gd name="T74" fmla="*/ 75 w 629"/>
                      <a:gd name="T75" fmla="*/ 107 h 418"/>
                      <a:gd name="T76" fmla="*/ 16 w 629"/>
                      <a:gd name="T77" fmla="*/ 216 h 418"/>
                      <a:gd name="T78" fmla="*/ 32 w 629"/>
                      <a:gd name="T79" fmla="*/ 244 h 418"/>
                      <a:gd name="T80" fmla="*/ 28 w 629"/>
                      <a:gd name="T81" fmla="*/ 256 h 418"/>
                      <a:gd name="T82" fmla="*/ 28 w 629"/>
                      <a:gd name="T83" fmla="*/ 269 h 418"/>
                      <a:gd name="T84" fmla="*/ 36 w 629"/>
                      <a:gd name="T85" fmla="*/ 280 h 418"/>
                      <a:gd name="T86" fmla="*/ 55 w 629"/>
                      <a:gd name="T87" fmla="*/ 269 h 418"/>
                      <a:gd name="T88" fmla="*/ 88 w 629"/>
                      <a:gd name="T89" fmla="*/ 261 h 418"/>
                      <a:gd name="T90" fmla="*/ 0 w 629"/>
                      <a:gd name="T91" fmla="*/ 355 h 418"/>
                      <a:gd name="T92" fmla="*/ 0 w 629"/>
                      <a:gd name="T93" fmla="*/ 380 h 418"/>
                      <a:gd name="T94" fmla="*/ 18 w 629"/>
                      <a:gd name="T95" fmla="*/ 384 h 418"/>
                      <a:gd name="T96" fmla="*/ 59 w 629"/>
                      <a:gd name="T97" fmla="*/ 417 h 418"/>
                      <a:gd name="T98" fmla="*/ 121 w 629"/>
                      <a:gd name="T99" fmla="*/ 408 h 418"/>
                      <a:gd name="T100" fmla="*/ 139 w 629"/>
                      <a:gd name="T101" fmla="*/ 403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29" h="418">
                        <a:moveTo>
                          <a:pt x="139" y="403"/>
                        </a:moveTo>
                        <a:lnTo>
                          <a:pt x="144" y="380"/>
                        </a:lnTo>
                        <a:lnTo>
                          <a:pt x="166" y="373"/>
                        </a:lnTo>
                        <a:lnTo>
                          <a:pt x="206" y="403"/>
                        </a:lnTo>
                        <a:lnTo>
                          <a:pt x="219" y="403"/>
                        </a:lnTo>
                        <a:lnTo>
                          <a:pt x="258" y="401"/>
                        </a:lnTo>
                        <a:lnTo>
                          <a:pt x="279" y="384"/>
                        </a:lnTo>
                        <a:lnTo>
                          <a:pt x="310" y="408"/>
                        </a:lnTo>
                        <a:lnTo>
                          <a:pt x="323" y="386"/>
                        </a:lnTo>
                        <a:lnTo>
                          <a:pt x="325" y="376"/>
                        </a:lnTo>
                        <a:lnTo>
                          <a:pt x="350" y="360"/>
                        </a:lnTo>
                        <a:lnTo>
                          <a:pt x="359" y="327"/>
                        </a:lnTo>
                        <a:lnTo>
                          <a:pt x="382" y="322"/>
                        </a:lnTo>
                        <a:lnTo>
                          <a:pt x="454" y="208"/>
                        </a:lnTo>
                        <a:lnTo>
                          <a:pt x="440" y="190"/>
                        </a:lnTo>
                        <a:lnTo>
                          <a:pt x="454" y="178"/>
                        </a:lnTo>
                        <a:lnTo>
                          <a:pt x="470" y="183"/>
                        </a:lnTo>
                        <a:lnTo>
                          <a:pt x="491" y="172"/>
                        </a:lnTo>
                        <a:lnTo>
                          <a:pt x="503" y="144"/>
                        </a:lnTo>
                        <a:lnTo>
                          <a:pt x="560" y="94"/>
                        </a:lnTo>
                        <a:lnTo>
                          <a:pt x="604" y="78"/>
                        </a:lnTo>
                        <a:lnTo>
                          <a:pt x="628" y="59"/>
                        </a:lnTo>
                        <a:lnTo>
                          <a:pt x="621" y="18"/>
                        </a:lnTo>
                        <a:lnTo>
                          <a:pt x="592" y="15"/>
                        </a:lnTo>
                        <a:lnTo>
                          <a:pt x="522" y="22"/>
                        </a:lnTo>
                        <a:lnTo>
                          <a:pt x="476" y="0"/>
                        </a:lnTo>
                        <a:lnTo>
                          <a:pt x="449" y="4"/>
                        </a:lnTo>
                        <a:lnTo>
                          <a:pt x="378" y="94"/>
                        </a:lnTo>
                        <a:lnTo>
                          <a:pt x="359" y="104"/>
                        </a:lnTo>
                        <a:lnTo>
                          <a:pt x="312" y="86"/>
                        </a:lnTo>
                        <a:lnTo>
                          <a:pt x="310" y="63"/>
                        </a:lnTo>
                        <a:lnTo>
                          <a:pt x="300" y="25"/>
                        </a:lnTo>
                        <a:lnTo>
                          <a:pt x="274" y="9"/>
                        </a:lnTo>
                        <a:lnTo>
                          <a:pt x="235" y="20"/>
                        </a:lnTo>
                        <a:lnTo>
                          <a:pt x="209" y="2"/>
                        </a:lnTo>
                        <a:lnTo>
                          <a:pt x="171" y="49"/>
                        </a:lnTo>
                        <a:lnTo>
                          <a:pt x="131" y="59"/>
                        </a:lnTo>
                        <a:lnTo>
                          <a:pt x="75" y="107"/>
                        </a:lnTo>
                        <a:lnTo>
                          <a:pt x="16" y="216"/>
                        </a:lnTo>
                        <a:lnTo>
                          <a:pt x="32" y="244"/>
                        </a:lnTo>
                        <a:lnTo>
                          <a:pt x="28" y="256"/>
                        </a:lnTo>
                        <a:lnTo>
                          <a:pt x="28" y="269"/>
                        </a:lnTo>
                        <a:lnTo>
                          <a:pt x="36" y="280"/>
                        </a:lnTo>
                        <a:lnTo>
                          <a:pt x="55" y="269"/>
                        </a:lnTo>
                        <a:lnTo>
                          <a:pt x="88" y="261"/>
                        </a:lnTo>
                        <a:lnTo>
                          <a:pt x="0" y="355"/>
                        </a:lnTo>
                        <a:lnTo>
                          <a:pt x="0" y="380"/>
                        </a:lnTo>
                        <a:lnTo>
                          <a:pt x="18" y="384"/>
                        </a:lnTo>
                        <a:lnTo>
                          <a:pt x="59" y="417"/>
                        </a:lnTo>
                        <a:lnTo>
                          <a:pt x="121" y="408"/>
                        </a:lnTo>
                        <a:lnTo>
                          <a:pt x="139" y="403"/>
                        </a:lnTo>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 name="Freeform 38"/>
                  <p:cNvSpPr>
                    <a:spLocks noChangeAspect="1"/>
                  </p:cNvSpPr>
                  <p:nvPr/>
                </p:nvSpPr>
                <p:spPr bwMode="auto">
                  <a:xfrm>
                    <a:off x="4077685" y="4422874"/>
                    <a:ext cx="544513" cy="488950"/>
                  </a:xfrm>
                  <a:custGeom>
                    <a:avLst/>
                    <a:gdLst>
                      <a:gd name="T0" fmla="*/ 87 w 353"/>
                      <a:gd name="T1" fmla="*/ 307 h 330"/>
                      <a:gd name="T2" fmla="*/ 117 w 353"/>
                      <a:gd name="T3" fmla="*/ 285 h 330"/>
                      <a:gd name="T4" fmla="*/ 156 w 353"/>
                      <a:gd name="T5" fmla="*/ 253 h 330"/>
                      <a:gd name="T6" fmla="*/ 215 w 353"/>
                      <a:gd name="T7" fmla="*/ 261 h 330"/>
                      <a:gd name="T8" fmla="*/ 219 w 353"/>
                      <a:gd name="T9" fmla="*/ 285 h 330"/>
                      <a:gd name="T10" fmla="*/ 296 w 353"/>
                      <a:gd name="T11" fmla="*/ 316 h 330"/>
                      <a:gd name="T12" fmla="*/ 255 w 353"/>
                      <a:gd name="T13" fmla="*/ 208 h 330"/>
                      <a:gd name="T14" fmla="*/ 236 w 353"/>
                      <a:gd name="T15" fmla="*/ 169 h 330"/>
                      <a:gd name="T16" fmla="*/ 239 w 353"/>
                      <a:gd name="T17" fmla="*/ 136 h 330"/>
                      <a:gd name="T18" fmla="*/ 294 w 353"/>
                      <a:gd name="T19" fmla="*/ 129 h 330"/>
                      <a:gd name="T20" fmla="*/ 336 w 353"/>
                      <a:gd name="T21" fmla="*/ 102 h 330"/>
                      <a:gd name="T22" fmla="*/ 353 w 353"/>
                      <a:gd name="T23" fmla="*/ 91 h 330"/>
                      <a:gd name="T24" fmla="*/ 344 w 353"/>
                      <a:gd name="T25" fmla="*/ 52 h 330"/>
                      <a:gd name="T26" fmla="*/ 302 w 353"/>
                      <a:gd name="T27" fmla="*/ 24 h 330"/>
                      <a:gd name="T28" fmla="*/ 260 w 353"/>
                      <a:gd name="T29" fmla="*/ 15 h 330"/>
                      <a:gd name="T30" fmla="*/ 215 w 353"/>
                      <a:gd name="T31" fmla="*/ 0 h 330"/>
                      <a:gd name="T32" fmla="*/ 221 w 353"/>
                      <a:gd name="T33" fmla="*/ 31 h 330"/>
                      <a:gd name="T34" fmla="*/ 222 w 353"/>
                      <a:gd name="T35" fmla="*/ 48 h 330"/>
                      <a:gd name="T36" fmla="*/ 204 w 353"/>
                      <a:gd name="T37" fmla="*/ 66 h 330"/>
                      <a:gd name="T38" fmla="*/ 195 w 353"/>
                      <a:gd name="T39" fmla="*/ 94 h 330"/>
                      <a:gd name="T40" fmla="*/ 183 w 353"/>
                      <a:gd name="T41" fmla="*/ 115 h 330"/>
                      <a:gd name="T42" fmla="*/ 153 w 353"/>
                      <a:gd name="T43" fmla="*/ 117 h 330"/>
                      <a:gd name="T44" fmla="*/ 150 w 353"/>
                      <a:gd name="T45" fmla="*/ 138 h 330"/>
                      <a:gd name="T46" fmla="*/ 132 w 353"/>
                      <a:gd name="T47" fmla="*/ 172 h 330"/>
                      <a:gd name="T48" fmla="*/ 107 w 353"/>
                      <a:gd name="T49" fmla="*/ 178 h 330"/>
                      <a:gd name="T50" fmla="*/ 101 w 353"/>
                      <a:gd name="T51" fmla="*/ 153 h 330"/>
                      <a:gd name="T52" fmla="*/ 69 w 353"/>
                      <a:gd name="T53" fmla="*/ 168 h 330"/>
                      <a:gd name="T54" fmla="*/ 44 w 353"/>
                      <a:gd name="T55" fmla="*/ 147 h 330"/>
                      <a:gd name="T56" fmla="*/ 26 w 353"/>
                      <a:gd name="T57" fmla="*/ 163 h 330"/>
                      <a:gd name="T58" fmla="*/ 24 w 353"/>
                      <a:gd name="T59" fmla="*/ 193 h 330"/>
                      <a:gd name="T60" fmla="*/ 6 w 353"/>
                      <a:gd name="T61" fmla="*/ 208 h 330"/>
                      <a:gd name="T62" fmla="*/ 11 w 353"/>
                      <a:gd name="T63" fmla="*/ 229 h 330"/>
                      <a:gd name="T64" fmla="*/ 30 w 353"/>
                      <a:gd name="T65" fmla="*/ 243 h 330"/>
                      <a:gd name="T66" fmla="*/ 39 w 353"/>
                      <a:gd name="T67" fmla="*/ 268 h 330"/>
                      <a:gd name="T68" fmla="*/ 63 w 353"/>
                      <a:gd name="T69" fmla="*/ 273 h 330"/>
                      <a:gd name="T70" fmla="*/ 77 w 353"/>
                      <a:gd name="T71" fmla="*/ 298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53" h="330">
                        <a:moveTo>
                          <a:pt x="72" y="310"/>
                        </a:moveTo>
                        <a:lnTo>
                          <a:pt x="87" y="307"/>
                        </a:lnTo>
                        <a:lnTo>
                          <a:pt x="95" y="318"/>
                        </a:lnTo>
                        <a:lnTo>
                          <a:pt x="117" y="285"/>
                        </a:lnTo>
                        <a:lnTo>
                          <a:pt x="144" y="286"/>
                        </a:lnTo>
                        <a:lnTo>
                          <a:pt x="156" y="253"/>
                        </a:lnTo>
                        <a:lnTo>
                          <a:pt x="182" y="267"/>
                        </a:lnTo>
                        <a:lnTo>
                          <a:pt x="215" y="261"/>
                        </a:lnTo>
                        <a:lnTo>
                          <a:pt x="221" y="274"/>
                        </a:lnTo>
                        <a:lnTo>
                          <a:pt x="219" y="285"/>
                        </a:lnTo>
                        <a:lnTo>
                          <a:pt x="269" y="330"/>
                        </a:lnTo>
                        <a:lnTo>
                          <a:pt x="296" y="316"/>
                        </a:lnTo>
                        <a:lnTo>
                          <a:pt x="293" y="256"/>
                        </a:lnTo>
                        <a:lnTo>
                          <a:pt x="255" y="208"/>
                        </a:lnTo>
                        <a:lnTo>
                          <a:pt x="233" y="198"/>
                        </a:lnTo>
                        <a:lnTo>
                          <a:pt x="236" y="169"/>
                        </a:lnTo>
                        <a:lnTo>
                          <a:pt x="221" y="150"/>
                        </a:lnTo>
                        <a:lnTo>
                          <a:pt x="239" y="136"/>
                        </a:lnTo>
                        <a:lnTo>
                          <a:pt x="272" y="133"/>
                        </a:lnTo>
                        <a:lnTo>
                          <a:pt x="294" y="129"/>
                        </a:lnTo>
                        <a:lnTo>
                          <a:pt x="320" y="109"/>
                        </a:lnTo>
                        <a:lnTo>
                          <a:pt x="336" y="102"/>
                        </a:lnTo>
                        <a:lnTo>
                          <a:pt x="345" y="109"/>
                        </a:lnTo>
                        <a:lnTo>
                          <a:pt x="353" y="91"/>
                        </a:lnTo>
                        <a:lnTo>
                          <a:pt x="344" y="63"/>
                        </a:lnTo>
                        <a:lnTo>
                          <a:pt x="344" y="52"/>
                        </a:lnTo>
                        <a:lnTo>
                          <a:pt x="321" y="27"/>
                        </a:lnTo>
                        <a:lnTo>
                          <a:pt x="302" y="24"/>
                        </a:lnTo>
                        <a:lnTo>
                          <a:pt x="275" y="30"/>
                        </a:lnTo>
                        <a:lnTo>
                          <a:pt x="260" y="15"/>
                        </a:lnTo>
                        <a:lnTo>
                          <a:pt x="231" y="3"/>
                        </a:lnTo>
                        <a:lnTo>
                          <a:pt x="215" y="0"/>
                        </a:lnTo>
                        <a:lnTo>
                          <a:pt x="215" y="10"/>
                        </a:lnTo>
                        <a:lnTo>
                          <a:pt x="221" y="31"/>
                        </a:lnTo>
                        <a:lnTo>
                          <a:pt x="231" y="33"/>
                        </a:lnTo>
                        <a:lnTo>
                          <a:pt x="222" y="48"/>
                        </a:lnTo>
                        <a:lnTo>
                          <a:pt x="206" y="54"/>
                        </a:lnTo>
                        <a:lnTo>
                          <a:pt x="204" y="66"/>
                        </a:lnTo>
                        <a:lnTo>
                          <a:pt x="195" y="82"/>
                        </a:lnTo>
                        <a:lnTo>
                          <a:pt x="195" y="94"/>
                        </a:lnTo>
                        <a:lnTo>
                          <a:pt x="191" y="106"/>
                        </a:lnTo>
                        <a:lnTo>
                          <a:pt x="183" y="115"/>
                        </a:lnTo>
                        <a:lnTo>
                          <a:pt x="173" y="106"/>
                        </a:lnTo>
                        <a:lnTo>
                          <a:pt x="153" y="117"/>
                        </a:lnTo>
                        <a:lnTo>
                          <a:pt x="156" y="129"/>
                        </a:lnTo>
                        <a:lnTo>
                          <a:pt x="150" y="138"/>
                        </a:lnTo>
                        <a:lnTo>
                          <a:pt x="140" y="165"/>
                        </a:lnTo>
                        <a:lnTo>
                          <a:pt x="132" y="172"/>
                        </a:lnTo>
                        <a:lnTo>
                          <a:pt x="120" y="174"/>
                        </a:lnTo>
                        <a:lnTo>
                          <a:pt x="107" y="178"/>
                        </a:lnTo>
                        <a:lnTo>
                          <a:pt x="107" y="162"/>
                        </a:lnTo>
                        <a:lnTo>
                          <a:pt x="101" y="153"/>
                        </a:lnTo>
                        <a:lnTo>
                          <a:pt x="80" y="154"/>
                        </a:lnTo>
                        <a:lnTo>
                          <a:pt x="69" y="168"/>
                        </a:lnTo>
                        <a:lnTo>
                          <a:pt x="63" y="159"/>
                        </a:lnTo>
                        <a:lnTo>
                          <a:pt x="44" y="147"/>
                        </a:lnTo>
                        <a:lnTo>
                          <a:pt x="30" y="153"/>
                        </a:lnTo>
                        <a:lnTo>
                          <a:pt x="26" y="163"/>
                        </a:lnTo>
                        <a:lnTo>
                          <a:pt x="30" y="183"/>
                        </a:lnTo>
                        <a:lnTo>
                          <a:pt x="24" y="193"/>
                        </a:lnTo>
                        <a:lnTo>
                          <a:pt x="17" y="204"/>
                        </a:lnTo>
                        <a:lnTo>
                          <a:pt x="6" y="208"/>
                        </a:lnTo>
                        <a:lnTo>
                          <a:pt x="0" y="222"/>
                        </a:lnTo>
                        <a:lnTo>
                          <a:pt x="11" y="229"/>
                        </a:lnTo>
                        <a:lnTo>
                          <a:pt x="17" y="243"/>
                        </a:lnTo>
                        <a:lnTo>
                          <a:pt x="30" y="243"/>
                        </a:lnTo>
                        <a:lnTo>
                          <a:pt x="29" y="253"/>
                        </a:lnTo>
                        <a:lnTo>
                          <a:pt x="39" y="268"/>
                        </a:lnTo>
                        <a:lnTo>
                          <a:pt x="53" y="268"/>
                        </a:lnTo>
                        <a:lnTo>
                          <a:pt x="63" y="273"/>
                        </a:lnTo>
                        <a:lnTo>
                          <a:pt x="72" y="288"/>
                        </a:lnTo>
                        <a:lnTo>
                          <a:pt x="77" y="298"/>
                        </a:lnTo>
                        <a:lnTo>
                          <a:pt x="72" y="310"/>
                        </a:lnTo>
                        <a:close/>
                      </a:path>
                    </a:pathLst>
                  </a:custGeom>
                  <a:grpFill/>
                  <a:ln w="12700" cap="flat" cmpd="sng">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2" name="流程图: 联系 61"/>
                <p:cNvSpPr/>
                <p:nvPr/>
              </p:nvSpPr>
              <p:spPr>
                <a:xfrm>
                  <a:off x="5518266" y="2521239"/>
                  <a:ext cx="1601228" cy="1601228"/>
                </a:xfrm>
                <a:prstGeom prst="flowChartConnector">
                  <a:avLst/>
                </a:prstGeom>
                <a:solidFill>
                  <a:srgbClr val="FFC000">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3" name="TextBox 64"/>
                <p:cNvSpPr txBox="1"/>
                <p:nvPr/>
              </p:nvSpPr>
              <p:spPr>
                <a:xfrm>
                  <a:off x="5567845" y="4306116"/>
                  <a:ext cx="1471591" cy="461665"/>
                </a:xfrm>
                <a:prstGeom prst="rect">
                  <a:avLst/>
                </a:prstGeom>
                <a:noFill/>
              </p:spPr>
              <p:txBody>
                <a:bodyPr wrap="square" rtlCol="0">
                  <a:spAutoFit/>
                </a:bodyPr>
                <a:lstStyle/>
                <a:p>
                  <a:pPr algn="ctr"/>
                  <a:r>
                    <a:rPr lang="zh-CN" altLang="en-US" sz="2400" b="1" dirty="0">
                      <a:solidFill>
                        <a:srgbClr val="404040"/>
                      </a:solidFill>
                      <a:latin typeface="微软雅黑" panose="020B0503020204020204" charset="-122"/>
                      <a:ea typeface="微软雅黑" panose="020B0503020204020204" charset="-122"/>
                    </a:rPr>
                    <a:t>推广范围</a:t>
                  </a:r>
                </a:p>
              </p:txBody>
            </p:sp>
            <p:sp>
              <p:nvSpPr>
                <p:cNvPr id="64" name="TextBox 65"/>
                <p:cNvSpPr txBox="1"/>
                <p:nvPr/>
              </p:nvSpPr>
              <p:spPr>
                <a:xfrm>
                  <a:off x="5651825" y="1542941"/>
                  <a:ext cx="1303630" cy="830997"/>
                </a:xfrm>
                <a:prstGeom prst="rect">
                  <a:avLst/>
                </a:prstGeom>
                <a:noFill/>
              </p:spPr>
              <p:txBody>
                <a:bodyPr wrap="square" rtlCol="0">
                  <a:spAutoFit/>
                </a:bodyPr>
                <a:lstStyle/>
                <a:p>
                  <a:pPr algn="ctr"/>
                  <a:r>
                    <a:rPr lang="en-US" altLang="zh-CN" sz="4800" dirty="0">
                      <a:solidFill>
                        <a:srgbClr val="FFC000"/>
                      </a:solidFill>
                      <a:latin typeface="Impact" panose="020B0806030902050204" pitchFamily="34" charset="0"/>
                      <a:ea typeface="微软雅黑" panose="020B0503020204020204" charset="-122"/>
                    </a:rPr>
                    <a:t>90</a:t>
                  </a:r>
                  <a:r>
                    <a:rPr lang="en-US" altLang="zh-CN" sz="3600" b="1" dirty="0">
                      <a:solidFill>
                        <a:srgbClr val="FFC000"/>
                      </a:solidFill>
                      <a:latin typeface="微软雅黑" panose="020B0503020204020204" charset="-122"/>
                      <a:ea typeface="微软雅黑" panose="020B0503020204020204" charset="-122"/>
                    </a:rPr>
                    <a:t>%</a:t>
                  </a:r>
                </a:p>
              </p:txBody>
            </p:sp>
          </p:grpSp>
        </p:grpSp>
        <p:sp>
          <p:nvSpPr>
            <p:cNvPr id="85" name="同侧圆角矩形 84"/>
            <p:cNvSpPr/>
            <p:nvPr/>
          </p:nvSpPr>
          <p:spPr>
            <a:xfrm>
              <a:off x="4698653" y="1443057"/>
              <a:ext cx="2808000" cy="164496"/>
            </a:xfrm>
            <a:prstGeom prst="round2SameRect">
              <a:avLst>
                <a:gd name="adj1" fmla="val 49085"/>
                <a:gd name="adj2" fmla="val 0"/>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a:off x="8017417" y="1443057"/>
            <a:ext cx="2491778" cy="3786925"/>
            <a:chOff x="8017417" y="1443057"/>
            <a:chExt cx="2491778" cy="3786925"/>
          </a:xfrm>
        </p:grpSpPr>
        <p:grpSp>
          <p:nvGrpSpPr>
            <p:cNvPr id="80" name="组合 79"/>
            <p:cNvGrpSpPr/>
            <p:nvPr/>
          </p:nvGrpSpPr>
          <p:grpSpPr>
            <a:xfrm>
              <a:off x="8017417" y="1466365"/>
              <a:ext cx="2491778" cy="3763617"/>
              <a:chOff x="8010791" y="1466365"/>
              <a:chExt cx="2491778" cy="3763617"/>
            </a:xfrm>
          </p:grpSpPr>
          <p:sp>
            <p:nvSpPr>
              <p:cNvPr id="77" name="圆角矩形 76"/>
              <p:cNvSpPr/>
              <p:nvPr/>
            </p:nvSpPr>
            <p:spPr>
              <a:xfrm>
                <a:off x="8010791" y="1466365"/>
                <a:ext cx="2491778" cy="3763617"/>
              </a:xfrm>
              <a:prstGeom prst="roundRect">
                <a:avLst>
                  <a:gd name="adj" fmla="val 6030"/>
                </a:avLst>
              </a:prstGeom>
              <a:noFill/>
              <a:ln w="2540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4" name="组合 73"/>
              <p:cNvGrpSpPr/>
              <p:nvPr/>
            </p:nvGrpSpPr>
            <p:grpSpPr>
              <a:xfrm>
                <a:off x="8456066" y="1662209"/>
                <a:ext cx="1601228" cy="3236802"/>
                <a:chOff x="8391234" y="1542941"/>
                <a:chExt cx="1601228" cy="3236802"/>
              </a:xfrm>
            </p:grpSpPr>
            <p:grpSp>
              <p:nvGrpSpPr>
                <p:cNvPr id="72" name="组合 71"/>
                <p:cNvGrpSpPr/>
                <p:nvPr/>
              </p:nvGrpSpPr>
              <p:grpSpPr>
                <a:xfrm>
                  <a:off x="8391234" y="1542941"/>
                  <a:ext cx="1601228" cy="3236802"/>
                  <a:chOff x="8430990" y="1542941"/>
                  <a:chExt cx="1601228" cy="3236802"/>
                </a:xfrm>
              </p:grpSpPr>
              <p:sp>
                <p:nvSpPr>
                  <p:cNvPr id="65" name="流程图: 联系 64"/>
                  <p:cNvSpPr/>
                  <p:nvPr/>
                </p:nvSpPr>
                <p:spPr>
                  <a:xfrm>
                    <a:off x="8430990" y="2506490"/>
                    <a:ext cx="1601228" cy="1601228"/>
                  </a:xfrm>
                  <a:prstGeom prst="flowChartConnector">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7" name="TextBox 69"/>
                  <p:cNvSpPr txBox="1"/>
                  <p:nvPr/>
                </p:nvSpPr>
                <p:spPr>
                  <a:xfrm>
                    <a:off x="8509061" y="4319368"/>
                    <a:ext cx="1471591" cy="460375"/>
                  </a:xfrm>
                  <a:prstGeom prst="rect">
                    <a:avLst/>
                  </a:prstGeom>
                  <a:noFill/>
                </p:spPr>
                <p:txBody>
                  <a:bodyPr wrap="square" rtlCol="0">
                    <a:spAutoFit/>
                  </a:bodyPr>
                  <a:lstStyle/>
                  <a:p>
                    <a:pPr algn="ctr"/>
                    <a:r>
                      <a:rPr lang="zh-CN" altLang="en-US" sz="2400" b="1" dirty="0">
                        <a:solidFill>
                          <a:srgbClr val="404040"/>
                        </a:solidFill>
                        <a:latin typeface="微软雅黑" panose="020B0503020204020204" charset="-122"/>
                        <a:ea typeface="微软雅黑" panose="020B0503020204020204" charset="-122"/>
                      </a:rPr>
                      <a:t>用户群体</a:t>
                    </a:r>
                  </a:p>
                </p:txBody>
              </p:sp>
              <p:sp>
                <p:nvSpPr>
                  <p:cNvPr id="68" name="TextBox 70"/>
                  <p:cNvSpPr txBox="1"/>
                  <p:nvPr/>
                </p:nvSpPr>
                <p:spPr>
                  <a:xfrm>
                    <a:off x="8455160" y="1542941"/>
                    <a:ext cx="1571540" cy="830997"/>
                  </a:xfrm>
                  <a:prstGeom prst="rect">
                    <a:avLst/>
                  </a:prstGeom>
                  <a:noFill/>
                </p:spPr>
                <p:txBody>
                  <a:bodyPr wrap="square" rtlCol="0">
                    <a:spAutoFit/>
                  </a:bodyPr>
                  <a:lstStyle/>
                  <a:p>
                    <a:pPr algn="ctr"/>
                    <a:r>
                      <a:rPr lang="en-US" altLang="zh-CN" sz="4800" dirty="0">
                        <a:solidFill>
                          <a:srgbClr val="FFC000"/>
                        </a:solidFill>
                        <a:latin typeface="Impact" panose="020B0806030902050204" pitchFamily="34" charset="0"/>
                        <a:ea typeface="微软雅黑" panose="020B0503020204020204" charset="-122"/>
                      </a:rPr>
                      <a:t>3.5</a:t>
                    </a:r>
                    <a:r>
                      <a:rPr lang="zh-CN" altLang="en-US" sz="3600" b="1" dirty="0">
                        <a:solidFill>
                          <a:srgbClr val="FFC000"/>
                        </a:solidFill>
                        <a:latin typeface="微软雅黑" panose="020B0503020204020204" charset="-122"/>
                        <a:ea typeface="微软雅黑" panose="020B0503020204020204" charset="-122"/>
                      </a:rPr>
                      <a:t>亿</a:t>
                    </a:r>
                  </a:p>
                </p:txBody>
              </p:sp>
            </p:grpSp>
            <p:sp>
              <p:nvSpPr>
                <p:cNvPr id="73" name="KSO_Shape"/>
                <p:cNvSpPr/>
                <p:nvPr/>
              </p:nvSpPr>
              <p:spPr bwMode="auto">
                <a:xfrm>
                  <a:off x="8690800" y="2974537"/>
                  <a:ext cx="1011588" cy="694624"/>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grpSp>
        </p:grpSp>
        <p:sp>
          <p:nvSpPr>
            <p:cNvPr id="86" name="同侧圆角矩形 85"/>
            <p:cNvSpPr/>
            <p:nvPr/>
          </p:nvSpPr>
          <p:spPr>
            <a:xfrm>
              <a:off x="8017417" y="1443057"/>
              <a:ext cx="2491778" cy="164496"/>
            </a:xfrm>
            <a:prstGeom prst="round2SameRect">
              <a:avLst>
                <a:gd name="adj1" fmla="val 49085"/>
                <a:gd name="adj2" fmla="val 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0" name="文本框 89"/>
          <p:cNvSpPr txBox="1"/>
          <p:nvPr/>
        </p:nvSpPr>
        <p:spPr>
          <a:xfrm>
            <a:off x="12416589" y="7251032"/>
            <a:ext cx="242374" cy="369332"/>
          </a:xfrm>
          <a:prstGeom prst="rect">
            <a:avLst/>
          </a:prstGeom>
          <a:noFill/>
        </p:spPr>
        <p:txBody>
          <a:bodyPr wrap="none" rtlCol="0">
            <a:spAutoFit/>
          </a:bodyPr>
          <a:lstStyle/>
          <a:p>
            <a:r>
              <a:rPr lang="en-US" altLang="zh-CN" dirty="0"/>
              <a:t>.</a:t>
            </a:r>
            <a:endParaRPr lang="zh-CN" altLang="en-US" dirty="0"/>
          </a:p>
        </p:txBody>
      </p:sp>
      <p:sp>
        <p:nvSpPr>
          <p:cNvPr id="8" name="矩形 7"/>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p:cNvSpPr/>
          <p:nvPr/>
        </p:nvSpPr>
        <p:spPr>
          <a:xfrm>
            <a:off x="-222" y="-27283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文本框 4"/>
          <p:cNvSpPr txBox="1"/>
          <p:nvPr/>
        </p:nvSpPr>
        <p:spPr>
          <a:xfrm>
            <a:off x="418455" y="312636"/>
            <a:ext cx="2787500" cy="398780"/>
          </a:xfrm>
          <a:prstGeom prst="rect">
            <a:avLst/>
          </a:prstGeom>
          <a:noFill/>
        </p:spPr>
        <p:txBody>
          <a:bodyPr wrap="square" rtlCol="0">
            <a:spAutoFit/>
          </a:bodyPr>
          <a:lstStyle/>
          <a:p>
            <a:r>
              <a:rPr lang="zh-CN" altLang="en-US" sz="2000" b="1" dirty="0">
                <a:cs typeface="+mn-ea"/>
                <a:sym typeface="+mn-lt"/>
              </a:rPr>
              <a:t>投资回报及收益</a:t>
            </a:r>
          </a:p>
        </p:txBody>
      </p:sp>
      <p:cxnSp>
        <p:nvCxnSpPr>
          <p:cNvPr id="7" name="直接连接符 6"/>
          <p:cNvCxnSpPr/>
          <p:nvPr/>
        </p:nvCxnSpPr>
        <p:spPr>
          <a:xfrm>
            <a:off x="15718" y="710505"/>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advClick="0" advTm="0">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randombar(horizontal)">
                                      <p:cBhvr>
                                        <p:cTn id="7" dur="500"/>
                                        <p:tgtEl>
                                          <p:spTgt spid="87"/>
                                        </p:tgtEl>
                                      </p:cBhvr>
                                    </p:animEffect>
                                  </p:childTnLst>
                                </p:cTn>
                              </p:par>
                              <p:par>
                                <p:cTn id="8" presetID="14" presetClass="entr" presetSubtype="10" fill="hold" nodeType="withEffect">
                                  <p:stCondLst>
                                    <p:cond delay="0"/>
                                  </p:stCondLst>
                                  <p:childTnLst>
                                    <p:set>
                                      <p:cBhvr>
                                        <p:cTn id="9" dur="1" fill="hold">
                                          <p:stCondLst>
                                            <p:cond delay="0"/>
                                          </p:stCondLst>
                                        </p:cTn>
                                        <p:tgtEl>
                                          <p:spTgt spid="88"/>
                                        </p:tgtEl>
                                        <p:attrNameLst>
                                          <p:attrName>style.visibility</p:attrName>
                                        </p:attrNameLst>
                                      </p:cBhvr>
                                      <p:to>
                                        <p:strVal val="visible"/>
                                      </p:to>
                                    </p:set>
                                    <p:animEffect transition="in" filter="randombar(horizontal)">
                                      <p:cBhvr>
                                        <p:cTn id="10" dur="500"/>
                                        <p:tgtEl>
                                          <p:spTgt spid="88"/>
                                        </p:tgtEl>
                                      </p:cBhvr>
                                    </p:animEffect>
                                  </p:childTnLst>
                                </p:cTn>
                              </p:par>
                              <p:par>
                                <p:cTn id="11" presetID="14" presetClass="entr" presetSubtype="10" fill="hold" nodeType="withEffect">
                                  <p:stCondLst>
                                    <p:cond delay="0"/>
                                  </p:stCondLst>
                                  <p:childTnLst>
                                    <p:set>
                                      <p:cBhvr>
                                        <p:cTn id="12" dur="1" fill="hold">
                                          <p:stCondLst>
                                            <p:cond delay="0"/>
                                          </p:stCondLst>
                                        </p:cTn>
                                        <p:tgtEl>
                                          <p:spTgt spid="89"/>
                                        </p:tgtEl>
                                        <p:attrNameLst>
                                          <p:attrName>style.visibility</p:attrName>
                                        </p:attrNameLst>
                                      </p:cBhvr>
                                      <p:to>
                                        <p:strVal val="visible"/>
                                      </p:to>
                                    </p:set>
                                    <p:animEffect transition="in" filter="randombar(horizontal)">
                                      <p:cBhvr>
                                        <p:cTn id="13" dur="500"/>
                                        <p:tgtEl>
                                          <p:spTgt spid="8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grpId="0" nodeType="clickEffect">
                                  <p:stCondLst>
                                    <p:cond delay="2000"/>
                                  </p:stCondLst>
                                  <p:childTnLst>
                                    <p:animEffect transition="out" filter="fade">
                                      <p:cBhvr>
                                        <p:cTn id="17" dur="500"/>
                                        <p:tgtEl>
                                          <p:spTgt spid="90"/>
                                        </p:tgtEl>
                                      </p:cBhvr>
                                    </p:animEffect>
                                    <p:set>
                                      <p:cBhvr>
                                        <p:cTn id="18" dur="1" fill="hold">
                                          <p:stCondLst>
                                            <p:cond delay="499"/>
                                          </p:stCondLst>
                                        </p:cTn>
                                        <p:tgtEl>
                                          <p:spTgt spid="9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a:xfrm>
            <a:off x="617220" y="2418080"/>
            <a:ext cx="2308860" cy="935355"/>
          </a:xfrm>
        </p:spPr>
        <p:txBody>
          <a:bodyPr>
            <a:noAutofit/>
          </a:bodyPr>
          <a:lstStyle/>
          <a:p>
            <a:pPr lvl="0">
              <a:lnSpc>
                <a:spcPct val="150000"/>
              </a:lnSpc>
              <a:defRPr/>
            </a:pPr>
            <a:r>
              <a:rPr lang="zh-CN" altLang="en-US" sz="1200" dirty="0">
                <a:solidFill>
                  <a:srgbClr val="333333"/>
                </a:solidFill>
                <a:latin typeface="微软雅黑" panose="020B0503020204020204" charset="-122"/>
                <a:ea typeface="微软雅黑" panose="020B0503020204020204" charset="-122"/>
                <a:sym typeface="+mn-ea"/>
              </a:rPr>
              <a:t>本公司是一家处于创始阶段处于高赢利发展阶段商品增值转卖</a:t>
            </a:r>
            <a:r>
              <a:rPr lang="en-US" altLang="zh-CN" sz="1200" dirty="0">
                <a:solidFill>
                  <a:srgbClr val="333333"/>
                </a:solidFill>
                <a:latin typeface="微软雅黑" panose="020B0503020204020204" charset="-122"/>
                <a:ea typeface="微软雅黑" panose="020B0503020204020204" charset="-122"/>
                <a:sym typeface="+mn-ea"/>
              </a:rPr>
              <a:t>]</a:t>
            </a:r>
            <a:r>
              <a:rPr lang="zh-CN" altLang="en-US" sz="1200" dirty="0">
                <a:solidFill>
                  <a:srgbClr val="333333"/>
                </a:solidFill>
                <a:latin typeface="微软雅黑" panose="020B0503020204020204" charset="-122"/>
                <a:ea typeface="微软雅黑" panose="020B0503020204020204" charset="-122"/>
                <a:sym typeface="+mn-ea"/>
              </a:rPr>
              <a:t>的公司</a:t>
            </a:r>
            <a:endParaRPr lang="zh-CN" altLang="en-US" sz="1200" dirty="0">
              <a:solidFill>
                <a:srgbClr val="333333"/>
              </a:solidFill>
              <a:latin typeface="微软雅黑" panose="020B0503020204020204" charset="-122"/>
              <a:ea typeface="微软雅黑" panose="020B0503020204020204" charset="-122"/>
              <a:cs typeface="+mn-ea"/>
              <a:sym typeface="+mn-ea"/>
            </a:endParaRPr>
          </a:p>
        </p:txBody>
      </p:sp>
      <p:sp>
        <p:nvSpPr>
          <p:cNvPr id="6" name="Shape 852"/>
          <p:cNvSpPr/>
          <p:nvPr/>
        </p:nvSpPr>
        <p:spPr>
          <a:xfrm rot="18900000">
            <a:off x="4628350" y="1145577"/>
            <a:ext cx="2649801" cy="264992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33"/>
                  <a:pt x="21600" y="21517"/>
                </a:cubicBezTo>
                <a:cubicBezTo>
                  <a:pt x="21600" y="21544"/>
                  <a:pt x="21599" y="21572"/>
                  <a:pt x="21599" y="21600"/>
                </a:cubicBezTo>
                <a:lnTo>
                  <a:pt x="1" y="21517"/>
                </a:lnTo>
                <a:close/>
              </a:path>
            </a:pathLst>
          </a:custGeom>
          <a:solidFill>
            <a:srgbClr val="404040"/>
          </a:solidFill>
          <a:ln w="12700">
            <a:miter lim="400000"/>
          </a:ln>
        </p:spPr>
        <p:txBody>
          <a:bodyPr lIns="45711" tIns="45710" rIns="45711" bIns="45710"/>
          <a:lstStyle/>
          <a:p>
            <a:pPr defTabSz="456565">
              <a:defRPr sz="3600">
                <a:solidFill>
                  <a:srgbClr val="FFFFFF"/>
                </a:solidFill>
                <a:effectLst>
                  <a:outerShdw blurRad="38100" dist="38100" dir="2700000" rotWithShape="0">
                    <a:srgbClr val="000000">
                      <a:alpha val="43137"/>
                    </a:srgbClr>
                  </a:outerShdw>
                </a:effectLst>
                <a:latin typeface="Gulim" panose="020B0600000101010101" charset="-127"/>
                <a:ea typeface="Gulim" panose="020B0600000101010101" charset="-127"/>
                <a:cs typeface="Gulim" panose="020B0600000101010101" charset="-127"/>
                <a:sym typeface="Gulim" panose="020B0600000101010101" charset="-127"/>
              </a:defRPr>
            </a:pPr>
            <a:endParaRPr sz="3600">
              <a:cs typeface="+mn-ea"/>
              <a:sym typeface="+mn-lt"/>
            </a:endParaRPr>
          </a:p>
        </p:txBody>
      </p:sp>
      <p:sp>
        <p:nvSpPr>
          <p:cNvPr id="8" name="Shape 854"/>
          <p:cNvSpPr/>
          <p:nvPr/>
        </p:nvSpPr>
        <p:spPr>
          <a:xfrm rot="18900000">
            <a:off x="5003734" y="2051980"/>
            <a:ext cx="1898845" cy="189916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33"/>
                  <a:pt x="21600" y="21517"/>
                </a:cubicBezTo>
                <a:cubicBezTo>
                  <a:pt x="21600" y="21544"/>
                  <a:pt x="21599" y="21572"/>
                  <a:pt x="21599" y="21600"/>
                </a:cubicBezTo>
                <a:lnTo>
                  <a:pt x="1" y="21517"/>
                </a:lnTo>
                <a:close/>
              </a:path>
            </a:pathLst>
          </a:custGeom>
          <a:solidFill>
            <a:srgbClr val="FFC000"/>
          </a:solidFill>
          <a:ln w="12700">
            <a:miter lim="400000"/>
          </a:ln>
        </p:spPr>
        <p:txBody>
          <a:bodyPr lIns="45711" tIns="45710" rIns="45711" bIns="45710"/>
          <a:lstStyle/>
          <a:p>
            <a:pPr defTabSz="456565">
              <a:defRPr sz="3600">
                <a:solidFill>
                  <a:srgbClr val="FFFFFF"/>
                </a:solidFill>
                <a:effectLst>
                  <a:outerShdw blurRad="38100" dist="38100" dir="2700000" rotWithShape="0">
                    <a:srgbClr val="000000">
                      <a:alpha val="43137"/>
                    </a:srgbClr>
                  </a:outerShdw>
                </a:effectLst>
                <a:latin typeface="Gulim" panose="020B0600000101010101" charset="-127"/>
                <a:ea typeface="Gulim" panose="020B0600000101010101" charset="-127"/>
                <a:cs typeface="Gulim" panose="020B0600000101010101" charset="-127"/>
                <a:sym typeface="Gulim" panose="020B0600000101010101" charset="-127"/>
              </a:defRPr>
            </a:pPr>
            <a:endParaRPr sz="3600">
              <a:cs typeface="+mn-ea"/>
              <a:sym typeface="+mn-lt"/>
            </a:endParaRPr>
          </a:p>
        </p:txBody>
      </p:sp>
      <p:sp>
        <p:nvSpPr>
          <p:cNvPr id="9" name="Shape 855"/>
          <p:cNvSpPr/>
          <p:nvPr/>
        </p:nvSpPr>
        <p:spPr>
          <a:xfrm rot="18900000">
            <a:off x="5479135" y="3199848"/>
            <a:ext cx="948104" cy="94826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33"/>
                  <a:pt x="21600" y="21517"/>
                </a:cubicBezTo>
                <a:cubicBezTo>
                  <a:pt x="21600" y="21544"/>
                  <a:pt x="21599" y="21572"/>
                  <a:pt x="21599" y="21600"/>
                </a:cubicBezTo>
                <a:lnTo>
                  <a:pt x="1" y="21517"/>
                </a:lnTo>
                <a:close/>
              </a:path>
            </a:pathLst>
          </a:custGeom>
          <a:solidFill>
            <a:srgbClr val="404040"/>
          </a:solidFill>
          <a:ln w="12700">
            <a:miter lim="400000"/>
          </a:ln>
        </p:spPr>
        <p:txBody>
          <a:bodyPr lIns="45711" tIns="45710" rIns="45711" bIns="45710"/>
          <a:lstStyle/>
          <a:p>
            <a:pPr defTabSz="456565">
              <a:defRPr sz="3600">
                <a:solidFill>
                  <a:srgbClr val="FFFFFF"/>
                </a:solidFill>
                <a:effectLst>
                  <a:outerShdw blurRad="38100" dist="38100" dir="2700000" rotWithShape="0">
                    <a:srgbClr val="000000">
                      <a:alpha val="43137"/>
                    </a:srgbClr>
                  </a:outerShdw>
                </a:effectLst>
                <a:latin typeface="Gulim" panose="020B0600000101010101" charset="-127"/>
                <a:ea typeface="Gulim" panose="020B0600000101010101" charset="-127"/>
                <a:cs typeface="Gulim" panose="020B0600000101010101" charset="-127"/>
                <a:sym typeface="Gulim" panose="020B0600000101010101" charset="-127"/>
              </a:defRPr>
            </a:pPr>
            <a:endParaRPr sz="3600">
              <a:cs typeface="+mn-ea"/>
              <a:sym typeface="+mn-lt"/>
            </a:endParaRPr>
          </a:p>
        </p:txBody>
      </p:sp>
      <p:sp>
        <p:nvSpPr>
          <p:cNvPr id="11" name="Content Placeholder 10"/>
          <p:cNvSpPr>
            <a:spLocks noGrp="1"/>
          </p:cNvSpPr>
          <p:nvPr>
            <p:ph sz="quarter" idx="16"/>
          </p:nvPr>
        </p:nvSpPr>
        <p:spPr>
          <a:xfrm>
            <a:off x="847726" y="2120802"/>
            <a:ext cx="1903809" cy="292100"/>
          </a:xfrm>
        </p:spPr>
        <p:txBody>
          <a:bodyPr/>
          <a:lstStyle/>
          <a:p>
            <a:pPr algn="r"/>
            <a:r>
              <a:rPr lang="zh-CN" altLang="en-US" sz="1600" b="1" dirty="0">
                <a:solidFill>
                  <a:srgbClr val="404040"/>
                </a:solidFill>
                <a:latin typeface="微软雅黑" panose="020B0503020204020204" charset="-122"/>
                <a:ea typeface="微软雅黑" panose="020B0503020204020204" charset="-122"/>
                <a:sym typeface="+mn-ea"/>
              </a:rPr>
              <a:t>资金管理</a:t>
            </a:r>
            <a:endParaRPr lang="zh-CN" altLang="en-US" sz="1600" b="1" dirty="0">
              <a:solidFill>
                <a:srgbClr val="404040"/>
              </a:solidFill>
              <a:latin typeface="微软雅黑" panose="020B0503020204020204" charset="-122"/>
              <a:ea typeface="微软雅黑" panose="020B0503020204020204" charset="-122"/>
              <a:cs typeface="+mn-ea"/>
              <a:sym typeface="+mn-ea"/>
            </a:endParaRPr>
          </a:p>
        </p:txBody>
      </p:sp>
      <p:sp>
        <p:nvSpPr>
          <p:cNvPr id="13" name="Shape 856"/>
          <p:cNvSpPr/>
          <p:nvPr/>
        </p:nvSpPr>
        <p:spPr>
          <a:xfrm>
            <a:off x="6334125" y="4134924"/>
            <a:ext cx="576072" cy="57607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404040"/>
          </a:solidFill>
          <a:ln w="38100">
            <a:noFill/>
            <a:round/>
          </a:ln>
        </p:spPr>
        <p:txBody>
          <a:bodyPr lIns="45711" tIns="45710" rIns="45711" bIns="45710"/>
          <a:lstStyle/>
          <a:p>
            <a:pPr defTabSz="456565">
              <a:defRPr sz="3600">
                <a:solidFill>
                  <a:srgbClr val="FFFFFF"/>
                </a:solidFill>
                <a:effectLst>
                  <a:outerShdw blurRad="38100" dist="38100" dir="2700000" rotWithShape="0">
                    <a:srgbClr val="000000">
                      <a:alpha val="43137"/>
                    </a:srgbClr>
                  </a:outerShdw>
                </a:effectLst>
                <a:latin typeface="Gulim" panose="020B0600000101010101" charset="-127"/>
                <a:ea typeface="Gulim" panose="020B0600000101010101" charset="-127"/>
                <a:cs typeface="Gulim" panose="020B0600000101010101" charset="-127"/>
                <a:sym typeface="Gulim" panose="020B0600000101010101" charset="-127"/>
              </a:defRPr>
            </a:pPr>
            <a:endParaRPr sz="3600">
              <a:cs typeface="+mn-ea"/>
              <a:sym typeface="+mn-lt"/>
            </a:endParaRPr>
          </a:p>
        </p:txBody>
      </p:sp>
      <p:sp>
        <p:nvSpPr>
          <p:cNvPr id="14" name="Shape 857"/>
          <p:cNvSpPr/>
          <p:nvPr/>
        </p:nvSpPr>
        <p:spPr>
          <a:xfrm>
            <a:off x="3091959" y="2164458"/>
            <a:ext cx="575166" cy="57531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404040"/>
          </a:solidFill>
          <a:ln w="38100">
            <a:noFill/>
            <a:round/>
          </a:ln>
        </p:spPr>
        <p:txBody>
          <a:bodyPr lIns="45711" tIns="45710" rIns="45711" bIns="45710"/>
          <a:lstStyle/>
          <a:p>
            <a:pPr defTabSz="456565">
              <a:defRPr sz="3600">
                <a:solidFill>
                  <a:srgbClr val="FFFFFF"/>
                </a:solidFill>
                <a:effectLst>
                  <a:outerShdw blurRad="38100" dist="38100" dir="2700000" rotWithShape="0">
                    <a:srgbClr val="000000">
                      <a:alpha val="43137"/>
                    </a:srgbClr>
                  </a:outerShdw>
                </a:effectLst>
                <a:latin typeface="Gulim" panose="020B0600000101010101" charset="-127"/>
                <a:ea typeface="Gulim" panose="020B0600000101010101" charset="-127"/>
                <a:cs typeface="Gulim" panose="020B0600000101010101" charset="-127"/>
                <a:sym typeface="Gulim" panose="020B0600000101010101" charset="-127"/>
              </a:defRPr>
            </a:pPr>
            <a:endParaRPr sz="3600">
              <a:cs typeface="+mn-ea"/>
              <a:sym typeface="+mn-lt"/>
            </a:endParaRPr>
          </a:p>
        </p:txBody>
      </p:sp>
      <p:sp>
        <p:nvSpPr>
          <p:cNvPr id="15" name="Shape 858"/>
          <p:cNvSpPr/>
          <p:nvPr/>
        </p:nvSpPr>
        <p:spPr>
          <a:xfrm>
            <a:off x="4961334" y="4134924"/>
            <a:ext cx="576072" cy="57607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404040"/>
          </a:solidFill>
          <a:ln w="38100">
            <a:noFill/>
            <a:round/>
          </a:ln>
        </p:spPr>
        <p:txBody>
          <a:bodyPr lIns="45711" tIns="45710" rIns="45711" bIns="45710"/>
          <a:lstStyle/>
          <a:p>
            <a:pPr defTabSz="456565">
              <a:defRPr sz="3600">
                <a:solidFill>
                  <a:srgbClr val="FFFFFF"/>
                </a:solidFill>
                <a:effectLst>
                  <a:outerShdw blurRad="38100" dist="38100" dir="2700000" rotWithShape="0">
                    <a:srgbClr val="000000">
                      <a:alpha val="43137"/>
                    </a:srgbClr>
                  </a:outerShdw>
                </a:effectLst>
                <a:latin typeface="Gulim" panose="020B0600000101010101" charset="-127"/>
                <a:ea typeface="Gulim" panose="020B0600000101010101" charset="-127"/>
                <a:cs typeface="Gulim" panose="020B0600000101010101" charset="-127"/>
                <a:sym typeface="Gulim" panose="020B0600000101010101" charset="-127"/>
              </a:defRPr>
            </a:pPr>
            <a:endParaRPr sz="3600">
              <a:cs typeface="+mn-ea"/>
              <a:sym typeface="+mn-lt"/>
            </a:endParaRPr>
          </a:p>
        </p:txBody>
      </p:sp>
      <p:sp>
        <p:nvSpPr>
          <p:cNvPr id="16" name="Shape 859"/>
          <p:cNvSpPr/>
          <p:nvPr/>
        </p:nvSpPr>
        <p:spPr>
          <a:xfrm>
            <a:off x="4050660" y="3177852"/>
            <a:ext cx="576072" cy="57607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C000"/>
          </a:solidFill>
          <a:ln w="38100">
            <a:noFill/>
            <a:round/>
          </a:ln>
        </p:spPr>
        <p:txBody>
          <a:bodyPr lIns="45711" tIns="45710" rIns="45711" bIns="45710"/>
          <a:lstStyle/>
          <a:p>
            <a:pPr defTabSz="456565">
              <a:defRPr sz="3600">
                <a:solidFill>
                  <a:srgbClr val="FFFFFF"/>
                </a:solidFill>
                <a:effectLst>
                  <a:outerShdw blurRad="38100" dist="38100" dir="2700000" rotWithShape="0">
                    <a:srgbClr val="000000">
                      <a:alpha val="43137"/>
                    </a:srgbClr>
                  </a:outerShdw>
                </a:effectLst>
                <a:latin typeface="Gulim" panose="020B0600000101010101" charset="-127"/>
                <a:ea typeface="Gulim" panose="020B0600000101010101" charset="-127"/>
                <a:cs typeface="Gulim" panose="020B0600000101010101" charset="-127"/>
                <a:sym typeface="Gulim" panose="020B0600000101010101" charset="-127"/>
              </a:defRPr>
            </a:pPr>
            <a:endParaRPr sz="3600">
              <a:cs typeface="+mn-ea"/>
              <a:sym typeface="+mn-lt"/>
            </a:endParaRPr>
          </a:p>
        </p:txBody>
      </p:sp>
      <p:sp>
        <p:nvSpPr>
          <p:cNvPr id="17" name="Shape 862"/>
          <p:cNvSpPr/>
          <p:nvPr/>
        </p:nvSpPr>
        <p:spPr>
          <a:xfrm>
            <a:off x="7249380" y="3177852"/>
            <a:ext cx="576072" cy="57607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C000"/>
          </a:solidFill>
          <a:ln w="38100">
            <a:noFill/>
            <a:round/>
          </a:ln>
        </p:spPr>
        <p:txBody>
          <a:bodyPr lIns="45711" tIns="45710" rIns="45711" bIns="45710"/>
          <a:lstStyle/>
          <a:p>
            <a:pPr defTabSz="456565">
              <a:defRPr sz="3600">
                <a:solidFill>
                  <a:srgbClr val="FFFFFF"/>
                </a:solidFill>
                <a:effectLst>
                  <a:outerShdw blurRad="38100" dist="38100" dir="2700000" rotWithShape="0">
                    <a:srgbClr val="000000">
                      <a:alpha val="43137"/>
                    </a:srgbClr>
                  </a:outerShdw>
                </a:effectLst>
                <a:latin typeface="Gulim" panose="020B0600000101010101" charset="-127"/>
                <a:ea typeface="Gulim" panose="020B0600000101010101" charset="-127"/>
                <a:cs typeface="Gulim" panose="020B0600000101010101" charset="-127"/>
                <a:sym typeface="Gulim" panose="020B0600000101010101" charset="-127"/>
              </a:defRPr>
            </a:pPr>
            <a:endParaRPr sz="3600">
              <a:cs typeface="+mn-ea"/>
              <a:sym typeface="+mn-lt"/>
            </a:endParaRPr>
          </a:p>
        </p:txBody>
      </p:sp>
      <p:sp>
        <p:nvSpPr>
          <p:cNvPr id="18" name="Shape 863"/>
          <p:cNvSpPr/>
          <p:nvPr/>
        </p:nvSpPr>
        <p:spPr>
          <a:xfrm>
            <a:off x="8162925" y="2164080"/>
            <a:ext cx="576072" cy="57607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404040"/>
          </a:solidFill>
          <a:ln w="38100">
            <a:noFill/>
            <a:round/>
          </a:ln>
        </p:spPr>
        <p:txBody>
          <a:bodyPr lIns="45711" tIns="45710" rIns="45711" bIns="45710"/>
          <a:lstStyle/>
          <a:p>
            <a:pPr defTabSz="456565">
              <a:defRPr sz="3600">
                <a:solidFill>
                  <a:srgbClr val="FFFFFF"/>
                </a:solidFill>
                <a:effectLst>
                  <a:outerShdw blurRad="38100" dist="38100" dir="2700000" rotWithShape="0">
                    <a:srgbClr val="000000">
                      <a:alpha val="43137"/>
                    </a:srgbClr>
                  </a:outerShdw>
                </a:effectLst>
                <a:latin typeface="Gulim" panose="020B0600000101010101" charset="-127"/>
                <a:ea typeface="Gulim" panose="020B0600000101010101" charset="-127"/>
                <a:cs typeface="Gulim" panose="020B0600000101010101" charset="-127"/>
                <a:sym typeface="Gulim" panose="020B0600000101010101" charset="-127"/>
              </a:defRPr>
            </a:pPr>
            <a:endParaRPr sz="3600">
              <a:cs typeface="+mn-ea"/>
              <a:sym typeface="+mn-lt"/>
            </a:endParaRPr>
          </a:p>
        </p:txBody>
      </p:sp>
      <p:sp>
        <p:nvSpPr>
          <p:cNvPr id="40" name="Content Placeholder 10"/>
          <p:cNvSpPr>
            <a:spLocks noGrp="1"/>
          </p:cNvSpPr>
          <p:nvPr>
            <p:ph sz="quarter" idx="16"/>
          </p:nvPr>
        </p:nvSpPr>
        <p:spPr>
          <a:xfrm>
            <a:off x="5191187" y="1951132"/>
            <a:ext cx="1524000" cy="292100"/>
          </a:xfrm>
        </p:spPr>
        <p:txBody>
          <a:bodyPr anchor="ctr">
            <a:normAutofit/>
          </a:bodyPr>
          <a:lstStyle/>
          <a:p>
            <a:pPr algn="ctr"/>
            <a:r>
              <a:rPr lang="en-US" sz="1200" dirty="0">
                <a:solidFill>
                  <a:schemeClr val="bg1"/>
                </a:solidFill>
                <a:latin typeface="+mn-lt"/>
                <a:cs typeface="+mn-ea"/>
                <a:sym typeface="+mn-lt"/>
              </a:rPr>
              <a:t>Quality</a:t>
            </a:r>
          </a:p>
        </p:txBody>
      </p:sp>
      <p:sp>
        <p:nvSpPr>
          <p:cNvPr id="41" name="Content Placeholder 10"/>
          <p:cNvSpPr>
            <a:spLocks noGrp="1"/>
          </p:cNvSpPr>
          <p:nvPr>
            <p:ph sz="quarter" idx="16"/>
          </p:nvPr>
        </p:nvSpPr>
        <p:spPr>
          <a:xfrm>
            <a:off x="5191187" y="2855510"/>
            <a:ext cx="1524000" cy="292100"/>
          </a:xfrm>
        </p:spPr>
        <p:txBody>
          <a:bodyPr anchor="ctr">
            <a:normAutofit/>
          </a:bodyPr>
          <a:lstStyle/>
          <a:p>
            <a:pPr algn="ctr"/>
            <a:r>
              <a:rPr lang="en-US" sz="1200" dirty="0">
                <a:solidFill>
                  <a:schemeClr val="bg1"/>
                </a:solidFill>
                <a:latin typeface="+mn-lt"/>
                <a:cs typeface="+mn-ea"/>
                <a:sym typeface="+mn-lt"/>
              </a:rPr>
              <a:t>Support</a:t>
            </a:r>
          </a:p>
        </p:txBody>
      </p:sp>
      <p:sp>
        <p:nvSpPr>
          <p:cNvPr id="42" name="Content Placeholder 10"/>
          <p:cNvSpPr>
            <a:spLocks noGrp="1"/>
          </p:cNvSpPr>
          <p:nvPr>
            <p:ph sz="quarter" idx="16"/>
          </p:nvPr>
        </p:nvSpPr>
        <p:spPr>
          <a:xfrm>
            <a:off x="5191187" y="3673979"/>
            <a:ext cx="1524000" cy="292100"/>
          </a:xfrm>
        </p:spPr>
        <p:txBody>
          <a:bodyPr anchor="ctr"/>
          <a:lstStyle/>
          <a:p>
            <a:pPr algn="ctr"/>
            <a:r>
              <a:rPr lang="en-US" dirty="0">
                <a:solidFill>
                  <a:schemeClr val="bg1"/>
                </a:solidFill>
                <a:latin typeface="+mn-lt"/>
                <a:cs typeface="+mn-ea"/>
                <a:sym typeface="+mn-lt"/>
              </a:rPr>
              <a:t>$</a:t>
            </a:r>
          </a:p>
        </p:txBody>
      </p:sp>
      <p:sp>
        <p:nvSpPr>
          <p:cNvPr id="43" name="Shape 4401"/>
          <p:cNvSpPr/>
          <p:nvPr/>
        </p:nvSpPr>
        <p:spPr>
          <a:xfrm>
            <a:off x="3272010" y="2331107"/>
            <a:ext cx="215064" cy="242018"/>
          </a:xfrm>
          <a:custGeom>
            <a:avLst/>
            <a:gdLst/>
            <a:ahLst/>
            <a:cxnLst>
              <a:cxn ang="0">
                <a:pos x="wd2" y="hd2"/>
              </a:cxn>
              <a:cxn ang="5400000">
                <a:pos x="wd2" y="hd2"/>
              </a:cxn>
              <a:cxn ang="10800000">
                <a:pos x="wd2" y="hd2"/>
              </a:cxn>
              <a:cxn ang="16200000">
                <a:pos x="wd2" y="hd2"/>
              </a:cxn>
            </a:cxnLst>
            <a:rect l="0" t="0" r="r" b="b"/>
            <a:pathLst>
              <a:path w="21600" h="20959" extrusionOk="0">
                <a:moveTo>
                  <a:pt x="4049" y="7519"/>
                </a:moveTo>
                <a:cubicBezTo>
                  <a:pt x="3162" y="7519"/>
                  <a:pt x="0" y="7985"/>
                  <a:pt x="0" y="11154"/>
                </a:cubicBezTo>
                <a:lnTo>
                  <a:pt x="0" y="16799"/>
                </a:lnTo>
                <a:cubicBezTo>
                  <a:pt x="0" y="19968"/>
                  <a:pt x="3162" y="20318"/>
                  <a:pt x="4049" y="20318"/>
                </a:cubicBezTo>
                <a:cubicBezTo>
                  <a:pt x="4937" y="20318"/>
                  <a:pt x="2699" y="19651"/>
                  <a:pt x="2699" y="17687"/>
                </a:cubicBezTo>
                <a:lnTo>
                  <a:pt x="2699" y="10267"/>
                </a:lnTo>
                <a:cubicBezTo>
                  <a:pt x="2699" y="8207"/>
                  <a:pt x="4937" y="7519"/>
                  <a:pt x="4049" y="7519"/>
                </a:cubicBezTo>
                <a:close/>
                <a:moveTo>
                  <a:pt x="15725" y="7408"/>
                </a:moveTo>
                <a:cubicBezTo>
                  <a:pt x="15548" y="6995"/>
                  <a:pt x="20503" y="3177"/>
                  <a:pt x="17612" y="83"/>
                </a:cubicBezTo>
                <a:cubicBezTo>
                  <a:pt x="16934" y="-641"/>
                  <a:pt x="14641" y="3547"/>
                  <a:pt x="11381" y="5443"/>
                </a:cubicBezTo>
                <a:cubicBezTo>
                  <a:pt x="9583" y="6489"/>
                  <a:pt x="5399" y="8716"/>
                  <a:pt x="5399" y="9946"/>
                </a:cubicBezTo>
                <a:lnTo>
                  <a:pt x="5399" y="17911"/>
                </a:lnTo>
                <a:cubicBezTo>
                  <a:pt x="5399" y="19392"/>
                  <a:pt x="12033" y="20959"/>
                  <a:pt x="17076" y="20959"/>
                </a:cubicBezTo>
                <a:cubicBezTo>
                  <a:pt x="18923" y="20959"/>
                  <a:pt x="21600" y="10974"/>
                  <a:pt x="21600" y="9387"/>
                </a:cubicBezTo>
                <a:cubicBezTo>
                  <a:pt x="21600" y="7795"/>
                  <a:pt x="15902" y="7823"/>
                  <a:pt x="15725" y="7408"/>
                </a:cubicBezTo>
                <a:close/>
              </a:path>
            </a:pathLst>
          </a:custGeom>
          <a:solidFill>
            <a:schemeClr val="bg1"/>
          </a:solidFill>
          <a:ln w="12700">
            <a:miter lim="400000"/>
          </a:ln>
        </p:spPr>
        <p:txBody>
          <a:bodyPr lIns="38100" tIns="38100" rIns="38100" bIns="38100" anchor="ctr"/>
          <a:lstStyle/>
          <a:p>
            <a:pPr algn="ctr" defTabSz="457200">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sz="3000" dirty="0">
              <a:cs typeface="+mn-ea"/>
              <a:sym typeface="+mn-lt"/>
            </a:endParaRPr>
          </a:p>
        </p:txBody>
      </p:sp>
      <p:sp>
        <p:nvSpPr>
          <p:cNvPr id="44" name="Shape 4401"/>
          <p:cNvSpPr/>
          <p:nvPr/>
        </p:nvSpPr>
        <p:spPr>
          <a:xfrm>
            <a:off x="4238942" y="3353630"/>
            <a:ext cx="199511" cy="224516"/>
          </a:xfrm>
          <a:custGeom>
            <a:avLst/>
            <a:gdLst/>
            <a:ahLst/>
            <a:cxnLst>
              <a:cxn ang="0">
                <a:pos x="wd2" y="hd2"/>
              </a:cxn>
              <a:cxn ang="5400000">
                <a:pos x="wd2" y="hd2"/>
              </a:cxn>
              <a:cxn ang="10800000">
                <a:pos x="wd2" y="hd2"/>
              </a:cxn>
              <a:cxn ang="16200000">
                <a:pos x="wd2" y="hd2"/>
              </a:cxn>
            </a:cxnLst>
            <a:rect l="0" t="0" r="r" b="b"/>
            <a:pathLst>
              <a:path w="21600" h="20959" extrusionOk="0">
                <a:moveTo>
                  <a:pt x="4049" y="7519"/>
                </a:moveTo>
                <a:cubicBezTo>
                  <a:pt x="3162" y="7519"/>
                  <a:pt x="0" y="7985"/>
                  <a:pt x="0" y="11154"/>
                </a:cubicBezTo>
                <a:lnTo>
                  <a:pt x="0" y="16799"/>
                </a:lnTo>
                <a:cubicBezTo>
                  <a:pt x="0" y="19968"/>
                  <a:pt x="3162" y="20318"/>
                  <a:pt x="4049" y="20318"/>
                </a:cubicBezTo>
                <a:cubicBezTo>
                  <a:pt x="4937" y="20318"/>
                  <a:pt x="2699" y="19651"/>
                  <a:pt x="2699" y="17687"/>
                </a:cubicBezTo>
                <a:lnTo>
                  <a:pt x="2699" y="10267"/>
                </a:lnTo>
                <a:cubicBezTo>
                  <a:pt x="2699" y="8207"/>
                  <a:pt x="4937" y="7519"/>
                  <a:pt x="4049" y="7519"/>
                </a:cubicBezTo>
                <a:close/>
                <a:moveTo>
                  <a:pt x="15725" y="7408"/>
                </a:moveTo>
                <a:cubicBezTo>
                  <a:pt x="15548" y="6995"/>
                  <a:pt x="20503" y="3177"/>
                  <a:pt x="17612" y="83"/>
                </a:cubicBezTo>
                <a:cubicBezTo>
                  <a:pt x="16934" y="-641"/>
                  <a:pt x="14641" y="3547"/>
                  <a:pt x="11381" y="5443"/>
                </a:cubicBezTo>
                <a:cubicBezTo>
                  <a:pt x="9583" y="6489"/>
                  <a:pt x="5399" y="8716"/>
                  <a:pt x="5399" y="9946"/>
                </a:cubicBezTo>
                <a:lnTo>
                  <a:pt x="5399" y="17911"/>
                </a:lnTo>
                <a:cubicBezTo>
                  <a:pt x="5399" y="19392"/>
                  <a:pt x="12033" y="20959"/>
                  <a:pt x="17076" y="20959"/>
                </a:cubicBezTo>
                <a:cubicBezTo>
                  <a:pt x="18923" y="20959"/>
                  <a:pt x="21600" y="10974"/>
                  <a:pt x="21600" y="9387"/>
                </a:cubicBezTo>
                <a:cubicBezTo>
                  <a:pt x="21600" y="7795"/>
                  <a:pt x="15902" y="7823"/>
                  <a:pt x="15725" y="7408"/>
                </a:cubicBezTo>
                <a:close/>
              </a:path>
            </a:pathLst>
          </a:custGeom>
          <a:solidFill>
            <a:schemeClr val="bg1"/>
          </a:solidFill>
          <a:ln w="12700">
            <a:miter lim="400000"/>
          </a:ln>
        </p:spPr>
        <p:txBody>
          <a:bodyPr lIns="38100" tIns="38100" rIns="38100" bIns="38100" anchor="ctr"/>
          <a:lstStyle/>
          <a:p>
            <a:pPr algn="ctr" defTabSz="457200">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sz="3000" dirty="0">
              <a:cs typeface="+mn-ea"/>
              <a:sym typeface="+mn-lt"/>
            </a:endParaRPr>
          </a:p>
        </p:txBody>
      </p:sp>
      <p:sp>
        <p:nvSpPr>
          <p:cNvPr id="45" name="Shape 4401"/>
          <p:cNvSpPr/>
          <p:nvPr/>
        </p:nvSpPr>
        <p:spPr>
          <a:xfrm>
            <a:off x="5151356" y="4312662"/>
            <a:ext cx="196028" cy="220596"/>
          </a:xfrm>
          <a:custGeom>
            <a:avLst/>
            <a:gdLst/>
            <a:ahLst/>
            <a:cxnLst>
              <a:cxn ang="0">
                <a:pos x="wd2" y="hd2"/>
              </a:cxn>
              <a:cxn ang="5400000">
                <a:pos x="wd2" y="hd2"/>
              </a:cxn>
              <a:cxn ang="10800000">
                <a:pos x="wd2" y="hd2"/>
              </a:cxn>
              <a:cxn ang="16200000">
                <a:pos x="wd2" y="hd2"/>
              </a:cxn>
            </a:cxnLst>
            <a:rect l="0" t="0" r="r" b="b"/>
            <a:pathLst>
              <a:path w="21600" h="20959" extrusionOk="0">
                <a:moveTo>
                  <a:pt x="4049" y="7519"/>
                </a:moveTo>
                <a:cubicBezTo>
                  <a:pt x="3162" y="7519"/>
                  <a:pt x="0" y="7985"/>
                  <a:pt x="0" y="11154"/>
                </a:cubicBezTo>
                <a:lnTo>
                  <a:pt x="0" y="16799"/>
                </a:lnTo>
                <a:cubicBezTo>
                  <a:pt x="0" y="19968"/>
                  <a:pt x="3162" y="20318"/>
                  <a:pt x="4049" y="20318"/>
                </a:cubicBezTo>
                <a:cubicBezTo>
                  <a:pt x="4937" y="20318"/>
                  <a:pt x="2699" y="19651"/>
                  <a:pt x="2699" y="17687"/>
                </a:cubicBezTo>
                <a:lnTo>
                  <a:pt x="2699" y="10267"/>
                </a:lnTo>
                <a:cubicBezTo>
                  <a:pt x="2699" y="8207"/>
                  <a:pt x="4937" y="7519"/>
                  <a:pt x="4049" y="7519"/>
                </a:cubicBezTo>
                <a:close/>
                <a:moveTo>
                  <a:pt x="15725" y="7408"/>
                </a:moveTo>
                <a:cubicBezTo>
                  <a:pt x="15548" y="6995"/>
                  <a:pt x="20503" y="3177"/>
                  <a:pt x="17612" y="83"/>
                </a:cubicBezTo>
                <a:cubicBezTo>
                  <a:pt x="16934" y="-641"/>
                  <a:pt x="14641" y="3547"/>
                  <a:pt x="11381" y="5443"/>
                </a:cubicBezTo>
                <a:cubicBezTo>
                  <a:pt x="9583" y="6489"/>
                  <a:pt x="5399" y="8716"/>
                  <a:pt x="5399" y="9946"/>
                </a:cubicBezTo>
                <a:lnTo>
                  <a:pt x="5399" y="17911"/>
                </a:lnTo>
                <a:cubicBezTo>
                  <a:pt x="5399" y="19392"/>
                  <a:pt x="12033" y="20959"/>
                  <a:pt x="17076" y="20959"/>
                </a:cubicBezTo>
                <a:cubicBezTo>
                  <a:pt x="18923" y="20959"/>
                  <a:pt x="21600" y="10974"/>
                  <a:pt x="21600" y="9387"/>
                </a:cubicBezTo>
                <a:cubicBezTo>
                  <a:pt x="21600" y="7795"/>
                  <a:pt x="15902" y="7823"/>
                  <a:pt x="15725" y="7408"/>
                </a:cubicBezTo>
                <a:close/>
              </a:path>
            </a:pathLst>
          </a:custGeom>
          <a:solidFill>
            <a:schemeClr val="bg1"/>
          </a:solidFill>
          <a:ln w="12700">
            <a:miter lim="400000"/>
          </a:ln>
        </p:spPr>
        <p:txBody>
          <a:bodyPr lIns="38100" tIns="38100" rIns="38100" bIns="38100" anchor="ctr"/>
          <a:lstStyle/>
          <a:p>
            <a:pPr algn="ctr" defTabSz="457200">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sz="3000" dirty="0">
              <a:cs typeface="+mn-ea"/>
              <a:sym typeface="+mn-lt"/>
            </a:endParaRPr>
          </a:p>
        </p:txBody>
      </p:sp>
      <p:sp>
        <p:nvSpPr>
          <p:cNvPr id="46" name="Shape 4401"/>
          <p:cNvSpPr/>
          <p:nvPr/>
        </p:nvSpPr>
        <p:spPr>
          <a:xfrm>
            <a:off x="6512629" y="4299700"/>
            <a:ext cx="219067" cy="246523"/>
          </a:xfrm>
          <a:custGeom>
            <a:avLst/>
            <a:gdLst/>
            <a:ahLst/>
            <a:cxnLst>
              <a:cxn ang="0">
                <a:pos x="wd2" y="hd2"/>
              </a:cxn>
              <a:cxn ang="5400000">
                <a:pos x="wd2" y="hd2"/>
              </a:cxn>
              <a:cxn ang="10800000">
                <a:pos x="wd2" y="hd2"/>
              </a:cxn>
              <a:cxn ang="16200000">
                <a:pos x="wd2" y="hd2"/>
              </a:cxn>
            </a:cxnLst>
            <a:rect l="0" t="0" r="r" b="b"/>
            <a:pathLst>
              <a:path w="21600" h="20959" extrusionOk="0">
                <a:moveTo>
                  <a:pt x="4049" y="7519"/>
                </a:moveTo>
                <a:cubicBezTo>
                  <a:pt x="3162" y="7519"/>
                  <a:pt x="0" y="7985"/>
                  <a:pt x="0" y="11154"/>
                </a:cubicBezTo>
                <a:lnTo>
                  <a:pt x="0" y="16799"/>
                </a:lnTo>
                <a:cubicBezTo>
                  <a:pt x="0" y="19968"/>
                  <a:pt x="3162" y="20318"/>
                  <a:pt x="4049" y="20318"/>
                </a:cubicBezTo>
                <a:cubicBezTo>
                  <a:pt x="4937" y="20318"/>
                  <a:pt x="2699" y="19651"/>
                  <a:pt x="2699" y="17687"/>
                </a:cubicBezTo>
                <a:lnTo>
                  <a:pt x="2699" y="10267"/>
                </a:lnTo>
                <a:cubicBezTo>
                  <a:pt x="2699" y="8207"/>
                  <a:pt x="4937" y="7519"/>
                  <a:pt x="4049" y="7519"/>
                </a:cubicBezTo>
                <a:close/>
                <a:moveTo>
                  <a:pt x="15725" y="7408"/>
                </a:moveTo>
                <a:cubicBezTo>
                  <a:pt x="15548" y="6995"/>
                  <a:pt x="20503" y="3177"/>
                  <a:pt x="17612" y="83"/>
                </a:cubicBezTo>
                <a:cubicBezTo>
                  <a:pt x="16934" y="-641"/>
                  <a:pt x="14641" y="3547"/>
                  <a:pt x="11381" y="5443"/>
                </a:cubicBezTo>
                <a:cubicBezTo>
                  <a:pt x="9583" y="6489"/>
                  <a:pt x="5399" y="8716"/>
                  <a:pt x="5399" y="9946"/>
                </a:cubicBezTo>
                <a:lnTo>
                  <a:pt x="5399" y="17911"/>
                </a:lnTo>
                <a:cubicBezTo>
                  <a:pt x="5399" y="19392"/>
                  <a:pt x="12033" y="20959"/>
                  <a:pt x="17076" y="20959"/>
                </a:cubicBezTo>
                <a:cubicBezTo>
                  <a:pt x="18923" y="20959"/>
                  <a:pt x="21600" y="10974"/>
                  <a:pt x="21600" y="9387"/>
                </a:cubicBezTo>
                <a:cubicBezTo>
                  <a:pt x="21600" y="7795"/>
                  <a:pt x="15902" y="7823"/>
                  <a:pt x="15725" y="7408"/>
                </a:cubicBezTo>
                <a:close/>
              </a:path>
            </a:pathLst>
          </a:custGeom>
          <a:solidFill>
            <a:schemeClr val="bg1"/>
          </a:solidFill>
          <a:ln w="12700">
            <a:miter lim="400000"/>
          </a:ln>
        </p:spPr>
        <p:txBody>
          <a:bodyPr lIns="38100" tIns="38100" rIns="38100" bIns="38100" anchor="ctr"/>
          <a:lstStyle/>
          <a:p>
            <a:pPr algn="ctr" defTabSz="457200">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sz="3000" dirty="0">
              <a:cs typeface="+mn-ea"/>
              <a:sym typeface="+mn-lt"/>
            </a:endParaRPr>
          </a:p>
        </p:txBody>
      </p:sp>
      <p:sp>
        <p:nvSpPr>
          <p:cNvPr id="47" name="Shape 4401"/>
          <p:cNvSpPr/>
          <p:nvPr/>
        </p:nvSpPr>
        <p:spPr>
          <a:xfrm>
            <a:off x="7428310" y="3343108"/>
            <a:ext cx="218212" cy="245560"/>
          </a:xfrm>
          <a:custGeom>
            <a:avLst/>
            <a:gdLst/>
            <a:ahLst/>
            <a:cxnLst>
              <a:cxn ang="0">
                <a:pos x="wd2" y="hd2"/>
              </a:cxn>
              <a:cxn ang="5400000">
                <a:pos x="wd2" y="hd2"/>
              </a:cxn>
              <a:cxn ang="10800000">
                <a:pos x="wd2" y="hd2"/>
              </a:cxn>
              <a:cxn ang="16200000">
                <a:pos x="wd2" y="hd2"/>
              </a:cxn>
            </a:cxnLst>
            <a:rect l="0" t="0" r="r" b="b"/>
            <a:pathLst>
              <a:path w="21600" h="20959" extrusionOk="0">
                <a:moveTo>
                  <a:pt x="4049" y="7519"/>
                </a:moveTo>
                <a:cubicBezTo>
                  <a:pt x="3162" y="7519"/>
                  <a:pt x="0" y="7985"/>
                  <a:pt x="0" y="11154"/>
                </a:cubicBezTo>
                <a:lnTo>
                  <a:pt x="0" y="16799"/>
                </a:lnTo>
                <a:cubicBezTo>
                  <a:pt x="0" y="19968"/>
                  <a:pt x="3162" y="20318"/>
                  <a:pt x="4049" y="20318"/>
                </a:cubicBezTo>
                <a:cubicBezTo>
                  <a:pt x="4937" y="20318"/>
                  <a:pt x="2699" y="19651"/>
                  <a:pt x="2699" y="17687"/>
                </a:cubicBezTo>
                <a:lnTo>
                  <a:pt x="2699" y="10267"/>
                </a:lnTo>
                <a:cubicBezTo>
                  <a:pt x="2699" y="8207"/>
                  <a:pt x="4937" y="7519"/>
                  <a:pt x="4049" y="7519"/>
                </a:cubicBezTo>
                <a:close/>
                <a:moveTo>
                  <a:pt x="15725" y="7408"/>
                </a:moveTo>
                <a:cubicBezTo>
                  <a:pt x="15548" y="6995"/>
                  <a:pt x="20503" y="3177"/>
                  <a:pt x="17612" y="83"/>
                </a:cubicBezTo>
                <a:cubicBezTo>
                  <a:pt x="16934" y="-641"/>
                  <a:pt x="14641" y="3547"/>
                  <a:pt x="11381" y="5443"/>
                </a:cubicBezTo>
                <a:cubicBezTo>
                  <a:pt x="9583" y="6489"/>
                  <a:pt x="5399" y="8716"/>
                  <a:pt x="5399" y="9946"/>
                </a:cubicBezTo>
                <a:lnTo>
                  <a:pt x="5399" y="17911"/>
                </a:lnTo>
                <a:cubicBezTo>
                  <a:pt x="5399" y="19392"/>
                  <a:pt x="12033" y="20959"/>
                  <a:pt x="17076" y="20959"/>
                </a:cubicBezTo>
                <a:cubicBezTo>
                  <a:pt x="18923" y="20959"/>
                  <a:pt x="21600" y="10974"/>
                  <a:pt x="21600" y="9387"/>
                </a:cubicBezTo>
                <a:cubicBezTo>
                  <a:pt x="21600" y="7795"/>
                  <a:pt x="15902" y="7823"/>
                  <a:pt x="15725" y="7408"/>
                </a:cubicBezTo>
                <a:close/>
              </a:path>
            </a:pathLst>
          </a:custGeom>
          <a:solidFill>
            <a:schemeClr val="bg1"/>
          </a:solidFill>
          <a:ln w="12700">
            <a:miter lim="400000"/>
          </a:ln>
        </p:spPr>
        <p:txBody>
          <a:bodyPr lIns="38100" tIns="38100" rIns="38100" bIns="38100" anchor="ctr"/>
          <a:lstStyle/>
          <a:p>
            <a:pPr algn="ctr" defTabSz="457200">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sz="3000" dirty="0">
              <a:cs typeface="+mn-ea"/>
              <a:sym typeface="+mn-lt"/>
            </a:endParaRPr>
          </a:p>
        </p:txBody>
      </p:sp>
      <p:sp>
        <p:nvSpPr>
          <p:cNvPr id="48" name="Shape 4401"/>
          <p:cNvSpPr/>
          <p:nvPr/>
        </p:nvSpPr>
        <p:spPr>
          <a:xfrm>
            <a:off x="8341429" y="2328856"/>
            <a:ext cx="219067" cy="246523"/>
          </a:xfrm>
          <a:custGeom>
            <a:avLst/>
            <a:gdLst/>
            <a:ahLst/>
            <a:cxnLst>
              <a:cxn ang="0">
                <a:pos x="wd2" y="hd2"/>
              </a:cxn>
              <a:cxn ang="5400000">
                <a:pos x="wd2" y="hd2"/>
              </a:cxn>
              <a:cxn ang="10800000">
                <a:pos x="wd2" y="hd2"/>
              </a:cxn>
              <a:cxn ang="16200000">
                <a:pos x="wd2" y="hd2"/>
              </a:cxn>
            </a:cxnLst>
            <a:rect l="0" t="0" r="r" b="b"/>
            <a:pathLst>
              <a:path w="21600" h="20959" extrusionOk="0">
                <a:moveTo>
                  <a:pt x="4049" y="7519"/>
                </a:moveTo>
                <a:cubicBezTo>
                  <a:pt x="3162" y="7519"/>
                  <a:pt x="0" y="7985"/>
                  <a:pt x="0" y="11154"/>
                </a:cubicBezTo>
                <a:lnTo>
                  <a:pt x="0" y="16799"/>
                </a:lnTo>
                <a:cubicBezTo>
                  <a:pt x="0" y="19968"/>
                  <a:pt x="3162" y="20318"/>
                  <a:pt x="4049" y="20318"/>
                </a:cubicBezTo>
                <a:cubicBezTo>
                  <a:pt x="4937" y="20318"/>
                  <a:pt x="2699" y="19651"/>
                  <a:pt x="2699" y="17687"/>
                </a:cubicBezTo>
                <a:lnTo>
                  <a:pt x="2699" y="10267"/>
                </a:lnTo>
                <a:cubicBezTo>
                  <a:pt x="2699" y="8207"/>
                  <a:pt x="4937" y="7519"/>
                  <a:pt x="4049" y="7519"/>
                </a:cubicBezTo>
                <a:close/>
                <a:moveTo>
                  <a:pt x="15725" y="7408"/>
                </a:moveTo>
                <a:cubicBezTo>
                  <a:pt x="15548" y="6995"/>
                  <a:pt x="20503" y="3177"/>
                  <a:pt x="17612" y="83"/>
                </a:cubicBezTo>
                <a:cubicBezTo>
                  <a:pt x="16934" y="-641"/>
                  <a:pt x="14641" y="3547"/>
                  <a:pt x="11381" y="5443"/>
                </a:cubicBezTo>
                <a:cubicBezTo>
                  <a:pt x="9583" y="6489"/>
                  <a:pt x="5399" y="8716"/>
                  <a:pt x="5399" y="9946"/>
                </a:cubicBezTo>
                <a:lnTo>
                  <a:pt x="5399" y="17911"/>
                </a:lnTo>
                <a:cubicBezTo>
                  <a:pt x="5399" y="19392"/>
                  <a:pt x="12033" y="20959"/>
                  <a:pt x="17076" y="20959"/>
                </a:cubicBezTo>
                <a:cubicBezTo>
                  <a:pt x="18923" y="20959"/>
                  <a:pt x="21600" y="10974"/>
                  <a:pt x="21600" y="9387"/>
                </a:cubicBezTo>
                <a:cubicBezTo>
                  <a:pt x="21600" y="7795"/>
                  <a:pt x="15902" y="7823"/>
                  <a:pt x="15725" y="7408"/>
                </a:cubicBezTo>
                <a:close/>
              </a:path>
            </a:pathLst>
          </a:custGeom>
          <a:solidFill>
            <a:schemeClr val="bg1"/>
          </a:solidFill>
          <a:ln w="12700">
            <a:miter lim="400000"/>
          </a:ln>
        </p:spPr>
        <p:txBody>
          <a:bodyPr lIns="38100" tIns="38100" rIns="38100" bIns="38100" anchor="ctr"/>
          <a:lstStyle/>
          <a:p>
            <a:pPr algn="ctr" defTabSz="457200">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sz="3000" dirty="0">
              <a:cs typeface="+mn-ea"/>
              <a:sym typeface="+mn-lt"/>
            </a:endParaRPr>
          </a:p>
        </p:txBody>
      </p:sp>
      <p:sp>
        <p:nvSpPr>
          <p:cNvPr id="39" name="矩形 38"/>
          <p:cNvSpPr/>
          <p:nvPr/>
        </p:nvSpPr>
        <p:spPr>
          <a:xfrm>
            <a:off x="0" y="668044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9" name="矩形 48"/>
          <p:cNvSpPr/>
          <p:nvPr/>
        </p:nvSpPr>
        <p:spPr>
          <a:xfrm>
            <a:off x="-11017" y="-304588"/>
            <a:ext cx="12218222" cy="48519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文本框 49"/>
          <p:cNvSpPr txBox="1"/>
          <p:nvPr/>
        </p:nvSpPr>
        <p:spPr>
          <a:xfrm>
            <a:off x="418455" y="327876"/>
            <a:ext cx="2787500" cy="398780"/>
          </a:xfrm>
          <a:prstGeom prst="rect">
            <a:avLst/>
          </a:prstGeom>
          <a:noFill/>
        </p:spPr>
        <p:txBody>
          <a:bodyPr wrap="square" rtlCol="0">
            <a:spAutoFit/>
          </a:bodyPr>
          <a:lstStyle/>
          <a:p>
            <a:r>
              <a:rPr lang="zh-CN" altLang="en-US" sz="2000" b="1" dirty="0">
                <a:cs typeface="+mn-ea"/>
                <a:sym typeface="+mn-lt"/>
              </a:rPr>
              <a:t>投资回报及收益</a:t>
            </a:r>
          </a:p>
        </p:txBody>
      </p:sp>
      <p:cxnSp>
        <p:nvCxnSpPr>
          <p:cNvPr id="51" name="直接连接符 50"/>
          <p:cNvCxnSpPr/>
          <p:nvPr/>
        </p:nvCxnSpPr>
        <p:spPr>
          <a:xfrm>
            <a:off x="30958" y="710505"/>
            <a:ext cx="3863589"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Text Placeholder 2"/>
          <p:cNvSpPr>
            <a:spLocks noGrp="1"/>
          </p:cNvSpPr>
          <p:nvPr/>
        </p:nvSpPr>
        <p:spPr>
          <a:xfrm>
            <a:off x="1696085" y="3583305"/>
            <a:ext cx="2308860" cy="935355"/>
          </a:xfrm>
          <a:prstGeom prst="rect">
            <a:avLst/>
          </a:prstGeom>
        </p:spPr>
        <p:txBody>
          <a:bodyPr vert="horz" lIns="0" tIns="0" rIns="0" bIns="0" rtlCol="0">
            <a:noAutofit/>
          </a:bodyPr>
          <a:lstStyle>
            <a:lvl1pPr marL="0" indent="0" algn="l" defTabSz="914400" rtl="0" eaLnBrk="1" latinLnBrk="0" hangingPunct="1">
              <a:lnSpc>
                <a:spcPts val="1700"/>
              </a:lnSpc>
              <a:spcBef>
                <a:spcPts val="1000"/>
              </a:spcBef>
              <a:buFont typeface="Arial" panose="020B0604020202020204" pitchFamily="34" charset="0"/>
              <a:buNone/>
              <a:defRPr sz="950" kern="1200">
                <a:solidFill>
                  <a:schemeClr val="bg1">
                    <a:lumMod val="95000"/>
                  </a:schemeClr>
                </a:solidFill>
                <a:latin typeface="Sinkin Sans 300 Light"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50000"/>
              </a:lnSpc>
              <a:defRPr/>
            </a:pPr>
            <a:r>
              <a:rPr lang="zh-CN" altLang="en-US" sz="1200" dirty="0">
                <a:solidFill>
                  <a:srgbClr val="333333"/>
                </a:solidFill>
                <a:latin typeface="微软雅黑" panose="020B0503020204020204" charset="-122"/>
                <a:ea typeface="微软雅黑" panose="020B0503020204020204" charset="-122"/>
                <a:sym typeface="+mn-ea"/>
              </a:rPr>
              <a:t>本公司是一家处于创始阶段处于高赢利发展阶段商品增值转卖</a:t>
            </a:r>
            <a:r>
              <a:rPr lang="en-US" altLang="zh-CN" sz="1200" dirty="0">
                <a:solidFill>
                  <a:srgbClr val="333333"/>
                </a:solidFill>
                <a:latin typeface="微软雅黑" panose="020B0503020204020204" charset="-122"/>
                <a:ea typeface="微软雅黑" panose="020B0503020204020204" charset="-122"/>
                <a:sym typeface="+mn-ea"/>
              </a:rPr>
              <a:t>]</a:t>
            </a:r>
            <a:r>
              <a:rPr lang="zh-CN" altLang="en-US" sz="1200" dirty="0">
                <a:solidFill>
                  <a:srgbClr val="333333"/>
                </a:solidFill>
                <a:latin typeface="微软雅黑" panose="020B0503020204020204" charset="-122"/>
                <a:ea typeface="微软雅黑" panose="020B0503020204020204" charset="-122"/>
                <a:sym typeface="+mn-ea"/>
              </a:rPr>
              <a:t>的公司</a:t>
            </a:r>
            <a:endParaRPr lang="zh-CN" altLang="en-US" sz="1200" dirty="0">
              <a:solidFill>
                <a:srgbClr val="333333"/>
              </a:solidFill>
              <a:latin typeface="微软雅黑" panose="020B0503020204020204" charset="-122"/>
              <a:ea typeface="微软雅黑" panose="020B0503020204020204" charset="-122"/>
              <a:cs typeface="+mn-ea"/>
              <a:sym typeface="+mn-ea"/>
            </a:endParaRPr>
          </a:p>
        </p:txBody>
      </p:sp>
      <p:sp>
        <p:nvSpPr>
          <p:cNvPr id="12" name="Content Placeholder 10"/>
          <p:cNvSpPr>
            <a:spLocks noGrp="1"/>
          </p:cNvSpPr>
          <p:nvPr/>
        </p:nvSpPr>
        <p:spPr>
          <a:xfrm>
            <a:off x="1926591" y="3286027"/>
            <a:ext cx="1903809" cy="292100"/>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1">
                    <a:lumMod val="95000"/>
                  </a:schemeClr>
                </a:solidFill>
                <a:latin typeface="Sinkin Sans 300 Light"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zh-CN" altLang="en-US" sz="1600" b="1" dirty="0">
                <a:solidFill>
                  <a:srgbClr val="404040"/>
                </a:solidFill>
                <a:latin typeface="微软雅黑" panose="020B0503020204020204" charset="-122"/>
                <a:ea typeface="微软雅黑" panose="020B0503020204020204" charset="-122"/>
                <a:sym typeface="+mn-ea"/>
              </a:rPr>
              <a:t>资金管理</a:t>
            </a:r>
            <a:endParaRPr lang="zh-CN" altLang="en-US" sz="1600" b="1" dirty="0">
              <a:solidFill>
                <a:srgbClr val="404040"/>
              </a:solidFill>
              <a:latin typeface="微软雅黑" panose="020B0503020204020204" charset="-122"/>
              <a:ea typeface="微软雅黑" panose="020B0503020204020204" charset="-122"/>
              <a:cs typeface="+mn-ea"/>
              <a:sym typeface="+mn-ea"/>
            </a:endParaRPr>
          </a:p>
        </p:txBody>
      </p:sp>
      <p:sp>
        <p:nvSpPr>
          <p:cNvPr id="19" name="Text Placeholder 2"/>
          <p:cNvSpPr>
            <a:spLocks noGrp="1"/>
          </p:cNvSpPr>
          <p:nvPr/>
        </p:nvSpPr>
        <p:spPr>
          <a:xfrm>
            <a:off x="2475865" y="4716145"/>
            <a:ext cx="2308860" cy="935355"/>
          </a:xfrm>
          <a:prstGeom prst="rect">
            <a:avLst/>
          </a:prstGeom>
        </p:spPr>
        <p:txBody>
          <a:bodyPr vert="horz" lIns="0" tIns="0" rIns="0" bIns="0" rtlCol="0">
            <a:noAutofit/>
          </a:bodyPr>
          <a:lstStyle>
            <a:lvl1pPr marL="0" indent="0" algn="l" defTabSz="914400" rtl="0" eaLnBrk="1" latinLnBrk="0" hangingPunct="1">
              <a:lnSpc>
                <a:spcPts val="1700"/>
              </a:lnSpc>
              <a:spcBef>
                <a:spcPts val="1000"/>
              </a:spcBef>
              <a:buFont typeface="Arial" panose="020B0604020202020204" pitchFamily="34" charset="0"/>
              <a:buNone/>
              <a:defRPr sz="950" kern="1200">
                <a:solidFill>
                  <a:schemeClr val="bg1">
                    <a:lumMod val="95000"/>
                  </a:schemeClr>
                </a:solidFill>
                <a:latin typeface="Sinkin Sans 300 Light"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50000"/>
              </a:lnSpc>
              <a:defRPr/>
            </a:pPr>
            <a:r>
              <a:rPr lang="zh-CN" altLang="en-US" sz="1200" dirty="0">
                <a:solidFill>
                  <a:srgbClr val="333333"/>
                </a:solidFill>
                <a:latin typeface="微软雅黑" panose="020B0503020204020204" charset="-122"/>
                <a:ea typeface="微软雅黑" panose="020B0503020204020204" charset="-122"/>
                <a:sym typeface="+mn-ea"/>
              </a:rPr>
              <a:t>本公司是一家处于创始阶段处于高赢利发展阶段商品增值转卖</a:t>
            </a:r>
            <a:r>
              <a:rPr lang="en-US" altLang="zh-CN" sz="1200" dirty="0">
                <a:solidFill>
                  <a:srgbClr val="333333"/>
                </a:solidFill>
                <a:latin typeface="微软雅黑" panose="020B0503020204020204" charset="-122"/>
                <a:ea typeface="微软雅黑" panose="020B0503020204020204" charset="-122"/>
                <a:sym typeface="+mn-ea"/>
              </a:rPr>
              <a:t>]</a:t>
            </a:r>
            <a:r>
              <a:rPr lang="zh-CN" altLang="en-US" sz="1200" dirty="0">
                <a:solidFill>
                  <a:srgbClr val="333333"/>
                </a:solidFill>
                <a:latin typeface="微软雅黑" panose="020B0503020204020204" charset="-122"/>
                <a:ea typeface="微软雅黑" panose="020B0503020204020204" charset="-122"/>
                <a:sym typeface="+mn-ea"/>
              </a:rPr>
              <a:t>的公司</a:t>
            </a:r>
            <a:endParaRPr lang="zh-CN" altLang="en-US" sz="1200" dirty="0">
              <a:solidFill>
                <a:srgbClr val="333333"/>
              </a:solidFill>
              <a:latin typeface="微软雅黑" panose="020B0503020204020204" charset="-122"/>
              <a:ea typeface="微软雅黑" panose="020B0503020204020204" charset="-122"/>
              <a:cs typeface="+mn-ea"/>
              <a:sym typeface="+mn-ea"/>
            </a:endParaRPr>
          </a:p>
        </p:txBody>
      </p:sp>
      <p:sp>
        <p:nvSpPr>
          <p:cNvPr id="20" name="Content Placeholder 10"/>
          <p:cNvSpPr>
            <a:spLocks noGrp="1"/>
          </p:cNvSpPr>
          <p:nvPr/>
        </p:nvSpPr>
        <p:spPr>
          <a:xfrm>
            <a:off x="2706371" y="4418867"/>
            <a:ext cx="1903809" cy="292100"/>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1">
                    <a:lumMod val="95000"/>
                  </a:schemeClr>
                </a:solidFill>
                <a:latin typeface="Sinkin Sans 300 Light"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zh-CN" altLang="en-US" sz="1600" b="1" dirty="0">
                <a:solidFill>
                  <a:srgbClr val="404040"/>
                </a:solidFill>
                <a:latin typeface="微软雅黑" panose="020B0503020204020204" charset="-122"/>
                <a:ea typeface="微软雅黑" panose="020B0503020204020204" charset="-122"/>
                <a:sym typeface="+mn-ea"/>
              </a:rPr>
              <a:t>资金管理</a:t>
            </a:r>
            <a:endParaRPr lang="zh-CN" altLang="en-US" sz="1600" b="1" dirty="0">
              <a:solidFill>
                <a:srgbClr val="404040"/>
              </a:solidFill>
              <a:latin typeface="微软雅黑" panose="020B0503020204020204" charset="-122"/>
              <a:ea typeface="微软雅黑" panose="020B0503020204020204" charset="-122"/>
              <a:cs typeface="+mn-ea"/>
              <a:sym typeface="+mn-ea"/>
            </a:endParaRPr>
          </a:p>
        </p:txBody>
      </p:sp>
      <p:sp>
        <p:nvSpPr>
          <p:cNvPr id="37" name="Text Placeholder 2"/>
          <p:cNvSpPr>
            <a:spLocks noGrp="1"/>
          </p:cNvSpPr>
          <p:nvPr/>
        </p:nvSpPr>
        <p:spPr>
          <a:xfrm>
            <a:off x="8896985" y="2461260"/>
            <a:ext cx="2626360" cy="935355"/>
          </a:xfrm>
          <a:prstGeom prst="rect">
            <a:avLst/>
          </a:prstGeom>
        </p:spPr>
        <p:txBody>
          <a:bodyPr vert="horz" lIns="0" tIns="0" rIns="0" bIns="0" rtlCol="0">
            <a:noAutofit/>
          </a:bodyPr>
          <a:lstStyle>
            <a:lvl1pPr marL="0" indent="0" algn="l" defTabSz="914400" rtl="0" eaLnBrk="1" latinLnBrk="0" hangingPunct="1">
              <a:lnSpc>
                <a:spcPts val="1700"/>
              </a:lnSpc>
              <a:spcBef>
                <a:spcPts val="1000"/>
              </a:spcBef>
              <a:buFont typeface="Arial" panose="020B0604020202020204" pitchFamily="34" charset="0"/>
              <a:buNone/>
              <a:defRPr sz="950" kern="1200">
                <a:solidFill>
                  <a:schemeClr val="bg1">
                    <a:lumMod val="95000"/>
                  </a:schemeClr>
                </a:solidFill>
                <a:latin typeface="Sinkin Sans 300 Light"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lnSpc>
                <a:spcPct val="150000"/>
              </a:lnSpc>
              <a:defRPr/>
            </a:pPr>
            <a:r>
              <a:rPr lang="zh-CN" altLang="en-US" sz="1200" dirty="0">
                <a:solidFill>
                  <a:srgbClr val="333333"/>
                </a:solidFill>
                <a:latin typeface="微软雅黑" panose="020B0503020204020204" charset="-122"/>
                <a:ea typeface="微软雅黑" panose="020B0503020204020204" charset="-122"/>
                <a:sym typeface="+mn-ea"/>
              </a:rPr>
              <a:t>本公司是一家处于创始阶段处于高赢利发展阶段商品增值转卖</a:t>
            </a:r>
            <a:r>
              <a:rPr lang="en-US" altLang="zh-CN" sz="1200" dirty="0">
                <a:solidFill>
                  <a:srgbClr val="333333"/>
                </a:solidFill>
                <a:latin typeface="微软雅黑" panose="020B0503020204020204" charset="-122"/>
                <a:ea typeface="微软雅黑" panose="020B0503020204020204" charset="-122"/>
                <a:sym typeface="+mn-ea"/>
              </a:rPr>
              <a:t>]</a:t>
            </a:r>
            <a:r>
              <a:rPr lang="zh-CN" altLang="en-US" sz="1200" dirty="0">
                <a:solidFill>
                  <a:srgbClr val="333333"/>
                </a:solidFill>
                <a:latin typeface="微软雅黑" panose="020B0503020204020204" charset="-122"/>
                <a:ea typeface="微软雅黑" panose="020B0503020204020204" charset="-122"/>
                <a:sym typeface="+mn-ea"/>
              </a:rPr>
              <a:t>的公司</a:t>
            </a:r>
            <a:endParaRPr lang="zh-CN" altLang="en-US" sz="1200" dirty="0">
              <a:solidFill>
                <a:srgbClr val="333333"/>
              </a:solidFill>
              <a:latin typeface="微软雅黑" panose="020B0503020204020204" charset="-122"/>
              <a:ea typeface="微软雅黑" panose="020B0503020204020204" charset="-122"/>
              <a:cs typeface="+mn-ea"/>
              <a:sym typeface="+mn-ea"/>
            </a:endParaRPr>
          </a:p>
        </p:txBody>
      </p:sp>
      <p:sp>
        <p:nvSpPr>
          <p:cNvPr id="38" name="Content Placeholder 10"/>
          <p:cNvSpPr>
            <a:spLocks noGrp="1"/>
          </p:cNvSpPr>
          <p:nvPr/>
        </p:nvSpPr>
        <p:spPr>
          <a:xfrm>
            <a:off x="9127491" y="2163982"/>
            <a:ext cx="1903809" cy="292100"/>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1">
                    <a:lumMod val="95000"/>
                  </a:schemeClr>
                </a:solidFill>
                <a:latin typeface="Sinkin Sans 300 Light"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zh-CN" altLang="en-US" sz="1600" b="1" dirty="0">
                <a:solidFill>
                  <a:srgbClr val="404040"/>
                </a:solidFill>
                <a:latin typeface="微软雅黑" panose="020B0503020204020204" charset="-122"/>
                <a:ea typeface="微软雅黑" panose="020B0503020204020204" charset="-122"/>
                <a:sym typeface="+mn-ea"/>
              </a:rPr>
              <a:t>资金管理</a:t>
            </a:r>
            <a:endParaRPr lang="zh-CN" altLang="en-US" sz="1600" b="1" dirty="0">
              <a:solidFill>
                <a:srgbClr val="404040"/>
              </a:solidFill>
              <a:latin typeface="微软雅黑" panose="020B0503020204020204" charset="-122"/>
              <a:ea typeface="微软雅黑" panose="020B0503020204020204" charset="-122"/>
              <a:cs typeface="+mn-ea"/>
              <a:sym typeface="+mn-ea"/>
            </a:endParaRPr>
          </a:p>
        </p:txBody>
      </p:sp>
      <p:sp>
        <p:nvSpPr>
          <p:cNvPr id="52" name="Text Placeholder 2"/>
          <p:cNvSpPr>
            <a:spLocks noGrp="1"/>
          </p:cNvSpPr>
          <p:nvPr/>
        </p:nvSpPr>
        <p:spPr>
          <a:xfrm>
            <a:off x="7932420" y="3583305"/>
            <a:ext cx="2626360" cy="935355"/>
          </a:xfrm>
          <a:prstGeom prst="rect">
            <a:avLst/>
          </a:prstGeom>
        </p:spPr>
        <p:txBody>
          <a:bodyPr vert="horz" lIns="0" tIns="0" rIns="0" bIns="0" rtlCol="0">
            <a:noAutofit/>
          </a:bodyPr>
          <a:lstStyle>
            <a:lvl1pPr marL="0" indent="0" algn="l" defTabSz="914400" rtl="0" eaLnBrk="1" latinLnBrk="0" hangingPunct="1">
              <a:lnSpc>
                <a:spcPts val="1700"/>
              </a:lnSpc>
              <a:spcBef>
                <a:spcPts val="1000"/>
              </a:spcBef>
              <a:buFont typeface="Arial" panose="020B0604020202020204" pitchFamily="34" charset="0"/>
              <a:buNone/>
              <a:defRPr sz="950" kern="1200">
                <a:solidFill>
                  <a:schemeClr val="bg1">
                    <a:lumMod val="95000"/>
                  </a:schemeClr>
                </a:solidFill>
                <a:latin typeface="Sinkin Sans 300 Light"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lnSpc>
                <a:spcPct val="150000"/>
              </a:lnSpc>
              <a:defRPr/>
            </a:pPr>
            <a:r>
              <a:rPr lang="zh-CN" altLang="en-US" sz="1200" dirty="0">
                <a:solidFill>
                  <a:srgbClr val="333333"/>
                </a:solidFill>
                <a:latin typeface="微软雅黑" panose="020B0503020204020204" charset="-122"/>
                <a:ea typeface="微软雅黑" panose="020B0503020204020204" charset="-122"/>
                <a:sym typeface="+mn-ea"/>
              </a:rPr>
              <a:t>本公司是一家处于创始阶段处于高赢利发展阶段商品增值转卖</a:t>
            </a:r>
            <a:r>
              <a:rPr lang="en-US" altLang="zh-CN" sz="1200" dirty="0">
                <a:solidFill>
                  <a:srgbClr val="333333"/>
                </a:solidFill>
                <a:latin typeface="微软雅黑" panose="020B0503020204020204" charset="-122"/>
                <a:ea typeface="微软雅黑" panose="020B0503020204020204" charset="-122"/>
                <a:sym typeface="+mn-ea"/>
              </a:rPr>
              <a:t>]</a:t>
            </a:r>
            <a:r>
              <a:rPr lang="zh-CN" altLang="en-US" sz="1200" dirty="0">
                <a:solidFill>
                  <a:srgbClr val="333333"/>
                </a:solidFill>
                <a:latin typeface="微软雅黑" panose="020B0503020204020204" charset="-122"/>
                <a:ea typeface="微软雅黑" panose="020B0503020204020204" charset="-122"/>
                <a:sym typeface="+mn-ea"/>
              </a:rPr>
              <a:t>的公司</a:t>
            </a:r>
            <a:endParaRPr lang="zh-CN" altLang="en-US" sz="1200" dirty="0">
              <a:solidFill>
                <a:srgbClr val="333333"/>
              </a:solidFill>
              <a:latin typeface="微软雅黑" panose="020B0503020204020204" charset="-122"/>
              <a:ea typeface="微软雅黑" panose="020B0503020204020204" charset="-122"/>
              <a:cs typeface="+mn-ea"/>
              <a:sym typeface="+mn-ea"/>
            </a:endParaRPr>
          </a:p>
        </p:txBody>
      </p:sp>
      <p:sp>
        <p:nvSpPr>
          <p:cNvPr id="53" name="Content Placeholder 10"/>
          <p:cNvSpPr>
            <a:spLocks noGrp="1"/>
          </p:cNvSpPr>
          <p:nvPr/>
        </p:nvSpPr>
        <p:spPr>
          <a:xfrm>
            <a:off x="8162926" y="3286027"/>
            <a:ext cx="1903809" cy="292100"/>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1">
                    <a:lumMod val="95000"/>
                  </a:schemeClr>
                </a:solidFill>
                <a:latin typeface="Sinkin Sans 300 Light"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zh-CN" altLang="en-US" sz="1600" b="1" dirty="0">
                <a:solidFill>
                  <a:srgbClr val="404040"/>
                </a:solidFill>
                <a:latin typeface="微软雅黑" panose="020B0503020204020204" charset="-122"/>
                <a:ea typeface="微软雅黑" panose="020B0503020204020204" charset="-122"/>
                <a:sym typeface="+mn-ea"/>
              </a:rPr>
              <a:t>资金管理</a:t>
            </a:r>
            <a:endParaRPr lang="zh-CN" altLang="en-US" sz="1600" b="1" dirty="0">
              <a:solidFill>
                <a:srgbClr val="404040"/>
              </a:solidFill>
              <a:latin typeface="微软雅黑" panose="020B0503020204020204" charset="-122"/>
              <a:ea typeface="微软雅黑" panose="020B0503020204020204" charset="-122"/>
              <a:cs typeface="+mn-ea"/>
              <a:sym typeface="+mn-ea"/>
            </a:endParaRPr>
          </a:p>
        </p:txBody>
      </p:sp>
      <p:sp>
        <p:nvSpPr>
          <p:cNvPr id="54" name="Text Placeholder 2"/>
          <p:cNvSpPr>
            <a:spLocks noGrp="1"/>
          </p:cNvSpPr>
          <p:nvPr/>
        </p:nvSpPr>
        <p:spPr>
          <a:xfrm>
            <a:off x="6993255" y="4707255"/>
            <a:ext cx="2626360" cy="935355"/>
          </a:xfrm>
          <a:prstGeom prst="rect">
            <a:avLst/>
          </a:prstGeom>
        </p:spPr>
        <p:txBody>
          <a:bodyPr vert="horz" lIns="0" tIns="0" rIns="0" bIns="0" rtlCol="0">
            <a:noAutofit/>
          </a:bodyPr>
          <a:lstStyle>
            <a:lvl1pPr marL="0" indent="0" algn="l" defTabSz="914400" rtl="0" eaLnBrk="1" latinLnBrk="0" hangingPunct="1">
              <a:lnSpc>
                <a:spcPts val="1700"/>
              </a:lnSpc>
              <a:spcBef>
                <a:spcPts val="1000"/>
              </a:spcBef>
              <a:buFont typeface="Arial" panose="020B0604020202020204" pitchFamily="34" charset="0"/>
              <a:buNone/>
              <a:defRPr sz="950" kern="1200">
                <a:solidFill>
                  <a:schemeClr val="bg1">
                    <a:lumMod val="95000"/>
                  </a:schemeClr>
                </a:solidFill>
                <a:latin typeface="Sinkin Sans 300 Light"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lnSpc>
                <a:spcPct val="150000"/>
              </a:lnSpc>
              <a:defRPr/>
            </a:pPr>
            <a:r>
              <a:rPr lang="zh-CN" altLang="en-US" sz="1200" dirty="0">
                <a:solidFill>
                  <a:srgbClr val="333333"/>
                </a:solidFill>
                <a:latin typeface="微软雅黑" panose="020B0503020204020204" charset="-122"/>
                <a:ea typeface="微软雅黑" panose="020B0503020204020204" charset="-122"/>
                <a:sym typeface="+mn-ea"/>
              </a:rPr>
              <a:t>本公司是一家处于创始阶段处于高赢利发展阶段商品增值转卖</a:t>
            </a:r>
            <a:r>
              <a:rPr lang="en-US" altLang="zh-CN" sz="1200" dirty="0">
                <a:solidFill>
                  <a:srgbClr val="333333"/>
                </a:solidFill>
                <a:latin typeface="微软雅黑" panose="020B0503020204020204" charset="-122"/>
                <a:ea typeface="微软雅黑" panose="020B0503020204020204" charset="-122"/>
                <a:sym typeface="+mn-ea"/>
              </a:rPr>
              <a:t>]</a:t>
            </a:r>
            <a:r>
              <a:rPr lang="zh-CN" altLang="en-US" sz="1200" dirty="0">
                <a:solidFill>
                  <a:srgbClr val="333333"/>
                </a:solidFill>
                <a:latin typeface="微软雅黑" panose="020B0503020204020204" charset="-122"/>
                <a:ea typeface="微软雅黑" panose="020B0503020204020204" charset="-122"/>
                <a:sym typeface="+mn-ea"/>
              </a:rPr>
              <a:t>的公司</a:t>
            </a:r>
            <a:endParaRPr lang="zh-CN" altLang="en-US" sz="1200" dirty="0">
              <a:solidFill>
                <a:srgbClr val="333333"/>
              </a:solidFill>
              <a:latin typeface="微软雅黑" panose="020B0503020204020204" charset="-122"/>
              <a:ea typeface="微软雅黑" panose="020B0503020204020204" charset="-122"/>
              <a:cs typeface="+mn-ea"/>
              <a:sym typeface="+mn-ea"/>
            </a:endParaRPr>
          </a:p>
        </p:txBody>
      </p:sp>
      <p:sp>
        <p:nvSpPr>
          <p:cNvPr id="55" name="Content Placeholder 10"/>
          <p:cNvSpPr>
            <a:spLocks noGrp="1"/>
          </p:cNvSpPr>
          <p:nvPr/>
        </p:nvSpPr>
        <p:spPr>
          <a:xfrm>
            <a:off x="7223761" y="4409977"/>
            <a:ext cx="1903809" cy="292100"/>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1">
                    <a:lumMod val="95000"/>
                  </a:schemeClr>
                </a:solidFill>
                <a:latin typeface="Sinkin Sans 300 Light"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zh-CN" altLang="en-US" sz="1600" b="1" dirty="0">
                <a:solidFill>
                  <a:srgbClr val="404040"/>
                </a:solidFill>
                <a:latin typeface="微软雅黑" panose="020B0503020204020204" charset="-122"/>
                <a:ea typeface="微软雅黑" panose="020B0503020204020204" charset="-122"/>
                <a:sym typeface="+mn-ea"/>
              </a:rPr>
              <a:t>资金管理</a:t>
            </a:r>
            <a:endParaRPr lang="zh-CN" altLang="en-US" sz="1600" b="1" dirty="0">
              <a:solidFill>
                <a:srgbClr val="404040"/>
              </a:solidFill>
              <a:latin typeface="微软雅黑" panose="020B0503020204020204" charset="-122"/>
              <a:ea typeface="微软雅黑" panose="020B0503020204020204" charset="-122"/>
              <a:cs typeface="+mn-ea"/>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0">
                                            <p:txEl>
                                              <p:pRg st="0" end="0"/>
                                            </p:txEl>
                                          </p:spTgt>
                                        </p:tgtEl>
                                        <p:attrNameLst>
                                          <p:attrName>style.visibility</p:attrName>
                                        </p:attrNameLst>
                                      </p:cBhvr>
                                      <p:to>
                                        <p:strVal val="visible"/>
                                      </p:to>
                                    </p:set>
                                    <p:animEffect transition="in" filter="wipe(up)">
                                      <p:cBhvr>
                                        <p:cTn id="11" dur="500"/>
                                        <p:tgtEl>
                                          <p:spTgt spid="40">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49" presetClass="entr" presetSubtype="0" decel="100000" fill="hold" grpId="0" nodeType="after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p:cTn id="19" dur="500" fill="hold"/>
                                        <p:tgtEl>
                                          <p:spTgt spid="43"/>
                                        </p:tgtEl>
                                        <p:attrNameLst>
                                          <p:attrName>ppt_w</p:attrName>
                                        </p:attrNameLst>
                                      </p:cBhvr>
                                      <p:tavLst>
                                        <p:tav tm="0">
                                          <p:val>
                                            <p:fltVal val="0"/>
                                          </p:val>
                                        </p:tav>
                                        <p:tav tm="100000">
                                          <p:val>
                                            <p:strVal val="#ppt_w"/>
                                          </p:val>
                                        </p:tav>
                                      </p:tavLst>
                                    </p:anim>
                                    <p:anim calcmode="lin" valueType="num">
                                      <p:cBhvr>
                                        <p:cTn id="20" dur="500" fill="hold"/>
                                        <p:tgtEl>
                                          <p:spTgt spid="43"/>
                                        </p:tgtEl>
                                        <p:attrNameLst>
                                          <p:attrName>ppt_h</p:attrName>
                                        </p:attrNameLst>
                                      </p:cBhvr>
                                      <p:tavLst>
                                        <p:tav tm="0">
                                          <p:val>
                                            <p:fltVal val="0"/>
                                          </p:val>
                                        </p:tav>
                                        <p:tav tm="100000">
                                          <p:val>
                                            <p:strVal val="#ppt_h"/>
                                          </p:val>
                                        </p:tav>
                                      </p:tavLst>
                                    </p:anim>
                                    <p:anim calcmode="lin" valueType="num">
                                      <p:cBhvr>
                                        <p:cTn id="21" dur="500" fill="hold"/>
                                        <p:tgtEl>
                                          <p:spTgt spid="43"/>
                                        </p:tgtEl>
                                        <p:attrNameLst>
                                          <p:attrName>style.rotation</p:attrName>
                                        </p:attrNameLst>
                                      </p:cBhvr>
                                      <p:tavLst>
                                        <p:tav tm="0">
                                          <p:val>
                                            <p:fltVal val="360"/>
                                          </p:val>
                                        </p:tav>
                                        <p:tav tm="100000">
                                          <p:val>
                                            <p:fltVal val="0"/>
                                          </p:val>
                                        </p:tav>
                                      </p:tavLst>
                                    </p:anim>
                                    <p:animEffect transition="in" filter="fade">
                                      <p:cBhvr>
                                        <p:cTn id="22" dur="500"/>
                                        <p:tgtEl>
                                          <p:spTgt spid="43"/>
                                        </p:tgtEl>
                                      </p:cBhvr>
                                    </p:animEffect>
                                  </p:childTnLst>
                                </p:cTn>
                              </p:par>
                            </p:childTnLst>
                          </p:cTn>
                        </p:par>
                        <p:par>
                          <p:cTn id="23" fill="hold">
                            <p:stCondLst>
                              <p:cond delay="2000"/>
                            </p:stCondLst>
                            <p:childTnLst>
                              <p:par>
                                <p:cTn id="24" presetID="22" presetClass="entr" presetSubtype="1" fill="hold" grpId="0" nodeType="afterEffect">
                                  <p:stCondLst>
                                    <p:cond delay="0"/>
                                  </p:stCondLst>
                                  <p:childTnLst>
                                    <p:set>
                                      <p:cBhvr>
                                        <p:cTn id="25" dur="1" fill="hold">
                                          <p:stCondLst>
                                            <p:cond delay="0"/>
                                          </p:stCondLst>
                                        </p:cTn>
                                        <p:tgtEl>
                                          <p:spTgt spid="11">
                                            <p:txEl>
                                              <p:pRg st="0" end="0"/>
                                            </p:txEl>
                                          </p:spTgt>
                                        </p:tgtEl>
                                        <p:attrNameLst>
                                          <p:attrName>style.visibility</p:attrName>
                                        </p:attrNameLst>
                                      </p:cBhvr>
                                      <p:to>
                                        <p:strVal val="visible"/>
                                      </p:to>
                                    </p:set>
                                    <p:animEffect transition="in" filter="wipe(up)">
                                      <p:cBhvr>
                                        <p:cTn id="26" dur="500"/>
                                        <p:tgtEl>
                                          <p:spTgt spid="11">
                                            <p:txEl>
                                              <p:pRg st="0" end="0"/>
                                            </p:txEl>
                                          </p:spTgt>
                                        </p:tgtEl>
                                      </p:cBhvr>
                                    </p:animEffect>
                                  </p:childTnLst>
                                </p:cTn>
                              </p:par>
                            </p:childTnLst>
                          </p:cTn>
                        </p:par>
                        <p:par>
                          <p:cTn id="27" fill="hold">
                            <p:stCondLst>
                              <p:cond delay="2500"/>
                            </p:stCondLst>
                            <p:childTnLst>
                              <p:par>
                                <p:cTn id="28" presetID="9" presetClass="entr" presetSubtype="0" fill="hold" grpId="0" nodeType="afterEffect">
                                  <p:stCondLst>
                                    <p:cond delay="0"/>
                                  </p:stCondLst>
                                  <p:childTnLst>
                                    <p:set>
                                      <p:cBhvr>
                                        <p:cTn id="29" dur="1" fill="hold">
                                          <p:stCondLst>
                                            <p:cond delay="0"/>
                                          </p:stCondLst>
                                        </p:cTn>
                                        <p:tgtEl>
                                          <p:spTgt spid="3">
                                            <p:txEl>
                                              <p:pRg st="0" end="0"/>
                                            </p:txEl>
                                          </p:spTgt>
                                        </p:tgtEl>
                                        <p:attrNameLst>
                                          <p:attrName>style.visibility</p:attrName>
                                        </p:attrNameLst>
                                      </p:cBhvr>
                                      <p:to>
                                        <p:strVal val="visible"/>
                                      </p:to>
                                    </p:set>
                                    <p:animEffect transition="in" filter="dissolve">
                                      <p:cBhvr>
                                        <p:cTn id="30" dur="500"/>
                                        <p:tgtEl>
                                          <p:spTgt spid="3">
                                            <p:txEl>
                                              <p:pRg st="0" end="0"/>
                                            </p:txEl>
                                          </p:spTgt>
                                        </p:tgtEl>
                                      </p:cBhvr>
                                    </p:animEffect>
                                  </p:childTnLst>
                                </p:cTn>
                              </p:par>
                            </p:childTnLst>
                          </p:cTn>
                        </p:par>
                        <p:par>
                          <p:cTn id="31" fill="hold">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500"/>
                                        <p:tgtEl>
                                          <p:spTgt spid="8"/>
                                        </p:tgtEl>
                                      </p:cBhvr>
                                    </p:animEffect>
                                  </p:childTnLst>
                                </p:cTn>
                              </p:par>
                            </p:childTnLst>
                          </p:cTn>
                        </p:par>
                        <p:par>
                          <p:cTn id="35" fill="hold">
                            <p:stCondLst>
                              <p:cond delay="3500"/>
                            </p:stCondLst>
                            <p:childTnLst>
                              <p:par>
                                <p:cTn id="36" presetID="22" presetClass="entr" presetSubtype="1" fill="hold" grpId="0" nodeType="afterEffect">
                                  <p:stCondLst>
                                    <p:cond delay="0"/>
                                  </p:stCondLst>
                                  <p:childTnLst>
                                    <p:set>
                                      <p:cBhvr>
                                        <p:cTn id="37" dur="1" fill="hold">
                                          <p:stCondLst>
                                            <p:cond delay="0"/>
                                          </p:stCondLst>
                                        </p:cTn>
                                        <p:tgtEl>
                                          <p:spTgt spid="41">
                                            <p:txEl>
                                              <p:pRg st="0" end="0"/>
                                            </p:txEl>
                                          </p:spTgt>
                                        </p:tgtEl>
                                        <p:attrNameLst>
                                          <p:attrName>style.visibility</p:attrName>
                                        </p:attrNameLst>
                                      </p:cBhvr>
                                      <p:to>
                                        <p:strVal val="visible"/>
                                      </p:to>
                                    </p:set>
                                    <p:animEffect transition="in" filter="wipe(up)">
                                      <p:cBhvr>
                                        <p:cTn id="38" dur="500"/>
                                        <p:tgtEl>
                                          <p:spTgt spid="41">
                                            <p:txEl>
                                              <p:pRg st="0" end="0"/>
                                            </p:txEl>
                                          </p:spTgt>
                                        </p:tgtEl>
                                      </p:cBhvr>
                                    </p:animEffect>
                                  </p:childTnLst>
                                </p:cTn>
                              </p:par>
                            </p:childTnLst>
                          </p:cTn>
                        </p:par>
                        <p:par>
                          <p:cTn id="39" fill="hold">
                            <p:stCondLst>
                              <p:cond delay="4000"/>
                            </p:stCondLst>
                            <p:childTnLst>
                              <p:par>
                                <p:cTn id="40" presetID="10" presetClass="entr" presetSubtype="0"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par>
                          <p:cTn id="43" fill="hold">
                            <p:stCondLst>
                              <p:cond delay="4500"/>
                            </p:stCondLst>
                            <p:childTnLst>
                              <p:par>
                                <p:cTn id="44" presetID="49" presetClass="entr" presetSubtype="0" decel="100000" fill="hold" grpId="0" nodeType="afterEffect">
                                  <p:stCondLst>
                                    <p:cond delay="0"/>
                                  </p:stCondLst>
                                  <p:childTnLst>
                                    <p:set>
                                      <p:cBhvr>
                                        <p:cTn id="45" dur="1" fill="hold">
                                          <p:stCondLst>
                                            <p:cond delay="0"/>
                                          </p:stCondLst>
                                        </p:cTn>
                                        <p:tgtEl>
                                          <p:spTgt spid="44"/>
                                        </p:tgtEl>
                                        <p:attrNameLst>
                                          <p:attrName>style.visibility</p:attrName>
                                        </p:attrNameLst>
                                      </p:cBhvr>
                                      <p:to>
                                        <p:strVal val="visible"/>
                                      </p:to>
                                    </p:set>
                                    <p:anim calcmode="lin" valueType="num">
                                      <p:cBhvr>
                                        <p:cTn id="46" dur="500" fill="hold"/>
                                        <p:tgtEl>
                                          <p:spTgt spid="44"/>
                                        </p:tgtEl>
                                        <p:attrNameLst>
                                          <p:attrName>ppt_w</p:attrName>
                                        </p:attrNameLst>
                                      </p:cBhvr>
                                      <p:tavLst>
                                        <p:tav tm="0">
                                          <p:val>
                                            <p:fltVal val="0"/>
                                          </p:val>
                                        </p:tav>
                                        <p:tav tm="100000">
                                          <p:val>
                                            <p:strVal val="#ppt_w"/>
                                          </p:val>
                                        </p:tav>
                                      </p:tavLst>
                                    </p:anim>
                                    <p:anim calcmode="lin" valueType="num">
                                      <p:cBhvr>
                                        <p:cTn id="47" dur="500" fill="hold"/>
                                        <p:tgtEl>
                                          <p:spTgt spid="44"/>
                                        </p:tgtEl>
                                        <p:attrNameLst>
                                          <p:attrName>ppt_h</p:attrName>
                                        </p:attrNameLst>
                                      </p:cBhvr>
                                      <p:tavLst>
                                        <p:tav tm="0">
                                          <p:val>
                                            <p:fltVal val="0"/>
                                          </p:val>
                                        </p:tav>
                                        <p:tav tm="100000">
                                          <p:val>
                                            <p:strVal val="#ppt_h"/>
                                          </p:val>
                                        </p:tav>
                                      </p:tavLst>
                                    </p:anim>
                                    <p:anim calcmode="lin" valueType="num">
                                      <p:cBhvr>
                                        <p:cTn id="48" dur="500" fill="hold"/>
                                        <p:tgtEl>
                                          <p:spTgt spid="44"/>
                                        </p:tgtEl>
                                        <p:attrNameLst>
                                          <p:attrName>style.rotation</p:attrName>
                                        </p:attrNameLst>
                                      </p:cBhvr>
                                      <p:tavLst>
                                        <p:tav tm="0">
                                          <p:val>
                                            <p:fltVal val="360"/>
                                          </p:val>
                                        </p:tav>
                                        <p:tav tm="100000">
                                          <p:val>
                                            <p:fltVal val="0"/>
                                          </p:val>
                                        </p:tav>
                                      </p:tavLst>
                                    </p:anim>
                                    <p:animEffect transition="in" filter="fade">
                                      <p:cBhvr>
                                        <p:cTn id="49" dur="500"/>
                                        <p:tgtEl>
                                          <p:spTgt spid="44"/>
                                        </p:tgtEl>
                                      </p:cBhvr>
                                    </p:animEffect>
                                  </p:childTnLst>
                                </p:cTn>
                              </p:par>
                            </p:childTnLst>
                          </p:cTn>
                        </p:par>
                        <p:par>
                          <p:cTn id="50" fill="hold">
                            <p:stCondLst>
                              <p:cond delay="5000"/>
                            </p:stCondLst>
                            <p:childTnLst>
                              <p:par>
                                <p:cTn id="51" presetID="22" presetClass="entr" presetSubtype="8" fill="hold" grpId="0" nodeType="after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wipe(left)">
                                      <p:cBhvr>
                                        <p:cTn id="53" dur="500"/>
                                        <p:tgtEl>
                                          <p:spTgt spid="9"/>
                                        </p:tgtEl>
                                      </p:cBhvr>
                                    </p:animEffect>
                                  </p:childTnLst>
                                </p:cTn>
                              </p:par>
                            </p:childTnLst>
                          </p:cTn>
                        </p:par>
                        <p:par>
                          <p:cTn id="54" fill="hold">
                            <p:stCondLst>
                              <p:cond delay="5500"/>
                            </p:stCondLst>
                            <p:childTnLst>
                              <p:par>
                                <p:cTn id="55" presetID="10" presetClass="entr" presetSubtype="0" fill="hold" grpId="0" nodeType="afterEffect">
                                  <p:stCondLst>
                                    <p:cond delay="0"/>
                                  </p:stCondLst>
                                  <p:childTnLst>
                                    <p:set>
                                      <p:cBhvr>
                                        <p:cTn id="56" dur="1" fill="hold">
                                          <p:stCondLst>
                                            <p:cond delay="0"/>
                                          </p:stCondLst>
                                        </p:cTn>
                                        <p:tgtEl>
                                          <p:spTgt spid="42">
                                            <p:txEl>
                                              <p:pRg st="0" end="0"/>
                                            </p:txEl>
                                          </p:spTgt>
                                        </p:tgtEl>
                                        <p:attrNameLst>
                                          <p:attrName>style.visibility</p:attrName>
                                        </p:attrNameLst>
                                      </p:cBhvr>
                                      <p:to>
                                        <p:strVal val="visible"/>
                                      </p:to>
                                    </p:set>
                                    <p:animEffect transition="in" filter="fade">
                                      <p:cBhvr>
                                        <p:cTn id="57" dur="500"/>
                                        <p:tgtEl>
                                          <p:spTgt spid="42">
                                            <p:txEl>
                                              <p:pRg st="0" end="0"/>
                                            </p:txEl>
                                          </p:spTgt>
                                        </p:tgtEl>
                                      </p:cBhvr>
                                    </p:animEffect>
                                  </p:childTnLst>
                                </p:cTn>
                              </p:par>
                            </p:childTnLst>
                          </p:cTn>
                        </p:par>
                        <p:par>
                          <p:cTn id="58" fill="hold">
                            <p:stCondLst>
                              <p:cond delay="6000"/>
                            </p:stCondLst>
                            <p:childTnLst>
                              <p:par>
                                <p:cTn id="59" presetID="10" presetClass="entr" presetSubtype="0" fill="hold" grpId="0" nodeType="after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500"/>
                                        <p:tgtEl>
                                          <p:spTgt spid="15"/>
                                        </p:tgtEl>
                                      </p:cBhvr>
                                    </p:animEffect>
                                  </p:childTnLst>
                                </p:cTn>
                              </p:par>
                            </p:childTnLst>
                          </p:cTn>
                        </p:par>
                        <p:par>
                          <p:cTn id="62" fill="hold">
                            <p:stCondLst>
                              <p:cond delay="6500"/>
                            </p:stCondLst>
                            <p:childTnLst>
                              <p:par>
                                <p:cTn id="63" presetID="49" presetClass="entr" presetSubtype="0" decel="100000" fill="hold" grpId="0" nodeType="afterEffect">
                                  <p:stCondLst>
                                    <p:cond delay="0"/>
                                  </p:stCondLst>
                                  <p:childTnLst>
                                    <p:set>
                                      <p:cBhvr>
                                        <p:cTn id="64" dur="1" fill="hold">
                                          <p:stCondLst>
                                            <p:cond delay="0"/>
                                          </p:stCondLst>
                                        </p:cTn>
                                        <p:tgtEl>
                                          <p:spTgt spid="45"/>
                                        </p:tgtEl>
                                        <p:attrNameLst>
                                          <p:attrName>style.visibility</p:attrName>
                                        </p:attrNameLst>
                                      </p:cBhvr>
                                      <p:to>
                                        <p:strVal val="visible"/>
                                      </p:to>
                                    </p:set>
                                    <p:anim calcmode="lin" valueType="num">
                                      <p:cBhvr>
                                        <p:cTn id="65" dur="500" fill="hold"/>
                                        <p:tgtEl>
                                          <p:spTgt spid="45"/>
                                        </p:tgtEl>
                                        <p:attrNameLst>
                                          <p:attrName>ppt_w</p:attrName>
                                        </p:attrNameLst>
                                      </p:cBhvr>
                                      <p:tavLst>
                                        <p:tav tm="0">
                                          <p:val>
                                            <p:fltVal val="0"/>
                                          </p:val>
                                        </p:tav>
                                        <p:tav tm="100000">
                                          <p:val>
                                            <p:strVal val="#ppt_w"/>
                                          </p:val>
                                        </p:tav>
                                      </p:tavLst>
                                    </p:anim>
                                    <p:anim calcmode="lin" valueType="num">
                                      <p:cBhvr>
                                        <p:cTn id="66" dur="500" fill="hold"/>
                                        <p:tgtEl>
                                          <p:spTgt spid="45"/>
                                        </p:tgtEl>
                                        <p:attrNameLst>
                                          <p:attrName>ppt_h</p:attrName>
                                        </p:attrNameLst>
                                      </p:cBhvr>
                                      <p:tavLst>
                                        <p:tav tm="0">
                                          <p:val>
                                            <p:fltVal val="0"/>
                                          </p:val>
                                        </p:tav>
                                        <p:tav tm="100000">
                                          <p:val>
                                            <p:strVal val="#ppt_h"/>
                                          </p:val>
                                        </p:tav>
                                      </p:tavLst>
                                    </p:anim>
                                    <p:anim calcmode="lin" valueType="num">
                                      <p:cBhvr>
                                        <p:cTn id="67" dur="500" fill="hold"/>
                                        <p:tgtEl>
                                          <p:spTgt spid="45"/>
                                        </p:tgtEl>
                                        <p:attrNameLst>
                                          <p:attrName>style.rotation</p:attrName>
                                        </p:attrNameLst>
                                      </p:cBhvr>
                                      <p:tavLst>
                                        <p:tav tm="0">
                                          <p:val>
                                            <p:fltVal val="360"/>
                                          </p:val>
                                        </p:tav>
                                        <p:tav tm="100000">
                                          <p:val>
                                            <p:fltVal val="0"/>
                                          </p:val>
                                        </p:tav>
                                      </p:tavLst>
                                    </p:anim>
                                    <p:animEffect transition="in" filter="fade">
                                      <p:cBhvr>
                                        <p:cTn id="68" dur="500"/>
                                        <p:tgtEl>
                                          <p:spTgt spid="45"/>
                                        </p:tgtEl>
                                      </p:cBhvr>
                                    </p:animEffect>
                                  </p:childTnLst>
                                </p:cTn>
                              </p:par>
                            </p:childTnLst>
                          </p:cTn>
                        </p:par>
                        <p:par>
                          <p:cTn id="69" fill="hold">
                            <p:stCondLst>
                              <p:cond delay="7000"/>
                            </p:stCondLst>
                            <p:childTnLst>
                              <p:par>
                                <p:cTn id="70" presetID="10" presetClass="entr" presetSubtype="0" fill="hold" grpId="0" nodeType="after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500"/>
                                        <p:tgtEl>
                                          <p:spTgt spid="13"/>
                                        </p:tgtEl>
                                      </p:cBhvr>
                                    </p:animEffect>
                                  </p:childTnLst>
                                </p:cTn>
                              </p:par>
                            </p:childTnLst>
                          </p:cTn>
                        </p:par>
                        <p:par>
                          <p:cTn id="73" fill="hold">
                            <p:stCondLst>
                              <p:cond delay="7500"/>
                            </p:stCondLst>
                            <p:childTnLst>
                              <p:par>
                                <p:cTn id="74" presetID="49" presetClass="entr" presetSubtype="0" decel="100000" fill="hold" grpId="0" nodeType="afterEffect">
                                  <p:stCondLst>
                                    <p:cond delay="0"/>
                                  </p:stCondLst>
                                  <p:childTnLst>
                                    <p:set>
                                      <p:cBhvr>
                                        <p:cTn id="75" dur="1" fill="hold">
                                          <p:stCondLst>
                                            <p:cond delay="0"/>
                                          </p:stCondLst>
                                        </p:cTn>
                                        <p:tgtEl>
                                          <p:spTgt spid="46"/>
                                        </p:tgtEl>
                                        <p:attrNameLst>
                                          <p:attrName>style.visibility</p:attrName>
                                        </p:attrNameLst>
                                      </p:cBhvr>
                                      <p:to>
                                        <p:strVal val="visible"/>
                                      </p:to>
                                    </p:set>
                                    <p:anim calcmode="lin" valueType="num">
                                      <p:cBhvr>
                                        <p:cTn id="76" dur="500" fill="hold"/>
                                        <p:tgtEl>
                                          <p:spTgt spid="46"/>
                                        </p:tgtEl>
                                        <p:attrNameLst>
                                          <p:attrName>ppt_w</p:attrName>
                                        </p:attrNameLst>
                                      </p:cBhvr>
                                      <p:tavLst>
                                        <p:tav tm="0">
                                          <p:val>
                                            <p:fltVal val="0"/>
                                          </p:val>
                                        </p:tav>
                                        <p:tav tm="100000">
                                          <p:val>
                                            <p:strVal val="#ppt_w"/>
                                          </p:val>
                                        </p:tav>
                                      </p:tavLst>
                                    </p:anim>
                                    <p:anim calcmode="lin" valueType="num">
                                      <p:cBhvr>
                                        <p:cTn id="77" dur="500" fill="hold"/>
                                        <p:tgtEl>
                                          <p:spTgt spid="46"/>
                                        </p:tgtEl>
                                        <p:attrNameLst>
                                          <p:attrName>ppt_h</p:attrName>
                                        </p:attrNameLst>
                                      </p:cBhvr>
                                      <p:tavLst>
                                        <p:tav tm="0">
                                          <p:val>
                                            <p:fltVal val="0"/>
                                          </p:val>
                                        </p:tav>
                                        <p:tav tm="100000">
                                          <p:val>
                                            <p:strVal val="#ppt_h"/>
                                          </p:val>
                                        </p:tav>
                                      </p:tavLst>
                                    </p:anim>
                                    <p:anim calcmode="lin" valueType="num">
                                      <p:cBhvr>
                                        <p:cTn id="78" dur="500" fill="hold"/>
                                        <p:tgtEl>
                                          <p:spTgt spid="46"/>
                                        </p:tgtEl>
                                        <p:attrNameLst>
                                          <p:attrName>style.rotation</p:attrName>
                                        </p:attrNameLst>
                                      </p:cBhvr>
                                      <p:tavLst>
                                        <p:tav tm="0">
                                          <p:val>
                                            <p:fltVal val="360"/>
                                          </p:val>
                                        </p:tav>
                                        <p:tav tm="100000">
                                          <p:val>
                                            <p:fltVal val="0"/>
                                          </p:val>
                                        </p:tav>
                                      </p:tavLst>
                                    </p:anim>
                                    <p:animEffect transition="in" filter="fade">
                                      <p:cBhvr>
                                        <p:cTn id="79" dur="500"/>
                                        <p:tgtEl>
                                          <p:spTgt spid="46"/>
                                        </p:tgtEl>
                                      </p:cBhvr>
                                    </p:animEffect>
                                  </p:childTnLst>
                                </p:cTn>
                              </p:par>
                            </p:childTnLst>
                          </p:cTn>
                        </p:par>
                        <p:par>
                          <p:cTn id="80" fill="hold">
                            <p:stCondLst>
                              <p:cond delay="8000"/>
                            </p:stCondLst>
                            <p:childTnLst>
                              <p:par>
                                <p:cTn id="81" presetID="10" presetClass="entr" presetSubtype="0" fill="hold" grpId="0" nodeType="after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fade">
                                      <p:cBhvr>
                                        <p:cTn id="83" dur="500"/>
                                        <p:tgtEl>
                                          <p:spTgt spid="17"/>
                                        </p:tgtEl>
                                      </p:cBhvr>
                                    </p:animEffect>
                                  </p:childTnLst>
                                </p:cTn>
                              </p:par>
                            </p:childTnLst>
                          </p:cTn>
                        </p:par>
                        <p:par>
                          <p:cTn id="84" fill="hold">
                            <p:stCondLst>
                              <p:cond delay="8500"/>
                            </p:stCondLst>
                            <p:childTnLst>
                              <p:par>
                                <p:cTn id="85" presetID="49" presetClass="entr" presetSubtype="0" decel="100000" fill="hold" grpId="0" nodeType="afterEffect">
                                  <p:stCondLst>
                                    <p:cond delay="0"/>
                                  </p:stCondLst>
                                  <p:childTnLst>
                                    <p:set>
                                      <p:cBhvr>
                                        <p:cTn id="86" dur="1" fill="hold">
                                          <p:stCondLst>
                                            <p:cond delay="0"/>
                                          </p:stCondLst>
                                        </p:cTn>
                                        <p:tgtEl>
                                          <p:spTgt spid="47"/>
                                        </p:tgtEl>
                                        <p:attrNameLst>
                                          <p:attrName>style.visibility</p:attrName>
                                        </p:attrNameLst>
                                      </p:cBhvr>
                                      <p:to>
                                        <p:strVal val="visible"/>
                                      </p:to>
                                    </p:set>
                                    <p:anim calcmode="lin" valueType="num">
                                      <p:cBhvr>
                                        <p:cTn id="87" dur="500" fill="hold"/>
                                        <p:tgtEl>
                                          <p:spTgt spid="47"/>
                                        </p:tgtEl>
                                        <p:attrNameLst>
                                          <p:attrName>ppt_w</p:attrName>
                                        </p:attrNameLst>
                                      </p:cBhvr>
                                      <p:tavLst>
                                        <p:tav tm="0">
                                          <p:val>
                                            <p:fltVal val="0"/>
                                          </p:val>
                                        </p:tav>
                                        <p:tav tm="100000">
                                          <p:val>
                                            <p:strVal val="#ppt_w"/>
                                          </p:val>
                                        </p:tav>
                                      </p:tavLst>
                                    </p:anim>
                                    <p:anim calcmode="lin" valueType="num">
                                      <p:cBhvr>
                                        <p:cTn id="88" dur="500" fill="hold"/>
                                        <p:tgtEl>
                                          <p:spTgt spid="47"/>
                                        </p:tgtEl>
                                        <p:attrNameLst>
                                          <p:attrName>ppt_h</p:attrName>
                                        </p:attrNameLst>
                                      </p:cBhvr>
                                      <p:tavLst>
                                        <p:tav tm="0">
                                          <p:val>
                                            <p:fltVal val="0"/>
                                          </p:val>
                                        </p:tav>
                                        <p:tav tm="100000">
                                          <p:val>
                                            <p:strVal val="#ppt_h"/>
                                          </p:val>
                                        </p:tav>
                                      </p:tavLst>
                                    </p:anim>
                                    <p:anim calcmode="lin" valueType="num">
                                      <p:cBhvr>
                                        <p:cTn id="89" dur="500" fill="hold"/>
                                        <p:tgtEl>
                                          <p:spTgt spid="47"/>
                                        </p:tgtEl>
                                        <p:attrNameLst>
                                          <p:attrName>style.rotation</p:attrName>
                                        </p:attrNameLst>
                                      </p:cBhvr>
                                      <p:tavLst>
                                        <p:tav tm="0">
                                          <p:val>
                                            <p:fltVal val="360"/>
                                          </p:val>
                                        </p:tav>
                                        <p:tav tm="100000">
                                          <p:val>
                                            <p:fltVal val="0"/>
                                          </p:val>
                                        </p:tav>
                                      </p:tavLst>
                                    </p:anim>
                                    <p:animEffect transition="in" filter="fade">
                                      <p:cBhvr>
                                        <p:cTn id="90" dur="500"/>
                                        <p:tgtEl>
                                          <p:spTgt spid="47"/>
                                        </p:tgtEl>
                                      </p:cBhvr>
                                    </p:animEffect>
                                  </p:childTnLst>
                                </p:cTn>
                              </p:par>
                            </p:childTnLst>
                          </p:cTn>
                        </p:par>
                        <p:par>
                          <p:cTn id="91" fill="hold">
                            <p:stCondLst>
                              <p:cond delay="9000"/>
                            </p:stCondLst>
                            <p:childTnLst>
                              <p:par>
                                <p:cTn id="92" presetID="10" presetClass="entr" presetSubtype="0" fill="hold" grpId="0" nodeType="afterEffect">
                                  <p:stCondLst>
                                    <p:cond delay="0"/>
                                  </p:stCondLst>
                                  <p:childTnLst>
                                    <p:set>
                                      <p:cBhvr>
                                        <p:cTn id="93" dur="1" fill="hold">
                                          <p:stCondLst>
                                            <p:cond delay="0"/>
                                          </p:stCondLst>
                                        </p:cTn>
                                        <p:tgtEl>
                                          <p:spTgt spid="18"/>
                                        </p:tgtEl>
                                        <p:attrNameLst>
                                          <p:attrName>style.visibility</p:attrName>
                                        </p:attrNameLst>
                                      </p:cBhvr>
                                      <p:to>
                                        <p:strVal val="visible"/>
                                      </p:to>
                                    </p:set>
                                    <p:animEffect transition="in" filter="fade">
                                      <p:cBhvr>
                                        <p:cTn id="94" dur="500"/>
                                        <p:tgtEl>
                                          <p:spTgt spid="18"/>
                                        </p:tgtEl>
                                      </p:cBhvr>
                                    </p:animEffect>
                                  </p:childTnLst>
                                </p:cTn>
                              </p:par>
                            </p:childTnLst>
                          </p:cTn>
                        </p:par>
                        <p:par>
                          <p:cTn id="95" fill="hold">
                            <p:stCondLst>
                              <p:cond delay="9500"/>
                            </p:stCondLst>
                            <p:childTnLst>
                              <p:par>
                                <p:cTn id="96" presetID="49" presetClass="entr" presetSubtype="0" decel="100000" fill="hold" grpId="0" nodeType="afterEffect">
                                  <p:stCondLst>
                                    <p:cond delay="0"/>
                                  </p:stCondLst>
                                  <p:childTnLst>
                                    <p:set>
                                      <p:cBhvr>
                                        <p:cTn id="97" dur="1" fill="hold">
                                          <p:stCondLst>
                                            <p:cond delay="0"/>
                                          </p:stCondLst>
                                        </p:cTn>
                                        <p:tgtEl>
                                          <p:spTgt spid="48"/>
                                        </p:tgtEl>
                                        <p:attrNameLst>
                                          <p:attrName>style.visibility</p:attrName>
                                        </p:attrNameLst>
                                      </p:cBhvr>
                                      <p:to>
                                        <p:strVal val="visible"/>
                                      </p:to>
                                    </p:set>
                                    <p:anim calcmode="lin" valueType="num">
                                      <p:cBhvr>
                                        <p:cTn id="98" dur="500" fill="hold"/>
                                        <p:tgtEl>
                                          <p:spTgt spid="48"/>
                                        </p:tgtEl>
                                        <p:attrNameLst>
                                          <p:attrName>ppt_w</p:attrName>
                                        </p:attrNameLst>
                                      </p:cBhvr>
                                      <p:tavLst>
                                        <p:tav tm="0">
                                          <p:val>
                                            <p:fltVal val="0"/>
                                          </p:val>
                                        </p:tav>
                                        <p:tav tm="100000">
                                          <p:val>
                                            <p:strVal val="#ppt_w"/>
                                          </p:val>
                                        </p:tav>
                                      </p:tavLst>
                                    </p:anim>
                                    <p:anim calcmode="lin" valueType="num">
                                      <p:cBhvr>
                                        <p:cTn id="99" dur="500" fill="hold"/>
                                        <p:tgtEl>
                                          <p:spTgt spid="48"/>
                                        </p:tgtEl>
                                        <p:attrNameLst>
                                          <p:attrName>ppt_h</p:attrName>
                                        </p:attrNameLst>
                                      </p:cBhvr>
                                      <p:tavLst>
                                        <p:tav tm="0">
                                          <p:val>
                                            <p:fltVal val="0"/>
                                          </p:val>
                                        </p:tav>
                                        <p:tav tm="100000">
                                          <p:val>
                                            <p:strVal val="#ppt_h"/>
                                          </p:val>
                                        </p:tav>
                                      </p:tavLst>
                                    </p:anim>
                                    <p:anim calcmode="lin" valueType="num">
                                      <p:cBhvr>
                                        <p:cTn id="100" dur="500" fill="hold"/>
                                        <p:tgtEl>
                                          <p:spTgt spid="48"/>
                                        </p:tgtEl>
                                        <p:attrNameLst>
                                          <p:attrName>style.rotation</p:attrName>
                                        </p:attrNameLst>
                                      </p:cBhvr>
                                      <p:tavLst>
                                        <p:tav tm="0">
                                          <p:val>
                                            <p:fltVal val="360"/>
                                          </p:val>
                                        </p:tav>
                                        <p:tav tm="100000">
                                          <p:val>
                                            <p:fltVal val="0"/>
                                          </p:val>
                                        </p:tav>
                                      </p:tavLst>
                                    </p:anim>
                                    <p:animEffect transition="in" filter="fade">
                                      <p:cBhvr>
                                        <p:cTn id="101" dur="500"/>
                                        <p:tgtEl>
                                          <p:spTgt spid="48"/>
                                        </p:tgtEl>
                                      </p:cBhvr>
                                    </p:animEffect>
                                  </p:childTnLst>
                                </p:cTn>
                              </p:par>
                            </p:childTnLst>
                          </p:cTn>
                        </p:par>
                        <p:par>
                          <p:cTn id="102" fill="hold">
                            <p:stCondLst>
                              <p:cond delay="10000"/>
                            </p:stCondLst>
                            <p:childTnLst>
                              <p:par>
                                <p:cTn id="103" presetID="22" presetClass="entr" presetSubtype="1" fill="hold" grpId="0" nodeType="afterEffect">
                                  <p:stCondLst>
                                    <p:cond delay="0"/>
                                  </p:stCondLst>
                                  <p:childTnLst>
                                    <p:set>
                                      <p:cBhvr>
                                        <p:cTn id="104" dur="1" fill="hold">
                                          <p:stCondLst>
                                            <p:cond delay="0"/>
                                          </p:stCondLst>
                                        </p:cTn>
                                        <p:tgtEl>
                                          <p:spTgt spid="12">
                                            <p:txEl>
                                              <p:pRg st="0" end="0"/>
                                            </p:txEl>
                                          </p:spTgt>
                                        </p:tgtEl>
                                        <p:attrNameLst>
                                          <p:attrName>style.visibility</p:attrName>
                                        </p:attrNameLst>
                                      </p:cBhvr>
                                      <p:to>
                                        <p:strVal val="visible"/>
                                      </p:to>
                                    </p:set>
                                    <p:animEffect transition="in" filter="wipe(up)">
                                      <p:cBhvr>
                                        <p:cTn id="105" dur="500"/>
                                        <p:tgtEl>
                                          <p:spTgt spid="12">
                                            <p:txEl>
                                              <p:pRg st="0" end="0"/>
                                            </p:txEl>
                                          </p:spTgt>
                                        </p:tgtEl>
                                      </p:cBhvr>
                                    </p:animEffect>
                                  </p:childTnLst>
                                </p:cTn>
                              </p:par>
                            </p:childTnLst>
                          </p:cTn>
                        </p:par>
                        <p:par>
                          <p:cTn id="106" fill="hold">
                            <p:stCondLst>
                              <p:cond delay="10500"/>
                            </p:stCondLst>
                            <p:childTnLst>
                              <p:par>
                                <p:cTn id="107" presetID="9" presetClass="entr" presetSubtype="0" fill="hold" grpId="0" nodeType="afterEffect">
                                  <p:stCondLst>
                                    <p:cond delay="0"/>
                                  </p:stCondLst>
                                  <p:childTnLst>
                                    <p:set>
                                      <p:cBhvr>
                                        <p:cTn id="108" dur="1" fill="hold">
                                          <p:stCondLst>
                                            <p:cond delay="0"/>
                                          </p:stCondLst>
                                        </p:cTn>
                                        <p:tgtEl>
                                          <p:spTgt spid="10">
                                            <p:txEl>
                                              <p:pRg st="0" end="0"/>
                                            </p:txEl>
                                          </p:spTgt>
                                        </p:tgtEl>
                                        <p:attrNameLst>
                                          <p:attrName>style.visibility</p:attrName>
                                        </p:attrNameLst>
                                      </p:cBhvr>
                                      <p:to>
                                        <p:strVal val="visible"/>
                                      </p:to>
                                    </p:set>
                                    <p:animEffect transition="in" filter="dissolve">
                                      <p:cBhvr>
                                        <p:cTn id="109" dur="500"/>
                                        <p:tgtEl>
                                          <p:spTgt spid="10">
                                            <p:txEl>
                                              <p:pRg st="0" end="0"/>
                                            </p:txEl>
                                          </p:spTgt>
                                        </p:tgtEl>
                                      </p:cBhvr>
                                    </p:animEffect>
                                  </p:childTnLst>
                                </p:cTn>
                              </p:par>
                            </p:childTnLst>
                          </p:cTn>
                        </p:par>
                        <p:par>
                          <p:cTn id="110" fill="hold">
                            <p:stCondLst>
                              <p:cond delay="11000"/>
                            </p:stCondLst>
                            <p:childTnLst>
                              <p:par>
                                <p:cTn id="111" presetID="22" presetClass="entr" presetSubtype="1" fill="hold" grpId="0" nodeType="afterEffect">
                                  <p:stCondLst>
                                    <p:cond delay="0"/>
                                  </p:stCondLst>
                                  <p:childTnLst>
                                    <p:set>
                                      <p:cBhvr>
                                        <p:cTn id="112" dur="1" fill="hold">
                                          <p:stCondLst>
                                            <p:cond delay="0"/>
                                          </p:stCondLst>
                                        </p:cTn>
                                        <p:tgtEl>
                                          <p:spTgt spid="20">
                                            <p:txEl>
                                              <p:pRg st="0" end="0"/>
                                            </p:txEl>
                                          </p:spTgt>
                                        </p:tgtEl>
                                        <p:attrNameLst>
                                          <p:attrName>style.visibility</p:attrName>
                                        </p:attrNameLst>
                                      </p:cBhvr>
                                      <p:to>
                                        <p:strVal val="visible"/>
                                      </p:to>
                                    </p:set>
                                    <p:animEffect transition="in" filter="wipe(up)">
                                      <p:cBhvr>
                                        <p:cTn id="113" dur="500"/>
                                        <p:tgtEl>
                                          <p:spTgt spid="20">
                                            <p:txEl>
                                              <p:pRg st="0" end="0"/>
                                            </p:txEl>
                                          </p:spTgt>
                                        </p:tgtEl>
                                      </p:cBhvr>
                                    </p:animEffect>
                                  </p:childTnLst>
                                </p:cTn>
                              </p:par>
                            </p:childTnLst>
                          </p:cTn>
                        </p:par>
                        <p:par>
                          <p:cTn id="114" fill="hold">
                            <p:stCondLst>
                              <p:cond delay="11500"/>
                            </p:stCondLst>
                            <p:childTnLst>
                              <p:par>
                                <p:cTn id="115" presetID="9" presetClass="entr" presetSubtype="0" fill="hold" grpId="0" nodeType="afterEffect">
                                  <p:stCondLst>
                                    <p:cond delay="0"/>
                                  </p:stCondLst>
                                  <p:childTnLst>
                                    <p:set>
                                      <p:cBhvr>
                                        <p:cTn id="116" dur="1" fill="hold">
                                          <p:stCondLst>
                                            <p:cond delay="0"/>
                                          </p:stCondLst>
                                        </p:cTn>
                                        <p:tgtEl>
                                          <p:spTgt spid="19">
                                            <p:txEl>
                                              <p:pRg st="0" end="0"/>
                                            </p:txEl>
                                          </p:spTgt>
                                        </p:tgtEl>
                                        <p:attrNameLst>
                                          <p:attrName>style.visibility</p:attrName>
                                        </p:attrNameLst>
                                      </p:cBhvr>
                                      <p:to>
                                        <p:strVal val="visible"/>
                                      </p:to>
                                    </p:set>
                                    <p:animEffect transition="in" filter="dissolve">
                                      <p:cBhvr>
                                        <p:cTn id="117" dur="500"/>
                                        <p:tgtEl>
                                          <p:spTgt spid="19">
                                            <p:txEl>
                                              <p:pRg st="0" end="0"/>
                                            </p:txEl>
                                          </p:spTgt>
                                        </p:tgtEl>
                                      </p:cBhvr>
                                    </p:animEffect>
                                  </p:childTnLst>
                                </p:cTn>
                              </p:par>
                            </p:childTnLst>
                          </p:cTn>
                        </p:par>
                        <p:par>
                          <p:cTn id="118" fill="hold">
                            <p:stCondLst>
                              <p:cond delay="12000"/>
                            </p:stCondLst>
                            <p:childTnLst>
                              <p:par>
                                <p:cTn id="119" presetID="22" presetClass="entr" presetSubtype="1" fill="hold" grpId="0" nodeType="afterEffect">
                                  <p:stCondLst>
                                    <p:cond delay="0"/>
                                  </p:stCondLst>
                                  <p:childTnLst>
                                    <p:set>
                                      <p:cBhvr>
                                        <p:cTn id="120" dur="1" fill="hold">
                                          <p:stCondLst>
                                            <p:cond delay="0"/>
                                          </p:stCondLst>
                                        </p:cTn>
                                        <p:tgtEl>
                                          <p:spTgt spid="38">
                                            <p:txEl>
                                              <p:pRg st="0" end="0"/>
                                            </p:txEl>
                                          </p:spTgt>
                                        </p:tgtEl>
                                        <p:attrNameLst>
                                          <p:attrName>style.visibility</p:attrName>
                                        </p:attrNameLst>
                                      </p:cBhvr>
                                      <p:to>
                                        <p:strVal val="visible"/>
                                      </p:to>
                                    </p:set>
                                    <p:animEffect transition="in" filter="wipe(up)">
                                      <p:cBhvr>
                                        <p:cTn id="121" dur="500"/>
                                        <p:tgtEl>
                                          <p:spTgt spid="38">
                                            <p:txEl>
                                              <p:pRg st="0" end="0"/>
                                            </p:txEl>
                                          </p:spTgt>
                                        </p:tgtEl>
                                      </p:cBhvr>
                                    </p:animEffect>
                                  </p:childTnLst>
                                </p:cTn>
                              </p:par>
                            </p:childTnLst>
                          </p:cTn>
                        </p:par>
                        <p:par>
                          <p:cTn id="122" fill="hold">
                            <p:stCondLst>
                              <p:cond delay="12500"/>
                            </p:stCondLst>
                            <p:childTnLst>
                              <p:par>
                                <p:cTn id="123" presetID="9" presetClass="entr" presetSubtype="0" fill="hold" grpId="0" nodeType="afterEffect">
                                  <p:stCondLst>
                                    <p:cond delay="0"/>
                                  </p:stCondLst>
                                  <p:childTnLst>
                                    <p:set>
                                      <p:cBhvr>
                                        <p:cTn id="124" dur="1" fill="hold">
                                          <p:stCondLst>
                                            <p:cond delay="0"/>
                                          </p:stCondLst>
                                        </p:cTn>
                                        <p:tgtEl>
                                          <p:spTgt spid="37">
                                            <p:txEl>
                                              <p:pRg st="0" end="0"/>
                                            </p:txEl>
                                          </p:spTgt>
                                        </p:tgtEl>
                                        <p:attrNameLst>
                                          <p:attrName>style.visibility</p:attrName>
                                        </p:attrNameLst>
                                      </p:cBhvr>
                                      <p:to>
                                        <p:strVal val="visible"/>
                                      </p:to>
                                    </p:set>
                                    <p:animEffect transition="in" filter="dissolve">
                                      <p:cBhvr>
                                        <p:cTn id="125" dur="500"/>
                                        <p:tgtEl>
                                          <p:spTgt spid="37">
                                            <p:txEl>
                                              <p:pRg st="0" end="0"/>
                                            </p:txEl>
                                          </p:spTgt>
                                        </p:tgtEl>
                                      </p:cBhvr>
                                    </p:animEffect>
                                  </p:childTnLst>
                                </p:cTn>
                              </p:par>
                            </p:childTnLst>
                          </p:cTn>
                        </p:par>
                        <p:par>
                          <p:cTn id="126" fill="hold">
                            <p:stCondLst>
                              <p:cond delay="13000"/>
                            </p:stCondLst>
                            <p:childTnLst>
                              <p:par>
                                <p:cTn id="127" presetID="22" presetClass="entr" presetSubtype="1" fill="hold" grpId="0" nodeType="afterEffect">
                                  <p:stCondLst>
                                    <p:cond delay="0"/>
                                  </p:stCondLst>
                                  <p:childTnLst>
                                    <p:set>
                                      <p:cBhvr>
                                        <p:cTn id="128" dur="1" fill="hold">
                                          <p:stCondLst>
                                            <p:cond delay="0"/>
                                          </p:stCondLst>
                                        </p:cTn>
                                        <p:tgtEl>
                                          <p:spTgt spid="53">
                                            <p:txEl>
                                              <p:pRg st="0" end="0"/>
                                            </p:txEl>
                                          </p:spTgt>
                                        </p:tgtEl>
                                        <p:attrNameLst>
                                          <p:attrName>style.visibility</p:attrName>
                                        </p:attrNameLst>
                                      </p:cBhvr>
                                      <p:to>
                                        <p:strVal val="visible"/>
                                      </p:to>
                                    </p:set>
                                    <p:animEffect transition="in" filter="wipe(up)">
                                      <p:cBhvr>
                                        <p:cTn id="129" dur="500"/>
                                        <p:tgtEl>
                                          <p:spTgt spid="53">
                                            <p:txEl>
                                              <p:pRg st="0" end="0"/>
                                            </p:txEl>
                                          </p:spTgt>
                                        </p:tgtEl>
                                      </p:cBhvr>
                                    </p:animEffect>
                                  </p:childTnLst>
                                </p:cTn>
                              </p:par>
                            </p:childTnLst>
                          </p:cTn>
                        </p:par>
                        <p:par>
                          <p:cTn id="130" fill="hold">
                            <p:stCondLst>
                              <p:cond delay="13500"/>
                            </p:stCondLst>
                            <p:childTnLst>
                              <p:par>
                                <p:cTn id="131" presetID="9" presetClass="entr" presetSubtype="0" fill="hold" grpId="0" nodeType="afterEffect">
                                  <p:stCondLst>
                                    <p:cond delay="0"/>
                                  </p:stCondLst>
                                  <p:childTnLst>
                                    <p:set>
                                      <p:cBhvr>
                                        <p:cTn id="132" dur="1" fill="hold">
                                          <p:stCondLst>
                                            <p:cond delay="0"/>
                                          </p:stCondLst>
                                        </p:cTn>
                                        <p:tgtEl>
                                          <p:spTgt spid="52">
                                            <p:txEl>
                                              <p:pRg st="0" end="0"/>
                                            </p:txEl>
                                          </p:spTgt>
                                        </p:tgtEl>
                                        <p:attrNameLst>
                                          <p:attrName>style.visibility</p:attrName>
                                        </p:attrNameLst>
                                      </p:cBhvr>
                                      <p:to>
                                        <p:strVal val="visible"/>
                                      </p:to>
                                    </p:set>
                                    <p:animEffect transition="in" filter="dissolve">
                                      <p:cBhvr>
                                        <p:cTn id="133" dur="500"/>
                                        <p:tgtEl>
                                          <p:spTgt spid="52">
                                            <p:txEl>
                                              <p:pRg st="0" end="0"/>
                                            </p:txEl>
                                          </p:spTgt>
                                        </p:tgtEl>
                                      </p:cBhvr>
                                    </p:animEffect>
                                  </p:childTnLst>
                                </p:cTn>
                              </p:par>
                            </p:childTnLst>
                          </p:cTn>
                        </p:par>
                        <p:par>
                          <p:cTn id="134" fill="hold">
                            <p:stCondLst>
                              <p:cond delay="14000"/>
                            </p:stCondLst>
                            <p:childTnLst>
                              <p:par>
                                <p:cTn id="135" presetID="22" presetClass="entr" presetSubtype="1" fill="hold" grpId="0" nodeType="afterEffect">
                                  <p:stCondLst>
                                    <p:cond delay="0"/>
                                  </p:stCondLst>
                                  <p:childTnLst>
                                    <p:set>
                                      <p:cBhvr>
                                        <p:cTn id="136" dur="1" fill="hold">
                                          <p:stCondLst>
                                            <p:cond delay="0"/>
                                          </p:stCondLst>
                                        </p:cTn>
                                        <p:tgtEl>
                                          <p:spTgt spid="55">
                                            <p:txEl>
                                              <p:pRg st="0" end="0"/>
                                            </p:txEl>
                                          </p:spTgt>
                                        </p:tgtEl>
                                        <p:attrNameLst>
                                          <p:attrName>style.visibility</p:attrName>
                                        </p:attrNameLst>
                                      </p:cBhvr>
                                      <p:to>
                                        <p:strVal val="visible"/>
                                      </p:to>
                                    </p:set>
                                    <p:animEffect transition="in" filter="wipe(up)">
                                      <p:cBhvr>
                                        <p:cTn id="137" dur="500"/>
                                        <p:tgtEl>
                                          <p:spTgt spid="55">
                                            <p:txEl>
                                              <p:pRg st="0" end="0"/>
                                            </p:txEl>
                                          </p:spTgt>
                                        </p:tgtEl>
                                      </p:cBhvr>
                                    </p:animEffect>
                                  </p:childTnLst>
                                </p:cTn>
                              </p:par>
                            </p:childTnLst>
                          </p:cTn>
                        </p:par>
                        <p:par>
                          <p:cTn id="138" fill="hold">
                            <p:stCondLst>
                              <p:cond delay="14500"/>
                            </p:stCondLst>
                            <p:childTnLst>
                              <p:par>
                                <p:cTn id="139" presetID="9" presetClass="entr" presetSubtype="0" fill="hold" grpId="0" nodeType="afterEffect">
                                  <p:stCondLst>
                                    <p:cond delay="0"/>
                                  </p:stCondLst>
                                  <p:childTnLst>
                                    <p:set>
                                      <p:cBhvr>
                                        <p:cTn id="140" dur="1" fill="hold">
                                          <p:stCondLst>
                                            <p:cond delay="0"/>
                                          </p:stCondLst>
                                        </p:cTn>
                                        <p:tgtEl>
                                          <p:spTgt spid="54">
                                            <p:txEl>
                                              <p:pRg st="0" end="0"/>
                                            </p:txEl>
                                          </p:spTgt>
                                        </p:tgtEl>
                                        <p:attrNameLst>
                                          <p:attrName>style.visibility</p:attrName>
                                        </p:attrNameLst>
                                      </p:cBhvr>
                                      <p:to>
                                        <p:strVal val="visible"/>
                                      </p:to>
                                    </p:set>
                                    <p:animEffect transition="in" filter="dissolve">
                                      <p:cBhvr>
                                        <p:cTn id="141" dur="500"/>
                                        <p:tgtEl>
                                          <p:spTgt spid="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ldLvl="0" animBg="1"/>
      <p:bldP spid="8" grpId="0" bldLvl="0" animBg="1"/>
      <p:bldP spid="9" grpId="0" bldLvl="0" animBg="1"/>
      <p:bldP spid="11" grpId="0" build="p"/>
      <p:bldP spid="13" grpId="0" bldLvl="0" animBg="1"/>
      <p:bldP spid="14" grpId="0" bldLvl="0" animBg="1"/>
      <p:bldP spid="15" grpId="0" bldLvl="0" animBg="1"/>
      <p:bldP spid="16" grpId="0" bldLvl="0" animBg="1"/>
      <p:bldP spid="17" grpId="0" bldLvl="0" animBg="1"/>
      <p:bldP spid="18" grpId="0" bldLvl="0" animBg="1"/>
      <p:bldP spid="40" grpId="0" build="p"/>
      <p:bldP spid="41" grpId="0" build="p"/>
      <p:bldP spid="42" grpId="0" build="p"/>
      <p:bldP spid="43" grpId="0" bldLvl="0" animBg="1"/>
      <p:bldP spid="44" grpId="0" bldLvl="0" animBg="1"/>
      <p:bldP spid="45" grpId="0" bldLvl="0" animBg="1"/>
      <p:bldP spid="46" grpId="0" bldLvl="0" animBg="1"/>
      <p:bldP spid="47" grpId="0" bldLvl="0" animBg="1"/>
      <p:bldP spid="48" grpId="0" bldLvl="0" animBg="1"/>
      <p:bldP spid="10" grpId="0" build="p"/>
      <p:bldP spid="12" grpId="0" build="p"/>
      <p:bldP spid="19" grpId="0" build="p"/>
      <p:bldP spid="20" grpId="0" build="p"/>
      <p:bldP spid="37" grpId="0" build="p"/>
      <p:bldP spid="38" grpId="0" build="p"/>
      <p:bldP spid="52" grpId="0" build="p"/>
      <p:bldP spid="53" grpId="0" build="p"/>
      <p:bldP spid="54" grpId="0" build="p"/>
      <p:bldP spid="55"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1" y="5430129"/>
            <a:ext cx="12192000" cy="1427871"/>
          </a:xfrm>
          <a:prstGeom prst="rect">
            <a:avLst/>
          </a:prstGeom>
          <a:solidFill>
            <a:srgbClr val="404040">
              <a:alpha val="2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矩形 5"/>
          <p:cNvSpPr/>
          <p:nvPr/>
        </p:nvSpPr>
        <p:spPr>
          <a:xfrm>
            <a:off x="1" y="0"/>
            <a:ext cx="12192000" cy="5430129"/>
          </a:xfrm>
          <a:prstGeom prst="rect">
            <a:avLst/>
          </a:prstGeom>
          <a:solidFill>
            <a:srgbClr val="FFC00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pic>
        <p:nvPicPr>
          <p:cNvPr id="4" name="图片 3"/>
          <p:cNvPicPr>
            <a:picLocks noChangeAspect="1"/>
          </p:cNvPicPr>
          <p:nvPr/>
        </p:nvPicPr>
        <p:blipFill>
          <a:blip r:embed="rId3"/>
          <a:stretch>
            <a:fillRect/>
          </a:stretch>
        </p:blipFill>
        <p:spPr>
          <a:xfrm>
            <a:off x="1360" y="364477"/>
            <a:ext cx="4026080" cy="2583017"/>
          </a:xfrm>
          <a:prstGeom prst="rect">
            <a:avLst/>
          </a:prstGeom>
        </p:spPr>
      </p:pic>
      <p:pic>
        <p:nvPicPr>
          <p:cNvPr id="5" name="图片 4"/>
          <p:cNvPicPr>
            <a:picLocks noChangeAspect="1"/>
          </p:cNvPicPr>
          <p:nvPr/>
        </p:nvPicPr>
        <p:blipFill>
          <a:blip r:embed="rId4"/>
          <a:stretch>
            <a:fillRect/>
          </a:stretch>
        </p:blipFill>
        <p:spPr>
          <a:xfrm>
            <a:off x="886265" y="3431549"/>
            <a:ext cx="5844734" cy="3426451"/>
          </a:xfrm>
          <a:prstGeom prst="rect">
            <a:avLst/>
          </a:prstGeom>
        </p:spPr>
      </p:pic>
      <p:sp>
        <p:nvSpPr>
          <p:cNvPr id="3" name="文本框 2"/>
          <p:cNvSpPr txBox="1"/>
          <p:nvPr/>
        </p:nvSpPr>
        <p:spPr>
          <a:xfrm>
            <a:off x="4913704" y="2162664"/>
            <a:ext cx="6587759" cy="1569660"/>
          </a:xfrm>
          <a:prstGeom prst="rect">
            <a:avLst/>
          </a:prstGeom>
          <a:noFill/>
        </p:spPr>
        <p:txBody>
          <a:bodyPr wrap="square" rtlCol="0">
            <a:spAutoFit/>
          </a:bodyPr>
          <a:lstStyle/>
          <a:p>
            <a:r>
              <a:rPr lang="en-US" altLang="zh-CN" sz="9600" b="1" dirty="0">
                <a:solidFill>
                  <a:schemeClr val="tx1">
                    <a:lumMod val="85000"/>
                    <a:lumOff val="15000"/>
                  </a:schemeClr>
                </a:solidFill>
                <a:cs typeface="+mn-ea"/>
                <a:sym typeface="+mn-lt"/>
              </a:rPr>
              <a:t>Thanks</a:t>
            </a:r>
            <a:r>
              <a:rPr lang="zh-CN" altLang="en-US" sz="9600" b="1" dirty="0">
                <a:solidFill>
                  <a:schemeClr val="tx1">
                    <a:lumMod val="85000"/>
                    <a:lumOff val="15000"/>
                  </a:schemeClr>
                </a:solidFill>
                <a:cs typeface="+mn-ea"/>
                <a:sym typeface="+mn-lt"/>
              </a:rPr>
              <a:t>！</a:t>
            </a:r>
          </a:p>
        </p:txBody>
      </p:sp>
    </p:spTree>
  </p:cSld>
  <p:clrMapOvr>
    <a:masterClrMapping/>
  </p:clrMapOvr>
  <mc:AlternateContent xmlns:mc="http://schemas.openxmlformats.org/markup-compatibility/2006" xmlns:p14="http://schemas.microsoft.com/office/powerpoint/2010/main">
    <mc:Choice Requires="p14">
      <p:transition spd="slow" p14:dur="1300" advTm="1000">
        <p14:pan dir="u"/>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 presetClass="entr" presetSubtype="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63" presetClass="path" presetSubtype="0" accel="50000" decel="50000" fill="hold" nodeType="withEffect">
                                  <p:stCondLst>
                                    <p:cond delay="0"/>
                                  </p:stCondLst>
                                  <p:childTnLst>
                                    <p:animMotion origin="layout" path="M -0.36146 -0.08333 L 2.22222E-6 -3.7037E-7 " pathEditMode="relative" rAng="0" ptsTypes="AA">
                                      <p:cBhvr>
                                        <p:cTn id="13" dur="2000" fill="hold"/>
                                        <p:tgtEl>
                                          <p:spTgt spid="4"/>
                                        </p:tgtEl>
                                        <p:attrNameLst>
                                          <p:attrName>ppt_x</p:attrName>
                                          <p:attrName>ppt_y</p:attrName>
                                        </p:attrNameLst>
                                      </p:cBhvr>
                                      <p:rCtr x="18073" y="4167"/>
                                    </p:animMotion>
                                  </p:childTnLst>
                                </p:cTn>
                              </p:par>
                              <p:par>
                                <p:cTn id="14" presetID="41" presetClass="entr" presetSubtype="0" fill="hold" grpId="0" nodeType="withEffect">
                                  <p:stCondLst>
                                    <p:cond delay="0"/>
                                  </p:stCondLst>
                                  <p:iterate type="lt">
                                    <p:tmPct val="10000"/>
                                  </p:iterate>
                                  <p:childTnLst>
                                    <p:set>
                                      <p:cBhvr>
                                        <p:cTn id="15" dur="1" fill="hold">
                                          <p:stCondLst>
                                            <p:cond delay="0"/>
                                          </p:stCondLst>
                                        </p:cTn>
                                        <p:tgtEl>
                                          <p:spTgt spid="3">
                                            <p:txEl>
                                              <p:pRg st="0" end="0"/>
                                            </p:txEl>
                                          </p:spTgt>
                                        </p:tgtEl>
                                        <p:attrNameLst>
                                          <p:attrName>style.visibility</p:attrName>
                                        </p:attrNameLst>
                                      </p:cBhvr>
                                      <p:to>
                                        <p:strVal val="visible"/>
                                      </p:to>
                                    </p:set>
                                    <p:anim calcmode="lin" valueType="num">
                                      <p:cBhvr>
                                        <p:cTn id="16" dur="500" fill="hold"/>
                                        <p:tgtEl>
                                          <p:spTgt spid="3">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3">
                                            <p:txEl>
                                              <p:pRg st="0" end="0"/>
                                            </p:txEl>
                                          </p:spTgt>
                                        </p:tgtEl>
                                        <p:attrNameLst>
                                          <p:attrName>ppt_y</p:attrName>
                                        </p:attrNameLst>
                                      </p:cBhvr>
                                      <p:tavLst>
                                        <p:tav tm="0">
                                          <p:val>
                                            <p:strVal val="#ppt_y"/>
                                          </p:val>
                                        </p:tav>
                                        <p:tav tm="100000">
                                          <p:val>
                                            <p:strVal val="#ppt_y"/>
                                          </p:val>
                                        </p:tav>
                                      </p:tavLst>
                                    </p:anim>
                                    <p:anim calcmode="lin" valueType="num">
                                      <p:cBhvr>
                                        <p:cTn id="18" dur="500" fill="hold"/>
                                        <p:tgtEl>
                                          <p:spTgt spid="3">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3">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ags/tag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9145"/>
  <p:tag name="KSO_WM_TAG_VERSION" val="1.0"/>
  <p:tag name="KSO_WM_SLIDE_ID" val="diagram20189145_1"/>
  <p:tag name="KSO_WM_SLIDE_INDEX" val="1"/>
  <p:tag name="KSO_WM_SLIDE_ITEM_CNT" val="3"/>
  <p:tag name="KSO_WM_SLIDE_LAYOUT" val="a_f_d_g"/>
  <p:tag name="KSO_WM_SLIDE_LAYOUT_CNT" val="1_1_2_2"/>
  <p:tag name="KSO_WM_SLIDE_TYPE" val="text"/>
  <p:tag name="KSO_WM_SLIDE_SUBTYPE" val="picTxt"/>
  <p:tag name="KSO_WM_BEAUTIFY_FLAG" val="#wm#"/>
  <p:tag name="KSO_WM_SLIDE_POSITION" val="124*94"/>
  <p:tag name="KSO_WM_SLIDE_SIZE" val="470*278"/>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89145_1*i*1"/>
  <p:tag name="KSO_WM_TEMPLATE_CATEGORY" val="diagram"/>
  <p:tag name="KSO_WM_TEMPLATE_INDEX" val="20189145"/>
  <p:tag name="KSO_WM_UNIT_INDEX" val="1"/>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89145_1*i*0"/>
  <p:tag name="KSO_WM_TEMPLATE_CATEGORY" val="diagram"/>
  <p:tag name="KSO_WM_TEMPLATE_INDEX" val="20189145"/>
  <p:tag name="KSO_WM_UNIT_INDEX" val="0"/>
</p:tagLst>
</file>

<file path=ppt/tags/tag5.xml><?xml version="1.0" encoding="utf-8"?>
<p:tagLst xmlns:a="http://schemas.openxmlformats.org/drawingml/2006/main" xmlns:r="http://schemas.openxmlformats.org/officeDocument/2006/relationships" xmlns:p="http://schemas.openxmlformats.org/presentationml/2006/main">
  <p:tag name="KSO_WM_TEMPLATE_INDEX" val="20189145"/>
  <p:tag name="KSO_WM_TAG_VERSION" val="1.0"/>
  <p:tag name="KSO_WM_SLIDE_INDEX" val="2"/>
  <p:tag name="KSO_WM_SLIDE_ITEM_CNT" val="3"/>
  <p:tag name="KSO_WM_SLIDE_LAYOUT" val="a_f_h_d"/>
  <p:tag name="KSO_WM_SLIDE_LAYOUT_CNT" val="1_1_1_1"/>
  <p:tag name="KSO_WM_SLIDE_TYPE" val="text"/>
  <p:tag name="KSO_WM_BEAUTIFY_FLAG" val="#wm#"/>
  <p:tag name="KSO_WM_SLIDE_POSITION" val="69*80"/>
  <p:tag name="KSO_WM_SLIDE_SIZE" val="784*394"/>
  <p:tag name="KSO_WM_SLIDE_SUBTYPE" val="picTxt"/>
  <p:tag name="KSO_WM_TEMPLATE_CATEGORY" val="diagram"/>
  <p:tag name="KSO_WM_SLIDE_ID" val="diagram20185307_2"/>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2"/>
  <p:tag name="KSO_WM_SLIDE_LAYOUT" val="a_m"/>
  <p:tag name="KSO_WM_SLIDE_LAYOUT_CNT" val="1_1"/>
  <p:tag name="KSO_WM_SLIDE_TYPE" val="text"/>
  <p:tag name="KSO_WM_BEAUTIFY_FLAG" val="#wm#"/>
  <p:tag name="KSO_WM_SLIDE_POSITION" val="34*137"/>
  <p:tag name="KSO_WM_SLIDE_SIZE" val="890*336"/>
  <p:tag name="KSO_WM_TEMPLATE_CATEGORY" val="diagram"/>
  <p:tag name="KSO_WM_TEMPLATE_INDEX" val="20171238"/>
  <p:tag name="KSO_WM_SLIDE_ID" val="diagram20171238_1"/>
  <p:tag name="KSO_WM_SLIDE_INDEX" val="1"/>
  <p:tag name="KSO_WM_DIAGRAM_GROUP_CODE" val="m1-1"/>
  <p:tag name="KSO_WM_SLIDE_SUBTYPE" val="diag"/>
</p:tagLst>
</file>

<file path=ppt/tags/tag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238"/>
  <p:tag name="KSO_WM_TAG_VERSION" val="1.0"/>
  <p:tag name="KSO_WM_BEAUTIFY_FLAG" val="#wm#"/>
  <p:tag name="KSO_WM_UNIT_TYPE" val="m_i"/>
  <p:tag name="KSO_WM_UNIT_INDEX" val="1_1"/>
  <p:tag name="KSO_WM_UNIT_CLEAR" val="1"/>
  <p:tag name="KSO_WM_UNIT_LAYERLEVEL" val="1_1"/>
  <p:tag name="KSO_WM_DIAGRAM_GROUP_CODE" val="m1-1"/>
  <p:tag name="KSO_WM_UNIT_ID" val="diagram20171238_1*m_i*1_1"/>
  <p:tag name="KSO_WM_UNIT_LINE_FORE_SCHEMECOLOR_INDEX" val="14"/>
  <p:tag name="KSO_WM_UNIT_LINE_FILL_TYPE" val="2"/>
  <p:tag name="KSO_WM_UNIT_USESOURCEFORMAT_APPLY" val="0"/>
</p:tagLst>
</file>

<file path=ppt/tags/tag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238"/>
  <p:tag name="KSO_WM_UNIT_CLEAR" val="1"/>
  <p:tag name="KSO_WM_TAG_VERSION" val="1.0"/>
  <p:tag name="KSO_WM_BEAUTIFY_FLAG" val="#wm#"/>
  <p:tag name="KSO_WM_UNIT_TYPE" val="m_h_i"/>
  <p:tag name="KSO_WM_UNIT_INDEX" val="1_1_1"/>
  <p:tag name="KSO_WM_UNIT_ID" val="diagram20171238_1*m_h_i*1_1_1"/>
  <p:tag name="KSO_WM_UNIT_LAYERLEVEL" val="1_1_1"/>
  <p:tag name="KSO_WM_DIAGRAM_GROUP_CODE" val="m1-1"/>
  <p:tag name="KSO_WM_UNIT_FILL_FORE_SCHEMECOLOR_INDEX" val="14"/>
  <p:tag name="KSO_WM_UNIT_FILL_TYPE" val="1"/>
  <p:tag name="KSO_WM_UNIT_TEXT_FILL_FORE_SCHEMECOLOR_INDEX" val="2"/>
  <p:tag name="KSO_WM_UNIT_TEXT_FILL_TYPE" val="1"/>
  <p:tag name="KSO_WM_UNIT_USESOURCEFORMAT_APPLY" val="0"/>
</p:tagLst>
</file>

<file path=ppt/tags/tag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238"/>
  <p:tag name="KSO_WM_UNIT_CLEAR" val="1"/>
  <p:tag name="KSO_WM_TAG_VERSION" val="1.0"/>
  <p:tag name="KSO_WM_BEAUTIFY_FLAG" val="#wm#"/>
  <p:tag name="KSO_WM_UNIT_TYPE" val="m_h_i"/>
  <p:tag name="KSO_WM_UNIT_INDEX" val="1_1_2"/>
  <p:tag name="KSO_WM_UNIT_ID" val="diagram20171238_1*m_h_i*1_1_2"/>
  <p:tag name="KSO_WM_UNIT_LAYERLEVEL" val="1_1_1"/>
  <p:tag name="KSO_WM_DIAGRAM_GROUP_CODE" val="m1-1"/>
  <p:tag name="KSO_WM_UNIT_LINE_FORE_SCHEMECOLOR_INDEX" val="14"/>
  <p:tag name="KSO_WM_UNIT_LINE_FILL_TYPE" val="2"/>
  <p:tag name="KSO_WM_UNIT_USESOURCEFORMAT_APPLY" val="0"/>
</p:tagLst>
</file>

<file path=ppt/tags/tag1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238"/>
  <p:tag name="KSO_WM_UNIT_CLEAR" val="1"/>
  <p:tag name="KSO_WM_TAG_VERSION" val="1.0"/>
  <p:tag name="KSO_WM_BEAUTIFY_FLAG" val="#wm#"/>
  <p:tag name="KSO_WM_UNIT_TYPE" val="m_h_i"/>
  <p:tag name="KSO_WM_UNIT_INDEX" val="1_1_3"/>
  <p:tag name="KSO_WM_UNIT_ID" val="diagram20171238_1*m_h_i*1_1_3"/>
  <p:tag name="KSO_WM_UNIT_LAYERLEVEL" val="1_1_1"/>
  <p:tag name="KSO_WM_DIAGRAM_GROUP_CODE" val="m1-1"/>
  <p:tag name="KSO_WM_UNIT_LINE_FORE_SCHEMECOLOR_INDEX" val="14"/>
  <p:tag name="KSO_WM_UNIT_LINE_FILL_TYPE" val="2"/>
  <p:tag name="KSO_WM_UNIT_USESOURCEFORMAT_APPLY" val="0"/>
</p:tagLst>
</file>

<file path=ppt/tags/tag1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238"/>
  <p:tag name="KSO_WM_UNIT_CLEAR" val="1"/>
  <p:tag name="KSO_WM_TAG_VERSION" val="1.0"/>
  <p:tag name="KSO_WM_BEAUTIFY_FLAG" val="#wm#"/>
  <p:tag name="KSO_WM_UNIT_TYPE" val="m_h_i"/>
  <p:tag name="KSO_WM_UNIT_INDEX" val="1_1_4"/>
  <p:tag name="KSO_WM_UNIT_ID" val="diagram20171238_1*m_h_i*1_1_4"/>
  <p:tag name="KSO_WM_UNIT_LAYERLEVEL" val="1_1_1"/>
  <p:tag name="KSO_WM_DIAGRAM_GROUP_CODE" val="m1-1"/>
  <p:tag name="KSO_WM_UNIT_FILL_FORE_SCHEMECOLOR_INDEX" val="5"/>
  <p:tag name="KSO_WM_UNIT_FILL_TYPE" val="1"/>
  <p:tag name="KSO_WM_UNIT_TEXT_FILL_FORE_SCHEMECOLOR_INDEX" val="2"/>
  <p:tag name="KSO_WM_UNIT_TEXT_FILL_TYPE" val="1"/>
  <p:tag name="KSO_WM_UNIT_USESOURCEFORMAT_APPLY" val="0"/>
</p:tagLst>
</file>

<file path=ppt/tags/tag1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238"/>
  <p:tag name="KSO_WM_TAG_VERSION" val="1.0"/>
  <p:tag name="KSO_WM_BEAUTIFY_FLAG" val="#wm#"/>
  <p:tag name="KSO_WM_UNIT_TYPE" val="m_h_a"/>
  <p:tag name="KSO_WM_UNIT_INDEX" val="1_1_1"/>
  <p:tag name="KSO_WM_UNIT_CLEAR" val="1"/>
  <p:tag name="KSO_WM_UNIT_LAYERLEVEL" val="1_1_1"/>
  <p:tag name="KSO_WM_UNIT_VALUE" val="11"/>
  <p:tag name="KSO_WM_UNIT_HIGHLIGHT" val="0"/>
  <p:tag name="KSO_WM_UNIT_COMPATIBLE" val="0"/>
  <p:tag name="KSO_WM_UNIT_PRESET_TEXT_INDEX" val="3"/>
  <p:tag name="KSO_WM_UNIT_PRESET_TEXT_LEN" val="12"/>
  <p:tag name="KSO_WM_DIAGRAM_GROUP_CODE" val="m1-1"/>
  <p:tag name="KSO_WM_UNIT_ID" val="diagram20171238_1*m_h_a*1_1_1"/>
  <p:tag name="KSO_WM_UNIT_TEXT_FILL_FORE_SCHEMECOLOR_INDEX" val="13"/>
  <p:tag name="KSO_WM_UNIT_TEXT_FILL_TYPE" val="1"/>
  <p:tag name="KSO_WM_UNIT_USESOURCEFORMAT_APPLY" val="0"/>
</p:tagLst>
</file>

<file path=ppt/tags/tag1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238"/>
  <p:tag name="KSO_WM_TAG_VERSION" val="1.0"/>
  <p:tag name="KSO_WM_BEAUTIFY_FLAG" val="#wm#"/>
  <p:tag name="MH" val="20150921115827"/>
  <p:tag name="MH_LIBRARY" val="GRAPHIC"/>
  <p:tag name="MH_TYPE" val="Text"/>
  <p:tag name="MH_ORDER" val="1"/>
  <p:tag name="KSO_WM_UNIT_TYPE" val="m_h_f"/>
  <p:tag name="KSO_WM_UNIT_INDEX" val="1_1_1"/>
  <p:tag name="KSO_WM_UNIT_CLEAR" val="1"/>
  <p:tag name="KSO_WM_UNIT_LAYERLEVEL" val="1_1_1"/>
  <p:tag name="KSO_WM_UNIT_VALUE" val="30"/>
  <p:tag name="KSO_WM_UNIT_HIGHLIGHT" val="0"/>
  <p:tag name="KSO_WM_UNIT_COMPATIBLE" val="0"/>
  <p:tag name="KSO_WM_UNIT_PRESET_TEXT_INDEX" val="4"/>
  <p:tag name="KSO_WM_UNIT_PRESET_TEXT_LEN" val="35"/>
  <p:tag name="KSO_WM_DIAGRAM_GROUP_CODE" val="m1-1"/>
  <p:tag name="KSO_WM_UNIT_ID" val="diagram20171238_1*m_h_f*1_1_1"/>
  <p:tag name="KSO_WM_UNIT_TEXT_FILL_FORE_SCHEMECOLOR_INDEX" val="13"/>
  <p:tag name="KSO_WM_UNIT_TEXT_FILL_TYPE" val="1"/>
  <p:tag name="KSO_WM_UNIT_USESOURCEFORMAT_APPLY" val="0"/>
</p:tagLst>
</file>

<file path=ppt/tags/tag1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238"/>
  <p:tag name="KSO_WM_UNIT_CLEAR" val="1"/>
  <p:tag name="KSO_WM_TAG_VERSION" val="1.0"/>
  <p:tag name="KSO_WM_BEAUTIFY_FLAG" val="#wm#"/>
  <p:tag name="KSO_WM_UNIT_TYPE" val="m_h_i"/>
  <p:tag name="KSO_WM_UNIT_INDEX" val="1_2_1"/>
  <p:tag name="KSO_WM_UNIT_ID" val="diagram20171238_1*m_h_i*1_2_1"/>
  <p:tag name="KSO_WM_UNIT_LAYERLEVEL" val="1_1_1"/>
  <p:tag name="KSO_WM_DIAGRAM_GROUP_CODE" val="m1-1"/>
  <p:tag name="KSO_WM_UNIT_FILL_FORE_SCHEMECOLOR_INDEX" val="14"/>
  <p:tag name="KSO_WM_UNIT_FILL_TYPE" val="1"/>
  <p:tag name="KSO_WM_UNIT_TEXT_FILL_FORE_SCHEMECOLOR_INDEX" val="2"/>
  <p:tag name="KSO_WM_UNIT_TEXT_FILL_TYPE" val="1"/>
  <p:tag name="KSO_WM_UNIT_USESOURCEFORMAT_APPLY" val="0"/>
</p:tagLst>
</file>

<file path=ppt/tags/tag1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238"/>
  <p:tag name="KSO_WM_UNIT_CLEAR" val="1"/>
  <p:tag name="KSO_WM_TAG_VERSION" val="1.0"/>
  <p:tag name="KSO_WM_BEAUTIFY_FLAG" val="#wm#"/>
  <p:tag name="KSO_WM_UNIT_TYPE" val="m_h_i"/>
  <p:tag name="KSO_WM_UNIT_INDEX" val="1_2_2"/>
  <p:tag name="KSO_WM_UNIT_ID" val="diagram20171238_1*m_h_i*1_2_2"/>
  <p:tag name="KSO_WM_UNIT_LAYERLEVEL" val="1_1_1"/>
  <p:tag name="KSO_WM_DIAGRAM_GROUP_CODE" val="m1-1"/>
  <p:tag name="KSO_WM_UNIT_LINE_FORE_SCHEMECOLOR_INDEX" val="14"/>
  <p:tag name="KSO_WM_UNIT_LINE_FILL_TYPE" val="2"/>
  <p:tag name="KSO_WM_UNIT_USESOURCEFORMAT_APPLY" val="0"/>
</p:tagLst>
</file>

<file path=ppt/tags/tag1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238"/>
  <p:tag name="KSO_WM_UNIT_CLEAR" val="1"/>
  <p:tag name="KSO_WM_TAG_VERSION" val="1.0"/>
  <p:tag name="KSO_WM_BEAUTIFY_FLAG" val="#wm#"/>
  <p:tag name="KSO_WM_UNIT_TYPE" val="m_h_i"/>
  <p:tag name="KSO_WM_UNIT_INDEX" val="1_2_3"/>
  <p:tag name="KSO_WM_UNIT_ID" val="diagram20171238_1*m_h_i*1_2_3"/>
  <p:tag name="KSO_WM_UNIT_LAYERLEVEL" val="1_1_1"/>
  <p:tag name="KSO_WM_DIAGRAM_GROUP_CODE" val="m1-1"/>
  <p:tag name="KSO_WM_UNIT_LINE_FORE_SCHEMECOLOR_INDEX" val="14"/>
  <p:tag name="KSO_WM_UNIT_LINE_FILL_TYPE" val="2"/>
  <p:tag name="KSO_WM_UNIT_USESOURCEFORMAT_APPLY" val="0"/>
</p:tagLst>
</file>

<file path=ppt/tags/tag1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238"/>
  <p:tag name="KSO_WM_UNIT_CLEAR" val="1"/>
  <p:tag name="KSO_WM_TAG_VERSION" val="1.0"/>
  <p:tag name="KSO_WM_BEAUTIFY_FLAG" val="#wm#"/>
  <p:tag name="KSO_WM_UNIT_TYPE" val="m_h_i"/>
  <p:tag name="KSO_WM_UNIT_INDEX" val="1_2_4"/>
  <p:tag name="KSO_WM_UNIT_ID" val="diagram20171238_1*m_h_i*1_2_4"/>
  <p:tag name="KSO_WM_UNIT_LAYERLEVEL" val="1_1_1"/>
  <p:tag name="KSO_WM_DIAGRAM_GROUP_CODE" val="m1-1"/>
  <p:tag name="KSO_WM_UNIT_FILL_FORE_SCHEMECOLOR_INDEX" val="14"/>
  <p:tag name="KSO_WM_UNIT_FILL_TYPE" val="1"/>
  <p:tag name="KSO_WM_UNIT_TEXT_FILL_FORE_SCHEMECOLOR_INDEX" val="2"/>
  <p:tag name="KSO_WM_UNIT_TEXT_FILL_TYPE" val="1"/>
  <p:tag name="KSO_WM_UNIT_USESOURCEFORMAT_APPLY" val="0"/>
</p:tagLst>
</file>

<file path=ppt/tags/tag1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238"/>
  <p:tag name="KSO_WM_TAG_VERSION" val="1.0"/>
  <p:tag name="KSO_WM_BEAUTIFY_FLAG" val="#wm#"/>
  <p:tag name="KSO_WM_UNIT_TYPE" val="m_h_a"/>
  <p:tag name="KSO_WM_UNIT_INDEX" val="1_2_1"/>
  <p:tag name="KSO_WM_UNIT_CLEAR" val="1"/>
  <p:tag name="KSO_WM_UNIT_LAYERLEVEL" val="1_1_1"/>
  <p:tag name="KSO_WM_UNIT_VALUE" val="11"/>
  <p:tag name="KSO_WM_UNIT_HIGHLIGHT" val="0"/>
  <p:tag name="KSO_WM_UNIT_COMPATIBLE" val="0"/>
  <p:tag name="KSO_WM_UNIT_PRESET_TEXT_INDEX" val="3"/>
  <p:tag name="KSO_WM_UNIT_PRESET_TEXT_LEN" val="12"/>
  <p:tag name="KSO_WM_DIAGRAM_GROUP_CODE" val="m1-1"/>
  <p:tag name="KSO_WM_UNIT_ID" val="diagram20171238_1*m_h_a*1_2_1"/>
  <p:tag name="KSO_WM_UNIT_TEXT_FILL_FORE_SCHEMECOLOR_INDEX" val="13"/>
  <p:tag name="KSO_WM_UNIT_TEXT_FILL_TYPE" val="1"/>
  <p:tag name="KSO_WM_UNIT_USESOURCEFORMAT_APPLY" val="0"/>
</p:tagLst>
</file>

<file path=ppt/tags/tag1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238"/>
  <p:tag name="KSO_WM_TAG_VERSION" val="1.0"/>
  <p:tag name="KSO_WM_BEAUTIFY_FLAG" val="#wm#"/>
  <p:tag name="MH" val="20150921115827"/>
  <p:tag name="MH_LIBRARY" val="GRAPHIC"/>
  <p:tag name="MH_TYPE" val="Text"/>
  <p:tag name="MH_ORDER" val="1"/>
  <p:tag name="KSO_WM_UNIT_TYPE" val="m_h_f"/>
  <p:tag name="KSO_WM_UNIT_INDEX" val="1_2_1"/>
  <p:tag name="KSO_WM_UNIT_CLEAR" val="1"/>
  <p:tag name="KSO_WM_UNIT_LAYERLEVEL" val="1_1_1"/>
  <p:tag name="KSO_WM_UNIT_VALUE" val="30"/>
  <p:tag name="KSO_WM_UNIT_HIGHLIGHT" val="0"/>
  <p:tag name="KSO_WM_UNIT_COMPATIBLE" val="0"/>
  <p:tag name="KSO_WM_UNIT_PRESET_TEXT_INDEX" val="4"/>
  <p:tag name="KSO_WM_UNIT_PRESET_TEXT_LEN" val="35"/>
  <p:tag name="KSO_WM_DIAGRAM_GROUP_CODE" val="m1-1"/>
  <p:tag name="KSO_WM_UNIT_ID" val="diagram20171238_1*m_h_f*1_2_1"/>
  <p:tag name="KSO_WM_UNIT_TEXT_FILL_FORE_SCHEMECOLOR_INDEX" val="13"/>
  <p:tag name="KSO_WM_UNIT_TEXT_FILL_TYPE" val="1"/>
  <p:tag name="KSO_WM_UNIT_USESOURCEFORMAT_APPLY" val="0"/>
</p:tagLst>
</file>

<file path=ppt/tags/tag20.xml><?xml version="1.0" encoding="utf-8"?>
<p:tagLst xmlns:a="http://schemas.openxmlformats.org/drawingml/2006/main" xmlns:r="http://schemas.openxmlformats.org/officeDocument/2006/relationships" xmlns:p="http://schemas.openxmlformats.org/presentationml/2006/main">
  <p:tag name="KSO_WM_TEMPLATE_INDEX" val="20171238"/>
  <p:tag name="KSO_WM_TAG_VERSION" val="1.0"/>
  <p:tag name="KSO_WM_SLIDE_INDEX" val="1"/>
  <p:tag name="KSO_WM_SLIDE_ITEM_CNT" val="2"/>
  <p:tag name="KSO_WM_SLIDE_LAYOUT" val="f_r"/>
  <p:tag name="KSO_WM_SLIDE_LAYOUT_CNT" val="1_1"/>
  <p:tag name="KSO_WM_SLIDE_TYPE" val="text"/>
  <p:tag name="KSO_WM_SLIDE_SUBTYPE" val="diag"/>
  <p:tag name="KSO_WM_BEAUTIFY_FLAG" val="#wm#"/>
  <p:tag name="KSO_WM_SLIDE_POSITION" val="52*89"/>
  <p:tag name="KSO_WM_SLIDE_SIZE" val="854*393"/>
  <p:tag name="KSO_WM_DIAGRAM_GROUP_CODE" val="r1-1"/>
  <p:tag name="KSO_WM_TEMPLATE_CATEGORY" val="diagram"/>
  <p:tag name="KSO_WM_SLIDE_ID" val="diagram20186259_1"/>
</p:tagLst>
</file>

<file path=ppt/tags/tag2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1"/>
  <p:tag name="KSO_WM_UNIT_ID" val="diagram20186259_1*r_i*1_1"/>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FILL_FORE_SCHEMECOLOR_INDEX" val="5"/>
  <p:tag name="KSO_WM_UNIT_FILL_TYPE" val="1"/>
  <p:tag name="KSO_WM_UNIT_TEXT_FILL_FORE_SCHEMECOLOR_INDEX" val="2"/>
  <p:tag name="KSO_WM_UNIT_TEXT_FILL_TYPE" val="1"/>
  <p:tag name="KSO_WM_UNIT_USESOURCEFORMAT_APPLY" val="0"/>
</p:tagLst>
</file>

<file path=ppt/tags/tag2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v"/>
  <p:tag name="KSO_WM_UNIT_INDEX" val="1_1"/>
  <p:tag name="KSO_WM_UNIT_ID" val="diagram20186259_1*r_v*1_1"/>
  <p:tag name="KSO_WM_UNIT_LAYERLEVEL" val="1_1"/>
  <p:tag name="KSO_WM_UNIT_DIAGRAM_CONTRAST_TITLE_CNT" val="2"/>
  <p:tag name="KSO_WM_UNIT_DIAGRAM_DIMENSION_TITLE_CNT" val="1"/>
  <p:tag name="KSO_WM_UNIT_VALUE" val="75"/>
  <p:tag name="KSO_WM_UNIT_HIGHLIGHT" val="0"/>
  <p:tag name="KSO_WM_UNIT_COMPATIBLE" val="0"/>
  <p:tag name="KSO_WM_UNIT_CLEAR" val="0"/>
  <p:tag name="KSO_WM_BEAUTIFY_FLAG" val="#wm#"/>
  <p:tag name="KSO_WM_TAG_VERSION" val="1.0"/>
  <p:tag name="KSO_WM_DIAGRAM_GROUP_CODE" val="r1-1"/>
  <p:tag name="KSO_WM_UNIT_PRESET_TEXT" val="Supporting text here.&#10;You can use the icon library in iSlide  (www.islide.cc) to filter and replace existing icon elements with one click."/>
  <p:tag name="KSO_WM_UNIT_TEXT_FILL_FORE_SCHEMECOLOR_INDEX" val="14"/>
  <p:tag name="KSO_WM_UNIT_TEXT_FILL_TYPE" val="1"/>
  <p:tag name="KSO_WM_UNIT_USESOURCEFORMAT_APPLY" val="0"/>
</p:tagLst>
</file>

<file path=ppt/tags/tag2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2"/>
  <p:tag name="KSO_WM_UNIT_ID" val="diagram20186259_1*r_i*1_2"/>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LINE_FORE_SCHEMECOLOR_INDEX" val="13"/>
  <p:tag name="KSO_WM_UNIT_LINE_FILL_TYPE" val="2"/>
  <p:tag name="KSO_WM_UNIT_USESOURCEFORMAT_APPLY" val="0"/>
</p:tagLst>
</file>

<file path=ppt/tags/tag2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3"/>
  <p:tag name="KSO_WM_UNIT_ID" val="diagram20186259_1*r_i*1_3"/>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FILL_FORE_SCHEMECOLOR_INDEX" val="7"/>
  <p:tag name="KSO_WM_UNIT_FILL_TYPE" val="1"/>
  <p:tag name="KSO_WM_UNIT_TEXT_FILL_FORE_SCHEMECOLOR_INDEX" val="14"/>
  <p:tag name="KSO_WM_UNIT_TEXT_FILL_TYPE" val="1"/>
  <p:tag name="KSO_WM_UNIT_USESOURCEFORMAT_APPLY" val="0"/>
</p:tagLst>
</file>

<file path=ppt/tags/tag2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v"/>
  <p:tag name="KSO_WM_UNIT_INDEX" val="1_2"/>
  <p:tag name="KSO_WM_UNIT_ID" val="diagram20186259_1*r_v*1_2"/>
  <p:tag name="KSO_WM_UNIT_LAYERLEVEL" val="1_1"/>
  <p:tag name="KSO_WM_UNIT_DIAGRAM_CONTRAST_TITLE_CNT" val="2"/>
  <p:tag name="KSO_WM_UNIT_DIAGRAM_DIMENSION_TITLE_CNT" val="1"/>
  <p:tag name="KSO_WM_UNIT_VALUE" val="75"/>
  <p:tag name="KSO_WM_UNIT_HIGHLIGHT" val="0"/>
  <p:tag name="KSO_WM_UNIT_COMPATIBLE" val="0"/>
  <p:tag name="KSO_WM_UNIT_CLEAR" val="0"/>
  <p:tag name="KSO_WM_BEAUTIFY_FLAG" val="#wm#"/>
  <p:tag name="KSO_WM_TAG_VERSION" val="1.0"/>
  <p:tag name="KSO_WM_DIAGRAM_GROUP_CODE" val="r1-1"/>
  <p:tag name="KSO_WM_UNIT_PRESET_TEXT" val="Supporting text here.&#10;You can use the icon library in iSlide  (www.islide.cc) to filter and replace existing icon elements with one click."/>
  <p:tag name="KSO_WM_UNIT_TEXT_FILL_FORE_SCHEMECOLOR_INDEX" val="14"/>
  <p:tag name="KSO_WM_UNIT_TEXT_FILL_TYPE" val="1"/>
  <p:tag name="KSO_WM_UNIT_USESOURCEFORMAT_APPLY" val="0"/>
</p:tagLst>
</file>

<file path=ppt/tags/tag2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f"/>
  <p:tag name="KSO_WM_UNIT_INDEX" val="1"/>
  <p:tag name="KSO_WM_UNIT_ID" val="diagram20186259_1*f*1"/>
  <p:tag name="KSO_WM_UNIT_LAYERLEVEL" val="1"/>
  <p:tag name="KSO_WM_UNIT_VALUE" val="168"/>
  <p:tag name="KSO_WM_UNIT_HIGHLIGHT" val="0"/>
  <p:tag name="KSO_WM_UNIT_COMPATIBLE" val="0"/>
  <p:tag name="KSO_WM_UNIT_CLEAR" val="0"/>
  <p:tag name="KSO_WM_BEAUTIFY_FLAG" val="#wm#"/>
  <p:tag name="KSO_WM_TAG_VERSION" val="1.0"/>
  <p:tag name="KSO_WM_UNIT_PRESET_TEXT" val="Unified fonts make reading more fluent.&#10;Theme color makes PPT more convenient to change.&#10;Adjust the spacing to adapt to Chinese typesetting, use the reference line in PPT."/>
</p:tagLst>
</file>

<file path=ppt/tags/tag2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4"/>
  <p:tag name="KSO_WM_UNIT_ID" val="diagram20186259_1*r_i*1_4"/>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2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5"/>
  <p:tag name="KSO_WM_UNIT_ID" val="diagram20186259_1*r_i*1_5"/>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2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6"/>
  <p:tag name="KSO_WM_UNIT_ID" val="diagram20186259_1*r_i*1_6"/>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3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7"/>
  <p:tag name="KSO_WM_UNIT_ID" val="diagram20186259_1*r_i*1_7"/>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3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8"/>
  <p:tag name="KSO_WM_UNIT_ID" val="diagram20186259_1*r_i*1_8"/>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3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9"/>
  <p:tag name="KSO_WM_UNIT_ID" val="diagram20186259_1*r_i*1_9"/>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3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10"/>
  <p:tag name="KSO_WM_UNIT_ID" val="diagram20186259_1*r_i*1_10"/>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3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11"/>
  <p:tag name="KSO_WM_UNIT_ID" val="diagram20186259_1*r_i*1_11"/>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3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12"/>
  <p:tag name="KSO_WM_UNIT_ID" val="diagram20186259_1*r_i*1_12"/>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3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13"/>
  <p:tag name="KSO_WM_UNIT_ID" val="diagram20186259_1*r_i*1_13"/>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3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14"/>
  <p:tag name="KSO_WM_UNIT_ID" val="diagram20186259_1*r_i*1_14"/>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3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15"/>
  <p:tag name="KSO_WM_UNIT_ID" val="diagram20186259_1*r_i*1_15"/>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3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16"/>
  <p:tag name="KSO_WM_UNIT_ID" val="diagram20186259_1*r_i*1_16"/>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4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17"/>
  <p:tag name="KSO_WM_UNIT_ID" val="diagram20186259_1*r_i*1_17"/>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4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18"/>
  <p:tag name="KSO_WM_UNIT_ID" val="diagram20186259_1*r_i*1_18"/>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4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19"/>
  <p:tag name="KSO_WM_UNIT_ID" val="diagram20186259_1*r_i*1_19"/>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4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20"/>
  <p:tag name="KSO_WM_UNIT_ID" val="diagram20186259_1*r_i*1_20"/>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4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21"/>
  <p:tag name="KSO_WM_UNIT_ID" val="diagram20186259_1*r_i*1_21"/>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4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22"/>
  <p:tag name="KSO_WM_UNIT_ID" val="diagram20186259_1*r_i*1_22"/>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4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23"/>
  <p:tag name="KSO_WM_UNIT_ID" val="diagram20186259_1*r_i*1_23"/>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4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24"/>
  <p:tag name="KSO_WM_UNIT_ID" val="diagram20186259_1*r_i*1_24"/>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4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25"/>
  <p:tag name="KSO_WM_UNIT_ID" val="diagram20186259_1*r_i*1_25"/>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4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26"/>
  <p:tag name="KSO_WM_UNIT_ID" val="diagram20186259_1*r_i*1_26"/>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5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27"/>
  <p:tag name="KSO_WM_UNIT_ID" val="diagram20186259_1*r_i*1_27"/>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5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28"/>
  <p:tag name="KSO_WM_UNIT_ID" val="diagram20186259_1*r_i*1_28"/>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5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29"/>
  <p:tag name="KSO_WM_UNIT_ID" val="diagram20186259_1*r_i*1_29"/>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5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30"/>
  <p:tag name="KSO_WM_UNIT_ID" val="diagram20186259_1*r_i*1_30"/>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5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31"/>
  <p:tag name="KSO_WM_UNIT_ID" val="diagram20186259_1*r_i*1_31"/>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5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32"/>
  <p:tag name="KSO_WM_UNIT_ID" val="diagram20186259_1*r_i*1_32"/>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5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33"/>
  <p:tag name="KSO_WM_UNIT_ID" val="diagram20186259_1*r_i*1_33"/>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5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34"/>
  <p:tag name="KSO_WM_UNIT_ID" val="diagram20186259_1*r_i*1_34"/>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5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35"/>
  <p:tag name="KSO_WM_UNIT_ID" val="diagram20186259_1*r_i*1_35"/>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5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36"/>
  <p:tag name="KSO_WM_UNIT_ID" val="diagram20186259_1*r_i*1_36"/>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6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37"/>
  <p:tag name="KSO_WM_UNIT_ID" val="diagram20186259_1*r_i*1_37"/>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6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38"/>
  <p:tag name="KSO_WM_UNIT_ID" val="diagram20186259_1*r_i*1_38"/>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6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39"/>
  <p:tag name="KSO_WM_UNIT_ID" val="diagram20186259_1*r_i*1_39"/>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6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40"/>
  <p:tag name="KSO_WM_UNIT_ID" val="diagram20186259_1*r_i*1_40"/>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6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41"/>
  <p:tag name="KSO_WM_UNIT_ID" val="diagram20186259_1*r_i*1_41"/>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6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42"/>
  <p:tag name="KSO_WM_UNIT_ID" val="diagram20186259_1*r_i*1_42"/>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6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43"/>
  <p:tag name="KSO_WM_UNIT_ID" val="diagram20186259_1*r_i*1_43"/>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6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44"/>
  <p:tag name="KSO_WM_UNIT_ID" val="diagram20186259_1*r_i*1_44"/>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6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45"/>
  <p:tag name="KSO_WM_UNIT_ID" val="diagram20186259_1*r_i*1_45"/>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6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46"/>
  <p:tag name="KSO_WM_UNIT_ID" val="diagram20186259_1*r_i*1_46"/>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7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47"/>
  <p:tag name="KSO_WM_UNIT_ID" val="diagram20186259_1*r_i*1_47"/>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7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48"/>
  <p:tag name="KSO_WM_UNIT_ID" val="diagram20186259_1*r_i*1_48"/>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7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49"/>
  <p:tag name="KSO_WM_UNIT_ID" val="diagram20186259_1*r_i*1_49"/>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7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50"/>
  <p:tag name="KSO_WM_UNIT_ID" val="diagram20186259_1*r_i*1_50"/>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7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51"/>
  <p:tag name="KSO_WM_UNIT_ID" val="diagram20186259_1*r_i*1_51"/>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7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52"/>
  <p:tag name="KSO_WM_UNIT_ID" val="diagram20186259_1*r_i*1_52"/>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7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53"/>
  <p:tag name="KSO_WM_UNIT_ID" val="diagram20186259_1*r_i*1_53"/>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7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54"/>
  <p:tag name="KSO_WM_UNIT_ID" val="diagram20186259_1*r_i*1_54"/>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7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55"/>
  <p:tag name="KSO_WM_UNIT_ID" val="diagram20186259_1*r_i*1_55"/>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7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56"/>
  <p:tag name="KSO_WM_UNIT_ID" val="diagram20186259_1*r_i*1_56"/>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8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57"/>
  <p:tag name="KSO_WM_UNIT_ID" val="diagram20186259_1*r_i*1_57"/>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8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58"/>
  <p:tag name="KSO_WM_UNIT_ID" val="diagram20186259_1*r_i*1_58"/>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8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59"/>
  <p:tag name="KSO_WM_UNIT_ID" val="diagram20186259_1*r_i*1_59"/>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8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60"/>
  <p:tag name="KSO_WM_UNIT_ID" val="diagram20186259_1*r_i*1_60"/>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8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61"/>
  <p:tag name="KSO_WM_UNIT_ID" val="diagram20186259_1*r_i*1_61"/>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8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62"/>
  <p:tag name="KSO_WM_UNIT_ID" val="diagram20186259_1*r_i*1_62"/>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8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63"/>
  <p:tag name="KSO_WM_UNIT_ID" val="diagram20186259_1*r_i*1_63"/>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8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64"/>
  <p:tag name="KSO_WM_UNIT_ID" val="diagram20186259_1*r_i*1_64"/>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8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65"/>
  <p:tag name="KSO_WM_UNIT_ID" val="diagram20186259_1*r_i*1_65"/>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8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66"/>
  <p:tag name="KSO_WM_UNIT_ID" val="diagram20186259_1*r_i*1_66"/>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9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67"/>
  <p:tag name="KSO_WM_UNIT_ID" val="diagram20186259_1*r_i*1_67"/>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9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68"/>
  <p:tag name="KSO_WM_UNIT_ID" val="diagram20186259_1*r_i*1_68"/>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9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69"/>
  <p:tag name="KSO_WM_UNIT_ID" val="diagram20186259_1*r_i*1_69"/>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9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70"/>
  <p:tag name="KSO_WM_UNIT_ID" val="diagram20186259_1*r_i*1_70"/>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9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71"/>
  <p:tag name="KSO_WM_UNIT_ID" val="diagram20186259_1*r_i*1_71"/>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9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72"/>
  <p:tag name="KSO_WM_UNIT_ID" val="diagram20186259_1*r_i*1_72"/>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9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73"/>
  <p:tag name="KSO_WM_UNIT_ID" val="diagram20186259_1*r_i*1_73"/>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9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74"/>
  <p:tag name="KSO_WM_UNIT_ID" val="diagram20186259_1*r_i*1_74"/>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9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75"/>
  <p:tag name="KSO_WM_UNIT_ID" val="diagram20186259_1*r_i*1_75"/>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9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76"/>
  <p:tag name="KSO_WM_UNIT_ID" val="diagram20186259_1*r_i*1_76"/>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10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77"/>
  <p:tag name="KSO_WM_UNIT_ID" val="diagram20186259_1*r_i*1_77"/>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10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78"/>
  <p:tag name="KSO_WM_UNIT_ID" val="diagram20186259_1*r_i*1_78"/>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10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79"/>
  <p:tag name="KSO_WM_UNIT_ID" val="diagram20186259_1*r_i*1_79"/>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10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259"/>
  <p:tag name="KSO_WM_UNIT_TYPE" val="r_i"/>
  <p:tag name="KSO_WM_UNIT_INDEX" val="1_80"/>
  <p:tag name="KSO_WM_UNIT_ID" val="diagram20186259_1*r_i*1_80"/>
  <p:tag name="KSO_WM_UNIT_LAYERLEVEL" val="1_1"/>
  <p:tag name="KSO_WM_BEAUTIFY_FLAG" val="#wm#"/>
  <p:tag name="KSO_WM_TAG_VERSION" val="1.0"/>
  <p:tag name="KSO_WM_DIAGRAM_GROUP_CODE" val="r1-1"/>
  <p:tag name="KSO_WM_UNIT_DIAGRAM_CONTRAST_TITLE_CNT" val="2"/>
  <p:tag name="KSO_WM_UNIT_DIAGRAM_DIMENSION_TITLE_CNT" val="1"/>
  <p:tag name="KSO_WM_UNIT_TEXT_FILL_FORE_SCHEMECOLOR_INDEX" val="13"/>
  <p:tag name="KSO_WM_UNIT_TEXT_FILL_TYPE" val="1"/>
  <p:tag name="KSO_WM_UNIT_USESOURCEFORMAT_APPLY" val="0"/>
</p:tagLst>
</file>

<file path=ppt/tags/tag10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238"/>
  <p:tag name="KSO_WM_TAG_VERSION" val="1.0"/>
  <p:tag name="KSO_WM_SLIDE_ID" val="diagram20185482_1"/>
  <p:tag name="KSO_WM_SLIDE_INDEX" val="1"/>
  <p:tag name="KSO_WM_SLIDE_ITEM_CNT" val="2"/>
  <p:tag name="KSO_WM_SLIDE_LAYOUT" val="l"/>
  <p:tag name="KSO_WM_SLIDE_LAYOUT_CNT" val="1"/>
  <p:tag name="KSO_WM_SLIDE_TYPE" val="text"/>
  <p:tag name="KSO_WM_BEAUTIFY_FLAG" val="#wm#"/>
  <p:tag name="KSO_WM_SLIDE_POSITION" val="27*29"/>
  <p:tag name="KSO_WM_SLIDE_SIZE" val="899*485"/>
  <p:tag name="KSO_WM_DIAGRAM_GROUP_CODE" val="l1-1"/>
  <p:tag name="KSO_WM_SLIDE_SUBTYPE" val="diag"/>
</p:tagLst>
</file>

<file path=ppt/tags/tag1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85482_1*i*2"/>
  <p:tag name="KSO_WM_TEMPLATE_CATEGORY" val="diagram"/>
  <p:tag name="KSO_WM_TEMPLATE_INDEX" val="20185482"/>
  <p:tag name="KSO_WM_UNIT_INDEX" val="2"/>
</p:tagLst>
</file>

<file path=ppt/tags/tag10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482"/>
  <p:tag name="KSO_WM_TAG_VERSION" val="1.0"/>
  <p:tag name="KSO_WM_UNIT_TYPE" val="l_h_a"/>
  <p:tag name="KSO_WM_UNIT_INDEX" val="1_1_1"/>
  <p:tag name="KSO_WM_UNIT_ID" val="diagram20185482_1*l_h_a*1_1_1"/>
  <p:tag name="KSO_WM_UNIT_LAYERLEVEL" val="1_1_1"/>
  <p:tag name="KSO_WM_UNIT_VALUE" val="9"/>
  <p:tag name="KSO_WM_UNIT_HIGHLIGHT" val="0"/>
  <p:tag name="KSO_WM_UNIT_COMPATIBLE" val="0"/>
  <p:tag name="KSO_WM_UNIT_CLEAR" val="0"/>
  <p:tag name="KSO_WM_UNIT_PRESET_TEXT_INDEX" val="3"/>
  <p:tag name="KSO_WM_UNIT_PRESET_TEXT_LEN" val="12"/>
  <p:tag name="KSO_WM_BEAUTIFY_FLAG" val="#wm#"/>
  <p:tag name="KSO_WM_DIAGRAM_GROUP_CODE" val="l1-1"/>
  <p:tag name="KSO_WM_UNIT_TEXT_FILL_FORE_SCHEMECOLOR_INDEX" val="13"/>
  <p:tag name="KSO_WM_UNIT_TEXT_FILL_TYPE" val="1"/>
  <p:tag name="KSO_WM_UNIT_USESOURCEFORMAT_APPLY" val="0"/>
</p:tagLst>
</file>

<file path=ppt/tags/tag1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85482_1*i*4"/>
  <p:tag name="KSO_WM_TEMPLATE_CATEGORY" val="diagram"/>
  <p:tag name="KSO_WM_TEMPLATE_INDEX" val="20185482"/>
  <p:tag name="KSO_WM_UNIT_INDEX" val="4"/>
</p:tagLst>
</file>

<file path=ppt/tags/tag10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482"/>
  <p:tag name="KSO_WM_TAG_VERSION" val="1.0"/>
  <p:tag name="KSO_WM_UNIT_TYPE" val="l_h_a"/>
  <p:tag name="KSO_WM_UNIT_INDEX" val="1_2_1"/>
  <p:tag name="KSO_WM_UNIT_ID" val="diagram20185482_1*l_h_a*1_2_1"/>
  <p:tag name="KSO_WM_UNIT_LAYERLEVEL" val="1_1_1"/>
  <p:tag name="KSO_WM_UNIT_VALUE" val="9"/>
  <p:tag name="KSO_WM_UNIT_HIGHLIGHT" val="0"/>
  <p:tag name="KSO_WM_UNIT_COMPATIBLE" val="0"/>
  <p:tag name="KSO_WM_UNIT_CLEAR" val="0"/>
  <p:tag name="KSO_WM_UNIT_PRESET_TEXT_INDEX" val="3"/>
  <p:tag name="KSO_WM_UNIT_PRESET_TEXT_LEN" val="12"/>
  <p:tag name="KSO_WM_BEAUTIFY_FLAG" val="#wm#"/>
  <p:tag name="KSO_WM_DIAGRAM_GROUP_CODE" val="l1-1"/>
  <p:tag name="KSO_WM_UNIT_TEXT_FILL_FORE_SCHEMECOLOR_INDEX" val="13"/>
  <p:tag name="KSO_WM_UNIT_TEXT_FILL_TYPE" val="1"/>
  <p:tag name="KSO_WM_UNIT_USESOURCEFORMAT_APPLY" val="0"/>
</p:tagLst>
</file>

<file path=ppt/tags/tag10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482"/>
  <p:tag name="KSO_WM_TAG_VERSION" val="1.0"/>
  <p:tag name="KSO_WM_UNIT_TYPE" val="l_h_f"/>
  <p:tag name="KSO_WM_UNIT_INDEX" val="1_2_1"/>
  <p:tag name="KSO_WM_UNIT_ID" val="diagram20185482_1*l_h_f*1_2_1"/>
  <p:tag name="KSO_WM_UNIT_LAYERLEVEL" val="1_1_1"/>
  <p:tag name="KSO_WM_UNIT_VALUE" val="54"/>
  <p:tag name="KSO_WM_UNIT_HIGHLIGHT" val="0"/>
  <p:tag name="KSO_WM_UNIT_COMPATIBLE" val="0"/>
  <p:tag name="KSO_WM_UNIT_CLEAR" val="0"/>
  <p:tag name="KSO_WM_UNIT_PRESET_TEXT_INDEX" val="4"/>
  <p:tag name="KSO_WM_UNIT_PRESET_TEXT_LEN" val="114"/>
  <p:tag name="KSO_WM_BEAUTIFY_FLAG" val="#wm#"/>
  <p:tag name="KSO_WM_DIAGRAM_GROUP_CODE" val="l1-1"/>
  <p:tag name="KSO_WM_UNIT_TEXT_FILL_FORE_SCHEMECOLOR_INDEX" val="13"/>
  <p:tag name="KSO_WM_UNIT_TEXT_FILL_TYPE" val="1"/>
  <p:tag name="KSO_WM_UNIT_USESOURCEFORMAT_APPLY" val="0"/>
</p:tagLst>
</file>

<file path=ppt/tags/tag11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5482"/>
  <p:tag name="KSO_WM_TAG_VERSION" val="1.0"/>
  <p:tag name="KSO_WM_UNIT_TYPE" val="l_h_f"/>
  <p:tag name="KSO_WM_UNIT_INDEX" val="1_1_1"/>
  <p:tag name="KSO_WM_UNIT_ID" val="diagram20185482_1*l_h_f*1_1_1"/>
  <p:tag name="KSO_WM_UNIT_LAYERLEVEL" val="1_1_1"/>
  <p:tag name="KSO_WM_UNIT_VALUE" val="54"/>
  <p:tag name="KSO_WM_UNIT_HIGHLIGHT" val="0"/>
  <p:tag name="KSO_WM_UNIT_COMPATIBLE" val="0"/>
  <p:tag name="KSO_WM_UNIT_CLEAR" val="0"/>
  <p:tag name="KSO_WM_UNIT_PRESET_TEXT_INDEX" val="4"/>
  <p:tag name="KSO_WM_UNIT_PRESET_TEXT_LEN" val="114"/>
  <p:tag name="KSO_WM_BEAUTIFY_FLAG" val="#wm#"/>
  <p:tag name="KSO_WM_DIAGRAM_GROUP_CODE" val="l1-1"/>
  <p:tag name="KSO_WM_UNIT_TEXT_FILL_FORE_SCHEMECOLOR_INDEX" val="13"/>
  <p:tag name="KSO_WM_UNIT_TEXT_FILL_TYPE" val="1"/>
  <p:tag name="KSO_WM_UNIT_USESOURCEFORMAT_APPLY" val="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e0wlo3bj">
      <a:majorFont>
        <a:latin typeface="Verdana"/>
        <a:ea typeface="微软雅黑"/>
        <a:cs typeface=""/>
      </a:majorFont>
      <a:minorFont>
        <a:latin typeface="Verdana"/>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主题">
    <a:dk1>
      <a:srgbClr val="000000"/>
    </a:dk1>
    <a:lt1>
      <a:srgbClr val="FFFFFF"/>
    </a:lt1>
    <a:dk2>
      <a:srgbClr val="F7E366"/>
    </a:dk2>
    <a:lt2>
      <a:srgbClr val="E7E6E6"/>
    </a:lt2>
    <a:accent1>
      <a:srgbClr val="FFE463"/>
    </a:accent1>
    <a:accent2>
      <a:srgbClr val="F4E480"/>
    </a:accent2>
    <a:accent3>
      <a:srgbClr val="C9C9C9"/>
    </a:accent3>
    <a:accent4>
      <a:srgbClr val="000000"/>
    </a:accent4>
    <a:accent5>
      <a:srgbClr val="FEC73F"/>
    </a:accent5>
    <a:accent6>
      <a:srgbClr val="FFFFFF"/>
    </a:accent6>
    <a:hlink>
      <a:srgbClr val="0563C1"/>
    </a:hlink>
    <a:folHlink>
      <a:srgbClr val="954F72"/>
    </a:folHlink>
  </a:clrScheme>
</a:themeOverride>
</file>

<file path=ppt/theme/themeOverride2.xml><?xml version="1.0" encoding="utf-8"?>
<a:themeOverride xmlns:a="http://schemas.openxmlformats.org/drawingml/2006/main">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2423</Words>
  <Application>Microsoft Macintosh PowerPoint</Application>
  <PresentationFormat>宽屏</PresentationFormat>
  <Paragraphs>507</Paragraphs>
  <Slides>31</Slides>
  <Notes>31</Notes>
  <HiddenSlides>0</HiddenSlides>
  <MMClips>1</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31</vt:i4>
      </vt:variant>
    </vt:vector>
  </HeadingPairs>
  <TitlesOfParts>
    <vt:vector size="47" baseType="lpstr">
      <vt:lpstr>Calibri</vt:lpstr>
      <vt:lpstr>Gulim</vt:lpstr>
      <vt:lpstr>Impact</vt:lpstr>
      <vt:lpstr>Lato Hairline</vt:lpstr>
      <vt:lpstr>Lato Light</vt:lpstr>
      <vt:lpstr>Lato Regular</vt:lpstr>
      <vt:lpstr>Sinkin Sans 200 X Light</vt:lpstr>
      <vt:lpstr>Sinkin Sans 300 Light</vt:lpstr>
      <vt:lpstr>Sinkin Sans 400 Regular</vt:lpstr>
      <vt:lpstr>Verdana</vt:lpstr>
      <vt:lpstr>Wingdings</vt:lpstr>
      <vt:lpstr>等线</vt:lpstr>
      <vt:lpstr>宋体</vt:lpstr>
      <vt:lpstr>微软雅黑</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15.0036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Microsoft Office 用户</cp:lastModifiedBy>
  <cp:revision>2</cp:revision>
  <dcterms:created xsi:type="dcterms:W3CDTF">2019-05-14T02:22:09Z</dcterms:created>
  <dcterms:modified xsi:type="dcterms:W3CDTF">2020-03-13T12:07:10Z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2052-11.1.0.8612</vt:lpwstr>
  </property>
</Properties>
</file>