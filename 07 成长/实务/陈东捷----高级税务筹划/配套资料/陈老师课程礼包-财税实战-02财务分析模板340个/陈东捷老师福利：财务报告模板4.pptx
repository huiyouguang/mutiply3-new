
<file path=[Content_Types].xml><?xml version="1.0" encoding="utf-8"?>
<Types xmlns="http://schemas.openxmlformats.org/package/2006/content-types">
  <Default Extension="xml" ContentType="application/xml"/>
  <Default Extension="doc" ContentType="application/msword"/>
  <Default Extension="jpeg" ContentType="image/jpeg"/>
  <Default Extension="mp3" ContentType="audio/mpeg"/>
  <Default Extension="emf" ContentType="image/x-emf"/>
  <Default Extension="xlsx" ContentType="application/vnd.openxmlformats-officedocument.spreadsheetml.sheet"/>
  <Default Extension="rels" ContentType="application/vnd.openxmlformats-package.relationships+xml"/>
  <Default Extension="vml" ContentType="application/vnd.openxmlformats-officedocument.vmlDrawing"/>
  <Default Extension="png" ContentType="image/png"/>
  <Default Extension="bin" ContentType="application/vnd.openxmlformats-officedocument.oleObjec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9.xml" ContentType="application/vnd.openxmlformats-officedocument.drawingml.chart+xml"/>
  <Override PartName="/ppt/notesSlides/notesSlide26.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notesSlides/notesSlide27.xml" ContentType="application/vnd.openxmlformats-officedocument.presentationml.notesSlide+xml"/>
  <Override PartName="/ppt/tags/tag6.xml" ContentType="application/vnd.openxmlformats-officedocument.presentationml.tags+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0"/>
  </p:notesMasterIdLst>
  <p:sldIdLst>
    <p:sldId id="256" r:id="rId2"/>
    <p:sldId id="258" r:id="rId3"/>
    <p:sldId id="259" r:id="rId4"/>
    <p:sldId id="264" r:id="rId5"/>
    <p:sldId id="265" r:id="rId6"/>
    <p:sldId id="266" r:id="rId7"/>
    <p:sldId id="267" r:id="rId8"/>
    <p:sldId id="260" r:id="rId9"/>
    <p:sldId id="268" r:id="rId10"/>
    <p:sldId id="269" r:id="rId11"/>
    <p:sldId id="270" r:id="rId12"/>
    <p:sldId id="271" r:id="rId13"/>
    <p:sldId id="261" r:id="rId14"/>
    <p:sldId id="272" r:id="rId15"/>
    <p:sldId id="273" r:id="rId16"/>
    <p:sldId id="274" r:id="rId17"/>
    <p:sldId id="279" r:id="rId18"/>
    <p:sldId id="280" r:id="rId19"/>
    <p:sldId id="281" r:id="rId20"/>
    <p:sldId id="262" r:id="rId21"/>
    <p:sldId id="283" r:id="rId22"/>
    <p:sldId id="284" r:id="rId23"/>
    <p:sldId id="282" r:id="rId24"/>
    <p:sldId id="285" r:id="rId25"/>
    <p:sldId id="286" r:id="rId26"/>
    <p:sldId id="287" r:id="rId27"/>
    <p:sldId id="288" r:id="rId28"/>
    <p:sldId id="289"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BD5"/>
    <a:srgbClr val="CE3418"/>
    <a:srgbClr val="A5A5A5"/>
    <a:srgbClr val="FEFEFE"/>
    <a:srgbClr val="FCFCFC"/>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47" autoAdjust="0"/>
    <p:restoredTop sz="94660"/>
  </p:normalViewPr>
  <p:slideViewPr>
    <p:cSldViewPr snapToGrid="0">
      <p:cViewPr varScale="1">
        <p:scale>
          <a:sx n="113" d="100"/>
          <a:sy n="113" d="100"/>
        </p:scale>
        <p:origin x="7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heme" Target="theme/theme1.xml"/><Relationship Id="rId3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1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ofPieChart>
        <c:ofPieType val="bar"/>
        <c:varyColors val="1"/>
        <c:ser>
          <c:idx val="0"/>
          <c:order val="0"/>
          <c:dPt>
            <c:idx val="0"/>
            <c:bubble3D val="0"/>
            <c:spPr>
              <a:solidFill>
                <a:schemeClr val="accent1"/>
              </a:solidFill>
              <a:ln w="19050">
                <a:solidFill>
                  <a:schemeClr val="lt1"/>
                </a:solidFill>
              </a:ln>
              <a:effectLst/>
            </c:spPr>
          </c:dPt>
          <c:dPt>
            <c:idx val="1"/>
            <c:bubble3D val="0"/>
            <c:spPr>
              <a:solidFill>
                <a:srgbClr val="CE3418"/>
              </a:solidFill>
              <a:ln w="19050">
                <a:solidFill>
                  <a:schemeClr val="lt1"/>
                </a:solidFill>
              </a:ln>
              <a:effectLst/>
            </c:spPr>
          </c:dPt>
          <c:dPt>
            <c:idx val="2"/>
            <c:bubble3D val="0"/>
            <c:spPr>
              <a:solidFill>
                <a:srgbClr val="CE3418"/>
              </a:solidFill>
              <a:ln w="19050">
                <a:solidFill>
                  <a:schemeClr val="lt1"/>
                </a:solidFill>
              </a:ln>
              <a:effectLst/>
            </c:spPr>
          </c:dPt>
          <c:dPt>
            <c:idx val="3"/>
            <c:bubble3D val="0"/>
            <c:spPr>
              <a:solidFill>
                <a:schemeClr val="accent3"/>
              </a:solidFill>
              <a:ln w="19050">
                <a:solidFill>
                  <a:schemeClr val="lt1"/>
                </a:solidFill>
              </a:ln>
              <a:effectLst/>
            </c:spPr>
          </c:dPt>
          <c:dPt>
            <c:idx val="4"/>
            <c:bubble3D val="0"/>
            <c:spPr>
              <a:solidFill>
                <a:schemeClr val="accent3"/>
              </a:solidFill>
              <a:ln w="19050">
                <a:solidFill>
                  <a:schemeClr val="lt1"/>
                </a:solidFill>
              </a:ln>
              <a:effectLst/>
            </c:spPr>
          </c:dPt>
          <c:val>
            <c:numRef>
              <c:f>Sheet1!$B$2:$B$5</c:f>
              <c:numCache>
                <c:formatCode>General</c:formatCode>
                <c:ptCount val="4"/>
                <c:pt idx="0">
                  <c:v>8.2</c:v>
                </c:pt>
                <c:pt idx="1">
                  <c:v>3.2</c:v>
                </c:pt>
                <c:pt idx="2">
                  <c:v>1.4</c:v>
                </c:pt>
                <c:pt idx="3">
                  <c:v>1.2</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1st Qtr</c:v>
                      </c:pt>
                      <c:pt idx="1">
                        <c:v>2nd Qtr</c:v>
                      </c:pt>
                      <c:pt idx="2">
                        <c:v>3rd Qtr</c:v>
                      </c:pt>
                      <c:pt idx="3">
                        <c:v>4th Qtr</c:v>
                      </c:pt>
                    </c:strCache>
                  </c:strRef>
                </c15:cat>
              </c15:filteredCategoryTitle>
            </c:ext>
          </c:extLst>
        </c:ser>
        <c:dLbls>
          <c:showLegendKey val="0"/>
          <c:showVal val="0"/>
          <c:showCatName val="0"/>
          <c:showSerName val="0"/>
          <c:showPercent val="0"/>
          <c:showBubbleSize val="0"/>
          <c:showLeaderLines val="1"/>
        </c:dLbls>
        <c:gapWidth val="100"/>
        <c:secondPieSize val="75"/>
        <c:serLines>
          <c:spPr>
            <a:ln w="9525" cap="flat" cmpd="sng" algn="ctr">
              <a:solidFill>
                <a:schemeClr val="tx1">
                  <a:lumMod val="35000"/>
                  <a:lumOff val="65000"/>
                </a:schemeClr>
              </a:solidFill>
              <a:prstDash val="solid"/>
              <a:round/>
            </a:ln>
            <a:effectLst/>
          </c:spPr>
        </c:serLines>
      </c:ofPieChart>
      <c:spPr>
        <a:noFill/>
        <a:ln>
          <a:noFill/>
        </a:ln>
        <a:effectLst/>
      </c:spPr>
    </c:plotArea>
    <c:plotVisOnly val="1"/>
    <c:dispBlanksAs val="zero"/>
    <c:showDLblsOverMax val="0"/>
  </c:chart>
  <c:spPr>
    <a:noFill/>
    <a:ln>
      <a:noFill/>
    </a:ln>
    <a:effectLst/>
  </c:spPr>
  <c:txPr>
    <a:bodyPr/>
    <a:lstStyle/>
    <a:p>
      <a:pPr>
        <a:defRPr lang="zh-CN">
          <a:latin typeface="Arial" panose="020B0604020202020204" pitchFamily="34" charset="0"/>
          <a:ea typeface="微软雅黑" panose="020B0503020204020204" pitchFamily="34" charset="-122"/>
          <a:cs typeface="+mn-ea"/>
          <a:sym typeface="Arial" panose="020B0604020202020204" pitchFamily="34" charset="0"/>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dPt>
            <c:idx val="0"/>
            <c:bubble3D val="0"/>
            <c:spPr>
              <a:solidFill>
                <a:schemeClr val="accent1"/>
              </a:solidFill>
              <a:ln w="19050">
                <a:solidFill>
                  <a:schemeClr val="lt1"/>
                </a:solidFill>
              </a:ln>
              <a:effectLst/>
            </c:spPr>
          </c:dPt>
          <c:dPt>
            <c:idx val="1"/>
            <c:bubble3D val="0"/>
            <c:explosion val="22"/>
            <c:spPr>
              <a:solidFill>
                <a:srgbClr val="CE3418"/>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rgbClr val="CE3418"/>
              </a:solidFill>
              <a:ln w="19050">
                <a:solidFill>
                  <a:schemeClr val="lt1"/>
                </a:solidFill>
              </a:ln>
              <a:effectLst/>
            </c:spPr>
          </c:dPt>
          <c:val>
            <c:numRef>
              <c:f>Sheet1!$B$2:$B$5</c:f>
              <c:numCache>
                <c:formatCode>General</c:formatCode>
                <c:ptCount val="4"/>
                <c:pt idx="0">
                  <c:v>8.2</c:v>
                </c:pt>
                <c:pt idx="1">
                  <c:v>3.2</c:v>
                </c:pt>
                <c:pt idx="2">
                  <c:v>1.4</c:v>
                </c:pt>
                <c:pt idx="3">
                  <c:v>1.2</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销售额</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第一季度</c:v>
                      </c:pt>
                      <c:pt idx="1">
                        <c:v>第二季度</c:v>
                      </c:pt>
                      <c:pt idx="2">
                        <c:v>第三季度</c:v>
                      </c:pt>
                      <c:pt idx="3">
                        <c:v>第四季度</c:v>
                      </c:pt>
                    </c:strCache>
                  </c:strRef>
                </c15:cat>
              </c15:filteredCategoryTitl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spPr>
            <a:solidFill>
              <a:schemeClr val="accent1"/>
            </a:solidFill>
            <a:ln>
              <a:noFill/>
            </a:ln>
            <a:effectLst/>
          </c:spPr>
          <c:invertIfNegative val="0"/>
          <c:val>
            <c:numRef>
              <c:f>Sheet1!$B$2:$B$5</c:f>
              <c:numCache>
                <c:formatCode>General</c:formatCode>
                <c:ptCount val="4"/>
                <c:pt idx="0">
                  <c:v>4.3</c:v>
                </c:pt>
                <c:pt idx="1">
                  <c:v>2.5</c:v>
                </c:pt>
                <c:pt idx="2">
                  <c:v>3.5</c:v>
                </c:pt>
                <c:pt idx="3">
                  <c:v>4.5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Lst>
        </c:ser>
        <c:ser>
          <c:idx val="1"/>
          <c:order val="1"/>
          <c:spPr>
            <a:solidFill>
              <a:srgbClr val="CE3418"/>
            </a:solidFill>
            <a:ln>
              <a:noFill/>
            </a:ln>
            <a:effectLst/>
          </c:spPr>
          <c:invertIfNegative val="0"/>
          <c:val>
            <c:numRef>
              <c:f>Sheet1!$C$2:$C$5</c:f>
              <c:numCache>
                <c:formatCode>General</c:formatCode>
                <c:ptCount val="4"/>
                <c:pt idx="0">
                  <c:v>2.4</c:v>
                </c:pt>
                <c:pt idx="1">
                  <c:v>4.4</c:v>
                </c:pt>
                <c:pt idx="2">
                  <c:v>1.8</c:v>
                </c:pt>
                <c:pt idx="3">
                  <c:v>2.8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Lst>
        </c:ser>
        <c:ser>
          <c:idx val="2"/>
          <c:order val="2"/>
          <c:spPr>
            <a:solidFill>
              <a:schemeClr val="accent3"/>
            </a:solidFill>
            <a:ln>
              <a:noFill/>
            </a:ln>
            <a:effectLst/>
          </c:spPr>
          <c:invertIfNegative val="0"/>
          <c:val>
            <c:numRef>
              <c:f>Sheet1!$D$2:$D$5</c:f>
              <c:numCache>
                <c:formatCode>General</c:formatCode>
                <c:ptCount val="4"/>
                <c:pt idx="0">
                  <c:v>2.0</c:v>
                </c:pt>
                <c:pt idx="1">
                  <c:v>2.0</c:v>
                </c:pt>
                <c:pt idx="2">
                  <c:v>3.0</c:v>
                </c:pt>
                <c:pt idx="3">
                  <c:v>5.0</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3</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Lst>
        </c:ser>
        <c:ser>
          <c:idx val="3"/>
          <c:order val="3"/>
          <c:spPr>
            <a:solidFill>
              <a:schemeClr val="bg1">
                <a:lumMod val="95000"/>
              </a:schemeClr>
            </a:solidFill>
            <a:ln>
              <a:noFill/>
            </a:ln>
            <a:effectLst/>
          </c:spPr>
          <c:invertIfNegative val="0"/>
          <c:val>
            <c:numRef>
              <c:f>Sheet1!$E$2:$E$5</c:f>
              <c:numCache>
                <c:formatCode>General</c:formatCode>
                <c:ptCount val="4"/>
                <c:pt idx="0">
                  <c:v>1.0</c:v>
                </c:pt>
                <c:pt idx="1">
                  <c:v>3.0</c:v>
                </c:pt>
                <c:pt idx="2">
                  <c:v>2.0</c:v>
                </c:pt>
                <c:pt idx="3">
                  <c:v>1.5</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Series 4</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Category 1</c:v>
                      </c:pt>
                      <c:pt idx="1">
                        <c:v>Category 2</c:v>
                      </c:pt>
                      <c:pt idx="2">
                        <c:v>Category 3</c:v>
                      </c:pt>
                      <c:pt idx="3">
                        <c:v>Category 4</c:v>
                      </c:pt>
                    </c:strCache>
                  </c:strRef>
                </c15:cat>
              </c15:filteredCategoryTitle>
            </c:ext>
          </c:extLst>
        </c:ser>
        <c:dLbls>
          <c:showLegendKey val="0"/>
          <c:showVal val="0"/>
          <c:showCatName val="0"/>
          <c:showSerName val="0"/>
          <c:showPercent val="0"/>
          <c:showBubbleSize val="0"/>
        </c:dLbls>
        <c:gapWidth val="150"/>
        <c:overlap val="100"/>
        <c:axId val="-2096097152"/>
        <c:axId val="-2096094864"/>
      </c:barChart>
      <c:catAx>
        <c:axId val="-209609715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094864"/>
        <c:crosses val="autoZero"/>
        <c:auto val="1"/>
        <c:lblAlgn val="ctr"/>
        <c:lblOffset val="100"/>
        <c:noMultiLvlLbl val="0"/>
      </c:catAx>
      <c:valAx>
        <c:axId val="-2096094864"/>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097152"/>
        <c:crosses val="autoZero"/>
        <c:crossBetween val="between"/>
      </c:valAx>
      <c:spPr>
        <a:noFill/>
        <a:ln>
          <a:noFill/>
        </a:ln>
        <a:effectLst/>
      </c:spPr>
    </c:plotArea>
    <c:plotVisOnly val="1"/>
    <c:dispBlanksAs val="gap"/>
    <c:showDLblsOverMax val="0"/>
  </c:chart>
  <c:spPr>
    <a:noFill/>
    <a:ln>
      <a:noFill/>
    </a:ln>
    <a:effectLst/>
  </c:spPr>
  <c:txPr>
    <a:bodyPr/>
    <a:lstStyle/>
    <a:p>
      <a:pPr>
        <a:defRPr 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37194764872758"/>
          <c:y val="0.0314969873255627"/>
          <c:w val="0.943854683316203"/>
          <c:h val="0.863093095091555"/>
        </c:manualLayout>
      </c:layout>
      <c:barChart>
        <c:barDir val="col"/>
        <c:grouping val="clustered"/>
        <c:varyColors val="0"/>
        <c:ser>
          <c:idx val="0"/>
          <c:order val="0"/>
          <c:spPr>
            <a:solidFill>
              <a:schemeClr val="accent1">
                <a:lumMod val="60000"/>
                <a:lumOff val="40000"/>
              </a:schemeClr>
            </a:solidFill>
            <a:ln>
              <a:noFill/>
            </a:ln>
            <a:effectLst/>
          </c:spPr>
          <c:invertIfNegative val="0"/>
          <c:val>
            <c:numRef>
              <c:f>Sheet1!$B$2</c:f>
              <c:numCache>
                <c:formatCode>General</c:formatCode>
                <c:ptCount val="1"/>
                <c:pt idx="0">
                  <c:v>1.0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Type A</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1"/>
          <c:order val="1"/>
          <c:spPr>
            <a:solidFill>
              <a:schemeClr val="accent1"/>
            </a:solidFill>
            <a:ln>
              <a:noFill/>
            </a:ln>
            <a:effectLst/>
          </c:spPr>
          <c:invertIfNegative val="0"/>
          <c:val>
            <c:numRef>
              <c:f>Sheet1!$C$2</c:f>
              <c:numCache>
                <c:formatCode>General</c:formatCode>
                <c:ptCount val="1"/>
                <c:pt idx="0">
                  <c:v>1.5</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Type B</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2"/>
          <c:order val="2"/>
          <c:spPr>
            <a:solidFill>
              <a:schemeClr val="accent1">
                <a:lumMod val="75000"/>
              </a:schemeClr>
            </a:solidFill>
          </c:spPr>
          <c:invertIfNegative val="0"/>
          <c:val>
            <c:numRef>
              <c:f>Sheet1!$D$2</c:f>
              <c:numCache>
                <c:formatCode>General</c:formatCode>
                <c:ptCount val="1"/>
                <c:pt idx="0">
                  <c:v>2.0</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Column1</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3"/>
          <c:order val="3"/>
          <c:spPr>
            <a:solidFill>
              <a:schemeClr val="accent1">
                <a:lumMod val="50000"/>
              </a:schemeClr>
            </a:solidFill>
          </c:spPr>
          <c:invertIfNegative val="0"/>
          <c:val>
            <c:numRef>
              <c:f>Sheet1!$E$2</c:f>
              <c:numCache>
                <c:formatCode>General</c:formatCode>
                <c:ptCount val="1"/>
                <c:pt idx="0">
                  <c:v>3.0</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Column2</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dLbls>
          <c:showLegendKey val="0"/>
          <c:showVal val="0"/>
          <c:showCatName val="0"/>
          <c:showSerName val="0"/>
          <c:showPercent val="0"/>
          <c:showBubbleSize val="0"/>
        </c:dLbls>
        <c:gapWidth val="50"/>
        <c:axId val="-2096640320"/>
        <c:axId val="-2096531472"/>
      </c:barChart>
      <c:catAx>
        <c:axId val="-2096640320"/>
        <c:scaling>
          <c:orientation val="minMax"/>
        </c:scaling>
        <c:delete val="0"/>
        <c:axPos val="b"/>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531472"/>
        <c:crossesAt val="0.0"/>
        <c:auto val="1"/>
        <c:lblAlgn val="ctr"/>
        <c:lblOffset val="100"/>
        <c:noMultiLvlLbl val="0"/>
      </c:catAx>
      <c:valAx>
        <c:axId val="-2096531472"/>
        <c:scaling>
          <c:orientation val="minMax"/>
          <c:max val="5.0"/>
        </c:scaling>
        <c:delete val="0"/>
        <c:axPos val="l"/>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640320"/>
        <c:crosses val="autoZero"/>
        <c:crossBetween val="between"/>
        <c:majorUnit val="1.0"/>
      </c:valAx>
      <c:spPr>
        <a:noFill/>
        <a:ln>
          <a:noFill/>
        </a:ln>
        <a:effectLst/>
      </c:spPr>
    </c:plotArea>
    <c:plotVisOnly val="1"/>
    <c:dispBlanksAs val="gap"/>
    <c:showDLblsOverMax val="0"/>
  </c:chart>
  <c:spPr>
    <a:noFill/>
    <a:ln>
      <a:noFill/>
    </a:ln>
    <a:effectLst/>
  </c:spPr>
  <c:txPr>
    <a:bodyPr/>
    <a:lstStyle/>
    <a:p>
      <a:pPr>
        <a:defRPr 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37194764872758"/>
          <c:y val="0.0314969873255627"/>
          <c:w val="0.943854683316203"/>
          <c:h val="0.863093095091555"/>
        </c:manualLayout>
      </c:layout>
      <c:barChart>
        <c:barDir val="col"/>
        <c:grouping val="clustered"/>
        <c:varyColors val="0"/>
        <c:ser>
          <c:idx val="0"/>
          <c:order val="0"/>
          <c:spPr>
            <a:solidFill>
              <a:schemeClr val="accent2">
                <a:lumMod val="60000"/>
                <a:lumOff val="40000"/>
              </a:schemeClr>
            </a:solidFill>
            <a:ln>
              <a:noFill/>
            </a:ln>
            <a:effectLst/>
          </c:spPr>
          <c:invertIfNegative val="0"/>
          <c:dPt>
            <c:idx val="0"/>
            <c:invertIfNegative val="0"/>
            <c:bubble3D val="0"/>
          </c:dPt>
          <c:val>
            <c:numRef>
              <c:f>Sheet1!$B$2</c:f>
              <c:numCache>
                <c:formatCode>General</c:formatCode>
                <c:ptCount val="1"/>
                <c:pt idx="0">
                  <c:v>0.3</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Type A</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1"/>
          <c:order val="1"/>
          <c:spPr>
            <a:solidFill>
              <a:srgbClr val="FF0000"/>
            </a:solidFill>
            <a:ln>
              <a:noFill/>
            </a:ln>
            <a:effectLst/>
          </c:spPr>
          <c:invertIfNegative val="0"/>
          <c:val>
            <c:numRef>
              <c:f>Sheet1!$C$2</c:f>
              <c:numCache>
                <c:formatCode>General</c:formatCode>
                <c:ptCount val="1"/>
                <c:pt idx="0">
                  <c:v>1.2</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Type B</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2"/>
          <c:order val="2"/>
          <c:spPr>
            <a:solidFill>
              <a:srgbClr val="C00000"/>
            </a:solidFill>
          </c:spPr>
          <c:invertIfNegative val="0"/>
          <c:val>
            <c:numRef>
              <c:f>Sheet1!$D$2</c:f>
              <c:numCache>
                <c:formatCode>General</c:formatCode>
                <c:ptCount val="1"/>
                <c:pt idx="0">
                  <c:v>1.0</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Column1</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3"/>
          <c:order val="3"/>
          <c:spPr>
            <a:solidFill>
              <a:srgbClr val="C00000"/>
            </a:solidFill>
          </c:spPr>
          <c:invertIfNegative val="0"/>
          <c:val>
            <c:numRef>
              <c:f>Sheet1!$E$2</c:f>
              <c:numCache>
                <c:formatCode>General</c:formatCode>
                <c:ptCount val="1"/>
                <c:pt idx="0">
                  <c:v>1.6</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Column2</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dLbls>
          <c:showLegendKey val="0"/>
          <c:showVal val="0"/>
          <c:showCatName val="0"/>
          <c:showSerName val="0"/>
          <c:showPercent val="0"/>
          <c:showBubbleSize val="0"/>
        </c:dLbls>
        <c:gapWidth val="50"/>
        <c:axId val="-2093092640"/>
        <c:axId val="-2093089808"/>
      </c:barChart>
      <c:catAx>
        <c:axId val="-2093092640"/>
        <c:scaling>
          <c:orientation val="minMax"/>
        </c:scaling>
        <c:delete val="0"/>
        <c:axPos val="b"/>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3089808"/>
        <c:crossesAt val="0.0"/>
        <c:auto val="1"/>
        <c:lblAlgn val="ctr"/>
        <c:lblOffset val="100"/>
        <c:noMultiLvlLbl val="0"/>
      </c:catAx>
      <c:valAx>
        <c:axId val="-2093089808"/>
        <c:scaling>
          <c:orientation val="minMax"/>
          <c:max val="5.0"/>
        </c:scaling>
        <c:delete val="0"/>
        <c:axPos val="l"/>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3092640"/>
        <c:crosses val="autoZero"/>
        <c:crossBetween val="between"/>
        <c:majorUnit val="1.0"/>
      </c:valAx>
      <c:spPr>
        <a:noFill/>
        <a:ln>
          <a:noFill/>
        </a:ln>
        <a:effectLst/>
      </c:spPr>
    </c:plotArea>
    <c:plotVisOnly val="1"/>
    <c:dispBlanksAs val="gap"/>
    <c:showDLblsOverMax val="0"/>
  </c:chart>
  <c:spPr>
    <a:noFill/>
    <a:ln>
      <a:noFill/>
    </a:ln>
    <a:effectLst/>
  </c:spPr>
  <c:txPr>
    <a:bodyPr/>
    <a:lstStyle/>
    <a:p>
      <a:pPr>
        <a:defRPr 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371949136570312"/>
          <c:y val="0.0"/>
          <c:w val="0.943854683316203"/>
          <c:h val="0.863093095091555"/>
        </c:manualLayout>
      </c:layout>
      <c:barChart>
        <c:barDir val="col"/>
        <c:grouping val="clustered"/>
        <c:varyColors val="0"/>
        <c:ser>
          <c:idx val="0"/>
          <c:order val="0"/>
          <c:spPr>
            <a:solidFill>
              <a:schemeClr val="bg1">
                <a:lumMod val="75000"/>
              </a:schemeClr>
            </a:solidFill>
            <a:ln>
              <a:noFill/>
            </a:ln>
            <a:effectLst/>
          </c:spPr>
          <c:invertIfNegative val="0"/>
          <c:dPt>
            <c:idx val="0"/>
            <c:invertIfNegative val="0"/>
            <c:bubble3D val="0"/>
            <c:spPr>
              <a:solidFill>
                <a:schemeClr val="accent3">
                  <a:lumMod val="60000"/>
                  <a:lumOff val="40000"/>
                </a:schemeClr>
              </a:solidFill>
              <a:ln>
                <a:noFill/>
              </a:ln>
              <a:effectLst/>
            </c:spPr>
          </c:dPt>
          <c:val>
            <c:numRef>
              <c:f>Sheet1!$B$2</c:f>
              <c:numCache>
                <c:formatCode>General</c:formatCode>
                <c:ptCount val="1"/>
                <c:pt idx="0">
                  <c:v>5.0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Type A</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1"/>
          <c:order val="1"/>
          <c:spPr>
            <a:solidFill>
              <a:schemeClr val="accent3"/>
            </a:solidFill>
            <a:ln>
              <a:noFill/>
            </a:ln>
            <a:effectLst/>
          </c:spPr>
          <c:invertIfNegative val="0"/>
          <c:val>
            <c:numRef>
              <c:f>Sheet1!$C$2</c:f>
              <c:numCache>
                <c:formatCode>General</c:formatCode>
                <c:ptCount val="1"/>
                <c:pt idx="0">
                  <c:v>2.6</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Type B</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2"/>
          <c:order val="2"/>
          <c:spPr>
            <a:solidFill>
              <a:schemeClr val="accent3">
                <a:lumMod val="75000"/>
              </a:schemeClr>
            </a:solidFill>
          </c:spPr>
          <c:invertIfNegative val="0"/>
          <c:val>
            <c:numRef>
              <c:f>Sheet1!$D$2</c:f>
              <c:numCache>
                <c:formatCode>General</c:formatCode>
                <c:ptCount val="1"/>
                <c:pt idx="0">
                  <c:v>3.5</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Column1</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3"/>
          <c:order val="3"/>
          <c:spPr>
            <a:solidFill>
              <a:schemeClr val="accent3">
                <a:lumMod val="50000"/>
              </a:schemeClr>
            </a:solidFill>
          </c:spPr>
          <c:invertIfNegative val="0"/>
          <c:val>
            <c:numRef>
              <c:f>Sheet1!$E$2</c:f>
              <c:numCache>
                <c:formatCode>General</c:formatCode>
                <c:ptCount val="1"/>
                <c:pt idx="0">
                  <c:v>1.8</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Column2</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dLbls>
          <c:showLegendKey val="0"/>
          <c:showVal val="0"/>
          <c:showCatName val="0"/>
          <c:showSerName val="0"/>
          <c:showPercent val="0"/>
          <c:showBubbleSize val="0"/>
        </c:dLbls>
        <c:gapWidth val="50"/>
        <c:axId val="-2096944160"/>
        <c:axId val="-2096941872"/>
      </c:barChart>
      <c:catAx>
        <c:axId val="-2096944160"/>
        <c:scaling>
          <c:orientation val="minMax"/>
        </c:scaling>
        <c:delete val="0"/>
        <c:axPos val="b"/>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941872"/>
        <c:crossesAt val="0.0"/>
        <c:auto val="1"/>
        <c:lblAlgn val="ctr"/>
        <c:lblOffset val="100"/>
        <c:noMultiLvlLbl val="0"/>
      </c:catAx>
      <c:valAx>
        <c:axId val="-2096941872"/>
        <c:scaling>
          <c:orientation val="minMax"/>
          <c:max val="5.0"/>
        </c:scaling>
        <c:delete val="0"/>
        <c:axPos val="l"/>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944160"/>
        <c:crosses val="autoZero"/>
        <c:crossBetween val="between"/>
        <c:majorUnit val="1.0"/>
      </c:valAx>
      <c:spPr>
        <a:noFill/>
        <a:ln>
          <a:noFill/>
        </a:ln>
        <a:effectLst/>
      </c:spPr>
    </c:plotArea>
    <c:plotVisOnly val="1"/>
    <c:dispBlanksAs val="gap"/>
    <c:showDLblsOverMax val="0"/>
  </c:chart>
  <c:spPr>
    <a:noFill/>
    <a:ln>
      <a:noFill/>
    </a:ln>
    <a:effectLst/>
  </c:spPr>
  <c:txPr>
    <a:bodyPr/>
    <a:lstStyle/>
    <a:p>
      <a:pPr>
        <a:defRPr 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37194764872758"/>
          <c:y val="0.0314969873255627"/>
          <c:w val="0.943854683316203"/>
          <c:h val="0.863093095091555"/>
        </c:manualLayout>
      </c:layout>
      <c:barChart>
        <c:barDir val="col"/>
        <c:grouping val="clustered"/>
        <c:varyColors val="0"/>
        <c:ser>
          <c:idx val="0"/>
          <c:order val="0"/>
          <c:spPr>
            <a:solidFill>
              <a:schemeClr val="accent2">
                <a:lumMod val="60000"/>
                <a:lumOff val="40000"/>
              </a:schemeClr>
            </a:solidFill>
            <a:ln>
              <a:noFill/>
            </a:ln>
            <a:effectLst/>
          </c:spPr>
          <c:invertIfNegative val="0"/>
          <c:dPt>
            <c:idx val="0"/>
            <c:invertIfNegative val="0"/>
            <c:bubble3D val="0"/>
          </c:dPt>
          <c:val>
            <c:numRef>
              <c:f>Sheet1!$B$2</c:f>
              <c:numCache>
                <c:formatCode>General</c:formatCode>
                <c:ptCount val="1"/>
                <c:pt idx="0">
                  <c:v>1.2</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Type A</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1"/>
          <c:order val="1"/>
          <c:spPr>
            <a:solidFill>
              <a:srgbClr val="FF0000"/>
            </a:solidFill>
            <a:ln>
              <a:noFill/>
            </a:ln>
            <a:effectLst/>
          </c:spPr>
          <c:invertIfNegative val="0"/>
          <c:val>
            <c:numRef>
              <c:f>Sheet1!$C$2</c:f>
              <c:numCache>
                <c:formatCode>General</c:formatCode>
                <c:ptCount val="1"/>
                <c:pt idx="0">
                  <c:v>2.5</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Type B</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2"/>
          <c:order val="2"/>
          <c:spPr>
            <a:solidFill>
              <a:srgbClr val="CE3418"/>
            </a:solidFill>
          </c:spPr>
          <c:invertIfNegative val="0"/>
          <c:val>
            <c:numRef>
              <c:f>Sheet1!$D$2</c:f>
              <c:numCache>
                <c:formatCode>General</c:formatCode>
                <c:ptCount val="1"/>
                <c:pt idx="0">
                  <c:v>4.0</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Column1</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3"/>
          <c:order val="3"/>
          <c:spPr>
            <a:solidFill>
              <a:srgbClr val="C00000"/>
            </a:solidFill>
          </c:spPr>
          <c:invertIfNegative val="0"/>
          <c:val>
            <c:numRef>
              <c:f>Sheet1!$E$2</c:f>
              <c:numCache>
                <c:formatCode>General</c:formatCode>
                <c:ptCount val="1"/>
                <c:pt idx="0">
                  <c:v>0.700000000000001</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Column2</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dLbls>
          <c:showLegendKey val="0"/>
          <c:showVal val="0"/>
          <c:showCatName val="0"/>
          <c:showSerName val="0"/>
          <c:showPercent val="0"/>
          <c:showBubbleSize val="0"/>
        </c:dLbls>
        <c:gapWidth val="50"/>
        <c:axId val="-2096064320"/>
        <c:axId val="-2096061488"/>
      </c:barChart>
      <c:catAx>
        <c:axId val="-2096064320"/>
        <c:scaling>
          <c:orientation val="minMax"/>
        </c:scaling>
        <c:delete val="0"/>
        <c:axPos val="b"/>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061488"/>
        <c:crossesAt val="0.0"/>
        <c:auto val="1"/>
        <c:lblAlgn val="ctr"/>
        <c:lblOffset val="100"/>
        <c:noMultiLvlLbl val="0"/>
      </c:catAx>
      <c:valAx>
        <c:axId val="-2096061488"/>
        <c:scaling>
          <c:orientation val="minMax"/>
          <c:max val="5.0"/>
        </c:scaling>
        <c:delete val="0"/>
        <c:axPos val="l"/>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6064320"/>
        <c:crosses val="autoZero"/>
        <c:crossBetween val="between"/>
        <c:majorUnit val="1.0"/>
      </c:valAx>
      <c:spPr>
        <a:noFill/>
        <a:ln>
          <a:noFill/>
        </a:ln>
        <a:effectLst/>
      </c:spPr>
    </c:plotArea>
    <c:plotVisOnly val="1"/>
    <c:dispBlanksAs val="gap"/>
    <c:showDLblsOverMax val="0"/>
  </c:chart>
  <c:spPr>
    <a:noFill/>
    <a:ln>
      <a:noFill/>
    </a:ln>
    <a:effectLst/>
  </c:spPr>
  <c:txPr>
    <a:bodyPr/>
    <a:lstStyle/>
    <a:p>
      <a:pPr>
        <a:defRPr 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37194764872758"/>
          <c:y val="0.0314969873255627"/>
          <c:w val="0.943854683316203"/>
          <c:h val="0.863093095091555"/>
        </c:manualLayout>
      </c:layout>
      <c:barChart>
        <c:barDir val="col"/>
        <c:grouping val="clustered"/>
        <c:varyColors val="0"/>
        <c:ser>
          <c:idx val="0"/>
          <c:order val="0"/>
          <c:spPr>
            <a:solidFill>
              <a:srgbClr val="53B441"/>
            </a:solidFill>
            <a:ln>
              <a:noFill/>
            </a:ln>
            <a:effectLst/>
          </c:spPr>
          <c:invertIfNegative val="0"/>
          <c:dPt>
            <c:idx val="0"/>
            <c:invertIfNegative val="0"/>
            <c:bubble3D val="0"/>
            <c:spPr>
              <a:solidFill>
                <a:schemeClr val="accent5">
                  <a:lumMod val="60000"/>
                  <a:lumOff val="40000"/>
                </a:schemeClr>
              </a:solidFill>
              <a:ln>
                <a:noFill/>
              </a:ln>
              <a:effectLst/>
            </c:spPr>
          </c:dPt>
          <c:val>
            <c:numRef>
              <c:f>Sheet1!$B$2</c:f>
              <c:numCache>
                <c:formatCode>General</c:formatCode>
                <c:ptCount val="1"/>
                <c:pt idx="0">
                  <c:v>2.8</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Type A</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1"/>
          <c:order val="1"/>
          <c:spPr>
            <a:solidFill>
              <a:schemeClr val="accent5"/>
            </a:solidFill>
            <a:ln>
              <a:noFill/>
            </a:ln>
            <a:effectLst/>
          </c:spPr>
          <c:invertIfNegative val="0"/>
          <c:val>
            <c:numRef>
              <c:f>Sheet1!$C$2</c:f>
              <c:numCache>
                <c:formatCode>General</c:formatCode>
                <c:ptCount val="1"/>
                <c:pt idx="0">
                  <c:v>0.600000000000001</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Type B</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2"/>
          <c:order val="2"/>
          <c:spPr>
            <a:solidFill>
              <a:schemeClr val="accent5">
                <a:lumMod val="75000"/>
              </a:schemeClr>
            </a:solidFill>
          </c:spPr>
          <c:invertIfNegative val="0"/>
          <c:val>
            <c:numRef>
              <c:f>Sheet1!$D$2</c:f>
              <c:numCache>
                <c:formatCode>General</c:formatCode>
                <c:ptCount val="1"/>
                <c:pt idx="0">
                  <c:v>1.0</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Column1</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ser>
          <c:idx val="3"/>
          <c:order val="3"/>
          <c:spPr>
            <a:solidFill>
              <a:schemeClr val="accent5">
                <a:lumMod val="50000"/>
              </a:schemeClr>
            </a:solidFill>
          </c:spPr>
          <c:invertIfNegative val="0"/>
          <c:val>
            <c:numRef>
              <c:f>Sheet1!$E$2</c:f>
              <c:numCache>
                <c:formatCode>General</c:formatCode>
                <c:ptCount val="1"/>
                <c:pt idx="0">
                  <c:v>0.9</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Column2</c:v>
                      </c:pt>
                    </c:strCache>
                  </c:strRef>
                </c15:tx>
              </c15:filteredSeriesTitle>
            </c:ext>
            <c:ext xmlns:c15="http://schemas.microsoft.com/office/drawing/2012/chart" uri="{02D57815-91ED-43cb-92C2-25804820EDAC}">
              <c15:filteredCategoryTitle>
                <c15:cat>
                  <c:numRef>
                    <c:extLst>
                      <c:ext uri="{02D57815-91ED-43cb-92C2-25804820EDAC}">
                        <c15:formulaRef>
                          <c15:sqref>Sheet1!$A$2</c15:sqref>
                        </c15:formulaRef>
                      </c:ext>
                    </c:extLst>
                    <c:numCache>
                      <c:formatCode>General</c:formatCode>
                      <c:ptCount val="1"/>
                      <c:pt idx="0">
                        <c:v>2010.0</c:v>
                      </c:pt>
                    </c:numCache>
                  </c:numRef>
                </c15:cat>
              </c15:filteredCategoryTitle>
            </c:ext>
          </c:extLst>
        </c:ser>
        <c:dLbls>
          <c:showLegendKey val="0"/>
          <c:showVal val="0"/>
          <c:showCatName val="0"/>
          <c:showSerName val="0"/>
          <c:showPercent val="0"/>
          <c:showBubbleSize val="0"/>
        </c:dLbls>
        <c:gapWidth val="50"/>
        <c:axId val="-2093056800"/>
        <c:axId val="-2093053968"/>
      </c:barChart>
      <c:catAx>
        <c:axId val="-2093056800"/>
        <c:scaling>
          <c:orientation val="minMax"/>
        </c:scaling>
        <c:delete val="0"/>
        <c:axPos val="b"/>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3053968"/>
        <c:crossesAt val="0.0"/>
        <c:auto val="1"/>
        <c:lblAlgn val="ctr"/>
        <c:lblOffset val="100"/>
        <c:noMultiLvlLbl val="0"/>
      </c:catAx>
      <c:valAx>
        <c:axId val="-2093053968"/>
        <c:scaling>
          <c:orientation val="minMax"/>
          <c:max val="5.0"/>
        </c:scaling>
        <c:delete val="0"/>
        <c:axPos val="l"/>
        <c:numFmt formatCode="General"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bg1">
                    <a:lumMod val="65000"/>
                  </a:schemeClr>
                </a:solidFill>
                <a:latin typeface="Arial" panose="020B0604020202020204" pitchFamily="34" charset="0"/>
                <a:ea typeface="微软雅黑" panose="020B0503020204020204" pitchFamily="34" charset="-122"/>
                <a:cs typeface="+mn-cs"/>
                <a:sym typeface="Arial" panose="020B0604020202020204" pitchFamily="34" charset="0"/>
              </a:defRPr>
            </a:pPr>
            <a:endParaRPr lang="zh-CN"/>
          </a:p>
        </c:txPr>
        <c:crossAx val="-2093056800"/>
        <c:crosses val="autoZero"/>
        <c:crossBetween val="between"/>
        <c:majorUnit val="1.0"/>
      </c:valAx>
      <c:spPr>
        <a:noFill/>
        <a:ln>
          <a:noFill/>
        </a:ln>
        <a:effectLst/>
      </c:spPr>
    </c:plotArea>
    <c:plotVisOnly val="1"/>
    <c:dispBlanksAs val="gap"/>
    <c:showDLblsOverMax val="0"/>
  </c:chart>
  <c:spPr>
    <a:noFill/>
    <a:ln>
      <a:noFill/>
    </a:ln>
    <a:effectLst/>
  </c:spPr>
  <c:txPr>
    <a:bodyPr/>
    <a:lstStyle/>
    <a:p>
      <a:pPr>
        <a:defRPr lang="zh-CN" sz="140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defRPr>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spPr>
            <a:solidFill>
              <a:schemeClr val="accent1"/>
            </a:solidFill>
          </c:spPr>
          <c:val>
            <c:numRef>
              <c:f>Sheet1!$B$2:$B$6</c:f>
              <c:numCache>
                <c:formatCode>General</c:formatCode>
                <c:ptCount val="5"/>
                <c:pt idx="0">
                  <c:v>28.0</c:v>
                </c:pt>
                <c:pt idx="1">
                  <c:v>30.0</c:v>
                </c:pt>
                <c:pt idx="2">
                  <c:v>25.0</c:v>
                </c:pt>
                <c:pt idx="3">
                  <c:v>30.0</c:v>
                </c:pt>
                <c:pt idx="4">
                  <c:v>32.0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v>37261.0</c:v>
                      </c:pt>
                      <c:pt idx="1">
                        <c:v>37262.0</c:v>
                      </c:pt>
                      <c:pt idx="2">
                        <c:v>37263.0</c:v>
                      </c:pt>
                      <c:pt idx="3">
                        <c:v>37264.0</c:v>
                      </c:pt>
                      <c:pt idx="4">
                        <c:v>37265.0</c:v>
                      </c:pt>
                    </c:numCache>
                  </c:numRef>
                </c15:cat>
              </c15:filteredCategoryTitle>
            </c:ext>
          </c:extLst>
        </c:ser>
        <c:ser>
          <c:idx val="1"/>
          <c:order val="1"/>
          <c:spPr>
            <a:solidFill>
              <a:srgbClr val="CE3418"/>
            </a:solidFill>
          </c:spPr>
          <c:val>
            <c:numRef>
              <c:f>Sheet1!$C$2:$C$6</c:f>
              <c:numCache>
                <c:formatCode>General</c:formatCode>
                <c:ptCount val="5"/>
                <c:pt idx="0">
                  <c:v>22.0</c:v>
                </c:pt>
                <c:pt idx="1">
                  <c:v>18.0</c:v>
                </c:pt>
                <c:pt idx="2">
                  <c:v>20.0</c:v>
                </c:pt>
                <c:pt idx="3">
                  <c:v>21.0</c:v>
                </c:pt>
                <c:pt idx="4">
                  <c:v>28.0</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v>37261.0</c:v>
                      </c:pt>
                      <c:pt idx="1">
                        <c:v>37262.0</c:v>
                      </c:pt>
                      <c:pt idx="2">
                        <c:v>37263.0</c:v>
                      </c:pt>
                      <c:pt idx="3">
                        <c:v>37264.0</c:v>
                      </c:pt>
                      <c:pt idx="4">
                        <c:v>37265.0</c:v>
                      </c:pt>
                    </c:numCache>
                  </c:numRef>
                </c15:cat>
              </c15:filteredCategoryTitle>
            </c:ext>
          </c:extLst>
        </c:ser>
        <c:ser>
          <c:idx val="2"/>
          <c:order val="2"/>
          <c:spPr>
            <a:solidFill>
              <a:schemeClr val="accent3"/>
            </a:solidFill>
            <a:ln w="25400">
              <a:noFill/>
            </a:ln>
          </c:spPr>
          <c:val>
            <c:numRef>
              <c:f>Sheet1!$D$2:$D$6</c:f>
              <c:numCache>
                <c:formatCode>General</c:formatCode>
                <c:ptCount val="5"/>
                <c:pt idx="0">
                  <c:v>15.0</c:v>
                </c:pt>
                <c:pt idx="1">
                  <c:v>15.0</c:v>
                </c:pt>
                <c:pt idx="2">
                  <c:v>15.0</c:v>
                </c:pt>
                <c:pt idx="3">
                  <c:v>19.0</c:v>
                </c:pt>
                <c:pt idx="4">
                  <c:v>18.0</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12</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v>37261.0</c:v>
                      </c:pt>
                      <c:pt idx="1">
                        <c:v>37262.0</c:v>
                      </c:pt>
                      <c:pt idx="2">
                        <c:v>37263.0</c:v>
                      </c:pt>
                      <c:pt idx="3">
                        <c:v>37264.0</c:v>
                      </c:pt>
                      <c:pt idx="4">
                        <c:v>37265.0</c:v>
                      </c:pt>
                    </c:numCache>
                  </c:numRef>
                </c15:cat>
              </c15:filteredCategoryTitle>
            </c:ext>
          </c:extLst>
        </c:ser>
        <c:ser>
          <c:idx val="3"/>
          <c:order val="3"/>
          <c:spPr>
            <a:solidFill>
              <a:srgbClr val="5B9BD5"/>
            </a:solidFill>
            <a:ln w="25400">
              <a:noFill/>
            </a:ln>
          </c:spPr>
          <c:val>
            <c:numRef>
              <c:f>Sheet1!$E$2:$E$6</c:f>
              <c:numCache>
                <c:formatCode>General</c:formatCode>
                <c:ptCount val="5"/>
                <c:pt idx="0">
                  <c:v>20.0</c:v>
                </c:pt>
                <c:pt idx="1">
                  <c:v>12.0</c:v>
                </c:pt>
                <c:pt idx="2">
                  <c:v>12.0</c:v>
                </c:pt>
                <c:pt idx="3">
                  <c:v>9.0</c:v>
                </c:pt>
                <c:pt idx="4">
                  <c:v>11.0</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Series 23</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v>37261.0</c:v>
                      </c:pt>
                      <c:pt idx="1">
                        <c:v>37262.0</c:v>
                      </c:pt>
                      <c:pt idx="2">
                        <c:v>37263.0</c:v>
                      </c:pt>
                      <c:pt idx="3">
                        <c:v>37264.0</c:v>
                      </c:pt>
                      <c:pt idx="4">
                        <c:v>37265.0</c:v>
                      </c:pt>
                    </c:numCache>
                  </c:numRef>
                </c15:cat>
              </c15:filteredCategoryTitle>
            </c:ext>
          </c:extLst>
        </c:ser>
        <c:dLbls>
          <c:showLegendKey val="0"/>
          <c:showVal val="0"/>
          <c:showCatName val="0"/>
          <c:showSerName val="0"/>
          <c:showPercent val="0"/>
          <c:showBubbleSize val="0"/>
        </c:dLbls>
        <c:axId val="-2093015360"/>
        <c:axId val="-2093012528"/>
      </c:areaChart>
      <c:catAx>
        <c:axId val="-2093015360"/>
        <c:scaling>
          <c:orientation val="minMax"/>
        </c:scaling>
        <c:delete val="1"/>
        <c:axPos val="b"/>
        <c:numFmt formatCode="yyyy/m/d" sourceLinked="1"/>
        <c:majorTickMark val="out"/>
        <c:minorTickMark val="none"/>
        <c:tickLblPos val="none"/>
        <c:crossAx val="-2093012528"/>
        <c:crosses val="autoZero"/>
        <c:auto val="1"/>
        <c:lblAlgn val="ctr"/>
        <c:lblOffset val="100"/>
        <c:noMultiLvlLbl val="1"/>
      </c:catAx>
      <c:valAx>
        <c:axId val="-2093012528"/>
        <c:scaling>
          <c:orientation val="minMax"/>
        </c:scaling>
        <c:delete val="1"/>
        <c:axPos val="l"/>
        <c:numFmt formatCode="General" sourceLinked="1"/>
        <c:majorTickMark val="out"/>
        <c:minorTickMark val="none"/>
        <c:tickLblPos val="none"/>
        <c:crossAx val="-2093015360"/>
        <c:crosses val="autoZero"/>
        <c:crossBetween val="midCat"/>
      </c:valAx>
    </c:plotArea>
    <c:plotVisOnly val="1"/>
    <c:dispBlanksAs val="zero"/>
    <c:showDLblsOverMax val="0"/>
  </c:chart>
  <c:txPr>
    <a:bodyPr/>
    <a:lstStyle/>
    <a:p>
      <a:pPr>
        <a:defRPr lang="zh-CN" sz="1800">
          <a:latin typeface="Arial" panose="020B0604020202020204" pitchFamily="34" charset="0"/>
          <a:ea typeface="微软雅黑" panose="020B0503020204020204" pitchFamily="34" charset="-122"/>
          <a:cs typeface="+mn-ea"/>
          <a:sym typeface="Arial" panose="020B0604020202020204" pitchFamily="34" charset="0"/>
        </a:defRPr>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bg1">
                <a:lumMod val="85000"/>
              </a:schemeClr>
            </a:solidFill>
            <a:ln>
              <a:solidFill>
                <a:schemeClr val="bg1"/>
              </a:solidFill>
            </a:ln>
          </c:spPr>
          <c:dPt>
            <c:idx val="0"/>
            <c:bubble3D val="0"/>
            <c:spPr>
              <a:solidFill>
                <a:schemeClr val="accent1"/>
              </a:solidFill>
              <a:ln>
                <a:solidFill>
                  <a:schemeClr val="bg1"/>
                </a:solidFill>
              </a:ln>
            </c:spPr>
          </c:dPt>
          <c:dPt>
            <c:idx val="1"/>
            <c:bubble3D val="0"/>
            <c:spPr>
              <a:solidFill>
                <a:schemeClr val="accent1"/>
              </a:solidFill>
              <a:ln>
                <a:solidFill>
                  <a:schemeClr val="bg1"/>
                </a:solidFill>
              </a:ln>
            </c:spPr>
          </c:dPt>
          <c:dPt>
            <c:idx val="2"/>
            <c:bubble3D val="0"/>
            <c:spPr>
              <a:solidFill>
                <a:schemeClr val="accent1"/>
              </a:solidFill>
              <a:ln>
                <a:solidFill>
                  <a:schemeClr val="bg1"/>
                </a:solidFill>
              </a:ln>
            </c:spPr>
          </c:dPt>
          <c:dPt>
            <c:idx val="3"/>
            <c:bubble3D val="0"/>
            <c:spPr>
              <a:solidFill>
                <a:schemeClr val="accent1"/>
              </a:solidFill>
              <a:ln>
                <a:solidFill>
                  <a:schemeClr val="bg1"/>
                </a:solidFill>
              </a:ln>
            </c:spPr>
          </c:dPt>
          <c:dPt>
            <c:idx val="4"/>
            <c:bubble3D val="0"/>
            <c:spPr>
              <a:solidFill>
                <a:schemeClr val="accent1"/>
              </a:solidFill>
              <a:ln>
                <a:solidFill>
                  <a:schemeClr val="bg1"/>
                </a:solidFill>
              </a:ln>
            </c:spPr>
          </c:dPt>
          <c:dPt>
            <c:idx val="5"/>
            <c:bubble3D val="0"/>
          </c:dPt>
          <c:dPt>
            <c:idx val="6"/>
            <c:bubble3D val="0"/>
          </c:dPt>
          <c:dPt>
            <c:idx val="7"/>
            <c:bubble3D val="0"/>
          </c:dPt>
          <c:dPt>
            <c:idx val="8"/>
            <c:bubble3D val="0"/>
          </c:dPt>
          <c:dPt>
            <c:idx val="9"/>
            <c:bubble3D val="0"/>
          </c:dPt>
          <c:val>
            <c:numRef>
              <c:f>Sheet1!$B$2:$B$11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Sheet1!$A$2:$A$11</c15:sqref>
                        </c15:formulaRef>
                      </c:ext>
                    </c:extLst>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15:cat>
              </c15:filteredCategoryTitle>
            </c:ext>
          </c:extLst>
        </c:ser>
        <c:dLbls>
          <c:showLegendKey val="0"/>
          <c:showVal val="0"/>
          <c:showCatName val="0"/>
          <c:showSerName val="0"/>
          <c:showPercent val="0"/>
          <c:showBubbleSize val="0"/>
          <c:showLeaderLines val="1"/>
        </c:dLbls>
        <c:firstSliceAng val="0"/>
        <c:holeSize val="80"/>
      </c:doughnutChart>
    </c:plotArea>
    <c:plotVisOnly val="1"/>
    <c:dispBlanksAs val="zero"/>
    <c:showDLblsOverMax val="0"/>
  </c:chart>
  <c:spPr>
    <a:ln>
      <a:noFill/>
    </a:ln>
  </c:spPr>
  <c:txPr>
    <a:bodyPr/>
    <a:lstStyle/>
    <a:p>
      <a:pPr>
        <a:defRPr lang="zh-CN" sz="1800" baseline="-25000">
          <a:latin typeface="Arial" panose="020B0604020202020204" pitchFamily="34" charset="0"/>
          <a:ea typeface="微软雅黑" panose="020B0503020204020204" pitchFamily="34" charset="-122"/>
          <a:cs typeface="+mn-ea"/>
          <a:sym typeface="Arial" panose="020B0604020202020204" pitchFamily="34" charset="0"/>
        </a:defRPr>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bg1">
                <a:lumMod val="85000"/>
              </a:schemeClr>
            </a:solidFill>
            <a:ln>
              <a:solidFill>
                <a:schemeClr val="bg1"/>
              </a:solidFill>
            </a:ln>
          </c:spPr>
          <c:dPt>
            <c:idx val="0"/>
            <c:bubble3D val="0"/>
            <c:spPr>
              <a:solidFill>
                <a:srgbClr val="CE3418"/>
              </a:solidFill>
              <a:ln>
                <a:solidFill>
                  <a:schemeClr val="bg1"/>
                </a:solidFill>
              </a:ln>
            </c:spPr>
          </c:dPt>
          <c:dPt>
            <c:idx val="1"/>
            <c:bubble3D val="0"/>
            <c:spPr>
              <a:solidFill>
                <a:srgbClr val="CE3418"/>
              </a:solidFill>
              <a:ln>
                <a:solidFill>
                  <a:schemeClr val="bg1"/>
                </a:solidFill>
              </a:ln>
            </c:spPr>
          </c:dPt>
          <c:dPt>
            <c:idx val="2"/>
            <c:bubble3D val="0"/>
            <c:spPr>
              <a:solidFill>
                <a:srgbClr val="CE3418"/>
              </a:solidFill>
              <a:ln>
                <a:solidFill>
                  <a:schemeClr val="bg1"/>
                </a:solidFill>
              </a:ln>
            </c:spPr>
          </c:dPt>
          <c:dPt>
            <c:idx val="3"/>
            <c:bubble3D val="0"/>
            <c:spPr>
              <a:solidFill>
                <a:srgbClr val="CE3418"/>
              </a:solidFill>
              <a:ln>
                <a:solidFill>
                  <a:schemeClr val="bg1"/>
                </a:solidFill>
              </a:ln>
            </c:spPr>
          </c:dPt>
          <c:dPt>
            <c:idx val="4"/>
            <c:bubble3D val="0"/>
            <c:spPr>
              <a:solidFill>
                <a:srgbClr val="CE3418"/>
              </a:solidFill>
              <a:ln>
                <a:solidFill>
                  <a:schemeClr val="bg1"/>
                </a:solidFill>
              </a:ln>
            </c:spPr>
          </c:dPt>
          <c:dPt>
            <c:idx val="5"/>
            <c:bubble3D val="0"/>
            <c:spPr>
              <a:solidFill>
                <a:srgbClr val="CE3418"/>
              </a:solidFill>
              <a:ln>
                <a:solidFill>
                  <a:schemeClr val="bg1"/>
                </a:solidFill>
              </a:ln>
            </c:spPr>
          </c:dPt>
          <c:dPt>
            <c:idx val="6"/>
            <c:bubble3D val="0"/>
            <c:spPr>
              <a:solidFill>
                <a:srgbClr val="CE3418"/>
              </a:solidFill>
              <a:ln>
                <a:solidFill>
                  <a:schemeClr val="bg1"/>
                </a:solidFill>
              </a:ln>
            </c:spPr>
          </c:dPt>
          <c:dPt>
            <c:idx val="7"/>
            <c:bubble3D val="0"/>
          </c:dPt>
          <c:dPt>
            <c:idx val="8"/>
            <c:bubble3D val="0"/>
          </c:dPt>
          <c:dPt>
            <c:idx val="9"/>
            <c:bubble3D val="0"/>
          </c:dPt>
          <c:val>
            <c:numRef>
              <c:f>Sheet1!$B$2:$B$11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Sheet1!$A$2:$A$11</c15:sqref>
                        </c15:formulaRef>
                      </c:ext>
                    </c:extLst>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15:cat>
              </c15:filteredCategoryTitle>
            </c:ext>
          </c:extLst>
        </c:ser>
        <c:dLbls>
          <c:showLegendKey val="0"/>
          <c:showVal val="0"/>
          <c:showCatName val="0"/>
          <c:showSerName val="0"/>
          <c:showPercent val="0"/>
          <c:showBubbleSize val="0"/>
          <c:showLeaderLines val="1"/>
        </c:dLbls>
        <c:firstSliceAng val="0"/>
        <c:holeSize val="80"/>
      </c:doughnutChart>
    </c:plotArea>
    <c:plotVisOnly val="1"/>
    <c:dispBlanksAs val="zero"/>
    <c:showDLblsOverMax val="0"/>
  </c:chart>
  <c:spPr>
    <a:ln>
      <a:noFill/>
    </a:ln>
  </c:spPr>
  <c:txPr>
    <a:bodyPr/>
    <a:lstStyle/>
    <a:p>
      <a:pPr>
        <a:defRPr lang="zh-CN" sz="1800" baseline="-25000">
          <a:latin typeface="Arial" panose="020B0604020202020204" pitchFamily="34" charset="0"/>
          <a:ea typeface="微软雅黑" panose="020B0503020204020204" pitchFamily="34" charset="-122"/>
          <a:cs typeface="+mn-ea"/>
          <a:sym typeface="Arial" panose="020B0604020202020204" pitchFamily="34" charset="0"/>
        </a:defRPr>
      </a:pPr>
      <a:endParaRPr lang="zh-CN"/>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bg1">
                <a:lumMod val="85000"/>
              </a:schemeClr>
            </a:solidFill>
            <a:ln>
              <a:solidFill>
                <a:schemeClr val="bg1"/>
              </a:solidFill>
            </a:ln>
          </c:spPr>
          <c:dPt>
            <c:idx val="0"/>
            <c:bubble3D val="0"/>
            <c:spPr>
              <a:solidFill>
                <a:schemeClr val="accent3"/>
              </a:solidFill>
              <a:ln>
                <a:solidFill>
                  <a:schemeClr val="bg1"/>
                </a:solidFill>
              </a:ln>
            </c:spPr>
          </c:dPt>
          <c:dPt>
            <c:idx val="1"/>
            <c:bubble3D val="0"/>
            <c:spPr>
              <a:solidFill>
                <a:schemeClr val="accent3"/>
              </a:solidFill>
              <a:ln>
                <a:solidFill>
                  <a:schemeClr val="bg1"/>
                </a:solidFill>
              </a:ln>
            </c:spPr>
          </c:dPt>
          <c:dPt>
            <c:idx val="2"/>
            <c:bubble3D val="0"/>
            <c:spPr>
              <a:solidFill>
                <a:schemeClr val="accent3"/>
              </a:solidFill>
              <a:ln>
                <a:solidFill>
                  <a:schemeClr val="bg1"/>
                </a:solidFill>
              </a:ln>
            </c:spPr>
          </c:dPt>
          <c:dPt>
            <c:idx val="3"/>
            <c:bubble3D val="0"/>
            <c:spPr>
              <a:solidFill>
                <a:schemeClr val="accent3"/>
              </a:solidFill>
              <a:ln>
                <a:solidFill>
                  <a:schemeClr val="bg1"/>
                </a:solidFill>
              </a:ln>
            </c:spPr>
          </c:dPt>
          <c:dPt>
            <c:idx val="4"/>
            <c:bubble3D val="0"/>
            <c:spPr>
              <a:solidFill>
                <a:schemeClr val="accent3"/>
              </a:solidFill>
              <a:ln>
                <a:solidFill>
                  <a:schemeClr val="bg1"/>
                </a:solidFill>
              </a:ln>
            </c:spPr>
          </c:dPt>
          <c:dPt>
            <c:idx val="5"/>
            <c:bubble3D val="0"/>
            <c:spPr>
              <a:solidFill>
                <a:schemeClr val="accent3"/>
              </a:solidFill>
              <a:ln>
                <a:solidFill>
                  <a:schemeClr val="bg1"/>
                </a:solidFill>
              </a:ln>
            </c:spPr>
          </c:dPt>
          <c:dPt>
            <c:idx val="6"/>
            <c:bubble3D val="0"/>
            <c:spPr>
              <a:solidFill>
                <a:schemeClr val="accent3"/>
              </a:solidFill>
              <a:ln>
                <a:solidFill>
                  <a:schemeClr val="bg1"/>
                </a:solidFill>
              </a:ln>
            </c:spPr>
          </c:dPt>
          <c:dPt>
            <c:idx val="7"/>
            <c:bubble3D val="0"/>
            <c:spPr>
              <a:solidFill>
                <a:schemeClr val="accent3"/>
              </a:solidFill>
              <a:ln>
                <a:solidFill>
                  <a:schemeClr val="bg1"/>
                </a:solidFill>
              </a:ln>
            </c:spPr>
          </c:dPt>
          <c:dPt>
            <c:idx val="8"/>
            <c:bubble3D val="0"/>
          </c:dPt>
          <c:dPt>
            <c:idx val="9"/>
            <c:bubble3D val="0"/>
          </c:dPt>
          <c:val>
            <c:numRef>
              <c:f>Sheet1!$B$2:$B$11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Sheet1!$A$2:$A$11</c15:sqref>
                        </c15:formulaRef>
                      </c:ext>
                    </c:extLst>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15:cat>
              </c15:filteredCategoryTitle>
            </c:ext>
          </c:extLst>
        </c:ser>
        <c:dLbls>
          <c:showLegendKey val="0"/>
          <c:showVal val="0"/>
          <c:showCatName val="0"/>
          <c:showSerName val="0"/>
          <c:showPercent val="0"/>
          <c:showBubbleSize val="0"/>
          <c:showLeaderLines val="1"/>
        </c:dLbls>
        <c:firstSliceAng val="0"/>
        <c:holeSize val="80"/>
      </c:doughnutChart>
    </c:plotArea>
    <c:plotVisOnly val="1"/>
    <c:dispBlanksAs val="zero"/>
    <c:showDLblsOverMax val="0"/>
  </c:chart>
  <c:spPr>
    <a:ln>
      <a:noFill/>
    </a:ln>
  </c:spPr>
  <c:txPr>
    <a:bodyPr/>
    <a:lstStyle/>
    <a:p>
      <a:pPr>
        <a:defRPr lang="zh-CN" sz="1800" baseline="-25000">
          <a:latin typeface="Arial" panose="020B0604020202020204" pitchFamily="34" charset="0"/>
          <a:ea typeface="微软雅黑" panose="020B0503020204020204" pitchFamily="34" charset="-122"/>
          <a:cs typeface="+mn-ea"/>
          <a:sym typeface="Arial" panose="020B0604020202020204" pitchFamily="34" charset="0"/>
        </a:defRPr>
      </a:pPr>
      <a:endParaRPr lang="zh-CN"/>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solidFill>
              <a:schemeClr val="bg1">
                <a:lumMod val="85000"/>
              </a:schemeClr>
            </a:solidFill>
            <a:ln>
              <a:solidFill>
                <a:schemeClr val="bg1"/>
              </a:solidFill>
            </a:ln>
          </c:spPr>
          <c:dPt>
            <c:idx val="0"/>
            <c:bubble3D val="0"/>
          </c:dPt>
          <c:dPt>
            <c:idx val="1"/>
            <c:bubble3D val="0"/>
            <c:spPr>
              <a:solidFill>
                <a:srgbClr val="5B9BD5"/>
              </a:solidFill>
              <a:ln>
                <a:solidFill>
                  <a:schemeClr val="bg1"/>
                </a:solidFill>
              </a:ln>
            </c:spPr>
          </c:dPt>
          <c:dPt>
            <c:idx val="2"/>
            <c:bubble3D val="0"/>
            <c:spPr>
              <a:solidFill>
                <a:srgbClr val="5B9BD5"/>
              </a:solidFill>
              <a:ln>
                <a:solidFill>
                  <a:schemeClr val="bg1"/>
                </a:solidFill>
              </a:ln>
            </c:spPr>
          </c:dPt>
          <c:dPt>
            <c:idx val="3"/>
            <c:bubble3D val="0"/>
            <c:spPr>
              <a:solidFill>
                <a:srgbClr val="5B9BD5"/>
              </a:solidFill>
              <a:ln>
                <a:solidFill>
                  <a:schemeClr val="bg1"/>
                </a:solidFill>
              </a:ln>
            </c:spPr>
          </c:dPt>
          <c:dPt>
            <c:idx val="4"/>
            <c:bubble3D val="0"/>
            <c:spPr>
              <a:solidFill>
                <a:srgbClr val="5B9BD5"/>
              </a:solidFill>
              <a:ln>
                <a:solidFill>
                  <a:schemeClr val="bg1"/>
                </a:solidFill>
              </a:ln>
            </c:spPr>
          </c:dPt>
          <c:dPt>
            <c:idx val="5"/>
            <c:bubble3D val="0"/>
          </c:dPt>
          <c:dPt>
            <c:idx val="6"/>
            <c:bubble3D val="0"/>
          </c:dPt>
          <c:dPt>
            <c:idx val="7"/>
            <c:bubble3D val="0"/>
          </c:dPt>
          <c:dPt>
            <c:idx val="8"/>
            <c:bubble3D val="0"/>
          </c:dPt>
          <c:dPt>
            <c:idx val="9"/>
            <c:bubble3D val="0"/>
          </c:dPt>
          <c:val>
            <c:numRef>
              <c:f>Sheet1!$B$2:$B$11</c:f>
              <c:numCache>
                <c:formatCode>General</c:formatCode>
                <c:ptCount val="10"/>
                <c:pt idx="0">
                  <c:v>10.0</c:v>
                </c:pt>
                <c:pt idx="1">
                  <c:v>10.0</c:v>
                </c:pt>
                <c:pt idx="2">
                  <c:v>10.0</c:v>
                </c:pt>
                <c:pt idx="3">
                  <c:v>10.0</c:v>
                </c:pt>
                <c:pt idx="4">
                  <c:v>10.0</c:v>
                </c:pt>
                <c:pt idx="5">
                  <c:v>10.0</c:v>
                </c:pt>
                <c:pt idx="6">
                  <c:v>10.0</c:v>
                </c:pt>
                <c:pt idx="7">
                  <c:v>10.0</c:v>
                </c:pt>
                <c:pt idx="8">
                  <c:v>10.0</c:v>
                </c:pt>
                <c:pt idx="9">
                  <c:v>10.0</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Sheet1!$A$2:$A$11</c15:sqref>
                        </c15:formulaRef>
                      </c:ext>
                    </c:extLst>
                    <c:strCache>
                      <c:ptCount val="10"/>
                      <c:pt idx="0">
                        <c:v>1st Qtr</c:v>
                      </c:pt>
                      <c:pt idx="1">
                        <c:v>2nd Qtr</c:v>
                      </c:pt>
                      <c:pt idx="2">
                        <c:v>1st Qtr</c:v>
                      </c:pt>
                      <c:pt idx="3">
                        <c:v>1st Qtr</c:v>
                      </c:pt>
                      <c:pt idx="4">
                        <c:v>1st Qtr</c:v>
                      </c:pt>
                      <c:pt idx="5">
                        <c:v>1st Qtr</c:v>
                      </c:pt>
                      <c:pt idx="6">
                        <c:v>1st Qtr</c:v>
                      </c:pt>
                      <c:pt idx="7">
                        <c:v>1st Qtr</c:v>
                      </c:pt>
                      <c:pt idx="8">
                        <c:v>1st Qtr</c:v>
                      </c:pt>
                      <c:pt idx="9">
                        <c:v>1st Qtr</c:v>
                      </c:pt>
                    </c:strCache>
                  </c:strRef>
                </c15:cat>
              </c15:filteredCategoryTitle>
            </c:ext>
          </c:extLst>
        </c:ser>
        <c:dLbls>
          <c:showLegendKey val="0"/>
          <c:showVal val="0"/>
          <c:showCatName val="0"/>
          <c:showSerName val="0"/>
          <c:showPercent val="0"/>
          <c:showBubbleSize val="0"/>
          <c:showLeaderLines val="1"/>
        </c:dLbls>
        <c:firstSliceAng val="0"/>
        <c:holeSize val="80"/>
      </c:doughnutChart>
    </c:plotArea>
    <c:plotVisOnly val="1"/>
    <c:dispBlanksAs val="zero"/>
    <c:showDLblsOverMax val="0"/>
  </c:chart>
  <c:spPr>
    <a:ln>
      <a:noFill/>
    </a:ln>
  </c:spPr>
  <c:txPr>
    <a:bodyPr/>
    <a:lstStyle/>
    <a:p>
      <a:pPr>
        <a:defRPr lang="zh-CN" sz="1800" baseline="-25000">
          <a:latin typeface="Arial" panose="020B0604020202020204" pitchFamily="34" charset="0"/>
          <a:ea typeface="微软雅黑" panose="020B0503020204020204" pitchFamily="34" charset="-122"/>
          <a:cs typeface="+mn-ea"/>
          <a:sym typeface="Arial" panose="020B0604020202020204" pitchFamily="34" charset="0"/>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5A8C7-CC1A-4A08-9B4B-31F43B054C7F}" type="datetimeFigureOut">
              <a:rPr lang="zh-CN" altLang="en-US" smtClean="0"/>
              <a:t>2020/3/13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E1B693-632D-4080-9CF6-EA28B66DC80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软雅黑" panose="020B0503020204020204" pitchFamily="34" charset="-122"/>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9E1B693-632D-4080-9CF6-EA28B66DC801}"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eaLnBrk="0" fontAlgn="base" latinLnBrk="0" hangingPunct="0">
              <a:lnSpc>
                <a:spcPct val="100000"/>
              </a:lnSpc>
              <a:spcBef>
                <a:spcPct val="0"/>
              </a:spcBef>
              <a:spcAft>
                <a:spcPct val="0"/>
              </a:spcAft>
              <a:buClrTx/>
              <a:buSzTx/>
              <a:buFontTx/>
              <a:buNone/>
              <a:defRPr/>
            </a:pPr>
            <a:fld id="{39AD698A-D66C-4FA1-BBD8-F72AE9E6E75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软雅黑" panose="020B0503020204020204" pitchFamily="34" charset="-122"/>
              </a:rPr>
              <a:t>28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软雅黑"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854199"/>
            <a:ext cx="9144000" cy="1655763"/>
          </a:xfrm>
        </p:spPr>
        <p:txBody>
          <a:bodyPr anchor="b">
            <a:normAutofit/>
          </a:bodyPr>
          <a:lstStyle>
            <a:lvl1pPr algn="ctr">
              <a:defRPr sz="7200" b="0"/>
            </a:lvl1pPr>
          </a:lstStyle>
          <a:p>
            <a:r>
              <a:rPr lang="zh-CN" altLang="en-US" dirty="0"/>
              <a:t>单击此处编辑标题</a:t>
            </a:r>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2020/3/13</a:t>
            </a:fld>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transition advTm="0">
    <p:whee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dirty="0"/>
              <a:t>单击此处编辑母版标题样式</a:t>
            </a:r>
          </a:p>
        </p:txBody>
      </p:sp>
      <p:sp>
        <p:nvSpPr>
          <p:cNvPr id="3" name="内容占位符 2"/>
          <p:cNvSpPr>
            <a:spLocks noGrp="1"/>
          </p:cNvSpPr>
          <p:nvPr>
            <p:ph idx="1"/>
          </p:nvPr>
        </p:nvSpPr>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2020/3/13</a:t>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transition advTm="0">
    <p:whee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7636-5BE1-44BC-BB5F-15739D9E18E1}" type="datetimeFigureOut">
              <a:rPr lang="zh-CN" altLang="en-US" smtClean="0"/>
              <a:t>2020/3/13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7C0E1D-24C4-406F-9615-DBDA8D2D1F93}" type="slidenum">
              <a:rPr lang="zh-CN" altLang="en-US" smtClean="0"/>
              <a:t>‹#›</a:t>
            </a:fld>
            <a:endParaRPr lang="zh-CN" altLang="en-US"/>
          </a:p>
        </p:txBody>
      </p:sp>
      <p:sp>
        <p:nvSpPr>
          <p:cNvPr id="5" name="标题 4"/>
          <p:cNvSpPr>
            <a:spLocks noGrp="1"/>
          </p:cNvSpPr>
          <p:nvPr>
            <p:ph type="title" hasCustomPrompt="1"/>
          </p:nvPr>
        </p:nvSpPr>
        <p:spPr>
          <a:xfrm>
            <a:off x="838200" y="2187443"/>
            <a:ext cx="10515600" cy="2483115"/>
          </a:xfrm>
        </p:spPr>
        <p:txBody>
          <a:bodyPr>
            <a:normAutofit/>
          </a:bodyPr>
          <a:lstStyle>
            <a:lvl1pPr algn="ctr">
              <a:defRPr sz="6000" b="0"/>
            </a:lvl1pPr>
          </a:lstStyle>
          <a:p>
            <a:r>
              <a:rPr lang="zh-CN" altLang="en-US" dirty="0"/>
              <a:t>单击此处编辑标题</a:t>
            </a:r>
          </a:p>
        </p:txBody>
      </p:sp>
    </p:spTree>
  </p:cSld>
  <p:clrMapOvr>
    <a:masterClrMapping/>
  </p:clrMapOvr>
  <p:transition advTm="0">
    <p:whee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nchorCtr="0"/>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2020/3/13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transition advTm="0">
    <p:whee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nchor="ctr" anchorCtr="0"/>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2020/3/13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transition advTm="0">
    <p:whee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3238500" y="2159000"/>
            <a:ext cx="5715000" cy="1382450"/>
          </a:xfrm>
        </p:spPr>
        <p:txBody>
          <a:bodyPr anchor="b" anchorCtr="0">
            <a:normAutofit/>
          </a:bodyPr>
          <a:lstStyle>
            <a:lvl1pPr algn="ctr">
              <a:defRPr sz="8000" b="0">
                <a:solidFill>
                  <a:schemeClr val="tx1"/>
                </a:solidFill>
              </a:defRPr>
            </a:lvl1pPr>
          </a:lstStyle>
          <a:p>
            <a:r>
              <a:rPr lang="zh-CN" altLang="en-US" dirty="0"/>
              <a:t>编辑标题</a:t>
            </a:r>
          </a:p>
        </p:txBody>
      </p:sp>
      <p:sp>
        <p:nvSpPr>
          <p:cNvPr id="3" name="日期占位符 2"/>
          <p:cNvSpPr>
            <a:spLocks noGrp="1"/>
          </p:cNvSpPr>
          <p:nvPr>
            <p:ph type="dt" sz="half" idx="10"/>
          </p:nvPr>
        </p:nvSpPr>
        <p:spPr/>
        <p:txBody>
          <a:bodyPr/>
          <a:lstStyle/>
          <a:p>
            <a:fld id="{20DD7636-5BE1-44BC-BB5F-15739D9E18E1}" type="datetimeFigureOut">
              <a:rPr lang="zh-CN" altLang="en-US" smtClean="0"/>
              <a:t>2020/3/13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7C0E1D-24C4-406F-9615-DBDA8D2D1F93}" type="slidenum">
              <a:rPr lang="zh-CN" altLang="en-US" smtClean="0"/>
              <a:t>‹#›</a:t>
            </a:fld>
            <a:endParaRPr lang="zh-CN" altLang="en-US"/>
          </a:p>
        </p:txBody>
      </p:sp>
      <p:sp>
        <p:nvSpPr>
          <p:cNvPr id="37" name="内容占位符 36"/>
          <p:cNvSpPr>
            <a:spLocks noGrp="1"/>
          </p:cNvSpPr>
          <p:nvPr>
            <p:ph sz="quarter" idx="13" hasCustomPrompt="1"/>
          </p:nvPr>
        </p:nvSpPr>
        <p:spPr>
          <a:xfrm>
            <a:off x="3238500" y="3733201"/>
            <a:ext cx="5715000" cy="1185937"/>
          </a:xfrm>
        </p:spPr>
        <p:txBody>
          <a:bodyPr>
            <a:normAutofit/>
          </a:bodyPr>
          <a:lstStyle>
            <a:lvl1pPr marL="0" indent="0" algn="ctr">
              <a:buNone/>
              <a:defRPr sz="3200">
                <a:solidFill>
                  <a:schemeClr val="tx1"/>
                </a:solidFill>
              </a:defRPr>
            </a:lvl1pPr>
          </a:lstStyle>
          <a:p>
            <a:pPr lvl="0"/>
            <a:r>
              <a:rPr lang="zh-CN" altLang="en-US" dirty="0"/>
              <a:t>编辑文本</a:t>
            </a:r>
          </a:p>
        </p:txBody>
      </p:sp>
    </p:spTree>
  </p:cSld>
  <p:clrMapOvr>
    <a:masterClrMapping/>
  </p:clrMapOvr>
  <p:transition advTm="0">
    <p:whee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2020/3/13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transition advTm="0">
    <p:whee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713673"/>
            <a:ext cx="4681654" cy="1428161"/>
          </a:xfrm>
        </p:spPr>
        <p:txBody>
          <a:bodyPr anchor="t" anchorCtr="0">
            <a:normAutofit/>
          </a:bodyPr>
          <a:lstStyle>
            <a:lvl1pPr>
              <a:defRPr sz="3600"/>
            </a:lvl1pPr>
          </a:lstStyle>
          <a:p>
            <a:r>
              <a:rPr lang="zh-CN" altLang="en-US" dirty="0"/>
              <a:t>单击此处编辑标题</a:t>
            </a:r>
          </a:p>
        </p:txBody>
      </p:sp>
      <p:sp>
        <p:nvSpPr>
          <p:cNvPr id="3" name="图片占位符 2"/>
          <p:cNvSpPr>
            <a:spLocks noGrp="1" noChangeAspect="1"/>
          </p:cNvSpPr>
          <p:nvPr>
            <p:ph type="pic" idx="1"/>
          </p:nvPr>
        </p:nvSpPr>
        <p:spPr>
          <a:xfrm>
            <a:off x="5642517" y="713673"/>
            <a:ext cx="5711882"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8200" y="2313873"/>
            <a:ext cx="4681654"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2020/3/13</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transition advTm="0">
    <p:whee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nvPr>
        </p:nvSpPr>
        <p:spPr>
          <a:xfrm>
            <a:off x="10444898" y="365125"/>
            <a:ext cx="908901" cy="5811838"/>
          </a:xfrm>
        </p:spPr>
        <p:txBody>
          <a:bodyPr vert="eaVert">
            <a:normAutofit/>
          </a:bodyPr>
          <a:lstStyle>
            <a:lvl1pPr>
              <a:defRPr sz="4400"/>
            </a:lvl1pPr>
          </a:lstStyle>
          <a:p>
            <a:r>
              <a:rPr lang="zh-CN" altLang="en-US" dirty="0"/>
              <a:t>单击此处编辑标题</a:t>
            </a:r>
          </a:p>
        </p:txBody>
      </p:sp>
      <p:sp>
        <p:nvSpPr>
          <p:cNvPr id="3" name="竖排文字占位符 2"/>
          <p:cNvSpPr>
            <a:spLocks noGrp="1"/>
          </p:cNvSpPr>
          <p:nvPr>
            <p:ph type="body" orient="vert" idx="1"/>
          </p:nvPr>
        </p:nvSpPr>
        <p:spPr>
          <a:xfrm>
            <a:off x="838199" y="365125"/>
            <a:ext cx="9446443"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2020/3/13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transition advTm="0">
    <p:whee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2020/3/13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advTm="0">
    <p:whee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857794" y="359359"/>
            <a:ext cx="10476411" cy="4290726"/>
          </a:xfrm>
          <a:prstGeom prst="rect">
            <a:avLst/>
          </a:prstGeom>
        </p:spPr>
        <p:txBody>
          <a:bodyPr wrap="square">
            <a:spAutoFit/>
          </a:bodyPr>
          <a:lstStyle/>
          <a:p>
            <a:pPr algn="ctr">
              <a:lnSpc>
                <a:spcPct val="150000"/>
              </a:lnSpc>
            </a:pPr>
            <a:r>
              <a:rPr lang="zh-CN" altLang="en-US" sz="4000" b="1" dirty="0">
                <a:solidFill>
                  <a:schemeClr val="bg1"/>
                </a:solidFill>
                <a:latin typeface="微软雅黑" panose="020B0503020204020204" pitchFamily="34" charset="-122"/>
                <a:ea typeface="微软雅黑" panose="020B0503020204020204" pitchFamily="34" charset="-122"/>
              </a:rPr>
              <a:t>版权声明</a:t>
            </a:r>
          </a:p>
          <a:p>
            <a:pPr algn="just">
              <a:lnSpc>
                <a:spcPct val="150000"/>
              </a:lnSpc>
            </a:pPr>
            <a:endParaRPr lang="zh-CN" altLang="en-US" dirty="0">
              <a:solidFill>
                <a:schemeClr val="bg1"/>
              </a:solidFill>
              <a:latin typeface="微软雅黑" panose="020B0503020204020204" pitchFamily="34" charset="-122"/>
              <a:ea typeface="微软雅黑" panose="020B0503020204020204" pitchFamily="34" charset="-122"/>
            </a:endParaRPr>
          </a:p>
          <a:p>
            <a:pPr algn="just">
              <a:lnSpc>
                <a:spcPct val="150000"/>
              </a:lnSpc>
            </a:pPr>
            <a:r>
              <a:rPr lang="zh-CN" altLang="en-US" dirty="0">
                <a:solidFill>
                  <a:schemeClr val="bg1"/>
                </a:solidFill>
                <a:latin typeface="微软雅黑" panose="020B0503020204020204" pitchFamily="34" charset="-122"/>
                <a:ea typeface="微软雅黑" panose="020B0503020204020204" pitchFamily="34" charset="-122"/>
              </a:rPr>
              <a:t>感谢您下载觅知网平台上提供的</a:t>
            </a:r>
            <a:r>
              <a:rPr lang="en-US" altLang="zh-CN" dirty="0">
                <a:solidFill>
                  <a:schemeClr val="bg1"/>
                </a:solidFill>
                <a:latin typeface="微软雅黑" panose="020B0503020204020204" pitchFamily="34" charset="-122"/>
                <a:ea typeface="微软雅黑" panose="020B0503020204020204" pitchFamily="34" charset="-122"/>
              </a:rPr>
              <a:t>PPT</a:t>
            </a:r>
            <a:r>
              <a:rPr lang="zh-CN" altLang="en-US" dirty="0">
                <a:solidFill>
                  <a:schemeClr val="bg1"/>
                </a:solidFill>
                <a:latin typeface="微软雅黑" panose="020B0503020204020204" pitchFamily="34" charset="-122"/>
                <a:ea typeface="微软雅黑" panose="020B0503020204020204" pitchFamily="34" charset="-122"/>
              </a:rPr>
              <a:t>作品，为了您和觅知网以及原创作者的利益，请勿复制、传播、销售，否则将承担法律责任！觅知网将对作品进行维权，按照传播下载次数进行十倍的索取赔偿！</a:t>
            </a:r>
            <a:endParaRPr lang="en-US" altLang="zh-CN" dirty="0">
              <a:solidFill>
                <a:schemeClr val="bg1"/>
              </a:solidFill>
              <a:latin typeface="微软雅黑" panose="020B0503020204020204" pitchFamily="34" charset="-122"/>
              <a:ea typeface="微软雅黑" panose="020B0503020204020204" pitchFamily="34" charset="-122"/>
            </a:endParaRPr>
          </a:p>
          <a:p>
            <a:pPr algn="just">
              <a:lnSpc>
                <a:spcPct val="150000"/>
              </a:lnSpc>
            </a:pPr>
            <a:endParaRPr lang="zh-CN" altLang="en-US" dirty="0">
              <a:solidFill>
                <a:schemeClr val="bg1"/>
              </a:solidFill>
              <a:latin typeface="微软雅黑" panose="020B0503020204020204" pitchFamily="34" charset="-122"/>
              <a:ea typeface="微软雅黑" panose="020B0503020204020204" pitchFamily="34" charset="-122"/>
            </a:endParaRPr>
          </a:p>
          <a:p>
            <a:pPr algn="just">
              <a:lnSpc>
                <a:spcPct val="150000"/>
              </a:lnSpc>
            </a:pP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a:solidFill>
                  <a:schemeClr val="bg1"/>
                </a:solidFill>
                <a:latin typeface="微软雅黑" panose="020B0503020204020204" pitchFamily="34" charset="-122"/>
                <a:ea typeface="微软雅黑" panose="020B0503020204020204" pitchFamily="34" charset="-122"/>
              </a:rPr>
              <a:t>在觅知网出售的</a:t>
            </a:r>
            <a:r>
              <a:rPr lang="en-US" altLang="zh-CN" dirty="0">
                <a:solidFill>
                  <a:schemeClr val="bg1"/>
                </a:solidFill>
                <a:latin typeface="微软雅黑" panose="020B0503020204020204" pitchFamily="34" charset="-122"/>
                <a:ea typeface="微软雅黑" panose="020B0503020204020204" pitchFamily="34" charset="-122"/>
              </a:rPr>
              <a:t>PPT</a:t>
            </a:r>
            <a:r>
              <a:rPr lang="zh-CN" altLang="en-US" dirty="0">
                <a:solidFill>
                  <a:schemeClr val="bg1"/>
                </a:solidFill>
                <a:latin typeface="微软雅黑" panose="020B0503020204020204" pitchFamily="34" charset="-122"/>
                <a:ea typeface="微软雅黑" panose="020B0503020204020204" pitchFamily="34" charset="-122"/>
              </a:rPr>
              <a:t>模板是免版税类（</a:t>
            </a:r>
            <a:r>
              <a:rPr lang="en-US" altLang="zh-CN" dirty="0">
                <a:solidFill>
                  <a:schemeClr val="bg1"/>
                </a:solidFill>
                <a:latin typeface="微软雅黑" panose="020B0503020204020204" pitchFamily="34" charset="-122"/>
                <a:ea typeface="微软雅黑" panose="020B0503020204020204" pitchFamily="34" charset="-122"/>
              </a:rPr>
              <a:t>RF</a:t>
            </a:r>
            <a:r>
              <a:rPr lang="zh-CN" altLang="en-US" dirty="0">
                <a:solidFill>
                  <a:schemeClr val="bg1"/>
                </a:solidFill>
                <a:latin typeface="微软雅黑" panose="020B0503020204020204" pitchFamily="34" charset="-122"/>
                <a:ea typeface="微软雅黑" panose="020B0503020204020204" pitchFamily="34" charset="-122"/>
              </a:rPr>
              <a:t>：</a:t>
            </a:r>
            <a:r>
              <a:rPr lang="en-US" altLang="zh-CN" dirty="0">
                <a:solidFill>
                  <a:schemeClr val="bg1"/>
                </a:solidFill>
                <a:latin typeface="微软雅黑" panose="020B0503020204020204" pitchFamily="34" charset="-122"/>
                <a:ea typeface="微软雅黑" panose="020B0503020204020204" pitchFamily="34" charset="-122"/>
              </a:rPr>
              <a:t>Royalty-Free</a:t>
            </a:r>
            <a:r>
              <a:rPr lang="zh-CN" altLang="en-US" dirty="0">
                <a:solidFill>
                  <a:schemeClr val="bg1"/>
                </a:solidFill>
                <a:latin typeface="微软雅黑" panose="020B0503020204020204" pitchFamily="34" charset="-122"/>
                <a:ea typeface="微软雅黑" panose="020B0503020204020204" pitchFamily="34" charset="-122"/>
              </a:rPr>
              <a:t>）正版受</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中国人民共和国著作法</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和</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世界版权公约</a:t>
            </a:r>
            <a:r>
              <a:rPr lang="en-US" altLang="zh-CN" dirty="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的保护，作品的所有权、版权和著作权归觅知网所有，您下载的是</a:t>
            </a:r>
            <a:r>
              <a:rPr lang="en-US" altLang="zh-CN" dirty="0">
                <a:solidFill>
                  <a:schemeClr val="bg1"/>
                </a:solidFill>
                <a:latin typeface="微软雅黑" panose="020B0503020204020204" pitchFamily="34" charset="-122"/>
                <a:ea typeface="微软雅黑" panose="020B0503020204020204" pitchFamily="34" charset="-122"/>
              </a:rPr>
              <a:t>PPT</a:t>
            </a:r>
            <a:r>
              <a:rPr lang="zh-CN" altLang="en-US" dirty="0">
                <a:solidFill>
                  <a:schemeClr val="bg1"/>
                </a:solidFill>
                <a:latin typeface="微软雅黑" panose="020B0503020204020204" pitchFamily="34" charset="-122"/>
                <a:ea typeface="微软雅黑" panose="020B0503020204020204" pitchFamily="34" charset="-122"/>
              </a:rPr>
              <a:t>模板素材的使用权。</a:t>
            </a:r>
          </a:p>
          <a:p>
            <a:pPr algn="just">
              <a:lnSpc>
                <a:spcPct val="150000"/>
              </a:lnSpc>
            </a:pPr>
            <a:r>
              <a:rPr lang="en-US" altLang="zh-CN" dirty="0">
                <a:solidFill>
                  <a:schemeClr val="bg1"/>
                </a:solidFill>
                <a:latin typeface="微软雅黑" panose="020B0503020204020204" pitchFamily="34" charset="-122"/>
                <a:ea typeface="微软雅黑" panose="020B0503020204020204" pitchFamily="34" charset="-122"/>
              </a:rPr>
              <a:t>2.</a:t>
            </a:r>
            <a:r>
              <a:rPr lang="zh-CN" altLang="en-US" dirty="0">
                <a:solidFill>
                  <a:schemeClr val="bg1"/>
                </a:solidFill>
                <a:latin typeface="微软雅黑" panose="020B0503020204020204" pitchFamily="34" charset="-122"/>
                <a:ea typeface="微软雅黑" panose="020B0503020204020204" pitchFamily="34" charset="-122"/>
              </a:rPr>
              <a:t>不得将觅知网的</a:t>
            </a:r>
            <a:r>
              <a:rPr lang="en-US" altLang="zh-CN" dirty="0">
                <a:solidFill>
                  <a:schemeClr val="bg1"/>
                </a:solidFill>
                <a:latin typeface="微软雅黑" panose="020B0503020204020204" pitchFamily="34" charset="-122"/>
                <a:ea typeface="微软雅黑" panose="020B0503020204020204" pitchFamily="34" charset="-122"/>
              </a:rPr>
              <a:t>PPT</a:t>
            </a:r>
            <a:r>
              <a:rPr lang="zh-CN" altLang="en-US" dirty="0">
                <a:solidFill>
                  <a:schemeClr val="bg1"/>
                </a:solidFill>
                <a:latin typeface="微软雅黑" panose="020B0503020204020204" pitchFamily="34" charset="-122"/>
                <a:ea typeface="微软雅黑" panose="020B0503020204020204" pitchFamily="34" charset="-122"/>
              </a:rPr>
              <a:t>模板、</a:t>
            </a:r>
            <a:r>
              <a:rPr lang="en-US" altLang="zh-CN" dirty="0">
                <a:solidFill>
                  <a:schemeClr val="bg1"/>
                </a:solidFill>
                <a:latin typeface="微软雅黑" panose="020B0503020204020204" pitchFamily="34" charset="-122"/>
                <a:ea typeface="微软雅黑" panose="020B0503020204020204" pitchFamily="34" charset="-122"/>
              </a:rPr>
              <a:t>PPT</a:t>
            </a:r>
            <a:r>
              <a:rPr lang="zh-CN" altLang="en-US" dirty="0">
                <a:solidFill>
                  <a:schemeClr val="bg1"/>
                </a:solidFill>
                <a:latin typeface="微软雅黑" panose="020B0503020204020204" pitchFamily="34" charset="-122"/>
                <a:ea typeface="微软雅黑" panose="020B0503020204020204" pitchFamily="34" charset="-122"/>
              </a:rPr>
              <a:t>素材，本身用于再出售，或者出租、出借、转让、分销、发布或者作为礼物供他人使用，不得转授权、出卖、转让本协议或者本协议中的权利。</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tags" Target="../tags/tag1.xml"/><Relationship Id="rId14" Type="http://schemas.openxmlformats.org/officeDocument/2006/relationships/tags" Target="../tags/tag2.xml"/><Relationship Id="rId15" Type="http://schemas.openxmlformats.org/officeDocument/2006/relationships/tags" Target="../tags/tag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标题占位符 1"/>
          <p:cNvSpPr>
            <a:spLocks noGrp="1"/>
          </p:cNvSpPr>
          <p:nvPr>
            <p:ph type="title"/>
            <p:custDataLst>
              <p:tags r:id="rId13"/>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8" name="文本占位符 2"/>
          <p:cNvSpPr>
            <a:spLocks noGrp="1"/>
          </p:cNvSpPr>
          <p:nvPr>
            <p:ph type="body" idx="1"/>
            <p:custDataLst>
              <p:tags r:id="rId14"/>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D997B5FA-0921-464F-AAE1-844C04324D75}" type="datetimeFigureOut">
              <a:rPr lang="zh-CN" altLang="en-US" smtClean="0"/>
              <a:t>2020/3/13</a:t>
            </a:fld>
            <a:endParaRPr lang="zh-CN" altLang="en-US" dirty="0"/>
          </a:p>
        </p:txBody>
      </p:sp>
      <p:sp>
        <p:nvSpPr>
          <p:cNvPr id="10"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endParaRPr lang="zh-CN" altLang="en-US"/>
          </a:p>
        </p:txBody>
      </p:sp>
      <p:sp>
        <p:nvSpPr>
          <p:cNvPr id="11"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ctr">
              <a:defRPr sz="1200">
                <a:solidFill>
                  <a:schemeClr val="bg1">
                    <a:lumMod val="50000"/>
                  </a:schemeClr>
                </a:solidFill>
                <a:latin typeface="黑体" panose="02010609060101010101" pitchFamily="49" charset="-122"/>
                <a:ea typeface="黑体" panose="02010609060101010101" pitchFamily="49" charset="-122"/>
              </a:defRPr>
            </a:lvl1pPr>
          </a:lstStyle>
          <a:p>
            <a:fld id="{565CE74E-AB26-4998-AD42-012C4C1AD076}" type="slidenum">
              <a:rPr lang="zh-CN" altLang="en-US" smtClean="0"/>
              <a:t>‹#›</a:t>
            </a:fld>
            <a:endParaRPr lang="zh-CN" altLang="en-US"/>
          </a:p>
        </p:txBody>
      </p:sp>
      <p:sp>
        <p:nvSpPr>
          <p:cNvPr id="2" name="KSO_TEMPLATE" hidden="1"/>
          <p:cNvSpPr/>
          <p:nvPr userDrawn="1">
            <p:custDataLst>
              <p:tags r:id="rId1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advTm="0">
    <p:whee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p3"/><Relationship Id="rId4" Type="http://schemas.openxmlformats.org/officeDocument/2006/relationships/slideLayout" Target="../slideLayouts/slideLayout1.xml"/><Relationship Id="rId5" Type="http://schemas.openxmlformats.org/officeDocument/2006/relationships/notesSlide" Target="../notesSlides/notesSlide1.xml"/><Relationship Id="rId6" Type="http://schemas.openxmlformats.org/officeDocument/2006/relationships/image" Target="../media/image1.jpeg"/><Relationship Id="rId7" Type="http://schemas.openxmlformats.org/officeDocument/2006/relationships/image" Target="../media/image2.png"/><Relationship Id="rId8" Type="http://schemas.openxmlformats.org/officeDocument/2006/relationships/image" Target="../media/image3.png"/><Relationship Id="rId1" Type="http://schemas.openxmlformats.org/officeDocument/2006/relationships/tags" Target="../tags/tag4.xml"/><Relationship Id="rId2" Type="http://schemas.microsoft.com/office/2007/relationships/media"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4" Type="http://schemas.openxmlformats.org/officeDocument/2006/relationships/oleObject" Target="../embeddings/oleObject1.bin"/><Relationship Id="rId5" Type="http://schemas.openxmlformats.org/officeDocument/2006/relationships/oleObject" Target="../embeddings/Microsoft_Word_97_-_2004___1.doc"/><Relationship Id="rId6" Type="http://schemas.openxmlformats.org/officeDocument/2006/relationships/image" Target="../media/image9.emf"/><Relationship Id="rId1" Type="http://schemas.openxmlformats.org/officeDocument/2006/relationships/vmlDrawing" Target="../drawings/vmlDrawing1.v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4" Type="http://schemas.openxmlformats.org/officeDocument/2006/relationships/image" Target="../media/image11.jpeg"/><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chart" Target="../charts/chart8.xml"/><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chart" Target="../charts/chart9.xml"/></Relationships>
</file>

<file path=ppt/slides/_rels/slide26.xml.rels><?xml version="1.0" encoding="UTF-8" standalone="yes"?>
<Relationships xmlns="http://schemas.openxmlformats.org/package/2006/relationships"><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chart" Target="../charts/chart12.xml"/><Relationship Id="rId6" Type="http://schemas.openxmlformats.org/officeDocument/2006/relationships/chart" Target="../charts/chart13.xml"/><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4" Type="http://schemas.openxmlformats.org/officeDocument/2006/relationships/image" Target="../media/image1.jpeg"/><Relationship Id="rId5" Type="http://schemas.openxmlformats.org/officeDocument/2006/relationships/image" Target="../media/image2.png"/><Relationship Id="rId1" Type="http://schemas.openxmlformats.org/officeDocument/2006/relationships/tags" Target="../tags/tag6.xml"/><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CFCFC"/>
            </a:gs>
          </a:gsLst>
          <a:lin ang="13200000" scaled="0"/>
        </a:gradFill>
        <a:effectLst/>
      </p:bgPr>
    </p:bg>
    <p:spTree>
      <p:nvGrpSpPr>
        <p:cNvPr id="1" name=""/>
        <p:cNvGrpSpPr/>
        <p:nvPr/>
      </p:nvGrpSpPr>
      <p:grpSpPr>
        <a:xfrm>
          <a:off x="0" y="0"/>
          <a:ext cx="0" cy="0"/>
          <a:chOff x="0" y="0"/>
          <a:chExt cx="0" cy="0"/>
        </a:xfrm>
      </p:grpSpPr>
      <p:pic>
        <p:nvPicPr>
          <p:cNvPr id="3074" name="Picture 3" descr="C:\Documents and Settings\t11318\桌面\揭开01.jp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3349625" y="0"/>
            <a:ext cx="8836025" cy="685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3525520" y="2021840"/>
            <a:ext cx="6208395" cy="4984750"/>
          </a:xfrm>
          <a:prstGeom prst="rect">
            <a:avLst/>
          </a:prstGeom>
        </p:spPr>
      </p:pic>
      <p:sp>
        <p:nvSpPr>
          <p:cNvPr id="27" name="TextBox 26"/>
          <p:cNvSpPr txBox="1"/>
          <p:nvPr/>
        </p:nvSpPr>
        <p:spPr>
          <a:xfrm>
            <a:off x="739140" y="2783840"/>
            <a:ext cx="6278880" cy="1014730"/>
          </a:xfrm>
          <a:prstGeom prst="rect">
            <a:avLst/>
          </a:prstGeom>
          <a:noFill/>
        </p:spPr>
        <p:txBody>
          <a:bodyPr wrap="none" rtlCol="0">
            <a:spAutoFit/>
          </a:bodyPr>
          <a:lstStyle/>
          <a:p>
            <a:pPr algn="l"/>
            <a:r>
              <a:rPr lang="zh-CN" altLang="en-US" sz="6000" b="1" dirty="0">
                <a:latin typeface="微软雅黑" panose="020B0503020204020204" pitchFamily="34" charset="-122"/>
                <a:ea typeface="微软雅黑" panose="020B0503020204020204" pitchFamily="34" charset="-122"/>
                <a:sym typeface="+mn-ea"/>
              </a:rPr>
              <a:t>财务报表分析报告</a:t>
            </a:r>
            <a:endParaRPr lang="zh-CN" altLang="en-US" sz="60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pic>
        <p:nvPicPr>
          <p:cNvPr id="2" name="Position Music - Nox Trigger - 纯音乐版">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35255" y="-745326"/>
            <a:ext cx="609600" cy="609600"/>
          </a:xfrm>
          <a:prstGeom prst="rect">
            <a:avLst/>
          </a:prstGeom>
        </p:spPr>
      </p:pic>
    </p:spTree>
    <p:custDataLst>
      <p:tags r:id="rId1"/>
    </p:custDataLst>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 presetClass="mediacall" presetSubtype="0" fill="hold" nodeType="afterEffect">
                                  <p:stCondLst>
                                    <p:cond delay="0"/>
                                  </p:stCondLst>
                                  <p:childTnLst>
                                    <p:cmd type="call" cmd="playFrom(0.0)">
                                      <p:cBhvr>
                                        <p:cTn id="1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18" repeatCount="indefinite" fill="remove"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2"/>
          <p:cNvSpPr/>
          <p:nvPr/>
        </p:nvSpPr>
        <p:spPr>
          <a:xfrm>
            <a:off x="-43815" y="2180590"/>
            <a:ext cx="2922905" cy="1515745"/>
          </a:xfrm>
          <a:custGeom>
            <a:avLst/>
            <a:gdLst>
              <a:gd name="connsiteX0" fmla="*/ 0 w 4543"/>
              <a:gd name="connsiteY0" fmla="*/ 17 h 2387"/>
              <a:gd name="connsiteX1" fmla="*/ 4543 w 4543"/>
              <a:gd name="connsiteY1" fmla="*/ 0 h 2387"/>
              <a:gd name="connsiteX2" fmla="*/ 3274 w 4543"/>
              <a:gd name="connsiteY2" fmla="*/ 2387 h 2387"/>
              <a:gd name="connsiteX3" fmla="*/ 24 w 4543"/>
              <a:gd name="connsiteY3" fmla="*/ 2372 h 2387"/>
              <a:gd name="connsiteX4" fmla="*/ 0 w 4543"/>
              <a:gd name="connsiteY4" fmla="*/ 17 h 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3" h="2387">
                <a:moveTo>
                  <a:pt x="0" y="17"/>
                </a:moveTo>
                <a:lnTo>
                  <a:pt x="4543" y="0"/>
                </a:lnTo>
                <a:lnTo>
                  <a:pt x="3274" y="2387"/>
                </a:lnTo>
                <a:lnTo>
                  <a:pt x="24" y="2372"/>
                </a:lnTo>
                <a:lnTo>
                  <a:pt x="0" y="17"/>
                </a:ln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0" name="矩形 2"/>
          <p:cNvSpPr/>
          <p:nvPr/>
        </p:nvSpPr>
        <p:spPr>
          <a:xfrm>
            <a:off x="-28233" y="3048995"/>
            <a:ext cx="4552315" cy="1590040"/>
          </a:xfrm>
          <a:custGeom>
            <a:avLst/>
            <a:gdLst>
              <a:gd name="connsiteX0" fmla="*/ 0 w 7169"/>
              <a:gd name="connsiteY0" fmla="*/ 44 h 2504"/>
              <a:gd name="connsiteX1" fmla="*/ 7169 w 7169"/>
              <a:gd name="connsiteY1" fmla="*/ 0 h 2504"/>
              <a:gd name="connsiteX2" fmla="*/ 5900 w 7169"/>
              <a:gd name="connsiteY2" fmla="*/ 2413 h 2504"/>
              <a:gd name="connsiteX3" fmla="*/ 0 w 7169"/>
              <a:gd name="connsiteY3" fmla="*/ 2504 h 2504"/>
              <a:gd name="connsiteX4" fmla="*/ 0 w 7169"/>
              <a:gd name="connsiteY4" fmla="*/ 44 h 2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9" h="2504">
                <a:moveTo>
                  <a:pt x="0" y="44"/>
                </a:moveTo>
                <a:lnTo>
                  <a:pt x="7169" y="0"/>
                </a:lnTo>
                <a:lnTo>
                  <a:pt x="5900" y="2413"/>
                </a:lnTo>
                <a:lnTo>
                  <a:pt x="0" y="2504"/>
                </a:lnTo>
                <a:lnTo>
                  <a:pt x="0" y="44"/>
                </a:lnTo>
                <a:close/>
              </a:path>
            </a:pathLst>
          </a:cu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13" name="Group 5"/>
          <p:cNvGrpSpPr/>
          <p:nvPr/>
        </p:nvGrpSpPr>
        <p:grpSpPr>
          <a:xfrm>
            <a:off x="1092639" y="3270789"/>
            <a:ext cx="2856230" cy="1330960"/>
            <a:chOff x="5048575" y="363669"/>
            <a:chExt cx="2856229" cy="1330959"/>
          </a:xfrm>
        </p:grpSpPr>
        <p:sp>
          <p:nvSpPr>
            <p:cNvPr id="46" name="TextBox 2"/>
            <p:cNvSpPr txBox="1"/>
            <p:nvPr/>
          </p:nvSpPr>
          <p:spPr>
            <a:xfrm>
              <a:off x="5048575" y="363669"/>
              <a:ext cx="2856229" cy="749299"/>
            </a:xfrm>
            <a:prstGeom prst="rect">
              <a:avLst/>
            </a:prstGeom>
            <a:noFill/>
          </p:spPr>
          <p:txBody>
            <a:bodyPr wrap="square" lIns="0" tIns="0" rIns="0" bIns="0">
              <a:noAutofit/>
            </a:bodyPr>
            <a:lstStyle/>
            <a:p>
              <a:pPr algn="ctr"/>
              <a:r>
                <a:rPr lang="zh-CN" altLang="en-US" sz="4400" b="1">
                  <a:solidFill>
                    <a:schemeClr val="bg1"/>
                  </a:solidFill>
                  <a:sym typeface="+mn-ea"/>
                </a:rPr>
                <a:t>分析构架</a:t>
              </a:r>
              <a:endParaRPr lang="zh-CN" altLang="en-US" sz="4400" b="1" dirty="0">
                <a:solidFill>
                  <a:schemeClr val="bg1"/>
                </a:solidFill>
                <a:latin typeface="微软雅黑" panose="020B0503020204020204" pitchFamily="34" charset="-122"/>
                <a:ea typeface="微软雅黑" panose="020B0503020204020204" pitchFamily="34" charset="-122"/>
                <a:sym typeface="+mn-ea"/>
              </a:endParaRPr>
            </a:p>
          </p:txBody>
        </p:sp>
        <p:sp>
          <p:nvSpPr>
            <p:cNvPr id="47" name="TextBox 3"/>
            <p:cNvSpPr txBox="1"/>
            <p:nvPr/>
          </p:nvSpPr>
          <p:spPr>
            <a:xfrm>
              <a:off x="5555940" y="1116143"/>
              <a:ext cx="1669415" cy="578485"/>
            </a:xfrm>
            <a:prstGeom prst="rect">
              <a:avLst/>
            </a:prstGeom>
            <a:noFill/>
          </p:spPr>
          <p:txBody>
            <a:bodyPr wrap="none" lIns="0" tIns="0" rIns="0" bIns="0">
              <a:normAutofit/>
            </a:bodyPr>
            <a:lstStyle/>
            <a:p>
              <a:r>
                <a:rPr lang="en-US" altLang="zh-CN" sz="2400" dirty="0">
                  <a:solidFill>
                    <a:schemeClr val="bg1"/>
                  </a:solidFill>
                </a:rPr>
                <a:t>CONTENTS</a:t>
              </a:r>
            </a:p>
          </p:txBody>
        </p:sp>
      </p:grpSp>
      <p:cxnSp>
        <p:nvCxnSpPr>
          <p:cNvPr id="52" name="直接连接符 51"/>
          <p:cNvCxnSpPr/>
          <p:nvPr/>
        </p:nvCxnSpPr>
        <p:spPr>
          <a:xfrm flipH="1">
            <a:off x="3061727" y="0"/>
            <a:ext cx="1304804" cy="247489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2842863" y="1977804"/>
            <a:ext cx="2573775" cy="4881827"/>
          </a:xfrm>
          <a:prstGeom prst="line">
            <a:avLst/>
          </a:prstGeom>
          <a:ln>
            <a:solidFill>
              <a:srgbClr val="CE3418"/>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096000" y="1565275"/>
            <a:ext cx="4251960" cy="812165"/>
            <a:chOff x="9600" y="2465"/>
            <a:chExt cx="6696" cy="1279"/>
          </a:xfrm>
        </p:grpSpPr>
        <p:grpSp>
          <p:nvGrpSpPr>
            <p:cNvPr id="7" name="Group 48"/>
            <p:cNvGrpSpPr/>
            <p:nvPr/>
          </p:nvGrpSpPr>
          <p:grpSpPr>
            <a:xfrm>
              <a:off x="9600" y="2465"/>
              <a:ext cx="966" cy="966"/>
              <a:chOff x="4806253" y="1988840"/>
              <a:chExt cx="613472" cy="613472"/>
            </a:xfrm>
          </p:grpSpPr>
          <p:sp>
            <p:nvSpPr>
              <p:cNvPr id="25" name="Oval 25"/>
              <p:cNvSpPr/>
              <p:nvPr/>
            </p:nvSpPr>
            <p:spPr>
              <a:xfrm>
                <a:off x="4806253" y="1988840"/>
                <a:ext cx="613472" cy="613472"/>
              </a:xfrm>
              <a:prstGeom prst="ellipse">
                <a:avLst/>
              </a:prstGeom>
              <a:solidFill>
                <a:srgbClr val="5B9BD5"/>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2400"/>
              </a:p>
            </p:txBody>
          </p:sp>
          <p:grpSp>
            <p:nvGrpSpPr>
              <p:cNvPr id="8" name="Group 26"/>
              <p:cNvGrpSpPr/>
              <p:nvPr/>
            </p:nvGrpSpPr>
            <p:grpSpPr bwMode="auto">
              <a:xfrm>
                <a:off x="4998751" y="2166682"/>
                <a:ext cx="228478" cy="223844"/>
                <a:chOff x="0" y="0"/>
                <a:chExt cx="581" cy="573"/>
              </a:xfrm>
              <a:solidFill>
                <a:schemeClr val="bg1"/>
              </a:solidFill>
            </p:grpSpPr>
            <p:sp>
              <p:nvSpPr>
                <p:cNvPr id="27" name="Freeform: Shape 27"/>
                <p:cNvSpPr/>
                <p:nvPr/>
              </p:nvSpPr>
              <p:spPr bwMode="auto">
                <a:xfrm>
                  <a:off x="256" y="0"/>
                  <a:ext cx="72"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0799" y="0"/>
                      </a:moveTo>
                      <a:cubicBezTo>
                        <a:pt x="4833" y="0"/>
                        <a:pt x="0" y="1476"/>
                        <a:pt x="0" y="3295"/>
                      </a:cubicBezTo>
                      <a:lnTo>
                        <a:pt x="0" y="18305"/>
                      </a:lnTo>
                      <a:cubicBezTo>
                        <a:pt x="0" y="20125"/>
                        <a:pt x="4833" y="21600"/>
                        <a:pt x="10799" y="21600"/>
                      </a:cubicBezTo>
                      <a:cubicBezTo>
                        <a:pt x="16762" y="21600"/>
                        <a:pt x="21600" y="20125"/>
                        <a:pt x="21600" y="18305"/>
                      </a:cubicBezTo>
                      <a:lnTo>
                        <a:pt x="21600" y="3295"/>
                      </a:lnTo>
                      <a:cubicBezTo>
                        <a:pt x="21600" y="1476"/>
                        <a:pt x="16762" y="0"/>
                        <a:pt x="10799" y="0"/>
                      </a:cubicBezTo>
                      <a:close/>
                      <a:moveTo>
                        <a:pt x="10799" y="0"/>
                      </a:moveTo>
                    </a:path>
                  </a:pathLst>
                </a:custGeom>
                <a:grpFill/>
                <a:ln>
                  <a:noFill/>
                </a:ln>
              </p:spPr>
              <p:txBody>
                <a:bodyPr anchor="ctr"/>
                <a:lstStyle/>
                <a:p>
                  <a:pPr algn="ctr"/>
                  <a:endParaRPr sz="2400"/>
                </a:p>
              </p:txBody>
            </p:sp>
            <p:sp>
              <p:nvSpPr>
                <p:cNvPr id="28" name="Freeform: Shape 28"/>
                <p:cNvSpPr/>
                <p:nvPr/>
              </p:nvSpPr>
              <p:spPr bwMode="auto">
                <a:xfrm>
                  <a:off x="256" y="392"/>
                  <a:ext cx="72"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0799" y="0"/>
                      </a:moveTo>
                      <a:cubicBezTo>
                        <a:pt x="4833" y="0"/>
                        <a:pt x="0" y="1476"/>
                        <a:pt x="0" y="3295"/>
                      </a:cubicBezTo>
                      <a:lnTo>
                        <a:pt x="0" y="18305"/>
                      </a:lnTo>
                      <a:cubicBezTo>
                        <a:pt x="0" y="20125"/>
                        <a:pt x="4833" y="21600"/>
                        <a:pt x="10799" y="21600"/>
                      </a:cubicBezTo>
                      <a:cubicBezTo>
                        <a:pt x="16762" y="21600"/>
                        <a:pt x="21600" y="20125"/>
                        <a:pt x="21600" y="18305"/>
                      </a:cubicBezTo>
                      <a:lnTo>
                        <a:pt x="21600" y="3295"/>
                      </a:lnTo>
                      <a:cubicBezTo>
                        <a:pt x="21600" y="1476"/>
                        <a:pt x="16762" y="0"/>
                        <a:pt x="10799" y="0"/>
                      </a:cubicBezTo>
                      <a:close/>
                      <a:moveTo>
                        <a:pt x="10799" y="0"/>
                      </a:moveTo>
                    </a:path>
                  </a:pathLst>
                </a:custGeom>
                <a:grpFill/>
                <a:ln>
                  <a:noFill/>
                </a:ln>
              </p:spPr>
              <p:txBody>
                <a:bodyPr anchor="ctr"/>
                <a:lstStyle/>
                <a:p>
                  <a:pPr algn="ctr"/>
                  <a:endParaRPr sz="2400"/>
                </a:p>
              </p:txBody>
            </p:sp>
            <p:sp>
              <p:nvSpPr>
                <p:cNvPr id="29" name="Freeform: Shape 29"/>
                <p:cNvSpPr/>
                <p:nvPr/>
              </p:nvSpPr>
              <p:spPr bwMode="auto">
                <a:xfrm>
                  <a:off x="400" y="248"/>
                  <a:ext cx="181" cy="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18305" y="0"/>
                      </a:moveTo>
                      <a:lnTo>
                        <a:pt x="3295" y="0"/>
                      </a:lnTo>
                      <a:cubicBezTo>
                        <a:pt x="1475" y="0"/>
                        <a:pt x="0" y="4834"/>
                        <a:pt x="0" y="10798"/>
                      </a:cubicBezTo>
                      <a:cubicBezTo>
                        <a:pt x="0" y="16762"/>
                        <a:pt x="1475" y="21600"/>
                        <a:pt x="3295" y="21600"/>
                      </a:cubicBezTo>
                      <a:lnTo>
                        <a:pt x="18305" y="21600"/>
                      </a:lnTo>
                      <a:cubicBezTo>
                        <a:pt x="20124" y="21600"/>
                        <a:pt x="21600" y="16762"/>
                        <a:pt x="21600" y="10798"/>
                      </a:cubicBezTo>
                      <a:cubicBezTo>
                        <a:pt x="21600" y="4834"/>
                        <a:pt x="20124" y="0"/>
                        <a:pt x="18305" y="0"/>
                      </a:cubicBezTo>
                      <a:close/>
                      <a:moveTo>
                        <a:pt x="18305" y="0"/>
                      </a:moveTo>
                    </a:path>
                  </a:pathLst>
                </a:custGeom>
                <a:grpFill/>
                <a:ln>
                  <a:noFill/>
                </a:ln>
              </p:spPr>
              <p:txBody>
                <a:bodyPr anchor="ctr"/>
                <a:lstStyle/>
                <a:p>
                  <a:pPr algn="ctr"/>
                  <a:endParaRPr sz="2400"/>
                </a:p>
              </p:txBody>
            </p:sp>
            <p:sp>
              <p:nvSpPr>
                <p:cNvPr id="30" name="Freeform: Shape 30"/>
                <p:cNvSpPr/>
                <p:nvPr/>
              </p:nvSpPr>
              <p:spPr bwMode="auto">
                <a:xfrm>
                  <a:off x="0" y="248"/>
                  <a:ext cx="181" cy="72"/>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21600">
                      <a:moveTo>
                        <a:pt x="21600" y="10798"/>
                      </a:moveTo>
                      <a:cubicBezTo>
                        <a:pt x="21600" y="4834"/>
                        <a:pt x="20124" y="0"/>
                        <a:pt x="18304" y="0"/>
                      </a:cubicBezTo>
                      <a:lnTo>
                        <a:pt x="3295" y="0"/>
                      </a:lnTo>
                      <a:cubicBezTo>
                        <a:pt x="1475" y="0"/>
                        <a:pt x="0" y="4834"/>
                        <a:pt x="0" y="10798"/>
                      </a:cubicBezTo>
                      <a:cubicBezTo>
                        <a:pt x="0" y="16762"/>
                        <a:pt x="1475" y="21600"/>
                        <a:pt x="3295" y="21600"/>
                      </a:cubicBezTo>
                      <a:lnTo>
                        <a:pt x="18304" y="21600"/>
                      </a:lnTo>
                      <a:cubicBezTo>
                        <a:pt x="20124" y="21600"/>
                        <a:pt x="21600" y="16764"/>
                        <a:pt x="21600" y="10798"/>
                      </a:cubicBezTo>
                      <a:close/>
                      <a:moveTo>
                        <a:pt x="21600" y="10798"/>
                      </a:moveTo>
                    </a:path>
                  </a:pathLst>
                </a:custGeom>
                <a:grpFill/>
                <a:ln>
                  <a:noFill/>
                </a:ln>
              </p:spPr>
              <p:txBody>
                <a:bodyPr anchor="ctr"/>
                <a:lstStyle/>
                <a:p>
                  <a:pPr algn="ctr"/>
                  <a:endParaRPr sz="2400"/>
                </a:p>
              </p:txBody>
            </p:sp>
            <p:sp>
              <p:nvSpPr>
                <p:cNvPr id="31" name="Freeform: Shape 31"/>
                <p:cNvSpPr/>
                <p:nvPr/>
              </p:nvSpPr>
              <p:spPr bwMode="auto">
                <a:xfrm>
                  <a:off x="352" y="64"/>
                  <a:ext cx="153" cy="153"/>
                </a:xfrm>
                <a:custGeom>
                  <a:avLst/>
                  <a:gdLst>
                    <a:gd name="T0" fmla="*/ 0 w 20488"/>
                    <a:gd name="T1" fmla="*/ 0 h 20489"/>
                    <a:gd name="T2" fmla="*/ 0 w 20488"/>
                    <a:gd name="T3" fmla="*/ 0 h 20489"/>
                    <a:gd name="T4" fmla="*/ 0 w 20488"/>
                    <a:gd name="T5" fmla="*/ 0 h 20489"/>
                    <a:gd name="T6" fmla="*/ 0 w 20488"/>
                    <a:gd name="T7" fmla="*/ 0 h 20489"/>
                    <a:gd name="T8" fmla="*/ 0 w 20488"/>
                    <a:gd name="T9" fmla="*/ 0 h 20489"/>
                    <a:gd name="T10" fmla="*/ 0 w 20488"/>
                    <a:gd name="T11" fmla="*/ 0 h 20489"/>
                    <a:gd name="T12" fmla="*/ 0 w 20488"/>
                    <a:gd name="T13" fmla="*/ 0 h 20489"/>
                    <a:gd name="T14" fmla="*/ 0 w 20488"/>
                    <a:gd name="T15" fmla="*/ 0 h 204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88" h="20489">
                      <a:moveTo>
                        <a:pt x="7697" y="19601"/>
                      </a:moveTo>
                      <a:lnTo>
                        <a:pt x="19601" y="7697"/>
                      </a:lnTo>
                      <a:cubicBezTo>
                        <a:pt x="21044" y="6253"/>
                        <a:pt x="20690" y="3557"/>
                        <a:pt x="18809" y="1678"/>
                      </a:cubicBezTo>
                      <a:cubicBezTo>
                        <a:pt x="16928" y="-203"/>
                        <a:pt x="14234" y="-555"/>
                        <a:pt x="12792" y="887"/>
                      </a:cubicBezTo>
                      <a:lnTo>
                        <a:pt x="888" y="12791"/>
                      </a:lnTo>
                      <a:cubicBezTo>
                        <a:pt x="-556" y="14235"/>
                        <a:pt x="-202" y="16928"/>
                        <a:pt x="1679" y="18809"/>
                      </a:cubicBezTo>
                      <a:cubicBezTo>
                        <a:pt x="3558" y="20690"/>
                        <a:pt x="6252" y="21045"/>
                        <a:pt x="7697" y="19601"/>
                      </a:cubicBezTo>
                      <a:close/>
                      <a:moveTo>
                        <a:pt x="7697" y="19601"/>
                      </a:moveTo>
                    </a:path>
                  </a:pathLst>
                </a:custGeom>
                <a:grpFill/>
                <a:ln>
                  <a:noFill/>
                </a:ln>
              </p:spPr>
              <p:txBody>
                <a:bodyPr anchor="ctr"/>
                <a:lstStyle/>
                <a:p>
                  <a:pPr algn="ctr"/>
                  <a:endParaRPr sz="2400"/>
                </a:p>
              </p:txBody>
            </p:sp>
            <p:sp>
              <p:nvSpPr>
                <p:cNvPr id="32" name="Freeform: Shape 32"/>
                <p:cNvSpPr/>
                <p:nvPr/>
              </p:nvSpPr>
              <p:spPr bwMode="auto">
                <a:xfrm>
                  <a:off x="72" y="344"/>
                  <a:ext cx="153" cy="153"/>
                </a:xfrm>
                <a:custGeom>
                  <a:avLst/>
                  <a:gdLst>
                    <a:gd name="T0" fmla="*/ 0 w 20489"/>
                    <a:gd name="T1" fmla="*/ 0 h 20488"/>
                    <a:gd name="T2" fmla="*/ 0 w 20489"/>
                    <a:gd name="T3" fmla="*/ 0 h 20488"/>
                    <a:gd name="T4" fmla="*/ 0 w 20489"/>
                    <a:gd name="T5" fmla="*/ 0 h 20488"/>
                    <a:gd name="T6" fmla="*/ 0 w 20489"/>
                    <a:gd name="T7" fmla="*/ 0 h 20488"/>
                    <a:gd name="T8" fmla="*/ 0 w 20489"/>
                    <a:gd name="T9" fmla="*/ 0 h 20488"/>
                    <a:gd name="T10" fmla="*/ 0 w 20489"/>
                    <a:gd name="T11" fmla="*/ 0 h 20488"/>
                    <a:gd name="T12" fmla="*/ 0 w 20489"/>
                    <a:gd name="T13" fmla="*/ 0 h 20488"/>
                    <a:gd name="T14" fmla="*/ 0 w 20489"/>
                    <a:gd name="T15" fmla="*/ 0 h 2048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89" h="20488">
                      <a:moveTo>
                        <a:pt x="12792" y="888"/>
                      </a:moveTo>
                      <a:lnTo>
                        <a:pt x="888" y="12792"/>
                      </a:lnTo>
                      <a:cubicBezTo>
                        <a:pt x="-556" y="14236"/>
                        <a:pt x="-202" y="16929"/>
                        <a:pt x="1679" y="18809"/>
                      </a:cubicBezTo>
                      <a:cubicBezTo>
                        <a:pt x="3558" y="20689"/>
                        <a:pt x="6253" y="21044"/>
                        <a:pt x="7697" y="19601"/>
                      </a:cubicBezTo>
                      <a:lnTo>
                        <a:pt x="19601" y="7697"/>
                      </a:lnTo>
                      <a:cubicBezTo>
                        <a:pt x="21044" y="6254"/>
                        <a:pt x="20690" y="3559"/>
                        <a:pt x="18810" y="1679"/>
                      </a:cubicBezTo>
                      <a:cubicBezTo>
                        <a:pt x="16929" y="-203"/>
                        <a:pt x="14235" y="-556"/>
                        <a:pt x="12792" y="888"/>
                      </a:cubicBezTo>
                      <a:close/>
                      <a:moveTo>
                        <a:pt x="12792" y="888"/>
                      </a:moveTo>
                    </a:path>
                  </a:pathLst>
                </a:custGeom>
                <a:grpFill/>
                <a:ln>
                  <a:noFill/>
                </a:ln>
              </p:spPr>
              <p:txBody>
                <a:bodyPr anchor="ctr"/>
                <a:lstStyle/>
                <a:p>
                  <a:pPr algn="ctr"/>
                  <a:endParaRPr sz="2400"/>
                </a:p>
              </p:txBody>
            </p:sp>
            <p:sp>
              <p:nvSpPr>
                <p:cNvPr id="33" name="Freeform: Shape 33"/>
                <p:cNvSpPr/>
                <p:nvPr/>
              </p:nvSpPr>
              <p:spPr bwMode="auto">
                <a:xfrm>
                  <a:off x="352" y="344"/>
                  <a:ext cx="153" cy="153"/>
                </a:xfrm>
                <a:custGeom>
                  <a:avLst/>
                  <a:gdLst>
                    <a:gd name="T0" fmla="*/ 0 w 20489"/>
                    <a:gd name="T1" fmla="*/ 0 h 20489"/>
                    <a:gd name="T2" fmla="*/ 0 w 20489"/>
                    <a:gd name="T3" fmla="*/ 0 h 20489"/>
                    <a:gd name="T4" fmla="*/ 0 w 20489"/>
                    <a:gd name="T5" fmla="*/ 0 h 20489"/>
                    <a:gd name="T6" fmla="*/ 0 w 20489"/>
                    <a:gd name="T7" fmla="*/ 0 h 20489"/>
                    <a:gd name="T8" fmla="*/ 0 w 20489"/>
                    <a:gd name="T9" fmla="*/ 0 h 20489"/>
                    <a:gd name="T10" fmla="*/ 0 w 20489"/>
                    <a:gd name="T11" fmla="*/ 0 h 20489"/>
                    <a:gd name="T12" fmla="*/ 0 w 20489"/>
                    <a:gd name="T13" fmla="*/ 0 h 20489"/>
                    <a:gd name="T14" fmla="*/ 0 w 20489"/>
                    <a:gd name="T15" fmla="*/ 0 h 204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89" h="20489">
                      <a:moveTo>
                        <a:pt x="7696" y="888"/>
                      </a:moveTo>
                      <a:cubicBezTo>
                        <a:pt x="6251" y="-556"/>
                        <a:pt x="3559" y="-202"/>
                        <a:pt x="1679" y="1678"/>
                      </a:cubicBezTo>
                      <a:cubicBezTo>
                        <a:pt x="-201" y="3558"/>
                        <a:pt x="-556" y="6251"/>
                        <a:pt x="888" y="7697"/>
                      </a:cubicBezTo>
                      <a:lnTo>
                        <a:pt x="12792" y="19601"/>
                      </a:lnTo>
                      <a:cubicBezTo>
                        <a:pt x="14236" y="21044"/>
                        <a:pt x="16932" y="20690"/>
                        <a:pt x="18811" y="18810"/>
                      </a:cubicBezTo>
                      <a:cubicBezTo>
                        <a:pt x="20691" y="16929"/>
                        <a:pt x="21044" y="14236"/>
                        <a:pt x="19601" y="12793"/>
                      </a:cubicBezTo>
                      <a:lnTo>
                        <a:pt x="7696" y="888"/>
                      </a:lnTo>
                      <a:close/>
                      <a:moveTo>
                        <a:pt x="7696" y="888"/>
                      </a:moveTo>
                    </a:path>
                  </a:pathLst>
                </a:custGeom>
                <a:grpFill/>
                <a:ln>
                  <a:noFill/>
                </a:ln>
              </p:spPr>
              <p:txBody>
                <a:bodyPr anchor="ctr"/>
                <a:lstStyle/>
                <a:p>
                  <a:pPr algn="ctr"/>
                  <a:endParaRPr sz="2400"/>
                </a:p>
              </p:txBody>
            </p:sp>
            <p:sp>
              <p:nvSpPr>
                <p:cNvPr id="34" name="Freeform: Shape 34"/>
                <p:cNvSpPr/>
                <p:nvPr/>
              </p:nvSpPr>
              <p:spPr bwMode="auto">
                <a:xfrm>
                  <a:off x="71" y="71"/>
                  <a:ext cx="154" cy="154"/>
                </a:xfrm>
                <a:custGeom>
                  <a:avLst/>
                  <a:gdLst>
                    <a:gd name="T0" fmla="*/ 0 w 20489"/>
                    <a:gd name="T1" fmla="*/ 0 h 20489"/>
                    <a:gd name="T2" fmla="*/ 0 w 20489"/>
                    <a:gd name="T3" fmla="*/ 0 h 20489"/>
                    <a:gd name="T4" fmla="*/ 0 w 20489"/>
                    <a:gd name="T5" fmla="*/ 0 h 20489"/>
                    <a:gd name="T6" fmla="*/ 0 w 20489"/>
                    <a:gd name="T7" fmla="*/ 0 h 20489"/>
                    <a:gd name="T8" fmla="*/ 0 w 20489"/>
                    <a:gd name="T9" fmla="*/ 0 h 20489"/>
                    <a:gd name="T10" fmla="*/ 0 w 20489"/>
                    <a:gd name="T11" fmla="*/ 0 h 20489"/>
                    <a:gd name="T12" fmla="*/ 0 w 20489"/>
                    <a:gd name="T13" fmla="*/ 0 h 20489"/>
                    <a:gd name="T14" fmla="*/ 0 w 20489"/>
                    <a:gd name="T15" fmla="*/ 0 h 204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89" h="20489">
                      <a:moveTo>
                        <a:pt x="12792" y="19602"/>
                      </a:moveTo>
                      <a:cubicBezTo>
                        <a:pt x="14235" y="21045"/>
                        <a:pt x="16930" y="20691"/>
                        <a:pt x="18811" y="18810"/>
                      </a:cubicBezTo>
                      <a:cubicBezTo>
                        <a:pt x="20691" y="16930"/>
                        <a:pt x="21044" y="14236"/>
                        <a:pt x="19601" y="12793"/>
                      </a:cubicBezTo>
                      <a:lnTo>
                        <a:pt x="7696" y="888"/>
                      </a:lnTo>
                      <a:cubicBezTo>
                        <a:pt x="6252" y="-555"/>
                        <a:pt x="3560" y="-202"/>
                        <a:pt x="1679" y="1679"/>
                      </a:cubicBezTo>
                      <a:cubicBezTo>
                        <a:pt x="-201" y="3559"/>
                        <a:pt x="-556" y="6254"/>
                        <a:pt x="887" y="7697"/>
                      </a:cubicBezTo>
                      <a:lnTo>
                        <a:pt x="12792" y="19602"/>
                      </a:lnTo>
                      <a:close/>
                      <a:moveTo>
                        <a:pt x="12792" y="19602"/>
                      </a:moveTo>
                    </a:path>
                  </a:pathLst>
                </a:custGeom>
                <a:grpFill/>
                <a:ln>
                  <a:noFill/>
                </a:ln>
              </p:spPr>
              <p:txBody>
                <a:bodyPr anchor="ctr"/>
                <a:lstStyle/>
                <a:p>
                  <a:pPr algn="ctr"/>
                  <a:endParaRPr sz="2400"/>
                </a:p>
              </p:txBody>
            </p:sp>
          </p:grpSp>
        </p:grpSp>
        <p:sp>
          <p:nvSpPr>
            <p:cNvPr id="23" name="TextBox 35"/>
            <p:cNvSpPr txBox="1"/>
            <p:nvPr/>
          </p:nvSpPr>
          <p:spPr>
            <a:xfrm>
              <a:off x="10774" y="2478"/>
              <a:ext cx="5522" cy="880"/>
            </a:xfrm>
            <a:prstGeom prst="rect">
              <a:avLst/>
            </a:prstGeom>
            <a:noFill/>
          </p:spPr>
          <p:txBody>
            <a:bodyPr wrap="none" lIns="0" tIns="0" rIns="0" bIns="0" anchor="ctr" anchorCtr="0">
              <a:no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公司简介</a:t>
              </a:r>
            </a:p>
          </p:txBody>
        </p:sp>
        <p:sp>
          <p:nvSpPr>
            <p:cNvPr id="71" name="文本框 70"/>
            <p:cNvSpPr txBox="1"/>
            <p:nvPr/>
          </p:nvSpPr>
          <p:spPr>
            <a:xfrm>
              <a:off x="10750" y="3262"/>
              <a:ext cx="4000" cy="483"/>
            </a:xfrm>
            <a:prstGeom prst="rect">
              <a:avLst/>
            </a:prstGeom>
            <a:noFill/>
          </p:spPr>
          <p:txBody>
            <a:bodyPr wrap="square" rtlCol="0" anchor="t">
              <a:spAutoFit/>
            </a:bodyPr>
            <a:lstStyle/>
            <a:p>
              <a:r>
                <a:rPr lang="zh-CN" altLang="en-US" sz="1400"/>
                <a:t>Company Profile</a:t>
              </a:r>
            </a:p>
          </p:txBody>
        </p:sp>
      </p:grpSp>
      <p:grpSp>
        <p:nvGrpSpPr>
          <p:cNvPr id="9" name="组合 8"/>
          <p:cNvGrpSpPr/>
          <p:nvPr/>
        </p:nvGrpSpPr>
        <p:grpSpPr>
          <a:xfrm>
            <a:off x="6096000" y="2558415"/>
            <a:ext cx="4251960" cy="751205"/>
            <a:chOff x="9600" y="4029"/>
            <a:chExt cx="6696" cy="1183"/>
          </a:xfrm>
        </p:grpSpPr>
        <p:grpSp>
          <p:nvGrpSpPr>
            <p:cNvPr id="3" name="Group 49"/>
            <p:cNvGrpSpPr/>
            <p:nvPr/>
          </p:nvGrpSpPr>
          <p:grpSpPr>
            <a:xfrm>
              <a:off x="9600" y="4029"/>
              <a:ext cx="966" cy="966"/>
              <a:chOff x="4806253" y="2982218"/>
              <a:chExt cx="613472" cy="613472"/>
            </a:xfrm>
          </p:grpSpPr>
          <p:sp>
            <p:nvSpPr>
              <p:cNvPr id="44" name="Oval 8"/>
              <p:cNvSpPr/>
              <p:nvPr/>
            </p:nvSpPr>
            <p:spPr>
              <a:xfrm>
                <a:off x="4806253" y="2982218"/>
                <a:ext cx="613472" cy="613472"/>
              </a:xfrm>
              <a:prstGeom prst="ellipse">
                <a:avLst/>
              </a:prstGeom>
              <a:solidFill>
                <a:srgbClr val="CE3418"/>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2400"/>
              </a:p>
            </p:txBody>
          </p:sp>
          <p:sp>
            <p:nvSpPr>
              <p:cNvPr id="45" name="Freeform: Shape 9"/>
              <p:cNvSpPr/>
              <p:nvPr/>
            </p:nvSpPr>
            <p:spPr bwMode="auto">
              <a:xfrm>
                <a:off x="5000294" y="3171416"/>
                <a:ext cx="225388" cy="225388"/>
              </a:xfrm>
              <a:custGeom>
                <a:avLst/>
                <a:gdLst>
                  <a:gd name="T0" fmla="*/ 177354294 w 21600"/>
                  <a:gd name="T1" fmla="*/ 119619947 h 21600"/>
                  <a:gd name="T2" fmla="*/ 181994773 w 21600"/>
                  <a:gd name="T3" fmla="*/ 90970153 h 21600"/>
                  <a:gd name="T4" fmla="*/ 90997440 w 21600"/>
                  <a:gd name="T5" fmla="*/ 0 h 21600"/>
                  <a:gd name="T6" fmla="*/ 0 w 21600"/>
                  <a:gd name="T7" fmla="*/ 90970153 h 21600"/>
                  <a:gd name="T8" fmla="*/ 90997440 w 21600"/>
                  <a:gd name="T9" fmla="*/ 181941690 h 21600"/>
                  <a:gd name="T10" fmla="*/ 119632265 w 21600"/>
                  <a:gd name="T11" fmla="*/ 177314796 h 21600"/>
                  <a:gd name="T12" fmla="*/ 140353873 w 21600"/>
                  <a:gd name="T13" fmla="*/ 198036404 h 21600"/>
                  <a:gd name="T14" fmla="*/ 184433669 w 21600"/>
                  <a:gd name="T15" fmla="*/ 198036404 h 21600"/>
                  <a:gd name="T16" fmla="*/ 184433669 w 21600"/>
                  <a:gd name="T17" fmla="*/ 242088912 h 21600"/>
                  <a:gd name="T18" fmla="*/ 184513921 w 21600"/>
                  <a:gd name="T19" fmla="*/ 242169283 h 21600"/>
                  <a:gd name="T20" fmla="*/ 228567695 w 21600"/>
                  <a:gd name="T21" fmla="*/ 242169283 h 21600"/>
                  <a:gd name="T22" fmla="*/ 228567695 w 21600"/>
                  <a:gd name="T23" fmla="*/ 286223057 h 21600"/>
                  <a:gd name="T24" fmla="*/ 228660384 w 21600"/>
                  <a:gd name="T25" fmla="*/ 286302043 h 21600"/>
                  <a:gd name="T26" fmla="*/ 286355233 w 21600"/>
                  <a:gd name="T27" fmla="*/ 286302043 h 21600"/>
                  <a:gd name="T28" fmla="*/ 286355233 w 21600"/>
                  <a:gd name="T29" fmla="*/ 286355233 h 21600"/>
                  <a:gd name="T30" fmla="*/ 286355233 w 21600"/>
                  <a:gd name="T31" fmla="*/ 228580132 h 21600"/>
                  <a:gd name="T32" fmla="*/ 177354294 w 21600"/>
                  <a:gd name="T33" fmla="*/ 119619947 h 21600"/>
                  <a:gd name="T34" fmla="*/ 72066037 w 21600"/>
                  <a:gd name="T35" fmla="*/ 102106942 h 21600"/>
                  <a:gd name="T36" fmla="*/ 41349250 w 21600"/>
                  <a:gd name="T37" fmla="*/ 71416187 h 21600"/>
                  <a:gd name="T38" fmla="*/ 72066037 w 21600"/>
                  <a:gd name="T39" fmla="*/ 40712996 h 21600"/>
                  <a:gd name="T40" fmla="*/ 102769110 w 21600"/>
                  <a:gd name="T41" fmla="*/ 71416187 h 21600"/>
                  <a:gd name="T42" fmla="*/ 72066037 w 21600"/>
                  <a:gd name="T43" fmla="*/ 102106942 h 21600"/>
                  <a:gd name="T44" fmla="*/ 72066037 w 21600"/>
                  <a:gd name="T45" fmla="*/ 102106942 h 216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1600" h="21600">
                    <a:moveTo>
                      <a:pt x="13378" y="9023"/>
                    </a:moveTo>
                    <a:cubicBezTo>
                      <a:pt x="13604" y="8343"/>
                      <a:pt x="13728" y="7617"/>
                      <a:pt x="13728" y="6862"/>
                    </a:cubicBezTo>
                    <a:cubicBezTo>
                      <a:pt x="13728" y="3072"/>
                      <a:pt x="10655" y="0"/>
                      <a:pt x="6864" y="0"/>
                    </a:cubicBezTo>
                    <a:cubicBezTo>
                      <a:pt x="3073" y="0"/>
                      <a:pt x="0" y="3072"/>
                      <a:pt x="0" y="6862"/>
                    </a:cubicBezTo>
                    <a:cubicBezTo>
                      <a:pt x="0" y="10652"/>
                      <a:pt x="3073" y="13724"/>
                      <a:pt x="6864" y="13724"/>
                    </a:cubicBezTo>
                    <a:cubicBezTo>
                      <a:pt x="7619" y="13724"/>
                      <a:pt x="8345" y="13600"/>
                      <a:pt x="9024" y="13375"/>
                    </a:cubicBezTo>
                    <a:lnTo>
                      <a:pt x="10587" y="14938"/>
                    </a:lnTo>
                    <a:lnTo>
                      <a:pt x="13912" y="14938"/>
                    </a:lnTo>
                    <a:lnTo>
                      <a:pt x="13912" y="18261"/>
                    </a:lnTo>
                    <a:lnTo>
                      <a:pt x="13918" y="18267"/>
                    </a:lnTo>
                    <a:lnTo>
                      <a:pt x="17241" y="18267"/>
                    </a:lnTo>
                    <a:lnTo>
                      <a:pt x="17241" y="21590"/>
                    </a:lnTo>
                    <a:lnTo>
                      <a:pt x="17248" y="21596"/>
                    </a:lnTo>
                    <a:lnTo>
                      <a:pt x="21600" y="21596"/>
                    </a:lnTo>
                    <a:lnTo>
                      <a:pt x="21600" y="21600"/>
                    </a:lnTo>
                    <a:lnTo>
                      <a:pt x="21600" y="17242"/>
                    </a:lnTo>
                    <a:lnTo>
                      <a:pt x="13378" y="9023"/>
                    </a:lnTo>
                    <a:close/>
                    <a:moveTo>
                      <a:pt x="5436" y="7702"/>
                    </a:moveTo>
                    <a:cubicBezTo>
                      <a:pt x="4157" y="7702"/>
                      <a:pt x="3119" y="6665"/>
                      <a:pt x="3119" y="5387"/>
                    </a:cubicBezTo>
                    <a:cubicBezTo>
                      <a:pt x="3119" y="4108"/>
                      <a:pt x="4157" y="3071"/>
                      <a:pt x="5436" y="3071"/>
                    </a:cubicBezTo>
                    <a:cubicBezTo>
                      <a:pt x="6715" y="3071"/>
                      <a:pt x="7752" y="4108"/>
                      <a:pt x="7752" y="5387"/>
                    </a:cubicBezTo>
                    <a:cubicBezTo>
                      <a:pt x="7751" y="6665"/>
                      <a:pt x="6715" y="7702"/>
                      <a:pt x="5436" y="7702"/>
                    </a:cubicBezTo>
                    <a:close/>
                    <a:moveTo>
                      <a:pt x="5436" y="7702"/>
                    </a:moveTo>
                  </a:path>
                </a:pathLst>
              </a:custGeom>
              <a:solidFill>
                <a:schemeClr val="bg1"/>
              </a:solidFill>
              <a:ln>
                <a:noFill/>
              </a:ln>
            </p:spPr>
            <p:txBody>
              <a:bodyPr anchor="ctr"/>
              <a:lstStyle/>
              <a:p>
                <a:pPr algn="ctr"/>
                <a:endParaRPr sz="2400"/>
              </a:p>
            </p:txBody>
          </p:sp>
        </p:grpSp>
        <p:sp>
          <p:nvSpPr>
            <p:cNvPr id="66" name="TextBox 35"/>
            <p:cNvSpPr txBox="1"/>
            <p:nvPr/>
          </p:nvSpPr>
          <p:spPr>
            <a:xfrm>
              <a:off x="10774" y="4029"/>
              <a:ext cx="5522" cy="880"/>
            </a:xfrm>
            <a:prstGeom prst="rect">
              <a:avLst/>
            </a:prstGeom>
            <a:noFill/>
          </p:spPr>
          <p:txBody>
            <a:bodyPr wrap="none" lIns="0" tIns="0" rIns="0" bIns="0" anchor="ctr" anchorCtr="0">
              <a:no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财务比率分析</a:t>
              </a:r>
            </a:p>
          </p:txBody>
        </p:sp>
        <p:sp>
          <p:nvSpPr>
            <p:cNvPr id="72" name="文本框 71"/>
            <p:cNvSpPr txBox="1"/>
            <p:nvPr/>
          </p:nvSpPr>
          <p:spPr>
            <a:xfrm>
              <a:off x="10750" y="4730"/>
              <a:ext cx="4000" cy="483"/>
            </a:xfrm>
            <a:prstGeom prst="rect">
              <a:avLst/>
            </a:prstGeom>
            <a:noFill/>
          </p:spPr>
          <p:txBody>
            <a:bodyPr wrap="square" rtlCol="0" anchor="t">
              <a:spAutoFit/>
            </a:bodyPr>
            <a:lstStyle/>
            <a:p>
              <a:r>
                <a:rPr lang="zh-CN" altLang="en-US" sz="1400"/>
                <a:t>Analysis of financial ratios</a:t>
              </a:r>
            </a:p>
          </p:txBody>
        </p:sp>
      </p:grpSp>
      <p:grpSp>
        <p:nvGrpSpPr>
          <p:cNvPr id="10" name="组合 9"/>
          <p:cNvGrpSpPr/>
          <p:nvPr/>
        </p:nvGrpSpPr>
        <p:grpSpPr>
          <a:xfrm>
            <a:off x="6096000" y="3551555"/>
            <a:ext cx="4251960" cy="730250"/>
            <a:chOff x="9600" y="5593"/>
            <a:chExt cx="6696" cy="1150"/>
          </a:xfrm>
        </p:grpSpPr>
        <p:grpSp>
          <p:nvGrpSpPr>
            <p:cNvPr id="4" name="Group 50"/>
            <p:cNvGrpSpPr/>
            <p:nvPr/>
          </p:nvGrpSpPr>
          <p:grpSpPr>
            <a:xfrm>
              <a:off x="9600" y="5593"/>
              <a:ext cx="966" cy="966"/>
              <a:chOff x="4806253" y="3975596"/>
              <a:chExt cx="613472" cy="613472"/>
            </a:xfrm>
          </p:grpSpPr>
          <p:sp>
            <p:nvSpPr>
              <p:cNvPr id="42" name="Oval 11"/>
              <p:cNvSpPr/>
              <p:nvPr/>
            </p:nvSpPr>
            <p:spPr>
              <a:xfrm>
                <a:off x="4806253" y="3975596"/>
                <a:ext cx="613472" cy="613472"/>
              </a:xfrm>
              <a:prstGeom prst="ellipse">
                <a:avLst/>
              </a:prstGeom>
              <a:solidFill>
                <a:srgbClr val="5B9BD5"/>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2400"/>
              </a:p>
            </p:txBody>
          </p:sp>
          <p:sp>
            <p:nvSpPr>
              <p:cNvPr id="43" name="Freeform: Shape 12"/>
              <p:cNvSpPr/>
              <p:nvPr/>
            </p:nvSpPr>
            <p:spPr bwMode="auto">
              <a:xfrm>
                <a:off x="5003891" y="4174066"/>
                <a:ext cx="197601" cy="225388"/>
              </a:xfrm>
              <a:custGeom>
                <a:avLst/>
                <a:gdLst>
                  <a:gd name="T0" fmla="*/ 145512959 w 21600"/>
                  <a:gd name="T1" fmla="*/ 203073433 h 21600"/>
                  <a:gd name="T2" fmla="*/ 145802623 w 21600"/>
                  <a:gd name="T3" fmla="*/ 194761133 h 21600"/>
                  <a:gd name="T4" fmla="*/ 145802623 w 21600"/>
                  <a:gd name="T5" fmla="*/ 125373600 h 21600"/>
                  <a:gd name="T6" fmla="*/ 104926995 w 21600"/>
                  <a:gd name="T7" fmla="*/ 39943277 h 21600"/>
                  <a:gd name="T8" fmla="*/ 105749513 w 21600"/>
                  <a:gd name="T9" fmla="*/ 31392540 h 21600"/>
                  <a:gd name="T10" fmla="*/ 84532065 w 21600"/>
                  <a:gd name="T11" fmla="*/ 0 h 21600"/>
                  <a:gd name="T12" fmla="*/ 63314533 w 21600"/>
                  <a:gd name="T13" fmla="*/ 31392540 h 21600"/>
                  <a:gd name="T14" fmla="*/ 64145452 w 21600"/>
                  <a:gd name="T15" fmla="*/ 39996478 h 21600"/>
                  <a:gd name="T16" fmla="*/ 23363023 w 21600"/>
                  <a:gd name="T17" fmla="*/ 125385918 h 21600"/>
                  <a:gd name="T18" fmla="*/ 23363023 w 21600"/>
                  <a:gd name="T19" fmla="*/ 194761133 h 21600"/>
                  <a:gd name="T20" fmla="*/ 23645246 w 21600"/>
                  <a:gd name="T21" fmla="*/ 203100602 h 21600"/>
                  <a:gd name="T22" fmla="*/ 0 w 21600"/>
                  <a:gd name="T23" fmla="*/ 236998693 h 21600"/>
                  <a:gd name="T24" fmla="*/ 9272957 w 21600"/>
                  <a:gd name="T25" fmla="*/ 250706436 h 21600"/>
                  <a:gd name="T26" fmla="*/ 63534281 w 21600"/>
                  <a:gd name="T27" fmla="*/ 250706436 h 21600"/>
                  <a:gd name="T28" fmla="*/ 63314533 w 21600"/>
                  <a:gd name="T29" fmla="*/ 254962705 h 21600"/>
                  <a:gd name="T30" fmla="*/ 84532065 w 21600"/>
                  <a:gd name="T31" fmla="*/ 286355233 h 21600"/>
                  <a:gd name="T32" fmla="*/ 105749513 w 21600"/>
                  <a:gd name="T33" fmla="*/ 254962705 h 21600"/>
                  <a:gd name="T34" fmla="*/ 105529766 w 21600"/>
                  <a:gd name="T35" fmla="*/ 250706436 h 21600"/>
                  <a:gd name="T36" fmla="*/ 159908522 w 21600"/>
                  <a:gd name="T37" fmla="*/ 250706436 h 21600"/>
                  <a:gd name="T38" fmla="*/ 169173962 w 21600"/>
                  <a:gd name="T39" fmla="*/ 236998693 h 21600"/>
                  <a:gd name="T40" fmla="*/ 145512959 w 21600"/>
                  <a:gd name="T41" fmla="*/ 203073433 h 21600"/>
                  <a:gd name="T42" fmla="*/ 72721479 w 21600"/>
                  <a:gd name="T43" fmla="*/ 31392540 h 21600"/>
                  <a:gd name="T44" fmla="*/ 84532065 w 21600"/>
                  <a:gd name="T45" fmla="*/ 13920288 h 21600"/>
                  <a:gd name="T46" fmla="*/ 96343451 w 21600"/>
                  <a:gd name="T47" fmla="*/ 31392540 h 21600"/>
                  <a:gd name="T48" fmla="*/ 95802281 w 21600"/>
                  <a:gd name="T49" fmla="*/ 36338135 h 21600"/>
                  <a:gd name="T50" fmla="*/ 84587024 w 21600"/>
                  <a:gd name="T51" fmla="*/ 34799986 h 21600"/>
                  <a:gd name="T52" fmla="*/ 73269292 w 21600"/>
                  <a:gd name="T53" fmla="*/ 36364156 h 21600"/>
                  <a:gd name="T54" fmla="*/ 72721479 w 21600"/>
                  <a:gd name="T55" fmla="*/ 31392540 h 21600"/>
                  <a:gd name="T56" fmla="*/ 72721479 w 21600"/>
                  <a:gd name="T57" fmla="*/ 31392540 h 216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1600" h="21600">
                    <a:moveTo>
                      <a:pt x="18579" y="15318"/>
                    </a:moveTo>
                    <a:cubicBezTo>
                      <a:pt x="18603" y="15119"/>
                      <a:pt x="18616" y="14912"/>
                      <a:pt x="18616" y="14691"/>
                    </a:cubicBezTo>
                    <a:lnTo>
                      <a:pt x="18616" y="9457"/>
                    </a:lnTo>
                    <a:cubicBezTo>
                      <a:pt x="18616" y="6480"/>
                      <a:pt x="16437" y="3949"/>
                      <a:pt x="13397" y="3013"/>
                    </a:cubicBezTo>
                    <a:cubicBezTo>
                      <a:pt x="13464" y="2807"/>
                      <a:pt x="13502" y="2592"/>
                      <a:pt x="13502" y="2368"/>
                    </a:cubicBezTo>
                    <a:cubicBezTo>
                      <a:pt x="13502" y="1061"/>
                      <a:pt x="12289" y="0"/>
                      <a:pt x="10793" y="0"/>
                    </a:cubicBezTo>
                    <a:cubicBezTo>
                      <a:pt x="9297" y="0"/>
                      <a:pt x="8084" y="1060"/>
                      <a:pt x="8084" y="2368"/>
                    </a:cubicBezTo>
                    <a:cubicBezTo>
                      <a:pt x="8084" y="2593"/>
                      <a:pt x="8122" y="2810"/>
                      <a:pt x="8190" y="3017"/>
                    </a:cubicBezTo>
                    <a:cubicBezTo>
                      <a:pt x="5156" y="3956"/>
                      <a:pt x="2983" y="6484"/>
                      <a:pt x="2983" y="9458"/>
                    </a:cubicBezTo>
                    <a:lnTo>
                      <a:pt x="2983" y="14691"/>
                    </a:lnTo>
                    <a:cubicBezTo>
                      <a:pt x="2983" y="14912"/>
                      <a:pt x="2996" y="15121"/>
                      <a:pt x="3019" y="15320"/>
                    </a:cubicBezTo>
                    <a:lnTo>
                      <a:pt x="0" y="17877"/>
                    </a:lnTo>
                    <a:cubicBezTo>
                      <a:pt x="0" y="18448"/>
                      <a:pt x="530" y="18911"/>
                      <a:pt x="1184" y="18911"/>
                    </a:cubicBezTo>
                    <a:lnTo>
                      <a:pt x="8112" y="18911"/>
                    </a:lnTo>
                    <a:cubicBezTo>
                      <a:pt x="8096" y="19017"/>
                      <a:pt x="8084" y="19123"/>
                      <a:pt x="8084" y="19232"/>
                    </a:cubicBezTo>
                    <a:cubicBezTo>
                      <a:pt x="8084" y="20540"/>
                      <a:pt x="9297" y="21600"/>
                      <a:pt x="10793" y="21600"/>
                    </a:cubicBezTo>
                    <a:cubicBezTo>
                      <a:pt x="12289" y="21600"/>
                      <a:pt x="13502" y="20540"/>
                      <a:pt x="13502" y="19232"/>
                    </a:cubicBezTo>
                    <a:cubicBezTo>
                      <a:pt x="13502" y="19123"/>
                      <a:pt x="13490" y="19016"/>
                      <a:pt x="13474" y="18911"/>
                    </a:cubicBezTo>
                    <a:lnTo>
                      <a:pt x="20417" y="18911"/>
                    </a:lnTo>
                    <a:cubicBezTo>
                      <a:pt x="21070" y="18911"/>
                      <a:pt x="21600" y="18448"/>
                      <a:pt x="21600" y="17877"/>
                    </a:cubicBezTo>
                    <a:lnTo>
                      <a:pt x="18579" y="15318"/>
                    </a:lnTo>
                    <a:close/>
                    <a:moveTo>
                      <a:pt x="9285" y="2368"/>
                    </a:moveTo>
                    <a:cubicBezTo>
                      <a:pt x="9285" y="1641"/>
                      <a:pt x="9962" y="1050"/>
                      <a:pt x="10793" y="1050"/>
                    </a:cubicBezTo>
                    <a:cubicBezTo>
                      <a:pt x="11624" y="1050"/>
                      <a:pt x="12301" y="1641"/>
                      <a:pt x="12301" y="2368"/>
                    </a:cubicBezTo>
                    <a:cubicBezTo>
                      <a:pt x="12301" y="2498"/>
                      <a:pt x="12272" y="2622"/>
                      <a:pt x="12232" y="2741"/>
                    </a:cubicBezTo>
                    <a:cubicBezTo>
                      <a:pt x="11767" y="2666"/>
                      <a:pt x="11289" y="2625"/>
                      <a:pt x="10800" y="2625"/>
                    </a:cubicBezTo>
                    <a:cubicBezTo>
                      <a:pt x="10306" y="2625"/>
                      <a:pt x="9824" y="2666"/>
                      <a:pt x="9355" y="2743"/>
                    </a:cubicBezTo>
                    <a:cubicBezTo>
                      <a:pt x="9314" y="2623"/>
                      <a:pt x="9285" y="2499"/>
                      <a:pt x="9285" y="2368"/>
                    </a:cubicBezTo>
                    <a:close/>
                    <a:moveTo>
                      <a:pt x="9285" y="2368"/>
                    </a:moveTo>
                  </a:path>
                </a:pathLst>
              </a:custGeom>
              <a:solidFill>
                <a:schemeClr val="bg1"/>
              </a:solidFill>
              <a:ln>
                <a:noFill/>
              </a:ln>
            </p:spPr>
            <p:txBody>
              <a:bodyPr anchor="ctr"/>
              <a:lstStyle/>
              <a:p>
                <a:pPr algn="ctr"/>
                <a:endParaRPr sz="2400"/>
              </a:p>
            </p:txBody>
          </p:sp>
        </p:grpSp>
        <p:sp>
          <p:nvSpPr>
            <p:cNvPr id="67" name="TextBox 35"/>
            <p:cNvSpPr txBox="1"/>
            <p:nvPr/>
          </p:nvSpPr>
          <p:spPr>
            <a:xfrm>
              <a:off x="10774" y="5612"/>
              <a:ext cx="5522" cy="880"/>
            </a:xfrm>
            <a:prstGeom prst="rect">
              <a:avLst/>
            </a:prstGeom>
            <a:noFill/>
          </p:spPr>
          <p:txBody>
            <a:bodyPr wrap="none" lIns="0" tIns="0" rIns="0" bIns="0" anchor="ctr" anchorCtr="0">
              <a:no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比较分析</a:t>
              </a:r>
            </a:p>
          </p:txBody>
        </p:sp>
        <p:sp>
          <p:nvSpPr>
            <p:cNvPr id="73" name="文本框 72"/>
            <p:cNvSpPr txBox="1"/>
            <p:nvPr/>
          </p:nvSpPr>
          <p:spPr>
            <a:xfrm>
              <a:off x="10774" y="6261"/>
              <a:ext cx="4000" cy="483"/>
            </a:xfrm>
            <a:prstGeom prst="rect">
              <a:avLst/>
            </a:prstGeom>
            <a:noFill/>
          </p:spPr>
          <p:txBody>
            <a:bodyPr wrap="square" rtlCol="0" anchor="t">
              <a:spAutoFit/>
            </a:bodyPr>
            <a:lstStyle/>
            <a:p>
              <a:r>
                <a:rPr lang="zh-CN" altLang="en-US" sz="1400"/>
                <a:t>Comparative analysis</a:t>
              </a:r>
            </a:p>
          </p:txBody>
        </p:sp>
      </p:grpSp>
      <p:grpSp>
        <p:nvGrpSpPr>
          <p:cNvPr id="11" name="组合 10"/>
          <p:cNvGrpSpPr/>
          <p:nvPr/>
        </p:nvGrpSpPr>
        <p:grpSpPr>
          <a:xfrm>
            <a:off x="6096000" y="4545330"/>
            <a:ext cx="4251960" cy="742950"/>
            <a:chOff x="9600" y="7158"/>
            <a:chExt cx="6696" cy="1170"/>
          </a:xfrm>
        </p:grpSpPr>
        <p:grpSp>
          <p:nvGrpSpPr>
            <p:cNvPr id="5" name="Group 51"/>
            <p:cNvGrpSpPr/>
            <p:nvPr/>
          </p:nvGrpSpPr>
          <p:grpSpPr>
            <a:xfrm>
              <a:off x="9600" y="7158"/>
              <a:ext cx="966" cy="966"/>
              <a:chOff x="4806253" y="4968974"/>
              <a:chExt cx="613472" cy="613472"/>
            </a:xfrm>
          </p:grpSpPr>
          <p:sp>
            <p:nvSpPr>
              <p:cNvPr id="35" name="Oval 17"/>
              <p:cNvSpPr/>
              <p:nvPr/>
            </p:nvSpPr>
            <p:spPr>
              <a:xfrm>
                <a:off x="4806253" y="4968974"/>
                <a:ext cx="613472" cy="613472"/>
              </a:xfrm>
              <a:prstGeom prst="ellipse">
                <a:avLst/>
              </a:prstGeom>
              <a:solidFill>
                <a:srgbClr val="CE3418"/>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2400"/>
              </a:p>
            </p:txBody>
          </p:sp>
          <p:grpSp>
            <p:nvGrpSpPr>
              <p:cNvPr id="6" name="Group 18"/>
              <p:cNvGrpSpPr/>
              <p:nvPr/>
            </p:nvGrpSpPr>
            <p:grpSpPr bwMode="auto">
              <a:xfrm>
                <a:off x="4999337" y="5167444"/>
                <a:ext cx="225387" cy="225387"/>
                <a:chOff x="0" y="0"/>
                <a:chExt cx="577" cy="574"/>
              </a:xfrm>
              <a:solidFill>
                <a:schemeClr val="bg1"/>
              </a:solidFill>
            </p:grpSpPr>
            <p:sp>
              <p:nvSpPr>
                <p:cNvPr id="37" name="Freeform: Shape 19"/>
                <p:cNvSpPr/>
                <p:nvPr/>
              </p:nvSpPr>
              <p:spPr bwMode="auto">
                <a:xfrm>
                  <a:off x="368" y="368"/>
                  <a:ext cx="205" cy="20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8447" y="8564"/>
                      </a:moveTo>
                      <a:lnTo>
                        <a:pt x="6893" y="0"/>
                      </a:lnTo>
                      <a:lnTo>
                        <a:pt x="0" y="6909"/>
                      </a:lnTo>
                      <a:lnTo>
                        <a:pt x="8514" y="18507"/>
                      </a:lnTo>
                      <a:cubicBezTo>
                        <a:pt x="10541" y="16972"/>
                        <a:pt x="14706" y="18290"/>
                        <a:pt x="18327" y="21600"/>
                      </a:cubicBezTo>
                      <a:lnTo>
                        <a:pt x="21600" y="18319"/>
                      </a:lnTo>
                      <a:cubicBezTo>
                        <a:pt x="18344" y="14739"/>
                        <a:pt x="17015" y="10625"/>
                        <a:pt x="18447" y="8564"/>
                      </a:cubicBezTo>
                      <a:close/>
                      <a:moveTo>
                        <a:pt x="14477" y="14461"/>
                      </a:moveTo>
                      <a:cubicBezTo>
                        <a:pt x="13723" y="15214"/>
                        <a:pt x="12501" y="15214"/>
                        <a:pt x="11748" y="14461"/>
                      </a:cubicBezTo>
                      <a:cubicBezTo>
                        <a:pt x="10995" y="13705"/>
                        <a:pt x="10995" y="12479"/>
                        <a:pt x="11749" y="11725"/>
                      </a:cubicBezTo>
                      <a:cubicBezTo>
                        <a:pt x="12502" y="10969"/>
                        <a:pt x="13724" y="10969"/>
                        <a:pt x="14477" y="11725"/>
                      </a:cubicBezTo>
                      <a:cubicBezTo>
                        <a:pt x="15230" y="12479"/>
                        <a:pt x="15230" y="13705"/>
                        <a:pt x="14477" y="14461"/>
                      </a:cubicBezTo>
                      <a:close/>
                      <a:moveTo>
                        <a:pt x="14477" y="14461"/>
                      </a:moveTo>
                    </a:path>
                  </a:pathLst>
                </a:custGeom>
                <a:grpFill/>
                <a:ln>
                  <a:noFill/>
                </a:ln>
              </p:spPr>
              <p:txBody>
                <a:bodyPr anchor="ctr"/>
                <a:lstStyle/>
                <a:p>
                  <a:pPr algn="ctr"/>
                  <a:endParaRPr sz="2400"/>
                </a:p>
              </p:txBody>
            </p:sp>
            <p:sp>
              <p:nvSpPr>
                <p:cNvPr id="38" name="Freeform: Shape 20"/>
                <p:cNvSpPr/>
                <p:nvPr/>
              </p:nvSpPr>
              <p:spPr bwMode="auto">
                <a:xfrm>
                  <a:off x="328" y="304"/>
                  <a:ext cx="107" cy="13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21600">
                      <a:moveTo>
                        <a:pt x="14544" y="0"/>
                      </a:moveTo>
                      <a:lnTo>
                        <a:pt x="13967" y="562"/>
                      </a:lnTo>
                      <a:cubicBezTo>
                        <a:pt x="14018" y="3961"/>
                        <a:pt x="12593" y="7264"/>
                        <a:pt x="9866" y="9922"/>
                      </a:cubicBezTo>
                      <a:lnTo>
                        <a:pt x="24" y="19504"/>
                      </a:lnTo>
                      <a:cubicBezTo>
                        <a:pt x="18" y="19554"/>
                        <a:pt x="6" y="19602"/>
                        <a:pt x="0" y="19652"/>
                      </a:cubicBezTo>
                      <a:lnTo>
                        <a:pt x="2371" y="21600"/>
                      </a:lnTo>
                      <a:lnTo>
                        <a:pt x="21600" y="5798"/>
                      </a:lnTo>
                      <a:lnTo>
                        <a:pt x="14544" y="0"/>
                      </a:lnTo>
                      <a:close/>
                      <a:moveTo>
                        <a:pt x="14544" y="0"/>
                      </a:moveTo>
                    </a:path>
                  </a:pathLst>
                </a:custGeom>
                <a:grpFill/>
                <a:ln>
                  <a:noFill/>
                </a:ln>
              </p:spPr>
              <p:txBody>
                <a:bodyPr anchor="ctr"/>
                <a:lstStyle/>
                <a:p>
                  <a:pPr algn="ctr"/>
                  <a:endParaRPr sz="2400"/>
                </a:p>
              </p:txBody>
            </p:sp>
            <p:sp>
              <p:nvSpPr>
                <p:cNvPr id="39" name="Freeform: Shape 21"/>
                <p:cNvSpPr/>
                <p:nvPr/>
              </p:nvSpPr>
              <p:spPr bwMode="auto">
                <a:xfrm>
                  <a:off x="0" y="0"/>
                  <a:ext cx="297" cy="289"/>
                </a:xfrm>
                <a:custGeom>
                  <a:avLst/>
                  <a:gdLst>
                    <a:gd name="T0" fmla="*/ 0 w 21222"/>
                    <a:gd name="T1" fmla="*/ 0 h 21211"/>
                    <a:gd name="T2" fmla="*/ 0 w 21222"/>
                    <a:gd name="T3" fmla="*/ 0 h 21211"/>
                    <a:gd name="T4" fmla="*/ 0 w 21222"/>
                    <a:gd name="T5" fmla="*/ 0 h 21211"/>
                    <a:gd name="T6" fmla="*/ 0 w 21222"/>
                    <a:gd name="T7" fmla="*/ 0 h 21211"/>
                    <a:gd name="T8" fmla="*/ 0 w 21222"/>
                    <a:gd name="T9" fmla="*/ 0 h 21211"/>
                    <a:gd name="T10" fmla="*/ 0 w 21222"/>
                    <a:gd name="T11" fmla="*/ 0 h 21211"/>
                    <a:gd name="T12" fmla="*/ 0 w 21222"/>
                    <a:gd name="T13" fmla="*/ 0 h 21211"/>
                    <a:gd name="T14" fmla="*/ 0 w 21222"/>
                    <a:gd name="T15" fmla="*/ 0 h 21211"/>
                    <a:gd name="T16" fmla="*/ 0 w 21222"/>
                    <a:gd name="T17" fmla="*/ 0 h 21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222" h="21211">
                      <a:moveTo>
                        <a:pt x="15153" y="21211"/>
                      </a:moveTo>
                      <a:lnTo>
                        <a:pt x="17409" y="18463"/>
                      </a:lnTo>
                      <a:cubicBezTo>
                        <a:pt x="18368" y="17292"/>
                        <a:pt x="19694" y="16530"/>
                        <a:pt x="21146" y="16293"/>
                      </a:cubicBezTo>
                      <a:lnTo>
                        <a:pt x="21222" y="16201"/>
                      </a:lnTo>
                      <a:lnTo>
                        <a:pt x="6603" y="1165"/>
                      </a:lnTo>
                      <a:cubicBezTo>
                        <a:pt x="5093" y="-389"/>
                        <a:pt x="2643" y="-389"/>
                        <a:pt x="1133" y="1165"/>
                      </a:cubicBezTo>
                      <a:cubicBezTo>
                        <a:pt x="-378" y="2718"/>
                        <a:pt x="-378" y="5237"/>
                        <a:pt x="1133" y="6791"/>
                      </a:cubicBezTo>
                      <a:lnTo>
                        <a:pt x="15153" y="21211"/>
                      </a:lnTo>
                      <a:close/>
                      <a:moveTo>
                        <a:pt x="15153" y="21211"/>
                      </a:moveTo>
                    </a:path>
                  </a:pathLst>
                </a:custGeom>
                <a:grpFill/>
                <a:ln>
                  <a:noFill/>
                </a:ln>
              </p:spPr>
              <p:txBody>
                <a:bodyPr anchor="ctr"/>
                <a:lstStyle/>
                <a:p>
                  <a:pPr algn="ctr"/>
                  <a:endParaRPr sz="2400"/>
                </a:p>
              </p:txBody>
            </p:sp>
            <p:sp>
              <p:nvSpPr>
                <p:cNvPr id="40" name="Freeform: Shape 22"/>
                <p:cNvSpPr/>
                <p:nvPr/>
              </p:nvSpPr>
              <p:spPr bwMode="auto">
                <a:xfrm>
                  <a:off x="0" y="328"/>
                  <a:ext cx="298" cy="246"/>
                </a:xfrm>
                <a:custGeom>
                  <a:avLst/>
                  <a:gdLst>
                    <a:gd name="T0" fmla="*/ 0 w 21116"/>
                    <a:gd name="T1" fmla="*/ 0 h 21374"/>
                    <a:gd name="T2" fmla="*/ 0 w 21116"/>
                    <a:gd name="T3" fmla="*/ 0 h 21374"/>
                    <a:gd name="T4" fmla="*/ 0 w 21116"/>
                    <a:gd name="T5" fmla="*/ 0 h 21374"/>
                    <a:gd name="T6" fmla="*/ 0 w 21116"/>
                    <a:gd name="T7" fmla="*/ 0 h 21374"/>
                    <a:gd name="T8" fmla="*/ 0 w 21116"/>
                    <a:gd name="T9" fmla="*/ 0 h 21374"/>
                    <a:gd name="T10" fmla="*/ 0 w 21116"/>
                    <a:gd name="T11" fmla="*/ 0 h 21374"/>
                    <a:gd name="T12" fmla="*/ 0 w 21116"/>
                    <a:gd name="T13" fmla="*/ 0 h 21374"/>
                    <a:gd name="T14" fmla="*/ 0 w 21116"/>
                    <a:gd name="T15" fmla="*/ 0 h 21374"/>
                    <a:gd name="T16" fmla="*/ 0 w 21116"/>
                    <a:gd name="T17" fmla="*/ 0 h 213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116" h="21374">
                      <a:moveTo>
                        <a:pt x="17024" y="721"/>
                      </a:moveTo>
                      <a:cubicBezTo>
                        <a:pt x="16543" y="427"/>
                        <a:pt x="16052" y="191"/>
                        <a:pt x="15571" y="0"/>
                      </a:cubicBezTo>
                      <a:cubicBezTo>
                        <a:pt x="13915" y="235"/>
                        <a:pt x="7378" y="2037"/>
                        <a:pt x="6834" y="8291"/>
                      </a:cubicBezTo>
                      <a:cubicBezTo>
                        <a:pt x="6063" y="17146"/>
                        <a:pt x="1254" y="15657"/>
                        <a:pt x="153" y="15771"/>
                      </a:cubicBezTo>
                      <a:cubicBezTo>
                        <a:pt x="-484" y="15837"/>
                        <a:pt x="743" y="21126"/>
                        <a:pt x="6046" y="21364"/>
                      </a:cubicBezTo>
                      <a:cubicBezTo>
                        <a:pt x="11298" y="21600"/>
                        <a:pt x="20647" y="17485"/>
                        <a:pt x="21032" y="7006"/>
                      </a:cubicBezTo>
                      <a:lnTo>
                        <a:pt x="21116" y="6884"/>
                      </a:lnTo>
                      <a:cubicBezTo>
                        <a:pt x="20449" y="3612"/>
                        <a:pt x="18811" y="1844"/>
                        <a:pt x="17024" y="721"/>
                      </a:cubicBezTo>
                      <a:close/>
                      <a:moveTo>
                        <a:pt x="17024" y="721"/>
                      </a:moveTo>
                    </a:path>
                  </a:pathLst>
                </a:custGeom>
                <a:grpFill/>
                <a:ln>
                  <a:noFill/>
                </a:ln>
              </p:spPr>
              <p:txBody>
                <a:bodyPr anchor="ctr"/>
                <a:lstStyle/>
                <a:p>
                  <a:pPr algn="ctr"/>
                  <a:endParaRPr sz="2400"/>
                </a:p>
              </p:txBody>
            </p:sp>
            <p:sp>
              <p:nvSpPr>
                <p:cNvPr id="41" name="Freeform: Shape 23"/>
                <p:cNvSpPr/>
                <p:nvPr/>
              </p:nvSpPr>
              <p:spPr bwMode="auto">
                <a:xfrm>
                  <a:off x="240" y="0"/>
                  <a:ext cx="337" cy="385"/>
                </a:xfrm>
                <a:custGeom>
                  <a:avLst/>
                  <a:gdLst>
                    <a:gd name="T0" fmla="*/ 0 w 21345"/>
                    <a:gd name="T1" fmla="*/ 0 h 21376"/>
                    <a:gd name="T2" fmla="*/ 0 w 21345"/>
                    <a:gd name="T3" fmla="*/ 0 h 21376"/>
                    <a:gd name="T4" fmla="*/ 0 w 21345"/>
                    <a:gd name="T5" fmla="*/ 0 h 21376"/>
                    <a:gd name="T6" fmla="*/ 0 w 21345"/>
                    <a:gd name="T7" fmla="*/ 0 h 21376"/>
                    <a:gd name="T8" fmla="*/ 0 w 21345"/>
                    <a:gd name="T9" fmla="*/ 0 h 21376"/>
                    <a:gd name="T10" fmla="*/ 0 w 21345"/>
                    <a:gd name="T11" fmla="*/ 0 h 21376"/>
                    <a:gd name="T12" fmla="*/ 0 w 21345"/>
                    <a:gd name="T13" fmla="*/ 0 h 21376"/>
                    <a:gd name="T14" fmla="*/ 0 w 21345"/>
                    <a:gd name="T15" fmla="*/ 0 h 21376"/>
                    <a:gd name="T16" fmla="*/ 0 w 21345"/>
                    <a:gd name="T17" fmla="*/ 0 h 21376"/>
                    <a:gd name="T18" fmla="*/ 0 w 21345"/>
                    <a:gd name="T19" fmla="*/ 0 h 21376"/>
                    <a:gd name="T20" fmla="*/ 0 w 21345"/>
                    <a:gd name="T21" fmla="*/ 0 h 21376"/>
                    <a:gd name="T22" fmla="*/ 0 w 21345"/>
                    <a:gd name="T23" fmla="*/ 0 h 213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345" h="21376">
                      <a:moveTo>
                        <a:pt x="7963" y="16438"/>
                      </a:moveTo>
                      <a:lnTo>
                        <a:pt x="20844" y="3060"/>
                      </a:lnTo>
                      <a:cubicBezTo>
                        <a:pt x="21600" y="2274"/>
                        <a:pt x="21488" y="1102"/>
                        <a:pt x="20592" y="438"/>
                      </a:cubicBezTo>
                      <a:cubicBezTo>
                        <a:pt x="19696" y="-224"/>
                        <a:pt x="18359" y="-125"/>
                        <a:pt x="17602" y="661"/>
                      </a:cubicBezTo>
                      <a:lnTo>
                        <a:pt x="4720" y="14039"/>
                      </a:lnTo>
                      <a:cubicBezTo>
                        <a:pt x="3698" y="14005"/>
                        <a:pt x="2666" y="14368"/>
                        <a:pt x="1957" y="15106"/>
                      </a:cubicBezTo>
                      <a:lnTo>
                        <a:pt x="0" y="17139"/>
                      </a:lnTo>
                      <a:cubicBezTo>
                        <a:pt x="266" y="17232"/>
                        <a:pt x="533" y="17334"/>
                        <a:pt x="800" y="17450"/>
                      </a:cubicBezTo>
                      <a:cubicBezTo>
                        <a:pt x="2456" y="18154"/>
                        <a:pt x="4079" y="19406"/>
                        <a:pt x="4942" y="21376"/>
                      </a:cubicBezTo>
                      <a:lnTo>
                        <a:pt x="7225" y="19005"/>
                      </a:lnTo>
                      <a:cubicBezTo>
                        <a:pt x="7936" y="18266"/>
                        <a:pt x="8172" y="17316"/>
                        <a:pt x="7963" y="16438"/>
                      </a:cubicBezTo>
                      <a:close/>
                      <a:moveTo>
                        <a:pt x="7963" y="16438"/>
                      </a:moveTo>
                    </a:path>
                  </a:pathLst>
                </a:custGeom>
                <a:grpFill/>
                <a:ln>
                  <a:noFill/>
                </a:ln>
              </p:spPr>
              <p:txBody>
                <a:bodyPr anchor="ctr"/>
                <a:lstStyle/>
                <a:p>
                  <a:pPr algn="ctr"/>
                  <a:endParaRPr sz="2400"/>
                </a:p>
              </p:txBody>
            </p:sp>
          </p:grpSp>
        </p:grpSp>
        <p:sp>
          <p:nvSpPr>
            <p:cNvPr id="68" name="TextBox 35"/>
            <p:cNvSpPr txBox="1"/>
            <p:nvPr/>
          </p:nvSpPr>
          <p:spPr>
            <a:xfrm>
              <a:off x="10774" y="7158"/>
              <a:ext cx="5522" cy="880"/>
            </a:xfrm>
            <a:prstGeom prst="rect">
              <a:avLst/>
            </a:prstGeom>
            <a:noFill/>
          </p:spPr>
          <p:txBody>
            <a:bodyPr wrap="none" lIns="0" tIns="0" rIns="0" bIns="0" anchor="ctr" anchorCtr="0">
              <a:noAutofit/>
            </a:bodyPr>
            <a:lstStyle/>
            <a:p>
              <a:pPr algn="l"/>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sym typeface="+mn-ea"/>
                </a:rPr>
                <a:t>杜邦财务体系分析</a:t>
              </a:r>
            </a:p>
          </p:txBody>
        </p:sp>
        <p:sp>
          <p:nvSpPr>
            <p:cNvPr id="74" name="文本框 73"/>
            <p:cNvSpPr txBox="1"/>
            <p:nvPr/>
          </p:nvSpPr>
          <p:spPr>
            <a:xfrm>
              <a:off x="10774" y="7846"/>
              <a:ext cx="5523" cy="483"/>
            </a:xfrm>
            <a:prstGeom prst="rect">
              <a:avLst/>
            </a:prstGeom>
            <a:noFill/>
          </p:spPr>
          <p:txBody>
            <a:bodyPr wrap="square" rtlCol="0" anchor="t">
              <a:spAutoFit/>
            </a:bodyPr>
            <a:lstStyle/>
            <a:p>
              <a:r>
                <a:rPr lang="zh-CN" altLang="en-US" sz="1400"/>
                <a:t>DuPont Financial System Analysis</a:t>
              </a:r>
            </a:p>
          </p:txBody>
        </p:sp>
      </p:gr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0-#ppt_w/2"/>
                                          </p:val>
                                        </p:tav>
                                        <p:tav tm="100000">
                                          <p:val>
                                            <p:strVal val="#ppt_x"/>
                                          </p:val>
                                        </p:tav>
                                      </p:tavLst>
                                    </p:anim>
                                    <p:anim calcmode="lin" valueType="num">
                                      <p:cBhvr additive="base">
                                        <p:cTn id="8" dur="500" fill="hold"/>
                                        <p:tgtEl>
                                          <p:spTgt spid="4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additive="base">
                                        <p:cTn id="11" dur="500" fill="hold"/>
                                        <p:tgtEl>
                                          <p:spTgt spid="50"/>
                                        </p:tgtEl>
                                        <p:attrNameLst>
                                          <p:attrName>ppt_x</p:attrName>
                                        </p:attrNameLst>
                                      </p:cBhvr>
                                      <p:tavLst>
                                        <p:tav tm="0">
                                          <p:val>
                                            <p:strVal val="0-#ppt_w/2"/>
                                          </p:val>
                                        </p:tav>
                                        <p:tav tm="100000">
                                          <p:val>
                                            <p:strVal val="#ppt_x"/>
                                          </p:val>
                                        </p:tav>
                                      </p:tavLst>
                                    </p:anim>
                                    <p:anim calcmode="lin" valueType="num">
                                      <p:cBhvr additive="base">
                                        <p:cTn id="12" dur="500" fill="hold"/>
                                        <p:tgtEl>
                                          <p:spTgt spid="5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Effect transition="in" filter="fade">
                                      <p:cBhvr>
                                        <p:cTn id="18" dur="500"/>
                                        <p:tgtEl>
                                          <p:spTgt spid="13"/>
                                        </p:tgtEl>
                                      </p:cBhvr>
                                    </p:animEffect>
                                  </p:childTnLst>
                                </p:cTn>
                              </p:par>
                            </p:childTnLst>
                          </p:cTn>
                        </p:par>
                        <p:par>
                          <p:cTn id="19" fill="hold">
                            <p:stCondLst>
                              <p:cond delay="1000"/>
                            </p:stCondLst>
                            <p:childTnLst>
                              <p:par>
                                <p:cTn id="20" presetID="22" presetClass="entr" presetSubtype="1" fill="hold" nodeType="after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up)">
                                      <p:cBhvr>
                                        <p:cTn id="22" dur="500"/>
                                        <p:tgtEl>
                                          <p:spTgt spid="52"/>
                                        </p:tgtEl>
                                      </p:cBhvr>
                                    </p:animEffect>
                                  </p:childTnLst>
                                </p:cTn>
                              </p:par>
                            </p:childTnLst>
                          </p:cTn>
                        </p:par>
                        <p:par>
                          <p:cTn id="23" fill="hold">
                            <p:stCondLst>
                              <p:cond delay="1500"/>
                            </p:stCondLst>
                            <p:childTnLst>
                              <p:par>
                                <p:cTn id="24" presetID="22" presetClass="entr" presetSubtype="4" fill="hold" nodeType="after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wipe(down)">
                                      <p:cBhvr>
                                        <p:cTn id="26" dur="500"/>
                                        <p:tgtEl>
                                          <p:spTgt spid="53"/>
                                        </p:tgtEl>
                                      </p:cBhvr>
                                    </p:animEffect>
                                  </p:childTnLst>
                                </p:cTn>
                              </p:par>
                            </p:childTnLst>
                          </p:cTn>
                        </p:par>
                        <p:par>
                          <p:cTn id="27" fill="hold">
                            <p:stCondLst>
                              <p:cond delay="2000"/>
                            </p:stCondLst>
                            <p:childTnLst>
                              <p:par>
                                <p:cTn id="28" presetID="2" presetClass="entr" presetSubtype="8"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0-#ppt_w/2"/>
                                          </p:val>
                                        </p:tav>
                                        <p:tav tm="100000">
                                          <p:val>
                                            <p:strVal val="#ppt_x"/>
                                          </p:val>
                                        </p:tav>
                                      </p:tavLst>
                                    </p:anim>
                                    <p:anim calcmode="lin" valueType="num">
                                      <p:cBhvr additive="base">
                                        <p:cTn id="31" dur="500" fill="hold"/>
                                        <p:tgtEl>
                                          <p:spTgt spid="2"/>
                                        </p:tgtEl>
                                        <p:attrNameLst>
                                          <p:attrName>ppt_y</p:attrName>
                                        </p:attrNameLst>
                                      </p:cBhvr>
                                      <p:tavLst>
                                        <p:tav tm="0">
                                          <p:val>
                                            <p:strVal val="#ppt_y"/>
                                          </p:val>
                                        </p:tav>
                                        <p:tav tm="100000">
                                          <p:val>
                                            <p:strVal val="#ppt_y"/>
                                          </p:val>
                                        </p:tav>
                                      </p:tavLst>
                                    </p:anim>
                                  </p:childTnLst>
                                </p:cTn>
                              </p:par>
                            </p:childTnLst>
                          </p:cTn>
                        </p:par>
                        <p:par>
                          <p:cTn id="32" fill="hold">
                            <p:stCondLst>
                              <p:cond delay="2500"/>
                            </p:stCondLst>
                            <p:childTnLst>
                              <p:par>
                                <p:cTn id="33" presetID="2" presetClass="entr" presetSubtype="8"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0-#ppt_w/2"/>
                                          </p:val>
                                        </p:tav>
                                        <p:tav tm="100000">
                                          <p:val>
                                            <p:strVal val="#ppt_x"/>
                                          </p:val>
                                        </p:tav>
                                      </p:tavLst>
                                    </p:anim>
                                    <p:anim calcmode="lin" valueType="num">
                                      <p:cBhvr additive="base">
                                        <p:cTn id="36" dur="500" fill="hold"/>
                                        <p:tgtEl>
                                          <p:spTgt spid="9"/>
                                        </p:tgtEl>
                                        <p:attrNameLst>
                                          <p:attrName>ppt_y</p:attrName>
                                        </p:attrNameLst>
                                      </p:cBhvr>
                                      <p:tavLst>
                                        <p:tav tm="0">
                                          <p:val>
                                            <p:strVal val="#ppt_y"/>
                                          </p:val>
                                        </p:tav>
                                        <p:tav tm="100000">
                                          <p:val>
                                            <p:strVal val="#ppt_y"/>
                                          </p:val>
                                        </p:tav>
                                      </p:tavLst>
                                    </p:anim>
                                  </p:childTnLst>
                                </p:cTn>
                              </p:par>
                            </p:childTnLst>
                          </p:cTn>
                        </p:par>
                        <p:par>
                          <p:cTn id="37" fill="hold">
                            <p:stCondLst>
                              <p:cond delay="3000"/>
                            </p:stCondLst>
                            <p:childTnLst>
                              <p:par>
                                <p:cTn id="38" presetID="2" presetClass="entr" presetSubtype="8"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0-#ppt_w/2"/>
                                          </p:val>
                                        </p:tav>
                                        <p:tav tm="100000">
                                          <p:val>
                                            <p:strVal val="#ppt_x"/>
                                          </p:val>
                                        </p:tav>
                                      </p:tavLst>
                                    </p:anim>
                                    <p:anim calcmode="lin" valueType="num">
                                      <p:cBhvr additive="base">
                                        <p:cTn id="41" dur="500" fill="hold"/>
                                        <p:tgtEl>
                                          <p:spTgt spid="10"/>
                                        </p:tgtEl>
                                        <p:attrNameLst>
                                          <p:attrName>ppt_y</p:attrName>
                                        </p:attrNameLst>
                                      </p:cBhvr>
                                      <p:tavLst>
                                        <p:tav tm="0">
                                          <p:val>
                                            <p:strVal val="#ppt_y"/>
                                          </p:val>
                                        </p:tav>
                                        <p:tav tm="100000">
                                          <p:val>
                                            <p:strVal val="#ppt_y"/>
                                          </p:val>
                                        </p:tav>
                                      </p:tavLst>
                                    </p:anim>
                                  </p:childTnLst>
                                </p:cTn>
                              </p:par>
                            </p:childTnLst>
                          </p:cTn>
                        </p:par>
                        <p:par>
                          <p:cTn id="42" fill="hold">
                            <p:stCondLst>
                              <p:cond delay="3500"/>
                            </p:stCondLst>
                            <p:childTnLst>
                              <p:par>
                                <p:cTn id="43" presetID="2" presetClass="entr" presetSubtype="8"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ppt_x</p:attrName>
                                        </p:attrNameLst>
                                      </p:cBhvr>
                                      <p:tavLst>
                                        <p:tav tm="0">
                                          <p:val>
                                            <p:strVal val="0-#ppt_w/2"/>
                                          </p:val>
                                        </p:tav>
                                        <p:tav tm="100000">
                                          <p:val>
                                            <p:strVal val="#ppt_x"/>
                                          </p:val>
                                        </p:tav>
                                      </p:tavLst>
                                    </p:anim>
                                    <p:anim calcmode="lin" valueType="num">
                                      <p:cBhvr additive="base">
                                        <p:cTn id="4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ldLvl="0" animBg="1"/>
      <p:bldP spid="50"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1"/>
          <p:cNvGrpSpPr/>
          <p:nvPr/>
        </p:nvGrpSpPr>
        <p:grpSpPr>
          <a:xfrm>
            <a:off x="5455723" y="2948947"/>
            <a:ext cx="1349663" cy="1248139"/>
            <a:chOff x="5359953" y="1203598"/>
            <a:chExt cx="1012247" cy="936104"/>
          </a:xfrm>
        </p:grpSpPr>
        <p:sp>
          <p:nvSpPr>
            <p:cNvPr id="11" name="椭圆 10"/>
            <p:cNvSpPr/>
            <p:nvPr/>
          </p:nvSpPr>
          <p:spPr>
            <a:xfrm>
              <a:off x="5364088" y="1203598"/>
              <a:ext cx="936104" cy="936104"/>
            </a:xfrm>
            <a:prstGeom prst="ellips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文本框 12"/>
            <p:cNvSpPr txBox="1"/>
            <p:nvPr/>
          </p:nvSpPr>
          <p:spPr>
            <a:xfrm>
              <a:off x="5359953" y="1324929"/>
              <a:ext cx="1012247" cy="741521"/>
            </a:xfrm>
            <a:prstGeom prst="rect">
              <a:avLst/>
            </a:prstGeom>
            <a:noFill/>
          </p:spPr>
          <p:txBody>
            <a:bodyPr wrap="square" lIns="86697" tIns="43348" rIns="86697" bIns="43348" rtlCol="0">
              <a:spAutoFit/>
            </a:bodyPr>
            <a:lstStyle/>
            <a:p>
              <a:pPr algn="ctr"/>
              <a:r>
                <a:rPr lang="en-US" altLang="zh-CN" sz="5865" b="1"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01</a:t>
              </a:r>
              <a:endParaRPr lang="zh-CN" altLang="en-US" sz="5865" b="1"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grpSp>
      <p:sp>
        <p:nvSpPr>
          <p:cNvPr id="21" name="矩形 20"/>
          <p:cNvSpPr/>
          <p:nvPr/>
        </p:nvSpPr>
        <p:spPr>
          <a:xfrm>
            <a:off x="6943211" y="2911399"/>
            <a:ext cx="3019291" cy="615315"/>
          </a:xfrm>
          <a:prstGeom prst="rect">
            <a:avLst/>
          </a:prstGeom>
        </p:spPr>
        <p:txBody>
          <a:bodyPr wrap="square" lIns="0" tIns="0" rIns="0" bIns="0">
            <a:spAutoFit/>
          </a:bodyPr>
          <a:lstStyle/>
          <a:p>
            <a:pPr algn="ct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公司简介</a:t>
            </a:r>
            <a:endParaRPr lang="zh-CN" altLang="en-US" sz="40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TextBox 11"/>
          <p:cNvSpPr txBox="1"/>
          <p:nvPr/>
        </p:nvSpPr>
        <p:spPr>
          <a:xfrm>
            <a:off x="7038340" y="3657600"/>
            <a:ext cx="1544955" cy="245745"/>
          </a:xfrm>
          <a:prstGeom prst="rect">
            <a:avLst/>
          </a:prstGeom>
          <a:noFill/>
        </p:spPr>
        <p:txBody>
          <a:bodyPr wrap="square" lIns="0" tIns="0" rIns="0" bIns="0" rtlCol="0">
            <a:spAutoFit/>
          </a:bodyPr>
          <a:lstStyle/>
          <a:p>
            <a:pPr indent="0" algn="just">
              <a:buFont typeface="Arial" panose="020B0604020202020204" pitchFamily="34" charset="0"/>
              <a:buChar char="•"/>
            </a:pPr>
            <a:r>
              <a:rPr lang="en-US" altLang="zh-CN" sz="160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公司基本信息</a:t>
            </a:r>
          </a:p>
        </p:txBody>
      </p:sp>
      <p:sp>
        <p:nvSpPr>
          <p:cNvPr id="23" name="TextBox 11"/>
          <p:cNvSpPr txBox="1"/>
          <p:nvPr/>
        </p:nvSpPr>
        <p:spPr>
          <a:xfrm>
            <a:off x="9131689" y="3657633"/>
            <a:ext cx="934720" cy="245745"/>
          </a:xfrm>
          <a:prstGeom prst="rect">
            <a:avLst/>
          </a:prstGeom>
          <a:noFill/>
        </p:spPr>
        <p:txBody>
          <a:bodyPr wrap="none" lIns="0" tIns="0" rIns="0" bIns="0" rtlCol="0">
            <a:spAutoFit/>
          </a:bodyPr>
          <a:lstStyle/>
          <a:p>
            <a:pPr marL="121920" lvl="1" indent="-121920" algn="l">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sym typeface="+mn-ea"/>
              </a:rPr>
              <a:t>公司历史</a:t>
            </a:r>
            <a:endParaRPr lang="en-US" altLang="zh-CN"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TextBox 11"/>
          <p:cNvSpPr txBox="1"/>
          <p:nvPr/>
        </p:nvSpPr>
        <p:spPr>
          <a:xfrm>
            <a:off x="7039539" y="3971383"/>
            <a:ext cx="1757045" cy="245745"/>
          </a:xfrm>
          <a:prstGeom prst="rect">
            <a:avLst/>
          </a:prstGeom>
          <a:noFill/>
        </p:spPr>
        <p:txBody>
          <a:bodyPr wrap="none" lIns="0" tIns="0" rIns="0" bIns="0" rtlCol="0">
            <a:spAutoFit/>
          </a:bodyPr>
          <a:lstStyle/>
          <a:p>
            <a:pPr indent="0" algn="just">
              <a:buFont typeface="Arial" panose="020B0604020202020204" pitchFamily="34" charset="0"/>
              <a:buChar char="•"/>
            </a:pPr>
            <a:r>
              <a:rPr lang="en-US" altLang="zh-CN" sz="1600">
                <a:latin typeface="微软雅黑" panose="020B0503020204020204" pitchFamily="34" charset="-122"/>
                <a:ea typeface="微软雅黑" panose="020B0503020204020204" pitchFamily="34" charset="-122"/>
              </a:rPr>
              <a:t> </a:t>
            </a:r>
            <a:r>
              <a:rPr lang="zh-CN" altLang="en-US" sz="1600">
                <a:latin typeface="微软雅黑" panose="020B0503020204020204" pitchFamily="34" charset="-122"/>
                <a:ea typeface="微软雅黑" panose="020B0503020204020204" pitchFamily="34" charset="-122"/>
              </a:rPr>
              <a:t>公司主营业务介绍</a:t>
            </a:r>
            <a:endParaRPr lang="zh-CN" altLang="en-US" sz="1600">
              <a:solidFill>
                <a:schemeClr val="bg1">
                  <a:lumMod val="50000"/>
                </a:schemeClr>
              </a:solidFill>
              <a:latin typeface="微软雅黑" panose="020B0503020204020204" pitchFamily="34" charset="-122"/>
              <a:ea typeface="微软雅黑" panose="020B0503020204020204" pitchFamily="34" charset="-122"/>
            </a:endParaRPr>
          </a:p>
        </p:txBody>
      </p:sp>
      <p:sp>
        <p:nvSpPr>
          <p:cNvPr id="25" name="TextBox 11"/>
          <p:cNvSpPr txBox="1"/>
          <p:nvPr/>
        </p:nvSpPr>
        <p:spPr>
          <a:xfrm>
            <a:off x="9132007" y="3971383"/>
            <a:ext cx="1757045" cy="245745"/>
          </a:xfrm>
          <a:prstGeom prst="rect">
            <a:avLst/>
          </a:prstGeom>
          <a:noFill/>
        </p:spPr>
        <p:txBody>
          <a:bodyPr wrap="none" lIns="0" tIns="0" rIns="0" bIns="0" rtlCol="0">
            <a:spAutoFit/>
          </a:bodyPr>
          <a:lstStyle/>
          <a:p>
            <a:pPr indent="0" algn="just">
              <a:buFont typeface="Arial" panose="020B0604020202020204" pitchFamily="34" charset="0"/>
              <a:buChar char="•"/>
            </a:pPr>
            <a:r>
              <a:rPr lang="en-US" altLang="zh-CN" sz="1600">
                <a:latin typeface="微软雅黑" panose="020B0503020204020204" pitchFamily="34" charset="-122"/>
                <a:ea typeface="微软雅黑" panose="020B0503020204020204" pitchFamily="34" charset="-122"/>
              </a:rPr>
              <a:t> </a:t>
            </a:r>
            <a:r>
              <a:rPr lang="zh-CN" altLang="en-US" sz="1600">
                <a:latin typeface="微软雅黑" panose="020B0503020204020204" pitchFamily="34" charset="-122"/>
                <a:ea typeface="微软雅黑" panose="020B0503020204020204" pitchFamily="34" charset="-122"/>
              </a:rPr>
              <a:t>审计报告意见类型</a:t>
            </a:r>
            <a:endParaRPr lang="zh-CN" altLang="en-US" sz="1600">
              <a:solidFill>
                <a:schemeClr val="bg1">
                  <a:lumMod val="50000"/>
                </a:schemeClr>
              </a:solidFill>
              <a:latin typeface="微软雅黑" panose="020B0503020204020204" pitchFamily="34" charset="-122"/>
              <a:ea typeface="微软雅黑" panose="020B0503020204020204" pitchFamily="34" charset="-122"/>
            </a:endParaRPr>
          </a:p>
        </p:txBody>
      </p:sp>
      <p:pic>
        <p:nvPicPr>
          <p:cNvPr id="14" name="Picture 2" descr="C:\Users\Administrator\Desktop\1057523b4226046.png"/>
          <p:cNvPicPr>
            <a:picLocks noChangeAspect="1" noChangeArrowheads="1"/>
          </p:cNvPicPr>
          <p:nvPr/>
        </p:nvPicPr>
        <p:blipFill>
          <a:blip r:embed="rId3" cstate="print"/>
          <a:srcRect/>
          <a:stretch>
            <a:fillRect/>
          </a:stretch>
        </p:blipFill>
        <p:spPr bwMode="auto">
          <a:xfrm>
            <a:off x="527381" y="1220755"/>
            <a:ext cx="5001253" cy="4416491"/>
          </a:xfrm>
          <a:prstGeom prst="rect">
            <a:avLst/>
          </a:prstGeom>
          <a:noFill/>
        </p:spPr>
      </p:pic>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3" presetClass="entr" presetSubtype="32"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strVal val="4*#ppt_w"/>
                                          </p:val>
                                        </p:tav>
                                        <p:tav tm="100000">
                                          <p:val>
                                            <p:strVal val="#ppt_w"/>
                                          </p:val>
                                        </p:tav>
                                      </p:tavLst>
                                    </p:anim>
                                    <p:anim calcmode="lin" valueType="num">
                                      <p:cBhvr>
                                        <p:cTn id="20" dur="500" fill="hold"/>
                                        <p:tgtEl>
                                          <p:spTgt spid="21"/>
                                        </p:tgtEl>
                                        <p:attrNameLst>
                                          <p:attrName>ppt_h</p:attrName>
                                        </p:attrNameLst>
                                      </p:cBhvr>
                                      <p:tavLst>
                                        <p:tav tm="0">
                                          <p:val>
                                            <p:strVal val="4*#ppt_h"/>
                                          </p:val>
                                        </p:tav>
                                        <p:tav tm="100000">
                                          <p:val>
                                            <p:strVal val="#ppt_h"/>
                                          </p:val>
                                        </p:tav>
                                      </p:tavLst>
                                    </p:anim>
                                  </p:childTnLst>
                                </p:cTn>
                              </p:par>
                            </p:childTnLst>
                          </p:cTn>
                        </p:par>
                        <p:par>
                          <p:cTn id="21" fill="hold">
                            <p:stCondLst>
                              <p:cond delay="2500"/>
                            </p:stCondLst>
                            <p:childTnLst>
                              <p:par>
                                <p:cTn id="22" presetID="12" presetClass="entr" presetSubtype="8"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p:tgtEl>
                                          <p:spTgt spid="22"/>
                                        </p:tgtEl>
                                        <p:attrNameLst>
                                          <p:attrName>ppt_x</p:attrName>
                                        </p:attrNameLst>
                                      </p:cBhvr>
                                      <p:tavLst>
                                        <p:tav tm="0">
                                          <p:val>
                                            <p:strVal val="#ppt_x-#ppt_w*1.125000"/>
                                          </p:val>
                                        </p:tav>
                                        <p:tav tm="100000">
                                          <p:val>
                                            <p:strVal val="#ppt_x"/>
                                          </p:val>
                                        </p:tav>
                                      </p:tavLst>
                                    </p:anim>
                                    <p:animEffect transition="in" filter="wipe(right)">
                                      <p:cBhvr>
                                        <p:cTn id="25" dur="500"/>
                                        <p:tgtEl>
                                          <p:spTgt spid="22"/>
                                        </p:tgtEl>
                                      </p:cBhvr>
                                    </p:animEffect>
                                  </p:childTnLst>
                                </p:cTn>
                              </p:par>
                            </p:childTnLst>
                          </p:cTn>
                        </p:par>
                        <p:par>
                          <p:cTn id="26" fill="hold">
                            <p:stCondLst>
                              <p:cond delay="3000"/>
                            </p:stCondLst>
                            <p:childTnLst>
                              <p:par>
                                <p:cTn id="27" presetID="12" presetClass="entr" presetSubtype="8"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p:tgtEl>
                                          <p:spTgt spid="23"/>
                                        </p:tgtEl>
                                        <p:attrNameLst>
                                          <p:attrName>ppt_x</p:attrName>
                                        </p:attrNameLst>
                                      </p:cBhvr>
                                      <p:tavLst>
                                        <p:tav tm="0">
                                          <p:val>
                                            <p:strVal val="#ppt_x-#ppt_w*1.125000"/>
                                          </p:val>
                                        </p:tav>
                                        <p:tav tm="100000">
                                          <p:val>
                                            <p:strVal val="#ppt_x"/>
                                          </p:val>
                                        </p:tav>
                                      </p:tavLst>
                                    </p:anim>
                                    <p:animEffect transition="in" filter="wipe(right)">
                                      <p:cBhvr>
                                        <p:cTn id="30" dur="500"/>
                                        <p:tgtEl>
                                          <p:spTgt spid="23"/>
                                        </p:tgtEl>
                                      </p:cBhvr>
                                    </p:animEffect>
                                  </p:childTnLst>
                                </p:cTn>
                              </p:par>
                            </p:childTnLst>
                          </p:cTn>
                        </p:par>
                        <p:par>
                          <p:cTn id="31" fill="hold">
                            <p:stCondLst>
                              <p:cond delay="3500"/>
                            </p:stCondLst>
                            <p:childTnLst>
                              <p:par>
                                <p:cTn id="32" presetID="12" presetClass="entr" presetSubtype="8"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p:tgtEl>
                                          <p:spTgt spid="24"/>
                                        </p:tgtEl>
                                        <p:attrNameLst>
                                          <p:attrName>ppt_x</p:attrName>
                                        </p:attrNameLst>
                                      </p:cBhvr>
                                      <p:tavLst>
                                        <p:tav tm="0">
                                          <p:val>
                                            <p:strVal val="#ppt_x-#ppt_w*1.125000"/>
                                          </p:val>
                                        </p:tav>
                                        <p:tav tm="100000">
                                          <p:val>
                                            <p:strVal val="#ppt_x"/>
                                          </p:val>
                                        </p:tav>
                                      </p:tavLst>
                                    </p:anim>
                                    <p:animEffect transition="in" filter="wipe(right)">
                                      <p:cBhvr>
                                        <p:cTn id="35" dur="500"/>
                                        <p:tgtEl>
                                          <p:spTgt spid="24"/>
                                        </p:tgtEl>
                                      </p:cBhvr>
                                    </p:animEffect>
                                  </p:childTnLst>
                                </p:cTn>
                              </p:par>
                            </p:childTnLst>
                          </p:cTn>
                        </p:par>
                        <p:par>
                          <p:cTn id="36" fill="hold">
                            <p:stCondLst>
                              <p:cond delay="4000"/>
                            </p:stCondLst>
                            <p:childTnLst>
                              <p:par>
                                <p:cTn id="37" presetID="12" presetClass="entr" presetSubtype="8"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p:tgtEl>
                                          <p:spTgt spid="25"/>
                                        </p:tgtEl>
                                        <p:attrNameLst>
                                          <p:attrName>ppt_x</p:attrName>
                                        </p:attrNameLst>
                                      </p:cBhvr>
                                      <p:tavLst>
                                        <p:tav tm="0">
                                          <p:val>
                                            <p:strVal val="#ppt_x-#ppt_w*1.125000"/>
                                          </p:val>
                                        </p:tav>
                                        <p:tav tm="100000">
                                          <p:val>
                                            <p:strVal val="#ppt_x"/>
                                          </p:val>
                                        </p:tav>
                                      </p:tavLst>
                                    </p:anim>
                                    <p:animEffect transition="in" filter="wipe(right)">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365125" y="1332865"/>
            <a:ext cx="11531600" cy="4850351"/>
            <a:chOff x="1875" y="2049"/>
            <a:chExt cx="10627" cy="4470"/>
          </a:xfrm>
        </p:grpSpPr>
        <p:sp>
          <p:nvSpPr>
            <p:cNvPr id="12289" name="AutoShape 1"/>
            <p:cNvSpPr/>
            <p:nvPr/>
          </p:nvSpPr>
          <p:spPr bwMode="auto">
            <a:xfrm>
              <a:off x="1875" y="2054"/>
              <a:ext cx="5392" cy="322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5B9BD5"/>
            </a:solidFill>
            <a:ln w="25400" cap="flat" cmpd="sng">
              <a:solidFill>
                <a:srgbClr val="000000">
                  <a:alpha val="0"/>
                </a:srgbClr>
              </a:solidFill>
              <a:prstDash val="solid"/>
              <a:miter lim="0"/>
            </a:ln>
            <a:effectLst/>
          </p:spPr>
          <p:txBody>
            <a:bodyPr lIns="0" tIns="0" rIns="0" bIns="0"/>
            <a:lstStyle/>
            <a:p>
              <a:pPr>
                <a:defRPr/>
              </a:pPr>
              <a:endParaRPr lang="es-ES" sz="1900" dirty="0">
                <a:cs typeface="Calibri" panose="020F0502020204030204" pitchFamily="34" charset="0"/>
              </a:endParaRPr>
            </a:p>
          </p:txBody>
        </p:sp>
        <p:sp>
          <p:nvSpPr>
            <p:cNvPr id="12290" name="AutoShape 2"/>
            <p:cNvSpPr/>
            <p:nvPr/>
          </p:nvSpPr>
          <p:spPr bwMode="auto">
            <a:xfrm>
              <a:off x="7238" y="2049"/>
              <a:ext cx="5265" cy="321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blipFill dpi="0" rotWithShape="1">
              <a:blip r:embed="rId3" cstate="print">
                <a:extLst>
                  <a:ext uri="{28A0092B-C50C-407E-A947-70E740481C1C}">
                    <a14:useLocalDpi xmlns:a14="http://schemas.microsoft.com/office/drawing/2010/main"/>
                  </a:ext>
                </a:extLst>
              </a:blip>
              <a:srcRect/>
              <a:stretch>
                <a:fillRect/>
              </a:stretch>
            </a:blipFill>
            <a:ln w="25400" cap="flat" cmpd="sng">
              <a:solidFill>
                <a:srgbClr val="000000">
                  <a:alpha val="0"/>
                </a:srgbClr>
              </a:solidFill>
              <a:prstDash val="solid"/>
              <a:miter lim="0"/>
            </a:ln>
            <a:effectLst/>
          </p:spPr>
          <p:txBody>
            <a:bodyPr lIns="0" tIns="0" rIns="0" bIns="0"/>
            <a:lstStyle/>
            <a:p>
              <a:pPr>
                <a:defRPr/>
              </a:pPr>
              <a:endParaRPr lang="es-ES" sz="1900" dirty="0">
                <a:cs typeface="Calibri" panose="020F0502020204030204" pitchFamily="34" charset="0"/>
              </a:endParaRPr>
            </a:p>
          </p:txBody>
        </p:sp>
        <p:sp>
          <p:nvSpPr>
            <p:cNvPr id="12299" name="AutoShape 11"/>
            <p:cNvSpPr/>
            <p:nvPr/>
          </p:nvSpPr>
          <p:spPr bwMode="auto">
            <a:xfrm>
              <a:off x="7807" y="5680"/>
              <a:ext cx="833" cy="8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6" y="18801"/>
                  </a:moveTo>
                  <a:cubicBezTo>
                    <a:pt x="21517" y="18964"/>
                    <a:pt x="21599" y="19177"/>
                    <a:pt x="21599" y="19437"/>
                  </a:cubicBezTo>
                  <a:cubicBezTo>
                    <a:pt x="21599" y="19581"/>
                    <a:pt x="21517" y="19776"/>
                    <a:pt x="21356" y="20019"/>
                  </a:cubicBezTo>
                  <a:cubicBezTo>
                    <a:pt x="21192" y="20261"/>
                    <a:pt x="20989" y="20504"/>
                    <a:pt x="20746" y="20741"/>
                  </a:cubicBezTo>
                  <a:cubicBezTo>
                    <a:pt x="20503" y="20979"/>
                    <a:pt x="20260" y="21184"/>
                    <a:pt x="20022" y="21348"/>
                  </a:cubicBezTo>
                  <a:cubicBezTo>
                    <a:pt x="19782" y="21517"/>
                    <a:pt x="19593" y="21599"/>
                    <a:pt x="19446" y="21599"/>
                  </a:cubicBezTo>
                  <a:cubicBezTo>
                    <a:pt x="19189" y="21599"/>
                    <a:pt x="18974" y="21514"/>
                    <a:pt x="18810" y="21342"/>
                  </a:cubicBezTo>
                  <a:lnTo>
                    <a:pt x="13956" y="16503"/>
                  </a:lnTo>
                  <a:cubicBezTo>
                    <a:pt x="13216" y="16979"/>
                    <a:pt x="12429" y="17349"/>
                    <a:pt x="11589" y="17603"/>
                  </a:cubicBezTo>
                  <a:cubicBezTo>
                    <a:pt x="10750" y="17863"/>
                    <a:pt x="9891" y="17990"/>
                    <a:pt x="9007" y="17990"/>
                  </a:cubicBezTo>
                  <a:cubicBezTo>
                    <a:pt x="7770" y="17990"/>
                    <a:pt x="6608" y="17759"/>
                    <a:pt x="5518" y="17290"/>
                  </a:cubicBezTo>
                  <a:cubicBezTo>
                    <a:pt x="4427" y="16822"/>
                    <a:pt x="3470" y="16175"/>
                    <a:pt x="2645" y="15353"/>
                  </a:cubicBezTo>
                  <a:cubicBezTo>
                    <a:pt x="1817" y="14535"/>
                    <a:pt x="1173" y="13579"/>
                    <a:pt x="701" y="12487"/>
                  </a:cubicBezTo>
                  <a:cubicBezTo>
                    <a:pt x="232" y="11399"/>
                    <a:pt x="0" y="10237"/>
                    <a:pt x="0" y="8999"/>
                  </a:cubicBezTo>
                  <a:cubicBezTo>
                    <a:pt x="0" y="7768"/>
                    <a:pt x="232" y="6602"/>
                    <a:pt x="701" y="5515"/>
                  </a:cubicBezTo>
                  <a:cubicBezTo>
                    <a:pt x="1170" y="4422"/>
                    <a:pt x="1817" y="3468"/>
                    <a:pt x="2645" y="2646"/>
                  </a:cubicBezTo>
                  <a:cubicBezTo>
                    <a:pt x="3470" y="1827"/>
                    <a:pt x="4425" y="1180"/>
                    <a:pt x="5512" y="709"/>
                  </a:cubicBezTo>
                  <a:cubicBezTo>
                    <a:pt x="6600" y="237"/>
                    <a:pt x="7764" y="0"/>
                    <a:pt x="9007" y="0"/>
                  </a:cubicBezTo>
                  <a:cubicBezTo>
                    <a:pt x="10245" y="0"/>
                    <a:pt x="11402" y="237"/>
                    <a:pt x="12487" y="709"/>
                  </a:cubicBezTo>
                  <a:cubicBezTo>
                    <a:pt x="13572" y="1180"/>
                    <a:pt x="14530" y="1827"/>
                    <a:pt x="15358" y="2646"/>
                  </a:cubicBezTo>
                  <a:cubicBezTo>
                    <a:pt x="16183" y="3468"/>
                    <a:pt x="16830" y="4422"/>
                    <a:pt x="17299" y="5515"/>
                  </a:cubicBezTo>
                  <a:cubicBezTo>
                    <a:pt x="17768" y="6602"/>
                    <a:pt x="18002" y="7768"/>
                    <a:pt x="18002" y="8999"/>
                  </a:cubicBezTo>
                  <a:cubicBezTo>
                    <a:pt x="18002" y="9887"/>
                    <a:pt x="17872" y="10748"/>
                    <a:pt x="17615" y="11588"/>
                  </a:cubicBezTo>
                  <a:cubicBezTo>
                    <a:pt x="17358" y="12434"/>
                    <a:pt x="16991" y="13218"/>
                    <a:pt x="16513" y="13947"/>
                  </a:cubicBezTo>
                  <a:lnTo>
                    <a:pt x="21356" y="18801"/>
                  </a:lnTo>
                  <a:close/>
                  <a:moveTo>
                    <a:pt x="3597" y="8999"/>
                  </a:moveTo>
                  <a:cubicBezTo>
                    <a:pt x="3597" y="9759"/>
                    <a:pt x="3741" y="10465"/>
                    <a:pt x="4029" y="11117"/>
                  </a:cubicBezTo>
                  <a:cubicBezTo>
                    <a:pt x="4317" y="11770"/>
                    <a:pt x="4707" y="12338"/>
                    <a:pt x="5193" y="12821"/>
                  </a:cubicBezTo>
                  <a:cubicBezTo>
                    <a:pt x="5679" y="13300"/>
                    <a:pt x="6253" y="13684"/>
                    <a:pt x="6908" y="13970"/>
                  </a:cubicBezTo>
                  <a:cubicBezTo>
                    <a:pt x="7566" y="14252"/>
                    <a:pt x="8264" y="14394"/>
                    <a:pt x="9004" y="14394"/>
                  </a:cubicBezTo>
                  <a:cubicBezTo>
                    <a:pt x="9745" y="14394"/>
                    <a:pt x="10439" y="14252"/>
                    <a:pt x="11091" y="13970"/>
                  </a:cubicBezTo>
                  <a:cubicBezTo>
                    <a:pt x="11744" y="13684"/>
                    <a:pt x="12318" y="13300"/>
                    <a:pt x="12801" y="12821"/>
                  </a:cubicBezTo>
                  <a:cubicBezTo>
                    <a:pt x="13290" y="12338"/>
                    <a:pt x="13677" y="11770"/>
                    <a:pt x="13965" y="11117"/>
                  </a:cubicBezTo>
                  <a:cubicBezTo>
                    <a:pt x="14253" y="10465"/>
                    <a:pt x="14397" y="9759"/>
                    <a:pt x="14397" y="8999"/>
                  </a:cubicBezTo>
                  <a:cubicBezTo>
                    <a:pt x="14397" y="8260"/>
                    <a:pt x="14253" y="7565"/>
                    <a:pt x="13965" y="6913"/>
                  </a:cubicBezTo>
                  <a:cubicBezTo>
                    <a:pt x="13674" y="6258"/>
                    <a:pt x="13290" y="5683"/>
                    <a:pt x="12801" y="5193"/>
                  </a:cubicBezTo>
                  <a:cubicBezTo>
                    <a:pt x="12316" y="4703"/>
                    <a:pt x="11744" y="4317"/>
                    <a:pt x="11091" y="4032"/>
                  </a:cubicBezTo>
                  <a:cubicBezTo>
                    <a:pt x="10439" y="3750"/>
                    <a:pt x="9741" y="3606"/>
                    <a:pt x="9004" y="3606"/>
                  </a:cubicBezTo>
                  <a:cubicBezTo>
                    <a:pt x="8267" y="3606"/>
                    <a:pt x="7566" y="3750"/>
                    <a:pt x="6908" y="4032"/>
                  </a:cubicBezTo>
                  <a:cubicBezTo>
                    <a:pt x="6253" y="4317"/>
                    <a:pt x="5676" y="4703"/>
                    <a:pt x="5193" y="5193"/>
                  </a:cubicBezTo>
                  <a:cubicBezTo>
                    <a:pt x="4707" y="5683"/>
                    <a:pt x="4317" y="6258"/>
                    <a:pt x="4029" y="6913"/>
                  </a:cubicBezTo>
                  <a:cubicBezTo>
                    <a:pt x="3741" y="7565"/>
                    <a:pt x="3597" y="8257"/>
                    <a:pt x="3597" y="8999"/>
                  </a:cubicBezTo>
                  <a:moveTo>
                    <a:pt x="9007" y="5591"/>
                  </a:moveTo>
                  <a:cubicBezTo>
                    <a:pt x="9184" y="5591"/>
                    <a:pt x="9344" y="5656"/>
                    <a:pt x="9472" y="5785"/>
                  </a:cubicBezTo>
                  <a:cubicBezTo>
                    <a:pt x="9602" y="5919"/>
                    <a:pt x="9668" y="6082"/>
                    <a:pt x="9668" y="6280"/>
                  </a:cubicBezTo>
                  <a:cubicBezTo>
                    <a:pt x="9668" y="6461"/>
                    <a:pt x="9602" y="6616"/>
                    <a:pt x="9472" y="6745"/>
                  </a:cubicBezTo>
                  <a:cubicBezTo>
                    <a:pt x="9344" y="6878"/>
                    <a:pt x="9184" y="6944"/>
                    <a:pt x="9007" y="6944"/>
                  </a:cubicBezTo>
                  <a:cubicBezTo>
                    <a:pt x="8439" y="6944"/>
                    <a:pt x="7953" y="7144"/>
                    <a:pt x="7552" y="7537"/>
                  </a:cubicBezTo>
                  <a:cubicBezTo>
                    <a:pt x="7151" y="7934"/>
                    <a:pt x="6950" y="8423"/>
                    <a:pt x="6950" y="8996"/>
                  </a:cubicBezTo>
                  <a:cubicBezTo>
                    <a:pt x="6950" y="9179"/>
                    <a:pt x="6884" y="9332"/>
                    <a:pt x="6755" y="9465"/>
                  </a:cubicBezTo>
                  <a:cubicBezTo>
                    <a:pt x="6623" y="9596"/>
                    <a:pt x="6467" y="9658"/>
                    <a:pt x="6288" y="9658"/>
                  </a:cubicBezTo>
                  <a:cubicBezTo>
                    <a:pt x="6080" y="9658"/>
                    <a:pt x="5914" y="9596"/>
                    <a:pt x="5786" y="9465"/>
                  </a:cubicBezTo>
                  <a:cubicBezTo>
                    <a:pt x="5659" y="9332"/>
                    <a:pt x="5600" y="9179"/>
                    <a:pt x="5600" y="8996"/>
                  </a:cubicBezTo>
                  <a:cubicBezTo>
                    <a:pt x="5600" y="8539"/>
                    <a:pt x="5685" y="8104"/>
                    <a:pt x="5863" y="7686"/>
                  </a:cubicBezTo>
                  <a:cubicBezTo>
                    <a:pt x="6037" y="7271"/>
                    <a:pt x="6281" y="6907"/>
                    <a:pt x="6597" y="6591"/>
                  </a:cubicBezTo>
                  <a:cubicBezTo>
                    <a:pt x="6905" y="6277"/>
                    <a:pt x="7264" y="6029"/>
                    <a:pt x="7677" y="5857"/>
                  </a:cubicBezTo>
                  <a:cubicBezTo>
                    <a:pt x="8086" y="5680"/>
                    <a:pt x="8530" y="5591"/>
                    <a:pt x="9007" y="5591"/>
                  </a:cubicBezTo>
                </a:path>
              </a:pathLst>
            </a:custGeom>
            <a:solidFill>
              <a:srgbClr val="CE3418"/>
            </a:solidFill>
            <a:ln>
              <a:noFill/>
            </a:ln>
            <a:effectLst/>
          </p:spPr>
          <p:txBody>
            <a:bodyPr lIns="0" tIns="0" rIns="0" bIns="0"/>
            <a:lstStyle/>
            <a:p>
              <a:pPr>
                <a:defRPr/>
              </a:pPr>
              <a:endParaRPr lang="es-ES" sz="1900" dirty="0">
                <a:cs typeface="Calibri" panose="020F0502020204030204" pitchFamily="34" charset="0"/>
              </a:endParaRPr>
            </a:p>
          </p:txBody>
        </p:sp>
        <p:sp>
          <p:nvSpPr>
            <p:cNvPr id="12301" name="AutoShape 13"/>
            <p:cNvSpPr/>
            <p:nvPr/>
          </p:nvSpPr>
          <p:spPr bwMode="auto">
            <a:xfrm>
              <a:off x="5603" y="5679"/>
              <a:ext cx="984" cy="82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63" y="3223"/>
                  </a:moveTo>
                  <a:cubicBezTo>
                    <a:pt x="20632" y="3223"/>
                    <a:pt x="20946" y="3384"/>
                    <a:pt x="21208" y="3713"/>
                  </a:cubicBezTo>
                  <a:cubicBezTo>
                    <a:pt x="21469" y="4043"/>
                    <a:pt x="21599" y="4427"/>
                    <a:pt x="21599" y="4864"/>
                  </a:cubicBezTo>
                  <a:lnTo>
                    <a:pt x="21599" y="19984"/>
                  </a:lnTo>
                  <a:cubicBezTo>
                    <a:pt x="21599" y="20421"/>
                    <a:pt x="21469" y="20804"/>
                    <a:pt x="21208" y="21120"/>
                  </a:cubicBezTo>
                  <a:cubicBezTo>
                    <a:pt x="20946" y="21441"/>
                    <a:pt x="20632" y="21599"/>
                    <a:pt x="20263" y="21599"/>
                  </a:cubicBezTo>
                  <a:lnTo>
                    <a:pt x="1348" y="21599"/>
                  </a:lnTo>
                  <a:cubicBezTo>
                    <a:pt x="982" y="21599"/>
                    <a:pt x="662" y="21441"/>
                    <a:pt x="399" y="21120"/>
                  </a:cubicBezTo>
                  <a:cubicBezTo>
                    <a:pt x="135" y="20804"/>
                    <a:pt x="0" y="20421"/>
                    <a:pt x="0" y="19984"/>
                  </a:cubicBezTo>
                  <a:lnTo>
                    <a:pt x="0" y="4864"/>
                  </a:lnTo>
                  <a:cubicBezTo>
                    <a:pt x="0" y="4427"/>
                    <a:pt x="135" y="4043"/>
                    <a:pt x="399" y="3713"/>
                  </a:cubicBezTo>
                  <a:cubicBezTo>
                    <a:pt x="662" y="3384"/>
                    <a:pt x="982" y="3223"/>
                    <a:pt x="1348" y="3223"/>
                  </a:cubicBezTo>
                  <a:lnTo>
                    <a:pt x="5637" y="3223"/>
                  </a:lnTo>
                  <a:lnTo>
                    <a:pt x="6318" y="1459"/>
                  </a:lnTo>
                  <a:cubicBezTo>
                    <a:pt x="6457" y="1058"/>
                    <a:pt x="6718" y="713"/>
                    <a:pt x="7090" y="426"/>
                  </a:cubicBezTo>
                  <a:cubicBezTo>
                    <a:pt x="7467" y="143"/>
                    <a:pt x="7839" y="0"/>
                    <a:pt x="8203" y="0"/>
                  </a:cubicBezTo>
                  <a:lnTo>
                    <a:pt x="13396" y="0"/>
                  </a:lnTo>
                  <a:cubicBezTo>
                    <a:pt x="13763" y="0"/>
                    <a:pt x="14135" y="143"/>
                    <a:pt x="14509" y="426"/>
                  </a:cubicBezTo>
                  <a:cubicBezTo>
                    <a:pt x="14885" y="713"/>
                    <a:pt x="15146" y="1058"/>
                    <a:pt x="15293" y="1459"/>
                  </a:cubicBezTo>
                  <a:lnTo>
                    <a:pt x="15962" y="3223"/>
                  </a:lnTo>
                  <a:lnTo>
                    <a:pt x="20263" y="3223"/>
                  </a:lnTo>
                  <a:close/>
                  <a:moveTo>
                    <a:pt x="10805" y="19185"/>
                  </a:moveTo>
                  <a:cubicBezTo>
                    <a:pt x="11572" y="19185"/>
                    <a:pt x="12299" y="19002"/>
                    <a:pt x="12987" y="18650"/>
                  </a:cubicBezTo>
                  <a:cubicBezTo>
                    <a:pt x="13673" y="18294"/>
                    <a:pt x="14270" y="17810"/>
                    <a:pt x="14775" y="17196"/>
                  </a:cubicBezTo>
                  <a:cubicBezTo>
                    <a:pt x="15279" y="16582"/>
                    <a:pt x="15678" y="15862"/>
                    <a:pt x="15973" y="15047"/>
                  </a:cubicBezTo>
                  <a:cubicBezTo>
                    <a:pt x="16270" y="14234"/>
                    <a:pt x="16419" y="13355"/>
                    <a:pt x="16419" y="12422"/>
                  </a:cubicBezTo>
                  <a:cubicBezTo>
                    <a:pt x="16419" y="11498"/>
                    <a:pt x="16270" y="10623"/>
                    <a:pt x="15973" y="9794"/>
                  </a:cubicBezTo>
                  <a:cubicBezTo>
                    <a:pt x="15678" y="8966"/>
                    <a:pt x="15279" y="8250"/>
                    <a:pt x="14775" y="7645"/>
                  </a:cubicBezTo>
                  <a:cubicBezTo>
                    <a:pt x="14270" y="7035"/>
                    <a:pt x="13673" y="6557"/>
                    <a:pt x="12987" y="6199"/>
                  </a:cubicBezTo>
                  <a:cubicBezTo>
                    <a:pt x="12299" y="5843"/>
                    <a:pt x="11572" y="5666"/>
                    <a:pt x="10805" y="5666"/>
                  </a:cubicBezTo>
                  <a:cubicBezTo>
                    <a:pt x="10040" y="5666"/>
                    <a:pt x="9313" y="5846"/>
                    <a:pt x="8619" y="6199"/>
                  </a:cubicBezTo>
                  <a:cubicBezTo>
                    <a:pt x="7930" y="6557"/>
                    <a:pt x="7332" y="7035"/>
                    <a:pt x="6828" y="7645"/>
                  </a:cubicBezTo>
                  <a:cubicBezTo>
                    <a:pt x="6324" y="8250"/>
                    <a:pt x="5922" y="8963"/>
                    <a:pt x="5626" y="9788"/>
                  </a:cubicBezTo>
                  <a:cubicBezTo>
                    <a:pt x="5330" y="10611"/>
                    <a:pt x="5180" y="11491"/>
                    <a:pt x="5180" y="12422"/>
                  </a:cubicBezTo>
                  <a:cubicBezTo>
                    <a:pt x="5180" y="13355"/>
                    <a:pt x="5330" y="14234"/>
                    <a:pt x="5626" y="15047"/>
                  </a:cubicBezTo>
                  <a:cubicBezTo>
                    <a:pt x="5922" y="15862"/>
                    <a:pt x="6324" y="16582"/>
                    <a:pt x="6828" y="17196"/>
                  </a:cubicBezTo>
                  <a:cubicBezTo>
                    <a:pt x="7332" y="17810"/>
                    <a:pt x="7930" y="18294"/>
                    <a:pt x="8619" y="18650"/>
                  </a:cubicBezTo>
                  <a:cubicBezTo>
                    <a:pt x="9313" y="19005"/>
                    <a:pt x="10040" y="19185"/>
                    <a:pt x="10805" y="19185"/>
                  </a:cubicBezTo>
                  <a:moveTo>
                    <a:pt x="10805" y="7833"/>
                  </a:moveTo>
                  <a:cubicBezTo>
                    <a:pt x="11337" y="7833"/>
                    <a:pt x="11833" y="7952"/>
                    <a:pt x="12295" y="8190"/>
                  </a:cubicBezTo>
                  <a:cubicBezTo>
                    <a:pt x="12755" y="8432"/>
                    <a:pt x="13158" y="8754"/>
                    <a:pt x="13501" y="9168"/>
                  </a:cubicBezTo>
                  <a:cubicBezTo>
                    <a:pt x="13846" y="9583"/>
                    <a:pt x="14118" y="10068"/>
                    <a:pt x="14316" y="10623"/>
                  </a:cubicBezTo>
                  <a:cubicBezTo>
                    <a:pt x="14515" y="11185"/>
                    <a:pt x="14615" y="11781"/>
                    <a:pt x="14615" y="12422"/>
                  </a:cubicBezTo>
                  <a:cubicBezTo>
                    <a:pt x="14615" y="13055"/>
                    <a:pt x="14515" y="13650"/>
                    <a:pt x="14316" y="14204"/>
                  </a:cubicBezTo>
                  <a:cubicBezTo>
                    <a:pt x="14118" y="14757"/>
                    <a:pt x="13846" y="15245"/>
                    <a:pt x="13501" y="15667"/>
                  </a:cubicBezTo>
                  <a:cubicBezTo>
                    <a:pt x="13158" y="16091"/>
                    <a:pt x="12752" y="16419"/>
                    <a:pt x="12289" y="16660"/>
                  </a:cubicBezTo>
                  <a:cubicBezTo>
                    <a:pt x="11825" y="16898"/>
                    <a:pt x="11329" y="17016"/>
                    <a:pt x="10805" y="17016"/>
                  </a:cubicBezTo>
                  <a:cubicBezTo>
                    <a:pt x="10275" y="17016"/>
                    <a:pt x="9777" y="16898"/>
                    <a:pt x="9313" y="16660"/>
                  </a:cubicBezTo>
                  <a:cubicBezTo>
                    <a:pt x="8848" y="16419"/>
                    <a:pt x="8444" y="16091"/>
                    <a:pt x="8101" y="15667"/>
                  </a:cubicBezTo>
                  <a:cubicBezTo>
                    <a:pt x="7755" y="15245"/>
                    <a:pt x="7484" y="14755"/>
                    <a:pt x="7285" y="14198"/>
                  </a:cubicBezTo>
                  <a:cubicBezTo>
                    <a:pt x="7084" y="13641"/>
                    <a:pt x="6985" y="13045"/>
                    <a:pt x="6985" y="12422"/>
                  </a:cubicBezTo>
                  <a:cubicBezTo>
                    <a:pt x="6985" y="11781"/>
                    <a:pt x="7084" y="11185"/>
                    <a:pt x="7285" y="10623"/>
                  </a:cubicBezTo>
                  <a:cubicBezTo>
                    <a:pt x="7484" y="10068"/>
                    <a:pt x="7755" y="9583"/>
                    <a:pt x="8101" y="9168"/>
                  </a:cubicBezTo>
                  <a:cubicBezTo>
                    <a:pt x="8444" y="8754"/>
                    <a:pt x="8848" y="8432"/>
                    <a:pt x="9313" y="8190"/>
                  </a:cubicBezTo>
                  <a:cubicBezTo>
                    <a:pt x="9777" y="7952"/>
                    <a:pt x="10275" y="7833"/>
                    <a:pt x="10805" y="7833"/>
                  </a:cubicBezTo>
                </a:path>
              </a:pathLst>
            </a:custGeom>
            <a:solidFill>
              <a:srgbClr val="CE3418"/>
            </a:solidFill>
            <a:ln>
              <a:noFill/>
            </a:ln>
            <a:effectLst/>
          </p:spPr>
          <p:txBody>
            <a:bodyPr lIns="0" tIns="0" rIns="0" bIns="0"/>
            <a:lstStyle/>
            <a:p>
              <a:pPr>
                <a:defRPr/>
              </a:pPr>
              <a:endParaRPr lang="es-ES" sz="1900" dirty="0">
                <a:cs typeface="Calibri" panose="020F0502020204030204" pitchFamily="34" charset="0"/>
              </a:endParaRPr>
            </a:p>
          </p:txBody>
        </p:sp>
        <p:sp>
          <p:nvSpPr>
            <p:cNvPr id="31" name="TextBox 15"/>
            <p:cNvSpPr txBox="1"/>
            <p:nvPr/>
          </p:nvSpPr>
          <p:spPr>
            <a:xfrm>
              <a:off x="2277" y="5816"/>
              <a:ext cx="3035" cy="575"/>
            </a:xfrm>
            <a:prstGeom prst="rect">
              <a:avLst/>
            </a:prstGeom>
            <a:noFill/>
          </p:spPr>
          <p:txBody>
            <a:bodyPr wrap="square" lIns="70555" tIns="35278" rIns="70555" bIns="35278" rtlCol="0">
              <a:spAutoFit/>
            </a:bodyPr>
            <a:lstStyle/>
            <a:p>
              <a:pPr algn="r">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公司股票上市交易所：上海证券交易所 </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algn="r">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股票简称：公司</a:t>
              </a:r>
              <a:endParaRPr lang="zh-CN" altLang="en-US" sz="12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33" name="TextBox 15"/>
            <p:cNvSpPr txBox="1"/>
            <p:nvPr/>
          </p:nvSpPr>
          <p:spPr>
            <a:xfrm>
              <a:off x="8808" y="5689"/>
              <a:ext cx="3035" cy="830"/>
            </a:xfrm>
            <a:prstGeom prst="rect">
              <a:avLst/>
            </a:prstGeom>
            <a:noFill/>
          </p:spPr>
          <p:txBody>
            <a:bodyPr wrap="square" lIns="70555" tIns="35278" rIns="70555" bIns="35278" rtlCol="0">
              <a:spAutoFit/>
            </a:bodyPr>
            <a:lstStyle/>
            <a:p>
              <a:pPr algn="just">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股票代码：</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600839 </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公司选定的信息披露报纸名称：</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中国证券报</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上海证券报</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2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35" name="TextBox 15"/>
            <p:cNvSpPr txBox="1"/>
            <p:nvPr/>
          </p:nvSpPr>
          <p:spPr>
            <a:xfrm>
              <a:off x="2366" y="2827"/>
              <a:ext cx="4411" cy="1766"/>
            </a:xfrm>
            <a:prstGeom prst="rect">
              <a:avLst/>
            </a:prstGeom>
            <a:noFill/>
          </p:spPr>
          <p:txBody>
            <a:bodyPr wrap="square" lIns="70555" tIns="35278" rIns="70555" bIns="35278" rtlCol="0">
              <a:spAutoFit/>
            </a:bodyPr>
            <a:lstStyle/>
            <a:p>
              <a:pPr algn="just">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公司法定中文名称：公司名称</a:t>
              </a:r>
              <a:endPar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公司法定英文名称：</a:t>
              </a:r>
              <a:r>
                <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SICHUAN CHANGHONG ELECTRIC CO.,LTD </a:t>
              </a:r>
              <a:endPar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公司法定代表人：小觅知　　</a:t>
              </a:r>
              <a:endPar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公司注册地址：公司地址</a:t>
              </a:r>
            </a:p>
          </p:txBody>
        </p:sp>
      </p:grpSp>
      <p:sp>
        <p:nvSpPr>
          <p:cNvPr id="10" name="原创设计师QQ598969553      _3"/>
          <p:cNvSpPr>
            <a:spLocks noChangeArrowheads="1"/>
          </p:cNvSpPr>
          <p:nvPr/>
        </p:nvSpPr>
        <p:spPr bwMode="auto">
          <a:xfrm>
            <a:off x="605607" y="337623"/>
            <a:ext cx="18288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公司基本信息</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8" presetClass="entr" presetSubtype="16"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diamond(in)">
                                      <p:cBhvr>
                                        <p:cTn id="21"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605607" y="337623"/>
            <a:ext cx="18288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公司历史介绍</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94f87322-0335-49a4-ab2d-5842b1252b8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13995" y="2052257"/>
            <a:ext cx="10764009" cy="3170634"/>
            <a:chOff x="759982" y="1880807"/>
            <a:chExt cx="10764009" cy="3170634"/>
          </a:xfrm>
        </p:grpSpPr>
        <p:sp>
          <p:nvSpPr>
            <p:cNvPr id="6" name="íṡḷïďe"/>
            <p:cNvSpPr/>
            <p:nvPr/>
          </p:nvSpPr>
          <p:spPr>
            <a:xfrm>
              <a:off x="759982" y="3501008"/>
              <a:ext cx="10764009" cy="40566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nvGrpSpPr>
            <p:cNvPr id="7" name="ïśḷîḑé"/>
            <p:cNvGrpSpPr/>
            <p:nvPr/>
          </p:nvGrpSpPr>
          <p:grpSpPr>
            <a:xfrm>
              <a:off x="3453176" y="1888846"/>
              <a:ext cx="2692136" cy="3160495"/>
              <a:chOff x="3452117" y="1888846"/>
              <a:chExt cx="2692136" cy="3160495"/>
            </a:xfrm>
          </p:grpSpPr>
          <p:sp>
            <p:nvSpPr>
              <p:cNvPr id="8" name="ïṥḷíḑe"/>
              <p:cNvSpPr/>
              <p:nvPr/>
            </p:nvSpPr>
            <p:spPr>
              <a:xfrm>
                <a:off x="4364206" y="1888846"/>
                <a:ext cx="867959" cy="867959"/>
              </a:xfrm>
              <a:prstGeom prst="ellips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4" name="îṡlíde"/>
              <p:cNvSpPr/>
              <p:nvPr/>
            </p:nvSpPr>
            <p:spPr>
              <a:xfrm>
                <a:off x="3452117" y="3903629"/>
                <a:ext cx="2692136" cy="67055"/>
              </a:xfrm>
              <a:prstGeom prst="rect">
                <a:avLst/>
              </a:prstGeom>
              <a:solidFill>
                <a:srgbClr val="CE341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 name="íṩľîḋé"/>
              <p:cNvSpPr txBox="1"/>
              <p:nvPr/>
            </p:nvSpPr>
            <p:spPr>
              <a:xfrm>
                <a:off x="4090299" y="3009416"/>
                <a:ext cx="1415772" cy="338554"/>
              </a:xfrm>
              <a:prstGeom prst="rect">
                <a:avLst/>
              </a:prstGeom>
              <a:noFill/>
            </p:spPr>
            <p:txBody>
              <a:bodyPr wrap="none">
                <a:normAutofit fontScale="97500"/>
              </a:bodyPr>
              <a:lstStyle/>
              <a:p>
                <a:pPr algn="ctr"/>
                <a:r>
                  <a:rPr lang="en-US" altLang="zh-CN" sz="1600" b="1" dirty="0">
                    <a:solidFill>
                      <a:schemeClr val="tx1">
                        <a:lumMod val="85000"/>
                        <a:lumOff val="15000"/>
                      </a:schemeClr>
                    </a:solidFill>
                    <a:ea typeface="微软雅黑" panose="020B0503020204020204" pitchFamily="34" charset="-122"/>
                  </a:rPr>
                  <a:t>1989</a:t>
                </a:r>
                <a:r>
                  <a:rPr lang="zh-CN" altLang="en-US" sz="1600" b="1" dirty="0">
                    <a:solidFill>
                      <a:schemeClr val="tx1">
                        <a:lumMod val="85000"/>
                        <a:lumOff val="15000"/>
                      </a:schemeClr>
                    </a:solidFill>
                    <a:ea typeface="微软雅黑" panose="020B0503020204020204" pitchFamily="34" charset="-122"/>
                  </a:rPr>
                  <a:t>年</a:t>
                </a:r>
              </a:p>
            </p:txBody>
          </p:sp>
          <p:sp>
            <p:nvSpPr>
              <p:cNvPr id="36" name="îşļïḍê"/>
              <p:cNvSpPr txBox="1"/>
              <p:nvPr/>
            </p:nvSpPr>
            <p:spPr>
              <a:xfrm>
                <a:off x="3582435" y="4520991"/>
                <a:ext cx="2431501" cy="528350"/>
              </a:xfrm>
              <a:prstGeom prst="rect">
                <a:avLst/>
              </a:prstGeom>
              <a:noFill/>
            </p:spPr>
            <p:txBody>
              <a:bodyPr wrap="square">
                <a:normAutofit/>
              </a:bodyPr>
              <a:lstStyle/>
              <a:p>
                <a:pPr algn="ctr">
                  <a:lnSpc>
                    <a:spcPct val="120000"/>
                  </a:lnSpc>
                  <a:defRPr/>
                </a:pPr>
                <a:r>
                  <a:rPr lang="zh-CN" altLang="en-US" sz="1100" dirty="0">
                    <a:solidFill>
                      <a:schemeClr val="bg1">
                        <a:lumMod val="50000"/>
                      </a:schemeClr>
                    </a:solidFill>
                    <a:ea typeface="微软雅黑" panose="020B0503020204020204" pitchFamily="34" charset="-122"/>
                  </a:rPr>
                  <a:t>此部分内容作为文字排版占位显示（建议使用主题字体）</a:t>
                </a:r>
              </a:p>
            </p:txBody>
          </p:sp>
          <p:sp>
            <p:nvSpPr>
              <p:cNvPr id="37" name="îšḷïďê"/>
              <p:cNvSpPr/>
              <p:nvPr/>
            </p:nvSpPr>
            <p:spPr>
              <a:xfrm>
                <a:off x="3782185" y="4077174"/>
                <a:ext cx="2032000" cy="417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1400" b="1" dirty="0">
                    <a:solidFill>
                      <a:schemeClr val="bg1">
                        <a:lumMod val="50000"/>
                      </a:schemeClr>
                    </a:solidFill>
                    <a:ea typeface="微软雅黑" panose="020B0503020204020204" pitchFamily="34" charset="-122"/>
                  </a:rPr>
                  <a:t>标题文本预设</a:t>
                </a:r>
              </a:p>
            </p:txBody>
          </p:sp>
          <p:sp>
            <p:nvSpPr>
              <p:cNvPr id="38" name="iSlïḑé"/>
              <p:cNvSpPr txBox="1"/>
              <p:nvPr/>
            </p:nvSpPr>
            <p:spPr>
              <a:xfrm>
                <a:off x="4398076" y="3542574"/>
                <a:ext cx="800219" cy="338554"/>
              </a:xfrm>
              <a:prstGeom prst="rect">
                <a:avLst/>
              </a:prstGeom>
              <a:noFill/>
            </p:spPr>
            <p:txBody>
              <a:bodyPr wrap="none">
                <a:normAutofit/>
              </a:bodyPr>
              <a:lstStyle/>
              <a:p>
                <a:pPr algn="ctr"/>
                <a:r>
                  <a:rPr lang="zh-CN" altLang="en-US" sz="1600" dirty="0">
                    <a:solidFill>
                      <a:schemeClr val="bg1"/>
                    </a:solidFill>
                    <a:ea typeface="微软雅黑" panose="020B0503020204020204" pitchFamily="34" charset="-122"/>
                  </a:rPr>
                  <a:t>关键词</a:t>
                </a:r>
              </a:p>
            </p:txBody>
          </p:sp>
          <p:grpSp>
            <p:nvGrpSpPr>
              <p:cNvPr id="39" name="îṥlïdê"/>
              <p:cNvGrpSpPr/>
              <p:nvPr/>
            </p:nvGrpSpPr>
            <p:grpSpPr>
              <a:xfrm>
                <a:off x="4598064" y="2131984"/>
                <a:ext cx="400243" cy="400243"/>
                <a:chOff x="2770187" y="2415226"/>
                <a:chExt cx="330200" cy="330200"/>
              </a:xfrm>
              <a:solidFill>
                <a:schemeClr val="bg1"/>
              </a:solidFill>
            </p:grpSpPr>
            <p:sp>
              <p:nvSpPr>
                <p:cNvPr id="40" name="í$ḷïḑè"/>
                <p:cNvSpPr/>
                <p:nvPr/>
              </p:nvSpPr>
              <p:spPr bwMode="auto">
                <a:xfrm>
                  <a:off x="2770187" y="2415226"/>
                  <a:ext cx="330200" cy="330200"/>
                </a:xfrm>
                <a:custGeom>
                  <a:avLst/>
                  <a:gdLst>
                    <a:gd name="T0" fmla="*/ 16 w 208"/>
                    <a:gd name="T1" fmla="*/ 177 h 208"/>
                    <a:gd name="T2" fmla="*/ 13 w 208"/>
                    <a:gd name="T3" fmla="*/ 180 h 208"/>
                    <a:gd name="T4" fmla="*/ 13 w 208"/>
                    <a:gd name="T5" fmla="*/ 190 h 208"/>
                    <a:gd name="T6" fmla="*/ 19 w 208"/>
                    <a:gd name="T7" fmla="*/ 196 h 208"/>
                    <a:gd name="T8" fmla="*/ 27 w 208"/>
                    <a:gd name="T9" fmla="*/ 196 h 208"/>
                    <a:gd name="T10" fmla="*/ 83 w 208"/>
                    <a:gd name="T11" fmla="*/ 141 h 208"/>
                    <a:gd name="T12" fmla="*/ 68 w 208"/>
                    <a:gd name="T13" fmla="*/ 124 h 208"/>
                    <a:gd name="T14" fmla="*/ 109 w 208"/>
                    <a:gd name="T15" fmla="*/ 17 h 208"/>
                    <a:gd name="T16" fmla="*/ 78 w 208"/>
                    <a:gd name="T17" fmla="*/ 40 h 208"/>
                    <a:gd name="T18" fmla="*/ 65 w 208"/>
                    <a:gd name="T19" fmla="*/ 78 h 208"/>
                    <a:gd name="T20" fmla="*/ 78 w 208"/>
                    <a:gd name="T21" fmla="*/ 117 h 208"/>
                    <a:gd name="T22" fmla="*/ 109 w 208"/>
                    <a:gd name="T23" fmla="*/ 140 h 208"/>
                    <a:gd name="T24" fmla="*/ 150 w 208"/>
                    <a:gd name="T25" fmla="*/ 140 h 208"/>
                    <a:gd name="T26" fmla="*/ 182 w 208"/>
                    <a:gd name="T27" fmla="*/ 117 h 208"/>
                    <a:gd name="T28" fmla="*/ 195 w 208"/>
                    <a:gd name="T29" fmla="*/ 78 h 208"/>
                    <a:gd name="T30" fmla="*/ 182 w 208"/>
                    <a:gd name="T31" fmla="*/ 40 h 208"/>
                    <a:gd name="T32" fmla="*/ 150 w 208"/>
                    <a:gd name="T33" fmla="*/ 17 h 208"/>
                    <a:gd name="T34" fmla="*/ 130 w 208"/>
                    <a:gd name="T35" fmla="*/ 0 h 208"/>
                    <a:gd name="T36" fmla="*/ 176 w 208"/>
                    <a:gd name="T37" fmla="*/ 16 h 208"/>
                    <a:gd name="T38" fmla="*/ 203 w 208"/>
                    <a:gd name="T39" fmla="*/ 53 h 208"/>
                    <a:gd name="T40" fmla="*/ 203 w 208"/>
                    <a:gd name="T41" fmla="*/ 102 h 208"/>
                    <a:gd name="T42" fmla="*/ 176 w 208"/>
                    <a:gd name="T43" fmla="*/ 141 h 208"/>
                    <a:gd name="T44" fmla="*/ 130 w 208"/>
                    <a:gd name="T45" fmla="*/ 156 h 208"/>
                    <a:gd name="T46" fmla="*/ 94 w 208"/>
                    <a:gd name="T47" fmla="*/ 147 h 208"/>
                    <a:gd name="T48" fmla="*/ 39 w 208"/>
                    <a:gd name="T49" fmla="*/ 202 h 208"/>
                    <a:gd name="T50" fmla="*/ 29 w 208"/>
                    <a:gd name="T51" fmla="*/ 208 h 208"/>
                    <a:gd name="T52" fmla="*/ 17 w 208"/>
                    <a:gd name="T53" fmla="*/ 208 h 208"/>
                    <a:gd name="T54" fmla="*/ 7 w 208"/>
                    <a:gd name="T55" fmla="*/ 202 h 208"/>
                    <a:gd name="T56" fmla="*/ 1 w 208"/>
                    <a:gd name="T57" fmla="*/ 192 h 208"/>
                    <a:gd name="T58" fmla="*/ 1 w 208"/>
                    <a:gd name="T59" fmla="*/ 179 h 208"/>
                    <a:gd name="T60" fmla="*/ 7 w 208"/>
                    <a:gd name="T61" fmla="*/ 169 h 208"/>
                    <a:gd name="T62" fmla="*/ 60 w 208"/>
                    <a:gd name="T63" fmla="*/ 115 h 208"/>
                    <a:gd name="T64" fmla="*/ 52 w 208"/>
                    <a:gd name="T65" fmla="*/ 78 h 208"/>
                    <a:gd name="T66" fmla="*/ 68 w 208"/>
                    <a:gd name="T67" fmla="*/ 33 h 208"/>
                    <a:gd name="T68" fmla="*/ 105 w 208"/>
                    <a:gd name="T69" fmla="*/ 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8" h="208">
                      <a:moveTo>
                        <a:pt x="68" y="124"/>
                      </a:moveTo>
                      <a:lnTo>
                        <a:pt x="16" y="177"/>
                      </a:lnTo>
                      <a:lnTo>
                        <a:pt x="16" y="177"/>
                      </a:lnTo>
                      <a:lnTo>
                        <a:pt x="13" y="180"/>
                      </a:lnTo>
                      <a:lnTo>
                        <a:pt x="11" y="185"/>
                      </a:lnTo>
                      <a:lnTo>
                        <a:pt x="13" y="190"/>
                      </a:lnTo>
                      <a:lnTo>
                        <a:pt x="14" y="193"/>
                      </a:lnTo>
                      <a:lnTo>
                        <a:pt x="19" y="196"/>
                      </a:lnTo>
                      <a:lnTo>
                        <a:pt x="23" y="196"/>
                      </a:lnTo>
                      <a:lnTo>
                        <a:pt x="27" y="196"/>
                      </a:lnTo>
                      <a:lnTo>
                        <a:pt x="32" y="193"/>
                      </a:lnTo>
                      <a:lnTo>
                        <a:pt x="83" y="141"/>
                      </a:lnTo>
                      <a:lnTo>
                        <a:pt x="75" y="133"/>
                      </a:lnTo>
                      <a:lnTo>
                        <a:pt x="68" y="124"/>
                      </a:lnTo>
                      <a:close/>
                      <a:moveTo>
                        <a:pt x="130" y="13"/>
                      </a:moveTo>
                      <a:lnTo>
                        <a:pt x="109" y="17"/>
                      </a:lnTo>
                      <a:lnTo>
                        <a:pt x="92" y="26"/>
                      </a:lnTo>
                      <a:lnTo>
                        <a:pt x="78" y="40"/>
                      </a:lnTo>
                      <a:lnTo>
                        <a:pt x="68" y="58"/>
                      </a:lnTo>
                      <a:lnTo>
                        <a:pt x="65" y="78"/>
                      </a:lnTo>
                      <a:lnTo>
                        <a:pt x="68" y="100"/>
                      </a:lnTo>
                      <a:lnTo>
                        <a:pt x="78" y="117"/>
                      </a:lnTo>
                      <a:lnTo>
                        <a:pt x="92" y="131"/>
                      </a:lnTo>
                      <a:lnTo>
                        <a:pt x="109" y="140"/>
                      </a:lnTo>
                      <a:lnTo>
                        <a:pt x="130" y="143"/>
                      </a:lnTo>
                      <a:lnTo>
                        <a:pt x="150" y="140"/>
                      </a:lnTo>
                      <a:lnTo>
                        <a:pt x="169" y="131"/>
                      </a:lnTo>
                      <a:lnTo>
                        <a:pt x="182" y="117"/>
                      </a:lnTo>
                      <a:lnTo>
                        <a:pt x="192" y="100"/>
                      </a:lnTo>
                      <a:lnTo>
                        <a:pt x="195" y="78"/>
                      </a:lnTo>
                      <a:lnTo>
                        <a:pt x="192" y="58"/>
                      </a:lnTo>
                      <a:lnTo>
                        <a:pt x="182" y="40"/>
                      </a:lnTo>
                      <a:lnTo>
                        <a:pt x="169" y="26"/>
                      </a:lnTo>
                      <a:lnTo>
                        <a:pt x="150" y="17"/>
                      </a:lnTo>
                      <a:lnTo>
                        <a:pt x="130" y="13"/>
                      </a:lnTo>
                      <a:close/>
                      <a:moveTo>
                        <a:pt x="130" y="0"/>
                      </a:moveTo>
                      <a:lnTo>
                        <a:pt x="154" y="4"/>
                      </a:lnTo>
                      <a:lnTo>
                        <a:pt x="176" y="16"/>
                      </a:lnTo>
                      <a:lnTo>
                        <a:pt x="193" y="33"/>
                      </a:lnTo>
                      <a:lnTo>
                        <a:pt x="203" y="53"/>
                      </a:lnTo>
                      <a:lnTo>
                        <a:pt x="208" y="78"/>
                      </a:lnTo>
                      <a:lnTo>
                        <a:pt x="203" y="102"/>
                      </a:lnTo>
                      <a:lnTo>
                        <a:pt x="193" y="124"/>
                      </a:lnTo>
                      <a:lnTo>
                        <a:pt x="176" y="141"/>
                      </a:lnTo>
                      <a:lnTo>
                        <a:pt x="154" y="153"/>
                      </a:lnTo>
                      <a:lnTo>
                        <a:pt x="130" y="156"/>
                      </a:lnTo>
                      <a:lnTo>
                        <a:pt x="111" y="154"/>
                      </a:lnTo>
                      <a:lnTo>
                        <a:pt x="94" y="147"/>
                      </a:lnTo>
                      <a:lnTo>
                        <a:pt x="39" y="202"/>
                      </a:lnTo>
                      <a:lnTo>
                        <a:pt x="39" y="202"/>
                      </a:lnTo>
                      <a:lnTo>
                        <a:pt x="34" y="205"/>
                      </a:lnTo>
                      <a:lnTo>
                        <a:pt x="29" y="208"/>
                      </a:lnTo>
                      <a:lnTo>
                        <a:pt x="23" y="208"/>
                      </a:lnTo>
                      <a:lnTo>
                        <a:pt x="17" y="208"/>
                      </a:lnTo>
                      <a:lnTo>
                        <a:pt x="11" y="205"/>
                      </a:lnTo>
                      <a:lnTo>
                        <a:pt x="7" y="202"/>
                      </a:lnTo>
                      <a:lnTo>
                        <a:pt x="3" y="196"/>
                      </a:lnTo>
                      <a:lnTo>
                        <a:pt x="1" y="192"/>
                      </a:lnTo>
                      <a:lnTo>
                        <a:pt x="0" y="185"/>
                      </a:lnTo>
                      <a:lnTo>
                        <a:pt x="1" y="179"/>
                      </a:lnTo>
                      <a:lnTo>
                        <a:pt x="3" y="173"/>
                      </a:lnTo>
                      <a:lnTo>
                        <a:pt x="7" y="169"/>
                      </a:lnTo>
                      <a:lnTo>
                        <a:pt x="7" y="169"/>
                      </a:lnTo>
                      <a:lnTo>
                        <a:pt x="60" y="115"/>
                      </a:lnTo>
                      <a:lnTo>
                        <a:pt x="55" y="98"/>
                      </a:lnTo>
                      <a:lnTo>
                        <a:pt x="52" y="78"/>
                      </a:lnTo>
                      <a:lnTo>
                        <a:pt x="56" y="53"/>
                      </a:lnTo>
                      <a:lnTo>
                        <a:pt x="68" y="33"/>
                      </a:lnTo>
                      <a:lnTo>
                        <a:pt x="83" y="16"/>
                      </a:lnTo>
                      <a:lnTo>
                        <a:pt x="105" y="4"/>
                      </a:lnTo>
                      <a:lnTo>
                        <a:pt x="130" y="0"/>
                      </a:lnTo>
                      <a:close/>
                    </a:path>
                  </a:pathLst>
                </a:custGeom>
                <a:grpFill/>
                <a:ln w="0">
                  <a:noFill/>
                  <a:prstDash val="solid"/>
                  <a:round/>
                </a:ln>
              </p:spPr>
              <p:txBody>
                <a:bodyPr anchor="ctr"/>
                <a:lstStyle/>
                <a:p>
                  <a:pPr algn="ctr"/>
                  <a:endParaRPr/>
                </a:p>
              </p:txBody>
            </p:sp>
            <p:sp>
              <p:nvSpPr>
                <p:cNvPr id="41" name="iṥ1ïḑê"/>
                <p:cNvSpPr/>
                <p:nvPr/>
              </p:nvSpPr>
              <p:spPr bwMode="auto">
                <a:xfrm>
                  <a:off x="2905124" y="2467613"/>
                  <a:ext cx="76200" cy="77787"/>
                </a:xfrm>
                <a:custGeom>
                  <a:avLst/>
                  <a:gdLst>
                    <a:gd name="T0" fmla="*/ 45 w 48"/>
                    <a:gd name="T1" fmla="*/ 0 h 49"/>
                    <a:gd name="T2" fmla="*/ 48 w 48"/>
                    <a:gd name="T3" fmla="*/ 2 h 49"/>
                    <a:gd name="T4" fmla="*/ 48 w 48"/>
                    <a:gd name="T5" fmla="*/ 3 h 49"/>
                    <a:gd name="T6" fmla="*/ 48 w 48"/>
                    <a:gd name="T7" fmla="*/ 6 h 49"/>
                    <a:gd name="T8" fmla="*/ 45 w 48"/>
                    <a:gd name="T9" fmla="*/ 6 h 49"/>
                    <a:gd name="T10" fmla="*/ 30 w 48"/>
                    <a:gd name="T11" fmla="*/ 10 h 49"/>
                    <a:gd name="T12" fmla="*/ 17 w 48"/>
                    <a:gd name="T13" fmla="*/ 17 h 49"/>
                    <a:gd name="T14" fmla="*/ 9 w 48"/>
                    <a:gd name="T15" fmla="*/ 30 h 49"/>
                    <a:gd name="T16" fmla="*/ 6 w 48"/>
                    <a:gd name="T17" fmla="*/ 45 h 49"/>
                    <a:gd name="T18" fmla="*/ 4 w 48"/>
                    <a:gd name="T19" fmla="*/ 48 h 49"/>
                    <a:gd name="T20" fmla="*/ 3 w 48"/>
                    <a:gd name="T21" fmla="*/ 49 h 49"/>
                    <a:gd name="T22" fmla="*/ 0 w 48"/>
                    <a:gd name="T23" fmla="*/ 48 h 49"/>
                    <a:gd name="T24" fmla="*/ 0 w 48"/>
                    <a:gd name="T25" fmla="*/ 45 h 49"/>
                    <a:gd name="T26" fmla="*/ 3 w 48"/>
                    <a:gd name="T27" fmla="*/ 28 h 49"/>
                    <a:gd name="T28" fmla="*/ 13 w 48"/>
                    <a:gd name="T29" fmla="*/ 13 h 49"/>
                    <a:gd name="T30" fmla="*/ 27 w 48"/>
                    <a:gd name="T31" fmla="*/ 3 h 49"/>
                    <a:gd name="T32" fmla="*/ 45 w 48"/>
                    <a:gd name="T3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49">
                      <a:moveTo>
                        <a:pt x="45" y="0"/>
                      </a:moveTo>
                      <a:lnTo>
                        <a:pt x="48" y="2"/>
                      </a:lnTo>
                      <a:lnTo>
                        <a:pt x="48" y="3"/>
                      </a:lnTo>
                      <a:lnTo>
                        <a:pt x="48" y="6"/>
                      </a:lnTo>
                      <a:lnTo>
                        <a:pt x="45" y="6"/>
                      </a:lnTo>
                      <a:lnTo>
                        <a:pt x="30" y="10"/>
                      </a:lnTo>
                      <a:lnTo>
                        <a:pt x="17" y="17"/>
                      </a:lnTo>
                      <a:lnTo>
                        <a:pt x="9" y="30"/>
                      </a:lnTo>
                      <a:lnTo>
                        <a:pt x="6" y="45"/>
                      </a:lnTo>
                      <a:lnTo>
                        <a:pt x="4" y="48"/>
                      </a:lnTo>
                      <a:lnTo>
                        <a:pt x="3" y="49"/>
                      </a:lnTo>
                      <a:lnTo>
                        <a:pt x="0" y="48"/>
                      </a:lnTo>
                      <a:lnTo>
                        <a:pt x="0" y="45"/>
                      </a:lnTo>
                      <a:lnTo>
                        <a:pt x="3" y="28"/>
                      </a:lnTo>
                      <a:lnTo>
                        <a:pt x="13" y="13"/>
                      </a:lnTo>
                      <a:lnTo>
                        <a:pt x="27" y="3"/>
                      </a:lnTo>
                      <a:lnTo>
                        <a:pt x="45" y="0"/>
                      </a:lnTo>
                      <a:close/>
                    </a:path>
                  </a:pathLst>
                </a:custGeom>
                <a:grpFill/>
                <a:ln w="0">
                  <a:noFill/>
                  <a:prstDash val="solid"/>
                  <a:round/>
                </a:ln>
              </p:spPr>
              <p:txBody>
                <a:bodyPr anchor="ctr"/>
                <a:lstStyle/>
                <a:p>
                  <a:pPr algn="ctr"/>
                  <a:endParaRPr/>
                </a:p>
              </p:txBody>
            </p:sp>
          </p:grpSp>
        </p:grpSp>
        <p:grpSp>
          <p:nvGrpSpPr>
            <p:cNvPr id="11" name="íśḻiďe"/>
            <p:cNvGrpSpPr/>
            <p:nvPr/>
          </p:nvGrpSpPr>
          <p:grpSpPr>
            <a:xfrm>
              <a:off x="763837" y="1888846"/>
              <a:ext cx="2692136" cy="3162595"/>
              <a:chOff x="737551" y="1888846"/>
              <a:chExt cx="2692136" cy="3162595"/>
            </a:xfrm>
          </p:grpSpPr>
          <p:sp>
            <p:nvSpPr>
              <p:cNvPr id="26" name="ïšliḋe"/>
              <p:cNvSpPr/>
              <p:nvPr/>
            </p:nvSpPr>
            <p:spPr>
              <a:xfrm>
                <a:off x="1649640" y="1888846"/>
                <a:ext cx="867959" cy="86795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7" name="îSlïďé"/>
              <p:cNvSpPr/>
              <p:nvPr/>
            </p:nvSpPr>
            <p:spPr>
              <a:xfrm>
                <a:off x="737551" y="3903630"/>
                <a:ext cx="2692136" cy="67055"/>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8" name="íṣľîḋe"/>
              <p:cNvSpPr txBox="1"/>
              <p:nvPr/>
            </p:nvSpPr>
            <p:spPr>
              <a:xfrm>
                <a:off x="1375733" y="3009416"/>
                <a:ext cx="1415772" cy="338554"/>
              </a:xfrm>
              <a:prstGeom prst="rect">
                <a:avLst/>
              </a:prstGeom>
              <a:noFill/>
            </p:spPr>
            <p:txBody>
              <a:bodyPr wrap="none">
                <a:normAutofit fontScale="97500"/>
              </a:bodyPr>
              <a:lstStyle/>
              <a:p>
                <a:pPr algn="ctr"/>
                <a:r>
                  <a:rPr lang="en-US" altLang="zh-CN" sz="1600" b="1" dirty="0">
                    <a:solidFill>
                      <a:schemeClr val="tx1">
                        <a:lumMod val="85000"/>
                        <a:lumOff val="15000"/>
                      </a:schemeClr>
                    </a:solidFill>
                    <a:ea typeface="微软雅黑" panose="020B0503020204020204" pitchFamily="34" charset="-122"/>
                  </a:rPr>
                  <a:t>1930</a:t>
                </a:r>
                <a:r>
                  <a:rPr lang="zh-CN" altLang="en-US" sz="1600" b="1" dirty="0">
                    <a:solidFill>
                      <a:schemeClr val="tx1">
                        <a:lumMod val="85000"/>
                        <a:lumOff val="15000"/>
                      </a:schemeClr>
                    </a:solidFill>
                    <a:ea typeface="微软雅黑" panose="020B0503020204020204" pitchFamily="34" charset="-122"/>
                  </a:rPr>
                  <a:t>年</a:t>
                </a:r>
              </a:p>
            </p:txBody>
          </p:sp>
          <p:sp>
            <p:nvSpPr>
              <p:cNvPr id="29" name="îṥḻïdê"/>
              <p:cNvSpPr txBox="1"/>
              <p:nvPr/>
            </p:nvSpPr>
            <p:spPr>
              <a:xfrm>
                <a:off x="867869" y="4523091"/>
                <a:ext cx="2431501" cy="528350"/>
              </a:xfrm>
              <a:prstGeom prst="rect">
                <a:avLst/>
              </a:prstGeom>
              <a:noFill/>
            </p:spPr>
            <p:txBody>
              <a:bodyPr wrap="square">
                <a:normAutofit/>
              </a:bodyPr>
              <a:lstStyle/>
              <a:p>
                <a:pPr algn="ctr">
                  <a:lnSpc>
                    <a:spcPct val="120000"/>
                  </a:lnSpc>
                  <a:defRPr/>
                </a:pPr>
                <a:r>
                  <a:rPr lang="zh-CN" altLang="en-US" sz="1100" dirty="0">
                    <a:solidFill>
                      <a:schemeClr val="bg1">
                        <a:lumMod val="50000"/>
                      </a:schemeClr>
                    </a:solidFill>
                    <a:ea typeface="微软雅黑" panose="020B0503020204020204" pitchFamily="34" charset="-122"/>
                  </a:rPr>
                  <a:t>此部分内容作为文字排版占位显示（建议使用主题字体）</a:t>
                </a:r>
              </a:p>
            </p:txBody>
          </p:sp>
          <p:sp>
            <p:nvSpPr>
              <p:cNvPr id="30" name="îšľiḑê"/>
              <p:cNvSpPr/>
              <p:nvPr/>
            </p:nvSpPr>
            <p:spPr>
              <a:xfrm>
                <a:off x="1067619" y="4079274"/>
                <a:ext cx="2032000" cy="417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1400" b="1" dirty="0">
                    <a:solidFill>
                      <a:schemeClr val="bg1">
                        <a:lumMod val="50000"/>
                      </a:schemeClr>
                    </a:solidFill>
                    <a:ea typeface="微软雅黑" panose="020B0503020204020204" pitchFamily="34" charset="-122"/>
                  </a:rPr>
                  <a:t>标题文本预设</a:t>
                </a:r>
              </a:p>
            </p:txBody>
          </p:sp>
          <p:sp>
            <p:nvSpPr>
              <p:cNvPr id="12" name="îṣlïḋe"/>
              <p:cNvSpPr txBox="1"/>
              <p:nvPr/>
            </p:nvSpPr>
            <p:spPr>
              <a:xfrm>
                <a:off x="1683510" y="3542574"/>
                <a:ext cx="800219" cy="338554"/>
              </a:xfrm>
              <a:prstGeom prst="rect">
                <a:avLst/>
              </a:prstGeom>
              <a:noFill/>
            </p:spPr>
            <p:txBody>
              <a:bodyPr wrap="none">
                <a:normAutofit/>
              </a:bodyPr>
              <a:lstStyle/>
              <a:p>
                <a:pPr algn="ctr"/>
                <a:r>
                  <a:rPr lang="zh-CN" altLang="en-US" sz="1600" dirty="0">
                    <a:solidFill>
                      <a:schemeClr val="bg1"/>
                    </a:solidFill>
                    <a:ea typeface="微软雅黑" panose="020B0503020204020204" pitchFamily="34" charset="-122"/>
                  </a:rPr>
                  <a:t>关键词</a:t>
                </a:r>
              </a:p>
            </p:txBody>
          </p:sp>
          <p:sp>
            <p:nvSpPr>
              <p:cNvPr id="32" name="îšḻíḋé"/>
              <p:cNvSpPr/>
              <p:nvPr/>
            </p:nvSpPr>
            <p:spPr bwMode="auto">
              <a:xfrm>
                <a:off x="1901691" y="2136965"/>
                <a:ext cx="363857" cy="363857"/>
              </a:xfrm>
              <a:custGeom>
                <a:avLst/>
                <a:gdLst>
                  <a:gd name="T0" fmla="*/ 189 w 208"/>
                  <a:gd name="T1" fmla="*/ 37 h 208"/>
                  <a:gd name="T2" fmla="*/ 104 w 208"/>
                  <a:gd name="T3" fmla="*/ 170 h 208"/>
                  <a:gd name="T4" fmla="*/ 108 w 208"/>
                  <a:gd name="T5" fmla="*/ 170 h 208"/>
                  <a:gd name="T6" fmla="*/ 163 w 208"/>
                  <a:gd name="T7" fmla="*/ 193 h 208"/>
                  <a:gd name="T8" fmla="*/ 189 w 208"/>
                  <a:gd name="T9" fmla="*/ 37 h 208"/>
                  <a:gd name="T10" fmla="*/ 170 w 208"/>
                  <a:gd name="T11" fmla="*/ 35 h 208"/>
                  <a:gd name="T12" fmla="*/ 20 w 208"/>
                  <a:gd name="T13" fmla="*/ 136 h 208"/>
                  <a:gd name="T14" fmla="*/ 59 w 208"/>
                  <a:gd name="T15" fmla="*/ 151 h 208"/>
                  <a:gd name="T16" fmla="*/ 61 w 208"/>
                  <a:gd name="T17" fmla="*/ 151 h 208"/>
                  <a:gd name="T18" fmla="*/ 170 w 208"/>
                  <a:gd name="T19" fmla="*/ 35 h 208"/>
                  <a:gd name="T20" fmla="*/ 189 w 208"/>
                  <a:gd name="T21" fmla="*/ 24 h 208"/>
                  <a:gd name="T22" fmla="*/ 67 w 208"/>
                  <a:gd name="T23" fmla="*/ 157 h 208"/>
                  <a:gd name="T24" fmla="*/ 67 w 208"/>
                  <a:gd name="T25" fmla="*/ 157 h 208"/>
                  <a:gd name="T26" fmla="*/ 84 w 208"/>
                  <a:gd name="T27" fmla="*/ 189 h 208"/>
                  <a:gd name="T28" fmla="*/ 189 w 208"/>
                  <a:gd name="T29" fmla="*/ 24 h 208"/>
                  <a:gd name="T30" fmla="*/ 201 w 208"/>
                  <a:gd name="T31" fmla="*/ 0 h 208"/>
                  <a:gd name="T32" fmla="*/ 202 w 208"/>
                  <a:gd name="T33" fmla="*/ 1 h 208"/>
                  <a:gd name="T34" fmla="*/ 205 w 208"/>
                  <a:gd name="T35" fmla="*/ 1 h 208"/>
                  <a:gd name="T36" fmla="*/ 206 w 208"/>
                  <a:gd name="T37" fmla="*/ 3 h 208"/>
                  <a:gd name="T38" fmla="*/ 206 w 208"/>
                  <a:gd name="T39" fmla="*/ 6 h 208"/>
                  <a:gd name="T40" fmla="*/ 208 w 208"/>
                  <a:gd name="T41" fmla="*/ 9 h 208"/>
                  <a:gd name="T42" fmla="*/ 175 w 208"/>
                  <a:gd name="T43" fmla="*/ 203 h 208"/>
                  <a:gd name="T44" fmla="*/ 173 w 208"/>
                  <a:gd name="T45" fmla="*/ 205 h 208"/>
                  <a:gd name="T46" fmla="*/ 172 w 208"/>
                  <a:gd name="T47" fmla="*/ 208 h 208"/>
                  <a:gd name="T48" fmla="*/ 169 w 208"/>
                  <a:gd name="T49" fmla="*/ 208 h 208"/>
                  <a:gd name="T50" fmla="*/ 166 w 208"/>
                  <a:gd name="T51" fmla="*/ 208 h 208"/>
                  <a:gd name="T52" fmla="*/ 103 w 208"/>
                  <a:gd name="T53" fmla="*/ 183 h 208"/>
                  <a:gd name="T54" fmla="*/ 90 w 208"/>
                  <a:gd name="T55" fmla="*/ 205 h 208"/>
                  <a:gd name="T56" fmla="*/ 87 w 208"/>
                  <a:gd name="T57" fmla="*/ 208 h 208"/>
                  <a:gd name="T58" fmla="*/ 84 w 208"/>
                  <a:gd name="T59" fmla="*/ 208 h 208"/>
                  <a:gd name="T60" fmla="*/ 84 w 208"/>
                  <a:gd name="T61" fmla="*/ 208 h 208"/>
                  <a:gd name="T62" fmla="*/ 81 w 208"/>
                  <a:gd name="T63" fmla="*/ 208 h 208"/>
                  <a:gd name="T64" fmla="*/ 78 w 208"/>
                  <a:gd name="T65" fmla="*/ 205 h 208"/>
                  <a:gd name="T66" fmla="*/ 55 w 208"/>
                  <a:gd name="T67" fmla="*/ 163 h 208"/>
                  <a:gd name="T68" fmla="*/ 5 w 208"/>
                  <a:gd name="T69" fmla="*/ 143 h 208"/>
                  <a:gd name="T70" fmla="*/ 2 w 208"/>
                  <a:gd name="T71" fmla="*/ 141 h 208"/>
                  <a:gd name="T72" fmla="*/ 0 w 208"/>
                  <a:gd name="T73" fmla="*/ 137 h 208"/>
                  <a:gd name="T74" fmla="*/ 0 w 208"/>
                  <a:gd name="T75" fmla="*/ 134 h 208"/>
                  <a:gd name="T76" fmla="*/ 3 w 208"/>
                  <a:gd name="T77" fmla="*/ 131 h 208"/>
                  <a:gd name="T78" fmla="*/ 198 w 208"/>
                  <a:gd name="T79" fmla="*/ 1 h 208"/>
                  <a:gd name="T80" fmla="*/ 199 w 208"/>
                  <a:gd name="T81" fmla="*/ 1 h 208"/>
                  <a:gd name="T82" fmla="*/ 201 w 208"/>
                  <a:gd name="T83"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8" h="208">
                    <a:moveTo>
                      <a:pt x="189" y="37"/>
                    </a:moveTo>
                    <a:lnTo>
                      <a:pt x="104" y="170"/>
                    </a:lnTo>
                    <a:lnTo>
                      <a:pt x="108" y="170"/>
                    </a:lnTo>
                    <a:lnTo>
                      <a:pt x="163" y="193"/>
                    </a:lnTo>
                    <a:lnTo>
                      <a:pt x="189" y="37"/>
                    </a:lnTo>
                    <a:close/>
                    <a:moveTo>
                      <a:pt x="170" y="35"/>
                    </a:moveTo>
                    <a:lnTo>
                      <a:pt x="20" y="136"/>
                    </a:lnTo>
                    <a:lnTo>
                      <a:pt x="59" y="151"/>
                    </a:lnTo>
                    <a:lnTo>
                      <a:pt x="61" y="151"/>
                    </a:lnTo>
                    <a:lnTo>
                      <a:pt x="170" y="35"/>
                    </a:lnTo>
                    <a:close/>
                    <a:moveTo>
                      <a:pt x="189" y="24"/>
                    </a:moveTo>
                    <a:lnTo>
                      <a:pt x="67" y="157"/>
                    </a:lnTo>
                    <a:lnTo>
                      <a:pt x="67" y="157"/>
                    </a:lnTo>
                    <a:lnTo>
                      <a:pt x="84" y="189"/>
                    </a:lnTo>
                    <a:lnTo>
                      <a:pt x="189" y="24"/>
                    </a:lnTo>
                    <a:close/>
                    <a:moveTo>
                      <a:pt x="201" y="0"/>
                    </a:moveTo>
                    <a:lnTo>
                      <a:pt x="202" y="1"/>
                    </a:lnTo>
                    <a:lnTo>
                      <a:pt x="205" y="1"/>
                    </a:lnTo>
                    <a:lnTo>
                      <a:pt x="206" y="3"/>
                    </a:lnTo>
                    <a:lnTo>
                      <a:pt x="206" y="6"/>
                    </a:lnTo>
                    <a:lnTo>
                      <a:pt x="208" y="9"/>
                    </a:lnTo>
                    <a:lnTo>
                      <a:pt x="175" y="203"/>
                    </a:lnTo>
                    <a:lnTo>
                      <a:pt x="173" y="205"/>
                    </a:lnTo>
                    <a:lnTo>
                      <a:pt x="172" y="208"/>
                    </a:lnTo>
                    <a:lnTo>
                      <a:pt x="169" y="208"/>
                    </a:lnTo>
                    <a:lnTo>
                      <a:pt x="166" y="208"/>
                    </a:lnTo>
                    <a:lnTo>
                      <a:pt x="103" y="183"/>
                    </a:lnTo>
                    <a:lnTo>
                      <a:pt x="90" y="205"/>
                    </a:lnTo>
                    <a:lnTo>
                      <a:pt x="87" y="208"/>
                    </a:lnTo>
                    <a:lnTo>
                      <a:pt x="84" y="208"/>
                    </a:lnTo>
                    <a:lnTo>
                      <a:pt x="84" y="208"/>
                    </a:lnTo>
                    <a:lnTo>
                      <a:pt x="81" y="208"/>
                    </a:lnTo>
                    <a:lnTo>
                      <a:pt x="78" y="205"/>
                    </a:lnTo>
                    <a:lnTo>
                      <a:pt x="55" y="163"/>
                    </a:lnTo>
                    <a:lnTo>
                      <a:pt x="5" y="143"/>
                    </a:lnTo>
                    <a:lnTo>
                      <a:pt x="2" y="141"/>
                    </a:lnTo>
                    <a:lnTo>
                      <a:pt x="0" y="137"/>
                    </a:lnTo>
                    <a:lnTo>
                      <a:pt x="0" y="134"/>
                    </a:lnTo>
                    <a:lnTo>
                      <a:pt x="3" y="131"/>
                    </a:lnTo>
                    <a:lnTo>
                      <a:pt x="198" y="1"/>
                    </a:lnTo>
                    <a:lnTo>
                      <a:pt x="199" y="1"/>
                    </a:lnTo>
                    <a:lnTo>
                      <a:pt x="201" y="0"/>
                    </a:lnTo>
                    <a:close/>
                  </a:path>
                </a:pathLst>
              </a:custGeom>
              <a:solidFill>
                <a:schemeClr val="bg1"/>
              </a:solidFill>
              <a:ln w="0">
                <a:noFill/>
                <a:prstDash val="solid"/>
                <a:round/>
              </a:ln>
            </p:spPr>
            <p:txBody>
              <a:bodyPr anchor="ctr"/>
              <a:lstStyle/>
              <a:p>
                <a:pPr algn="ctr"/>
                <a:endParaRPr/>
              </a:p>
            </p:txBody>
          </p:sp>
        </p:grpSp>
        <p:grpSp>
          <p:nvGrpSpPr>
            <p:cNvPr id="13" name="ïṡlïďê"/>
            <p:cNvGrpSpPr/>
            <p:nvPr/>
          </p:nvGrpSpPr>
          <p:grpSpPr>
            <a:xfrm>
              <a:off x="6142515" y="1880809"/>
              <a:ext cx="2692136" cy="3152601"/>
              <a:chOff x="6112713" y="1880809"/>
              <a:chExt cx="2692136" cy="3152601"/>
            </a:xfrm>
          </p:grpSpPr>
          <p:sp>
            <p:nvSpPr>
              <p:cNvPr id="19" name="íṩliḑê"/>
              <p:cNvSpPr/>
              <p:nvPr/>
            </p:nvSpPr>
            <p:spPr>
              <a:xfrm>
                <a:off x="7024802" y="1880809"/>
                <a:ext cx="867959" cy="867959"/>
              </a:xfrm>
              <a:prstGeom prst="ellips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0" name="iṣlïde"/>
              <p:cNvSpPr/>
              <p:nvPr/>
            </p:nvSpPr>
            <p:spPr>
              <a:xfrm>
                <a:off x="6112713" y="3903629"/>
                <a:ext cx="2692136" cy="67055"/>
              </a:xfrm>
              <a:prstGeom prst="rect">
                <a:avLst/>
              </a:prstGeom>
              <a:solidFill>
                <a:srgbClr val="5B9BD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1" name="išḷiḍè"/>
              <p:cNvSpPr txBox="1"/>
              <p:nvPr/>
            </p:nvSpPr>
            <p:spPr>
              <a:xfrm>
                <a:off x="6750895" y="3021184"/>
                <a:ext cx="1415772" cy="338554"/>
              </a:xfrm>
              <a:prstGeom prst="rect">
                <a:avLst/>
              </a:prstGeom>
              <a:noFill/>
            </p:spPr>
            <p:txBody>
              <a:bodyPr wrap="none">
                <a:normAutofit fontScale="97500"/>
              </a:bodyPr>
              <a:lstStyle/>
              <a:p>
                <a:pPr algn="ctr"/>
                <a:r>
                  <a:rPr lang="en-US" altLang="zh-CN" sz="1600" b="1" dirty="0">
                    <a:solidFill>
                      <a:schemeClr val="tx1">
                        <a:lumMod val="85000"/>
                        <a:lumOff val="15000"/>
                      </a:schemeClr>
                    </a:solidFill>
                    <a:ea typeface="微软雅黑" panose="020B0503020204020204" pitchFamily="34" charset="-122"/>
                  </a:rPr>
                  <a:t>1990</a:t>
                </a:r>
                <a:r>
                  <a:rPr lang="zh-CN" altLang="en-US" sz="1600" b="1" dirty="0">
                    <a:solidFill>
                      <a:schemeClr val="tx1">
                        <a:lumMod val="85000"/>
                        <a:lumOff val="15000"/>
                      </a:schemeClr>
                    </a:solidFill>
                    <a:ea typeface="微软雅黑" panose="020B0503020204020204" pitchFamily="34" charset="-122"/>
                  </a:rPr>
                  <a:t>年</a:t>
                </a:r>
              </a:p>
            </p:txBody>
          </p:sp>
          <p:sp>
            <p:nvSpPr>
              <p:cNvPr id="22" name="îṡľíḋè"/>
              <p:cNvSpPr txBox="1"/>
              <p:nvPr/>
            </p:nvSpPr>
            <p:spPr>
              <a:xfrm>
                <a:off x="6243031" y="4505060"/>
                <a:ext cx="2431501" cy="528350"/>
              </a:xfrm>
              <a:prstGeom prst="rect">
                <a:avLst/>
              </a:prstGeom>
              <a:noFill/>
            </p:spPr>
            <p:txBody>
              <a:bodyPr wrap="square">
                <a:normAutofit/>
              </a:bodyPr>
              <a:lstStyle/>
              <a:p>
                <a:pPr algn="ctr">
                  <a:lnSpc>
                    <a:spcPct val="120000"/>
                  </a:lnSpc>
                  <a:defRPr/>
                </a:pPr>
                <a:r>
                  <a:rPr lang="zh-CN" altLang="en-US" sz="1100" dirty="0">
                    <a:solidFill>
                      <a:schemeClr val="bg1">
                        <a:lumMod val="50000"/>
                      </a:schemeClr>
                    </a:solidFill>
                    <a:ea typeface="微软雅黑" panose="020B0503020204020204" pitchFamily="34" charset="-122"/>
                  </a:rPr>
                  <a:t>此部分内容作为文字排版占位显示（建议使用主题字体）</a:t>
                </a:r>
              </a:p>
            </p:txBody>
          </p:sp>
          <p:sp>
            <p:nvSpPr>
              <p:cNvPr id="23" name="íṩľíďè"/>
              <p:cNvSpPr/>
              <p:nvPr/>
            </p:nvSpPr>
            <p:spPr>
              <a:xfrm>
                <a:off x="6442781" y="4061244"/>
                <a:ext cx="2032000" cy="417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1400" b="1" dirty="0">
                    <a:solidFill>
                      <a:schemeClr val="bg1">
                        <a:lumMod val="50000"/>
                      </a:schemeClr>
                    </a:solidFill>
                    <a:ea typeface="微软雅黑" panose="020B0503020204020204" pitchFamily="34" charset="-122"/>
                  </a:rPr>
                  <a:t>标题文本预设</a:t>
                </a:r>
              </a:p>
            </p:txBody>
          </p:sp>
          <p:sp>
            <p:nvSpPr>
              <p:cNvPr id="24" name="iṩlíḑé"/>
              <p:cNvSpPr txBox="1"/>
              <p:nvPr/>
            </p:nvSpPr>
            <p:spPr>
              <a:xfrm>
                <a:off x="7058672" y="3531024"/>
                <a:ext cx="800219" cy="338554"/>
              </a:xfrm>
              <a:prstGeom prst="rect">
                <a:avLst/>
              </a:prstGeom>
              <a:noFill/>
            </p:spPr>
            <p:txBody>
              <a:bodyPr wrap="none">
                <a:normAutofit/>
              </a:bodyPr>
              <a:lstStyle/>
              <a:p>
                <a:pPr algn="ctr"/>
                <a:r>
                  <a:rPr lang="zh-CN" altLang="en-US" sz="1600" dirty="0">
                    <a:solidFill>
                      <a:schemeClr val="bg1"/>
                    </a:solidFill>
                    <a:ea typeface="微软雅黑" panose="020B0503020204020204" pitchFamily="34" charset="-122"/>
                  </a:rPr>
                  <a:t>关键词</a:t>
                </a:r>
              </a:p>
            </p:txBody>
          </p:sp>
          <p:sp>
            <p:nvSpPr>
              <p:cNvPr id="25" name="îṥľîdê"/>
              <p:cNvSpPr/>
              <p:nvPr/>
            </p:nvSpPr>
            <p:spPr bwMode="auto">
              <a:xfrm>
                <a:off x="7277727" y="2132861"/>
                <a:ext cx="362108" cy="363857"/>
              </a:xfrm>
              <a:custGeom>
                <a:avLst/>
                <a:gdLst>
                  <a:gd name="T0" fmla="*/ 13 w 207"/>
                  <a:gd name="T1" fmla="*/ 83 h 208"/>
                  <a:gd name="T2" fmla="*/ 20 w 207"/>
                  <a:gd name="T3" fmla="*/ 195 h 208"/>
                  <a:gd name="T4" fmla="*/ 46 w 207"/>
                  <a:gd name="T5" fmla="*/ 187 h 208"/>
                  <a:gd name="T6" fmla="*/ 39 w 207"/>
                  <a:gd name="T7" fmla="*/ 78 h 208"/>
                  <a:gd name="T8" fmla="*/ 99 w 207"/>
                  <a:gd name="T9" fmla="*/ 14 h 208"/>
                  <a:gd name="T10" fmla="*/ 92 w 207"/>
                  <a:gd name="T11" fmla="*/ 46 h 208"/>
                  <a:gd name="T12" fmla="*/ 57 w 207"/>
                  <a:gd name="T13" fmla="*/ 81 h 208"/>
                  <a:gd name="T14" fmla="*/ 52 w 207"/>
                  <a:gd name="T15" fmla="*/ 177 h 208"/>
                  <a:gd name="T16" fmla="*/ 57 w 207"/>
                  <a:gd name="T17" fmla="*/ 183 h 208"/>
                  <a:gd name="T18" fmla="*/ 66 w 207"/>
                  <a:gd name="T19" fmla="*/ 184 h 208"/>
                  <a:gd name="T20" fmla="*/ 99 w 207"/>
                  <a:gd name="T21" fmla="*/ 192 h 208"/>
                  <a:gd name="T22" fmla="*/ 163 w 207"/>
                  <a:gd name="T23" fmla="*/ 193 h 208"/>
                  <a:gd name="T24" fmla="*/ 171 w 207"/>
                  <a:gd name="T25" fmla="*/ 187 h 208"/>
                  <a:gd name="T26" fmla="*/ 173 w 207"/>
                  <a:gd name="T27" fmla="*/ 180 h 208"/>
                  <a:gd name="T28" fmla="*/ 165 w 207"/>
                  <a:gd name="T29" fmla="*/ 174 h 208"/>
                  <a:gd name="T30" fmla="*/ 152 w 207"/>
                  <a:gd name="T31" fmla="*/ 169 h 208"/>
                  <a:gd name="T32" fmla="*/ 176 w 207"/>
                  <a:gd name="T33" fmla="*/ 167 h 208"/>
                  <a:gd name="T34" fmla="*/ 183 w 207"/>
                  <a:gd name="T35" fmla="*/ 159 h 208"/>
                  <a:gd name="T36" fmla="*/ 184 w 207"/>
                  <a:gd name="T37" fmla="*/ 148 h 208"/>
                  <a:gd name="T38" fmla="*/ 174 w 207"/>
                  <a:gd name="T39" fmla="*/ 143 h 208"/>
                  <a:gd name="T40" fmla="*/ 163 w 207"/>
                  <a:gd name="T41" fmla="*/ 143 h 208"/>
                  <a:gd name="T42" fmla="*/ 160 w 207"/>
                  <a:gd name="T43" fmla="*/ 137 h 208"/>
                  <a:gd name="T44" fmla="*/ 170 w 207"/>
                  <a:gd name="T45" fmla="*/ 135 h 208"/>
                  <a:gd name="T46" fmla="*/ 187 w 207"/>
                  <a:gd name="T47" fmla="*/ 131 h 208"/>
                  <a:gd name="T48" fmla="*/ 191 w 207"/>
                  <a:gd name="T49" fmla="*/ 121 h 208"/>
                  <a:gd name="T50" fmla="*/ 189 w 207"/>
                  <a:gd name="T51" fmla="*/ 112 h 208"/>
                  <a:gd name="T52" fmla="*/ 171 w 207"/>
                  <a:gd name="T53" fmla="*/ 109 h 208"/>
                  <a:gd name="T54" fmla="*/ 165 w 207"/>
                  <a:gd name="T55" fmla="*/ 107 h 208"/>
                  <a:gd name="T56" fmla="*/ 176 w 207"/>
                  <a:gd name="T57" fmla="*/ 104 h 208"/>
                  <a:gd name="T58" fmla="*/ 191 w 207"/>
                  <a:gd name="T59" fmla="*/ 99 h 208"/>
                  <a:gd name="T60" fmla="*/ 194 w 207"/>
                  <a:gd name="T61" fmla="*/ 92 h 208"/>
                  <a:gd name="T62" fmla="*/ 194 w 207"/>
                  <a:gd name="T63" fmla="*/ 86 h 208"/>
                  <a:gd name="T64" fmla="*/ 184 w 207"/>
                  <a:gd name="T65" fmla="*/ 79 h 208"/>
                  <a:gd name="T66" fmla="*/ 144 w 207"/>
                  <a:gd name="T67" fmla="*/ 78 h 208"/>
                  <a:gd name="T68" fmla="*/ 122 w 207"/>
                  <a:gd name="T69" fmla="*/ 53 h 208"/>
                  <a:gd name="T70" fmla="*/ 109 w 207"/>
                  <a:gd name="T71" fmla="*/ 14 h 208"/>
                  <a:gd name="T72" fmla="*/ 125 w 207"/>
                  <a:gd name="T73" fmla="*/ 13 h 208"/>
                  <a:gd name="T74" fmla="*/ 135 w 207"/>
                  <a:gd name="T75" fmla="*/ 55 h 208"/>
                  <a:gd name="T76" fmla="*/ 177 w 207"/>
                  <a:gd name="T77" fmla="*/ 66 h 208"/>
                  <a:gd name="T78" fmla="*/ 203 w 207"/>
                  <a:gd name="T79" fmla="*/ 76 h 208"/>
                  <a:gd name="T80" fmla="*/ 207 w 207"/>
                  <a:gd name="T81" fmla="*/ 92 h 208"/>
                  <a:gd name="T82" fmla="*/ 204 w 207"/>
                  <a:gd name="T83" fmla="*/ 104 h 208"/>
                  <a:gd name="T84" fmla="*/ 204 w 207"/>
                  <a:gd name="T85" fmla="*/ 124 h 208"/>
                  <a:gd name="T86" fmla="*/ 196 w 207"/>
                  <a:gd name="T87" fmla="*/ 141 h 208"/>
                  <a:gd name="T88" fmla="*/ 196 w 207"/>
                  <a:gd name="T89" fmla="*/ 160 h 208"/>
                  <a:gd name="T90" fmla="*/ 184 w 207"/>
                  <a:gd name="T91" fmla="*/ 176 h 208"/>
                  <a:gd name="T92" fmla="*/ 183 w 207"/>
                  <a:gd name="T93" fmla="*/ 193 h 208"/>
                  <a:gd name="T94" fmla="*/ 124 w 207"/>
                  <a:gd name="T95" fmla="*/ 208 h 208"/>
                  <a:gd name="T96" fmla="*/ 72 w 207"/>
                  <a:gd name="T97" fmla="*/ 199 h 208"/>
                  <a:gd name="T98" fmla="*/ 56 w 207"/>
                  <a:gd name="T99" fmla="*/ 196 h 208"/>
                  <a:gd name="T100" fmla="*/ 44 w 207"/>
                  <a:gd name="T101" fmla="*/ 206 h 208"/>
                  <a:gd name="T102" fmla="*/ 8 w 207"/>
                  <a:gd name="T103" fmla="*/ 203 h 208"/>
                  <a:gd name="T104" fmla="*/ 0 w 207"/>
                  <a:gd name="T105" fmla="*/ 83 h 208"/>
                  <a:gd name="T106" fmla="*/ 13 w 207"/>
                  <a:gd name="T107" fmla="*/ 65 h 208"/>
                  <a:gd name="T108" fmla="*/ 49 w 207"/>
                  <a:gd name="T109" fmla="*/ 66 h 208"/>
                  <a:gd name="T110" fmla="*/ 54 w 207"/>
                  <a:gd name="T111" fmla="*/ 68 h 208"/>
                  <a:gd name="T112" fmla="*/ 79 w 207"/>
                  <a:gd name="T113" fmla="*/ 43 h 208"/>
                  <a:gd name="T114" fmla="*/ 88 w 207"/>
                  <a:gd name="T115" fmla="*/ 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7" h="208">
                    <a:moveTo>
                      <a:pt x="20" y="78"/>
                    </a:moveTo>
                    <a:lnTo>
                      <a:pt x="15" y="78"/>
                    </a:lnTo>
                    <a:lnTo>
                      <a:pt x="14" y="81"/>
                    </a:lnTo>
                    <a:lnTo>
                      <a:pt x="13" y="83"/>
                    </a:lnTo>
                    <a:lnTo>
                      <a:pt x="13" y="187"/>
                    </a:lnTo>
                    <a:lnTo>
                      <a:pt x="14" y="190"/>
                    </a:lnTo>
                    <a:lnTo>
                      <a:pt x="15" y="193"/>
                    </a:lnTo>
                    <a:lnTo>
                      <a:pt x="20" y="195"/>
                    </a:lnTo>
                    <a:lnTo>
                      <a:pt x="39" y="195"/>
                    </a:lnTo>
                    <a:lnTo>
                      <a:pt x="41" y="193"/>
                    </a:lnTo>
                    <a:lnTo>
                      <a:pt x="44" y="190"/>
                    </a:lnTo>
                    <a:lnTo>
                      <a:pt x="46" y="187"/>
                    </a:lnTo>
                    <a:lnTo>
                      <a:pt x="46" y="83"/>
                    </a:lnTo>
                    <a:lnTo>
                      <a:pt x="44" y="81"/>
                    </a:lnTo>
                    <a:lnTo>
                      <a:pt x="41" y="78"/>
                    </a:lnTo>
                    <a:lnTo>
                      <a:pt x="39" y="78"/>
                    </a:lnTo>
                    <a:lnTo>
                      <a:pt x="20" y="78"/>
                    </a:lnTo>
                    <a:close/>
                    <a:moveTo>
                      <a:pt x="103" y="13"/>
                    </a:moveTo>
                    <a:lnTo>
                      <a:pt x="101" y="13"/>
                    </a:lnTo>
                    <a:lnTo>
                      <a:pt x="99" y="14"/>
                    </a:lnTo>
                    <a:lnTo>
                      <a:pt x="98" y="17"/>
                    </a:lnTo>
                    <a:lnTo>
                      <a:pt x="98" y="19"/>
                    </a:lnTo>
                    <a:lnTo>
                      <a:pt x="96" y="33"/>
                    </a:lnTo>
                    <a:lnTo>
                      <a:pt x="92" y="46"/>
                    </a:lnTo>
                    <a:lnTo>
                      <a:pt x="85" y="59"/>
                    </a:lnTo>
                    <a:lnTo>
                      <a:pt x="73" y="70"/>
                    </a:lnTo>
                    <a:lnTo>
                      <a:pt x="59" y="81"/>
                    </a:lnTo>
                    <a:lnTo>
                      <a:pt x="57" y="81"/>
                    </a:lnTo>
                    <a:lnTo>
                      <a:pt x="54" y="82"/>
                    </a:lnTo>
                    <a:lnTo>
                      <a:pt x="53" y="85"/>
                    </a:lnTo>
                    <a:lnTo>
                      <a:pt x="52" y="88"/>
                    </a:lnTo>
                    <a:lnTo>
                      <a:pt x="52" y="177"/>
                    </a:lnTo>
                    <a:lnTo>
                      <a:pt x="53" y="179"/>
                    </a:lnTo>
                    <a:lnTo>
                      <a:pt x="54" y="182"/>
                    </a:lnTo>
                    <a:lnTo>
                      <a:pt x="56" y="182"/>
                    </a:lnTo>
                    <a:lnTo>
                      <a:pt x="57" y="183"/>
                    </a:lnTo>
                    <a:lnTo>
                      <a:pt x="57" y="183"/>
                    </a:lnTo>
                    <a:lnTo>
                      <a:pt x="59" y="183"/>
                    </a:lnTo>
                    <a:lnTo>
                      <a:pt x="60" y="183"/>
                    </a:lnTo>
                    <a:lnTo>
                      <a:pt x="66" y="184"/>
                    </a:lnTo>
                    <a:lnTo>
                      <a:pt x="75" y="187"/>
                    </a:lnTo>
                    <a:lnTo>
                      <a:pt x="88" y="190"/>
                    </a:lnTo>
                    <a:lnTo>
                      <a:pt x="90" y="190"/>
                    </a:lnTo>
                    <a:lnTo>
                      <a:pt x="99" y="192"/>
                    </a:lnTo>
                    <a:lnTo>
                      <a:pt x="111" y="193"/>
                    </a:lnTo>
                    <a:lnTo>
                      <a:pt x="124" y="195"/>
                    </a:lnTo>
                    <a:lnTo>
                      <a:pt x="158" y="195"/>
                    </a:lnTo>
                    <a:lnTo>
                      <a:pt x="163" y="193"/>
                    </a:lnTo>
                    <a:lnTo>
                      <a:pt x="167" y="193"/>
                    </a:lnTo>
                    <a:lnTo>
                      <a:pt x="168" y="190"/>
                    </a:lnTo>
                    <a:lnTo>
                      <a:pt x="171" y="189"/>
                    </a:lnTo>
                    <a:lnTo>
                      <a:pt x="171" y="187"/>
                    </a:lnTo>
                    <a:lnTo>
                      <a:pt x="171" y="186"/>
                    </a:lnTo>
                    <a:lnTo>
                      <a:pt x="173" y="183"/>
                    </a:lnTo>
                    <a:lnTo>
                      <a:pt x="173" y="182"/>
                    </a:lnTo>
                    <a:lnTo>
                      <a:pt x="173" y="180"/>
                    </a:lnTo>
                    <a:lnTo>
                      <a:pt x="171" y="179"/>
                    </a:lnTo>
                    <a:lnTo>
                      <a:pt x="171" y="176"/>
                    </a:lnTo>
                    <a:lnTo>
                      <a:pt x="168" y="174"/>
                    </a:lnTo>
                    <a:lnTo>
                      <a:pt x="165" y="174"/>
                    </a:lnTo>
                    <a:lnTo>
                      <a:pt x="155" y="174"/>
                    </a:lnTo>
                    <a:lnTo>
                      <a:pt x="152" y="173"/>
                    </a:lnTo>
                    <a:lnTo>
                      <a:pt x="152" y="172"/>
                    </a:lnTo>
                    <a:lnTo>
                      <a:pt x="152" y="169"/>
                    </a:lnTo>
                    <a:lnTo>
                      <a:pt x="155" y="169"/>
                    </a:lnTo>
                    <a:lnTo>
                      <a:pt x="165" y="169"/>
                    </a:lnTo>
                    <a:lnTo>
                      <a:pt x="171" y="167"/>
                    </a:lnTo>
                    <a:lnTo>
                      <a:pt x="176" y="167"/>
                    </a:lnTo>
                    <a:lnTo>
                      <a:pt x="178" y="166"/>
                    </a:lnTo>
                    <a:lnTo>
                      <a:pt x="180" y="163"/>
                    </a:lnTo>
                    <a:lnTo>
                      <a:pt x="181" y="161"/>
                    </a:lnTo>
                    <a:lnTo>
                      <a:pt x="183" y="159"/>
                    </a:lnTo>
                    <a:lnTo>
                      <a:pt x="183" y="156"/>
                    </a:lnTo>
                    <a:lnTo>
                      <a:pt x="184" y="153"/>
                    </a:lnTo>
                    <a:lnTo>
                      <a:pt x="184" y="150"/>
                    </a:lnTo>
                    <a:lnTo>
                      <a:pt x="184" y="148"/>
                    </a:lnTo>
                    <a:lnTo>
                      <a:pt x="183" y="146"/>
                    </a:lnTo>
                    <a:lnTo>
                      <a:pt x="181" y="144"/>
                    </a:lnTo>
                    <a:lnTo>
                      <a:pt x="178" y="143"/>
                    </a:lnTo>
                    <a:lnTo>
                      <a:pt x="174" y="143"/>
                    </a:lnTo>
                    <a:lnTo>
                      <a:pt x="171" y="143"/>
                    </a:lnTo>
                    <a:lnTo>
                      <a:pt x="168" y="143"/>
                    </a:lnTo>
                    <a:lnTo>
                      <a:pt x="165" y="143"/>
                    </a:lnTo>
                    <a:lnTo>
                      <a:pt x="163" y="143"/>
                    </a:lnTo>
                    <a:lnTo>
                      <a:pt x="163" y="143"/>
                    </a:lnTo>
                    <a:lnTo>
                      <a:pt x="160" y="141"/>
                    </a:lnTo>
                    <a:lnTo>
                      <a:pt x="158" y="138"/>
                    </a:lnTo>
                    <a:lnTo>
                      <a:pt x="160" y="137"/>
                    </a:lnTo>
                    <a:lnTo>
                      <a:pt x="163" y="135"/>
                    </a:lnTo>
                    <a:lnTo>
                      <a:pt x="163" y="135"/>
                    </a:lnTo>
                    <a:lnTo>
                      <a:pt x="165" y="135"/>
                    </a:lnTo>
                    <a:lnTo>
                      <a:pt x="170" y="135"/>
                    </a:lnTo>
                    <a:lnTo>
                      <a:pt x="177" y="135"/>
                    </a:lnTo>
                    <a:lnTo>
                      <a:pt x="181" y="135"/>
                    </a:lnTo>
                    <a:lnTo>
                      <a:pt x="184" y="134"/>
                    </a:lnTo>
                    <a:lnTo>
                      <a:pt x="187" y="131"/>
                    </a:lnTo>
                    <a:lnTo>
                      <a:pt x="189" y="130"/>
                    </a:lnTo>
                    <a:lnTo>
                      <a:pt x="190" y="127"/>
                    </a:lnTo>
                    <a:lnTo>
                      <a:pt x="191" y="124"/>
                    </a:lnTo>
                    <a:lnTo>
                      <a:pt x="191" y="121"/>
                    </a:lnTo>
                    <a:lnTo>
                      <a:pt x="191" y="120"/>
                    </a:lnTo>
                    <a:lnTo>
                      <a:pt x="191" y="117"/>
                    </a:lnTo>
                    <a:lnTo>
                      <a:pt x="190" y="114"/>
                    </a:lnTo>
                    <a:lnTo>
                      <a:pt x="189" y="112"/>
                    </a:lnTo>
                    <a:lnTo>
                      <a:pt x="186" y="111"/>
                    </a:lnTo>
                    <a:lnTo>
                      <a:pt x="181" y="109"/>
                    </a:lnTo>
                    <a:lnTo>
                      <a:pt x="176" y="109"/>
                    </a:lnTo>
                    <a:lnTo>
                      <a:pt x="171" y="109"/>
                    </a:lnTo>
                    <a:lnTo>
                      <a:pt x="170" y="109"/>
                    </a:lnTo>
                    <a:lnTo>
                      <a:pt x="168" y="109"/>
                    </a:lnTo>
                    <a:lnTo>
                      <a:pt x="167" y="108"/>
                    </a:lnTo>
                    <a:lnTo>
                      <a:pt x="165" y="107"/>
                    </a:lnTo>
                    <a:lnTo>
                      <a:pt x="167" y="104"/>
                    </a:lnTo>
                    <a:lnTo>
                      <a:pt x="168" y="104"/>
                    </a:lnTo>
                    <a:lnTo>
                      <a:pt x="171" y="104"/>
                    </a:lnTo>
                    <a:lnTo>
                      <a:pt x="176" y="104"/>
                    </a:lnTo>
                    <a:lnTo>
                      <a:pt x="181" y="104"/>
                    </a:lnTo>
                    <a:lnTo>
                      <a:pt x="186" y="102"/>
                    </a:lnTo>
                    <a:lnTo>
                      <a:pt x="190" y="101"/>
                    </a:lnTo>
                    <a:lnTo>
                      <a:pt x="191" y="99"/>
                    </a:lnTo>
                    <a:lnTo>
                      <a:pt x="193" y="98"/>
                    </a:lnTo>
                    <a:lnTo>
                      <a:pt x="194" y="95"/>
                    </a:lnTo>
                    <a:lnTo>
                      <a:pt x="194" y="94"/>
                    </a:lnTo>
                    <a:lnTo>
                      <a:pt x="194" y="92"/>
                    </a:lnTo>
                    <a:lnTo>
                      <a:pt x="194" y="91"/>
                    </a:lnTo>
                    <a:lnTo>
                      <a:pt x="194" y="89"/>
                    </a:lnTo>
                    <a:lnTo>
                      <a:pt x="194" y="88"/>
                    </a:lnTo>
                    <a:lnTo>
                      <a:pt x="194" y="86"/>
                    </a:lnTo>
                    <a:lnTo>
                      <a:pt x="193" y="83"/>
                    </a:lnTo>
                    <a:lnTo>
                      <a:pt x="190" y="81"/>
                    </a:lnTo>
                    <a:lnTo>
                      <a:pt x="187" y="79"/>
                    </a:lnTo>
                    <a:lnTo>
                      <a:pt x="184" y="79"/>
                    </a:lnTo>
                    <a:lnTo>
                      <a:pt x="180" y="78"/>
                    </a:lnTo>
                    <a:lnTo>
                      <a:pt x="174" y="78"/>
                    </a:lnTo>
                    <a:lnTo>
                      <a:pt x="163" y="78"/>
                    </a:lnTo>
                    <a:lnTo>
                      <a:pt x="144" y="78"/>
                    </a:lnTo>
                    <a:lnTo>
                      <a:pt x="116" y="78"/>
                    </a:lnTo>
                    <a:lnTo>
                      <a:pt x="119" y="68"/>
                    </a:lnTo>
                    <a:lnTo>
                      <a:pt x="122" y="60"/>
                    </a:lnTo>
                    <a:lnTo>
                      <a:pt x="122" y="53"/>
                    </a:lnTo>
                    <a:lnTo>
                      <a:pt x="122" y="43"/>
                    </a:lnTo>
                    <a:lnTo>
                      <a:pt x="121" y="32"/>
                    </a:lnTo>
                    <a:lnTo>
                      <a:pt x="115" y="21"/>
                    </a:lnTo>
                    <a:lnTo>
                      <a:pt x="109" y="14"/>
                    </a:lnTo>
                    <a:lnTo>
                      <a:pt x="103" y="13"/>
                    </a:lnTo>
                    <a:close/>
                    <a:moveTo>
                      <a:pt x="103" y="0"/>
                    </a:moveTo>
                    <a:lnTo>
                      <a:pt x="115" y="3"/>
                    </a:lnTo>
                    <a:lnTo>
                      <a:pt x="125" y="13"/>
                    </a:lnTo>
                    <a:lnTo>
                      <a:pt x="132" y="26"/>
                    </a:lnTo>
                    <a:lnTo>
                      <a:pt x="135" y="43"/>
                    </a:lnTo>
                    <a:lnTo>
                      <a:pt x="135" y="50"/>
                    </a:lnTo>
                    <a:lnTo>
                      <a:pt x="135" y="55"/>
                    </a:lnTo>
                    <a:lnTo>
                      <a:pt x="135" y="60"/>
                    </a:lnTo>
                    <a:lnTo>
                      <a:pt x="134" y="65"/>
                    </a:lnTo>
                    <a:lnTo>
                      <a:pt x="158" y="65"/>
                    </a:lnTo>
                    <a:lnTo>
                      <a:pt x="177" y="66"/>
                    </a:lnTo>
                    <a:lnTo>
                      <a:pt x="189" y="68"/>
                    </a:lnTo>
                    <a:lnTo>
                      <a:pt x="194" y="69"/>
                    </a:lnTo>
                    <a:lnTo>
                      <a:pt x="200" y="73"/>
                    </a:lnTo>
                    <a:lnTo>
                      <a:pt x="203" y="76"/>
                    </a:lnTo>
                    <a:lnTo>
                      <a:pt x="206" y="81"/>
                    </a:lnTo>
                    <a:lnTo>
                      <a:pt x="207" y="85"/>
                    </a:lnTo>
                    <a:lnTo>
                      <a:pt x="207" y="89"/>
                    </a:lnTo>
                    <a:lnTo>
                      <a:pt x="207" y="92"/>
                    </a:lnTo>
                    <a:lnTo>
                      <a:pt x="207" y="92"/>
                    </a:lnTo>
                    <a:lnTo>
                      <a:pt x="207" y="94"/>
                    </a:lnTo>
                    <a:lnTo>
                      <a:pt x="206" y="99"/>
                    </a:lnTo>
                    <a:lnTo>
                      <a:pt x="204" y="104"/>
                    </a:lnTo>
                    <a:lnTo>
                      <a:pt x="202" y="108"/>
                    </a:lnTo>
                    <a:lnTo>
                      <a:pt x="203" y="114"/>
                    </a:lnTo>
                    <a:lnTo>
                      <a:pt x="204" y="118"/>
                    </a:lnTo>
                    <a:lnTo>
                      <a:pt x="204" y="124"/>
                    </a:lnTo>
                    <a:lnTo>
                      <a:pt x="203" y="130"/>
                    </a:lnTo>
                    <a:lnTo>
                      <a:pt x="202" y="134"/>
                    </a:lnTo>
                    <a:lnTo>
                      <a:pt x="199" y="138"/>
                    </a:lnTo>
                    <a:lnTo>
                      <a:pt x="196" y="141"/>
                    </a:lnTo>
                    <a:lnTo>
                      <a:pt x="197" y="146"/>
                    </a:lnTo>
                    <a:lnTo>
                      <a:pt x="197" y="148"/>
                    </a:lnTo>
                    <a:lnTo>
                      <a:pt x="197" y="154"/>
                    </a:lnTo>
                    <a:lnTo>
                      <a:pt x="196" y="160"/>
                    </a:lnTo>
                    <a:lnTo>
                      <a:pt x="194" y="163"/>
                    </a:lnTo>
                    <a:lnTo>
                      <a:pt x="193" y="167"/>
                    </a:lnTo>
                    <a:lnTo>
                      <a:pt x="190" y="172"/>
                    </a:lnTo>
                    <a:lnTo>
                      <a:pt x="184" y="176"/>
                    </a:lnTo>
                    <a:lnTo>
                      <a:pt x="186" y="182"/>
                    </a:lnTo>
                    <a:lnTo>
                      <a:pt x="184" y="187"/>
                    </a:lnTo>
                    <a:lnTo>
                      <a:pt x="183" y="190"/>
                    </a:lnTo>
                    <a:lnTo>
                      <a:pt x="183" y="193"/>
                    </a:lnTo>
                    <a:lnTo>
                      <a:pt x="181" y="195"/>
                    </a:lnTo>
                    <a:lnTo>
                      <a:pt x="173" y="203"/>
                    </a:lnTo>
                    <a:lnTo>
                      <a:pt x="158" y="208"/>
                    </a:lnTo>
                    <a:lnTo>
                      <a:pt x="124" y="208"/>
                    </a:lnTo>
                    <a:lnTo>
                      <a:pt x="106" y="206"/>
                    </a:lnTo>
                    <a:lnTo>
                      <a:pt x="92" y="203"/>
                    </a:lnTo>
                    <a:lnTo>
                      <a:pt x="85" y="202"/>
                    </a:lnTo>
                    <a:lnTo>
                      <a:pt x="72" y="199"/>
                    </a:lnTo>
                    <a:lnTo>
                      <a:pt x="63" y="197"/>
                    </a:lnTo>
                    <a:lnTo>
                      <a:pt x="59" y="196"/>
                    </a:lnTo>
                    <a:lnTo>
                      <a:pt x="57" y="196"/>
                    </a:lnTo>
                    <a:lnTo>
                      <a:pt x="56" y="196"/>
                    </a:lnTo>
                    <a:lnTo>
                      <a:pt x="56" y="196"/>
                    </a:lnTo>
                    <a:lnTo>
                      <a:pt x="53" y="200"/>
                    </a:lnTo>
                    <a:lnTo>
                      <a:pt x="49" y="203"/>
                    </a:lnTo>
                    <a:lnTo>
                      <a:pt x="44" y="206"/>
                    </a:lnTo>
                    <a:lnTo>
                      <a:pt x="39" y="208"/>
                    </a:lnTo>
                    <a:lnTo>
                      <a:pt x="20" y="208"/>
                    </a:lnTo>
                    <a:lnTo>
                      <a:pt x="13" y="206"/>
                    </a:lnTo>
                    <a:lnTo>
                      <a:pt x="8" y="203"/>
                    </a:lnTo>
                    <a:lnTo>
                      <a:pt x="4" y="199"/>
                    </a:lnTo>
                    <a:lnTo>
                      <a:pt x="1" y="193"/>
                    </a:lnTo>
                    <a:lnTo>
                      <a:pt x="0" y="187"/>
                    </a:lnTo>
                    <a:lnTo>
                      <a:pt x="0" y="83"/>
                    </a:lnTo>
                    <a:lnTo>
                      <a:pt x="1" y="78"/>
                    </a:lnTo>
                    <a:lnTo>
                      <a:pt x="4" y="72"/>
                    </a:lnTo>
                    <a:lnTo>
                      <a:pt x="8" y="68"/>
                    </a:lnTo>
                    <a:lnTo>
                      <a:pt x="13" y="65"/>
                    </a:lnTo>
                    <a:lnTo>
                      <a:pt x="20" y="65"/>
                    </a:lnTo>
                    <a:lnTo>
                      <a:pt x="39" y="65"/>
                    </a:lnTo>
                    <a:lnTo>
                      <a:pt x="43" y="65"/>
                    </a:lnTo>
                    <a:lnTo>
                      <a:pt x="49" y="66"/>
                    </a:lnTo>
                    <a:lnTo>
                      <a:pt x="52" y="69"/>
                    </a:lnTo>
                    <a:lnTo>
                      <a:pt x="52" y="69"/>
                    </a:lnTo>
                    <a:lnTo>
                      <a:pt x="53" y="69"/>
                    </a:lnTo>
                    <a:lnTo>
                      <a:pt x="54" y="68"/>
                    </a:lnTo>
                    <a:lnTo>
                      <a:pt x="57" y="66"/>
                    </a:lnTo>
                    <a:lnTo>
                      <a:pt x="59" y="66"/>
                    </a:lnTo>
                    <a:lnTo>
                      <a:pt x="72" y="56"/>
                    </a:lnTo>
                    <a:lnTo>
                      <a:pt x="79" y="43"/>
                    </a:lnTo>
                    <a:lnTo>
                      <a:pt x="83" y="30"/>
                    </a:lnTo>
                    <a:lnTo>
                      <a:pt x="85" y="19"/>
                    </a:lnTo>
                    <a:lnTo>
                      <a:pt x="85" y="13"/>
                    </a:lnTo>
                    <a:lnTo>
                      <a:pt x="88" y="7"/>
                    </a:lnTo>
                    <a:lnTo>
                      <a:pt x="92" y="3"/>
                    </a:lnTo>
                    <a:lnTo>
                      <a:pt x="98" y="0"/>
                    </a:lnTo>
                    <a:lnTo>
                      <a:pt x="103" y="0"/>
                    </a:lnTo>
                    <a:close/>
                  </a:path>
                </a:pathLst>
              </a:custGeom>
              <a:solidFill>
                <a:schemeClr val="bg1"/>
              </a:solidFill>
              <a:ln w="0">
                <a:noFill/>
                <a:prstDash val="solid"/>
                <a:round/>
              </a:ln>
            </p:spPr>
            <p:txBody>
              <a:bodyPr anchor="ctr"/>
              <a:lstStyle/>
              <a:p>
                <a:pPr algn="ctr"/>
                <a:endParaRPr/>
              </a:p>
            </p:txBody>
          </p:sp>
        </p:grpSp>
        <p:sp>
          <p:nvSpPr>
            <p:cNvPr id="14" name="îṧľíḓè"/>
            <p:cNvSpPr/>
            <p:nvPr/>
          </p:nvSpPr>
          <p:spPr>
            <a:xfrm>
              <a:off x="3159831" y="2190673"/>
              <a:ext cx="364751" cy="364751"/>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śľîḑê"/>
            <p:cNvSpPr/>
            <p:nvPr/>
          </p:nvSpPr>
          <p:spPr>
            <a:xfrm>
              <a:off x="5909050" y="2190673"/>
              <a:ext cx="364751" cy="364751"/>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6" name="iSlïḓe"/>
            <p:cNvSpPr/>
            <p:nvPr/>
          </p:nvSpPr>
          <p:spPr>
            <a:xfrm>
              <a:off x="8623082" y="2140449"/>
              <a:ext cx="364751" cy="364751"/>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grpSp>
          <p:nvGrpSpPr>
            <p:cNvPr id="17" name="iṣ1ïḋe"/>
            <p:cNvGrpSpPr/>
            <p:nvPr/>
          </p:nvGrpSpPr>
          <p:grpSpPr>
            <a:xfrm>
              <a:off x="8831855" y="1880807"/>
              <a:ext cx="2692136" cy="3168534"/>
              <a:chOff x="8831855" y="1880807"/>
              <a:chExt cx="2692136" cy="3168534"/>
            </a:xfrm>
          </p:grpSpPr>
          <p:sp>
            <p:nvSpPr>
              <p:cNvPr id="18" name="íŝḷïḓé"/>
              <p:cNvSpPr/>
              <p:nvPr/>
            </p:nvSpPr>
            <p:spPr>
              <a:xfrm>
                <a:off x="9743944" y="1880807"/>
                <a:ext cx="867959" cy="867959"/>
              </a:xfrm>
              <a:prstGeom prst="ellips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2" name="îṣľiḑê"/>
              <p:cNvSpPr/>
              <p:nvPr/>
            </p:nvSpPr>
            <p:spPr>
              <a:xfrm>
                <a:off x="8831855" y="3903629"/>
                <a:ext cx="2692136" cy="67055"/>
              </a:xfrm>
              <a:prstGeom prst="rect">
                <a:avLst/>
              </a:prstGeom>
              <a:solidFill>
                <a:srgbClr val="CE341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43" name="ïslîḓè"/>
              <p:cNvSpPr txBox="1"/>
              <p:nvPr/>
            </p:nvSpPr>
            <p:spPr>
              <a:xfrm>
                <a:off x="9470037" y="3021184"/>
                <a:ext cx="1415772" cy="338554"/>
              </a:xfrm>
              <a:prstGeom prst="rect">
                <a:avLst/>
              </a:prstGeom>
              <a:noFill/>
            </p:spPr>
            <p:txBody>
              <a:bodyPr wrap="none">
                <a:normAutofit fontScale="97500"/>
              </a:bodyPr>
              <a:lstStyle/>
              <a:p>
                <a:pPr algn="ctr"/>
                <a:r>
                  <a:rPr lang="en-US" altLang="zh-CN" sz="1600" b="1" dirty="0">
                    <a:solidFill>
                      <a:schemeClr val="tx1">
                        <a:lumMod val="85000"/>
                        <a:lumOff val="15000"/>
                      </a:schemeClr>
                    </a:solidFill>
                    <a:ea typeface="微软雅黑" panose="020B0503020204020204" pitchFamily="34" charset="-122"/>
                  </a:rPr>
                  <a:t>2010</a:t>
                </a:r>
                <a:r>
                  <a:rPr lang="zh-CN" altLang="en-US" sz="1600" b="1" dirty="0">
                    <a:solidFill>
                      <a:schemeClr val="tx1">
                        <a:lumMod val="85000"/>
                        <a:lumOff val="15000"/>
                      </a:schemeClr>
                    </a:solidFill>
                    <a:ea typeface="微软雅黑" panose="020B0503020204020204" pitchFamily="34" charset="-122"/>
                  </a:rPr>
                  <a:t>年</a:t>
                </a:r>
              </a:p>
            </p:txBody>
          </p:sp>
          <p:sp>
            <p:nvSpPr>
              <p:cNvPr id="44" name="ïSḷiďé"/>
              <p:cNvSpPr txBox="1"/>
              <p:nvPr/>
            </p:nvSpPr>
            <p:spPr>
              <a:xfrm>
                <a:off x="8962173" y="4520991"/>
                <a:ext cx="2431501" cy="528350"/>
              </a:xfrm>
              <a:prstGeom prst="rect">
                <a:avLst/>
              </a:prstGeom>
              <a:noFill/>
            </p:spPr>
            <p:txBody>
              <a:bodyPr wrap="square">
                <a:normAutofit/>
              </a:bodyPr>
              <a:lstStyle/>
              <a:p>
                <a:pPr algn="ctr">
                  <a:lnSpc>
                    <a:spcPct val="120000"/>
                  </a:lnSpc>
                  <a:defRPr/>
                </a:pPr>
                <a:r>
                  <a:rPr lang="zh-CN" altLang="en-US" sz="1100" dirty="0">
                    <a:solidFill>
                      <a:schemeClr val="bg1">
                        <a:lumMod val="50000"/>
                      </a:schemeClr>
                    </a:solidFill>
                    <a:ea typeface="微软雅黑" panose="020B0503020204020204" pitchFamily="34" charset="-122"/>
                  </a:rPr>
                  <a:t>此部分内容作为文字排版占位显示（建议使用主题字体）</a:t>
                </a:r>
              </a:p>
            </p:txBody>
          </p:sp>
          <p:sp>
            <p:nvSpPr>
              <p:cNvPr id="45" name="ïṣḻíḍè"/>
              <p:cNvSpPr/>
              <p:nvPr/>
            </p:nvSpPr>
            <p:spPr>
              <a:xfrm>
                <a:off x="9161923" y="4077174"/>
                <a:ext cx="2032000" cy="417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1400" b="1" dirty="0">
                    <a:solidFill>
                      <a:schemeClr val="bg1">
                        <a:lumMod val="50000"/>
                      </a:schemeClr>
                    </a:solidFill>
                    <a:ea typeface="微软雅黑" panose="020B0503020204020204" pitchFamily="34" charset="-122"/>
                  </a:rPr>
                  <a:t>标题文本预设</a:t>
                </a:r>
              </a:p>
            </p:txBody>
          </p:sp>
          <p:sp>
            <p:nvSpPr>
              <p:cNvPr id="46" name="íŝḷídè"/>
              <p:cNvSpPr txBox="1"/>
              <p:nvPr/>
            </p:nvSpPr>
            <p:spPr>
              <a:xfrm>
                <a:off x="9777814" y="3542574"/>
                <a:ext cx="800219" cy="338554"/>
              </a:xfrm>
              <a:prstGeom prst="rect">
                <a:avLst/>
              </a:prstGeom>
              <a:noFill/>
            </p:spPr>
            <p:txBody>
              <a:bodyPr wrap="none">
                <a:normAutofit/>
              </a:bodyPr>
              <a:lstStyle/>
              <a:p>
                <a:pPr algn="ctr"/>
                <a:r>
                  <a:rPr lang="zh-CN" altLang="en-US" sz="1600" dirty="0">
                    <a:solidFill>
                      <a:schemeClr val="bg1"/>
                    </a:solidFill>
                    <a:ea typeface="微软雅黑" panose="020B0503020204020204" pitchFamily="34" charset="-122"/>
                  </a:rPr>
                  <a:t>关键词</a:t>
                </a:r>
              </a:p>
            </p:txBody>
          </p:sp>
          <p:sp>
            <p:nvSpPr>
              <p:cNvPr id="47" name="iṣ1ïḑe"/>
              <p:cNvSpPr/>
              <p:nvPr/>
            </p:nvSpPr>
            <p:spPr bwMode="auto">
              <a:xfrm>
                <a:off x="9966257" y="2120106"/>
                <a:ext cx="423333" cy="427567"/>
              </a:xfrm>
              <a:custGeom>
                <a:avLst/>
                <a:gdLst>
                  <a:gd name="T0" fmla="*/ 115 w 200"/>
                  <a:gd name="T1" fmla="*/ 188 h 202"/>
                  <a:gd name="T2" fmla="*/ 147 w 200"/>
                  <a:gd name="T3" fmla="*/ 162 h 202"/>
                  <a:gd name="T4" fmla="*/ 53 w 200"/>
                  <a:gd name="T5" fmla="*/ 162 h 202"/>
                  <a:gd name="T6" fmla="*/ 86 w 200"/>
                  <a:gd name="T7" fmla="*/ 188 h 202"/>
                  <a:gd name="T8" fmla="*/ 103 w 200"/>
                  <a:gd name="T9" fmla="*/ 150 h 202"/>
                  <a:gd name="T10" fmla="*/ 118 w 200"/>
                  <a:gd name="T11" fmla="*/ 173 h 202"/>
                  <a:gd name="T12" fmla="*/ 96 w 200"/>
                  <a:gd name="T13" fmla="*/ 150 h 202"/>
                  <a:gd name="T14" fmla="*/ 96 w 200"/>
                  <a:gd name="T15" fmla="*/ 189 h 202"/>
                  <a:gd name="T16" fmla="*/ 148 w 200"/>
                  <a:gd name="T17" fmla="*/ 104 h 202"/>
                  <a:gd name="T18" fmla="*/ 151 w 200"/>
                  <a:gd name="T19" fmla="*/ 156 h 202"/>
                  <a:gd name="T20" fmla="*/ 184 w 200"/>
                  <a:gd name="T21" fmla="*/ 127 h 202"/>
                  <a:gd name="T22" fmla="*/ 103 w 200"/>
                  <a:gd name="T23" fmla="*/ 104 h 202"/>
                  <a:gd name="T24" fmla="*/ 140 w 200"/>
                  <a:gd name="T25" fmla="*/ 127 h 202"/>
                  <a:gd name="T26" fmla="*/ 57 w 200"/>
                  <a:gd name="T27" fmla="*/ 104 h 202"/>
                  <a:gd name="T28" fmla="*/ 96 w 200"/>
                  <a:gd name="T29" fmla="*/ 143 h 202"/>
                  <a:gd name="T30" fmla="*/ 13 w 200"/>
                  <a:gd name="T31" fmla="*/ 104 h 202"/>
                  <a:gd name="T32" fmla="*/ 39 w 200"/>
                  <a:gd name="T33" fmla="*/ 163 h 202"/>
                  <a:gd name="T34" fmla="*/ 54 w 200"/>
                  <a:gd name="T35" fmla="*/ 128 h 202"/>
                  <a:gd name="T36" fmla="*/ 135 w 200"/>
                  <a:gd name="T37" fmla="*/ 59 h 202"/>
                  <a:gd name="T38" fmla="*/ 103 w 200"/>
                  <a:gd name="T39" fmla="*/ 98 h 202"/>
                  <a:gd name="T40" fmla="*/ 135 w 200"/>
                  <a:gd name="T41" fmla="*/ 59 h 202"/>
                  <a:gd name="T42" fmla="*/ 57 w 200"/>
                  <a:gd name="T43" fmla="*/ 98 h 202"/>
                  <a:gd name="T44" fmla="*/ 80 w 200"/>
                  <a:gd name="T45" fmla="*/ 63 h 202"/>
                  <a:gd name="T46" fmla="*/ 141 w 200"/>
                  <a:gd name="T47" fmla="*/ 58 h 202"/>
                  <a:gd name="T48" fmla="*/ 187 w 200"/>
                  <a:gd name="T49" fmla="*/ 98 h 202"/>
                  <a:gd name="T50" fmla="*/ 165 w 200"/>
                  <a:gd name="T51" fmla="*/ 43 h 202"/>
                  <a:gd name="T52" fmla="*/ 15 w 200"/>
                  <a:gd name="T53" fmla="*/ 78 h 202"/>
                  <a:gd name="T54" fmla="*/ 53 w 200"/>
                  <a:gd name="T55" fmla="*/ 76 h 202"/>
                  <a:gd name="T56" fmla="*/ 115 w 200"/>
                  <a:gd name="T57" fmla="*/ 14 h 202"/>
                  <a:gd name="T58" fmla="*/ 150 w 200"/>
                  <a:gd name="T59" fmla="*/ 45 h 202"/>
                  <a:gd name="T60" fmla="*/ 115 w 200"/>
                  <a:gd name="T61" fmla="*/ 14 h 202"/>
                  <a:gd name="T62" fmla="*/ 39 w 200"/>
                  <a:gd name="T63" fmla="*/ 39 h 202"/>
                  <a:gd name="T64" fmla="*/ 72 w 200"/>
                  <a:gd name="T65" fmla="*/ 32 h 202"/>
                  <a:gd name="T66" fmla="*/ 103 w 200"/>
                  <a:gd name="T67" fmla="*/ 59 h 202"/>
                  <a:gd name="T68" fmla="*/ 103 w 200"/>
                  <a:gd name="T69" fmla="*/ 13 h 202"/>
                  <a:gd name="T70" fmla="*/ 96 w 200"/>
                  <a:gd name="T71" fmla="*/ 13 h 202"/>
                  <a:gd name="T72" fmla="*/ 96 w 200"/>
                  <a:gd name="T73" fmla="*/ 59 h 202"/>
                  <a:gd name="T74" fmla="*/ 127 w 200"/>
                  <a:gd name="T75" fmla="*/ 4 h 202"/>
                  <a:gd name="T76" fmla="*/ 187 w 200"/>
                  <a:gd name="T77" fmla="*/ 50 h 202"/>
                  <a:gd name="T78" fmla="*/ 197 w 200"/>
                  <a:gd name="T79" fmla="*/ 128 h 202"/>
                  <a:gd name="T80" fmla="*/ 151 w 200"/>
                  <a:gd name="T81" fmla="*/ 188 h 202"/>
                  <a:gd name="T82" fmla="*/ 73 w 200"/>
                  <a:gd name="T83" fmla="*/ 198 h 202"/>
                  <a:gd name="T84" fmla="*/ 13 w 200"/>
                  <a:gd name="T85" fmla="*/ 151 h 202"/>
                  <a:gd name="T86" fmla="*/ 3 w 200"/>
                  <a:gd name="T87" fmla="*/ 75 h 202"/>
                  <a:gd name="T88" fmla="*/ 49 w 200"/>
                  <a:gd name="T89" fmla="*/ 1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00" h="202">
                    <a:moveTo>
                      <a:pt x="137" y="157"/>
                    </a:moveTo>
                    <a:lnTo>
                      <a:pt x="127" y="173"/>
                    </a:lnTo>
                    <a:lnTo>
                      <a:pt x="115" y="188"/>
                    </a:lnTo>
                    <a:lnTo>
                      <a:pt x="137" y="180"/>
                    </a:lnTo>
                    <a:lnTo>
                      <a:pt x="157" y="167"/>
                    </a:lnTo>
                    <a:lnTo>
                      <a:pt x="147" y="162"/>
                    </a:lnTo>
                    <a:lnTo>
                      <a:pt x="137" y="157"/>
                    </a:lnTo>
                    <a:close/>
                    <a:moveTo>
                      <a:pt x="65" y="157"/>
                    </a:moveTo>
                    <a:lnTo>
                      <a:pt x="53" y="162"/>
                    </a:lnTo>
                    <a:lnTo>
                      <a:pt x="43" y="167"/>
                    </a:lnTo>
                    <a:lnTo>
                      <a:pt x="63" y="180"/>
                    </a:lnTo>
                    <a:lnTo>
                      <a:pt x="86" y="188"/>
                    </a:lnTo>
                    <a:lnTo>
                      <a:pt x="73" y="173"/>
                    </a:lnTo>
                    <a:lnTo>
                      <a:pt x="65" y="157"/>
                    </a:lnTo>
                    <a:close/>
                    <a:moveTo>
                      <a:pt x="103" y="150"/>
                    </a:moveTo>
                    <a:lnTo>
                      <a:pt x="103" y="189"/>
                    </a:lnTo>
                    <a:lnTo>
                      <a:pt x="103" y="189"/>
                    </a:lnTo>
                    <a:lnTo>
                      <a:pt x="118" y="173"/>
                    </a:lnTo>
                    <a:lnTo>
                      <a:pt x="129" y="154"/>
                    </a:lnTo>
                    <a:lnTo>
                      <a:pt x="103" y="150"/>
                    </a:lnTo>
                    <a:close/>
                    <a:moveTo>
                      <a:pt x="96" y="150"/>
                    </a:moveTo>
                    <a:lnTo>
                      <a:pt x="70" y="154"/>
                    </a:lnTo>
                    <a:lnTo>
                      <a:pt x="82" y="173"/>
                    </a:lnTo>
                    <a:lnTo>
                      <a:pt x="96" y="189"/>
                    </a:lnTo>
                    <a:lnTo>
                      <a:pt x="96" y="189"/>
                    </a:lnTo>
                    <a:lnTo>
                      <a:pt x="96" y="150"/>
                    </a:lnTo>
                    <a:close/>
                    <a:moveTo>
                      <a:pt x="148" y="104"/>
                    </a:moveTo>
                    <a:lnTo>
                      <a:pt x="145" y="128"/>
                    </a:lnTo>
                    <a:lnTo>
                      <a:pt x="138" y="150"/>
                    </a:lnTo>
                    <a:lnTo>
                      <a:pt x="151" y="156"/>
                    </a:lnTo>
                    <a:lnTo>
                      <a:pt x="161" y="163"/>
                    </a:lnTo>
                    <a:lnTo>
                      <a:pt x="176" y="146"/>
                    </a:lnTo>
                    <a:lnTo>
                      <a:pt x="184" y="127"/>
                    </a:lnTo>
                    <a:lnTo>
                      <a:pt x="187" y="104"/>
                    </a:lnTo>
                    <a:lnTo>
                      <a:pt x="148" y="104"/>
                    </a:lnTo>
                    <a:close/>
                    <a:moveTo>
                      <a:pt x="103" y="104"/>
                    </a:moveTo>
                    <a:lnTo>
                      <a:pt x="103" y="143"/>
                    </a:lnTo>
                    <a:lnTo>
                      <a:pt x="132" y="149"/>
                    </a:lnTo>
                    <a:lnTo>
                      <a:pt x="140" y="127"/>
                    </a:lnTo>
                    <a:lnTo>
                      <a:pt x="142" y="104"/>
                    </a:lnTo>
                    <a:lnTo>
                      <a:pt x="103" y="104"/>
                    </a:lnTo>
                    <a:close/>
                    <a:moveTo>
                      <a:pt x="57" y="104"/>
                    </a:moveTo>
                    <a:lnTo>
                      <a:pt x="60" y="127"/>
                    </a:lnTo>
                    <a:lnTo>
                      <a:pt x="67" y="149"/>
                    </a:lnTo>
                    <a:lnTo>
                      <a:pt x="96" y="143"/>
                    </a:lnTo>
                    <a:lnTo>
                      <a:pt x="96" y="104"/>
                    </a:lnTo>
                    <a:lnTo>
                      <a:pt x="57" y="104"/>
                    </a:lnTo>
                    <a:close/>
                    <a:moveTo>
                      <a:pt x="13" y="104"/>
                    </a:moveTo>
                    <a:lnTo>
                      <a:pt x="17" y="127"/>
                    </a:lnTo>
                    <a:lnTo>
                      <a:pt x="26" y="146"/>
                    </a:lnTo>
                    <a:lnTo>
                      <a:pt x="39" y="163"/>
                    </a:lnTo>
                    <a:lnTo>
                      <a:pt x="49" y="156"/>
                    </a:lnTo>
                    <a:lnTo>
                      <a:pt x="62" y="150"/>
                    </a:lnTo>
                    <a:lnTo>
                      <a:pt x="54" y="128"/>
                    </a:lnTo>
                    <a:lnTo>
                      <a:pt x="52" y="104"/>
                    </a:lnTo>
                    <a:lnTo>
                      <a:pt x="13" y="104"/>
                    </a:lnTo>
                    <a:close/>
                    <a:moveTo>
                      <a:pt x="135" y="59"/>
                    </a:moveTo>
                    <a:lnTo>
                      <a:pt x="119" y="63"/>
                    </a:lnTo>
                    <a:lnTo>
                      <a:pt x="103" y="65"/>
                    </a:lnTo>
                    <a:lnTo>
                      <a:pt x="103" y="98"/>
                    </a:lnTo>
                    <a:lnTo>
                      <a:pt x="142" y="98"/>
                    </a:lnTo>
                    <a:lnTo>
                      <a:pt x="140" y="78"/>
                    </a:lnTo>
                    <a:lnTo>
                      <a:pt x="135" y="59"/>
                    </a:lnTo>
                    <a:close/>
                    <a:moveTo>
                      <a:pt x="65" y="59"/>
                    </a:moveTo>
                    <a:lnTo>
                      <a:pt x="60" y="78"/>
                    </a:lnTo>
                    <a:lnTo>
                      <a:pt x="57" y="98"/>
                    </a:lnTo>
                    <a:lnTo>
                      <a:pt x="96" y="98"/>
                    </a:lnTo>
                    <a:lnTo>
                      <a:pt x="96" y="65"/>
                    </a:lnTo>
                    <a:lnTo>
                      <a:pt x="80" y="63"/>
                    </a:lnTo>
                    <a:lnTo>
                      <a:pt x="65" y="59"/>
                    </a:lnTo>
                    <a:close/>
                    <a:moveTo>
                      <a:pt x="165" y="43"/>
                    </a:moveTo>
                    <a:lnTo>
                      <a:pt x="141" y="58"/>
                    </a:lnTo>
                    <a:lnTo>
                      <a:pt x="147" y="76"/>
                    </a:lnTo>
                    <a:lnTo>
                      <a:pt x="148" y="98"/>
                    </a:lnTo>
                    <a:lnTo>
                      <a:pt x="187" y="98"/>
                    </a:lnTo>
                    <a:lnTo>
                      <a:pt x="184" y="78"/>
                    </a:lnTo>
                    <a:lnTo>
                      <a:pt x="177" y="59"/>
                    </a:lnTo>
                    <a:lnTo>
                      <a:pt x="165" y="43"/>
                    </a:lnTo>
                    <a:close/>
                    <a:moveTo>
                      <a:pt x="34" y="43"/>
                    </a:moveTo>
                    <a:lnTo>
                      <a:pt x="23" y="59"/>
                    </a:lnTo>
                    <a:lnTo>
                      <a:pt x="15" y="78"/>
                    </a:lnTo>
                    <a:lnTo>
                      <a:pt x="13" y="98"/>
                    </a:lnTo>
                    <a:lnTo>
                      <a:pt x="52" y="98"/>
                    </a:lnTo>
                    <a:lnTo>
                      <a:pt x="53" y="76"/>
                    </a:lnTo>
                    <a:lnTo>
                      <a:pt x="59" y="58"/>
                    </a:lnTo>
                    <a:lnTo>
                      <a:pt x="34" y="43"/>
                    </a:lnTo>
                    <a:close/>
                    <a:moveTo>
                      <a:pt x="115" y="14"/>
                    </a:moveTo>
                    <a:lnTo>
                      <a:pt x="128" y="32"/>
                    </a:lnTo>
                    <a:lnTo>
                      <a:pt x="138" y="50"/>
                    </a:lnTo>
                    <a:lnTo>
                      <a:pt x="150" y="45"/>
                    </a:lnTo>
                    <a:lnTo>
                      <a:pt x="161" y="39"/>
                    </a:lnTo>
                    <a:lnTo>
                      <a:pt x="140" y="23"/>
                    </a:lnTo>
                    <a:lnTo>
                      <a:pt x="115" y="14"/>
                    </a:lnTo>
                    <a:close/>
                    <a:moveTo>
                      <a:pt x="86" y="14"/>
                    </a:moveTo>
                    <a:lnTo>
                      <a:pt x="60" y="23"/>
                    </a:lnTo>
                    <a:lnTo>
                      <a:pt x="39" y="39"/>
                    </a:lnTo>
                    <a:lnTo>
                      <a:pt x="50" y="45"/>
                    </a:lnTo>
                    <a:lnTo>
                      <a:pt x="62" y="50"/>
                    </a:lnTo>
                    <a:lnTo>
                      <a:pt x="72" y="32"/>
                    </a:lnTo>
                    <a:lnTo>
                      <a:pt x="86" y="14"/>
                    </a:lnTo>
                    <a:close/>
                    <a:moveTo>
                      <a:pt x="103" y="13"/>
                    </a:moveTo>
                    <a:lnTo>
                      <a:pt x="103" y="59"/>
                    </a:lnTo>
                    <a:lnTo>
                      <a:pt x="132" y="53"/>
                    </a:lnTo>
                    <a:lnTo>
                      <a:pt x="121" y="32"/>
                    </a:lnTo>
                    <a:lnTo>
                      <a:pt x="103" y="13"/>
                    </a:lnTo>
                    <a:lnTo>
                      <a:pt x="103" y="13"/>
                    </a:lnTo>
                    <a:close/>
                    <a:moveTo>
                      <a:pt x="96" y="13"/>
                    </a:moveTo>
                    <a:lnTo>
                      <a:pt x="96" y="13"/>
                    </a:lnTo>
                    <a:lnTo>
                      <a:pt x="80" y="32"/>
                    </a:lnTo>
                    <a:lnTo>
                      <a:pt x="67" y="53"/>
                    </a:lnTo>
                    <a:lnTo>
                      <a:pt x="96" y="59"/>
                    </a:lnTo>
                    <a:lnTo>
                      <a:pt x="96" y="13"/>
                    </a:lnTo>
                    <a:close/>
                    <a:moveTo>
                      <a:pt x="101" y="0"/>
                    </a:moveTo>
                    <a:lnTo>
                      <a:pt x="127" y="4"/>
                    </a:lnTo>
                    <a:lnTo>
                      <a:pt x="151" y="14"/>
                    </a:lnTo>
                    <a:lnTo>
                      <a:pt x="171" y="30"/>
                    </a:lnTo>
                    <a:lnTo>
                      <a:pt x="187" y="50"/>
                    </a:lnTo>
                    <a:lnTo>
                      <a:pt x="197" y="75"/>
                    </a:lnTo>
                    <a:lnTo>
                      <a:pt x="200" y="101"/>
                    </a:lnTo>
                    <a:lnTo>
                      <a:pt x="197" y="128"/>
                    </a:lnTo>
                    <a:lnTo>
                      <a:pt x="187" y="151"/>
                    </a:lnTo>
                    <a:lnTo>
                      <a:pt x="171" y="172"/>
                    </a:lnTo>
                    <a:lnTo>
                      <a:pt x="151" y="188"/>
                    </a:lnTo>
                    <a:lnTo>
                      <a:pt x="127" y="198"/>
                    </a:lnTo>
                    <a:lnTo>
                      <a:pt x="101" y="202"/>
                    </a:lnTo>
                    <a:lnTo>
                      <a:pt x="73" y="198"/>
                    </a:lnTo>
                    <a:lnTo>
                      <a:pt x="49" y="188"/>
                    </a:lnTo>
                    <a:lnTo>
                      <a:pt x="28" y="172"/>
                    </a:lnTo>
                    <a:lnTo>
                      <a:pt x="13" y="151"/>
                    </a:lnTo>
                    <a:lnTo>
                      <a:pt x="3" y="128"/>
                    </a:lnTo>
                    <a:lnTo>
                      <a:pt x="0" y="101"/>
                    </a:lnTo>
                    <a:lnTo>
                      <a:pt x="3" y="75"/>
                    </a:lnTo>
                    <a:lnTo>
                      <a:pt x="13" y="50"/>
                    </a:lnTo>
                    <a:lnTo>
                      <a:pt x="28" y="30"/>
                    </a:lnTo>
                    <a:lnTo>
                      <a:pt x="49" y="14"/>
                    </a:lnTo>
                    <a:lnTo>
                      <a:pt x="73" y="4"/>
                    </a:lnTo>
                    <a:lnTo>
                      <a:pt x="101" y="0"/>
                    </a:lnTo>
                    <a:close/>
                  </a:path>
                </a:pathLst>
              </a:custGeom>
              <a:solidFill>
                <a:schemeClr val="bg1"/>
              </a:solidFill>
              <a:ln w="0">
                <a:noFill/>
                <a:prstDash val="solid"/>
                <a:round/>
              </a:ln>
            </p:spPr>
            <p:txBody>
              <a:bodyPr anchor="ctr"/>
              <a:lstStyle/>
              <a:p>
                <a:pPr algn="ctr"/>
                <a:endParaRPr/>
              </a:p>
            </p:txBody>
          </p:sp>
        </p:grpSp>
      </p:gr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669107" y="337623"/>
            <a:ext cx="24384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公司主营业务介绍</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0" name="组合 69"/>
          <p:cNvGrpSpPr/>
          <p:nvPr/>
        </p:nvGrpSpPr>
        <p:grpSpPr>
          <a:xfrm>
            <a:off x="2358390" y="1702435"/>
            <a:ext cx="7767320" cy="4391025"/>
            <a:chOff x="3039" y="2756"/>
            <a:chExt cx="8963" cy="5066"/>
          </a:xfrm>
        </p:grpSpPr>
        <p:sp>
          <p:nvSpPr>
            <p:cNvPr id="3" name="Freeform 5"/>
            <p:cNvSpPr/>
            <p:nvPr/>
          </p:nvSpPr>
          <p:spPr bwMode="auto">
            <a:xfrm>
              <a:off x="5129" y="3455"/>
              <a:ext cx="3806" cy="4368"/>
            </a:xfrm>
            <a:custGeom>
              <a:avLst/>
              <a:gdLst>
                <a:gd name="T0" fmla="*/ 2147483646 w 1045"/>
                <a:gd name="T1" fmla="*/ 2147483646 h 1279"/>
                <a:gd name="T2" fmla="*/ 2147483646 w 1045"/>
                <a:gd name="T3" fmla="*/ 2147483646 h 1279"/>
                <a:gd name="T4" fmla="*/ 2147483646 w 1045"/>
                <a:gd name="T5" fmla="*/ 2147483646 h 1279"/>
                <a:gd name="T6" fmla="*/ 2147483646 w 1045"/>
                <a:gd name="T7" fmla="*/ 2147483646 h 1279"/>
                <a:gd name="T8" fmla="*/ 2147483646 w 1045"/>
                <a:gd name="T9" fmla="*/ 2147483646 h 1279"/>
                <a:gd name="T10" fmla="*/ 0 w 1045"/>
                <a:gd name="T11" fmla="*/ 2147483646 h 1279"/>
                <a:gd name="T12" fmla="*/ 2147483646 w 1045"/>
                <a:gd name="T13" fmla="*/ 2147483646 h 1279"/>
                <a:gd name="T14" fmla="*/ 2147483646 w 1045"/>
                <a:gd name="T15" fmla="*/ 2147483646 h 1279"/>
                <a:gd name="T16" fmla="*/ 2147483646 w 1045"/>
                <a:gd name="T17" fmla="*/ 2147483646 h 1279"/>
                <a:gd name="T18" fmla="*/ 2147483646 w 1045"/>
                <a:gd name="T19" fmla="*/ 2147483646 h 1279"/>
                <a:gd name="T20" fmla="*/ 2147483646 w 1045"/>
                <a:gd name="T21" fmla="*/ 2147483646 h 1279"/>
                <a:gd name="T22" fmla="*/ 2147483646 w 1045"/>
                <a:gd name="T23" fmla="*/ 2147483646 h 1279"/>
                <a:gd name="T24" fmla="*/ 2147483646 w 1045"/>
                <a:gd name="T25" fmla="*/ 2147483646 h 1279"/>
                <a:gd name="T26" fmla="*/ 2147483646 w 1045"/>
                <a:gd name="T27" fmla="*/ 2147483646 h 1279"/>
                <a:gd name="T28" fmla="*/ 2147483646 w 1045"/>
                <a:gd name="T29" fmla="*/ 2147483646 h 1279"/>
                <a:gd name="T30" fmla="*/ 2147483646 w 1045"/>
                <a:gd name="T31" fmla="*/ 2147483646 h 1279"/>
                <a:gd name="T32" fmla="*/ 2147483646 w 1045"/>
                <a:gd name="T33" fmla="*/ 2147483646 h 1279"/>
                <a:gd name="T34" fmla="*/ 2147483646 w 1045"/>
                <a:gd name="T35" fmla="*/ 2147483646 h 1279"/>
                <a:gd name="T36" fmla="*/ 2147483646 w 1045"/>
                <a:gd name="T37" fmla="*/ 2147483646 h 1279"/>
                <a:gd name="T38" fmla="*/ 2147483646 w 1045"/>
                <a:gd name="T39" fmla="*/ 2147483646 h 1279"/>
                <a:gd name="T40" fmla="*/ 2147483646 w 1045"/>
                <a:gd name="T41" fmla="*/ 0 h 1279"/>
                <a:gd name="T42" fmla="*/ 2147483646 w 1045"/>
                <a:gd name="T43" fmla="*/ 2147483646 h 1279"/>
                <a:gd name="T44" fmla="*/ 2147483646 w 1045"/>
                <a:gd name="T45" fmla="*/ 2147483646 h 1279"/>
                <a:gd name="T46" fmla="*/ 2147483646 w 1045"/>
                <a:gd name="T47" fmla="*/ 2147483646 h 1279"/>
                <a:gd name="T48" fmla="*/ 2147483646 w 1045"/>
                <a:gd name="T49" fmla="*/ 2147483646 h 1279"/>
                <a:gd name="T50" fmla="*/ 2147483646 w 1045"/>
                <a:gd name="T51" fmla="*/ 2147483646 h 1279"/>
                <a:gd name="T52" fmla="*/ 2147483646 w 1045"/>
                <a:gd name="T53" fmla="*/ 2147483646 h 1279"/>
                <a:gd name="T54" fmla="*/ 2147483646 w 1045"/>
                <a:gd name="T55" fmla="*/ 2147483646 h 1279"/>
                <a:gd name="T56" fmla="*/ 2147483646 w 1045"/>
                <a:gd name="T57" fmla="*/ 2147483646 h 1279"/>
                <a:gd name="T58" fmla="*/ 2147483646 w 1045"/>
                <a:gd name="T59" fmla="*/ 2147483646 h 1279"/>
                <a:gd name="T60" fmla="*/ 2147483646 w 1045"/>
                <a:gd name="T61" fmla="*/ 2147483646 h 1279"/>
                <a:gd name="T62" fmla="*/ 2147483646 w 1045"/>
                <a:gd name="T63" fmla="*/ 2147483646 h 1279"/>
                <a:gd name="T64" fmla="*/ 2147483646 w 1045"/>
                <a:gd name="T65" fmla="*/ 2147483646 h 1279"/>
                <a:gd name="T66" fmla="*/ 2147483646 w 1045"/>
                <a:gd name="T67" fmla="*/ 2147483646 h 127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045" h="1279">
                  <a:moveTo>
                    <a:pt x="621" y="1278"/>
                  </a:moveTo>
                  <a:cubicBezTo>
                    <a:pt x="493" y="1279"/>
                    <a:pt x="493" y="1279"/>
                    <a:pt x="493" y="1279"/>
                  </a:cubicBezTo>
                  <a:cubicBezTo>
                    <a:pt x="480" y="1238"/>
                    <a:pt x="485" y="1193"/>
                    <a:pt x="491" y="1068"/>
                  </a:cubicBezTo>
                  <a:cubicBezTo>
                    <a:pt x="453" y="1033"/>
                    <a:pt x="408" y="998"/>
                    <a:pt x="362" y="961"/>
                  </a:cubicBezTo>
                  <a:cubicBezTo>
                    <a:pt x="310" y="963"/>
                    <a:pt x="280" y="960"/>
                    <a:pt x="239" y="952"/>
                  </a:cubicBezTo>
                  <a:cubicBezTo>
                    <a:pt x="153" y="935"/>
                    <a:pt x="123" y="906"/>
                    <a:pt x="0" y="832"/>
                  </a:cubicBezTo>
                  <a:cubicBezTo>
                    <a:pt x="134" y="888"/>
                    <a:pt x="210" y="930"/>
                    <a:pt x="322" y="928"/>
                  </a:cubicBezTo>
                  <a:cubicBezTo>
                    <a:pt x="244" y="861"/>
                    <a:pt x="168" y="787"/>
                    <a:pt x="117" y="696"/>
                  </a:cubicBezTo>
                  <a:cubicBezTo>
                    <a:pt x="236" y="800"/>
                    <a:pt x="263" y="854"/>
                    <a:pt x="430" y="953"/>
                  </a:cubicBezTo>
                  <a:cubicBezTo>
                    <a:pt x="448" y="964"/>
                    <a:pt x="467" y="976"/>
                    <a:pt x="494" y="997"/>
                  </a:cubicBezTo>
                  <a:cubicBezTo>
                    <a:pt x="494" y="993"/>
                    <a:pt x="494" y="993"/>
                    <a:pt x="494" y="993"/>
                  </a:cubicBezTo>
                  <a:cubicBezTo>
                    <a:pt x="497" y="887"/>
                    <a:pt x="467" y="762"/>
                    <a:pt x="469" y="687"/>
                  </a:cubicBezTo>
                  <a:cubicBezTo>
                    <a:pt x="371" y="661"/>
                    <a:pt x="303" y="619"/>
                    <a:pt x="248" y="580"/>
                  </a:cubicBezTo>
                  <a:cubicBezTo>
                    <a:pt x="105" y="480"/>
                    <a:pt x="40" y="342"/>
                    <a:pt x="11" y="217"/>
                  </a:cubicBezTo>
                  <a:cubicBezTo>
                    <a:pt x="94" y="400"/>
                    <a:pt x="163" y="479"/>
                    <a:pt x="275" y="548"/>
                  </a:cubicBezTo>
                  <a:cubicBezTo>
                    <a:pt x="285" y="525"/>
                    <a:pt x="324" y="475"/>
                    <a:pt x="320" y="398"/>
                  </a:cubicBezTo>
                  <a:cubicBezTo>
                    <a:pt x="315" y="314"/>
                    <a:pt x="306" y="285"/>
                    <a:pt x="316" y="246"/>
                  </a:cubicBezTo>
                  <a:cubicBezTo>
                    <a:pt x="332" y="334"/>
                    <a:pt x="354" y="416"/>
                    <a:pt x="349" y="460"/>
                  </a:cubicBezTo>
                  <a:cubicBezTo>
                    <a:pt x="345" y="497"/>
                    <a:pt x="340" y="510"/>
                    <a:pt x="328" y="580"/>
                  </a:cubicBezTo>
                  <a:cubicBezTo>
                    <a:pt x="394" y="614"/>
                    <a:pt x="436" y="623"/>
                    <a:pt x="471" y="633"/>
                  </a:cubicBezTo>
                  <a:cubicBezTo>
                    <a:pt x="480" y="526"/>
                    <a:pt x="544" y="250"/>
                    <a:pt x="547" y="0"/>
                  </a:cubicBezTo>
                  <a:cubicBezTo>
                    <a:pt x="602" y="287"/>
                    <a:pt x="501" y="515"/>
                    <a:pt x="529" y="678"/>
                  </a:cubicBezTo>
                  <a:cubicBezTo>
                    <a:pt x="546" y="776"/>
                    <a:pt x="564" y="812"/>
                    <a:pt x="576" y="875"/>
                  </a:cubicBezTo>
                  <a:cubicBezTo>
                    <a:pt x="617" y="825"/>
                    <a:pt x="645" y="811"/>
                    <a:pt x="741" y="730"/>
                  </a:cubicBezTo>
                  <a:cubicBezTo>
                    <a:pt x="723" y="598"/>
                    <a:pt x="730" y="473"/>
                    <a:pt x="809" y="374"/>
                  </a:cubicBezTo>
                  <a:cubicBezTo>
                    <a:pt x="738" y="537"/>
                    <a:pt x="772" y="588"/>
                    <a:pt x="791" y="687"/>
                  </a:cubicBezTo>
                  <a:cubicBezTo>
                    <a:pt x="841" y="647"/>
                    <a:pt x="874" y="615"/>
                    <a:pt x="903" y="571"/>
                  </a:cubicBezTo>
                  <a:cubicBezTo>
                    <a:pt x="937" y="523"/>
                    <a:pt x="988" y="442"/>
                    <a:pt x="1045" y="321"/>
                  </a:cubicBezTo>
                  <a:cubicBezTo>
                    <a:pt x="1027" y="404"/>
                    <a:pt x="992" y="483"/>
                    <a:pt x="958" y="545"/>
                  </a:cubicBezTo>
                  <a:cubicBezTo>
                    <a:pt x="854" y="740"/>
                    <a:pt x="738" y="767"/>
                    <a:pt x="616" y="966"/>
                  </a:cubicBezTo>
                  <a:cubicBezTo>
                    <a:pt x="614" y="992"/>
                    <a:pt x="612" y="1040"/>
                    <a:pt x="610" y="1095"/>
                  </a:cubicBezTo>
                  <a:cubicBezTo>
                    <a:pt x="698" y="1054"/>
                    <a:pt x="845" y="1010"/>
                    <a:pt x="939" y="888"/>
                  </a:cubicBezTo>
                  <a:cubicBezTo>
                    <a:pt x="901" y="979"/>
                    <a:pt x="728" y="1086"/>
                    <a:pt x="610" y="1140"/>
                  </a:cubicBezTo>
                  <a:cubicBezTo>
                    <a:pt x="613" y="1200"/>
                    <a:pt x="625" y="1222"/>
                    <a:pt x="621" y="1278"/>
                  </a:cubicBezTo>
                  <a:close/>
                </a:path>
              </a:pathLst>
            </a:custGeom>
            <a:solidFill>
              <a:schemeClr val="accent1"/>
            </a:solidFill>
            <a:ln>
              <a:noFill/>
            </a:ln>
          </p:spPr>
          <p:txBody>
            <a:bodyPr lIns="68580" tIns="34290" rIns="68580" bIns="34290"/>
            <a:lstStyle/>
            <a:p>
              <a:endParaRPr lang="zh-CN" altLang="en-US">
                <a:latin typeface="+mn-ea"/>
              </a:endParaRPr>
            </a:p>
          </p:txBody>
        </p:sp>
        <p:sp>
          <p:nvSpPr>
            <p:cNvPr id="31" name="Freeform 7"/>
            <p:cNvSpPr/>
            <p:nvPr/>
          </p:nvSpPr>
          <p:spPr bwMode="auto">
            <a:xfrm>
              <a:off x="6733" y="2756"/>
              <a:ext cx="720" cy="728"/>
            </a:xfrm>
            <a:prstGeom prst="ellipse">
              <a:avLst/>
            </a:prstGeom>
            <a:solidFill>
              <a:srgbClr val="CE3418"/>
            </a:solidFill>
            <a:ln>
              <a:noFill/>
            </a:ln>
          </p:spPr>
          <p:txBody>
            <a:bodyPr lIns="68580" tIns="34290" rIns="68580" bIns="34290"/>
            <a:lstStyle/>
            <a:p>
              <a:endParaRPr lang="zh-CN" altLang="en-US">
                <a:latin typeface="+mn-ea"/>
              </a:endParaRPr>
            </a:p>
          </p:txBody>
        </p:sp>
        <p:sp>
          <p:nvSpPr>
            <p:cNvPr id="33" name="Freeform 8"/>
            <p:cNvSpPr/>
            <p:nvPr/>
          </p:nvSpPr>
          <p:spPr bwMode="auto">
            <a:xfrm>
              <a:off x="8594" y="3841"/>
              <a:ext cx="716" cy="724"/>
            </a:xfrm>
            <a:prstGeom prst="ellipse">
              <a:avLst/>
            </a:prstGeom>
            <a:solidFill>
              <a:schemeClr val="bg1">
                <a:lumMod val="50000"/>
              </a:schemeClr>
            </a:solidFill>
            <a:ln>
              <a:noFill/>
            </a:ln>
          </p:spPr>
          <p:txBody>
            <a:bodyPr lIns="68580" tIns="34290" rIns="68580" bIns="34290"/>
            <a:lstStyle/>
            <a:p>
              <a:endParaRPr lang="zh-CN" altLang="en-US">
                <a:latin typeface="+mn-ea"/>
              </a:endParaRPr>
            </a:p>
          </p:txBody>
        </p:sp>
        <p:sp>
          <p:nvSpPr>
            <p:cNvPr id="35" name="Freeform 9"/>
            <p:cNvSpPr/>
            <p:nvPr/>
          </p:nvSpPr>
          <p:spPr bwMode="auto">
            <a:xfrm>
              <a:off x="8269" y="5777"/>
              <a:ext cx="722" cy="728"/>
            </a:xfrm>
            <a:prstGeom prst="ellipse">
              <a:avLst/>
            </a:prstGeom>
            <a:solidFill>
              <a:schemeClr val="bg1">
                <a:lumMod val="50000"/>
              </a:schemeClr>
            </a:solidFill>
            <a:ln>
              <a:noFill/>
            </a:ln>
          </p:spPr>
          <p:txBody>
            <a:bodyPr lIns="68580" tIns="34290" rIns="68580" bIns="34290"/>
            <a:lstStyle/>
            <a:p>
              <a:endParaRPr lang="zh-CN" altLang="en-US">
                <a:latin typeface="+mn-ea"/>
              </a:endParaRPr>
            </a:p>
          </p:txBody>
        </p:sp>
        <p:sp>
          <p:nvSpPr>
            <p:cNvPr id="48" name="Freeform 10"/>
            <p:cNvSpPr/>
            <p:nvPr/>
          </p:nvSpPr>
          <p:spPr bwMode="auto">
            <a:xfrm>
              <a:off x="5898" y="3640"/>
              <a:ext cx="718" cy="728"/>
            </a:xfrm>
            <a:prstGeom prst="ellipse">
              <a:avLst/>
            </a:prstGeom>
            <a:solidFill>
              <a:srgbClr val="CE3418"/>
            </a:solidFill>
            <a:ln>
              <a:noFill/>
            </a:ln>
          </p:spPr>
          <p:txBody>
            <a:bodyPr lIns="68580" tIns="34290" rIns="68580" bIns="34290"/>
            <a:lstStyle/>
            <a:p>
              <a:endParaRPr lang="zh-CN" altLang="en-US">
                <a:latin typeface="+mn-ea"/>
              </a:endParaRPr>
            </a:p>
          </p:txBody>
        </p:sp>
        <p:sp>
          <p:nvSpPr>
            <p:cNvPr id="49" name="Freeform 11"/>
            <p:cNvSpPr/>
            <p:nvPr/>
          </p:nvSpPr>
          <p:spPr bwMode="auto">
            <a:xfrm>
              <a:off x="4742" y="5629"/>
              <a:ext cx="718" cy="722"/>
            </a:xfrm>
            <a:prstGeom prst="ellipse">
              <a:avLst/>
            </a:prstGeom>
            <a:solidFill>
              <a:srgbClr val="CE3418"/>
            </a:solidFill>
            <a:ln>
              <a:noFill/>
            </a:ln>
          </p:spPr>
          <p:txBody>
            <a:bodyPr lIns="68580" tIns="34290" rIns="68580" bIns="34290"/>
            <a:lstStyle/>
            <a:p>
              <a:endParaRPr lang="zh-CN" altLang="en-US">
                <a:latin typeface="+mn-ea"/>
              </a:endParaRPr>
            </a:p>
          </p:txBody>
        </p:sp>
        <p:sp>
          <p:nvSpPr>
            <p:cNvPr id="50" name="Freeform 13"/>
            <p:cNvSpPr/>
            <p:nvPr/>
          </p:nvSpPr>
          <p:spPr bwMode="auto">
            <a:xfrm>
              <a:off x="7581" y="6506"/>
              <a:ext cx="400" cy="405"/>
            </a:xfrm>
            <a:prstGeom prst="ellipse">
              <a:avLst/>
            </a:prstGeom>
            <a:solidFill>
              <a:srgbClr val="CE3418"/>
            </a:solidFill>
            <a:ln>
              <a:noFill/>
            </a:ln>
          </p:spPr>
          <p:txBody>
            <a:bodyPr lIns="68580" tIns="34290" rIns="68580" bIns="34290"/>
            <a:lstStyle/>
            <a:p>
              <a:endParaRPr lang="zh-CN" altLang="en-US">
                <a:latin typeface="+mn-ea"/>
              </a:endParaRPr>
            </a:p>
          </p:txBody>
        </p:sp>
        <p:sp>
          <p:nvSpPr>
            <p:cNvPr id="51" name="Freeform 14"/>
            <p:cNvSpPr/>
            <p:nvPr/>
          </p:nvSpPr>
          <p:spPr bwMode="auto">
            <a:xfrm>
              <a:off x="5029" y="3971"/>
              <a:ext cx="394" cy="405"/>
            </a:xfrm>
            <a:prstGeom prst="ellipse">
              <a:avLst/>
            </a:prstGeom>
            <a:solidFill>
              <a:schemeClr val="bg1">
                <a:lumMod val="50000"/>
              </a:schemeClr>
            </a:solidFill>
            <a:ln>
              <a:noFill/>
            </a:ln>
          </p:spPr>
          <p:txBody>
            <a:bodyPr lIns="68580" tIns="34290" rIns="68580" bIns="34290"/>
            <a:lstStyle/>
            <a:p>
              <a:endParaRPr lang="zh-CN" altLang="en-US">
                <a:latin typeface="+mn-ea"/>
              </a:endParaRPr>
            </a:p>
          </p:txBody>
        </p:sp>
        <p:sp>
          <p:nvSpPr>
            <p:cNvPr id="52" name="Freeform 15"/>
            <p:cNvSpPr/>
            <p:nvPr/>
          </p:nvSpPr>
          <p:spPr bwMode="auto">
            <a:xfrm>
              <a:off x="6593" y="4220"/>
              <a:ext cx="396" cy="401"/>
            </a:xfrm>
            <a:prstGeom prst="ellipse">
              <a:avLst/>
            </a:prstGeom>
            <a:solidFill>
              <a:schemeClr val="bg1">
                <a:lumMod val="50000"/>
              </a:schemeClr>
            </a:solidFill>
            <a:ln>
              <a:noFill/>
            </a:ln>
          </p:spPr>
          <p:txBody>
            <a:bodyPr lIns="68580" tIns="34290" rIns="68580" bIns="34290"/>
            <a:lstStyle/>
            <a:p>
              <a:endParaRPr lang="zh-CN" altLang="en-US">
                <a:latin typeface="+mn-ea"/>
              </a:endParaRPr>
            </a:p>
          </p:txBody>
        </p:sp>
        <p:sp>
          <p:nvSpPr>
            <p:cNvPr id="53" name="Freeform 16"/>
            <p:cNvSpPr/>
            <p:nvPr/>
          </p:nvSpPr>
          <p:spPr bwMode="auto">
            <a:xfrm>
              <a:off x="7184" y="5825"/>
              <a:ext cx="396" cy="399"/>
            </a:xfrm>
            <a:prstGeom prst="ellipse">
              <a:avLst/>
            </a:prstGeom>
            <a:solidFill>
              <a:schemeClr val="bg1">
                <a:lumMod val="50000"/>
              </a:schemeClr>
            </a:solidFill>
            <a:ln>
              <a:noFill/>
            </a:ln>
          </p:spPr>
          <p:txBody>
            <a:bodyPr lIns="68580" tIns="34290" rIns="68580" bIns="34290"/>
            <a:lstStyle/>
            <a:p>
              <a:endParaRPr lang="zh-CN" altLang="en-US">
                <a:latin typeface="+mn-ea"/>
              </a:endParaRPr>
            </a:p>
          </p:txBody>
        </p:sp>
        <p:sp>
          <p:nvSpPr>
            <p:cNvPr id="54" name="Freeform 17"/>
            <p:cNvSpPr/>
            <p:nvPr/>
          </p:nvSpPr>
          <p:spPr bwMode="auto">
            <a:xfrm>
              <a:off x="5457" y="5545"/>
              <a:ext cx="394" cy="405"/>
            </a:xfrm>
            <a:prstGeom prst="ellipse">
              <a:avLst/>
            </a:prstGeom>
            <a:solidFill>
              <a:schemeClr val="bg1">
                <a:lumMod val="50000"/>
              </a:schemeClr>
            </a:solidFill>
            <a:ln>
              <a:noFill/>
            </a:ln>
          </p:spPr>
          <p:txBody>
            <a:bodyPr lIns="68580" tIns="34290" rIns="68580" bIns="34290"/>
            <a:lstStyle/>
            <a:p>
              <a:endParaRPr lang="zh-CN" altLang="en-US">
                <a:latin typeface="+mn-ea"/>
              </a:endParaRPr>
            </a:p>
          </p:txBody>
        </p:sp>
        <p:sp>
          <p:nvSpPr>
            <p:cNvPr id="55" name="Freeform 18"/>
            <p:cNvSpPr/>
            <p:nvPr/>
          </p:nvSpPr>
          <p:spPr bwMode="auto">
            <a:xfrm>
              <a:off x="8194" y="4821"/>
              <a:ext cx="400" cy="405"/>
            </a:xfrm>
            <a:prstGeom prst="ellipse">
              <a:avLst/>
            </a:prstGeom>
            <a:solidFill>
              <a:srgbClr val="CE3418"/>
            </a:solidFill>
            <a:ln>
              <a:noFill/>
            </a:ln>
          </p:spPr>
          <p:txBody>
            <a:bodyPr lIns="68580" tIns="34290" rIns="68580" bIns="34290"/>
            <a:lstStyle/>
            <a:p>
              <a:endParaRPr lang="zh-CN" altLang="en-US">
                <a:latin typeface="+mn-ea"/>
              </a:endParaRPr>
            </a:p>
          </p:txBody>
        </p:sp>
        <p:sp>
          <p:nvSpPr>
            <p:cNvPr id="56" name="Freeform 19"/>
            <p:cNvSpPr/>
            <p:nvPr/>
          </p:nvSpPr>
          <p:spPr bwMode="auto">
            <a:xfrm>
              <a:off x="6245" y="6068"/>
              <a:ext cx="396" cy="405"/>
            </a:xfrm>
            <a:prstGeom prst="ellipse">
              <a:avLst/>
            </a:prstGeom>
            <a:solidFill>
              <a:srgbClr val="CE3418"/>
            </a:solidFill>
            <a:ln>
              <a:noFill/>
            </a:ln>
          </p:spPr>
          <p:txBody>
            <a:bodyPr lIns="68580" tIns="34290" rIns="68580" bIns="34290"/>
            <a:lstStyle/>
            <a:p>
              <a:endParaRPr lang="zh-CN" altLang="en-US" dirty="0">
                <a:latin typeface="+mn-ea"/>
              </a:endParaRPr>
            </a:p>
          </p:txBody>
        </p:sp>
        <p:sp>
          <p:nvSpPr>
            <p:cNvPr id="57" name="Freeform 20"/>
            <p:cNvSpPr/>
            <p:nvPr/>
          </p:nvSpPr>
          <p:spPr bwMode="auto">
            <a:xfrm>
              <a:off x="7093" y="4805"/>
              <a:ext cx="396" cy="403"/>
            </a:xfrm>
            <a:prstGeom prst="ellipse">
              <a:avLst/>
            </a:prstGeom>
            <a:solidFill>
              <a:srgbClr val="CE3418"/>
            </a:solidFill>
            <a:ln>
              <a:noFill/>
            </a:ln>
          </p:spPr>
          <p:txBody>
            <a:bodyPr lIns="68580" tIns="34290" rIns="68580" bIns="34290"/>
            <a:lstStyle/>
            <a:p>
              <a:endParaRPr lang="zh-CN" altLang="en-US">
                <a:latin typeface="+mn-ea"/>
              </a:endParaRPr>
            </a:p>
          </p:txBody>
        </p:sp>
        <p:sp>
          <p:nvSpPr>
            <p:cNvPr id="58" name="Freeform 6"/>
            <p:cNvSpPr/>
            <p:nvPr/>
          </p:nvSpPr>
          <p:spPr bwMode="auto">
            <a:xfrm>
              <a:off x="5859" y="2838"/>
              <a:ext cx="713" cy="728"/>
            </a:xfrm>
            <a:prstGeom prst="ellipse">
              <a:avLst/>
            </a:prstGeom>
            <a:solidFill>
              <a:schemeClr val="bg1">
                <a:lumMod val="50000"/>
              </a:schemeClr>
            </a:solidFill>
            <a:ln>
              <a:noFill/>
            </a:ln>
          </p:spPr>
          <p:txBody>
            <a:bodyPr lIns="68580" tIns="34290" rIns="68580" bIns="34290"/>
            <a:lstStyle/>
            <a:p>
              <a:endParaRPr lang="zh-CN" altLang="en-US">
                <a:latin typeface="+mn-ea"/>
              </a:endParaRPr>
            </a:p>
          </p:txBody>
        </p:sp>
        <p:sp>
          <p:nvSpPr>
            <p:cNvPr id="59" name="Freeform 12"/>
            <p:cNvSpPr/>
            <p:nvPr/>
          </p:nvSpPr>
          <p:spPr bwMode="auto">
            <a:xfrm>
              <a:off x="7690" y="4061"/>
              <a:ext cx="718" cy="724"/>
            </a:xfrm>
            <a:prstGeom prst="ellipse">
              <a:avLst/>
            </a:prstGeom>
            <a:solidFill>
              <a:srgbClr val="CE3418"/>
            </a:solidFill>
            <a:ln>
              <a:noFill/>
            </a:ln>
          </p:spPr>
          <p:txBody>
            <a:bodyPr lIns="68580" tIns="34290" rIns="68580" bIns="34290"/>
            <a:lstStyle/>
            <a:p>
              <a:endParaRPr lang="zh-CN" altLang="en-US">
                <a:latin typeface="+mn-ea"/>
              </a:endParaRPr>
            </a:p>
          </p:txBody>
        </p:sp>
        <p:sp>
          <p:nvSpPr>
            <p:cNvPr id="60" name="TextBox 8"/>
            <p:cNvSpPr txBox="1">
              <a:spLocks noChangeArrowheads="1"/>
            </p:cNvSpPr>
            <p:nvPr/>
          </p:nvSpPr>
          <p:spPr bwMode="auto">
            <a:xfrm>
              <a:off x="3060" y="5831"/>
              <a:ext cx="118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mn-ea"/>
                  <a:ea typeface="+mn-ea"/>
                </a:rPr>
                <a:t>添加标题</a:t>
              </a:r>
            </a:p>
          </p:txBody>
        </p:sp>
        <p:sp>
          <p:nvSpPr>
            <p:cNvPr id="61" name="TextBox 9"/>
            <p:cNvSpPr txBox="1">
              <a:spLocks noChangeArrowheads="1"/>
            </p:cNvSpPr>
            <p:nvPr/>
          </p:nvSpPr>
          <p:spPr bwMode="auto">
            <a:xfrm>
              <a:off x="10815" y="4029"/>
              <a:ext cx="118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mn-ea"/>
                  <a:ea typeface="+mn-ea"/>
                </a:rPr>
                <a:t>添加标题</a:t>
              </a:r>
            </a:p>
          </p:txBody>
        </p:sp>
        <p:sp>
          <p:nvSpPr>
            <p:cNvPr id="62" name="TextBox 10"/>
            <p:cNvSpPr txBox="1">
              <a:spLocks noChangeArrowheads="1"/>
            </p:cNvSpPr>
            <p:nvPr/>
          </p:nvSpPr>
          <p:spPr bwMode="auto">
            <a:xfrm>
              <a:off x="9605" y="5990"/>
              <a:ext cx="118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mn-ea"/>
                  <a:ea typeface="+mn-ea"/>
                </a:rPr>
                <a:t>添加标题</a:t>
              </a:r>
            </a:p>
          </p:txBody>
        </p:sp>
        <p:sp>
          <p:nvSpPr>
            <p:cNvPr id="63" name="TextBox 11"/>
            <p:cNvSpPr txBox="1">
              <a:spLocks noChangeArrowheads="1"/>
            </p:cNvSpPr>
            <p:nvPr/>
          </p:nvSpPr>
          <p:spPr bwMode="auto">
            <a:xfrm>
              <a:off x="3039" y="3672"/>
              <a:ext cx="118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mn-ea"/>
                  <a:ea typeface="+mn-ea"/>
                </a:rPr>
                <a:t>添加标题</a:t>
              </a:r>
            </a:p>
          </p:txBody>
        </p:sp>
        <p:sp>
          <p:nvSpPr>
            <p:cNvPr id="64" name="TextBox 12"/>
            <p:cNvSpPr txBox="1">
              <a:spLocks noChangeArrowheads="1"/>
            </p:cNvSpPr>
            <p:nvPr/>
          </p:nvSpPr>
          <p:spPr bwMode="auto">
            <a:xfrm>
              <a:off x="7440" y="3165"/>
              <a:ext cx="118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zh-CN" altLang="en-US" sz="1200" dirty="0">
                  <a:solidFill>
                    <a:schemeClr val="tx1">
                      <a:lumMod val="65000"/>
                      <a:lumOff val="35000"/>
                    </a:schemeClr>
                  </a:solidFill>
                  <a:latin typeface="+mn-ea"/>
                  <a:ea typeface="+mn-ea"/>
                </a:rPr>
                <a:t>添加标题</a:t>
              </a:r>
            </a:p>
          </p:txBody>
        </p:sp>
        <p:sp>
          <p:nvSpPr>
            <p:cNvPr id="65" name="任意多边形 31"/>
            <p:cNvSpPr/>
            <p:nvPr/>
          </p:nvSpPr>
          <p:spPr bwMode="auto">
            <a:xfrm flipV="1">
              <a:off x="4093" y="5936"/>
              <a:ext cx="608" cy="56"/>
            </a:xfrm>
            <a:custGeom>
              <a:avLst/>
              <a:gdLst>
                <a:gd name="T0" fmla="*/ 0 w 361950"/>
                <a:gd name="T1" fmla="*/ 0 h 54478"/>
                <a:gd name="T2" fmla="*/ 2852087 w 361950"/>
                <a:gd name="T3" fmla="*/ 0 h 54478"/>
                <a:gd name="T4" fmla="*/ 0 60000 65536"/>
                <a:gd name="T5" fmla="*/ 0 60000 65536"/>
              </a:gdLst>
              <a:ahLst/>
              <a:cxnLst>
                <a:cxn ang="T4">
                  <a:pos x="T0" y="T1"/>
                </a:cxn>
                <a:cxn ang="T5">
                  <a:pos x="T2" y="T3"/>
                </a:cxn>
              </a:cxnLst>
              <a:rect l="0" t="0" r="r" b="b"/>
              <a:pathLst>
                <a:path w="361950" h="54478">
                  <a:moveTo>
                    <a:pt x="0" y="0"/>
                  </a:moveTo>
                  <a:lnTo>
                    <a:pt x="361950" y="0"/>
                  </a:lnTo>
                </a:path>
              </a:pathLst>
            </a:custGeom>
            <a:noFill/>
            <a:ln w="6350" cap="flat" cmpd="sng">
              <a:solidFill>
                <a:schemeClr val="tx1">
                  <a:lumMod val="85000"/>
                  <a:lumOff val="15000"/>
                </a:schemeClr>
              </a:solidFill>
              <a:prstDash val="dash"/>
              <a:round/>
            </a:ln>
            <a:extLst>
              <a:ext uri="{909E8E84-426E-40DD-AFC4-6F175D3DCCD1}">
                <a14:hiddenFill xmlns:a14="http://schemas.microsoft.com/office/drawing/2010/main">
                  <a:solidFill>
                    <a:srgbClr val="FFFFFF"/>
                  </a:solidFill>
                </a14:hiddenFill>
              </a:ext>
            </a:extLst>
          </p:spPr>
          <p:txBody>
            <a:bodyPr lIns="68580" tIns="34290" rIns="68580" bIns="34290" anchor="ctr"/>
            <a:lstStyle/>
            <a:p>
              <a:endParaRPr lang="zh-CN" altLang="en-US">
                <a:latin typeface="+mn-ea"/>
              </a:endParaRPr>
            </a:p>
          </p:txBody>
        </p:sp>
        <p:cxnSp>
          <p:nvCxnSpPr>
            <p:cNvPr id="66" name="直接连接符 65"/>
            <p:cNvCxnSpPr/>
            <p:nvPr/>
          </p:nvCxnSpPr>
          <p:spPr>
            <a:xfrm>
              <a:off x="4122" y="3843"/>
              <a:ext cx="1776" cy="0"/>
            </a:xfrm>
            <a:prstGeom prst="line">
              <a:avLst/>
            </a:prstGeom>
            <a:ln>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64" idx="2"/>
            </p:cNvCxnSpPr>
            <p:nvPr/>
          </p:nvCxnSpPr>
          <p:spPr>
            <a:xfrm>
              <a:off x="8034" y="3457"/>
              <a:ext cx="3" cy="472"/>
            </a:xfrm>
            <a:prstGeom prst="line">
              <a:avLst/>
            </a:prstGeom>
            <a:ln>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9396" y="4173"/>
              <a:ext cx="1423" cy="0"/>
            </a:xfrm>
            <a:prstGeom prst="line">
              <a:avLst/>
            </a:prstGeom>
            <a:ln>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9065" y="6142"/>
              <a:ext cx="661" cy="0"/>
            </a:xfrm>
            <a:prstGeom prst="line">
              <a:avLst/>
            </a:prstGeom>
            <a:ln>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71" name="文本框 70"/>
          <p:cNvSpPr txBox="1"/>
          <p:nvPr/>
        </p:nvSpPr>
        <p:spPr>
          <a:xfrm>
            <a:off x="1866265" y="4759325"/>
            <a:ext cx="1988820" cy="755015"/>
          </a:xfrm>
          <a:prstGeom prst="rect">
            <a:avLst/>
          </a:prstGeom>
          <a:noFill/>
        </p:spPr>
        <p:txBody>
          <a:bodyPr wrap="square" rtlCol="0" anchor="t">
            <a:spAutoFit/>
          </a:bodyPr>
          <a:lstStyle/>
          <a:p>
            <a:pPr algn="ctr">
              <a:lnSpc>
                <a:spcPct val="120000"/>
              </a:lnSpc>
              <a:defRPr/>
            </a:pPr>
            <a:r>
              <a:rPr lang="zh-CN" altLang="en-US" sz="1200" dirty="0">
                <a:solidFill>
                  <a:schemeClr val="tx1">
                    <a:lumMod val="85000"/>
                    <a:lumOff val="15000"/>
                  </a:schemeClr>
                </a:solidFill>
                <a:ea typeface="微软雅黑" panose="020B0503020204020204" pitchFamily="34" charset="-122"/>
                <a:sym typeface="+mn-ea"/>
              </a:rPr>
              <a:t>此部分内容作为文字排版占位显示（建议使用主题字体）</a:t>
            </a:r>
          </a:p>
        </p:txBody>
      </p:sp>
      <p:sp>
        <p:nvSpPr>
          <p:cNvPr id="72" name="文本框 71"/>
          <p:cNvSpPr txBox="1"/>
          <p:nvPr/>
        </p:nvSpPr>
        <p:spPr>
          <a:xfrm>
            <a:off x="1866265" y="2834005"/>
            <a:ext cx="1988820" cy="755015"/>
          </a:xfrm>
          <a:prstGeom prst="rect">
            <a:avLst/>
          </a:prstGeom>
          <a:noFill/>
        </p:spPr>
        <p:txBody>
          <a:bodyPr wrap="square" rtlCol="0" anchor="t">
            <a:spAutoFit/>
          </a:bodyPr>
          <a:lstStyle/>
          <a:p>
            <a:pPr algn="ctr">
              <a:lnSpc>
                <a:spcPct val="120000"/>
              </a:lnSpc>
              <a:defRPr/>
            </a:pPr>
            <a:r>
              <a:rPr lang="zh-CN" altLang="en-US" sz="1200" dirty="0">
                <a:solidFill>
                  <a:schemeClr val="tx1">
                    <a:lumMod val="85000"/>
                    <a:lumOff val="15000"/>
                  </a:schemeClr>
                </a:solidFill>
                <a:ea typeface="微软雅黑" panose="020B0503020204020204" pitchFamily="34" charset="-122"/>
                <a:sym typeface="+mn-ea"/>
              </a:rPr>
              <a:t>此部分内容作为文字排版占位显示（建议使用主题字体）</a:t>
            </a:r>
          </a:p>
        </p:txBody>
      </p:sp>
      <p:sp>
        <p:nvSpPr>
          <p:cNvPr id="73" name="文本框 72"/>
          <p:cNvSpPr txBox="1"/>
          <p:nvPr/>
        </p:nvSpPr>
        <p:spPr>
          <a:xfrm>
            <a:off x="7188835" y="1649730"/>
            <a:ext cx="1988820" cy="755015"/>
          </a:xfrm>
          <a:prstGeom prst="rect">
            <a:avLst/>
          </a:prstGeom>
          <a:noFill/>
        </p:spPr>
        <p:txBody>
          <a:bodyPr wrap="square" rtlCol="0" anchor="t">
            <a:spAutoFit/>
          </a:bodyPr>
          <a:lstStyle/>
          <a:p>
            <a:pPr algn="ctr">
              <a:lnSpc>
                <a:spcPct val="120000"/>
              </a:lnSpc>
              <a:defRPr/>
            </a:pPr>
            <a:r>
              <a:rPr lang="zh-CN" altLang="en-US" sz="1200" dirty="0">
                <a:solidFill>
                  <a:schemeClr val="tx1">
                    <a:lumMod val="85000"/>
                    <a:lumOff val="15000"/>
                  </a:schemeClr>
                </a:solidFill>
                <a:ea typeface="微软雅黑" panose="020B0503020204020204" pitchFamily="34" charset="-122"/>
                <a:sym typeface="+mn-ea"/>
              </a:rPr>
              <a:t>此部分内容作为文字排版占位显示（建议使用主题字体）</a:t>
            </a:r>
          </a:p>
        </p:txBody>
      </p:sp>
      <p:sp>
        <p:nvSpPr>
          <p:cNvPr id="74" name="文本框 73"/>
          <p:cNvSpPr txBox="1"/>
          <p:nvPr/>
        </p:nvSpPr>
        <p:spPr>
          <a:xfrm>
            <a:off x="8604885" y="3106420"/>
            <a:ext cx="1988820" cy="755015"/>
          </a:xfrm>
          <a:prstGeom prst="rect">
            <a:avLst/>
          </a:prstGeom>
          <a:noFill/>
        </p:spPr>
        <p:txBody>
          <a:bodyPr wrap="square" rtlCol="0" anchor="t">
            <a:spAutoFit/>
          </a:bodyPr>
          <a:lstStyle/>
          <a:p>
            <a:pPr algn="ctr">
              <a:lnSpc>
                <a:spcPct val="120000"/>
              </a:lnSpc>
              <a:defRPr/>
            </a:pPr>
            <a:r>
              <a:rPr lang="zh-CN" altLang="en-US" sz="1200" dirty="0">
                <a:solidFill>
                  <a:schemeClr val="tx1">
                    <a:lumMod val="85000"/>
                    <a:lumOff val="15000"/>
                  </a:schemeClr>
                </a:solidFill>
                <a:ea typeface="微软雅黑" panose="020B0503020204020204" pitchFamily="34" charset="-122"/>
                <a:sym typeface="+mn-ea"/>
              </a:rPr>
              <a:t>此部分内容作为文字排版占位显示（建议使用主题字体）</a:t>
            </a:r>
          </a:p>
        </p:txBody>
      </p:sp>
      <p:sp>
        <p:nvSpPr>
          <p:cNvPr id="75" name="文本框 74"/>
          <p:cNvSpPr txBox="1"/>
          <p:nvPr/>
        </p:nvSpPr>
        <p:spPr>
          <a:xfrm>
            <a:off x="7568565" y="4924425"/>
            <a:ext cx="1988820" cy="755015"/>
          </a:xfrm>
          <a:prstGeom prst="rect">
            <a:avLst/>
          </a:prstGeom>
          <a:noFill/>
        </p:spPr>
        <p:txBody>
          <a:bodyPr wrap="square" rtlCol="0" anchor="t">
            <a:spAutoFit/>
          </a:bodyPr>
          <a:lstStyle/>
          <a:p>
            <a:pPr algn="ctr">
              <a:lnSpc>
                <a:spcPct val="120000"/>
              </a:lnSpc>
              <a:defRPr/>
            </a:pPr>
            <a:r>
              <a:rPr lang="zh-CN" altLang="en-US" sz="1200" dirty="0">
                <a:solidFill>
                  <a:schemeClr val="tx1">
                    <a:lumMod val="85000"/>
                    <a:lumOff val="15000"/>
                  </a:schemeClr>
                </a:solidFill>
                <a:ea typeface="微软雅黑" panose="020B0503020204020204" pitchFamily="34" charset="-122"/>
                <a:sym typeface="+mn-ea"/>
              </a:rPr>
              <a:t>此部分内容作为文字排版占位显示（建议使用主题字体）</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2" presetClass="entr" presetSubtype="4" fill="hold" nodeType="afterEffect">
                                  <p:stCondLst>
                                    <p:cond delay="0"/>
                                  </p:stCondLst>
                                  <p:childTnLst>
                                    <p:set>
                                      <p:cBhvr>
                                        <p:cTn id="20" dur="1" fill="hold">
                                          <p:stCondLst>
                                            <p:cond delay="0"/>
                                          </p:stCondLst>
                                        </p:cTn>
                                        <p:tgtEl>
                                          <p:spTgt spid="70"/>
                                        </p:tgtEl>
                                        <p:attrNameLst>
                                          <p:attrName>style.visibility</p:attrName>
                                        </p:attrNameLst>
                                      </p:cBhvr>
                                      <p:to>
                                        <p:strVal val="visible"/>
                                      </p:to>
                                    </p:set>
                                    <p:animEffect transition="in" filter="wipe(down)">
                                      <p:cBhvr>
                                        <p:cTn id="21" dur="500"/>
                                        <p:tgtEl>
                                          <p:spTgt spid="70"/>
                                        </p:tgtEl>
                                      </p:cBhvr>
                                    </p:animEffect>
                                  </p:childTnLst>
                                </p:cTn>
                              </p:par>
                            </p:childTnLst>
                          </p:cTn>
                        </p:par>
                        <p:par>
                          <p:cTn id="22" fill="hold">
                            <p:stCondLst>
                              <p:cond delay="2000"/>
                            </p:stCondLst>
                            <p:childTnLst>
                              <p:par>
                                <p:cTn id="23" presetID="16" presetClass="entr" presetSubtype="21" fill="hold" grpId="0" nodeType="afterEffect">
                                  <p:stCondLst>
                                    <p:cond delay="0"/>
                                  </p:stCondLst>
                                  <p:childTnLst>
                                    <p:set>
                                      <p:cBhvr>
                                        <p:cTn id="24" dur="1" fill="hold">
                                          <p:stCondLst>
                                            <p:cond delay="0"/>
                                          </p:stCondLst>
                                        </p:cTn>
                                        <p:tgtEl>
                                          <p:spTgt spid="71"/>
                                        </p:tgtEl>
                                        <p:attrNameLst>
                                          <p:attrName>style.visibility</p:attrName>
                                        </p:attrNameLst>
                                      </p:cBhvr>
                                      <p:to>
                                        <p:strVal val="visible"/>
                                      </p:to>
                                    </p:set>
                                    <p:animEffect transition="in" filter="barn(inVertical)">
                                      <p:cBhvr>
                                        <p:cTn id="25" dur="500"/>
                                        <p:tgtEl>
                                          <p:spTgt spid="71"/>
                                        </p:tgtEl>
                                      </p:cBhvr>
                                    </p:animEffect>
                                  </p:childTnLst>
                                </p:cTn>
                              </p:par>
                            </p:childTnLst>
                          </p:cTn>
                        </p:par>
                        <p:par>
                          <p:cTn id="26" fill="hold">
                            <p:stCondLst>
                              <p:cond delay="2500"/>
                            </p:stCondLst>
                            <p:childTnLst>
                              <p:par>
                                <p:cTn id="27" presetID="16" presetClass="entr" presetSubtype="21" fill="hold" grpId="0" nodeType="afterEffect">
                                  <p:stCondLst>
                                    <p:cond delay="0"/>
                                  </p:stCondLst>
                                  <p:childTnLst>
                                    <p:set>
                                      <p:cBhvr>
                                        <p:cTn id="28" dur="1" fill="hold">
                                          <p:stCondLst>
                                            <p:cond delay="0"/>
                                          </p:stCondLst>
                                        </p:cTn>
                                        <p:tgtEl>
                                          <p:spTgt spid="72"/>
                                        </p:tgtEl>
                                        <p:attrNameLst>
                                          <p:attrName>style.visibility</p:attrName>
                                        </p:attrNameLst>
                                      </p:cBhvr>
                                      <p:to>
                                        <p:strVal val="visible"/>
                                      </p:to>
                                    </p:set>
                                    <p:animEffect transition="in" filter="barn(inVertical)">
                                      <p:cBhvr>
                                        <p:cTn id="29" dur="500"/>
                                        <p:tgtEl>
                                          <p:spTgt spid="72"/>
                                        </p:tgtEl>
                                      </p:cBhvr>
                                    </p:animEffect>
                                  </p:childTnLst>
                                </p:cTn>
                              </p:par>
                            </p:childTnLst>
                          </p:cTn>
                        </p:par>
                        <p:par>
                          <p:cTn id="30" fill="hold">
                            <p:stCondLst>
                              <p:cond delay="3000"/>
                            </p:stCondLst>
                            <p:childTnLst>
                              <p:par>
                                <p:cTn id="31" presetID="16" presetClass="entr" presetSubtype="21" fill="hold" grpId="0" nodeType="afterEffect">
                                  <p:stCondLst>
                                    <p:cond delay="0"/>
                                  </p:stCondLst>
                                  <p:childTnLst>
                                    <p:set>
                                      <p:cBhvr>
                                        <p:cTn id="32" dur="1" fill="hold">
                                          <p:stCondLst>
                                            <p:cond delay="0"/>
                                          </p:stCondLst>
                                        </p:cTn>
                                        <p:tgtEl>
                                          <p:spTgt spid="73"/>
                                        </p:tgtEl>
                                        <p:attrNameLst>
                                          <p:attrName>style.visibility</p:attrName>
                                        </p:attrNameLst>
                                      </p:cBhvr>
                                      <p:to>
                                        <p:strVal val="visible"/>
                                      </p:to>
                                    </p:set>
                                    <p:animEffect transition="in" filter="barn(inVertical)">
                                      <p:cBhvr>
                                        <p:cTn id="33" dur="500"/>
                                        <p:tgtEl>
                                          <p:spTgt spid="73"/>
                                        </p:tgtEl>
                                      </p:cBhvr>
                                    </p:animEffect>
                                  </p:childTnLst>
                                </p:cTn>
                              </p:par>
                            </p:childTnLst>
                          </p:cTn>
                        </p:par>
                        <p:par>
                          <p:cTn id="34" fill="hold">
                            <p:stCondLst>
                              <p:cond delay="3500"/>
                            </p:stCondLst>
                            <p:childTnLst>
                              <p:par>
                                <p:cTn id="35" presetID="16" presetClass="entr" presetSubtype="21" fill="hold" grpId="0" nodeType="afterEffect">
                                  <p:stCondLst>
                                    <p:cond delay="0"/>
                                  </p:stCondLst>
                                  <p:childTnLst>
                                    <p:set>
                                      <p:cBhvr>
                                        <p:cTn id="36" dur="1" fill="hold">
                                          <p:stCondLst>
                                            <p:cond delay="0"/>
                                          </p:stCondLst>
                                        </p:cTn>
                                        <p:tgtEl>
                                          <p:spTgt spid="74"/>
                                        </p:tgtEl>
                                        <p:attrNameLst>
                                          <p:attrName>style.visibility</p:attrName>
                                        </p:attrNameLst>
                                      </p:cBhvr>
                                      <p:to>
                                        <p:strVal val="visible"/>
                                      </p:to>
                                    </p:set>
                                    <p:animEffect transition="in" filter="barn(inVertical)">
                                      <p:cBhvr>
                                        <p:cTn id="37" dur="500"/>
                                        <p:tgtEl>
                                          <p:spTgt spid="74"/>
                                        </p:tgtEl>
                                      </p:cBhvr>
                                    </p:animEffect>
                                  </p:childTnLst>
                                </p:cTn>
                              </p:par>
                            </p:childTnLst>
                          </p:cTn>
                        </p:par>
                        <p:par>
                          <p:cTn id="38" fill="hold">
                            <p:stCondLst>
                              <p:cond delay="4000"/>
                            </p:stCondLst>
                            <p:childTnLst>
                              <p:par>
                                <p:cTn id="39" presetID="16" presetClass="entr" presetSubtype="21" fill="hold" grpId="0" nodeType="after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barn(inVertical)">
                                      <p:cBhvr>
                                        <p:cTn id="41"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71" grpId="0"/>
      <p:bldP spid="72" grpId="0"/>
      <p:bldP spid="73" grpId="0"/>
      <p:bldP spid="74" grpId="0"/>
      <p:bldP spid="7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4384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dirty="0">
                <a:sym typeface="+mn-ea"/>
              </a:rPr>
              <a:t>审计报告意见类型</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Group 22"/>
          <p:cNvGrpSpPr/>
          <p:nvPr/>
        </p:nvGrpSpPr>
        <p:grpSpPr>
          <a:xfrm>
            <a:off x="930403" y="1269429"/>
            <a:ext cx="7307335" cy="4821800"/>
            <a:chOff x="1700421" y="1195378"/>
            <a:chExt cx="4014587" cy="3429024"/>
          </a:xfrm>
        </p:grpSpPr>
        <p:sp>
          <p:nvSpPr>
            <p:cNvPr id="2" name="Rectangle 9"/>
            <p:cNvSpPr/>
            <p:nvPr/>
          </p:nvSpPr>
          <p:spPr>
            <a:xfrm>
              <a:off x="3786182" y="1195378"/>
              <a:ext cx="1928826" cy="1733564"/>
            </a:xfrm>
            <a:prstGeom prst="rect">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Rectangle 10"/>
            <p:cNvSpPr/>
            <p:nvPr/>
          </p:nvSpPr>
          <p:spPr>
            <a:xfrm>
              <a:off x="1700421" y="3000378"/>
              <a:ext cx="4014587" cy="1624024"/>
            </a:xfrm>
            <a:prstGeom prst="rect">
              <a:avLst/>
            </a:prstGeom>
            <a:blipFill dpi="0" rotWithShape="1">
              <a:blip r:embed="rId3"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atin typeface="Arial" panose="020B0604020202020204" pitchFamily="34" charset="0"/>
                <a:ea typeface="微软雅黑" panose="020B0503020204020204" pitchFamily="34" charset="-122"/>
                <a:sym typeface="Arial" panose="020B0604020202020204" pitchFamily="34" charset="0"/>
              </a:endParaRPr>
            </a:p>
          </p:txBody>
        </p:sp>
        <p:sp>
          <p:nvSpPr>
            <p:cNvPr id="14" name="Rectangle 13"/>
            <p:cNvSpPr/>
            <p:nvPr/>
          </p:nvSpPr>
          <p:spPr>
            <a:xfrm>
              <a:off x="3975709" y="1799593"/>
              <a:ext cx="1550001" cy="525188"/>
            </a:xfrm>
            <a:prstGeom prst="rect">
              <a:avLst/>
            </a:prstGeom>
          </p:spPr>
          <p:txBody>
            <a:bodyPr wrap="square" lIns="0" tIns="0" rIns="0" bIns="0">
              <a:spAutoFit/>
            </a:bodyPr>
            <a:lstStyle/>
            <a:p>
              <a:pPr algn="just">
                <a:lnSpc>
                  <a:spcPct val="150000"/>
                </a:lnSpc>
              </a:pP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四川长虹聘请的会计师事务所均为四川君和会计师事务所。 </a:t>
              </a:r>
            </a:p>
          </p:txBody>
        </p:sp>
      </p:grpSp>
      <p:grpSp>
        <p:nvGrpSpPr>
          <p:cNvPr id="24" name="Group 23"/>
          <p:cNvGrpSpPr/>
          <p:nvPr/>
        </p:nvGrpSpPr>
        <p:grpSpPr>
          <a:xfrm>
            <a:off x="8393358" y="1269428"/>
            <a:ext cx="3044806" cy="4821800"/>
            <a:chOff x="5786446" y="1214428"/>
            <a:chExt cx="1928826" cy="3429024"/>
          </a:xfrm>
        </p:grpSpPr>
        <p:sp>
          <p:nvSpPr>
            <p:cNvPr id="8" name="Rectangle 7"/>
            <p:cNvSpPr/>
            <p:nvPr/>
          </p:nvSpPr>
          <p:spPr>
            <a:xfrm>
              <a:off x="5786446" y="1214428"/>
              <a:ext cx="1928826" cy="1143008"/>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Rectangle 8"/>
            <p:cNvSpPr/>
            <p:nvPr/>
          </p:nvSpPr>
          <p:spPr>
            <a:xfrm>
              <a:off x="5786446" y="2428874"/>
              <a:ext cx="1928826" cy="2214578"/>
            </a:xfrm>
            <a:prstGeom prst="rect">
              <a:avLst/>
            </a:prstGeom>
            <a:blipFill dpi="0" rotWithShape="1">
              <a:blip r:embed="rId4"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atin typeface="Arial" panose="020B0604020202020204" pitchFamily="34" charset="0"/>
                <a:ea typeface="微软雅黑" panose="020B0503020204020204" pitchFamily="34" charset="-122"/>
                <a:sym typeface="Arial" panose="020B0604020202020204" pitchFamily="34" charset="0"/>
              </a:endParaRPr>
            </a:p>
          </p:txBody>
        </p:sp>
        <p:sp>
          <p:nvSpPr>
            <p:cNvPr id="16" name="Rectangle 15"/>
            <p:cNvSpPr/>
            <p:nvPr/>
          </p:nvSpPr>
          <p:spPr>
            <a:xfrm>
              <a:off x="5924019" y="1348999"/>
              <a:ext cx="1705584" cy="918966"/>
            </a:xfrm>
            <a:prstGeom prst="rect">
              <a:avLst/>
            </a:prstGeom>
          </p:spPr>
          <p:txBody>
            <a:bodyPr wrap="square" lIns="0" tIns="0" rIns="0" bIns="0">
              <a:spAutoFit/>
            </a:bodyPr>
            <a:lstStyle/>
            <a:p>
              <a:pPr algn="just">
                <a:lnSpc>
                  <a:spcPct val="150000"/>
                </a:lnSpc>
              </a:pPr>
              <a:r>
                <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四川君和会计师事务所的注册会计师对四川长虹公司</a:t>
              </a:r>
              <a:r>
                <a:rPr lang="en-US" altLang="zh-CN"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2016</a:t>
              </a:r>
              <a:r>
                <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年年报均出具了无保留意见的审计报告</a:t>
              </a:r>
            </a:p>
          </p:txBody>
        </p:sp>
      </p:grpSp>
      <p:sp>
        <p:nvSpPr>
          <p:cNvPr id="13" name="Rectangle 12"/>
          <p:cNvSpPr/>
          <p:nvPr/>
        </p:nvSpPr>
        <p:spPr>
          <a:xfrm>
            <a:off x="930403" y="1269428"/>
            <a:ext cx="3640872" cy="2437688"/>
          </a:xfrm>
          <a:prstGeom prst="rect">
            <a:avLst/>
          </a:prstGeom>
          <a:blipFill dpi="0" rotWithShape="1">
            <a:blip r:embed="rId5"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12" presetClass="entr" presetSubtype="1"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slide(fromTop)">
                                      <p:cBhvr>
                                        <p:cTn id="21" dur="500"/>
                                        <p:tgtEl>
                                          <p:spTgt spid="23"/>
                                        </p:tgtEl>
                                      </p:cBhvr>
                                    </p:animEffect>
                                  </p:childTnLst>
                                </p:cTn>
                              </p:par>
                            </p:childTnLst>
                          </p:cTn>
                        </p:par>
                        <p:par>
                          <p:cTn id="22" fill="hold">
                            <p:stCondLst>
                              <p:cond delay="2000"/>
                            </p:stCondLst>
                            <p:childTnLst>
                              <p:par>
                                <p:cTn id="23" presetID="12" presetClass="entr" presetSubtype="1"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slide(fromTop)">
                                      <p:cBhvr>
                                        <p:cTn id="25" dur="500"/>
                                        <p:tgtEl>
                                          <p:spTgt spid="24"/>
                                        </p:tgtEl>
                                      </p:cBhvr>
                                    </p:animEffect>
                                  </p:childTnLst>
                                </p:cTn>
                              </p:par>
                            </p:childTnLst>
                          </p:cTn>
                        </p:par>
                        <p:par>
                          <p:cTn id="26" fill="hold">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1"/>
          <p:cNvGrpSpPr/>
          <p:nvPr/>
        </p:nvGrpSpPr>
        <p:grpSpPr>
          <a:xfrm>
            <a:off x="5455723" y="2948947"/>
            <a:ext cx="1349663" cy="1248139"/>
            <a:chOff x="5359953" y="1203598"/>
            <a:chExt cx="1012247" cy="936104"/>
          </a:xfrm>
        </p:grpSpPr>
        <p:sp>
          <p:nvSpPr>
            <p:cNvPr id="11" name="椭圆 10"/>
            <p:cNvSpPr/>
            <p:nvPr/>
          </p:nvSpPr>
          <p:spPr>
            <a:xfrm>
              <a:off x="5364088" y="1203598"/>
              <a:ext cx="936104" cy="936104"/>
            </a:xfrm>
            <a:prstGeom prst="ellips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文本框 12"/>
            <p:cNvSpPr txBox="1"/>
            <p:nvPr/>
          </p:nvSpPr>
          <p:spPr>
            <a:xfrm>
              <a:off x="5359953" y="1324929"/>
              <a:ext cx="1012247" cy="741521"/>
            </a:xfrm>
            <a:prstGeom prst="rect">
              <a:avLst/>
            </a:prstGeom>
            <a:noFill/>
          </p:spPr>
          <p:txBody>
            <a:bodyPr wrap="square" lIns="86697" tIns="43348" rIns="86697" bIns="43348" rtlCol="0">
              <a:spAutoFit/>
            </a:bodyPr>
            <a:lstStyle/>
            <a:p>
              <a:pPr algn="ctr"/>
              <a:r>
                <a:rPr lang="en-US" altLang="zh-CN" sz="5865" b="1"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02</a:t>
              </a:r>
              <a:endParaRPr lang="zh-CN" altLang="en-US" sz="5865" b="1"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grpSp>
      <p:sp>
        <p:nvSpPr>
          <p:cNvPr id="21" name="矩形 20"/>
          <p:cNvSpPr/>
          <p:nvPr/>
        </p:nvSpPr>
        <p:spPr>
          <a:xfrm>
            <a:off x="6943090" y="2911475"/>
            <a:ext cx="3945255" cy="615315"/>
          </a:xfrm>
          <a:prstGeom prst="rect">
            <a:avLst/>
          </a:prstGeom>
        </p:spPr>
        <p:txBody>
          <a:bodyPr wrap="square" lIns="0" tIns="0" rIns="0" bIns="0">
            <a:spAutoFit/>
          </a:bodyPr>
          <a:lstStyle/>
          <a:p>
            <a:pPr algn="ct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财务比率分析</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22" name="TextBox 11"/>
          <p:cNvSpPr txBox="1"/>
          <p:nvPr/>
        </p:nvSpPr>
        <p:spPr>
          <a:xfrm>
            <a:off x="7038340" y="3657600"/>
            <a:ext cx="1544955" cy="245745"/>
          </a:xfrm>
          <a:prstGeom prst="rect">
            <a:avLst/>
          </a:prstGeom>
          <a:noFill/>
        </p:spPr>
        <p:txBody>
          <a:bodyPr wrap="square" lIns="0" tIns="0" rIns="0" bIns="0" rtlCol="0">
            <a:spAutoFit/>
          </a:bodyPr>
          <a:lstStyle/>
          <a:p>
            <a:pPr indent="0" algn="just">
              <a:buFont typeface="Arial" panose="020B0604020202020204" pitchFamily="34" charset="0"/>
              <a:buChar char="•"/>
            </a:pPr>
            <a:r>
              <a:rPr lang="en-US" altLang="zh-CN" sz="160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600" dirty="0">
                <a:sym typeface="+mn-ea"/>
              </a:rPr>
              <a:t>营运能力分析</a:t>
            </a:r>
            <a:endParaRPr lang="zh-CN" altLang="en-US" sz="16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3" name="TextBox 11"/>
          <p:cNvSpPr txBox="1"/>
          <p:nvPr/>
        </p:nvSpPr>
        <p:spPr>
          <a:xfrm>
            <a:off x="9131935" y="3657600"/>
            <a:ext cx="1626870" cy="245745"/>
          </a:xfrm>
          <a:prstGeom prst="rect">
            <a:avLst/>
          </a:prstGeom>
          <a:noFill/>
        </p:spPr>
        <p:txBody>
          <a:bodyPr wrap="square" lIns="0" tIns="0" rIns="0" bIns="0" rtlCol="0">
            <a:spAutoFit/>
          </a:bodyPr>
          <a:lstStyle/>
          <a:p>
            <a:pPr marL="121920" lvl="1" indent="-121920" algn="l">
              <a:buFont typeface="Arial" panose="020B0604020202020204" pitchFamily="34" charset="0"/>
              <a:buChar char="•"/>
            </a:pPr>
            <a:r>
              <a:rPr lang="zh-CN" altLang="en-US" sz="1600" dirty="0">
                <a:sym typeface="+mn-ea"/>
              </a:rPr>
              <a:t>盈利能力分析</a:t>
            </a:r>
            <a:endParaRPr lang="en-US" altLang="zh-CN"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TextBox 11"/>
          <p:cNvSpPr txBox="1"/>
          <p:nvPr/>
        </p:nvSpPr>
        <p:spPr>
          <a:xfrm>
            <a:off x="7039539" y="3971383"/>
            <a:ext cx="1757045" cy="245745"/>
          </a:xfrm>
          <a:prstGeom prst="rect">
            <a:avLst/>
          </a:prstGeom>
          <a:noFill/>
        </p:spPr>
        <p:txBody>
          <a:bodyPr wrap="none" lIns="0" tIns="0" rIns="0" bIns="0" rtlCol="0">
            <a:spAutoFit/>
          </a:bodyPr>
          <a:lstStyle/>
          <a:p>
            <a:pPr indent="0" algn="just">
              <a:buFont typeface="Arial" panose="020B0604020202020204" pitchFamily="34" charset="0"/>
              <a:buChar char="•"/>
            </a:pPr>
            <a:r>
              <a:rPr lang="en-US" altLang="zh-CN" sz="1600">
                <a:latin typeface="微软雅黑" panose="020B0503020204020204" pitchFamily="34" charset="-122"/>
                <a:ea typeface="微软雅黑" panose="020B0503020204020204" pitchFamily="34" charset="-122"/>
              </a:rPr>
              <a:t> </a:t>
            </a:r>
            <a:r>
              <a:rPr lang="zh-CN" altLang="en-US" sz="1600" dirty="0">
                <a:sym typeface="+mn-ea"/>
              </a:rPr>
              <a:t>长期偿债能力分析</a:t>
            </a:r>
            <a:endParaRPr lang="zh-CN" altLang="en-US" sz="1600">
              <a:solidFill>
                <a:schemeClr val="bg1">
                  <a:lumMod val="50000"/>
                </a:schemeClr>
              </a:solidFill>
              <a:latin typeface="微软雅黑" panose="020B0503020204020204" pitchFamily="34" charset="-122"/>
              <a:ea typeface="微软雅黑" panose="020B0503020204020204" pitchFamily="34" charset="-122"/>
            </a:endParaRPr>
          </a:p>
        </p:txBody>
      </p:sp>
      <p:sp>
        <p:nvSpPr>
          <p:cNvPr id="25" name="TextBox 11"/>
          <p:cNvSpPr txBox="1"/>
          <p:nvPr/>
        </p:nvSpPr>
        <p:spPr>
          <a:xfrm>
            <a:off x="9132007" y="3971383"/>
            <a:ext cx="1757045" cy="245745"/>
          </a:xfrm>
          <a:prstGeom prst="rect">
            <a:avLst/>
          </a:prstGeom>
          <a:noFill/>
        </p:spPr>
        <p:txBody>
          <a:bodyPr wrap="none" lIns="0" tIns="0" rIns="0" bIns="0" rtlCol="0">
            <a:spAutoFit/>
          </a:bodyPr>
          <a:lstStyle/>
          <a:p>
            <a:pPr indent="0" algn="just">
              <a:buFont typeface="Arial" panose="020B0604020202020204" pitchFamily="34" charset="0"/>
              <a:buChar char="•"/>
            </a:pPr>
            <a:r>
              <a:rPr lang="en-US" altLang="zh-CN" sz="1600">
                <a:latin typeface="微软雅黑" panose="020B0503020204020204" pitchFamily="34" charset="-122"/>
                <a:ea typeface="微软雅黑" panose="020B0503020204020204" pitchFamily="34" charset="-122"/>
              </a:rPr>
              <a:t> </a:t>
            </a:r>
            <a:r>
              <a:rPr lang="zh-CN" altLang="en-US" sz="1600" dirty="0">
                <a:sym typeface="+mn-ea"/>
              </a:rPr>
              <a:t>短期偿债能力分析</a:t>
            </a:r>
            <a:endParaRPr lang="zh-CN" altLang="en-US" sz="1600">
              <a:solidFill>
                <a:schemeClr val="bg1">
                  <a:lumMod val="50000"/>
                </a:schemeClr>
              </a:solidFill>
              <a:latin typeface="微软雅黑" panose="020B0503020204020204" pitchFamily="34" charset="-122"/>
              <a:ea typeface="微软雅黑" panose="020B0503020204020204" pitchFamily="34" charset="-122"/>
            </a:endParaRPr>
          </a:p>
        </p:txBody>
      </p:sp>
      <p:pic>
        <p:nvPicPr>
          <p:cNvPr id="14" name="Picture 2" descr="C:\Users\Administrator\Desktop\1057523b4226046.png"/>
          <p:cNvPicPr>
            <a:picLocks noChangeAspect="1" noChangeArrowheads="1"/>
          </p:cNvPicPr>
          <p:nvPr/>
        </p:nvPicPr>
        <p:blipFill>
          <a:blip r:embed="rId3" cstate="print"/>
          <a:srcRect/>
          <a:stretch>
            <a:fillRect/>
          </a:stretch>
        </p:blipFill>
        <p:spPr bwMode="auto">
          <a:xfrm>
            <a:off x="527381" y="1220755"/>
            <a:ext cx="5001253" cy="4416491"/>
          </a:xfrm>
          <a:prstGeom prst="rect">
            <a:avLst/>
          </a:prstGeom>
          <a:noFill/>
        </p:spPr>
      </p:pic>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3" presetClass="entr" presetSubtype="32"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strVal val="4*#ppt_w"/>
                                          </p:val>
                                        </p:tav>
                                        <p:tav tm="100000">
                                          <p:val>
                                            <p:strVal val="#ppt_w"/>
                                          </p:val>
                                        </p:tav>
                                      </p:tavLst>
                                    </p:anim>
                                    <p:anim calcmode="lin" valueType="num">
                                      <p:cBhvr>
                                        <p:cTn id="20" dur="500" fill="hold"/>
                                        <p:tgtEl>
                                          <p:spTgt spid="21"/>
                                        </p:tgtEl>
                                        <p:attrNameLst>
                                          <p:attrName>ppt_h</p:attrName>
                                        </p:attrNameLst>
                                      </p:cBhvr>
                                      <p:tavLst>
                                        <p:tav tm="0">
                                          <p:val>
                                            <p:strVal val="4*#ppt_h"/>
                                          </p:val>
                                        </p:tav>
                                        <p:tav tm="100000">
                                          <p:val>
                                            <p:strVal val="#ppt_h"/>
                                          </p:val>
                                        </p:tav>
                                      </p:tavLst>
                                    </p:anim>
                                  </p:childTnLst>
                                </p:cTn>
                              </p:par>
                            </p:childTnLst>
                          </p:cTn>
                        </p:par>
                        <p:par>
                          <p:cTn id="21" fill="hold">
                            <p:stCondLst>
                              <p:cond delay="2500"/>
                            </p:stCondLst>
                            <p:childTnLst>
                              <p:par>
                                <p:cTn id="22" presetID="12" presetClass="entr" presetSubtype="8"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p:tgtEl>
                                          <p:spTgt spid="22"/>
                                        </p:tgtEl>
                                        <p:attrNameLst>
                                          <p:attrName>ppt_x</p:attrName>
                                        </p:attrNameLst>
                                      </p:cBhvr>
                                      <p:tavLst>
                                        <p:tav tm="0">
                                          <p:val>
                                            <p:strVal val="#ppt_x-#ppt_w*1.125000"/>
                                          </p:val>
                                        </p:tav>
                                        <p:tav tm="100000">
                                          <p:val>
                                            <p:strVal val="#ppt_x"/>
                                          </p:val>
                                        </p:tav>
                                      </p:tavLst>
                                    </p:anim>
                                    <p:animEffect transition="in" filter="wipe(right)">
                                      <p:cBhvr>
                                        <p:cTn id="25" dur="500"/>
                                        <p:tgtEl>
                                          <p:spTgt spid="22"/>
                                        </p:tgtEl>
                                      </p:cBhvr>
                                    </p:animEffect>
                                  </p:childTnLst>
                                </p:cTn>
                              </p:par>
                            </p:childTnLst>
                          </p:cTn>
                        </p:par>
                        <p:par>
                          <p:cTn id="26" fill="hold">
                            <p:stCondLst>
                              <p:cond delay="3000"/>
                            </p:stCondLst>
                            <p:childTnLst>
                              <p:par>
                                <p:cTn id="27" presetID="12" presetClass="entr" presetSubtype="8"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p:tgtEl>
                                          <p:spTgt spid="23"/>
                                        </p:tgtEl>
                                        <p:attrNameLst>
                                          <p:attrName>ppt_x</p:attrName>
                                        </p:attrNameLst>
                                      </p:cBhvr>
                                      <p:tavLst>
                                        <p:tav tm="0">
                                          <p:val>
                                            <p:strVal val="#ppt_x-#ppt_w*1.125000"/>
                                          </p:val>
                                        </p:tav>
                                        <p:tav tm="100000">
                                          <p:val>
                                            <p:strVal val="#ppt_x"/>
                                          </p:val>
                                        </p:tav>
                                      </p:tavLst>
                                    </p:anim>
                                    <p:animEffect transition="in" filter="wipe(right)">
                                      <p:cBhvr>
                                        <p:cTn id="30" dur="500"/>
                                        <p:tgtEl>
                                          <p:spTgt spid="23"/>
                                        </p:tgtEl>
                                      </p:cBhvr>
                                    </p:animEffect>
                                  </p:childTnLst>
                                </p:cTn>
                              </p:par>
                            </p:childTnLst>
                          </p:cTn>
                        </p:par>
                        <p:par>
                          <p:cTn id="31" fill="hold">
                            <p:stCondLst>
                              <p:cond delay="3500"/>
                            </p:stCondLst>
                            <p:childTnLst>
                              <p:par>
                                <p:cTn id="32" presetID="12" presetClass="entr" presetSubtype="8"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p:tgtEl>
                                          <p:spTgt spid="24"/>
                                        </p:tgtEl>
                                        <p:attrNameLst>
                                          <p:attrName>ppt_x</p:attrName>
                                        </p:attrNameLst>
                                      </p:cBhvr>
                                      <p:tavLst>
                                        <p:tav tm="0">
                                          <p:val>
                                            <p:strVal val="#ppt_x-#ppt_w*1.125000"/>
                                          </p:val>
                                        </p:tav>
                                        <p:tav tm="100000">
                                          <p:val>
                                            <p:strVal val="#ppt_x"/>
                                          </p:val>
                                        </p:tav>
                                      </p:tavLst>
                                    </p:anim>
                                    <p:animEffect transition="in" filter="wipe(right)">
                                      <p:cBhvr>
                                        <p:cTn id="35" dur="500"/>
                                        <p:tgtEl>
                                          <p:spTgt spid="24"/>
                                        </p:tgtEl>
                                      </p:cBhvr>
                                    </p:animEffect>
                                  </p:childTnLst>
                                </p:cTn>
                              </p:par>
                            </p:childTnLst>
                          </p:cTn>
                        </p:par>
                        <p:par>
                          <p:cTn id="36" fill="hold">
                            <p:stCondLst>
                              <p:cond delay="4000"/>
                            </p:stCondLst>
                            <p:childTnLst>
                              <p:par>
                                <p:cTn id="37" presetID="12" presetClass="entr" presetSubtype="8"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p:tgtEl>
                                          <p:spTgt spid="25"/>
                                        </p:tgtEl>
                                        <p:attrNameLst>
                                          <p:attrName>ppt_x</p:attrName>
                                        </p:attrNameLst>
                                      </p:cBhvr>
                                      <p:tavLst>
                                        <p:tav tm="0">
                                          <p:val>
                                            <p:strVal val="#ppt_x-#ppt_w*1.125000"/>
                                          </p:val>
                                        </p:tav>
                                        <p:tav tm="100000">
                                          <p:val>
                                            <p:strVal val="#ppt_x"/>
                                          </p:val>
                                        </p:tav>
                                      </p:tavLst>
                                    </p:anim>
                                    <p:animEffect transition="in" filter="wipe(right)">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18288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dirty="0">
                <a:sym typeface="+mn-ea"/>
              </a:rPr>
              <a:t>营运能力分析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p:cNvGrpSpPr/>
          <p:nvPr/>
        </p:nvGrpSpPr>
        <p:grpSpPr>
          <a:xfrm>
            <a:off x="-965835" y="1521460"/>
            <a:ext cx="9330690" cy="4720590"/>
            <a:chOff x="-1329" y="2324"/>
            <a:chExt cx="14694" cy="7434"/>
          </a:xfrm>
        </p:grpSpPr>
        <p:sp>
          <p:nvSpPr>
            <p:cNvPr id="15" name="矩形 14"/>
            <p:cNvSpPr/>
            <p:nvPr/>
          </p:nvSpPr>
          <p:spPr>
            <a:xfrm>
              <a:off x="1261" y="2324"/>
              <a:ext cx="8926" cy="689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Object 5"/>
            <p:cNvGraphicFramePr>
              <a:graphicFrameLocks noChangeAspect="1"/>
            </p:cNvGraphicFramePr>
            <p:nvPr/>
          </p:nvGraphicFramePr>
          <p:xfrm>
            <a:off x="-1329" y="2328"/>
            <a:ext cx="14695" cy="7431"/>
          </p:xfrm>
          <a:graphic>
            <a:graphicData uri="http://schemas.openxmlformats.org/presentationml/2006/ole">
              <mc:AlternateContent xmlns:mc="http://schemas.openxmlformats.org/markup-compatibility/2006">
                <mc:Choice xmlns:v="urn:schemas-microsoft-com:vml" Requires="v">
                  <p:oleObj spid="_x0000_s1028" name="Document" r:id="rId5" imgW="6219825" imgH="3228975" progId="Word.Document.8">
                    <p:embed/>
                  </p:oleObj>
                </mc:Choice>
                <mc:Fallback>
                  <p:oleObj name="Document" r:id="rId5" imgW="6219825" imgH="3228975" progId="Word.Document.8">
                    <p:embed/>
                    <p:pic>
                      <p:nvPicPr>
                        <p:cNvPr id="0" name="Object 5"/>
                        <p:cNvPicPr>
                          <a:picLocks noChangeAspect="1" noChangeArrowheads="1"/>
                        </p:cNvPicPr>
                        <p:nvPr/>
                      </p:nvPicPr>
                      <p:blipFill>
                        <a:blip r:embed="rId6"/>
                        <a:srcRect/>
                        <a:stretch>
                          <a:fillRect/>
                        </a:stretch>
                      </p:blipFill>
                      <p:spPr bwMode="auto">
                        <a:xfrm>
                          <a:off x="-1329" y="2328"/>
                          <a:ext cx="14695" cy="7431"/>
                        </a:xfrm>
                        <a:prstGeom prst="rect">
                          <a:avLst/>
                        </a:prstGeom>
                        <a:noFill/>
                        <a:ln>
                          <a:noFill/>
                        </a:ln>
                        <a:effectLst/>
                      </p:spPr>
                    </p:pic>
                  </p:oleObj>
                </mc:Fallback>
              </mc:AlternateContent>
            </a:graphicData>
          </a:graphic>
        </p:graphicFrame>
      </p:grpSp>
      <p:grpSp>
        <p:nvGrpSpPr>
          <p:cNvPr id="18" name="组合 22"/>
          <p:cNvGrpSpPr/>
          <p:nvPr/>
        </p:nvGrpSpPr>
        <p:grpSpPr bwMode="auto">
          <a:xfrm>
            <a:off x="6898640" y="1628140"/>
            <a:ext cx="770890" cy="770890"/>
            <a:chOff x="0" y="0"/>
            <a:chExt cx="1403797" cy="1403797"/>
          </a:xfrm>
        </p:grpSpPr>
        <p:sp>
          <p:nvSpPr>
            <p:cNvPr id="19" name="椭圆 23"/>
            <p:cNvSpPr>
              <a:spLocks noChangeArrowheads="1"/>
            </p:cNvSpPr>
            <p:nvPr/>
          </p:nvSpPr>
          <p:spPr bwMode="auto">
            <a:xfrm>
              <a:off x="0" y="0"/>
              <a:ext cx="1403797" cy="1403797"/>
            </a:xfrm>
            <a:prstGeom prst="ellipse">
              <a:avLst/>
            </a:prstGeom>
            <a:solidFill>
              <a:schemeClr val="accent1"/>
            </a:solidFill>
            <a:ln>
              <a:noFill/>
            </a:ln>
            <a:extLst>
              <a:ext uri="{91240B29-F687-4F45-9708-019B960494DF}">
                <a14:hiddenLine xmlns:a14="http://schemas.microsoft.com/office/drawing/2010/main" w="12700">
                  <a:solidFill>
                    <a:srgbClr val="000000"/>
                  </a:solidFill>
                  <a:bevel/>
                </a14:hiddenLine>
              </a:ext>
            </a:extLst>
          </p:spPr>
          <p:txBody>
            <a:bodyPr anchor="ctr"/>
            <a:lstStyle>
              <a:lvl1pPr eaLnBrk="0" hangingPunct="0">
                <a:lnSpc>
                  <a:spcPct val="90000"/>
                </a:lnSpc>
                <a:spcBef>
                  <a:spcPts val="1000"/>
                </a:spcBef>
                <a:buChar char="•"/>
                <a:defRPr sz="28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9pPr>
            </a:lstStyle>
            <a:p>
              <a:pPr algn="ctr" eaLnBrk="1" fontAlgn="base" hangingPunct="1">
                <a:lnSpc>
                  <a:spcPct val="100000"/>
                </a:lnSpc>
                <a:spcBef>
                  <a:spcPct val="0"/>
                </a:spcBef>
                <a:spcAft>
                  <a:spcPct val="0"/>
                </a:spcAft>
                <a:buFont typeface="Arial" panose="020B0604020202020204" pitchFamily="34" charset="0"/>
                <a:buNone/>
              </a:pPr>
              <a:endParaRPr lang="zh-CN" altLang="zh-CN" sz="800" dirty="0">
                <a:solidFill>
                  <a:schemeClr val="bg1">
                    <a:lumMod val="50000"/>
                  </a:schemeClr>
                </a:solidFill>
                <a:latin typeface="+mn-ea"/>
                <a:ea typeface="+mn-ea"/>
                <a:sym typeface="方正兰亭黑_GBK" panose="02000000000000000000" pitchFamily="2" charset="-122"/>
              </a:endParaRPr>
            </a:p>
          </p:txBody>
        </p:sp>
        <p:grpSp>
          <p:nvGrpSpPr>
            <p:cNvPr id="20" name="组合 24"/>
            <p:cNvGrpSpPr/>
            <p:nvPr/>
          </p:nvGrpSpPr>
          <p:grpSpPr bwMode="auto">
            <a:xfrm>
              <a:off x="282958" y="324214"/>
              <a:ext cx="799244" cy="731504"/>
              <a:chOff x="0" y="0"/>
              <a:chExt cx="550987" cy="504288"/>
            </a:xfrm>
          </p:grpSpPr>
          <p:sp>
            <p:nvSpPr>
              <p:cNvPr id="21" name="Freeform 26"/>
              <p:cNvSpPr>
                <a:spLocks noEditPoints="1" noChangeArrowheads="1"/>
              </p:cNvSpPr>
              <p:nvPr/>
            </p:nvSpPr>
            <p:spPr bwMode="auto">
              <a:xfrm>
                <a:off x="0" y="0"/>
                <a:ext cx="357759" cy="359114"/>
              </a:xfrm>
              <a:custGeom>
                <a:avLst/>
                <a:gdLst>
                  <a:gd name="T0" fmla="*/ 2147483647 w 52"/>
                  <a:gd name="T1" fmla="*/ 1287720650 h 52"/>
                  <a:gd name="T2" fmla="*/ 2147483647 w 52"/>
                  <a:gd name="T3" fmla="*/ 1096948243 h 52"/>
                  <a:gd name="T4" fmla="*/ 2147483647 w 52"/>
                  <a:gd name="T5" fmla="*/ 953868938 h 52"/>
                  <a:gd name="T6" fmla="*/ 2147483647 w 52"/>
                  <a:gd name="T7" fmla="*/ 620017227 h 52"/>
                  <a:gd name="T8" fmla="*/ 2147483647 w 52"/>
                  <a:gd name="T9" fmla="*/ 572317219 h 52"/>
                  <a:gd name="T10" fmla="*/ 1893363828 w 52"/>
                  <a:gd name="T11" fmla="*/ 620017227 h 52"/>
                  <a:gd name="T12" fmla="*/ 2035366631 w 52"/>
                  <a:gd name="T13" fmla="*/ 333851711 h 52"/>
                  <a:gd name="T14" fmla="*/ 1751361025 w 52"/>
                  <a:gd name="T15" fmla="*/ 95386203 h 52"/>
                  <a:gd name="T16" fmla="*/ 1514689686 w 52"/>
                  <a:gd name="T17" fmla="*/ 333851711 h 52"/>
                  <a:gd name="T18" fmla="*/ 1372686883 w 52"/>
                  <a:gd name="T19" fmla="*/ 47693102 h 52"/>
                  <a:gd name="T20" fmla="*/ 1278018348 w 52"/>
                  <a:gd name="T21" fmla="*/ 0 h 52"/>
                  <a:gd name="T22" fmla="*/ 899351086 w 52"/>
                  <a:gd name="T23" fmla="*/ 95386203 h 52"/>
                  <a:gd name="T24" fmla="*/ 852016818 w 52"/>
                  <a:gd name="T25" fmla="*/ 429237915 h 52"/>
                  <a:gd name="T26" fmla="*/ 568011212 w 52"/>
                  <a:gd name="T27" fmla="*/ 190772406 h 52"/>
                  <a:gd name="T28" fmla="*/ 284005606 w 52"/>
                  <a:gd name="T29" fmla="*/ 476931016 h 52"/>
                  <a:gd name="T30" fmla="*/ 473342677 w 52"/>
                  <a:gd name="T31" fmla="*/ 715403430 h 52"/>
                  <a:gd name="T32" fmla="*/ 142002803 w 52"/>
                  <a:gd name="T33" fmla="*/ 763096532 h 52"/>
                  <a:gd name="T34" fmla="*/ 94668535 w 52"/>
                  <a:gd name="T35" fmla="*/ 810789634 h 52"/>
                  <a:gd name="T36" fmla="*/ 0 w 52"/>
                  <a:gd name="T37" fmla="*/ 1192334446 h 52"/>
                  <a:gd name="T38" fmla="*/ 331339874 w 52"/>
                  <a:gd name="T39" fmla="*/ 1287720650 h 52"/>
                  <a:gd name="T40" fmla="*/ 94668535 w 52"/>
                  <a:gd name="T41" fmla="*/ 1478493056 h 52"/>
                  <a:gd name="T42" fmla="*/ 189337071 w 52"/>
                  <a:gd name="T43" fmla="*/ 1860044775 h 52"/>
                  <a:gd name="T44" fmla="*/ 284005606 w 52"/>
                  <a:gd name="T45" fmla="*/ 1907737877 h 52"/>
                  <a:gd name="T46" fmla="*/ 568011212 w 52"/>
                  <a:gd name="T47" fmla="*/ 1907737877 h 52"/>
                  <a:gd name="T48" fmla="*/ 473342677 w 52"/>
                  <a:gd name="T49" fmla="*/ 2147483647 h 52"/>
                  <a:gd name="T50" fmla="*/ 804682551 w 52"/>
                  <a:gd name="T51" fmla="*/ 2147483647 h 52"/>
                  <a:gd name="T52" fmla="*/ 994019622 w 52"/>
                  <a:gd name="T53" fmla="*/ 2146203385 h 52"/>
                  <a:gd name="T54" fmla="*/ 1088688157 w 52"/>
                  <a:gd name="T55" fmla="*/ 2147483647 h 52"/>
                  <a:gd name="T56" fmla="*/ 1136022425 w 52"/>
                  <a:gd name="T57" fmla="*/ 2147483647 h 52"/>
                  <a:gd name="T58" fmla="*/ 1514689686 w 52"/>
                  <a:gd name="T59" fmla="*/ 2147483647 h 52"/>
                  <a:gd name="T60" fmla="*/ 1562023954 w 52"/>
                  <a:gd name="T61" fmla="*/ 2147483647 h 52"/>
                  <a:gd name="T62" fmla="*/ 1656692489 w 52"/>
                  <a:gd name="T63" fmla="*/ 2098510283 h 52"/>
                  <a:gd name="T64" fmla="*/ 1893363828 w 52"/>
                  <a:gd name="T65" fmla="*/ 2147483647 h 52"/>
                  <a:gd name="T66" fmla="*/ 2147483647 w 52"/>
                  <a:gd name="T67" fmla="*/ 2050817182 h 52"/>
                  <a:gd name="T68" fmla="*/ 2147483647 w 52"/>
                  <a:gd name="T69" fmla="*/ 1955430978 h 52"/>
                  <a:gd name="T70" fmla="*/ 2035366631 w 52"/>
                  <a:gd name="T71" fmla="*/ 1669265463 h 52"/>
                  <a:gd name="T72" fmla="*/ 2147483647 w 52"/>
                  <a:gd name="T73" fmla="*/ 1716958564 h 52"/>
                  <a:gd name="T74" fmla="*/ 2147483647 w 52"/>
                  <a:gd name="T75" fmla="*/ 1383106853 h 52"/>
                  <a:gd name="T76" fmla="*/ 1562023954 w 52"/>
                  <a:gd name="T77" fmla="*/ 1335413751 h 52"/>
                  <a:gd name="T78" fmla="*/ 899351086 w 52"/>
                  <a:gd name="T79" fmla="*/ 1192334446 h 52"/>
                  <a:gd name="T80" fmla="*/ 1562023954 w 52"/>
                  <a:gd name="T81" fmla="*/ 1335413751 h 5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2"/>
                  <a:gd name="T124" fmla="*/ 0 h 52"/>
                  <a:gd name="T125" fmla="*/ 52 w 52"/>
                  <a:gd name="T126" fmla="*/ 52 h 5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2" h="52">
                    <a:moveTo>
                      <a:pt x="52" y="27"/>
                    </a:moveTo>
                    <a:cubicBezTo>
                      <a:pt x="52" y="27"/>
                      <a:pt x="52" y="27"/>
                      <a:pt x="51" y="27"/>
                    </a:cubicBezTo>
                    <a:cubicBezTo>
                      <a:pt x="46" y="26"/>
                      <a:pt x="46" y="26"/>
                      <a:pt x="46" y="26"/>
                    </a:cubicBezTo>
                    <a:cubicBezTo>
                      <a:pt x="46" y="23"/>
                      <a:pt x="46" y="23"/>
                      <a:pt x="46" y="23"/>
                    </a:cubicBezTo>
                    <a:cubicBezTo>
                      <a:pt x="51" y="21"/>
                      <a:pt x="51" y="21"/>
                      <a:pt x="51" y="21"/>
                    </a:cubicBezTo>
                    <a:cubicBezTo>
                      <a:pt x="51" y="21"/>
                      <a:pt x="51" y="21"/>
                      <a:pt x="52" y="20"/>
                    </a:cubicBezTo>
                    <a:cubicBezTo>
                      <a:pt x="52" y="20"/>
                      <a:pt x="52" y="20"/>
                      <a:pt x="51" y="19"/>
                    </a:cubicBezTo>
                    <a:cubicBezTo>
                      <a:pt x="49" y="13"/>
                      <a:pt x="49" y="13"/>
                      <a:pt x="49" y="13"/>
                    </a:cubicBezTo>
                    <a:cubicBezTo>
                      <a:pt x="49" y="12"/>
                      <a:pt x="48" y="12"/>
                      <a:pt x="48" y="12"/>
                    </a:cubicBezTo>
                    <a:cubicBezTo>
                      <a:pt x="48" y="12"/>
                      <a:pt x="47" y="12"/>
                      <a:pt x="47" y="12"/>
                    </a:cubicBezTo>
                    <a:cubicBezTo>
                      <a:pt x="42" y="14"/>
                      <a:pt x="42" y="14"/>
                      <a:pt x="42" y="14"/>
                    </a:cubicBezTo>
                    <a:cubicBezTo>
                      <a:pt x="40" y="13"/>
                      <a:pt x="40" y="13"/>
                      <a:pt x="40" y="13"/>
                    </a:cubicBezTo>
                    <a:cubicBezTo>
                      <a:pt x="43" y="8"/>
                      <a:pt x="43" y="8"/>
                      <a:pt x="43" y="8"/>
                    </a:cubicBezTo>
                    <a:cubicBezTo>
                      <a:pt x="43" y="7"/>
                      <a:pt x="43" y="7"/>
                      <a:pt x="43" y="7"/>
                    </a:cubicBezTo>
                    <a:cubicBezTo>
                      <a:pt x="43" y="6"/>
                      <a:pt x="43" y="6"/>
                      <a:pt x="43" y="6"/>
                    </a:cubicBezTo>
                    <a:cubicBezTo>
                      <a:pt x="37" y="2"/>
                      <a:pt x="37" y="2"/>
                      <a:pt x="37" y="2"/>
                    </a:cubicBezTo>
                    <a:cubicBezTo>
                      <a:pt x="36" y="2"/>
                      <a:pt x="35" y="2"/>
                      <a:pt x="35" y="3"/>
                    </a:cubicBezTo>
                    <a:cubicBezTo>
                      <a:pt x="32" y="7"/>
                      <a:pt x="32" y="7"/>
                      <a:pt x="32" y="7"/>
                    </a:cubicBezTo>
                    <a:cubicBezTo>
                      <a:pt x="30" y="7"/>
                      <a:pt x="30" y="7"/>
                      <a:pt x="30" y="7"/>
                    </a:cubicBezTo>
                    <a:cubicBezTo>
                      <a:pt x="29" y="1"/>
                      <a:pt x="29" y="1"/>
                      <a:pt x="29" y="1"/>
                    </a:cubicBezTo>
                    <a:cubicBezTo>
                      <a:pt x="29" y="1"/>
                      <a:pt x="29" y="1"/>
                      <a:pt x="29" y="0"/>
                    </a:cubicBezTo>
                    <a:cubicBezTo>
                      <a:pt x="28" y="0"/>
                      <a:pt x="28" y="0"/>
                      <a:pt x="27" y="0"/>
                    </a:cubicBezTo>
                    <a:cubicBezTo>
                      <a:pt x="20" y="1"/>
                      <a:pt x="20" y="1"/>
                      <a:pt x="20" y="1"/>
                    </a:cubicBezTo>
                    <a:cubicBezTo>
                      <a:pt x="20" y="1"/>
                      <a:pt x="19" y="1"/>
                      <a:pt x="19" y="2"/>
                    </a:cubicBezTo>
                    <a:cubicBezTo>
                      <a:pt x="20" y="8"/>
                      <a:pt x="20" y="8"/>
                      <a:pt x="20" y="8"/>
                    </a:cubicBezTo>
                    <a:cubicBezTo>
                      <a:pt x="18" y="9"/>
                      <a:pt x="18" y="9"/>
                      <a:pt x="18" y="9"/>
                    </a:cubicBezTo>
                    <a:cubicBezTo>
                      <a:pt x="14" y="4"/>
                      <a:pt x="14" y="4"/>
                      <a:pt x="14" y="4"/>
                    </a:cubicBezTo>
                    <a:cubicBezTo>
                      <a:pt x="13" y="4"/>
                      <a:pt x="12" y="4"/>
                      <a:pt x="12" y="4"/>
                    </a:cubicBezTo>
                    <a:cubicBezTo>
                      <a:pt x="7" y="9"/>
                      <a:pt x="7" y="9"/>
                      <a:pt x="7" y="9"/>
                    </a:cubicBezTo>
                    <a:cubicBezTo>
                      <a:pt x="6" y="9"/>
                      <a:pt x="6" y="9"/>
                      <a:pt x="6" y="10"/>
                    </a:cubicBezTo>
                    <a:cubicBezTo>
                      <a:pt x="6" y="10"/>
                      <a:pt x="6" y="11"/>
                      <a:pt x="6" y="11"/>
                    </a:cubicBezTo>
                    <a:cubicBezTo>
                      <a:pt x="10" y="15"/>
                      <a:pt x="10" y="15"/>
                      <a:pt x="10" y="15"/>
                    </a:cubicBezTo>
                    <a:cubicBezTo>
                      <a:pt x="9" y="17"/>
                      <a:pt x="9" y="17"/>
                      <a:pt x="9" y="17"/>
                    </a:cubicBezTo>
                    <a:cubicBezTo>
                      <a:pt x="3" y="16"/>
                      <a:pt x="3" y="16"/>
                      <a:pt x="3" y="16"/>
                    </a:cubicBezTo>
                    <a:cubicBezTo>
                      <a:pt x="3" y="16"/>
                      <a:pt x="3" y="16"/>
                      <a:pt x="2" y="16"/>
                    </a:cubicBezTo>
                    <a:cubicBezTo>
                      <a:pt x="2" y="16"/>
                      <a:pt x="2" y="16"/>
                      <a:pt x="2" y="17"/>
                    </a:cubicBezTo>
                    <a:cubicBezTo>
                      <a:pt x="0" y="24"/>
                      <a:pt x="0" y="24"/>
                      <a:pt x="0" y="24"/>
                    </a:cubicBezTo>
                    <a:cubicBezTo>
                      <a:pt x="0" y="24"/>
                      <a:pt x="0" y="24"/>
                      <a:pt x="0" y="25"/>
                    </a:cubicBezTo>
                    <a:cubicBezTo>
                      <a:pt x="1" y="25"/>
                      <a:pt x="1" y="25"/>
                      <a:pt x="1" y="25"/>
                    </a:cubicBezTo>
                    <a:cubicBezTo>
                      <a:pt x="7" y="27"/>
                      <a:pt x="7" y="27"/>
                      <a:pt x="7" y="27"/>
                    </a:cubicBezTo>
                    <a:cubicBezTo>
                      <a:pt x="7" y="29"/>
                      <a:pt x="7" y="29"/>
                      <a:pt x="7" y="29"/>
                    </a:cubicBezTo>
                    <a:cubicBezTo>
                      <a:pt x="2" y="31"/>
                      <a:pt x="2" y="31"/>
                      <a:pt x="2" y="31"/>
                    </a:cubicBezTo>
                    <a:cubicBezTo>
                      <a:pt x="1" y="31"/>
                      <a:pt x="1" y="32"/>
                      <a:pt x="1" y="33"/>
                    </a:cubicBezTo>
                    <a:cubicBezTo>
                      <a:pt x="4" y="39"/>
                      <a:pt x="4" y="39"/>
                      <a:pt x="4" y="39"/>
                    </a:cubicBezTo>
                    <a:cubicBezTo>
                      <a:pt x="4" y="40"/>
                      <a:pt x="4" y="40"/>
                      <a:pt x="5" y="40"/>
                    </a:cubicBezTo>
                    <a:cubicBezTo>
                      <a:pt x="5" y="40"/>
                      <a:pt x="5" y="40"/>
                      <a:pt x="6" y="40"/>
                    </a:cubicBezTo>
                    <a:cubicBezTo>
                      <a:pt x="11" y="38"/>
                      <a:pt x="11" y="38"/>
                      <a:pt x="11" y="38"/>
                    </a:cubicBezTo>
                    <a:cubicBezTo>
                      <a:pt x="12" y="40"/>
                      <a:pt x="12" y="40"/>
                      <a:pt x="12" y="40"/>
                    </a:cubicBezTo>
                    <a:cubicBezTo>
                      <a:pt x="9" y="45"/>
                      <a:pt x="9" y="45"/>
                      <a:pt x="9" y="45"/>
                    </a:cubicBezTo>
                    <a:cubicBezTo>
                      <a:pt x="9" y="45"/>
                      <a:pt x="9" y="46"/>
                      <a:pt x="10" y="47"/>
                    </a:cubicBezTo>
                    <a:cubicBezTo>
                      <a:pt x="16" y="50"/>
                      <a:pt x="16" y="50"/>
                      <a:pt x="16" y="50"/>
                    </a:cubicBezTo>
                    <a:cubicBezTo>
                      <a:pt x="16" y="50"/>
                      <a:pt x="17" y="50"/>
                      <a:pt x="17" y="50"/>
                    </a:cubicBezTo>
                    <a:cubicBezTo>
                      <a:pt x="17" y="50"/>
                      <a:pt x="18" y="50"/>
                      <a:pt x="18" y="50"/>
                    </a:cubicBezTo>
                    <a:cubicBezTo>
                      <a:pt x="21" y="45"/>
                      <a:pt x="21" y="45"/>
                      <a:pt x="21" y="45"/>
                    </a:cubicBezTo>
                    <a:cubicBezTo>
                      <a:pt x="23" y="45"/>
                      <a:pt x="23" y="45"/>
                      <a:pt x="23" y="45"/>
                    </a:cubicBezTo>
                    <a:cubicBezTo>
                      <a:pt x="23" y="51"/>
                      <a:pt x="23" y="51"/>
                      <a:pt x="23" y="51"/>
                    </a:cubicBezTo>
                    <a:cubicBezTo>
                      <a:pt x="23" y="51"/>
                      <a:pt x="24" y="52"/>
                      <a:pt x="24" y="52"/>
                    </a:cubicBezTo>
                    <a:cubicBezTo>
                      <a:pt x="24" y="52"/>
                      <a:pt x="24" y="52"/>
                      <a:pt x="24" y="52"/>
                    </a:cubicBezTo>
                    <a:cubicBezTo>
                      <a:pt x="25" y="52"/>
                      <a:pt x="25" y="52"/>
                      <a:pt x="25" y="52"/>
                    </a:cubicBezTo>
                    <a:cubicBezTo>
                      <a:pt x="32" y="52"/>
                      <a:pt x="32" y="52"/>
                      <a:pt x="32" y="52"/>
                    </a:cubicBezTo>
                    <a:cubicBezTo>
                      <a:pt x="32" y="52"/>
                      <a:pt x="33" y="51"/>
                      <a:pt x="33" y="51"/>
                    </a:cubicBezTo>
                    <a:cubicBezTo>
                      <a:pt x="33" y="51"/>
                      <a:pt x="33" y="50"/>
                      <a:pt x="33" y="50"/>
                    </a:cubicBezTo>
                    <a:cubicBezTo>
                      <a:pt x="33" y="44"/>
                      <a:pt x="33" y="44"/>
                      <a:pt x="33" y="44"/>
                    </a:cubicBezTo>
                    <a:cubicBezTo>
                      <a:pt x="35" y="44"/>
                      <a:pt x="35" y="44"/>
                      <a:pt x="35" y="44"/>
                    </a:cubicBezTo>
                    <a:cubicBezTo>
                      <a:pt x="39" y="48"/>
                      <a:pt x="39" y="48"/>
                      <a:pt x="39" y="48"/>
                    </a:cubicBezTo>
                    <a:cubicBezTo>
                      <a:pt x="39" y="48"/>
                      <a:pt x="39" y="48"/>
                      <a:pt x="40" y="48"/>
                    </a:cubicBezTo>
                    <a:cubicBezTo>
                      <a:pt x="40" y="48"/>
                      <a:pt x="40" y="48"/>
                      <a:pt x="41" y="48"/>
                    </a:cubicBezTo>
                    <a:cubicBezTo>
                      <a:pt x="46" y="43"/>
                      <a:pt x="46" y="43"/>
                      <a:pt x="46" y="43"/>
                    </a:cubicBezTo>
                    <a:cubicBezTo>
                      <a:pt x="46" y="43"/>
                      <a:pt x="46" y="43"/>
                      <a:pt x="46" y="42"/>
                    </a:cubicBezTo>
                    <a:cubicBezTo>
                      <a:pt x="46" y="42"/>
                      <a:pt x="46" y="42"/>
                      <a:pt x="46" y="41"/>
                    </a:cubicBezTo>
                    <a:cubicBezTo>
                      <a:pt x="42" y="37"/>
                      <a:pt x="42" y="37"/>
                      <a:pt x="42" y="37"/>
                    </a:cubicBezTo>
                    <a:cubicBezTo>
                      <a:pt x="43" y="35"/>
                      <a:pt x="43" y="35"/>
                      <a:pt x="43" y="35"/>
                    </a:cubicBezTo>
                    <a:cubicBezTo>
                      <a:pt x="49" y="36"/>
                      <a:pt x="49" y="36"/>
                      <a:pt x="49" y="36"/>
                    </a:cubicBezTo>
                    <a:cubicBezTo>
                      <a:pt x="49" y="37"/>
                      <a:pt x="50" y="36"/>
                      <a:pt x="50" y="36"/>
                    </a:cubicBezTo>
                    <a:cubicBezTo>
                      <a:pt x="50" y="36"/>
                      <a:pt x="51" y="36"/>
                      <a:pt x="51" y="35"/>
                    </a:cubicBezTo>
                    <a:cubicBezTo>
                      <a:pt x="52" y="29"/>
                      <a:pt x="52" y="29"/>
                      <a:pt x="52" y="29"/>
                    </a:cubicBezTo>
                    <a:cubicBezTo>
                      <a:pt x="52" y="28"/>
                      <a:pt x="52" y="28"/>
                      <a:pt x="52" y="27"/>
                    </a:cubicBezTo>
                    <a:close/>
                    <a:moveTo>
                      <a:pt x="33" y="28"/>
                    </a:moveTo>
                    <a:cubicBezTo>
                      <a:pt x="32" y="31"/>
                      <a:pt x="28" y="34"/>
                      <a:pt x="25" y="33"/>
                    </a:cubicBezTo>
                    <a:cubicBezTo>
                      <a:pt x="21" y="32"/>
                      <a:pt x="18" y="28"/>
                      <a:pt x="19" y="25"/>
                    </a:cubicBezTo>
                    <a:cubicBezTo>
                      <a:pt x="20" y="21"/>
                      <a:pt x="24" y="18"/>
                      <a:pt x="28" y="19"/>
                    </a:cubicBezTo>
                    <a:cubicBezTo>
                      <a:pt x="32" y="20"/>
                      <a:pt x="34" y="24"/>
                      <a:pt x="33" y="28"/>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pPr fontAlgn="base">
                  <a:spcBef>
                    <a:spcPct val="0"/>
                  </a:spcBef>
                  <a:spcAft>
                    <a:spcPct val="0"/>
                  </a:spcAft>
                  <a:buFont typeface="Arial" panose="020B0604020202020204" pitchFamily="34" charset="0"/>
                  <a:buNone/>
                </a:pPr>
                <a:endParaRPr lang="zh-CN" altLang="en-US" sz="1100" dirty="0">
                  <a:solidFill>
                    <a:schemeClr val="bg1">
                      <a:lumMod val="50000"/>
                    </a:schemeClr>
                  </a:solidFill>
                  <a:latin typeface="+mn-ea"/>
                </a:endParaRPr>
              </a:p>
            </p:txBody>
          </p:sp>
          <p:sp>
            <p:nvSpPr>
              <p:cNvPr id="22" name="Freeform 27"/>
              <p:cNvSpPr>
                <a:spLocks noEditPoints="1" noChangeArrowheads="1"/>
              </p:cNvSpPr>
              <p:nvPr/>
            </p:nvSpPr>
            <p:spPr bwMode="auto">
              <a:xfrm>
                <a:off x="296538" y="248324"/>
                <a:ext cx="254449" cy="255964"/>
              </a:xfrm>
              <a:custGeom>
                <a:avLst/>
                <a:gdLst>
                  <a:gd name="T0" fmla="*/ 1560673257 w 37"/>
                  <a:gd name="T1" fmla="*/ 1387878316 h 37"/>
                  <a:gd name="T2" fmla="*/ 1466086999 w 37"/>
                  <a:gd name="T3" fmla="*/ 1148593483 h 37"/>
                  <a:gd name="T4" fmla="*/ 1702552644 w 37"/>
                  <a:gd name="T5" fmla="*/ 1196451833 h 37"/>
                  <a:gd name="T6" fmla="*/ 1749845773 w 37"/>
                  <a:gd name="T7" fmla="*/ 957160083 h 37"/>
                  <a:gd name="T8" fmla="*/ 1702552644 w 37"/>
                  <a:gd name="T9" fmla="*/ 861443383 h 37"/>
                  <a:gd name="T10" fmla="*/ 1513380128 w 37"/>
                  <a:gd name="T11" fmla="*/ 765726683 h 37"/>
                  <a:gd name="T12" fmla="*/ 1749845773 w 37"/>
                  <a:gd name="T13" fmla="*/ 670009983 h 37"/>
                  <a:gd name="T14" fmla="*/ 1655259515 w 37"/>
                  <a:gd name="T15" fmla="*/ 430725150 h 37"/>
                  <a:gd name="T16" fmla="*/ 1418793870 w 37"/>
                  <a:gd name="T17" fmla="*/ 478576583 h 37"/>
                  <a:gd name="T18" fmla="*/ 1466086999 w 37"/>
                  <a:gd name="T19" fmla="*/ 239291750 h 37"/>
                  <a:gd name="T20" fmla="*/ 1418793870 w 37"/>
                  <a:gd name="T21" fmla="*/ 191433400 h 37"/>
                  <a:gd name="T22" fmla="*/ 1135035096 w 37"/>
                  <a:gd name="T23" fmla="*/ 95716700 h 37"/>
                  <a:gd name="T24" fmla="*/ 993155709 w 37"/>
                  <a:gd name="T25" fmla="*/ 239291750 h 37"/>
                  <a:gd name="T26" fmla="*/ 898569451 w 37"/>
                  <a:gd name="T27" fmla="*/ 0 h 37"/>
                  <a:gd name="T28" fmla="*/ 662103806 w 37"/>
                  <a:gd name="T29" fmla="*/ 47858350 h 37"/>
                  <a:gd name="T30" fmla="*/ 662103806 w 37"/>
                  <a:gd name="T31" fmla="*/ 239291750 h 37"/>
                  <a:gd name="T32" fmla="*/ 472931290 w 37"/>
                  <a:gd name="T33" fmla="*/ 143575050 h 37"/>
                  <a:gd name="T34" fmla="*/ 378345032 w 37"/>
                  <a:gd name="T35" fmla="*/ 143575050 h 37"/>
                  <a:gd name="T36" fmla="*/ 189172516 w 37"/>
                  <a:gd name="T37" fmla="*/ 335008450 h 37"/>
                  <a:gd name="T38" fmla="*/ 331051903 w 37"/>
                  <a:gd name="T39" fmla="*/ 526434933 h 37"/>
                  <a:gd name="T40" fmla="*/ 141879387 w 37"/>
                  <a:gd name="T41" fmla="*/ 526434933 h 37"/>
                  <a:gd name="T42" fmla="*/ 0 w 37"/>
                  <a:gd name="T43" fmla="*/ 813585033 h 37"/>
                  <a:gd name="T44" fmla="*/ 47293129 w 37"/>
                  <a:gd name="T45" fmla="*/ 861443383 h 37"/>
                  <a:gd name="T46" fmla="*/ 236465645 w 37"/>
                  <a:gd name="T47" fmla="*/ 957160083 h 37"/>
                  <a:gd name="T48" fmla="*/ 47293129 w 37"/>
                  <a:gd name="T49" fmla="*/ 1100735133 h 37"/>
                  <a:gd name="T50" fmla="*/ 189172516 w 37"/>
                  <a:gd name="T51" fmla="*/ 1340019966 h 37"/>
                  <a:gd name="T52" fmla="*/ 378345032 w 37"/>
                  <a:gd name="T53" fmla="*/ 1292168534 h 37"/>
                  <a:gd name="T54" fmla="*/ 331051903 w 37"/>
                  <a:gd name="T55" fmla="*/ 1483595016 h 37"/>
                  <a:gd name="T56" fmla="*/ 331051903 w 37"/>
                  <a:gd name="T57" fmla="*/ 1579311716 h 37"/>
                  <a:gd name="T58" fmla="*/ 567517548 w 37"/>
                  <a:gd name="T59" fmla="*/ 1675028416 h 37"/>
                  <a:gd name="T60" fmla="*/ 614810677 w 37"/>
                  <a:gd name="T61" fmla="*/ 1675028416 h 37"/>
                  <a:gd name="T62" fmla="*/ 803983193 w 37"/>
                  <a:gd name="T63" fmla="*/ 1531453366 h 37"/>
                  <a:gd name="T64" fmla="*/ 803983193 w 37"/>
                  <a:gd name="T65" fmla="*/ 1770745116 h 37"/>
                  <a:gd name="T66" fmla="*/ 1087741967 w 37"/>
                  <a:gd name="T67" fmla="*/ 1722886766 h 37"/>
                  <a:gd name="T68" fmla="*/ 1135035096 w 37"/>
                  <a:gd name="T69" fmla="*/ 1675028416 h 37"/>
                  <a:gd name="T70" fmla="*/ 1182328225 w 37"/>
                  <a:gd name="T71" fmla="*/ 1483595016 h 37"/>
                  <a:gd name="T72" fmla="*/ 1324207612 w 37"/>
                  <a:gd name="T73" fmla="*/ 1627170066 h 37"/>
                  <a:gd name="T74" fmla="*/ 1560673257 w 37"/>
                  <a:gd name="T75" fmla="*/ 1435736666 h 37"/>
                  <a:gd name="T76" fmla="*/ 1040448838 w 37"/>
                  <a:gd name="T77" fmla="*/ 1052876783 h 37"/>
                  <a:gd name="T78" fmla="*/ 709396935 w 37"/>
                  <a:gd name="T79" fmla="*/ 717868333 h 37"/>
                  <a:gd name="T80" fmla="*/ 1040448838 w 37"/>
                  <a:gd name="T81" fmla="*/ 1052876783 h 3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7"/>
                  <a:gd name="T124" fmla="*/ 0 h 37"/>
                  <a:gd name="T125" fmla="*/ 37 w 37"/>
                  <a:gd name="T126" fmla="*/ 37 h 3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7" h="37">
                    <a:moveTo>
                      <a:pt x="33" y="29"/>
                    </a:moveTo>
                    <a:cubicBezTo>
                      <a:pt x="33" y="29"/>
                      <a:pt x="33" y="29"/>
                      <a:pt x="33" y="29"/>
                    </a:cubicBezTo>
                    <a:cubicBezTo>
                      <a:pt x="30" y="26"/>
                      <a:pt x="30" y="26"/>
                      <a:pt x="30" y="26"/>
                    </a:cubicBezTo>
                    <a:cubicBezTo>
                      <a:pt x="31" y="24"/>
                      <a:pt x="31" y="24"/>
                      <a:pt x="31" y="24"/>
                    </a:cubicBezTo>
                    <a:cubicBezTo>
                      <a:pt x="35" y="25"/>
                      <a:pt x="35" y="25"/>
                      <a:pt x="35" y="25"/>
                    </a:cubicBezTo>
                    <a:cubicBezTo>
                      <a:pt x="35" y="25"/>
                      <a:pt x="36" y="25"/>
                      <a:pt x="36" y="25"/>
                    </a:cubicBezTo>
                    <a:cubicBezTo>
                      <a:pt x="36" y="25"/>
                      <a:pt x="36" y="25"/>
                      <a:pt x="36" y="24"/>
                    </a:cubicBezTo>
                    <a:cubicBezTo>
                      <a:pt x="37" y="20"/>
                      <a:pt x="37" y="20"/>
                      <a:pt x="37" y="20"/>
                    </a:cubicBezTo>
                    <a:cubicBezTo>
                      <a:pt x="37" y="19"/>
                      <a:pt x="37" y="19"/>
                      <a:pt x="37" y="19"/>
                    </a:cubicBezTo>
                    <a:cubicBezTo>
                      <a:pt x="37" y="19"/>
                      <a:pt x="37" y="18"/>
                      <a:pt x="36" y="18"/>
                    </a:cubicBezTo>
                    <a:cubicBezTo>
                      <a:pt x="33" y="18"/>
                      <a:pt x="33" y="18"/>
                      <a:pt x="33" y="18"/>
                    </a:cubicBezTo>
                    <a:cubicBezTo>
                      <a:pt x="32" y="16"/>
                      <a:pt x="32" y="16"/>
                      <a:pt x="32" y="16"/>
                    </a:cubicBezTo>
                    <a:cubicBezTo>
                      <a:pt x="36" y="14"/>
                      <a:pt x="36" y="14"/>
                      <a:pt x="36" y="14"/>
                    </a:cubicBezTo>
                    <a:cubicBezTo>
                      <a:pt x="36" y="14"/>
                      <a:pt x="37" y="14"/>
                      <a:pt x="37" y="14"/>
                    </a:cubicBezTo>
                    <a:cubicBezTo>
                      <a:pt x="37" y="14"/>
                      <a:pt x="37" y="13"/>
                      <a:pt x="37" y="13"/>
                    </a:cubicBezTo>
                    <a:cubicBezTo>
                      <a:pt x="35" y="9"/>
                      <a:pt x="35" y="9"/>
                      <a:pt x="35" y="9"/>
                    </a:cubicBezTo>
                    <a:cubicBezTo>
                      <a:pt x="34" y="8"/>
                      <a:pt x="34" y="8"/>
                      <a:pt x="33" y="8"/>
                    </a:cubicBezTo>
                    <a:cubicBezTo>
                      <a:pt x="30" y="10"/>
                      <a:pt x="30" y="10"/>
                      <a:pt x="30" y="10"/>
                    </a:cubicBezTo>
                    <a:cubicBezTo>
                      <a:pt x="29" y="8"/>
                      <a:pt x="29" y="8"/>
                      <a:pt x="29" y="8"/>
                    </a:cubicBezTo>
                    <a:cubicBezTo>
                      <a:pt x="31" y="5"/>
                      <a:pt x="31" y="5"/>
                      <a:pt x="31" y="5"/>
                    </a:cubicBezTo>
                    <a:cubicBezTo>
                      <a:pt x="31" y="5"/>
                      <a:pt x="31" y="4"/>
                      <a:pt x="31" y="4"/>
                    </a:cubicBezTo>
                    <a:cubicBezTo>
                      <a:pt x="31" y="4"/>
                      <a:pt x="30" y="4"/>
                      <a:pt x="30" y="4"/>
                    </a:cubicBezTo>
                    <a:cubicBezTo>
                      <a:pt x="26" y="1"/>
                      <a:pt x="26" y="1"/>
                      <a:pt x="26" y="1"/>
                    </a:cubicBezTo>
                    <a:cubicBezTo>
                      <a:pt x="25" y="1"/>
                      <a:pt x="25" y="1"/>
                      <a:pt x="24" y="2"/>
                    </a:cubicBezTo>
                    <a:cubicBezTo>
                      <a:pt x="22" y="5"/>
                      <a:pt x="22" y="5"/>
                      <a:pt x="22" y="5"/>
                    </a:cubicBezTo>
                    <a:cubicBezTo>
                      <a:pt x="21" y="5"/>
                      <a:pt x="21" y="5"/>
                      <a:pt x="21" y="5"/>
                    </a:cubicBezTo>
                    <a:cubicBezTo>
                      <a:pt x="21" y="1"/>
                      <a:pt x="21" y="1"/>
                      <a:pt x="21" y="1"/>
                    </a:cubicBezTo>
                    <a:cubicBezTo>
                      <a:pt x="20" y="0"/>
                      <a:pt x="20" y="0"/>
                      <a:pt x="19" y="0"/>
                    </a:cubicBezTo>
                    <a:cubicBezTo>
                      <a:pt x="14" y="0"/>
                      <a:pt x="14" y="0"/>
                      <a:pt x="14" y="0"/>
                    </a:cubicBezTo>
                    <a:cubicBezTo>
                      <a:pt x="14" y="0"/>
                      <a:pt x="14" y="0"/>
                      <a:pt x="14" y="1"/>
                    </a:cubicBezTo>
                    <a:cubicBezTo>
                      <a:pt x="14" y="1"/>
                      <a:pt x="14" y="1"/>
                      <a:pt x="14" y="1"/>
                    </a:cubicBezTo>
                    <a:cubicBezTo>
                      <a:pt x="14" y="5"/>
                      <a:pt x="14" y="5"/>
                      <a:pt x="14" y="5"/>
                    </a:cubicBezTo>
                    <a:cubicBezTo>
                      <a:pt x="13" y="6"/>
                      <a:pt x="13" y="6"/>
                      <a:pt x="13" y="6"/>
                    </a:cubicBezTo>
                    <a:cubicBezTo>
                      <a:pt x="10" y="3"/>
                      <a:pt x="10" y="3"/>
                      <a:pt x="10" y="3"/>
                    </a:cubicBezTo>
                    <a:cubicBezTo>
                      <a:pt x="10" y="3"/>
                      <a:pt x="9" y="3"/>
                      <a:pt x="9" y="3"/>
                    </a:cubicBezTo>
                    <a:cubicBezTo>
                      <a:pt x="9" y="3"/>
                      <a:pt x="9" y="3"/>
                      <a:pt x="8" y="3"/>
                    </a:cubicBezTo>
                    <a:cubicBezTo>
                      <a:pt x="5" y="6"/>
                      <a:pt x="5" y="6"/>
                      <a:pt x="5" y="6"/>
                    </a:cubicBezTo>
                    <a:cubicBezTo>
                      <a:pt x="5" y="6"/>
                      <a:pt x="4" y="7"/>
                      <a:pt x="4" y="7"/>
                    </a:cubicBezTo>
                    <a:cubicBezTo>
                      <a:pt x="4" y="7"/>
                      <a:pt x="4" y="8"/>
                      <a:pt x="5" y="8"/>
                    </a:cubicBezTo>
                    <a:cubicBezTo>
                      <a:pt x="7" y="11"/>
                      <a:pt x="7" y="11"/>
                      <a:pt x="7" y="11"/>
                    </a:cubicBezTo>
                    <a:cubicBezTo>
                      <a:pt x="7" y="12"/>
                      <a:pt x="7" y="12"/>
                      <a:pt x="7" y="12"/>
                    </a:cubicBezTo>
                    <a:cubicBezTo>
                      <a:pt x="3" y="11"/>
                      <a:pt x="3" y="11"/>
                      <a:pt x="3" y="11"/>
                    </a:cubicBezTo>
                    <a:cubicBezTo>
                      <a:pt x="2" y="11"/>
                      <a:pt x="2" y="11"/>
                      <a:pt x="1" y="12"/>
                    </a:cubicBezTo>
                    <a:cubicBezTo>
                      <a:pt x="0" y="17"/>
                      <a:pt x="0" y="17"/>
                      <a:pt x="0" y="17"/>
                    </a:cubicBezTo>
                    <a:cubicBezTo>
                      <a:pt x="0" y="17"/>
                      <a:pt x="0" y="17"/>
                      <a:pt x="1" y="18"/>
                    </a:cubicBezTo>
                    <a:cubicBezTo>
                      <a:pt x="1" y="18"/>
                      <a:pt x="1" y="18"/>
                      <a:pt x="1" y="18"/>
                    </a:cubicBezTo>
                    <a:cubicBezTo>
                      <a:pt x="5" y="19"/>
                      <a:pt x="5" y="19"/>
                      <a:pt x="5" y="19"/>
                    </a:cubicBezTo>
                    <a:cubicBezTo>
                      <a:pt x="5" y="20"/>
                      <a:pt x="5" y="20"/>
                      <a:pt x="5" y="20"/>
                    </a:cubicBezTo>
                    <a:cubicBezTo>
                      <a:pt x="2" y="22"/>
                      <a:pt x="2" y="22"/>
                      <a:pt x="2" y="22"/>
                    </a:cubicBezTo>
                    <a:cubicBezTo>
                      <a:pt x="1" y="22"/>
                      <a:pt x="1" y="23"/>
                      <a:pt x="1" y="23"/>
                    </a:cubicBezTo>
                    <a:cubicBezTo>
                      <a:pt x="3" y="28"/>
                      <a:pt x="3" y="28"/>
                      <a:pt x="3" y="28"/>
                    </a:cubicBezTo>
                    <a:cubicBezTo>
                      <a:pt x="3" y="28"/>
                      <a:pt x="3" y="28"/>
                      <a:pt x="4" y="28"/>
                    </a:cubicBezTo>
                    <a:cubicBezTo>
                      <a:pt x="4" y="29"/>
                      <a:pt x="4" y="29"/>
                      <a:pt x="4" y="28"/>
                    </a:cubicBezTo>
                    <a:cubicBezTo>
                      <a:pt x="8" y="27"/>
                      <a:pt x="8" y="27"/>
                      <a:pt x="8" y="27"/>
                    </a:cubicBezTo>
                    <a:cubicBezTo>
                      <a:pt x="9" y="28"/>
                      <a:pt x="9" y="28"/>
                      <a:pt x="9" y="28"/>
                    </a:cubicBezTo>
                    <a:cubicBezTo>
                      <a:pt x="7" y="31"/>
                      <a:pt x="7" y="31"/>
                      <a:pt x="7" y="31"/>
                    </a:cubicBezTo>
                    <a:cubicBezTo>
                      <a:pt x="7" y="32"/>
                      <a:pt x="7" y="32"/>
                      <a:pt x="7" y="32"/>
                    </a:cubicBezTo>
                    <a:cubicBezTo>
                      <a:pt x="7" y="32"/>
                      <a:pt x="7" y="33"/>
                      <a:pt x="7" y="33"/>
                    </a:cubicBezTo>
                    <a:cubicBezTo>
                      <a:pt x="7" y="33"/>
                      <a:pt x="7" y="33"/>
                      <a:pt x="7" y="33"/>
                    </a:cubicBezTo>
                    <a:cubicBezTo>
                      <a:pt x="12" y="35"/>
                      <a:pt x="12" y="35"/>
                      <a:pt x="12" y="35"/>
                    </a:cubicBezTo>
                    <a:cubicBezTo>
                      <a:pt x="12" y="35"/>
                      <a:pt x="12" y="35"/>
                      <a:pt x="13" y="35"/>
                    </a:cubicBezTo>
                    <a:cubicBezTo>
                      <a:pt x="13" y="35"/>
                      <a:pt x="13" y="35"/>
                      <a:pt x="13" y="35"/>
                    </a:cubicBezTo>
                    <a:cubicBezTo>
                      <a:pt x="15" y="31"/>
                      <a:pt x="15" y="31"/>
                      <a:pt x="15" y="31"/>
                    </a:cubicBezTo>
                    <a:cubicBezTo>
                      <a:pt x="17" y="32"/>
                      <a:pt x="17" y="32"/>
                      <a:pt x="17" y="32"/>
                    </a:cubicBezTo>
                    <a:cubicBezTo>
                      <a:pt x="17" y="36"/>
                      <a:pt x="17" y="36"/>
                      <a:pt x="17" y="36"/>
                    </a:cubicBezTo>
                    <a:cubicBezTo>
                      <a:pt x="17" y="36"/>
                      <a:pt x="17" y="36"/>
                      <a:pt x="17" y="37"/>
                    </a:cubicBezTo>
                    <a:cubicBezTo>
                      <a:pt x="18" y="37"/>
                      <a:pt x="18" y="37"/>
                      <a:pt x="18" y="37"/>
                    </a:cubicBezTo>
                    <a:cubicBezTo>
                      <a:pt x="23" y="36"/>
                      <a:pt x="23" y="36"/>
                      <a:pt x="23" y="36"/>
                    </a:cubicBezTo>
                    <a:cubicBezTo>
                      <a:pt x="23" y="36"/>
                      <a:pt x="24" y="36"/>
                      <a:pt x="24" y="36"/>
                    </a:cubicBezTo>
                    <a:cubicBezTo>
                      <a:pt x="24" y="36"/>
                      <a:pt x="24" y="35"/>
                      <a:pt x="24" y="35"/>
                    </a:cubicBezTo>
                    <a:cubicBezTo>
                      <a:pt x="24" y="31"/>
                      <a:pt x="24" y="31"/>
                      <a:pt x="24" y="31"/>
                    </a:cubicBezTo>
                    <a:cubicBezTo>
                      <a:pt x="25" y="31"/>
                      <a:pt x="25" y="31"/>
                      <a:pt x="25" y="31"/>
                    </a:cubicBezTo>
                    <a:cubicBezTo>
                      <a:pt x="28" y="33"/>
                      <a:pt x="28" y="33"/>
                      <a:pt x="28" y="33"/>
                    </a:cubicBezTo>
                    <a:cubicBezTo>
                      <a:pt x="28" y="34"/>
                      <a:pt x="28" y="34"/>
                      <a:pt x="28" y="34"/>
                    </a:cubicBezTo>
                    <a:cubicBezTo>
                      <a:pt x="29" y="34"/>
                      <a:pt x="29" y="34"/>
                      <a:pt x="29" y="34"/>
                    </a:cubicBezTo>
                    <a:cubicBezTo>
                      <a:pt x="33" y="30"/>
                      <a:pt x="33" y="30"/>
                      <a:pt x="33" y="30"/>
                    </a:cubicBezTo>
                    <a:cubicBezTo>
                      <a:pt x="33" y="30"/>
                      <a:pt x="33" y="30"/>
                      <a:pt x="33" y="29"/>
                    </a:cubicBezTo>
                    <a:close/>
                    <a:moveTo>
                      <a:pt x="22" y="22"/>
                    </a:moveTo>
                    <a:cubicBezTo>
                      <a:pt x="20" y="24"/>
                      <a:pt x="17" y="24"/>
                      <a:pt x="15" y="22"/>
                    </a:cubicBezTo>
                    <a:cubicBezTo>
                      <a:pt x="13" y="20"/>
                      <a:pt x="13" y="16"/>
                      <a:pt x="15" y="15"/>
                    </a:cubicBezTo>
                    <a:cubicBezTo>
                      <a:pt x="17" y="13"/>
                      <a:pt x="21" y="13"/>
                      <a:pt x="23" y="15"/>
                    </a:cubicBezTo>
                    <a:cubicBezTo>
                      <a:pt x="24" y="17"/>
                      <a:pt x="24" y="20"/>
                      <a:pt x="22" y="22"/>
                    </a:cubicBez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pPr fontAlgn="base">
                  <a:spcBef>
                    <a:spcPct val="0"/>
                  </a:spcBef>
                  <a:spcAft>
                    <a:spcPct val="0"/>
                  </a:spcAft>
                  <a:buFont typeface="Arial" panose="020B0604020202020204" pitchFamily="34" charset="0"/>
                  <a:buNone/>
                </a:pPr>
                <a:endParaRPr lang="zh-CN" altLang="en-US" sz="1100" dirty="0">
                  <a:solidFill>
                    <a:schemeClr val="bg1">
                      <a:lumMod val="50000"/>
                    </a:schemeClr>
                  </a:solidFill>
                  <a:latin typeface="+mn-ea"/>
                </a:endParaRPr>
              </a:p>
            </p:txBody>
          </p:sp>
        </p:grpSp>
      </p:grpSp>
      <p:grpSp>
        <p:nvGrpSpPr>
          <p:cNvPr id="25" name="组合 7"/>
          <p:cNvGrpSpPr/>
          <p:nvPr/>
        </p:nvGrpSpPr>
        <p:grpSpPr bwMode="auto">
          <a:xfrm>
            <a:off x="6870700" y="5020310"/>
            <a:ext cx="758825" cy="759460"/>
            <a:chOff x="0" y="0"/>
            <a:chExt cx="1403797" cy="1403797"/>
          </a:xfrm>
        </p:grpSpPr>
        <p:sp>
          <p:nvSpPr>
            <p:cNvPr id="26" name="椭圆 8"/>
            <p:cNvSpPr>
              <a:spLocks noChangeArrowheads="1"/>
            </p:cNvSpPr>
            <p:nvPr/>
          </p:nvSpPr>
          <p:spPr bwMode="auto">
            <a:xfrm>
              <a:off x="0" y="0"/>
              <a:ext cx="1403797" cy="1403797"/>
            </a:xfrm>
            <a:prstGeom prst="ellipse">
              <a:avLst/>
            </a:prstGeom>
            <a:solidFill>
              <a:srgbClr val="CE3418"/>
            </a:solidFill>
            <a:ln>
              <a:noFill/>
            </a:ln>
            <a:extLst>
              <a:ext uri="{91240B29-F687-4F45-9708-019B960494DF}">
                <a14:hiddenLine xmlns:a14="http://schemas.microsoft.com/office/drawing/2010/main" w="12700">
                  <a:solidFill>
                    <a:srgbClr val="000000"/>
                  </a:solidFill>
                  <a:bevel/>
                </a14:hiddenLine>
              </a:ext>
            </a:extLst>
          </p:spPr>
          <p:txBody>
            <a:bodyPr anchor="ctr"/>
            <a:lstStyle>
              <a:lvl1pPr eaLnBrk="0" hangingPunct="0">
                <a:lnSpc>
                  <a:spcPct val="90000"/>
                </a:lnSpc>
                <a:spcBef>
                  <a:spcPts val="1000"/>
                </a:spcBef>
                <a:buChar char="•"/>
                <a:defRPr sz="28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9pPr>
            </a:lstStyle>
            <a:p>
              <a:pPr algn="ctr" eaLnBrk="1" fontAlgn="base" hangingPunct="1">
                <a:lnSpc>
                  <a:spcPct val="100000"/>
                </a:lnSpc>
                <a:spcBef>
                  <a:spcPct val="0"/>
                </a:spcBef>
                <a:spcAft>
                  <a:spcPct val="0"/>
                </a:spcAft>
                <a:buFont typeface="Arial" panose="020B0604020202020204" pitchFamily="34" charset="0"/>
                <a:buNone/>
              </a:pPr>
              <a:endParaRPr lang="zh-CN" altLang="zh-CN" sz="800" dirty="0">
                <a:solidFill>
                  <a:schemeClr val="bg1">
                    <a:lumMod val="50000"/>
                  </a:schemeClr>
                </a:solidFill>
                <a:latin typeface="+mn-ea"/>
                <a:ea typeface="+mn-ea"/>
                <a:sym typeface="方正兰亭黑_GBK" panose="02000000000000000000" pitchFamily="2" charset="-122"/>
              </a:endParaRPr>
            </a:p>
          </p:txBody>
        </p:sp>
        <p:grpSp>
          <p:nvGrpSpPr>
            <p:cNvPr id="27" name="组合 9"/>
            <p:cNvGrpSpPr/>
            <p:nvPr/>
          </p:nvGrpSpPr>
          <p:grpSpPr bwMode="auto">
            <a:xfrm>
              <a:off x="486136" y="362881"/>
              <a:ext cx="392888" cy="661931"/>
              <a:chOff x="0" y="0"/>
              <a:chExt cx="292099" cy="492124"/>
            </a:xfrm>
          </p:grpSpPr>
          <p:sp>
            <p:nvSpPr>
              <p:cNvPr id="28" name="Freeform 15"/>
              <p:cNvSpPr>
                <a:spLocks noEditPoints="1" noChangeArrowheads="1"/>
              </p:cNvSpPr>
              <p:nvPr/>
            </p:nvSpPr>
            <p:spPr bwMode="auto">
              <a:xfrm>
                <a:off x="0" y="0"/>
                <a:ext cx="292099" cy="492124"/>
              </a:xfrm>
              <a:custGeom>
                <a:avLst/>
                <a:gdLst>
                  <a:gd name="T0" fmla="*/ 0 w 166"/>
                  <a:gd name="T1" fmla="*/ 2147483647 h 280"/>
                  <a:gd name="T2" fmla="*/ 2147483647 w 166"/>
                  <a:gd name="T3" fmla="*/ 2147483647 h 280"/>
                  <a:gd name="T4" fmla="*/ 2147483647 w 166"/>
                  <a:gd name="T5" fmla="*/ 2147483647 h 280"/>
                  <a:gd name="T6" fmla="*/ 2147483647 w 166"/>
                  <a:gd name="T7" fmla="*/ 2147483647 h 280"/>
                  <a:gd name="T8" fmla="*/ 2147483647 w 166"/>
                  <a:gd name="T9" fmla="*/ 2147483647 h 280"/>
                  <a:gd name="T10" fmla="*/ 2147483647 w 166"/>
                  <a:gd name="T11" fmla="*/ 2147483647 h 280"/>
                  <a:gd name="T12" fmla="*/ 2147483647 w 166"/>
                  <a:gd name="T13" fmla="*/ 2147483647 h 280"/>
                  <a:gd name="T14" fmla="*/ 2147483647 w 166"/>
                  <a:gd name="T15" fmla="*/ 2147483647 h 280"/>
                  <a:gd name="T16" fmla="*/ 2147483647 w 166"/>
                  <a:gd name="T17" fmla="*/ 2147483647 h 280"/>
                  <a:gd name="T18" fmla="*/ 0 w 166"/>
                  <a:gd name="T19" fmla="*/ 2147483647 h 280"/>
                  <a:gd name="T20" fmla="*/ 0 w 166"/>
                  <a:gd name="T21" fmla="*/ 2147483647 h 280"/>
                  <a:gd name="T22" fmla="*/ 0 w 166"/>
                  <a:gd name="T23" fmla="*/ 2147483647 h 280"/>
                  <a:gd name="T24" fmla="*/ 0 w 166"/>
                  <a:gd name="T25" fmla="*/ 0 h 280"/>
                  <a:gd name="T26" fmla="*/ 2147483647 w 166"/>
                  <a:gd name="T27" fmla="*/ 0 h 280"/>
                  <a:gd name="T28" fmla="*/ 2147483647 w 166"/>
                  <a:gd name="T29" fmla="*/ 2147483647 h 280"/>
                  <a:gd name="T30" fmla="*/ 2147483647 w 166"/>
                  <a:gd name="T31" fmla="*/ 2147483647 h 280"/>
                  <a:gd name="T32" fmla="*/ 2147483647 w 166"/>
                  <a:gd name="T33" fmla="*/ 2147483647 h 280"/>
                  <a:gd name="T34" fmla="*/ 2147483647 w 166"/>
                  <a:gd name="T35" fmla="*/ 2147483647 h 280"/>
                  <a:gd name="T36" fmla="*/ 2147483647 w 166"/>
                  <a:gd name="T37" fmla="*/ 2147483647 h 280"/>
                  <a:gd name="T38" fmla="*/ 2147483647 w 166"/>
                  <a:gd name="T39" fmla="*/ 2147483647 h 280"/>
                  <a:gd name="T40" fmla="*/ 2147483647 w 166"/>
                  <a:gd name="T41" fmla="*/ 2147483647 h 280"/>
                  <a:gd name="T42" fmla="*/ 0 w 166"/>
                  <a:gd name="T43" fmla="*/ 2147483647 h 280"/>
                  <a:gd name="T44" fmla="*/ 0 w 166"/>
                  <a:gd name="T45" fmla="*/ 0 h 2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6"/>
                  <a:gd name="T70" fmla="*/ 0 h 280"/>
                  <a:gd name="T71" fmla="*/ 166 w 166"/>
                  <a:gd name="T72" fmla="*/ 280 h 2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6" h="280">
                    <a:moveTo>
                      <a:pt x="0" y="280"/>
                    </a:moveTo>
                    <a:lnTo>
                      <a:pt x="166" y="280"/>
                    </a:lnTo>
                    <a:lnTo>
                      <a:pt x="166" y="268"/>
                    </a:lnTo>
                    <a:lnTo>
                      <a:pt x="164" y="264"/>
                    </a:lnTo>
                    <a:lnTo>
                      <a:pt x="160" y="262"/>
                    </a:lnTo>
                    <a:lnTo>
                      <a:pt x="6" y="262"/>
                    </a:lnTo>
                    <a:lnTo>
                      <a:pt x="2" y="264"/>
                    </a:lnTo>
                    <a:lnTo>
                      <a:pt x="0" y="268"/>
                    </a:lnTo>
                    <a:lnTo>
                      <a:pt x="0" y="280"/>
                    </a:lnTo>
                    <a:close/>
                    <a:moveTo>
                      <a:pt x="0" y="0"/>
                    </a:moveTo>
                    <a:lnTo>
                      <a:pt x="166" y="0"/>
                    </a:lnTo>
                    <a:lnTo>
                      <a:pt x="166" y="12"/>
                    </a:lnTo>
                    <a:lnTo>
                      <a:pt x="164" y="16"/>
                    </a:lnTo>
                    <a:lnTo>
                      <a:pt x="160" y="18"/>
                    </a:lnTo>
                    <a:lnTo>
                      <a:pt x="6" y="18"/>
                    </a:lnTo>
                    <a:lnTo>
                      <a:pt x="2" y="16"/>
                    </a:lnTo>
                    <a:lnTo>
                      <a:pt x="0" y="12"/>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pPr fontAlgn="base">
                  <a:spcBef>
                    <a:spcPct val="0"/>
                  </a:spcBef>
                  <a:spcAft>
                    <a:spcPct val="0"/>
                  </a:spcAft>
                  <a:buFont typeface="Arial" panose="020B0604020202020204" pitchFamily="34" charset="0"/>
                  <a:buNone/>
                </a:pPr>
                <a:endParaRPr lang="zh-CN" altLang="en-US" sz="1100" dirty="0">
                  <a:solidFill>
                    <a:schemeClr val="bg1">
                      <a:lumMod val="50000"/>
                    </a:schemeClr>
                  </a:solidFill>
                  <a:latin typeface="+mn-ea"/>
                </a:endParaRPr>
              </a:p>
            </p:txBody>
          </p:sp>
          <p:sp>
            <p:nvSpPr>
              <p:cNvPr id="29" name="Freeform 16"/>
              <p:cNvSpPr>
                <a:spLocks noEditPoints="1" noChangeArrowheads="1"/>
              </p:cNvSpPr>
              <p:nvPr/>
            </p:nvSpPr>
            <p:spPr bwMode="auto">
              <a:xfrm>
                <a:off x="23812" y="46039"/>
                <a:ext cx="244476" cy="400050"/>
              </a:xfrm>
              <a:custGeom>
                <a:avLst/>
                <a:gdLst>
                  <a:gd name="T0" fmla="*/ 2147483647 w 138"/>
                  <a:gd name="T1" fmla="*/ 2147483647 h 228"/>
                  <a:gd name="T2" fmla="*/ 2147483647 w 138"/>
                  <a:gd name="T3" fmla="*/ 2147483647 h 228"/>
                  <a:gd name="T4" fmla="*/ 2147483647 w 138"/>
                  <a:gd name="T5" fmla="*/ 2147483647 h 228"/>
                  <a:gd name="T6" fmla="*/ 2147483647 w 138"/>
                  <a:gd name="T7" fmla="*/ 2147483647 h 228"/>
                  <a:gd name="T8" fmla="*/ 2147483647 w 138"/>
                  <a:gd name="T9" fmla="*/ 2147483647 h 228"/>
                  <a:gd name="T10" fmla="*/ 2147483647 w 138"/>
                  <a:gd name="T11" fmla="*/ 2147483647 h 228"/>
                  <a:gd name="T12" fmla="*/ 2147483647 w 138"/>
                  <a:gd name="T13" fmla="*/ 2147483647 h 228"/>
                  <a:gd name="T14" fmla="*/ 2147483647 w 138"/>
                  <a:gd name="T15" fmla="*/ 2147483647 h 228"/>
                  <a:gd name="T16" fmla="*/ 2147483647 w 138"/>
                  <a:gd name="T17" fmla="*/ 2147483647 h 228"/>
                  <a:gd name="T18" fmla="*/ 2147483647 w 138"/>
                  <a:gd name="T19" fmla="*/ 2147483647 h 228"/>
                  <a:gd name="T20" fmla="*/ 0 w 138"/>
                  <a:gd name="T21" fmla="*/ 2147483647 h 228"/>
                  <a:gd name="T22" fmla="*/ 0 w 138"/>
                  <a:gd name="T23" fmla="*/ 2147483647 h 228"/>
                  <a:gd name="T24" fmla="*/ 2147483647 w 138"/>
                  <a:gd name="T25" fmla="*/ 2147483647 h 228"/>
                  <a:gd name="T26" fmla="*/ 2147483647 w 138"/>
                  <a:gd name="T27" fmla="*/ 2147483647 h 228"/>
                  <a:gd name="T28" fmla="*/ 2147483647 w 138"/>
                  <a:gd name="T29" fmla="*/ 2147483647 h 228"/>
                  <a:gd name="T30" fmla="*/ 2147483647 w 138"/>
                  <a:gd name="T31" fmla="*/ 2147483647 h 228"/>
                  <a:gd name="T32" fmla="*/ 2147483647 w 138"/>
                  <a:gd name="T33" fmla="*/ 2147483647 h 228"/>
                  <a:gd name="T34" fmla="*/ 2147483647 w 138"/>
                  <a:gd name="T35" fmla="*/ 2147483647 h 228"/>
                  <a:gd name="T36" fmla="*/ 2147483647 w 138"/>
                  <a:gd name="T37" fmla="*/ 2147483647 h 228"/>
                  <a:gd name="T38" fmla="*/ 0 w 138"/>
                  <a:gd name="T39" fmla="*/ 2147483647 h 228"/>
                  <a:gd name="T40" fmla="*/ 2147483647 w 138"/>
                  <a:gd name="T41" fmla="*/ 0 h 228"/>
                  <a:gd name="T42" fmla="*/ 2147483647 w 138"/>
                  <a:gd name="T43" fmla="*/ 2147483647 h 228"/>
                  <a:gd name="T44" fmla="*/ 2147483647 w 138"/>
                  <a:gd name="T45" fmla="*/ 2147483647 h 228"/>
                  <a:gd name="T46" fmla="*/ 2147483647 w 138"/>
                  <a:gd name="T47" fmla="*/ 2147483647 h 228"/>
                  <a:gd name="T48" fmla="*/ 2147483647 w 138"/>
                  <a:gd name="T49" fmla="*/ 2147483647 h 228"/>
                  <a:gd name="T50" fmla="*/ 2147483647 w 138"/>
                  <a:gd name="T51" fmla="*/ 2147483647 h 228"/>
                  <a:gd name="T52" fmla="*/ 2147483647 w 138"/>
                  <a:gd name="T53" fmla="*/ 2147483647 h 228"/>
                  <a:gd name="T54" fmla="*/ 2147483647 w 138"/>
                  <a:gd name="T55" fmla="*/ 2147483647 h 228"/>
                  <a:gd name="T56" fmla="*/ 2147483647 w 138"/>
                  <a:gd name="T57" fmla="*/ 2147483647 h 228"/>
                  <a:gd name="T58" fmla="*/ 2147483647 w 138"/>
                  <a:gd name="T59" fmla="*/ 2147483647 h 228"/>
                  <a:gd name="T60" fmla="*/ 2147483647 w 138"/>
                  <a:gd name="T61" fmla="*/ 2147483647 h 228"/>
                  <a:gd name="T62" fmla="*/ 2147483647 w 138"/>
                  <a:gd name="T63" fmla="*/ 0 h 228"/>
                  <a:gd name="T64" fmla="*/ 2147483647 w 138"/>
                  <a:gd name="T65" fmla="*/ 2147483647 h 228"/>
                  <a:gd name="T66" fmla="*/ 2147483647 w 138"/>
                  <a:gd name="T67" fmla="*/ 2147483647 h 228"/>
                  <a:gd name="T68" fmla="*/ 2147483647 w 138"/>
                  <a:gd name="T69" fmla="*/ 2147483647 h 228"/>
                  <a:gd name="T70" fmla="*/ 2147483647 w 138"/>
                  <a:gd name="T71" fmla="*/ 2147483647 h 228"/>
                  <a:gd name="T72" fmla="*/ 2147483647 w 138"/>
                  <a:gd name="T73" fmla="*/ 2147483647 h 228"/>
                  <a:gd name="T74" fmla="*/ 2147483647 w 138"/>
                  <a:gd name="T75" fmla="*/ 2147483647 h 228"/>
                  <a:gd name="T76" fmla="*/ 2147483647 w 138"/>
                  <a:gd name="T77" fmla="*/ 2147483647 h 228"/>
                  <a:gd name="T78" fmla="*/ 2147483647 w 138"/>
                  <a:gd name="T79" fmla="*/ 2147483647 h 228"/>
                  <a:gd name="T80" fmla="*/ 2147483647 w 138"/>
                  <a:gd name="T81" fmla="*/ 2147483647 h 228"/>
                  <a:gd name="T82" fmla="*/ 2147483647 w 138"/>
                  <a:gd name="T83" fmla="*/ 2147483647 h 2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8"/>
                  <a:gd name="T127" fmla="*/ 0 h 228"/>
                  <a:gd name="T128" fmla="*/ 138 w 138"/>
                  <a:gd name="T129" fmla="*/ 228 h 22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8" h="228">
                    <a:moveTo>
                      <a:pt x="14" y="0"/>
                    </a:moveTo>
                    <a:lnTo>
                      <a:pt x="14" y="50"/>
                    </a:lnTo>
                    <a:lnTo>
                      <a:pt x="14" y="58"/>
                    </a:lnTo>
                    <a:lnTo>
                      <a:pt x="16" y="66"/>
                    </a:lnTo>
                    <a:lnTo>
                      <a:pt x="20" y="70"/>
                    </a:lnTo>
                    <a:lnTo>
                      <a:pt x="24" y="76"/>
                    </a:lnTo>
                    <a:lnTo>
                      <a:pt x="48" y="96"/>
                    </a:lnTo>
                    <a:lnTo>
                      <a:pt x="56" y="104"/>
                    </a:lnTo>
                    <a:lnTo>
                      <a:pt x="58" y="110"/>
                    </a:lnTo>
                    <a:lnTo>
                      <a:pt x="58" y="114"/>
                    </a:lnTo>
                    <a:lnTo>
                      <a:pt x="56" y="122"/>
                    </a:lnTo>
                    <a:lnTo>
                      <a:pt x="48" y="132"/>
                    </a:lnTo>
                    <a:lnTo>
                      <a:pt x="24" y="152"/>
                    </a:lnTo>
                    <a:lnTo>
                      <a:pt x="20" y="156"/>
                    </a:lnTo>
                    <a:lnTo>
                      <a:pt x="16" y="162"/>
                    </a:lnTo>
                    <a:lnTo>
                      <a:pt x="14" y="168"/>
                    </a:lnTo>
                    <a:lnTo>
                      <a:pt x="14" y="176"/>
                    </a:lnTo>
                    <a:lnTo>
                      <a:pt x="14" y="228"/>
                    </a:lnTo>
                    <a:lnTo>
                      <a:pt x="0" y="228"/>
                    </a:lnTo>
                    <a:lnTo>
                      <a:pt x="0" y="172"/>
                    </a:lnTo>
                    <a:lnTo>
                      <a:pt x="0" y="162"/>
                    </a:lnTo>
                    <a:lnTo>
                      <a:pt x="2" y="154"/>
                    </a:lnTo>
                    <a:lnTo>
                      <a:pt x="8" y="148"/>
                    </a:lnTo>
                    <a:lnTo>
                      <a:pt x="14" y="142"/>
                    </a:lnTo>
                    <a:lnTo>
                      <a:pt x="36" y="122"/>
                    </a:lnTo>
                    <a:lnTo>
                      <a:pt x="40" y="118"/>
                    </a:lnTo>
                    <a:lnTo>
                      <a:pt x="42" y="114"/>
                    </a:lnTo>
                    <a:lnTo>
                      <a:pt x="40" y="110"/>
                    </a:lnTo>
                    <a:lnTo>
                      <a:pt x="36" y="106"/>
                    </a:lnTo>
                    <a:lnTo>
                      <a:pt x="14" y="86"/>
                    </a:lnTo>
                    <a:lnTo>
                      <a:pt x="8" y="80"/>
                    </a:lnTo>
                    <a:lnTo>
                      <a:pt x="2" y="72"/>
                    </a:lnTo>
                    <a:lnTo>
                      <a:pt x="0" y="66"/>
                    </a:lnTo>
                    <a:lnTo>
                      <a:pt x="0" y="56"/>
                    </a:lnTo>
                    <a:lnTo>
                      <a:pt x="0" y="0"/>
                    </a:lnTo>
                    <a:lnTo>
                      <a:pt x="14" y="0"/>
                    </a:lnTo>
                    <a:close/>
                    <a:moveTo>
                      <a:pt x="124" y="228"/>
                    </a:moveTo>
                    <a:lnTo>
                      <a:pt x="124" y="176"/>
                    </a:lnTo>
                    <a:lnTo>
                      <a:pt x="124" y="168"/>
                    </a:lnTo>
                    <a:lnTo>
                      <a:pt x="122" y="162"/>
                    </a:lnTo>
                    <a:lnTo>
                      <a:pt x="118" y="156"/>
                    </a:lnTo>
                    <a:lnTo>
                      <a:pt x="114" y="152"/>
                    </a:lnTo>
                    <a:lnTo>
                      <a:pt x="90" y="132"/>
                    </a:lnTo>
                    <a:lnTo>
                      <a:pt x="82" y="122"/>
                    </a:lnTo>
                    <a:lnTo>
                      <a:pt x="80" y="114"/>
                    </a:lnTo>
                    <a:lnTo>
                      <a:pt x="80" y="110"/>
                    </a:lnTo>
                    <a:lnTo>
                      <a:pt x="82" y="104"/>
                    </a:lnTo>
                    <a:lnTo>
                      <a:pt x="90" y="96"/>
                    </a:lnTo>
                    <a:lnTo>
                      <a:pt x="114" y="76"/>
                    </a:lnTo>
                    <a:lnTo>
                      <a:pt x="118" y="70"/>
                    </a:lnTo>
                    <a:lnTo>
                      <a:pt x="122" y="66"/>
                    </a:lnTo>
                    <a:lnTo>
                      <a:pt x="124" y="58"/>
                    </a:lnTo>
                    <a:lnTo>
                      <a:pt x="124" y="50"/>
                    </a:lnTo>
                    <a:lnTo>
                      <a:pt x="124" y="0"/>
                    </a:lnTo>
                    <a:lnTo>
                      <a:pt x="138" y="0"/>
                    </a:lnTo>
                    <a:lnTo>
                      <a:pt x="138" y="56"/>
                    </a:lnTo>
                    <a:lnTo>
                      <a:pt x="138" y="66"/>
                    </a:lnTo>
                    <a:lnTo>
                      <a:pt x="136" y="72"/>
                    </a:lnTo>
                    <a:lnTo>
                      <a:pt x="132" y="80"/>
                    </a:lnTo>
                    <a:lnTo>
                      <a:pt x="124" y="86"/>
                    </a:lnTo>
                    <a:lnTo>
                      <a:pt x="102" y="106"/>
                    </a:lnTo>
                    <a:lnTo>
                      <a:pt x="98" y="110"/>
                    </a:lnTo>
                    <a:lnTo>
                      <a:pt x="96" y="114"/>
                    </a:lnTo>
                    <a:lnTo>
                      <a:pt x="98" y="118"/>
                    </a:lnTo>
                    <a:lnTo>
                      <a:pt x="102" y="122"/>
                    </a:lnTo>
                    <a:lnTo>
                      <a:pt x="124" y="142"/>
                    </a:lnTo>
                    <a:lnTo>
                      <a:pt x="132" y="148"/>
                    </a:lnTo>
                    <a:lnTo>
                      <a:pt x="136" y="154"/>
                    </a:lnTo>
                    <a:lnTo>
                      <a:pt x="138" y="162"/>
                    </a:lnTo>
                    <a:lnTo>
                      <a:pt x="138" y="172"/>
                    </a:lnTo>
                    <a:lnTo>
                      <a:pt x="138" y="228"/>
                    </a:lnTo>
                    <a:lnTo>
                      <a:pt x="124" y="228"/>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pPr fontAlgn="base">
                  <a:spcBef>
                    <a:spcPct val="0"/>
                  </a:spcBef>
                  <a:spcAft>
                    <a:spcPct val="0"/>
                  </a:spcAft>
                  <a:buFont typeface="Arial" panose="020B0604020202020204" pitchFamily="34" charset="0"/>
                  <a:buNone/>
                </a:pPr>
                <a:endParaRPr lang="zh-CN" altLang="en-US" sz="1100" dirty="0">
                  <a:solidFill>
                    <a:schemeClr val="bg1">
                      <a:lumMod val="50000"/>
                    </a:schemeClr>
                  </a:solidFill>
                  <a:latin typeface="+mn-ea"/>
                </a:endParaRPr>
              </a:p>
            </p:txBody>
          </p:sp>
          <p:sp>
            <p:nvSpPr>
              <p:cNvPr id="30" name="Freeform 17"/>
              <p:cNvSpPr>
                <a:spLocks noChangeArrowheads="1"/>
              </p:cNvSpPr>
              <p:nvPr/>
            </p:nvSpPr>
            <p:spPr bwMode="auto">
              <a:xfrm>
                <a:off x="63499" y="166689"/>
                <a:ext cx="165100" cy="279400"/>
              </a:xfrm>
              <a:custGeom>
                <a:avLst/>
                <a:gdLst>
                  <a:gd name="T0" fmla="*/ 0 w 94"/>
                  <a:gd name="T1" fmla="*/ 2147483647 h 160"/>
                  <a:gd name="T2" fmla="*/ 2147483647 w 94"/>
                  <a:gd name="T3" fmla="*/ 2147483647 h 160"/>
                  <a:gd name="T4" fmla="*/ 2147483647 w 94"/>
                  <a:gd name="T5" fmla="*/ 2147483647 h 160"/>
                  <a:gd name="T6" fmla="*/ 2147483647 w 94"/>
                  <a:gd name="T7" fmla="*/ 2147483647 h 160"/>
                  <a:gd name="T8" fmla="*/ 2147483647 w 94"/>
                  <a:gd name="T9" fmla="*/ 2147483647 h 160"/>
                  <a:gd name="T10" fmla="*/ 2147483647 w 94"/>
                  <a:gd name="T11" fmla="*/ 2147483647 h 160"/>
                  <a:gd name="T12" fmla="*/ 2147483647 w 94"/>
                  <a:gd name="T13" fmla="*/ 2147483647 h 160"/>
                  <a:gd name="T14" fmla="*/ 2147483647 w 94"/>
                  <a:gd name="T15" fmla="*/ 2147483647 h 160"/>
                  <a:gd name="T16" fmla="*/ 2147483647 w 94"/>
                  <a:gd name="T17" fmla="*/ 2147483647 h 160"/>
                  <a:gd name="T18" fmla="*/ 2147483647 w 94"/>
                  <a:gd name="T19" fmla="*/ 2147483647 h 160"/>
                  <a:gd name="T20" fmla="*/ 2147483647 w 94"/>
                  <a:gd name="T21" fmla="*/ 2147483647 h 160"/>
                  <a:gd name="T22" fmla="*/ 2147483647 w 94"/>
                  <a:gd name="T23" fmla="*/ 2147483647 h 160"/>
                  <a:gd name="T24" fmla="*/ 2147483647 w 94"/>
                  <a:gd name="T25" fmla="*/ 2147483647 h 160"/>
                  <a:gd name="T26" fmla="*/ 2147483647 w 94"/>
                  <a:gd name="T27" fmla="*/ 2147483647 h 160"/>
                  <a:gd name="T28" fmla="*/ 2147483647 w 94"/>
                  <a:gd name="T29" fmla="*/ 2147483647 h 160"/>
                  <a:gd name="T30" fmla="*/ 2147483647 w 94"/>
                  <a:gd name="T31" fmla="*/ 2147483647 h 160"/>
                  <a:gd name="T32" fmla="*/ 2147483647 w 94"/>
                  <a:gd name="T33" fmla="*/ 2147483647 h 160"/>
                  <a:gd name="T34" fmla="*/ 2147483647 w 94"/>
                  <a:gd name="T35" fmla="*/ 0 h 160"/>
                  <a:gd name="T36" fmla="*/ 2147483647 w 94"/>
                  <a:gd name="T37" fmla="*/ 0 h 160"/>
                  <a:gd name="T38" fmla="*/ 2147483647 w 94"/>
                  <a:gd name="T39" fmla="*/ 0 h 160"/>
                  <a:gd name="T40" fmla="*/ 2147483647 w 94"/>
                  <a:gd name="T41" fmla="*/ 0 h 160"/>
                  <a:gd name="T42" fmla="*/ 2147483647 w 94"/>
                  <a:gd name="T43" fmla="*/ 2147483647 h 160"/>
                  <a:gd name="T44" fmla="*/ 2147483647 w 94"/>
                  <a:gd name="T45" fmla="*/ 2147483647 h 160"/>
                  <a:gd name="T46" fmla="*/ 2147483647 w 94"/>
                  <a:gd name="T47" fmla="*/ 2147483647 h 160"/>
                  <a:gd name="T48" fmla="*/ 2147483647 w 94"/>
                  <a:gd name="T49" fmla="*/ 2147483647 h 160"/>
                  <a:gd name="T50" fmla="*/ 2147483647 w 94"/>
                  <a:gd name="T51" fmla="*/ 2147483647 h 160"/>
                  <a:gd name="T52" fmla="*/ 2147483647 w 94"/>
                  <a:gd name="T53" fmla="*/ 2147483647 h 160"/>
                  <a:gd name="T54" fmla="*/ 2147483647 w 94"/>
                  <a:gd name="T55" fmla="*/ 2147483647 h 160"/>
                  <a:gd name="T56" fmla="*/ 2147483647 w 94"/>
                  <a:gd name="T57" fmla="*/ 2147483647 h 160"/>
                  <a:gd name="T58" fmla="*/ 2147483647 w 94"/>
                  <a:gd name="T59" fmla="*/ 2147483647 h 160"/>
                  <a:gd name="T60" fmla="*/ 2147483647 w 94"/>
                  <a:gd name="T61" fmla="*/ 2147483647 h 160"/>
                  <a:gd name="T62" fmla="*/ 2147483647 w 94"/>
                  <a:gd name="T63" fmla="*/ 2147483647 h 160"/>
                  <a:gd name="T64" fmla="*/ 2147483647 w 94"/>
                  <a:gd name="T65" fmla="*/ 2147483647 h 160"/>
                  <a:gd name="T66" fmla="*/ 0 w 94"/>
                  <a:gd name="T67" fmla="*/ 2147483647 h 160"/>
                  <a:gd name="T68" fmla="*/ 0 w 94"/>
                  <a:gd name="T69" fmla="*/ 2147483647 h 1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4"/>
                  <a:gd name="T106" fmla="*/ 0 h 160"/>
                  <a:gd name="T107" fmla="*/ 94 w 94"/>
                  <a:gd name="T108" fmla="*/ 160 h 16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4" h="160">
                    <a:moveTo>
                      <a:pt x="0" y="160"/>
                    </a:moveTo>
                    <a:lnTo>
                      <a:pt x="48" y="160"/>
                    </a:lnTo>
                    <a:lnTo>
                      <a:pt x="94" y="160"/>
                    </a:lnTo>
                    <a:lnTo>
                      <a:pt x="94" y="134"/>
                    </a:lnTo>
                    <a:lnTo>
                      <a:pt x="58" y="98"/>
                    </a:lnTo>
                    <a:lnTo>
                      <a:pt x="54" y="94"/>
                    </a:lnTo>
                    <a:lnTo>
                      <a:pt x="52" y="90"/>
                    </a:lnTo>
                    <a:lnTo>
                      <a:pt x="52" y="78"/>
                    </a:lnTo>
                    <a:lnTo>
                      <a:pt x="52" y="44"/>
                    </a:lnTo>
                    <a:lnTo>
                      <a:pt x="52" y="38"/>
                    </a:lnTo>
                    <a:lnTo>
                      <a:pt x="54" y="32"/>
                    </a:lnTo>
                    <a:lnTo>
                      <a:pt x="62" y="22"/>
                    </a:lnTo>
                    <a:lnTo>
                      <a:pt x="76" y="10"/>
                    </a:lnTo>
                    <a:lnTo>
                      <a:pt x="82" y="6"/>
                    </a:lnTo>
                    <a:lnTo>
                      <a:pt x="88" y="0"/>
                    </a:lnTo>
                    <a:lnTo>
                      <a:pt x="48" y="0"/>
                    </a:lnTo>
                    <a:lnTo>
                      <a:pt x="6" y="0"/>
                    </a:lnTo>
                    <a:lnTo>
                      <a:pt x="12" y="6"/>
                    </a:lnTo>
                    <a:lnTo>
                      <a:pt x="18" y="10"/>
                    </a:lnTo>
                    <a:lnTo>
                      <a:pt x="32" y="22"/>
                    </a:lnTo>
                    <a:lnTo>
                      <a:pt x="38" y="32"/>
                    </a:lnTo>
                    <a:lnTo>
                      <a:pt x="42" y="38"/>
                    </a:lnTo>
                    <a:lnTo>
                      <a:pt x="42" y="44"/>
                    </a:lnTo>
                    <a:lnTo>
                      <a:pt x="42" y="78"/>
                    </a:lnTo>
                    <a:lnTo>
                      <a:pt x="42" y="90"/>
                    </a:lnTo>
                    <a:lnTo>
                      <a:pt x="40" y="94"/>
                    </a:lnTo>
                    <a:lnTo>
                      <a:pt x="38" y="98"/>
                    </a:lnTo>
                    <a:lnTo>
                      <a:pt x="0" y="134"/>
                    </a:lnTo>
                    <a:lnTo>
                      <a:pt x="0" y="160"/>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pPr fontAlgn="base">
                  <a:spcBef>
                    <a:spcPct val="0"/>
                  </a:spcBef>
                  <a:spcAft>
                    <a:spcPct val="0"/>
                  </a:spcAft>
                  <a:buFont typeface="Arial" panose="020B0604020202020204" pitchFamily="34" charset="0"/>
                  <a:buNone/>
                </a:pPr>
                <a:endParaRPr lang="zh-CN" altLang="en-US" sz="1100" dirty="0">
                  <a:solidFill>
                    <a:schemeClr val="bg1">
                      <a:lumMod val="50000"/>
                    </a:schemeClr>
                  </a:solidFill>
                  <a:latin typeface="+mn-ea"/>
                </a:endParaRPr>
              </a:p>
            </p:txBody>
          </p:sp>
        </p:grpSp>
      </p:grpSp>
      <p:grpSp>
        <p:nvGrpSpPr>
          <p:cNvPr id="31" name="组合 19"/>
          <p:cNvGrpSpPr/>
          <p:nvPr/>
        </p:nvGrpSpPr>
        <p:grpSpPr bwMode="auto">
          <a:xfrm>
            <a:off x="6891020" y="3333115"/>
            <a:ext cx="760730" cy="760730"/>
            <a:chOff x="0" y="0"/>
            <a:chExt cx="1403797" cy="1403797"/>
          </a:xfrm>
        </p:grpSpPr>
        <p:sp>
          <p:nvSpPr>
            <p:cNvPr id="32" name="椭圆 20"/>
            <p:cNvSpPr>
              <a:spLocks noChangeArrowheads="1"/>
            </p:cNvSpPr>
            <p:nvPr/>
          </p:nvSpPr>
          <p:spPr bwMode="auto">
            <a:xfrm>
              <a:off x="0" y="0"/>
              <a:ext cx="1403797" cy="1403797"/>
            </a:xfrm>
            <a:prstGeom prst="ellipse">
              <a:avLst/>
            </a:prstGeom>
            <a:solidFill>
              <a:schemeClr val="accent3"/>
            </a:solidFill>
            <a:ln>
              <a:noFill/>
            </a:ln>
            <a:extLst>
              <a:ext uri="{91240B29-F687-4F45-9708-019B960494DF}">
                <a14:hiddenLine xmlns:a14="http://schemas.microsoft.com/office/drawing/2010/main" w="12700">
                  <a:solidFill>
                    <a:srgbClr val="000000"/>
                  </a:solidFill>
                  <a:bevel/>
                </a14:hiddenLine>
              </a:ext>
            </a:extLst>
          </p:spPr>
          <p:txBody>
            <a:bodyPr anchor="ctr"/>
            <a:lstStyle>
              <a:lvl1pPr eaLnBrk="0" hangingPunct="0">
                <a:lnSpc>
                  <a:spcPct val="90000"/>
                </a:lnSpc>
                <a:spcBef>
                  <a:spcPts val="1000"/>
                </a:spcBef>
                <a:buChar char="•"/>
                <a:defRPr sz="28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3pPr>
              <a:lvl4pPr marL="16002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4pPr>
              <a:lvl5pPr marL="2057400" indent="-228600" eaLnBrk="0" hangingPunct="0">
                <a:lnSpc>
                  <a:spcPct val="90000"/>
                </a:lnSpc>
                <a:spcBef>
                  <a:spcPts val="500"/>
                </a:spcBef>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方正兰亭黑_GBK" panose="02000000000000000000" pitchFamily="2" charset="-122"/>
                  <a:ea typeface="方正兰亭黑_GBK" panose="02000000000000000000" pitchFamily="2" charset="-122"/>
                  <a:sym typeface="Calibri" panose="020F0502020204030204" pitchFamily="34" charset="0"/>
                </a:defRPr>
              </a:lvl9pPr>
            </a:lstStyle>
            <a:p>
              <a:pPr algn="ctr" eaLnBrk="1" fontAlgn="base" hangingPunct="1">
                <a:lnSpc>
                  <a:spcPct val="100000"/>
                </a:lnSpc>
                <a:spcBef>
                  <a:spcPct val="0"/>
                </a:spcBef>
                <a:spcAft>
                  <a:spcPct val="0"/>
                </a:spcAft>
                <a:buFont typeface="Arial" panose="020B0604020202020204" pitchFamily="34" charset="0"/>
                <a:buNone/>
              </a:pPr>
              <a:endParaRPr lang="zh-CN" altLang="zh-CN" sz="800" dirty="0">
                <a:solidFill>
                  <a:schemeClr val="bg1">
                    <a:lumMod val="50000"/>
                  </a:schemeClr>
                </a:solidFill>
                <a:latin typeface="+mn-ea"/>
                <a:ea typeface="+mn-ea"/>
                <a:sym typeface="方正兰亭黑_GBK" panose="02000000000000000000" pitchFamily="2" charset="-122"/>
              </a:endParaRPr>
            </a:p>
          </p:txBody>
        </p:sp>
        <p:sp>
          <p:nvSpPr>
            <p:cNvPr id="33" name="Freeform 12"/>
            <p:cNvSpPr>
              <a:spLocks noEditPoints="1" noChangeArrowheads="1"/>
            </p:cNvSpPr>
            <p:nvPr/>
          </p:nvSpPr>
          <p:spPr bwMode="auto">
            <a:xfrm>
              <a:off x="479640" y="362881"/>
              <a:ext cx="471466" cy="666418"/>
            </a:xfrm>
            <a:custGeom>
              <a:avLst/>
              <a:gdLst>
                <a:gd name="T0" fmla="*/ 2147483647 w 408"/>
                <a:gd name="T1" fmla="*/ 2147483647 h 578"/>
                <a:gd name="T2" fmla="*/ 2147483647 w 408"/>
                <a:gd name="T3" fmla="*/ 2147483647 h 578"/>
                <a:gd name="T4" fmla="*/ 2147483647 w 408"/>
                <a:gd name="T5" fmla="*/ 2147483647 h 578"/>
                <a:gd name="T6" fmla="*/ 2147483647 w 408"/>
                <a:gd name="T7" fmla="*/ 2147483647 h 578"/>
                <a:gd name="T8" fmla="*/ 2147483647 w 408"/>
                <a:gd name="T9" fmla="*/ 2147483647 h 578"/>
                <a:gd name="T10" fmla="*/ 2147483647 w 408"/>
                <a:gd name="T11" fmla="*/ 2147483647 h 578"/>
                <a:gd name="T12" fmla="*/ 2147483647 w 408"/>
                <a:gd name="T13" fmla="*/ 2147483647 h 578"/>
                <a:gd name="T14" fmla="*/ 2147483647 w 408"/>
                <a:gd name="T15" fmla="*/ 2147483647 h 578"/>
                <a:gd name="T16" fmla="*/ 2147483647 w 408"/>
                <a:gd name="T17" fmla="*/ 2147483647 h 578"/>
                <a:gd name="T18" fmla="*/ 2147483647 w 408"/>
                <a:gd name="T19" fmla="*/ 2147483647 h 578"/>
                <a:gd name="T20" fmla="*/ 2147483647 w 408"/>
                <a:gd name="T21" fmla="*/ 2147483647 h 578"/>
                <a:gd name="T22" fmla="*/ 2147483647 w 408"/>
                <a:gd name="T23" fmla="*/ 2147483647 h 578"/>
                <a:gd name="T24" fmla="*/ 2147483647 w 408"/>
                <a:gd name="T25" fmla="*/ 2147483647 h 578"/>
                <a:gd name="T26" fmla="*/ 2147483647 w 408"/>
                <a:gd name="T27" fmla="*/ 2147483647 h 578"/>
                <a:gd name="T28" fmla="*/ 2147483647 w 408"/>
                <a:gd name="T29" fmla="*/ 2147483647 h 578"/>
                <a:gd name="T30" fmla="*/ 2147483647 w 408"/>
                <a:gd name="T31" fmla="*/ 2147483647 h 578"/>
                <a:gd name="T32" fmla="*/ 2147483647 w 408"/>
                <a:gd name="T33" fmla="*/ 2147483647 h 578"/>
                <a:gd name="T34" fmla="*/ 0 w 408"/>
                <a:gd name="T35" fmla="*/ 2147483647 h 578"/>
                <a:gd name="T36" fmla="*/ 2147483647 w 408"/>
                <a:gd name="T37" fmla="*/ 2147483647 h 578"/>
                <a:gd name="T38" fmla="*/ 2147483647 w 408"/>
                <a:gd name="T39" fmla="*/ 2147483647 h 578"/>
                <a:gd name="T40" fmla="*/ 2147483647 w 408"/>
                <a:gd name="T41" fmla="*/ 2147483647 h 578"/>
                <a:gd name="T42" fmla="*/ 2147483647 w 408"/>
                <a:gd name="T43" fmla="*/ 2147483647 h 578"/>
                <a:gd name="T44" fmla="*/ 2147483647 w 408"/>
                <a:gd name="T45" fmla="*/ 0 h 578"/>
                <a:gd name="T46" fmla="*/ 2147483647 w 408"/>
                <a:gd name="T47" fmla="*/ 2147483647 h 578"/>
                <a:gd name="T48" fmla="*/ 2147483647 w 408"/>
                <a:gd name="T49" fmla="*/ 2147483647 h 578"/>
                <a:gd name="T50" fmla="*/ 2147483647 w 408"/>
                <a:gd name="T51" fmla="*/ 2147483647 h 578"/>
                <a:gd name="T52" fmla="*/ 2147483647 w 408"/>
                <a:gd name="T53" fmla="*/ 2147483647 h 578"/>
                <a:gd name="T54" fmla="*/ 2147483647 w 408"/>
                <a:gd name="T55" fmla="*/ 2147483647 h 578"/>
                <a:gd name="T56" fmla="*/ 2147483647 w 408"/>
                <a:gd name="T57" fmla="*/ 2147483647 h 578"/>
                <a:gd name="T58" fmla="*/ 2147483647 w 408"/>
                <a:gd name="T59" fmla="*/ 2147483647 h 578"/>
                <a:gd name="T60" fmla="*/ 2147483647 w 408"/>
                <a:gd name="T61" fmla="*/ 2147483647 h 578"/>
                <a:gd name="T62" fmla="*/ 2147483647 w 408"/>
                <a:gd name="T63" fmla="*/ 2147483647 h 578"/>
                <a:gd name="T64" fmla="*/ 2147483647 w 408"/>
                <a:gd name="T65" fmla="*/ 2147483647 h 578"/>
                <a:gd name="T66" fmla="*/ 2147483647 w 408"/>
                <a:gd name="T67" fmla="*/ 2147483647 h 578"/>
                <a:gd name="T68" fmla="*/ 2147483647 w 408"/>
                <a:gd name="T69" fmla="*/ 2147483647 h 578"/>
                <a:gd name="T70" fmla="*/ 2147483647 w 408"/>
                <a:gd name="T71" fmla="*/ 2147483647 h 578"/>
                <a:gd name="T72" fmla="*/ 2147483647 w 408"/>
                <a:gd name="T73" fmla="*/ 2147483647 h 578"/>
                <a:gd name="T74" fmla="*/ 2147483647 w 408"/>
                <a:gd name="T75" fmla="*/ 2147483647 h 578"/>
                <a:gd name="T76" fmla="*/ 2147483647 w 408"/>
                <a:gd name="T77" fmla="*/ 2147483647 h 578"/>
                <a:gd name="T78" fmla="*/ 2147483647 w 408"/>
                <a:gd name="T79" fmla="*/ 2147483647 h 578"/>
                <a:gd name="T80" fmla="*/ 2147483647 w 408"/>
                <a:gd name="T81" fmla="*/ 2147483647 h 578"/>
                <a:gd name="T82" fmla="*/ 2147483647 w 408"/>
                <a:gd name="T83" fmla="*/ 2147483647 h 578"/>
                <a:gd name="T84" fmla="*/ 2147483647 w 408"/>
                <a:gd name="T85" fmla="*/ 2147483647 h 578"/>
                <a:gd name="T86" fmla="*/ 2147483647 w 408"/>
                <a:gd name="T87" fmla="*/ 2147483647 h 5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08"/>
                <a:gd name="T133" fmla="*/ 0 h 578"/>
                <a:gd name="T134" fmla="*/ 408 w 408"/>
                <a:gd name="T135" fmla="*/ 578 h 5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08" h="578">
                  <a:moveTo>
                    <a:pt x="248" y="430"/>
                  </a:moveTo>
                  <a:lnTo>
                    <a:pt x="166" y="430"/>
                  </a:lnTo>
                  <a:lnTo>
                    <a:pt x="158" y="430"/>
                  </a:lnTo>
                  <a:lnTo>
                    <a:pt x="154" y="426"/>
                  </a:lnTo>
                  <a:lnTo>
                    <a:pt x="150" y="422"/>
                  </a:lnTo>
                  <a:lnTo>
                    <a:pt x="148" y="414"/>
                  </a:lnTo>
                  <a:lnTo>
                    <a:pt x="148" y="404"/>
                  </a:lnTo>
                  <a:lnTo>
                    <a:pt x="150" y="382"/>
                  </a:lnTo>
                  <a:lnTo>
                    <a:pt x="152" y="360"/>
                  </a:lnTo>
                  <a:lnTo>
                    <a:pt x="158" y="342"/>
                  </a:lnTo>
                  <a:lnTo>
                    <a:pt x="164" y="326"/>
                  </a:lnTo>
                  <a:lnTo>
                    <a:pt x="174" y="308"/>
                  </a:lnTo>
                  <a:lnTo>
                    <a:pt x="188" y="292"/>
                  </a:lnTo>
                  <a:lnTo>
                    <a:pt x="206" y="274"/>
                  </a:lnTo>
                  <a:lnTo>
                    <a:pt x="228" y="254"/>
                  </a:lnTo>
                  <a:lnTo>
                    <a:pt x="268" y="222"/>
                  </a:lnTo>
                  <a:lnTo>
                    <a:pt x="286" y="204"/>
                  </a:lnTo>
                  <a:lnTo>
                    <a:pt x="292" y="194"/>
                  </a:lnTo>
                  <a:lnTo>
                    <a:pt x="296" y="184"/>
                  </a:lnTo>
                  <a:lnTo>
                    <a:pt x="300" y="172"/>
                  </a:lnTo>
                  <a:lnTo>
                    <a:pt x="300" y="162"/>
                  </a:lnTo>
                  <a:lnTo>
                    <a:pt x="298" y="146"/>
                  </a:lnTo>
                  <a:lnTo>
                    <a:pt x="294" y="132"/>
                  </a:lnTo>
                  <a:lnTo>
                    <a:pt x="286" y="118"/>
                  </a:lnTo>
                  <a:lnTo>
                    <a:pt x="276" y="106"/>
                  </a:lnTo>
                  <a:lnTo>
                    <a:pt x="262" y="96"/>
                  </a:lnTo>
                  <a:lnTo>
                    <a:pt x="244" y="90"/>
                  </a:lnTo>
                  <a:lnTo>
                    <a:pt x="226" y="86"/>
                  </a:lnTo>
                  <a:lnTo>
                    <a:pt x="206" y="84"/>
                  </a:lnTo>
                  <a:lnTo>
                    <a:pt x="186" y="86"/>
                  </a:lnTo>
                  <a:lnTo>
                    <a:pt x="168" y="90"/>
                  </a:lnTo>
                  <a:lnTo>
                    <a:pt x="152" y="98"/>
                  </a:lnTo>
                  <a:lnTo>
                    <a:pt x="136" y="108"/>
                  </a:lnTo>
                  <a:lnTo>
                    <a:pt x="124" y="122"/>
                  </a:lnTo>
                  <a:lnTo>
                    <a:pt x="112" y="138"/>
                  </a:lnTo>
                  <a:lnTo>
                    <a:pt x="104" y="158"/>
                  </a:lnTo>
                  <a:lnTo>
                    <a:pt x="98" y="180"/>
                  </a:lnTo>
                  <a:lnTo>
                    <a:pt x="12" y="170"/>
                  </a:lnTo>
                  <a:lnTo>
                    <a:pt x="6" y="168"/>
                  </a:lnTo>
                  <a:lnTo>
                    <a:pt x="2" y="164"/>
                  </a:lnTo>
                  <a:lnTo>
                    <a:pt x="0" y="158"/>
                  </a:lnTo>
                  <a:lnTo>
                    <a:pt x="0" y="152"/>
                  </a:lnTo>
                  <a:lnTo>
                    <a:pt x="4" y="140"/>
                  </a:lnTo>
                  <a:lnTo>
                    <a:pt x="14" y="112"/>
                  </a:lnTo>
                  <a:lnTo>
                    <a:pt x="22" y="96"/>
                  </a:lnTo>
                  <a:lnTo>
                    <a:pt x="32" y="78"/>
                  </a:lnTo>
                  <a:lnTo>
                    <a:pt x="44" y="62"/>
                  </a:lnTo>
                  <a:lnTo>
                    <a:pt x="56" y="50"/>
                  </a:lnTo>
                  <a:lnTo>
                    <a:pt x="70" y="38"/>
                  </a:lnTo>
                  <a:lnTo>
                    <a:pt x="86" y="28"/>
                  </a:lnTo>
                  <a:lnTo>
                    <a:pt x="102" y="20"/>
                  </a:lnTo>
                  <a:lnTo>
                    <a:pt x="120" y="12"/>
                  </a:lnTo>
                  <a:lnTo>
                    <a:pt x="138" y="8"/>
                  </a:lnTo>
                  <a:lnTo>
                    <a:pt x="158" y="4"/>
                  </a:lnTo>
                  <a:lnTo>
                    <a:pt x="180" y="2"/>
                  </a:lnTo>
                  <a:lnTo>
                    <a:pt x="202" y="0"/>
                  </a:lnTo>
                  <a:lnTo>
                    <a:pt x="224" y="2"/>
                  </a:lnTo>
                  <a:lnTo>
                    <a:pt x="246" y="4"/>
                  </a:lnTo>
                  <a:lnTo>
                    <a:pt x="266" y="8"/>
                  </a:lnTo>
                  <a:lnTo>
                    <a:pt x="286" y="12"/>
                  </a:lnTo>
                  <a:lnTo>
                    <a:pt x="304" y="20"/>
                  </a:lnTo>
                  <a:lnTo>
                    <a:pt x="322" y="28"/>
                  </a:lnTo>
                  <a:lnTo>
                    <a:pt x="338" y="38"/>
                  </a:lnTo>
                  <a:lnTo>
                    <a:pt x="352" y="50"/>
                  </a:lnTo>
                  <a:lnTo>
                    <a:pt x="364" y="62"/>
                  </a:lnTo>
                  <a:lnTo>
                    <a:pt x="376" y="76"/>
                  </a:lnTo>
                  <a:lnTo>
                    <a:pt x="386" y="88"/>
                  </a:lnTo>
                  <a:lnTo>
                    <a:pt x="394" y="104"/>
                  </a:lnTo>
                  <a:lnTo>
                    <a:pt x="400" y="118"/>
                  </a:lnTo>
                  <a:lnTo>
                    <a:pt x="404" y="132"/>
                  </a:lnTo>
                  <a:lnTo>
                    <a:pt x="406" y="148"/>
                  </a:lnTo>
                  <a:lnTo>
                    <a:pt x="408" y="164"/>
                  </a:lnTo>
                  <a:lnTo>
                    <a:pt x="406" y="182"/>
                  </a:lnTo>
                  <a:lnTo>
                    <a:pt x="402" y="200"/>
                  </a:lnTo>
                  <a:lnTo>
                    <a:pt x="396" y="216"/>
                  </a:lnTo>
                  <a:lnTo>
                    <a:pt x="388" y="234"/>
                  </a:lnTo>
                  <a:lnTo>
                    <a:pt x="374" y="250"/>
                  </a:lnTo>
                  <a:lnTo>
                    <a:pt x="354" y="272"/>
                  </a:lnTo>
                  <a:lnTo>
                    <a:pt x="330" y="296"/>
                  </a:lnTo>
                  <a:lnTo>
                    <a:pt x="300" y="322"/>
                  </a:lnTo>
                  <a:lnTo>
                    <a:pt x="272" y="348"/>
                  </a:lnTo>
                  <a:lnTo>
                    <a:pt x="262" y="358"/>
                  </a:lnTo>
                  <a:lnTo>
                    <a:pt x="256" y="368"/>
                  </a:lnTo>
                  <a:lnTo>
                    <a:pt x="252" y="378"/>
                  </a:lnTo>
                  <a:lnTo>
                    <a:pt x="250" y="392"/>
                  </a:lnTo>
                  <a:lnTo>
                    <a:pt x="248" y="410"/>
                  </a:lnTo>
                  <a:lnTo>
                    <a:pt x="248" y="430"/>
                  </a:lnTo>
                  <a:close/>
                  <a:moveTo>
                    <a:pt x="166" y="578"/>
                  </a:moveTo>
                  <a:lnTo>
                    <a:pt x="166" y="578"/>
                  </a:lnTo>
                  <a:lnTo>
                    <a:pt x="158" y="578"/>
                  </a:lnTo>
                  <a:lnTo>
                    <a:pt x="154" y="574"/>
                  </a:lnTo>
                  <a:lnTo>
                    <a:pt x="150" y="568"/>
                  </a:lnTo>
                  <a:lnTo>
                    <a:pt x="150" y="562"/>
                  </a:lnTo>
                  <a:lnTo>
                    <a:pt x="150" y="484"/>
                  </a:lnTo>
                  <a:lnTo>
                    <a:pt x="150" y="478"/>
                  </a:lnTo>
                  <a:lnTo>
                    <a:pt x="154" y="474"/>
                  </a:lnTo>
                  <a:lnTo>
                    <a:pt x="158" y="470"/>
                  </a:lnTo>
                  <a:lnTo>
                    <a:pt x="166" y="468"/>
                  </a:lnTo>
                  <a:lnTo>
                    <a:pt x="242" y="468"/>
                  </a:lnTo>
                  <a:lnTo>
                    <a:pt x="250" y="470"/>
                  </a:lnTo>
                  <a:lnTo>
                    <a:pt x="254" y="474"/>
                  </a:lnTo>
                  <a:lnTo>
                    <a:pt x="258" y="478"/>
                  </a:lnTo>
                  <a:lnTo>
                    <a:pt x="258" y="484"/>
                  </a:lnTo>
                  <a:lnTo>
                    <a:pt x="258" y="562"/>
                  </a:lnTo>
                  <a:lnTo>
                    <a:pt x="258" y="568"/>
                  </a:lnTo>
                  <a:lnTo>
                    <a:pt x="254" y="574"/>
                  </a:lnTo>
                  <a:lnTo>
                    <a:pt x="250" y="578"/>
                  </a:lnTo>
                  <a:lnTo>
                    <a:pt x="242" y="578"/>
                  </a:lnTo>
                  <a:lnTo>
                    <a:pt x="166" y="578"/>
                  </a:lnTo>
                  <a:close/>
                </a:path>
              </a:pathLst>
            </a:custGeom>
            <a:solidFill>
              <a:schemeClr val="bg1"/>
            </a:solidFill>
            <a:ln>
              <a:noFill/>
            </a:ln>
            <a:extLst>
              <a:ext uri="{91240B29-F687-4F45-9708-019B960494DF}">
                <a14:hiddenLine xmlns:a14="http://schemas.microsoft.com/office/drawing/2010/main" w="9525">
                  <a:solidFill>
                    <a:srgbClr val="000000"/>
                  </a:solidFill>
                  <a:bevel/>
                </a14:hiddenLine>
              </a:ext>
            </a:extLst>
          </p:spPr>
          <p:txBody>
            <a:bodyPr/>
            <a:lstStyle/>
            <a:p>
              <a:pPr fontAlgn="base">
                <a:spcBef>
                  <a:spcPct val="0"/>
                </a:spcBef>
                <a:spcAft>
                  <a:spcPct val="0"/>
                </a:spcAft>
                <a:buFont typeface="Arial" panose="020B0604020202020204" pitchFamily="34" charset="0"/>
                <a:buNone/>
              </a:pPr>
              <a:endParaRPr lang="zh-CN" altLang="en-US" sz="1100" dirty="0">
                <a:solidFill>
                  <a:schemeClr val="bg1">
                    <a:lumMod val="50000"/>
                  </a:schemeClr>
                </a:solidFill>
                <a:latin typeface="+mn-ea"/>
              </a:endParaRPr>
            </a:p>
          </p:txBody>
        </p:sp>
      </p:grpSp>
      <p:sp>
        <p:nvSpPr>
          <p:cNvPr id="34" name="文本框 33"/>
          <p:cNvSpPr txBox="1"/>
          <p:nvPr/>
        </p:nvSpPr>
        <p:spPr>
          <a:xfrm>
            <a:off x="7881620" y="1447800"/>
            <a:ext cx="3986530" cy="922020"/>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总资产周转率：总资产的周转速度越快，反映销售能力越强。长虹的资产周转速度处于行业的平均水平，应该进一步采取措施，加速资产的周转，增加利润。</a:t>
            </a:r>
          </a:p>
        </p:txBody>
      </p:sp>
      <p:sp>
        <p:nvSpPr>
          <p:cNvPr id="35" name="文本框 34"/>
          <p:cNvSpPr txBox="1"/>
          <p:nvPr/>
        </p:nvSpPr>
        <p:spPr>
          <a:xfrm>
            <a:off x="7881620" y="2810510"/>
            <a:ext cx="3985895" cy="1476375"/>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应收帐款周转率和周转天数：周转率越高，周转天数越短，说明应收帐款收回的越快。如果比较慢，说明企业的资金过多的呆滞在应收帐款上，影响资金的获力能力。长虹的周转率比较低，应该加强应收帐款的管理工作，加快周转。</a:t>
            </a:r>
          </a:p>
        </p:txBody>
      </p:sp>
      <p:sp>
        <p:nvSpPr>
          <p:cNvPr id="36" name="文本框 35"/>
          <p:cNvSpPr txBox="1"/>
          <p:nvPr/>
        </p:nvSpPr>
        <p:spPr>
          <a:xfrm>
            <a:off x="7881620" y="4518660"/>
            <a:ext cx="3987165" cy="1753235"/>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存货周转率和周转天数：存货的周转率和周转天数反映存货转化为现金或应收帐款的能力。周转越快，存货的占用水平越低，变现能力越强，长虹的存货周转率比较低，应该加强存货的管理，在保证生产连续性的前提下，尽可能减少存货占用经营资金，提高资金使用效率</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49" presetClass="entr" presetSubtype="0" decel="100000" fill="hold" nodeType="after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500" fill="hold"/>
                                        <p:tgtEl>
                                          <p:spTgt spid="18"/>
                                        </p:tgtEl>
                                        <p:attrNameLst>
                                          <p:attrName>ppt_w</p:attrName>
                                        </p:attrNameLst>
                                      </p:cBhvr>
                                      <p:tavLst>
                                        <p:tav tm="0">
                                          <p:val>
                                            <p:fltVal val="0"/>
                                          </p:val>
                                        </p:tav>
                                        <p:tav tm="100000">
                                          <p:val>
                                            <p:strVal val="#ppt_w"/>
                                          </p:val>
                                        </p:tav>
                                      </p:tavLst>
                                    </p:anim>
                                    <p:anim calcmode="lin" valueType="num">
                                      <p:cBhvr>
                                        <p:cTn id="22" dur="500" fill="hold"/>
                                        <p:tgtEl>
                                          <p:spTgt spid="18"/>
                                        </p:tgtEl>
                                        <p:attrNameLst>
                                          <p:attrName>ppt_h</p:attrName>
                                        </p:attrNameLst>
                                      </p:cBhvr>
                                      <p:tavLst>
                                        <p:tav tm="0">
                                          <p:val>
                                            <p:fltVal val="0"/>
                                          </p:val>
                                        </p:tav>
                                        <p:tav tm="100000">
                                          <p:val>
                                            <p:strVal val="#ppt_h"/>
                                          </p:val>
                                        </p:tav>
                                      </p:tavLst>
                                    </p:anim>
                                    <p:anim calcmode="lin" valueType="num">
                                      <p:cBhvr>
                                        <p:cTn id="23" dur="500" fill="hold"/>
                                        <p:tgtEl>
                                          <p:spTgt spid="18"/>
                                        </p:tgtEl>
                                        <p:attrNameLst>
                                          <p:attrName>style.rotation</p:attrName>
                                        </p:attrNameLst>
                                      </p:cBhvr>
                                      <p:tavLst>
                                        <p:tav tm="0">
                                          <p:val>
                                            <p:fltVal val="360"/>
                                          </p:val>
                                        </p:tav>
                                        <p:tav tm="100000">
                                          <p:val>
                                            <p:fltVal val="0"/>
                                          </p:val>
                                        </p:tav>
                                      </p:tavLst>
                                    </p:anim>
                                    <p:animEffect transition="in" filter="fade">
                                      <p:cBhvr>
                                        <p:cTn id="24" dur="500"/>
                                        <p:tgtEl>
                                          <p:spTgt spid="18"/>
                                        </p:tgtEl>
                                      </p:cBhvr>
                                    </p:animEffect>
                                  </p:childTnLst>
                                </p:cTn>
                              </p:par>
                              <p:par>
                                <p:cTn id="25" presetID="49" presetClass="entr" presetSubtype="0" decel="10000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ppt_w</p:attrName>
                                        </p:attrNameLst>
                                      </p:cBhvr>
                                      <p:tavLst>
                                        <p:tav tm="0">
                                          <p:val>
                                            <p:fltVal val="0"/>
                                          </p:val>
                                        </p:tav>
                                        <p:tav tm="100000">
                                          <p:val>
                                            <p:strVal val="#ppt_w"/>
                                          </p:val>
                                        </p:tav>
                                      </p:tavLst>
                                    </p:anim>
                                    <p:anim calcmode="lin" valueType="num">
                                      <p:cBhvr>
                                        <p:cTn id="28" dur="500" fill="hold"/>
                                        <p:tgtEl>
                                          <p:spTgt spid="25"/>
                                        </p:tgtEl>
                                        <p:attrNameLst>
                                          <p:attrName>ppt_h</p:attrName>
                                        </p:attrNameLst>
                                      </p:cBhvr>
                                      <p:tavLst>
                                        <p:tav tm="0">
                                          <p:val>
                                            <p:fltVal val="0"/>
                                          </p:val>
                                        </p:tav>
                                        <p:tav tm="100000">
                                          <p:val>
                                            <p:strVal val="#ppt_h"/>
                                          </p:val>
                                        </p:tav>
                                      </p:tavLst>
                                    </p:anim>
                                    <p:anim calcmode="lin" valueType="num">
                                      <p:cBhvr>
                                        <p:cTn id="29" dur="500" fill="hold"/>
                                        <p:tgtEl>
                                          <p:spTgt spid="25"/>
                                        </p:tgtEl>
                                        <p:attrNameLst>
                                          <p:attrName>style.rotation</p:attrName>
                                        </p:attrNameLst>
                                      </p:cBhvr>
                                      <p:tavLst>
                                        <p:tav tm="0">
                                          <p:val>
                                            <p:fltVal val="360"/>
                                          </p:val>
                                        </p:tav>
                                        <p:tav tm="100000">
                                          <p:val>
                                            <p:fltVal val="0"/>
                                          </p:val>
                                        </p:tav>
                                      </p:tavLst>
                                    </p:anim>
                                    <p:animEffect transition="in" filter="fade">
                                      <p:cBhvr>
                                        <p:cTn id="30" dur="500"/>
                                        <p:tgtEl>
                                          <p:spTgt spid="25"/>
                                        </p:tgtEl>
                                      </p:cBhvr>
                                    </p:animEffect>
                                  </p:childTnLst>
                                </p:cTn>
                              </p:par>
                              <p:par>
                                <p:cTn id="31" presetID="49" presetClass="entr" presetSubtype="0" decel="10000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500" fill="hold"/>
                                        <p:tgtEl>
                                          <p:spTgt spid="31"/>
                                        </p:tgtEl>
                                        <p:attrNameLst>
                                          <p:attrName>ppt_w</p:attrName>
                                        </p:attrNameLst>
                                      </p:cBhvr>
                                      <p:tavLst>
                                        <p:tav tm="0">
                                          <p:val>
                                            <p:fltVal val="0"/>
                                          </p:val>
                                        </p:tav>
                                        <p:tav tm="100000">
                                          <p:val>
                                            <p:strVal val="#ppt_w"/>
                                          </p:val>
                                        </p:tav>
                                      </p:tavLst>
                                    </p:anim>
                                    <p:anim calcmode="lin" valueType="num">
                                      <p:cBhvr>
                                        <p:cTn id="34" dur="500" fill="hold"/>
                                        <p:tgtEl>
                                          <p:spTgt spid="31"/>
                                        </p:tgtEl>
                                        <p:attrNameLst>
                                          <p:attrName>ppt_h</p:attrName>
                                        </p:attrNameLst>
                                      </p:cBhvr>
                                      <p:tavLst>
                                        <p:tav tm="0">
                                          <p:val>
                                            <p:fltVal val="0"/>
                                          </p:val>
                                        </p:tav>
                                        <p:tav tm="100000">
                                          <p:val>
                                            <p:strVal val="#ppt_h"/>
                                          </p:val>
                                        </p:tav>
                                      </p:tavLst>
                                    </p:anim>
                                    <p:anim calcmode="lin" valueType="num">
                                      <p:cBhvr>
                                        <p:cTn id="35" dur="500" fill="hold"/>
                                        <p:tgtEl>
                                          <p:spTgt spid="31"/>
                                        </p:tgtEl>
                                        <p:attrNameLst>
                                          <p:attrName>style.rotation</p:attrName>
                                        </p:attrNameLst>
                                      </p:cBhvr>
                                      <p:tavLst>
                                        <p:tav tm="0">
                                          <p:val>
                                            <p:fltVal val="360"/>
                                          </p:val>
                                        </p:tav>
                                        <p:tav tm="100000">
                                          <p:val>
                                            <p:fltVal val="0"/>
                                          </p:val>
                                        </p:tav>
                                      </p:tavLst>
                                    </p:anim>
                                    <p:animEffect transition="in" filter="fade">
                                      <p:cBhvr>
                                        <p:cTn id="36" dur="500"/>
                                        <p:tgtEl>
                                          <p:spTgt spid="31"/>
                                        </p:tgtEl>
                                      </p:cBhvr>
                                    </p:animEffect>
                                  </p:childTnLst>
                                </p:cTn>
                              </p:par>
                            </p:childTnLst>
                          </p:cTn>
                        </p:par>
                        <p:par>
                          <p:cTn id="37" fill="hold">
                            <p:stCondLst>
                              <p:cond delay="2000"/>
                            </p:stCondLst>
                            <p:childTnLst>
                              <p:par>
                                <p:cTn id="38" presetID="4" presetClass="entr" presetSubtype="16" fill="hold" nodeType="after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box(in)">
                                      <p:cBhvr>
                                        <p:cTn id="40" dur="2000"/>
                                        <p:tgtEl>
                                          <p:spTgt spid="37"/>
                                        </p:tgtEl>
                                      </p:cBhvr>
                                    </p:animEffect>
                                  </p:childTnLst>
                                </p:cTn>
                              </p:par>
                            </p:childTnLst>
                          </p:cTn>
                        </p:par>
                        <p:par>
                          <p:cTn id="41" fill="hold">
                            <p:stCondLst>
                              <p:cond delay="4000"/>
                            </p:stCondLst>
                            <p:childTnLst>
                              <p:par>
                                <p:cTn id="42" presetID="41" presetClass="entr" presetSubtype="0" fill="hold" grpId="0" nodeType="afterEffect">
                                  <p:stCondLst>
                                    <p:cond delay="0"/>
                                  </p:stCondLst>
                                  <p:iterate type="lt">
                                    <p:tmPct val="10000"/>
                                  </p:iterate>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45" dur="500" fill="hold"/>
                                        <p:tgtEl>
                                          <p:spTgt spid="34"/>
                                        </p:tgtEl>
                                        <p:attrNameLst>
                                          <p:attrName>ppt_y</p:attrName>
                                        </p:attrNameLst>
                                      </p:cBhvr>
                                      <p:tavLst>
                                        <p:tav tm="0">
                                          <p:val>
                                            <p:strVal val="#ppt_y"/>
                                          </p:val>
                                        </p:tav>
                                        <p:tav tm="100000">
                                          <p:val>
                                            <p:strVal val="#ppt_y"/>
                                          </p:val>
                                        </p:tav>
                                      </p:tavLst>
                                    </p:anim>
                                    <p:anim calcmode="lin" valueType="num">
                                      <p:cBhvr>
                                        <p:cTn id="46"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47"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48" dur="500" tmFilter="0,0; .5, 1; 1, 1"/>
                                        <p:tgtEl>
                                          <p:spTgt spid="34"/>
                                        </p:tgtEl>
                                      </p:cBhvr>
                                    </p:animEffect>
                                  </p:childTnLst>
                                </p:cTn>
                              </p:par>
                            </p:childTnLst>
                          </p:cTn>
                        </p:par>
                        <p:par>
                          <p:cTn id="49" fill="hold">
                            <p:stCondLst>
                              <p:cond delay="7900"/>
                            </p:stCondLst>
                            <p:childTnLst>
                              <p:par>
                                <p:cTn id="50" presetID="41" presetClass="entr" presetSubtype="0" fill="hold" grpId="0" nodeType="afterEffect">
                                  <p:stCondLst>
                                    <p:cond delay="0"/>
                                  </p:stCondLst>
                                  <p:iterate type="lt">
                                    <p:tmPct val="10000"/>
                                  </p:iterate>
                                  <p:childTnLst>
                                    <p:set>
                                      <p:cBhvr>
                                        <p:cTn id="51" dur="1" fill="hold">
                                          <p:stCondLst>
                                            <p:cond delay="0"/>
                                          </p:stCondLst>
                                        </p:cTn>
                                        <p:tgtEl>
                                          <p:spTgt spid="35"/>
                                        </p:tgtEl>
                                        <p:attrNameLst>
                                          <p:attrName>style.visibility</p:attrName>
                                        </p:attrNameLst>
                                      </p:cBhvr>
                                      <p:to>
                                        <p:strVal val="visible"/>
                                      </p:to>
                                    </p:set>
                                    <p:anim calcmode="lin" valueType="num">
                                      <p:cBhvr>
                                        <p:cTn id="52"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53" dur="500" fill="hold"/>
                                        <p:tgtEl>
                                          <p:spTgt spid="35"/>
                                        </p:tgtEl>
                                        <p:attrNameLst>
                                          <p:attrName>ppt_y</p:attrName>
                                        </p:attrNameLst>
                                      </p:cBhvr>
                                      <p:tavLst>
                                        <p:tav tm="0">
                                          <p:val>
                                            <p:strVal val="#ppt_y"/>
                                          </p:val>
                                        </p:tav>
                                        <p:tav tm="100000">
                                          <p:val>
                                            <p:strVal val="#ppt_y"/>
                                          </p:val>
                                        </p:tav>
                                      </p:tavLst>
                                    </p:anim>
                                    <p:anim calcmode="lin" valueType="num">
                                      <p:cBhvr>
                                        <p:cTn id="54"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55"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56" dur="500" tmFilter="0,0; .5, 1; 1, 1"/>
                                        <p:tgtEl>
                                          <p:spTgt spid="35"/>
                                        </p:tgtEl>
                                      </p:cBhvr>
                                    </p:animEffect>
                                  </p:childTnLst>
                                </p:cTn>
                              </p:par>
                            </p:childTnLst>
                          </p:cTn>
                        </p:par>
                        <p:par>
                          <p:cTn id="57" fill="hold">
                            <p:stCondLst>
                              <p:cond delay="13450"/>
                            </p:stCondLst>
                            <p:childTnLst>
                              <p:par>
                                <p:cTn id="58" presetID="41" presetClass="entr" presetSubtype="0" fill="hold" grpId="0" nodeType="afterEffect">
                                  <p:stCondLst>
                                    <p:cond delay="0"/>
                                  </p:stCondLst>
                                  <p:iterate type="lt">
                                    <p:tmPct val="10000"/>
                                  </p:iterate>
                                  <p:childTnLst>
                                    <p:set>
                                      <p:cBhvr>
                                        <p:cTn id="59" dur="1" fill="hold">
                                          <p:stCondLst>
                                            <p:cond delay="0"/>
                                          </p:stCondLst>
                                        </p:cTn>
                                        <p:tgtEl>
                                          <p:spTgt spid="36"/>
                                        </p:tgtEl>
                                        <p:attrNameLst>
                                          <p:attrName>style.visibility</p:attrName>
                                        </p:attrNameLst>
                                      </p:cBhvr>
                                      <p:to>
                                        <p:strVal val="visible"/>
                                      </p:to>
                                    </p:set>
                                    <p:anim calcmode="lin" valueType="num">
                                      <p:cBhvr>
                                        <p:cTn id="60" dur="500" fill="hold"/>
                                        <p:tgtEl>
                                          <p:spTgt spid="36"/>
                                        </p:tgtEl>
                                        <p:attrNameLst>
                                          <p:attrName>ppt_x</p:attrName>
                                        </p:attrNameLst>
                                      </p:cBhvr>
                                      <p:tavLst>
                                        <p:tav tm="0">
                                          <p:val>
                                            <p:strVal val="#ppt_x"/>
                                          </p:val>
                                        </p:tav>
                                        <p:tav tm="50000">
                                          <p:val>
                                            <p:strVal val="#ppt_x+.1"/>
                                          </p:val>
                                        </p:tav>
                                        <p:tav tm="100000">
                                          <p:val>
                                            <p:strVal val="#ppt_x"/>
                                          </p:val>
                                        </p:tav>
                                      </p:tavLst>
                                    </p:anim>
                                    <p:anim calcmode="lin" valueType="num">
                                      <p:cBhvr>
                                        <p:cTn id="61" dur="500" fill="hold"/>
                                        <p:tgtEl>
                                          <p:spTgt spid="36"/>
                                        </p:tgtEl>
                                        <p:attrNameLst>
                                          <p:attrName>ppt_y</p:attrName>
                                        </p:attrNameLst>
                                      </p:cBhvr>
                                      <p:tavLst>
                                        <p:tav tm="0">
                                          <p:val>
                                            <p:strVal val="#ppt_y"/>
                                          </p:val>
                                        </p:tav>
                                        <p:tav tm="100000">
                                          <p:val>
                                            <p:strVal val="#ppt_y"/>
                                          </p:val>
                                        </p:tav>
                                      </p:tavLst>
                                    </p:anim>
                                    <p:anim calcmode="lin" valueType="num">
                                      <p:cBhvr>
                                        <p:cTn id="62" dur="500" fill="hold"/>
                                        <p:tgtEl>
                                          <p:spTgt spid="36"/>
                                        </p:tgtEl>
                                        <p:attrNameLst>
                                          <p:attrName>ppt_h</p:attrName>
                                        </p:attrNameLst>
                                      </p:cBhvr>
                                      <p:tavLst>
                                        <p:tav tm="0">
                                          <p:val>
                                            <p:strVal val="#ppt_h/10"/>
                                          </p:val>
                                        </p:tav>
                                        <p:tav tm="50000">
                                          <p:val>
                                            <p:strVal val="#ppt_h+.01"/>
                                          </p:val>
                                        </p:tav>
                                        <p:tav tm="100000">
                                          <p:val>
                                            <p:strVal val="#ppt_h"/>
                                          </p:val>
                                        </p:tav>
                                      </p:tavLst>
                                    </p:anim>
                                    <p:anim calcmode="lin" valueType="num">
                                      <p:cBhvr>
                                        <p:cTn id="63" dur="500" fill="hold"/>
                                        <p:tgtEl>
                                          <p:spTgt spid="36"/>
                                        </p:tgtEl>
                                        <p:attrNameLst>
                                          <p:attrName>ppt_w</p:attrName>
                                        </p:attrNameLst>
                                      </p:cBhvr>
                                      <p:tavLst>
                                        <p:tav tm="0">
                                          <p:val>
                                            <p:strVal val="#ppt_w/10"/>
                                          </p:val>
                                        </p:tav>
                                        <p:tav tm="50000">
                                          <p:val>
                                            <p:strVal val="#ppt_w+.01"/>
                                          </p:val>
                                        </p:tav>
                                        <p:tav tm="100000">
                                          <p:val>
                                            <p:strVal val="#ppt_w"/>
                                          </p:val>
                                        </p:tav>
                                      </p:tavLst>
                                    </p:anim>
                                    <p:animEffect transition="in" filter="fade">
                                      <p:cBhvr>
                                        <p:cTn id="64" dur="500" tmFilter="0,0; .5, 1; 1, 1"/>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34" grpId="0"/>
      <p:bldP spid="35" grpId="0"/>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18288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盈利能力分析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4" name="组合 53"/>
          <p:cNvGrpSpPr/>
          <p:nvPr/>
        </p:nvGrpSpPr>
        <p:grpSpPr>
          <a:xfrm>
            <a:off x="1054996" y="1267662"/>
            <a:ext cx="10545921" cy="4646110"/>
            <a:chOff x="2478" y="1935"/>
            <a:chExt cx="10931" cy="4815"/>
          </a:xfrm>
        </p:grpSpPr>
        <p:grpSp>
          <p:nvGrpSpPr>
            <p:cNvPr id="2" name="组合 5"/>
            <p:cNvGrpSpPr/>
            <p:nvPr/>
          </p:nvGrpSpPr>
          <p:grpSpPr>
            <a:xfrm>
              <a:off x="7845" y="1935"/>
              <a:ext cx="5563" cy="4602"/>
              <a:chOff x="3238876" y="1820388"/>
              <a:chExt cx="3744494" cy="3098677"/>
            </a:xfrm>
          </p:grpSpPr>
          <p:sp>
            <p:nvSpPr>
              <p:cNvPr id="3" name="Freeform 46"/>
              <p:cNvSpPr>
                <a:spLocks noEditPoints="1"/>
              </p:cNvSpPr>
              <p:nvPr/>
            </p:nvSpPr>
            <p:spPr bwMode="auto">
              <a:xfrm>
                <a:off x="3238876" y="2221460"/>
                <a:ext cx="496946" cy="49704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1"/>
              </a:solidFill>
              <a:ln w="9525">
                <a:noFill/>
                <a:round/>
              </a:ln>
            </p:spPr>
            <p:txBody>
              <a:bodyPr vert="horz" wrap="square" lIns="91446" tIns="45723" rIns="91446" bIns="45723" numCol="1" anchor="t" anchorCtr="0" compatLnSpc="1"/>
              <a:lstStyle/>
              <a:p>
                <a:pPr>
                  <a:lnSpc>
                    <a:spcPct val="120000"/>
                  </a:lnSpc>
                </a:pPr>
                <a:endParaRPr lang="en-US" sz="5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46"/>
              <p:cNvSpPr>
                <a:spLocks noEditPoints="1"/>
              </p:cNvSpPr>
              <p:nvPr/>
            </p:nvSpPr>
            <p:spPr bwMode="auto">
              <a:xfrm>
                <a:off x="3238876" y="3306090"/>
                <a:ext cx="496946" cy="49704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CE3418"/>
              </a:solidFill>
              <a:ln w="9525">
                <a:noFill/>
                <a:round/>
              </a:ln>
            </p:spPr>
            <p:txBody>
              <a:bodyPr vert="horz" wrap="square" lIns="91446" tIns="45723" rIns="91446" bIns="45723" numCol="1" anchor="t" anchorCtr="0" compatLnSpc="1"/>
              <a:lstStyle/>
              <a:p>
                <a:pPr>
                  <a:lnSpc>
                    <a:spcPct val="120000"/>
                  </a:lnSpc>
                </a:pPr>
                <a:endParaRPr lang="en-US" sz="5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46"/>
              <p:cNvSpPr>
                <a:spLocks noEditPoints="1"/>
              </p:cNvSpPr>
              <p:nvPr/>
            </p:nvSpPr>
            <p:spPr bwMode="auto">
              <a:xfrm>
                <a:off x="3238876" y="4402559"/>
                <a:ext cx="496946" cy="497040"/>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3"/>
              </a:solidFill>
              <a:ln w="9525">
                <a:noFill/>
                <a:round/>
              </a:ln>
            </p:spPr>
            <p:txBody>
              <a:bodyPr vert="horz" wrap="square" lIns="91446" tIns="45723" rIns="91446" bIns="45723" numCol="1" anchor="t" anchorCtr="0" compatLnSpc="1"/>
              <a:lstStyle/>
              <a:p>
                <a:pPr>
                  <a:lnSpc>
                    <a:spcPct val="120000"/>
                  </a:lnSpc>
                </a:pPr>
                <a:endParaRPr lang="en-US" sz="5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Text Placeholder 3"/>
              <p:cNvSpPr txBox="1"/>
              <p:nvPr/>
            </p:nvSpPr>
            <p:spPr>
              <a:xfrm>
                <a:off x="3848486" y="1820388"/>
                <a:ext cx="3134884" cy="1353013"/>
              </a:xfrm>
              <a:prstGeom prst="rect">
                <a:avLst/>
              </a:prstGeom>
            </p:spPr>
            <p:txBody>
              <a:bodyPr wrap="squar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a:lnSpc>
                    <a:spcPct val="150000"/>
                  </a:lnSpc>
                  <a:buFont typeface="Arial" panose="020B0604020202020204" pitchFamily="34" charset="0"/>
                  <a:buChar char="•"/>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销售净利率：销售净利率反映了企业每单位的销售收入所产生的净利润，这个指标和净利润成正比</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mn-ea"/>
                  </a:rPr>
                  <a:t>,</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和销售收入成反比。销售收入如果增长了，利润率没有增长，说明费用过高，可能管理上存在问题。四川长虹</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mn-ea"/>
                  </a:rPr>
                  <a:t>2017</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年和</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mn-ea"/>
                  </a:rPr>
                  <a:t>2018</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年的比率分别为</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mn-ea"/>
                  </a:rPr>
                  <a:t>2.56%,0.93%,2018</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年比</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mn-ea"/>
                  </a:rPr>
                  <a:t>2017</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年有所下降，但是还保持着一定的获力能力。</a:t>
                </a: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14" name="Text Placeholder 3"/>
              <p:cNvSpPr txBox="1"/>
              <p:nvPr/>
            </p:nvSpPr>
            <p:spPr>
              <a:xfrm>
                <a:off x="3848486" y="3212401"/>
                <a:ext cx="3134884" cy="1127437"/>
              </a:xfrm>
              <a:prstGeom prst="rect">
                <a:avLst/>
              </a:prstGeom>
            </p:spPr>
            <p:txBody>
              <a:bodyPr wrap="squar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a:lnSpc>
                    <a:spcPct val="150000"/>
                  </a:lnSpc>
                  <a:buFont typeface="Arial" panose="020B0604020202020204" pitchFamily="34" charset="0"/>
                  <a:buChar char="•"/>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投资报酬率（资产净利率）：它表明资产利用的综合效果，比率越高，说明企业在增加收入节约资金方面效果越好。长虹</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mn-ea"/>
                  </a:rPr>
                  <a:t>1.66%</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和</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sym typeface="+mn-ea"/>
                  </a:rPr>
                  <a:t>0.52%</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的比率超过了行业的平均水平，对于家电行业竞争如此激烈的环境来说还是不错的。</a:t>
                </a: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38" name="Text Placeholder 3"/>
              <p:cNvSpPr txBox="1"/>
              <p:nvPr/>
            </p:nvSpPr>
            <p:spPr>
              <a:xfrm>
                <a:off x="3848486" y="4468356"/>
                <a:ext cx="3134884" cy="450709"/>
              </a:xfrm>
              <a:prstGeom prst="rect">
                <a:avLst/>
              </a:prstGeom>
            </p:spPr>
            <p:txBody>
              <a:bodyPr wrap="squar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285750" indent="-285750" algn="l">
                  <a:lnSpc>
                    <a:spcPct val="150000"/>
                  </a:lnSpc>
                  <a:buFont typeface="Arial" panose="020B0604020202020204" pitchFamily="34" charset="0"/>
                  <a:buChar char="•"/>
                </a:pP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sym typeface="+mn-ea"/>
                  </a:rPr>
                  <a:t>权益报酬率：长虹的这个指标还是比较低的，应该进一步加强管理，挖掘它的获力潜力。</a:t>
                </a: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grpSp>
        <p:grpSp>
          <p:nvGrpSpPr>
            <p:cNvPr id="43" name="组合 24"/>
            <p:cNvGrpSpPr/>
            <p:nvPr/>
          </p:nvGrpSpPr>
          <p:grpSpPr>
            <a:xfrm>
              <a:off x="2478" y="2372"/>
              <a:ext cx="4384" cy="4379"/>
              <a:chOff x="3232150" y="1665288"/>
              <a:chExt cx="2192338" cy="2190750"/>
            </a:xfrm>
          </p:grpSpPr>
          <p:grpSp>
            <p:nvGrpSpPr>
              <p:cNvPr id="44" name="Group 16"/>
              <p:cNvGrpSpPr/>
              <p:nvPr/>
            </p:nvGrpSpPr>
            <p:grpSpPr bwMode="auto">
              <a:xfrm>
                <a:off x="3284538" y="1716088"/>
                <a:ext cx="2087562" cy="2087562"/>
                <a:chOff x="3284240" y="1716038"/>
                <a:chExt cx="2088232" cy="2088232"/>
              </a:xfrm>
            </p:grpSpPr>
            <p:sp>
              <p:nvSpPr>
                <p:cNvPr id="45" name="Pie 9"/>
                <p:cNvSpPr/>
                <p:nvPr/>
              </p:nvSpPr>
              <p:spPr>
                <a:xfrm>
                  <a:off x="3284240" y="1716038"/>
                  <a:ext cx="2088232" cy="2088232"/>
                </a:xfrm>
                <a:prstGeom prst="pie">
                  <a:avLst>
                    <a:gd name="adj1" fmla="val 4111343"/>
                    <a:gd name="adj2" fmla="val 1629722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bg-BG" sz="2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6" name="Pie 36"/>
                <p:cNvSpPr/>
                <p:nvPr/>
              </p:nvSpPr>
              <p:spPr>
                <a:xfrm>
                  <a:off x="3284240" y="1716038"/>
                  <a:ext cx="2088232" cy="2088232"/>
                </a:xfrm>
                <a:prstGeom prst="pie">
                  <a:avLst>
                    <a:gd name="adj1" fmla="val 20518227"/>
                    <a:gd name="adj2" fmla="val 11762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bg-BG" sz="2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7" name="Pie 37"/>
                <p:cNvSpPr/>
                <p:nvPr/>
              </p:nvSpPr>
              <p:spPr>
                <a:xfrm>
                  <a:off x="3284240" y="1716038"/>
                  <a:ext cx="2088232" cy="2088232"/>
                </a:xfrm>
                <a:prstGeom prst="pie">
                  <a:avLst>
                    <a:gd name="adj1" fmla="val 16262436"/>
                    <a:gd name="adj2" fmla="val 20543332"/>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bg-BG" sz="21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8" name="Pie 40"/>
                <p:cNvSpPr/>
                <p:nvPr/>
              </p:nvSpPr>
              <p:spPr>
                <a:xfrm>
                  <a:off x="3284240" y="1716038"/>
                  <a:ext cx="2088232" cy="2088232"/>
                </a:xfrm>
                <a:prstGeom prst="pie">
                  <a:avLst>
                    <a:gd name="adj1" fmla="val 1145018"/>
                    <a:gd name="adj2" fmla="val 4152328"/>
                  </a:avLst>
                </a:prstGeom>
                <a:solidFill>
                  <a:srgbClr val="5B9BD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bg-BG" sz="2100" dirty="0">
                    <a:solidFill>
                      <a:schemeClr val="bg1"/>
                    </a:solidFill>
                    <a:latin typeface="微软雅黑" panose="020B0503020204020204" pitchFamily="34" charset="-122"/>
                    <a:ea typeface="微软雅黑" panose="020B0503020204020204" pitchFamily="34" charset="-122"/>
                  </a:endParaRPr>
                </a:p>
              </p:txBody>
            </p:sp>
          </p:grpSp>
          <p:sp>
            <p:nvSpPr>
              <p:cNvPr id="49" name="Oval 41"/>
              <p:cNvSpPr/>
              <p:nvPr/>
            </p:nvSpPr>
            <p:spPr>
              <a:xfrm>
                <a:off x="3232150" y="1665288"/>
                <a:ext cx="2192338" cy="2190750"/>
              </a:xfrm>
              <a:prstGeom prst="ellipse">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zh-CN" sz="2100" dirty="0">
                  <a:solidFill>
                    <a:schemeClr val="bg1">
                      <a:lumMod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0" name="Rectangle 45"/>
              <p:cNvSpPr>
                <a:spLocks noChangeArrowheads="1"/>
              </p:cNvSpPr>
              <p:nvPr/>
            </p:nvSpPr>
            <p:spPr bwMode="auto">
              <a:xfrm>
                <a:off x="3481323" y="2590800"/>
                <a:ext cx="771656" cy="28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sz="3000" dirty="0">
                    <a:solidFill>
                      <a:schemeClr val="bg1"/>
                    </a:solidFill>
                    <a:latin typeface="微软雅黑" panose="020B0503020204020204" pitchFamily="34" charset="-122"/>
                    <a:ea typeface="微软雅黑" panose="020B0503020204020204" pitchFamily="34" charset="-122"/>
                  </a:rPr>
                  <a:t>0.68%</a:t>
                </a:r>
                <a:endParaRPr lang="bg-BG" altLang="zh-CN" sz="3000" dirty="0">
                  <a:solidFill>
                    <a:schemeClr val="bg1"/>
                  </a:solidFill>
                  <a:latin typeface="微软雅黑" panose="020B0503020204020204" pitchFamily="34" charset="-122"/>
                  <a:ea typeface="微软雅黑" panose="020B0503020204020204" pitchFamily="34" charset="-122"/>
                </a:endParaRPr>
              </a:p>
            </p:txBody>
          </p:sp>
          <p:sp>
            <p:nvSpPr>
              <p:cNvPr id="51" name="Rectangle 46"/>
              <p:cNvSpPr>
                <a:spLocks noChangeArrowheads="1"/>
              </p:cNvSpPr>
              <p:nvPr/>
            </p:nvSpPr>
            <p:spPr bwMode="auto">
              <a:xfrm>
                <a:off x="4399295" y="2068513"/>
                <a:ext cx="583539" cy="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sz="2100" dirty="0">
                    <a:solidFill>
                      <a:schemeClr val="bg1"/>
                    </a:solidFill>
                    <a:latin typeface="微软雅黑" panose="020B0503020204020204" pitchFamily="34" charset="-122"/>
                    <a:ea typeface="微软雅黑" panose="020B0503020204020204" pitchFamily="34" charset="-122"/>
                  </a:rPr>
                  <a:t>0.48%</a:t>
                </a:r>
                <a:endParaRPr lang="bg-BG" altLang="zh-CN" sz="2100" dirty="0">
                  <a:solidFill>
                    <a:schemeClr val="bg1"/>
                  </a:solidFill>
                  <a:latin typeface="微软雅黑" panose="020B0503020204020204" pitchFamily="34" charset="-122"/>
                  <a:ea typeface="微软雅黑" panose="020B0503020204020204" pitchFamily="34" charset="-122"/>
                </a:endParaRPr>
              </a:p>
            </p:txBody>
          </p:sp>
          <p:sp>
            <p:nvSpPr>
              <p:cNvPr id="52" name="Rectangle 47"/>
              <p:cNvSpPr>
                <a:spLocks noChangeArrowheads="1"/>
              </p:cNvSpPr>
              <p:nvPr/>
            </p:nvSpPr>
            <p:spPr bwMode="auto">
              <a:xfrm>
                <a:off x="4790613" y="2574925"/>
                <a:ext cx="583539" cy="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sz="2100" dirty="0">
                    <a:solidFill>
                      <a:schemeClr val="bg1"/>
                    </a:solidFill>
                    <a:latin typeface="微软雅黑" panose="020B0503020204020204" pitchFamily="34" charset="-122"/>
                    <a:ea typeface="微软雅黑" panose="020B0503020204020204" pitchFamily="34" charset="-122"/>
                  </a:rPr>
                  <a:t>0.12%</a:t>
                </a:r>
                <a:endParaRPr lang="bg-BG" altLang="zh-CN" sz="2100" dirty="0">
                  <a:solidFill>
                    <a:schemeClr val="bg1"/>
                  </a:solidFill>
                  <a:latin typeface="微软雅黑" panose="020B0503020204020204" pitchFamily="34" charset="-122"/>
                  <a:ea typeface="微软雅黑" panose="020B0503020204020204" pitchFamily="34" charset="-122"/>
                </a:endParaRPr>
              </a:p>
            </p:txBody>
          </p:sp>
        </p:grpSp>
      </p:gr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17" presetClass="entr" presetSubtype="10" fill="hold" nodeType="afterEffect">
                                  <p:stCondLst>
                                    <p:cond delay="0"/>
                                  </p:stCondLst>
                                  <p:childTnLst>
                                    <p:set>
                                      <p:cBhvr>
                                        <p:cTn id="20" dur="1" fill="hold">
                                          <p:stCondLst>
                                            <p:cond delay="0"/>
                                          </p:stCondLst>
                                        </p:cTn>
                                        <p:tgtEl>
                                          <p:spTgt spid="54"/>
                                        </p:tgtEl>
                                        <p:attrNameLst>
                                          <p:attrName>style.visibility</p:attrName>
                                        </p:attrNameLst>
                                      </p:cBhvr>
                                      <p:to>
                                        <p:strVal val="visible"/>
                                      </p:to>
                                    </p:set>
                                    <p:anim calcmode="lin" valueType="num">
                                      <p:cBhvr>
                                        <p:cTn id="21" dur="500" fill="hold"/>
                                        <p:tgtEl>
                                          <p:spTgt spid="54"/>
                                        </p:tgtEl>
                                        <p:attrNameLst>
                                          <p:attrName>ppt_w</p:attrName>
                                        </p:attrNameLst>
                                      </p:cBhvr>
                                      <p:tavLst>
                                        <p:tav tm="0">
                                          <p:val>
                                            <p:fltVal val="0"/>
                                          </p:val>
                                        </p:tav>
                                        <p:tav tm="100000">
                                          <p:val>
                                            <p:strVal val="#ppt_w"/>
                                          </p:val>
                                        </p:tav>
                                      </p:tavLst>
                                    </p:anim>
                                    <p:anim calcmode="lin" valueType="num">
                                      <p:cBhvr>
                                        <p:cTn id="22" dur="500" fill="hold"/>
                                        <p:tgtEl>
                                          <p:spTgt spid="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4384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长期偿债能力分析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700638" y="1304290"/>
            <a:ext cx="10976776" cy="4992893"/>
            <a:chOff x="1959" y="2055"/>
            <a:chExt cx="10482" cy="4768"/>
          </a:xfrm>
        </p:grpSpPr>
        <p:sp>
          <p:nvSpPr>
            <p:cNvPr id="33797" name="Line 5"/>
            <p:cNvSpPr>
              <a:spLocks noChangeShapeType="1"/>
            </p:cNvSpPr>
            <p:nvPr/>
          </p:nvSpPr>
          <p:spPr bwMode="auto">
            <a:xfrm flipV="1">
              <a:off x="1985" y="5176"/>
              <a:ext cx="6252" cy="0"/>
            </a:xfrm>
            <a:prstGeom prst="line">
              <a:avLst/>
            </a:prstGeom>
            <a:noFill/>
            <a:ln w="38100">
              <a:solidFill>
                <a:schemeClr val="bg1">
                  <a:lumMod val="65000"/>
                </a:schemeClr>
              </a:solidFill>
              <a:prstDash val="dash"/>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lstStyle/>
            <a:p>
              <a:pPr algn="ctr"/>
              <a:endParaRPr lang="zh-CN" altLang="en-US"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798" name="AutoShape 6"/>
            <p:cNvSpPr/>
            <p:nvPr/>
          </p:nvSpPr>
          <p:spPr bwMode="auto">
            <a:xfrm>
              <a:off x="3300" y="2055"/>
              <a:ext cx="501" cy="363"/>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s-ES" altLang="zh-CN" sz="14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80%</a:t>
              </a:r>
            </a:p>
          </p:txBody>
        </p:sp>
        <p:sp>
          <p:nvSpPr>
            <p:cNvPr id="33799" name="AutoShape 7"/>
            <p:cNvSpPr/>
            <p:nvPr/>
          </p:nvSpPr>
          <p:spPr bwMode="auto">
            <a:xfrm>
              <a:off x="2471" y="2894"/>
              <a:ext cx="501" cy="363"/>
            </a:xfrm>
            <a:custGeom>
              <a:avLst/>
              <a:gdLst>
                <a:gd name="T0" fmla="*/ 475457 w 21600"/>
                <a:gd name="T1" fmla="*/ 344488 h 21600"/>
                <a:gd name="T2" fmla="*/ 475457 w 21600"/>
                <a:gd name="T3" fmla="*/ 344488 h 21600"/>
                <a:gd name="T4" fmla="*/ 475457 w 21600"/>
                <a:gd name="T5" fmla="*/ 344488 h 21600"/>
                <a:gd name="T6" fmla="*/ 475457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s-ES" altLang="zh-CN" sz="14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45%</a:t>
              </a:r>
            </a:p>
          </p:txBody>
        </p:sp>
        <p:sp>
          <p:nvSpPr>
            <p:cNvPr id="33800" name="AutoShape 8"/>
            <p:cNvSpPr/>
            <p:nvPr/>
          </p:nvSpPr>
          <p:spPr bwMode="auto">
            <a:xfrm>
              <a:off x="4131" y="3407"/>
              <a:ext cx="501" cy="363"/>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s-ES" altLang="zh-CN" sz="14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25%</a:t>
              </a:r>
            </a:p>
          </p:txBody>
        </p:sp>
        <p:sp>
          <p:nvSpPr>
            <p:cNvPr id="33801" name="AutoShape 9"/>
            <p:cNvSpPr/>
            <p:nvPr/>
          </p:nvSpPr>
          <p:spPr bwMode="auto">
            <a:xfrm>
              <a:off x="5024" y="2445"/>
              <a:ext cx="501" cy="363"/>
            </a:xfrm>
            <a:custGeom>
              <a:avLst/>
              <a:gdLst>
                <a:gd name="T0" fmla="*/ 476250 w 21600"/>
                <a:gd name="T1" fmla="*/ 345281 h 21600"/>
                <a:gd name="T2" fmla="*/ 476250 w 21600"/>
                <a:gd name="T3" fmla="*/ 345281 h 21600"/>
                <a:gd name="T4" fmla="*/ 476250 w 21600"/>
                <a:gd name="T5" fmla="*/ 345281 h 21600"/>
                <a:gd name="T6" fmla="*/ 476250 w 21600"/>
                <a:gd name="T7" fmla="*/ 345281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s-ES" altLang="zh-CN" sz="14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70%</a:t>
              </a:r>
            </a:p>
          </p:txBody>
        </p:sp>
        <p:sp>
          <p:nvSpPr>
            <p:cNvPr id="33802" name="AutoShape 10"/>
            <p:cNvSpPr/>
            <p:nvPr/>
          </p:nvSpPr>
          <p:spPr bwMode="auto">
            <a:xfrm>
              <a:off x="5791" y="2960"/>
              <a:ext cx="501" cy="363"/>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s-ES" altLang="zh-CN" sz="14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35%</a:t>
              </a:r>
            </a:p>
          </p:txBody>
        </p:sp>
        <p:sp>
          <p:nvSpPr>
            <p:cNvPr id="33803" name="AutoShape 11"/>
            <p:cNvSpPr/>
            <p:nvPr/>
          </p:nvSpPr>
          <p:spPr bwMode="auto">
            <a:xfrm>
              <a:off x="3074" y="5495"/>
              <a:ext cx="940" cy="202"/>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p>
          </p:txBody>
        </p:sp>
        <p:sp>
          <p:nvSpPr>
            <p:cNvPr id="33804" name="AutoShape 12"/>
            <p:cNvSpPr/>
            <p:nvPr/>
          </p:nvSpPr>
          <p:spPr bwMode="auto">
            <a:xfrm>
              <a:off x="2257" y="5495"/>
              <a:ext cx="940" cy="202"/>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p>
          </p:txBody>
        </p:sp>
        <p:sp>
          <p:nvSpPr>
            <p:cNvPr id="33805" name="AutoShape 13"/>
            <p:cNvSpPr/>
            <p:nvPr/>
          </p:nvSpPr>
          <p:spPr bwMode="auto">
            <a:xfrm>
              <a:off x="3903" y="5495"/>
              <a:ext cx="940" cy="202"/>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p>
          </p:txBody>
        </p:sp>
        <p:sp>
          <p:nvSpPr>
            <p:cNvPr id="33806" name="AutoShape 14"/>
            <p:cNvSpPr/>
            <p:nvPr/>
          </p:nvSpPr>
          <p:spPr bwMode="auto">
            <a:xfrm>
              <a:off x="4730" y="5495"/>
              <a:ext cx="940" cy="202"/>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p>
          </p:txBody>
        </p:sp>
        <p:sp>
          <p:nvSpPr>
            <p:cNvPr id="33807" name="AutoShape 15"/>
            <p:cNvSpPr/>
            <p:nvPr/>
          </p:nvSpPr>
          <p:spPr bwMode="auto">
            <a:xfrm>
              <a:off x="5564" y="5495"/>
              <a:ext cx="940" cy="202"/>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p>
          </p:txBody>
        </p:sp>
        <p:sp>
          <p:nvSpPr>
            <p:cNvPr id="33808" name="AutoShape 16"/>
            <p:cNvSpPr/>
            <p:nvPr/>
          </p:nvSpPr>
          <p:spPr bwMode="auto">
            <a:xfrm>
              <a:off x="6578" y="2441"/>
              <a:ext cx="501" cy="363"/>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s-ES" altLang="zh-CN" sz="14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70%</a:t>
              </a:r>
            </a:p>
          </p:txBody>
        </p:sp>
        <p:sp>
          <p:nvSpPr>
            <p:cNvPr id="33809" name="AutoShape 17"/>
            <p:cNvSpPr/>
            <p:nvPr/>
          </p:nvSpPr>
          <p:spPr bwMode="auto">
            <a:xfrm>
              <a:off x="6377" y="5491"/>
              <a:ext cx="939" cy="202"/>
            </a:xfrm>
            <a:custGeom>
              <a:avLst/>
              <a:gdLst>
                <a:gd name="T0" fmla="*/ 669131 w 21600"/>
                <a:gd name="T1" fmla="*/ 245269 h 21600"/>
                <a:gd name="T2" fmla="*/ 669131 w 21600"/>
                <a:gd name="T3" fmla="*/ 245269 h 21600"/>
                <a:gd name="T4" fmla="*/ 669131 w 21600"/>
                <a:gd name="T5" fmla="*/ 245269 h 21600"/>
                <a:gd name="T6" fmla="*/ 669131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12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p>
          </p:txBody>
        </p:sp>
        <p:sp>
          <p:nvSpPr>
            <p:cNvPr id="33810" name="AutoShape 18"/>
            <p:cNvSpPr/>
            <p:nvPr/>
          </p:nvSpPr>
          <p:spPr bwMode="auto">
            <a:xfrm>
              <a:off x="2502" y="3366"/>
              <a:ext cx="434" cy="1968"/>
            </a:xfrm>
            <a:prstGeom prst="roundRect">
              <a:avLst>
                <a:gd name="adj" fmla="val 50000"/>
              </a:avLst>
            </a:prstGeom>
            <a:solidFill>
              <a:schemeClr val="accent1"/>
            </a:solidFill>
            <a:ln w="25400" cap="flat" cmpd="sng">
              <a:solidFill>
                <a:srgbClr val="000000">
                  <a:alpha val="0"/>
                </a:srgbClr>
              </a:solidFill>
              <a:prstDash val="solid"/>
              <a:miter lim="0"/>
            </a:ln>
            <a:effectLst/>
          </p:spPr>
          <p:txBody>
            <a:bodyPr lIns="0" tIns="0" rIns="0" bIns="0" anchor="ctr"/>
            <a:lstStyle/>
            <a:p>
              <a:pPr algn="ctr" defTabSz="194945">
                <a:lnSpc>
                  <a:spcPct val="120000"/>
                </a:lnSpc>
                <a:defRPr/>
              </a:pPr>
              <a:endParaRPr lang="es-ES" sz="600" dirty="0">
                <a:solidFill>
                  <a:schemeClr val="bg1">
                    <a:lumMod val="65000"/>
                  </a:schemeClr>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811" name="AutoShape 19"/>
            <p:cNvSpPr/>
            <p:nvPr/>
          </p:nvSpPr>
          <p:spPr bwMode="auto">
            <a:xfrm>
              <a:off x="3333" y="2412"/>
              <a:ext cx="434" cy="2921"/>
            </a:xfrm>
            <a:prstGeom prst="roundRect">
              <a:avLst>
                <a:gd name="adj" fmla="val 50000"/>
              </a:avLst>
            </a:prstGeom>
            <a:solidFill>
              <a:srgbClr val="CE3418"/>
            </a:solidFill>
            <a:ln w="25400" cap="flat" cmpd="sng">
              <a:solidFill>
                <a:srgbClr val="000000">
                  <a:alpha val="0"/>
                </a:srgbClr>
              </a:solidFill>
              <a:prstDash val="solid"/>
              <a:miter lim="0"/>
            </a:ln>
            <a:effectLst/>
          </p:spPr>
          <p:txBody>
            <a:bodyPr lIns="0" tIns="0" rIns="0" bIns="0" anchor="ctr"/>
            <a:lstStyle/>
            <a:p>
              <a:pPr algn="ctr" defTabSz="194945">
                <a:lnSpc>
                  <a:spcPct val="120000"/>
                </a:lnSpc>
                <a:defRPr/>
              </a:pPr>
              <a:endParaRPr lang="es-ES" sz="600" dirty="0">
                <a:solidFill>
                  <a:schemeClr val="bg1">
                    <a:lumMod val="65000"/>
                  </a:schemeClr>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812" name="AutoShape 20"/>
            <p:cNvSpPr/>
            <p:nvPr/>
          </p:nvSpPr>
          <p:spPr bwMode="auto">
            <a:xfrm>
              <a:off x="4164" y="3879"/>
              <a:ext cx="434" cy="1455"/>
            </a:xfrm>
            <a:prstGeom prst="roundRect">
              <a:avLst>
                <a:gd name="adj" fmla="val 50000"/>
              </a:avLst>
            </a:prstGeom>
            <a:solidFill>
              <a:schemeClr val="accent3"/>
            </a:solidFill>
            <a:ln w="25400" cap="flat" cmpd="sng">
              <a:solidFill>
                <a:srgbClr val="000000">
                  <a:alpha val="0"/>
                </a:srgbClr>
              </a:solidFill>
              <a:prstDash val="solid"/>
              <a:miter lim="0"/>
            </a:ln>
            <a:effectLst/>
          </p:spPr>
          <p:txBody>
            <a:bodyPr lIns="0" tIns="0" rIns="0" bIns="0" anchor="ctr"/>
            <a:lstStyle/>
            <a:p>
              <a:pPr algn="ctr" defTabSz="194945">
                <a:lnSpc>
                  <a:spcPct val="120000"/>
                </a:lnSpc>
                <a:defRPr/>
              </a:pPr>
              <a:endParaRPr lang="es-ES" sz="600" dirty="0">
                <a:solidFill>
                  <a:schemeClr val="bg1">
                    <a:lumMod val="65000"/>
                  </a:schemeClr>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813" name="AutoShape 21"/>
            <p:cNvSpPr/>
            <p:nvPr/>
          </p:nvSpPr>
          <p:spPr bwMode="auto">
            <a:xfrm>
              <a:off x="4994" y="2889"/>
              <a:ext cx="434" cy="2445"/>
            </a:xfrm>
            <a:prstGeom prst="roundRect">
              <a:avLst>
                <a:gd name="adj" fmla="val 50000"/>
              </a:avLst>
            </a:prstGeom>
            <a:solidFill>
              <a:srgbClr val="5B9BD5"/>
            </a:solidFill>
            <a:ln w="25400" cap="flat" cmpd="sng">
              <a:solidFill>
                <a:srgbClr val="000000">
                  <a:alpha val="0"/>
                </a:srgbClr>
              </a:solidFill>
              <a:prstDash val="solid"/>
              <a:miter lim="0"/>
            </a:ln>
            <a:effectLst/>
          </p:spPr>
          <p:txBody>
            <a:bodyPr lIns="0" tIns="0" rIns="0" bIns="0" anchor="ctr"/>
            <a:lstStyle/>
            <a:p>
              <a:pPr algn="ctr" defTabSz="194945">
                <a:lnSpc>
                  <a:spcPct val="120000"/>
                </a:lnSpc>
                <a:defRPr/>
              </a:pPr>
              <a:endParaRPr lang="es-ES" sz="600" dirty="0">
                <a:solidFill>
                  <a:schemeClr val="bg1">
                    <a:lumMod val="65000"/>
                  </a:schemeClr>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814" name="AutoShape 22"/>
            <p:cNvSpPr/>
            <p:nvPr/>
          </p:nvSpPr>
          <p:spPr bwMode="auto">
            <a:xfrm>
              <a:off x="5826" y="3366"/>
              <a:ext cx="433" cy="1968"/>
            </a:xfrm>
            <a:prstGeom prst="roundRect">
              <a:avLst>
                <a:gd name="adj" fmla="val 50000"/>
              </a:avLst>
            </a:prstGeom>
            <a:solidFill>
              <a:srgbClr val="CE3418"/>
            </a:solidFill>
            <a:ln w="25400" cap="flat" cmpd="sng">
              <a:solidFill>
                <a:srgbClr val="000000">
                  <a:alpha val="0"/>
                </a:srgbClr>
              </a:solidFill>
              <a:prstDash val="solid"/>
              <a:miter lim="0"/>
            </a:ln>
            <a:effectLst/>
          </p:spPr>
          <p:txBody>
            <a:bodyPr lIns="0" tIns="0" rIns="0" bIns="0" anchor="ctr"/>
            <a:lstStyle/>
            <a:p>
              <a:pPr algn="ctr" defTabSz="194945">
                <a:lnSpc>
                  <a:spcPct val="120000"/>
                </a:lnSpc>
                <a:defRPr/>
              </a:pPr>
              <a:endParaRPr lang="es-ES" sz="600" dirty="0">
                <a:solidFill>
                  <a:schemeClr val="bg1">
                    <a:lumMod val="65000"/>
                  </a:schemeClr>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815" name="AutoShape 23"/>
            <p:cNvSpPr/>
            <p:nvPr/>
          </p:nvSpPr>
          <p:spPr bwMode="auto">
            <a:xfrm>
              <a:off x="6614" y="2876"/>
              <a:ext cx="433" cy="2445"/>
            </a:xfrm>
            <a:prstGeom prst="roundRect">
              <a:avLst>
                <a:gd name="adj" fmla="val 50000"/>
              </a:avLst>
            </a:prstGeom>
            <a:solidFill>
              <a:srgbClr val="A5A5A5"/>
            </a:solidFill>
            <a:ln w="25400" cap="flat" cmpd="sng">
              <a:solidFill>
                <a:srgbClr val="000000">
                  <a:alpha val="0"/>
                </a:srgbClr>
              </a:solidFill>
              <a:prstDash val="solid"/>
              <a:miter lim="0"/>
            </a:ln>
            <a:effectLst/>
          </p:spPr>
          <p:txBody>
            <a:bodyPr lIns="0" tIns="0" rIns="0" bIns="0" anchor="ctr"/>
            <a:lstStyle/>
            <a:p>
              <a:pPr algn="ctr" defTabSz="194945">
                <a:lnSpc>
                  <a:spcPct val="120000"/>
                </a:lnSpc>
                <a:defRPr/>
              </a:pPr>
              <a:endParaRPr lang="es-ES" sz="600" dirty="0">
                <a:solidFill>
                  <a:schemeClr val="bg1">
                    <a:lumMod val="65000"/>
                  </a:schemeClr>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816" name="AutoShape 24"/>
            <p:cNvSpPr/>
            <p:nvPr/>
          </p:nvSpPr>
          <p:spPr bwMode="auto">
            <a:xfrm>
              <a:off x="7524" y="3366"/>
              <a:ext cx="433" cy="1968"/>
            </a:xfrm>
            <a:prstGeom prst="roundRect">
              <a:avLst>
                <a:gd name="adj" fmla="val 50000"/>
              </a:avLst>
            </a:prstGeom>
            <a:solidFill>
              <a:schemeClr val="accent1"/>
            </a:solidFill>
            <a:ln w="25400" cap="flat" cmpd="sng">
              <a:solidFill>
                <a:srgbClr val="000000">
                  <a:alpha val="0"/>
                </a:srgbClr>
              </a:solidFill>
              <a:prstDash val="solid"/>
              <a:miter lim="0"/>
            </a:ln>
            <a:effectLst/>
          </p:spPr>
          <p:txBody>
            <a:bodyPr lIns="0" tIns="0" rIns="0" bIns="0" anchor="ctr"/>
            <a:lstStyle/>
            <a:p>
              <a:pPr algn="ctr" defTabSz="194945">
                <a:lnSpc>
                  <a:spcPct val="120000"/>
                </a:lnSpc>
                <a:defRPr/>
              </a:pPr>
              <a:endParaRPr lang="es-ES" sz="600" dirty="0">
                <a:solidFill>
                  <a:schemeClr val="bg1">
                    <a:lumMod val="65000"/>
                  </a:schemeClr>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817" name="AutoShape 25"/>
            <p:cNvSpPr/>
            <p:nvPr/>
          </p:nvSpPr>
          <p:spPr bwMode="auto">
            <a:xfrm>
              <a:off x="7489" y="2960"/>
              <a:ext cx="501" cy="363"/>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es-ES" altLang="zh-CN" sz="14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35%</a:t>
              </a:r>
            </a:p>
          </p:txBody>
        </p:sp>
        <p:sp>
          <p:nvSpPr>
            <p:cNvPr id="33818" name="AutoShape 26"/>
            <p:cNvSpPr/>
            <p:nvPr/>
          </p:nvSpPr>
          <p:spPr bwMode="auto">
            <a:xfrm>
              <a:off x="7286" y="5491"/>
              <a:ext cx="939" cy="202"/>
            </a:xfrm>
            <a:custGeom>
              <a:avLst/>
              <a:gdLst>
                <a:gd name="T0" fmla="*/ 669131 w 21600"/>
                <a:gd name="T1" fmla="*/ 245269 h 21600"/>
                <a:gd name="T2" fmla="*/ 669131 w 21600"/>
                <a:gd name="T3" fmla="*/ 245269 h 21600"/>
                <a:gd name="T4" fmla="*/ 669131 w 21600"/>
                <a:gd name="T5" fmla="*/ 245269 h 21600"/>
                <a:gd name="T6" fmla="*/ 669131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a:lnSpc>
                  <a:spcPct val="120000"/>
                </a:lnSpc>
              </a:pPr>
              <a:r>
                <a:rPr lang="zh-CN" altLang="en-US" sz="1200" dirty="0" smtClean="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文字</a:t>
              </a:r>
              <a:r>
                <a:rPr lang="zh-CN" altLang="en-US" sz="1200" dirty="0">
                  <a:solidFill>
                    <a:schemeClr val="tx1">
                      <a:lumMod val="85000"/>
                      <a:lumOff val="15000"/>
                    </a:schemeClr>
                  </a:solidFill>
                  <a:latin typeface="Arial" panose="020B0604020202020204" pitchFamily="34" charset="0"/>
                  <a:ea typeface="微软雅黑" panose="020B0503020204020204" pitchFamily="34" charset="-122"/>
                  <a:cs typeface="+mn-ea"/>
                  <a:sym typeface="Arial" panose="020B0604020202020204" pitchFamily="34" charset="0"/>
                </a:rPr>
                <a:t>内容</a:t>
              </a:r>
            </a:p>
          </p:txBody>
        </p:sp>
        <p:sp>
          <p:nvSpPr>
            <p:cNvPr id="33819" name="AutoShape 27"/>
            <p:cNvSpPr/>
            <p:nvPr/>
          </p:nvSpPr>
          <p:spPr bwMode="auto">
            <a:xfrm>
              <a:off x="8566" y="3326"/>
              <a:ext cx="3875" cy="1851"/>
            </a:xfrm>
            <a:custGeom>
              <a:avLst/>
              <a:gdLst>
                <a:gd name="T0" fmla="*/ 3321050 w 21600"/>
                <a:gd name="T1" fmla="*/ 2540000 h 21600"/>
                <a:gd name="T2" fmla="*/ 3321050 w 21600"/>
                <a:gd name="T3" fmla="*/ 2540000 h 21600"/>
                <a:gd name="T4" fmla="*/ 3321050 w 21600"/>
                <a:gd name="T5" fmla="*/ 2540000 h 21600"/>
                <a:gd name="T6" fmla="*/ 3321050 w 21600"/>
                <a:gd name="T7" fmla="*/ 254000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sz="4600">
                  <a:solidFill>
                    <a:srgbClr val="000000"/>
                  </a:solidFill>
                  <a:latin typeface="Gill Sans" charset="0"/>
                  <a:ea typeface="MS PGothic" panose="020B0600070205080204" pitchFamily="34" charset="-128"/>
                  <a:cs typeface="Gill Sans" charset="0"/>
                  <a:sym typeface="Gill Sans" charset="0"/>
                </a:defRPr>
              </a:lvl1pPr>
              <a:lvl2pPr marL="742950" indent="-285750" algn="ctr">
                <a:defRPr sz="4600">
                  <a:solidFill>
                    <a:srgbClr val="000000"/>
                  </a:solidFill>
                  <a:latin typeface="Gill Sans" charset="0"/>
                  <a:ea typeface="Gill Sans" charset="0"/>
                  <a:cs typeface="Gill Sans" charset="0"/>
                  <a:sym typeface="Gill Sans" charset="0"/>
                </a:defRPr>
              </a:lvl2pPr>
              <a:lvl3pPr marL="1143000" indent="-228600" algn="ctr">
                <a:defRPr sz="4600">
                  <a:solidFill>
                    <a:srgbClr val="000000"/>
                  </a:solidFill>
                  <a:latin typeface="Gill Sans" charset="0"/>
                  <a:ea typeface="Gill Sans" charset="0"/>
                  <a:cs typeface="Gill Sans" charset="0"/>
                  <a:sym typeface="Gill Sans" charset="0"/>
                </a:defRPr>
              </a:lvl3pPr>
              <a:lvl4pPr marL="1600200" indent="-228600" algn="ctr">
                <a:defRPr sz="4600">
                  <a:solidFill>
                    <a:srgbClr val="000000"/>
                  </a:solidFill>
                  <a:latin typeface="Gill Sans" charset="0"/>
                  <a:ea typeface="Gill Sans" charset="0"/>
                  <a:cs typeface="Gill Sans" charset="0"/>
                  <a:sym typeface="Gill Sans" charset="0"/>
                </a:defRPr>
              </a:lvl4pPr>
              <a:lvl5pPr marL="2057400" indent="-228600" algn="ctr">
                <a:defRPr sz="4600">
                  <a:solidFill>
                    <a:srgbClr val="000000"/>
                  </a:solidFill>
                  <a:latin typeface="Gill Sans" charset="0"/>
                  <a:ea typeface="Gill Sans" charset="0"/>
                  <a:cs typeface="Gill Sans" charset="0"/>
                  <a:sym typeface="Gill Sans" charset="0"/>
                </a:defRPr>
              </a:lvl5pPr>
              <a:lvl6pPr marL="2514600" indent="-228600" algn="ctr" defTabSz="825500" eaLnBrk="0" fontAlgn="base" hangingPunct="0">
                <a:spcBef>
                  <a:spcPct val="0"/>
                </a:spcBef>
                <a:spcAft>
                  <a:spcPct val="0"/>
                </a:spcAft>
                <a:defRPr sz="4600">
                  <a:solidFill>
                    <a:srgbClr val="000000"/>
                  </a:solidFill>
                  <a:latin typeface="Gill Sans" charset="0"/>
                  <a:ea typeface="Gill Sans" charset="0"/>
                  <a:cs typeface="Gill Sans" charset="0"/>
                  <a:sym typeface="Gill Sans" charset="0"/>
                </a:defRPr>
              </a:lvl6pPr>
              <a:lvl7pPr marL="2971800" indent="-228600" algn="ctr" defTabSz="825500" eaLnBrk="0" fontAlgn="base" hangingPunct="0">
                <a:spcBef>
                  <a:spcPct val="0"/>
                </a:spcBef>
                <a:spcAft>
                  <a:spcPct val="0"/>
                </a:spcAft>
                <a:defRPr sz="4600">
                  <a:solidFill>
                    <a:srgbClr val="000000"/>
                  </a:solidFill>
                  <a:latin typeface="Gill Sans" charset="0"/>
                  <a:ea typeface="Gill Sans" charset="0"/>
                  <a:cs typeface="Gill Sans" charset="0"/>
                  <a:sym typeface="Gill Sans" charset="0"/>
                </a:defRPr>
              </a:lvl7pPr>
              <a:lvl8pPr marL="3429000" indent="-228600" algn="ctr" defTabSz="825500" eaLnBrk="0" fontAlgn="base" hangingPunct="0">
                <a:spcBef>
                  <a:spcPct val="0"/>
                </a:spcBef>
                <a:spcAft>
                  <a:spcPct val="0"/>
                </a:spcAft>
                <a:defRPr sz="4600">
                  <a:solidFill>
                    <a:srgbClr val="000000"/>
                  </a:solidFill>
                  <a:latin typeface="Gill Sans" charset="0"/>
                  <a:ea typeface="Gill Sans" charset="0"/>
                  <a:cs typeface="Gill Sans" charset="0"/>
                  <a:sym typeface="Gill Sans" charset="0"/>
                </a:defRPr>
              </a:lvl8pPr>
              <a:lvl9pPr marL="3886200" indent="-228600" algn="ctr" defTabSz="825500" eaLnBrk="0" fontAlgn="base" hangingPunct="0">
                <a:spcBef>
                  <a:spcPct val="0"/>
                </a:spcBef>
                <a:spcAft>
                  <a:spcPct val="0"/>
                </a:spcAft>
                <a:defRPr sz="4600">
                  <a:solidFill>
                    <a:srgbClr val="000000"/>
                  </a:solidFill>
                  <a:latin typeface="Gill Sans" charset="0"/>
                  <a:ea typeface="Gill Sans" charset="0"/>
                  <a:cs typeface="Gill Sans" charset="0"/>
                  <a:sym typeface="Gill Sans" charset="0"/>
                </a:defRPr>
              </a:lvl9pPr>
            </a:lstStyle>
            <a:p>
              <a:pPr indent="0" algn="just">
                <a:lnSpc>
                  <a:spcPct val="150000"/>
                </a:lnSpc>
                <a:buFont typeface="Arial" panose="020B0604020202020204" pitchFamily="34" charset="0"/>
                <a:buNone/>
              </a:pPr>
              <a:r>
                <a:rPr lang="zh-CN" altLang="en-US" sz="1400" b="1" dirty="0">
                  <a:latin typeface="微软雅黑" panose="020B0503020204020204" pitchFamily="34" charset="-122"/>
                  <a:ea typeface="微软雅黑" panose="020B0503020204020204" pitchFamily="34" charset="-122"/>
                  <a:sym typeface="+mn-ea"/>
                </a:rPr>
                <a:t>资 负 债 率</a:t>
              </a:r>
              <a:r>
                <a:rPr lang="zh-CN" altLang="en-US" sz="1400" dirty="0">
                  <a:latin typeface="微软雅黑" panose="020B0503020204020204" pitchFamily="34" charset="-122"/>
                  <a:ea typeface="微软雅黑" panose="020B0503020204020204" pitchFamily="34" charset="-122"/>
                  <a:sym typeface="+mn-ea"/>
                </a:rPr>
                <a:t> ： 公司的 资 产 负债率 </a:t>
              </a:r>
              <a:r>
                <a:rPr lang="en-US" altLang="zh-CN" sz="1400" dirty="0">
                  <a:latin typeface="微软雅黑" panose="020B0503020204020204" pitchFamily="34" charset="-122"/>
                  <a:ea typeface="微软雅黑" panose="020B0503020204020204" pitchFamily="34" charset="-122"/>
                  <a:sym typeface="+mn-ea"/>
                </a:rPr>
                <a:t>2017</a:t>
              </a:r>
              <a:r>
                <a:rPr lang="zh-CN" altLang="en-US" sz="1400" dirty="0">
                  <a:latin typeface="微软雅黑" panose="020B0503020204020204" pitchFamily="34" charset="-122"/>
                  <a:ea typeface="微软雅黑" panose="020B0503020204020204" pitchFamily="34" charset="-122"/>
                  <a:sym typeface="+mn-ea"/>
                </a:rPr>
                <a:t>年 为 </a:t>
              </a:r>
              <a:r>
                <a:rPr lang="en-US" altLang="zh-CN" sz="1400" dirty="0">
                  <a:latin typeface="微软雅黑" panose="020B0503020204020204" pitchFamily="34" charset="-122"/>
                  <a:ea typeface="微软雅黑" panose="020B0503020204020204" pitchFamily="34" charset="-122"/>
                  <a:sym typeface="+mn-ea"/>
                </a:rPr>
                <a:t>20 </a:t>
              </a:r>
              <a:r>
                <a:rPr lang="zh-CN" altLang="en-US" sz="1400" dirty="0">
                  <a:latin typeface="微软雅黑" panose="020B0503020204020204" pitchFamily="34" charset="-122"/>
                  <a:ea typeface="微软雅黑" panose="020B0503020204020204" pitchFamily="34" charset="-122"/>
                  <a:sym typeface="+mn-ea"/>
                </a:rPr>
                <a:t>． </a:t>
              </a:r>
              <a:r>
                <a:rPr lang="en-US" altLang="zh-CN" sz="1400" dirty="0">
                  <a:latin typeface="微软雅黑" panose="020B0503020204020204" pitchFamily="34" charset="-122"/>
                  <a:ea typeface="微软雅黑" panose="020B0503020204020204" pitchFamily="34" charset="-122"/>
                  <a:sym typeface="+mn-ea"/>
                </a:rPr>
                <a:t>64 </a:t>
              </a:r>
              <a:r>
                <a:rPr lang="zh-CN" altLang="en-US" sz="1400" dirty="0">
                  <a:latin typeface="微软雅黑" panose="020B0503020204020204" pitchFamily="34" charset="-122"/>
                  <a:ea typeface="微软雅黑" panose="020B0503020204020204" pitchFamily="34" charset="-122"/>
                  <a:sym typeface="+mn-ea"/>
                </a:rPr>
                <a:t>％ ，</a:t>
              </a:r>
              <a:r>
                <a:rPr lang="en-US" altLang="zh-CN" sz="1400" dirty="0">
                  <a:latin typeface="微软雅黑" panose="020B0503020204020204" pitchFamily="34" charset="-122"/>
                  <a:ea typeface="微软雅黑" panose="020B0503020204020204" pitchFamily="34" charset="-122"/>
                  <a:sym typeface="+mn-ea"/>
                </a:rPr>
                <a:t>2018 </a:t>
              </a:r>
              <a:r>
                <a:rPr lang="zh-CN" altLang="en-US" sz="1400" dirty="0">
                  <a:latin typeface="微软雅黑" panose="020B0503020204020204" pitchFamily="34" charset="-122"/>
                  <a:ea typeface="微软雅黑" panose="020B0503020204020204" pitchFamily="34" charset="-122"/>
                  <a:sym typeface="+mn-ea"/>
                </a:rPr>
                <a:t>年 为 </a:t>
              </a:r>
              <a:r>
                <a:rPr lang="en-US" altLang="zh-CN" sz="1400" dirty="0">
                  <a:latin typeface="微软雅黑" panose="020B0503020204020204" pitchFamily="34" charset="-122"/>
                  <a:ea typeface="微软雅黑" panose="020B0503020204020204" pitchFamily="34" charset="-122"/>
                  <a:sym typeface="+mn-ea"/>
                </a:rPr>
                <a:t>27 </a:t>
              </a:r>
              <a:r>
                <a:rPr lang="zh-CN" altLang="en-US" sz="1400" dirty="0">
                  <a:latin typeface="微软雅黑" panose="020B0503020204020204" pitchFamily="34" charset="-122"/>
                  <a:ea typeface="微软雅黑" panose="020B0503020204020204" pitchFamily="34" charset="-122"/>
                  <a:sym typeface="+mn-ea"/>
                </a:rPr>
                <a:t>％ ， 从 比 率 上 看 我 们认 为 它 还 是 比 较 底 的 ， 资 产 对 于 负 债 具 有 较 强 的 保障 能 力 ， 无 论 从 债权人 ， 还 是 从 股东 的 立 场 上 看 ， 都是比 较 安 全 的 资 本 结构 。</a:t>
              </a:r>
              <a:endParaRPr lang="en-US" altLang="zh-CN" sz="14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821" name="AutoShape 29"/>
            <p:cNvSpPr/>
            <p:nvPr/>
          </p:nvSpPr>
          <p:spPr bwMode="auto">
            <a:xfrm>
              <a:off x="1959" y="6167"/>
              <a:ext cx="10481" cy="655"/>
            </a:xfrm>
            <a:custGeom>
              <a:avLst/>
              <a:gdLst>
                <a:gd name="T0" fmla="*/ 9956800 w 21600"/>
                <a:gd name="T1" fmla="*/ 476250 h 21600"/>
                <a:gd name="T2" fmla="*/ 9956800 w 21600"/>
                <a:gd name="T3" fmla="*/ 476250 h 21600"/>
                <a:gd name="T4" fmla="*/ 9956800 w 21600"/>
                <a:gd name="T5" fmla="*/ 476250 h 21600"/>
                <a:gd name="T6" fmla="*/ 9956800 w 21600"/>
                <a:gd name="T7" fmla="*/ 476250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defTabSz="647700">
                <a:defRPr sz="4600">
                  <a:solidFill>
                    <a:srgbClr val="000000"/>
                  </a:solidFill>
                  <a:latin typeface="Gill Sans" charset="0"/>
                  <a:ea typeface="MS PGothic" panose="020B0600070205080204" pitchFamily="34" charset="-128"/>
                  <a:cs typeface="Gill Sans" charset="0"/>
                  <a:sym typeface="Gill Sans" charset="0"/>
                </a:defRPr>
              </a:lvl1pPr>
              <a:lvl2pPr marL="742950" indent="-285750" algn="ctr" defTabSz="647700">
                <a:defRPr sz="4600">
                  <a:solidFill>
                    <a:srgbClr val="000000"/>
                  </a:solidFill>
                  <a:latin typeface="Gill Sans" charset="0"/>
                  <a:ea typeface="Gill Sans" charset="0"/>
                  <a:cs typeface="Gill Sans" charset="0"/>
                  <a:sym typeface="Gill Sans" charset="0"/>
                </a:defRPr>
              </a:lvl2pPr>
              <a:lvl3pPr marL="1143000" indent="-228600" algn="ctr" defTabSz="647700">
                <a:defRPr sz="4600">
                  <a:solidFill>
                    <a:srgbClr val="000000"/>
                  </a:solidFill>
                  <a:latin typeface="Gill Sans" charset="0"/>
                  <a:ea typeface="Gill Sans" charset="0"/>
                  <a:cs typeface="Gill Sans" charset="0"/>
                  <a:sym typeface="Gill Sans" charset="0"/>
                </a:defRPr>
              </a:lvl3pPr>
              <a:lvl4pPr marL="1600200" indent="-228600" algn="ctr" defTabSz="647700">
                <a:defRPr sz="4600">
                  <a:solidFill>
                    <a:srgbClr val="000000"/>
                  </a:solidFill>
                  <a:latin typeface="Gill Sans" charset="0"/>
                  <a:ea typeface="Gill Sans" charset="0"/>
                  <a:cs typeface="Gill Sans" charset="0"/>
                  <a:sym typeface="Gill Sans" charset="0"/>
                </a:defRPr>
              </a:lvl4pPr>
              <a:lvl5pPr marL="2057400" indent="-228600" algn="ctr" defTabSz="647700">
                <a:defRPr sz="4600">
                  <a:solidFill>
                    <a:srgbClr val="000000"/>
                  </a:solidFill>
                  <a:latin typeface="Gill Sans" charset="0"/>
                  <a:ea typeface="Gill Sans" charset="0"/>
                  <a:cs typeface="Gill Sans" charset="0"/>
                  <a:sym typeface="Gill Sans" charset="0"/>
                </a:defRPr>
              </a:lvl5pPr>
              <a:lvl6pPr marL="2514600" indent="-228600" algn="ctr" defTabSz="647700" eaLnBrk="0" fontAlgn="base" hangingPunct="0">
                <a:spcBef>
                  <a:spcPct val="0"/>
                </a:spcBef>
                <a:spcAft>
                  <a:spcPct val="0"/>
                </a:spcAft>
                <a:defRPr sz="4600">
                  <a:solidFill>
                    <a:srgbClr val="000000"/>
                  </a:solidFill>
                  <a:latin typeface="Gill Sans" charset="0"/>
                  <a:ea typeface="Gill Sans" charset="0"/>
                  <a:cs typeface="Gill Sans" charset="0"/>
                  <a:sym typeface="Gill Sans" charset="0"/>
                </a:defRPr>
              </a:lvl6pPr>
              <a:lvl7pPr marL="2971800" indent="-228600" algn="ctr" defTabSz="647700" eaLnBrk="0" fontAlgn="base" hangingPunct="0">
                <a:spcBef>
                  <a:spcPct val="0"/>
                </a:spcBef>
                <a:spcAft>
                  <a:spcPct val="0"/>
                </a:spcAft>
                <a:defRPr sz="4600">
                  <a:solidFill>
                    <a:srgbClr val="000000"/>
                  </a:solidFill>
                  <a:latin typeface="Gill Sans" charset="0"/>
                  <a:ea typeface="Gill Sans" charset="0"/>
                  <a:cs typeface="Gill Sans" charset="0"/>
                  <a:sym typeface="Gill Sans" charset="0"/>
                </a:defRPr>
              </a:lvl7pPr>
              <a:lvl8pPr marL="3429000" indent="-228600" algn="ctr" defTabSz="647700" eaLnBrk="0" fontAlgn="base" hangingPunct="0">
                <a:spcBef>
                  <a:spcPct val="0"/>
                </a:spcBef>
                <a:spcAft>
                  <a:spcPct val="0"/>
                </a:spcAft>
                <a:defRPr sz="4600">
                  <a:solidFill>
                    <a:srgbClr val="000000"/>
                  </a:solidFill>
                  <a:latin typeface="Gill Sans" charset="0"/>
                  <a:ea typeface="Gill Sans" charset="0"/>
                  <a:cs typeface="Gill Sans" charset="0"/>
                  <a:sym typeface="Gill Sans" charset="0"/>
                </a:defRPr>
              </a:lvl8pPr>
              <a:lvl9pPr marL="3886200" indent="-228600" algn="ctr" defTabSz="647700" eaLnBrk="0" fontAlgn="base" hangingPunct="0">
                <a:spcBef>
                  <a:spcPct val="0"/>
                </a:spcBef>
                <a:spcAft>
                  <a:spcPct val="0"/>
                </a:spcAft>
                <a:defRPr sz="4600">
                  <a:solidFill>
                    <a:srgbClr val="000000"/>
                  </a:solidFill>
                  <a:latin typeface="Gill Sans" charset="0"/>
                  <a:ea typeface="Gill Sans" charset="0"/>
                  <a:cs typeface="Gill Sans" charset="0"/>
                  <a:sym typeface="Gill Sans" charset="0"/>
                </a:defRPr>
              </a:lvl9pPr>
            </a:lstStyle>
            <a:p>
              <a:pPr marL="285750" indent="-285750" algn="l">
                <a:lnSpc>
                  <a:spcPct val="150000"/>
                </a:lnSpc>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利息保障倍数</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 ： 在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2017</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年 ， 长 虹 的 利 息 保障 倍 数 为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22 .6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倍 ， 由 此 我们看出 长 虹 有充 足 的 经 营 收 益 来 支 付 借款 利 息 ，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2018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年 的 利 息保障倍 数 降 为 </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5.24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，支付利息的能力比</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2017</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年有所下降，但支付利息还是有保障的。</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p>
              <a:pPr indent="0" algn="l">
                <a:lnSpc>
                  <a:spcPct val="150000"/>
                </a:lnSpc>
                <a:buFont typeface="Arial" panose="020B0604020202020204" pitchFamily="34" charset="0"/>
                <a:buNone/>
              </a:pPr>
              <a:endParaRPr lang="zh-CN" altLang="en-US" sz="140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42"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4384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dirty="0">
                <a:sym typeface="+mn-ea"/>
              </a:rPr>
              <a:t>短期偿债能力分析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6200140" y="3331845"/>
            <a:ext cx="4649470" cy="2560955"/>
            <a:chOff x="9764" y="5247"/>
            <a:chExt cx="7322" cy="4033"/>
          </a:xfrm>
        </p:grpSpPr>
        <p:grpSp>
          <p:nvGrpSpPr>
            <p:cNvPr id="7" name="Group 2"/>
            <p:cNvGrpSpPr/>
            <p:nvPr/>
          </p:nvGrpSpPr>
          <p:grpSpPr bwMode="auto">
            <a:xfrm>
              <a:off x="10837" y="5247"/>
              <a:ext cx="2588" cy="2740"/>
              <a:chOff x="0" y="0"/>
              <a:chExt cx="1186" cy="1256"/>
            </a:xfrm>
          </p:grpSpPr>
          <p:sp>
            <p:nvSpPr>
              <p:cNvPr id="8" name="Freeform 9"/>
              <p:cNvSpPr>
                <a:spLocks noChangeArrowheads="1"/>
              </p:cNvSpPr>
              <p:nvPr/>
            </p:nvSpPr>
            <p:spPr bwMode="auto">
              <a:xfrm>
                <a:off x="0" y="0"/>
                <a:ext cx="1186" cy="837"/>
              </a:xfrm>
              <a:custGeom>
                <a:avLst/>
                <a:gdLst>
                  <a:gd name="T0" fmla="*/ 0 w 1186"/>
                  <a:gd name="T1" fmla="*/ 246 h 837"/>
                  <a:gd name="T2" fmla="*/ 0 w 1186"/>
                  <a:gd name="T3" fmla="*/ 246 h 837"/>
                  <a:gd name="T4" fmla="*/ 58 w 1186"/>
                  <a:gd name="T5" fmla="*/ 218 h 837"/>
                  <a:gd name="T6" fmla="*/ 120 w 1186"/>
                  <a:gd name="T7" fmla="*/ 192 h 837"/>
                  <a:gd name="T8" fmla="*/ 182 w 1186"/>
                  <a:gd name="T9" fmla="*/ 167 h 837"/>
                  <a:gd name="T10" fmla="*/ 248 w 1186"/>
                  <a:gd name="T11" fmla="*/ 144 h 837"/>
                  <a:gd name="T12" fmla="*/ 316 w 1186"/>
                  <a:gd name="T13" fmla="*/ 121 h 837"/>
                  <a:gd name="T14" fmla="*/ 386 w 1186"/>
                  <a:gd name="T15" fmla="*/ 101 h 837"/>
                  <a:gd name="T16" fmla="*/ 459 w 1186"/>
                  <a:gd name="T17" fmla="*/ 82 h 837"/>
                  <a:gd name="T18" fmla="*/ 533 w 1186"/>
                  <a:gd name="T19" fmla="*/ 65 h 837"/>
                  <a:gd name="T20" fmla="*/ 610 w 1186"/>
                  <a:gd name="T21" fmla="*/ 51 h 837"/>
                  <a:gd name="T22" fmla="*/ 687 w 1186"/>
                  <a:gd name="T23" fmla="*/ 38 h 837"/>
                  <a:gd name="T24" fmla="*/ 767 w 1186"/>
                  <a:gd name="T25" fmla="*/ 27 h 837"/>
                  <a:gd name="T26" fmla="*/ 848 w 1186"/>
                  <a:gd name="T27" fmla="*/ 17 h 837"/>
                  <a:gd name="T28" fmla="*/ 930 w 1186"/>
                  <a:gd name="T29" fmla="*/ 10 h 837"/>
                  <a:gd name="T30" fmla="*/ 1015 w 1186"/>
                  <a:gd name="T31" fmla="*/ 4 h 837"/>
                  <a:gd name="T32" fmla="*/ 1099 w 1186"/>
                  <a:gd name="T33" fmla="*/ 1 h 837"/>
                  <a:gd name="T34" fmla="*/ 1186 w 1186"/>
                  <a:gd name="T35" fmla="*/ 0 h 837"/>
                  <a:gd name="T36" fmla="*/ 1186 w 1186"/>
                  <a:gd name="T37" fmla="*/ 837 h 837"/>
                  <a:gd name="T38" fmla="*/ 0 w 1186"/>
                  <a:gd name="T39" fmla="*/ 246 h 8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86"/>
                  <a:gd name="T61" fmla="*/ 0 h 837"/>
                  <a:gd name="T62" fmla="*/ 1186 w 1186"/>
                  <a:gd name="T63" fmla="*/ 837 h 8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86" h="837">
                    <a:moveTo>
                      <a:pt x="0" y="246"/>
                    </a:moveTo>
                    <a:lnTo>
                      <a:pt x="0" y="246"/>
                    </a:lnTo>
                    <a:lnTo>
                      <a:pt x="58" y="218"/>
                    </a:lnTo>
                    <a:lnTo>
                      <a:pt x="120" y="192"/>
                    </a:lnTo>
                    <a:lnTo>
                      <a:pt x="182" y="167"/>
                    </a:lnTo>
                    <a:lnTo>
                      <a:pt x="248" y="144"/>
                    </a:lnTo>
                    <a:lnTo>
                      <a:pt x="316" y="121"/>
                    </a:lnTo>
                    <a:lnTo>
                      <a:pt x="386" y="101"/>
                    </a:lnTo>
                    <a:lnTo>
                      <a:pt x="459" y="82"/>
                    </a:lnTo>
                    <a:lnTo>
                      <a:pt x="533" y="65"/>
                    </a:lnTo>
                    <a:lnTo>
                      <a:pt x="610" y="51"/>
                    </a:lnTo>
                    <a:lnTo>
                      <a:pt x="687" y="38"/>
                    </a:lnTo>
                    <a:lnTo>
                      <a:pt x="767" y="27"/>
                    </a:lnTo>
                    <a:lnTo>
                      <a:pt x="848" y="17"/>
                    </a:lnTo>
                    <a:lnTo>
                      <a:pt x="930" y="10"/>
                    </a:lnTo>
                    <a:lnTo>
                      <a:pt x="1015" y="4"/>
                    </a:lnTo>
                    <a:lnTo>
                      <a:pt x="1099" y="1"/>
                    </a:lnTo>
                    <a:lnTo>
                      <a:pt x="1186" y="0"/>
                    </a:lnTo>
                    <a:lnTo>
                      <a:pt x="1186" y="837"/>
                    </a:lnTo>
                    <a:lnTo>
                      <a:pt x="0" y="246"/>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1" name="Freeform 10"/>
              <p:cNvSpPr>
                <a:spLocks noChangeArrowheads="1"/>
              </p:cNvSpPr>
              <p:nvPr/>
            </p:nvSpPr>
            <p:spPr bwMode="auto">
              <a:xfrm>
                <a:off x="0" y="246"/>
                <a:ext cx="1186" cy="1010"/>
              </a:xfrm>
              <a:custGeom>
                <a:avLst/>
                <a:gdLst>
                  <a:gd name="T0" fmla="*/ 1186 w 1186"/>
                  <a:gd name="T1" fmla="*/ 591 h 1010"/>
                  <a:gd name="T2" fmla="*/ 0 w 1186"/>
                  <a:gd name="T3" fmla="*/ 0 h 1010"/>
                  <a:gd name="T4" fmla="*/ 0 w 1186"/>
                  <a:gd name="T5" fmla="*/ 419 h 1010"/>
                  <a:gd name="T6" fmla="*/ 1186 w 1186"/>
                  <a:gd name="T7" fmla="*/ 1010 h 1010"/>
                  <a:gd name="T8" fmla="*/ 1186 w 1186"/>
                  <a:gd name="T9" fmla="*/ 591 h 1010"/>
                  <a:gd name="T10" fmla="*/ 0 60000 65536"/>
                  <a:gd name="T11" fmla="*/ 0 60000 65536"/>
                  <a:gd name="T12" fmla="*/ 0 60000 65536"/>
                  <a:gd name="T13" fmla="*/ 0 60000 65536"/>
                  <a:gd name="T14" fmla="*/ 0 60000 65536"/>
                  <a:gd name="T15" fmla="*/ 0 w 1186"/>
                  <a:gd name="T16" fmla="*/ 0 h 1010"/>
                  <a:gd name="T17" fmla="*/ 1186 w 1186"/>
                  <a:gd name="T18" fmla="*/ 1010 h 1010"/>
                </a:gdLst>
                <a:ahLst/>
                <a:cxnLst>
                  <a:cxn ang="T10">
                    <a:pos x="T0" y="T1"/>
                  </a:cxn>
                  <a:cxn ang="T11">
                    <a:pos x="T2" y="T3"/>
                  </a:cxn>
                  <a:cxn ang="T12">
                    <a:pos x="T4" y="T5"/>
                  </a:cxn>
                  <a:cxn ang="T13">
                    <a:pos x="T6" y="T7"/>
                  </a:cxn>
                  <a:cxn ang="T14">
                    <a:pos x="T8" y="T9"/>
                  </a:cxn>
                </a:cxnLst>
                <a:rect l="T15" t="T16" r="T17" b="T18"/>
                <a:pathLst>
                  <a:path w="1186" h="1010">
                    <a:moveTo>
                      <a:pt x="1186" y="591"/>
                    </a:moveTo>
                    <a:lnTo>
                      <a:pt x="0" y="0"/>
                    </a:lnTo>
                    <a:lnTo>
                      <a:pt x="0" y="419"/>
                    </a:lnTo>
                    <a:lnTo>
                      <a:pt x="1186" y="1010"/>
                    </a:lnTo>
                    <a:lnTo>
                      <a:pt x="1186" y="591"/>
                    </a:lnTo>
                    <a:close/>
                  </a:path>
                </a:pathLst>
              </a:cu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2" name="Group 5"/>
            <p:cNvGrpSpPr/>
            <p:nvPr/>
          </p:nvGrpSpPr>
          <p:grpSpPr bwMode="auto">
            <a:xfrm>
              <a:off x="13425" y="5477"/>
              <a:ext cx="2588" cy="2510"/>
              <a:chOff x="0" y="0"/>
              <a:chExt cx="1185" cy="1151"/>
            </a:xfrm>
          </p:grpSpPr>
          <p:sp>
            <p:nvSpPr>
              <p:cNvPr id="13" name="Freeform 12"/>
              <p:cNvSpPr>
                <a:spLocks noChangeArrowheads="1"/>
              </p:cNvSpPr>
              <p:nvPr/>
            </p:nvSpPr>
            <p:spPr bwMode="auto">
              <a:xfrm>
                <a:off x="0" y="0"/>
                <a:ext cx="1185" cy="838"/>
              </a:xfrm>
              <a:custGeom>
                <a:avLst/>
                <a:gdLst>
                  <a:gd name="T0" fmla="*/ 1185 w 1185"/>
                  <a:gd name="T1" fmla="*/ 245 h 838"/>
                  <a:gd name="T2" fmla="*/ 1185 w 1185"/>
                  <a:gd name="T3" fmla="*/ 245 h 838"/>
                  <a:gd name="T4" fmla="*/ 1127 w 1185"/>
                  <a:gd name="T5" fmla="*/ 218 h 838"/>
                  <a:gd name="T6" fmla="*/ 1065 w 1185"/>
                  <a:gd name="T7" fmla="*/ 191 h 838"/>
                  <a:gd name="T8" fmla="*/ 1003 w 1185"/>
                  <a:gd name="T9" fmla="*/ 167 h 838"/>
                  <a:gd name="T10" fmla="*/ 937 w 1185"/>
                  <a:gd name="T11" fmla="*/ 143 h 838"/>
                  <a:gd name="T12" fmla="*/ 869 w 1185"/>
                  <a:gd name="T13" fmla="*/ 121 h 838"/>
                  <a:gd name="T14" fmla="*/ 799 w 1185"/>
                  <a:gd name="T15" fmla="*/ 101 h 838"/>
                  <a:gd name="T16" fmla="*/ 726 w 1185"/>
                  <a:gd name="T17" fmla="*/ 83 h 838"/>
                  <a:gd name="T18" fmla="*/ 652 w 1185"/>
                  <a:gd name="T19" fmla="*/ 66 h 838"/>
                  <a:gd name="T20" fmla="*/ 575 w 1185"/>
                  <a:gd name="T21" fmla="*/ 50 h 838"/>
                  <a:gd name="T22" fmla="*/ 498 w 1185"/>
                  <a:gd name="T23" fmla="*/ 37 h 838"/>
                  <a:gd name="T24" fmla="*/ 418 w 1185"/>
                  <a:gd name="T25" fmla="*/ 26 h 838"/>
                  <a:gd name="T26" fmla="*/ 337 w 1185"/>
                  <a:gd name="T27" fmla="*/ 17 h 838"/>
                  <a:gd name="T28" fmla="*/ 255 w 1185"/>
                  <a:gd name="T29" fmla="*/ 10 h 838"/>
                  <a:gd name="T30" fmla="*/ 170 w 1185"/>
                  <a:gd name="T31" fmla="*/ 5 h 838"/>
                  <a:gd name="T32" fmla="*/ 86 w 1185"/>
                  <a:gd name="T33" fmla="*/ 2 h 838"/>
                  <a:gd name="T34" fmla="*/ 0 w 1185"/>
                  <a:gd name="T35" fmla="*/ 0 h 838"/>
                  <a:gd name="T36" fmla="*/ 0 w 1185"/>
                  <a:gd name="T37" fmla="*/ 838 h 838"/>
                  <a:gd name="T38" fmla="*/ 1185 w 1185"/>
                  <a:gd name="T39" fmla="*/ 245 h 83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85"/>
                  <a:gd name="T61" fmla="*/ 0 h 838"/>
                  <a:gd name="T62" fmla="*/ 1185 w 1185"/>
                  <a:gd name="T63" fmla="*/ 838 h 83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85" h="838">
                    <a:moveTo>
                      <a:pt x="1185" y="245"/>
                    </a:moveTo>
                    <a:lnTo>
                      <a:pt x="1185" y="245"/>
                    </a:lnTo>
                    <a:lnTo>
                      <a:pt x="1127" y="218"/>
                    </a:lnTo>
                    <a:lnTo>
                      <a:pt x="1065" y="191"/>
                    </a:lnTo>
                    <a:lnTo>
                      <a:pt x="1003" y="167"/>
                    </a:lnTo>
                    <a:lnTo>
                      <a:pt x="937" y="143"/>
                    </a:lnTo>
                    <a:lnTo>
                      <a:pt x="869" y="121"/>
                    </a:lnTo>
                    <a:lnTo>
                      <a:pt x="799" y="101"/>
                    </a:lnTo>
                    <a:lnTo>
                      <a:pt x="726" y="83"/>
                    </a:lnTo>
                    <a:lnTo>
                      <a:pt x="652" y="66"/>
                    </a:lnTo>
                    <a:lnTo>
                      <a:pt x="575" y="50"/>
                    </a:lnTo>
                    <a:lnTo>
                      <a:pt x="498" y="37"/>
                    </a:lnTo>
                    <a:lnTo>
                      <a:pt x="418" y="26"/>
                    </a:lnTo>
                    <a:lnTo>
                      <a:pt x="337" y="17"/>
                    </a:lnTo>
                    <a:lnTo>
                      <a:pt x="255" y="10"/>
                    </a:lnTo>
                    <a:lnTo>
                      <a:pt x="170" y="5"/>
                    </a:lnTo>
                    <a:lnTo>
                      <a:pt x="86" y="2"/>
                    </a:lnTo>
                    <a:lnTo>
                      <a:pt x="0" y="0"/>
                    </a:lnTo>
                    <a:lnTo>
                      <a:pt x="0" y="838"/>
                    </a:lnTo>
                    <a:lnTo>
                      <a:pt x="1185" y="245"/>
                    </a:lnTo>
                    <a:close/>
                  </a:path>
                </a:pathLst>
              </a:custGeom>
              <a:solidFill>
                <a:srgbClr val="CE341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5" name="Freeform 13"/>
              <p:cNvSpPr>
                <a:spLocks noChangeArrowheads="1"/>
              </p:cNvSpPr>
              <p:nvPr/>
            </p:nvSpPr>
            <p:spPr bwMode="auto">
              <a:xfrm>
                <a:off x="0" y="245"/>
                <a:ext cx="1185" cy="906"/>
              </a:xfrm>
              <a:custGeom>
                <a:avLst/>
                <a:gdLst>
                  <a:gd name="T0" fmla="*/ 0 w 1185"/>
                  <a:gd name="T1" fmla="*/ 593 h 906"/>
                  <a:gd name="T2" fmla="*/ 1185 w 1185"/>
                  <a:gd name="T3" fmla="*/ 0 h 906"/>
                  <a:gd name="T4" fmla="*/ 1185 w 1185"/>
                  <a:gd name="T5" fmla="*/ 315 h 906"/>
                  <a:gd name="T6" fmla="*/ 0 w 1185"/>
                  <a:gd name="T7" fmla="*/ 906 h 906"/>
                  <a:gd name="T8" fmla="*/ 0 w 1185"/>
                  <a:gd name="T9" fmla="*/ 593 h 906"/>
                  <a:gd name="T10" fmla="*/ 0 60000 65536"/>
                  <a:gd name="T11" fmla="*/ 0 60000 65536"/>
                  <a:gd name="T12" fmla="*/ 0 60000 65536"/>
                  <a:gd name="T13" fmla="*/ 0 60000 65536"/>
                  <a:gd name="T14" fmla="*/ 0 60000 65536"/>
                  <a:gd name="T15" fmla="*/ 0 w 1185"/>
                  <a:gd name="T16" fmla="*/ 0 h 906"/>
                  <a:gd name="T17" fmla="*/ 1185 w 1185"/>
                  <a:gd name="T18" fmla="*/ 906 h 906"/>
                </a:gdLst>
                <a:ahLst/>
                <a:cxnLst>
                  <a:cxn ang="T10">
                    <a:pos x="T0" y="T1"/>
                  </a:cxn>
                  <a:cxn ang="T11">
                    <a:pos x="T2" y="T3"/>
                  </a:cxn>
                  <a:cxn ang="T12">
                    <a:pos x="T4" y="T5"/>
                  </a:cxn>
                  <a:cxn ang="T13">
                    <a:pos x="T6" y="T7"/>
                  </a:cxn>
                  <a:cxn ang="T14">
                    <a:pos x="T8" y="T9"/>
                  </a:cxn>
                </a:cxnLst>
                <a:rect l="T15" t="T16" r="T17" b="T18"/>
                <a:pathLst>
                  <a:path w="1185" h="906">
                    <a:moveTo>
                      <a:pt x="0" y="593"/>
                    </a:moveTo>
                    <a:lnTo>
                      <a:pt x="1185" y="0"/>
                    </a:lnTo>
                    <a:lnTo>
                      <a:pt x="1185" y="315"/>
                    </a:lnTo>
                    <a:lnTo>
                      <a:pt x="0" y="906"/>
                    </a:lnTo>
                    <a:lnTo>
                      <a:pt x="0" y="593"/>
                    </a:lnTo>
                    <a:close/>
                  </a:path>
                </a:pathLst>
              </a:custGeom>
              <a:solidFill>
                <a:srgbClr val="C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6" name="Group 8"/>
            <p:cNvGrpSpPr/>
            <p:nvPr/>
          </p:nvGrpSpPr>
          <p:grpSpPr bwMode="auto">
            <a:xfrm>
              <a:off x="9764" y="5553"/>
              <a:ext cx="3659" cy="2432"/>
              <a:chOff x="0" y="0"/>
              <a:chExt cx="1676" cy="1115"/>
            </a:xfrm>
          </p:grpSpPr>
          <p:sp>
            <p:nvSpPr>
              <p:cNvPr id="17" name="Freeform 15"/>
              <p:cNvSpPr>
                <a:spLocks noChangeArrowheads="1"/>
              </p:cNvSpPr>
              <p:nvPr/>
            </p:nvSpPr>
            <p:spPr bwMode="auto">
              <a:xfrm>
                <a:off x="0" y="0"/>
                <a:ext cx="1676" cy="592"/>
              </a:xfrm>
              <a:custGeom>
                <a:avLst/>
                <a:gdLst>
                  <a:gd name="T0" fmla="*/ 1676 w 1676"/>
                  <a:gd name="T1" fmla="*/ 592 h 592"/>
                  <a:gd name="T2" fmla="*/ 490 w 1676"/>
                  <a:gd name="T3" fmla="*/ 0 h 592"/>
                  <a:gd name="T4" fmla="*/ 490 w 1676"/>
                  <a:gd name="T5" fmla="*/ 0 h 592"/>
                  <a:gd name="T6" fmla="*/ 436 w 1676"/>
                  <a:gd name="T7" fmla="*/ 28 h 592"/>
                  <a:gd name="T8" fmla="*/ 383 w 1676"/>
                  <a:gd name="T9" fmla="*/ 60 h 592"/>
                  <a:gd name="T10" fmla="*/ 333 w 1676"/>
                  <a:gd name="T11" fmla="*/ 91 h 592"/>
                  <a:gd name="T12" fmla="*/ 286 w 1676"/>
                  <a:gd name="T13" fmla="*/ 124 h 592"/>
                  <a:gd name="T14" fmla="*/ 242 w 1676"/>
                  <a:gd name="T15" fmla="*/ 158 h 592"/>
                  <a:gd name="T16" fmla="*/ 202 w 1676"/>
                  <a:gd name="T17" fmla="*/ 194 h 592"/>
                  <a:gd name="T18" fmla="*/ 165 w 1676"/>
                  <a:gd name="T19" fmla="*/ 229 h 592"/>
                  <a:gd name="T20" fmla="*/ 131 w 1676"/>
                  <a:gd name="T21" fmla="*/ 266 h 592"/>
                  <a:gd name="T22" fmla="*/ 101 w 1676"/>
                  <a:gd name="T23" fmla="*/ 305 h 592"/>
                  <a:gd name="T24" fmla="*/ 88 w 1676"/>
                  <a:gd name="T25" fmla="*/ 323 h 592"/>
                  <a:gd name="T26" fmla="*/ 75 w 1676"/>
                  <a:gd name="T27" fmla="*/ 343 h 592"/>
                  <a:gd name="T28" fmla="*/ 64 w 1676"/>
                  <a:gd name="T29" fmla="*/ 363 h 592"/>
                  <a:gd name="T30" fmla="*/ 53 w 1676"/>
                  <a:gd name="T31" fmla="*/ 383 h 592"/>
                  <a:gd name="T32" fmla="*/ 43 w 1676"/>
                  <a:gd name="T33" fmla="*/ 403 h 592"/>
                  <a:gd name="T34" fmla="*/ 34 w 1676"/>
                  <a:gd name="T35" fmla="*/ 423 h 592"/>
                  <a:gd name="T36" fmla="*/ 25 w 1676"/>
                  <a:gd name="T37" fmla="*/ 444 h 592"/>
                  <a:gd name="T38" fmla="*/ 20 w 1676"/>
                  <a:gd name="T39" fmla="*/ 464 h 592"/>
                  <a:gd name="T40" fmla="*/ 13 w 1676"/>
                  <a:gd name="T41" fmla="*/ 486 h 592"/>
                  <a:gd name="T42" fmla="*/ 8 w 1676"/>
                  <a:gd name="T43" fmla="*/ 507 h 592"/>
                  <a:gd name="T44" fmla="*/ 4 w 1676"/>
                  <a:gd name="T45" fmla="*/ 528 h 592"/>
                  <a:gd name="T46" fmla="*/ 3 w 1676"/>
                  <a:gd name="T47" fmla="*/ 550 h 592"/>
                  <a:gd name="T48" fmla="*/ 0 w 1676"/>
                  <a:gd name="T49" fmla="*/ 571 h 592"/>
                  <a:gd name="T50" fmla="*/ 0 w 1676"/>
                  <a:gd name="T51" fmla="*/ 592 h 592"/>
                  <a:gd name="T52" fmla="*/ 1676 w 1676"/>
                  <a:gd name="T53" fmla="*/ 592 h 59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76"/>
                  <a:gd name="T82" fmla="*/ 0 h 592"/>
                  <a:gd name="T83" fmla="*/ 1676 w 1676"/>
                  <a:gd name="T84" fmla="*/ 592 h 59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76" h="592">
                    <a:moveTo>
                      <a:pt x="1676" y="592"/>
                    </a:moveTo>
                    <a:lnTo>
                      <a:pt x="490" y="0"/>
                    </a:lnTo>
                    <a:lnTo>
                      <a:pt x="436" y="28"/>
                    </a:lnTo>
                    <a:lnTo>
                      <a:pt x="383" y="60"/>
                    </a:lnTo>
                    <a:lnTo>
                      <a:pt x="333" y="91"/>
                    </a:lnTo>
                    <a:lnTo>
                      <a:pt x="286" y="124"/>
                    </a:lnTo>
                    <a:lnTo>
                      <a:pt x="242" y="158"/>
                    </a:lnTo>
                    <a:lnTo>
                      <a:pt x="202" y="194"/>
                    </a:lnTo>
                    <a:lnTo>
                      <a:pt x="165" y="229"/>
                    </a:lnTo>
                    <a:lnTo>
                      <a:pt x="131" y="266"/>
                    </a:lnTo>
                    <a:lnTo>
                      <a:pt x="101" y="305"/>
                    </a:lnTo>
                    <a:lnTo>
                      <a:pt x="88" y="323"/>
                    </a:lnTo>
                    <a:lnTo>
                      <a:pt x="75" y="343"/>
                    </a:lnTo>
                    <a:lnTo>
                      <a:pt x="64" y="363"/>
                    </a:lnTo>
                    <a:lnTo>
                      <a:pt x="53" y="383"/>
                    </a:lnTo>
                    <a:lnTo>
                      <a:pt x="43" y="403"/>
                    </a:lnTo>
                    <a:lnTo>
                      <a:pt x="34" y="423"/>
                    </a:lnTo>
                    <a:lnTo>
                      <a:pt x="25" y="444"/>
                    </a:lnTo>
                    <a:lnTo>
                      <a:pt x="20" y="464"/>
                    </a:lnTo>
                    <a:lnTo>
                      <a:pt x="13" y="486"/>
                    </a:lnTo>
                    <a:lnTo>
                      <a:pt x="8" y="507"/>
                    </a:lnTo>
                    <a:lnTo>
                      <a:pt x="4" y="528"/>
                    </a:lnTo>
                    <a:lnTo>
                      <a:pt x="3" y="550"/>
                    </a:lnTo>
                    <a:lnTo>
                      <a:pt x="0" y="571"/>
                    </a:lnTo>
                    <a:lnTo>
                      <a:pt x="0" y="592"/>
                    </a:lnTo>
                    <a:lnTo>
                      <a:pt x="1676" y="592"/>
                    </a:lnTo>
                    <a:close/>
                  </a:path>
                </a:pathLst>
              </a:cu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8" name="Rectangle 16"/>
              <p:cNvSpPr>
                <a:spLocks noChangeArrowheads="1"/>
              </p:cNvSpPr>
              <p:nvPr/>
            </p:nvSpPr>
            <p:spPr bwMode="auto">
              <a:xfrm>
                <a:off x="0" y="592"/>
                <a:ext cx="1676" cy="523"/>
              </a:xfrm>
              <a:prstGeom prst="rect">
                <a:avLst/>
              </a:prstGeom>
              <a:gradFill rotWithShape="1">
                <a:gsLst>
                  <a:gs pos="0">
                    <a:srgbClr val="969696"/>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815975" rtl="0" eaLnBrk="1" fontAlgn="auto" latinLnBrk="1"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srgbClr val="000000"/>
                  </a:solidFill>
                  <a:effectLst/>
                  <a:uLnTx/>
                  <a:uFillTx/>
                  <a:latin typeface="Gulim" panose="020B0600000101010101" pitchFamily="34" charset="-127"/>
                  <a:ea typeface="宋体" panose="02010600030101010101" pitchFamily="2" charset="-122"/>
                  <a:cs typeface="+mn-cs"/>
                  <a:sym typeface="Gulim" panose="020B0600000101010101" pitchFamily="34" charset="-127"/>
                </a:endParaRPr>
              </a:p>
            </p:txBody>
          </p:sp>
        </p:grpSp>
        <p:grpSp>
          <p:nvGrpSpPr>
            <p:cNvPr id="19" name="Group 11"/>
            <p:cNvGrpSpPr/>
            <p:nvPr/>
          </p:nvGrpSpPr>
          <p:grpSpPr bwMode="auto">
            <a:xfrm>
              <a:off x="13425" y="6199"/>
              <a:ext cx="3657" cy="1745"/>
              <a:chOff x="0" y="0"/>
              <a:chExt cx="1675" cy="800"/>
            </a:xfrm>
          </p:grpSpPr>
          <p:sp>
            <p:nvSpPr>
              <p:cNvPr id="20" name="Freeform 18"/>
              <p:cNvSpPr>
                <a:spLocks noChangeArrowheads="1"/>
              </p:cNvSpPr>
              <p:nvPr/>
            </p:nvSpPr>
            <p:spPr bwMode="auto">
              <a:xfrm>
                <a:off x="0" y="0"/>
                <a:ext cx="1675" cy="591"/>
              </a:xfrm>
              <a:custGeom>
                <a:avLst/>
                <a:gdLst>
                  <a:gd name="T0" fmla="*/ 0 w 1675"/>
                  <a:gd name="T1" fmla="*/ 591 h 591"/>
                  <a:gd name="T2" fmla="*/ 1185 w 1675"/>
                  <a:gd name="T3" fmla="*/ 0 h 591"/>
                  <a:gd name="T4" fmla="*/ 1185 w 1675"/>
                  <a:gd name="T5" fmla="*/ 0 h 591"/>
                  <a:gd name="T6" fmla="*/ 1239 w 1675"/>
                  <a:gd name="T7" fmla="*/ 28 h 591"/>
                  <a:gd name="T8" fmla="*/ 1292 w 1675"/>
                  <a:gd name="T9" fmla="*/ 58 h 591"/>
                  <a:gd name="T10" fmla="*/ 1342 w 1675"/>
                  <a:gd name="T11" fmla="*/ 89 h 591"/>
                  <a:gd name="T12" fmla="*/ 1389 w 1675"/>
                  <a:gd name="T13" fmla="*/ 124 h 591"/>
                  <a:gd name="T14" fmla="*/ 1433 w 1675"/>
                  <a:gd name="T15" fmla="*/ 156 h 591"/>
                  <a:gd name="T16" fmla="*/ 1473 w 1675"/>
                  <a:gd name="T17" fmla="*/ 192 h 591"/>
                  <a:gd name="T18" fmla="*/ 1510 w 1675"/>
                  <a:gd name="T19" fmla="*/ 228 h 591"/>
                  <a:gd name="T20" fmla="*/ 1544 w 1675"/>
                  <a:gd name="T21" fmla="*/ 265 h 591"/>
                  <a:gd name="T22" fmla="*/ 1574 w 1675"/>
                  <a:gd name="T23" fmla="*/ 303 h 591"/>
                  <a:gd name="T24" fmla="*/ 1587 w 1675"/>
                  <a:gd name="T25" fmla="*/ 323 h 591"/>
                  <a:gd name="T26" fmla="*/ 1600 w 1675"/>
                  <a:gd name="T27" fmla="*/ 342 h 591"/>
                  <a:gd name="T28" fmla="*/ 1611 w 1675"/>
                  <a:gd name="T29" fmla="*/ 361 h 591"/>
                  <a:gd name="T30" fmla="*/ 1622 w 1675"/>
                  <a:gd name="T31" fmla="*/ 381 h 591"/>
                  <a:gd name="T32" fmla="*/ 1632 w 1675"/>
                  <a:gd name="T33" fmla="*/ 401 h 591"/>
                  <a:gd name="T34" fmla="*/ 1641 w 1675"/>
                  <a:gd name="T35" fmla="*/ 423 h 591"/>
                  <a:gd name="T36" fmla="*/ 1650 w 1675"/>
                  <a:gd name="T37" fmla="*/ 443 h 591"/>
                  <a:gd name="T38" fmla="*/ 1655 w 1675"/>
                  <a:gd name="T39" fmla="*/ 464 h 591"/>
                  <a:gd name="T40" fmla="*/ 1662 w 1675"/>
                  <a:gd name="T41" fmla="*/ 484 h 591"/>
                  <a:gd name="T42" fmla="*/ 1667 w 1675"/>
                  <a:gd name="T43" fmla="*/ 505 h 591"/>
                  <a:gd name="T44" fmla="*/ 1671 w 1675"/>
                  <a:gd name="T45" fmla="*/ 527 h 591"/>
                  <a:gd name="T46" fmla="*/ 1672 w 1675"/>
                  <a:gd name="T47" fmla="*/ 548 h 591"/>
                  <a:gd name="T48" fmla="*/ 1675 w 1675"/>
                  <a:gd name="T49" fmla="*/ 569 h 591"/>
                  <a:gd name="T50" fmla="*/ 1675 w 1675"/>
                  <a:gd name="T51" fmla="*/ 591 h 591"/>
                  <a:gd name="T52" fmla="*/ 0 w 1675"/>
                  <a:gd name="T53" fmla="*/ 591 h 5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75"/>
                  <a:gd name="T82" fmla="*/ 0 h 591"/>
                  <a:gd name="T83" fmla="*/ 1675 w 1675"/>
                  <a:gd name="T84" fmla="*/ 591 h 59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75" h="591">
                    <a:moveTo>
                      <a:pt x="0" y="591"/>
                    </a:moveTo>
                    <a:lnTo>
                      <a:pt x="1185" y="0"/>
                    </a:lnTo>
                    <a:lnTo>
                      <a:pt x="1239" y="28"/>
                    </a:lnTo>
                    <a:lnTo>
                      <a:pt x="1292" y="58"/>
                    </a:lnTo>
                    <a:lnTo>
                      <a:pt x="1342" y="89"/>
                    </a:lnTo>
                    <a:lnTo>
                      <a:pt x="1389" y="124"/>
                    </a:lnTo>
                    <a:lnTo>
                      <a:pt x="1433" y="156"/>
                    </a:lnTo>
                    <a:lnTo>
                      <a:pt x="1473" y="192"/>
                    </a:lnTo>
                    <a:lnTo>
                      <a:pt x="1510" y="228"/>
                    </a:lnTo>
                    <a:lnTo>
                      <a:pt x="1544" y="265"/>
                    </a:lnTo>
                    <a:lnTo>
                      <a:pt x="1574" y="303"/>
                    </a:lnTo>
                    <a:lnTo>
                      <a:pt x="1587" y="323"/>
                    </a:lnTo>
                    <a:lnTo>
                      <a:pt x="1600" y="342"/>
                    </a:lnTo>
                    <a:lnTo>
                      <a:pt x="1611" y="361"/>
                    </a:lnTo>
                    <a:lnTo>
                      <a:pt x="1622" y="381"/>
                    </a:lnTo>
                    <a:lnTo>
                      <a:pt x="1632" y="401"/>
                    </a:lnTo>
                    <a:lnTo>
                      <a:pt x="1641" y="423"/>
                    </a:lnTo>
                    <a:lnTo>
                      <a:pt x="1650" y="443"/>
                    </a:lnTo>
                    <a:lnTo>
                      <a:pt x="1655" y="464"/>
                    </a:lnTo>
                    <a:lnTo>
                      <a:pt x="1662" y="484"/>
                    </a:lnTo>
                    <a:lnTo>
                      <a:pt x="1667" y="505"/>
                    </a:lnTo>
                    <a:lnTo>
                      <a:pt x="1671" y="527"/>
                    </a:lnTo>
                    <a:lnTo>
                      <a:pt x="1672" y="548"/>
                    </a:lnTo>
                    <a:lnTo>
                      <a:pt x="1675" y="569"/>
                    </a:lnTo>
                    <a:lnTo>
                      <a:pt x="1675" y="591"/>
                    </a:lnTo>
                    <a:lnTo>
                      <a:pt x="0" y="591"/>
                    </a:lnTo>
                    <a:close/>
                  </a:path>
                </a:pathLst>
              </a:cu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1" name="Rectangle 19"/>
              <p:cNvSpPr>
                <a:spLocks noChangeArrowheads="1"/>
              </p:cNvSpPr>
              <p:nvPr/>
            </p:nvSpPr>
            <p:spPr bwMode="auto">
              <a:xfrm>
                <a:off x="0" y="591"/>
                <a:ext cx="1675" cy="209"/>
              </a:xfrm>
              <a:prstGeom prst="rect">
                <a:avLst/>
              </a:prstGeom>
              <a:solidFill>
                <a:schemeClr val="accent3">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815975" rtl="0" eaLnBrk="1" fontAlgn="auto" latinLnBrk="1"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srgbClr val="000000"/>
                  </a:solidFill>
                  <a:effectLst/>
                  <a:uLnTx/>
                  <a:uFillTx/>
                  <a:latin typeface="Gulim" panose="020B0600000101010101" pitchFamily="34" charset="-127"/>
                  <a:ea typeface="宋体" panose="02010600030101010101" pitchFamily="2" charset="-122"/>
                  <a:cs typeface="+mn-cs"/>
                  <a:sym typeface="Gulim" panose="020B0600000101010101" pitchFamily="34" charset="-127"/>
                </a:endParaRPr>
              </a:p>
            </p:txBody>
          </p:sp>
        </p:grpSp>
        <p:grpSp>
          <p:nvGrpSpPr>
            <p:cNvPr id="22" name="Group 14"/>
            <p:cNvGrpSpPr/>
            <p:nvPr/>
          </p:nvGrpSpPr>
          <p:grpSpPr bwMode="auto">
            <a:xfrm>
              <a:off x="9773" y="6617"/>
              <a:ext cx="3657" cy="2662"/>
              <a:chOff x="0" y="0"/>
              <a:chExt cx="1676" cy="1221"/>
            </a:xfrm>
          </p:grpSpPr>
          <p:sp>
            <p:nvSpPr>
              <p:cNvPr id="24" name="Freeform 21"/>
              <p:cNvSpPr>
                <a:spLocks noChangeArrowheads="1"/>
              </p:cNvSpPr>
              <p:nvPr/>
            </p:nvSpPr>
            <p:spPr bwMode="auto">
              <a:xfrm>
                <a:off x="0" y="0"/>
                <a:ext cx="1676" cy="593"/>
              </a:xfrm>
              <a:custGeom>
                <a:avLst/>
                <a:gdLst>
                  <a:gd name="T0" fmla="*/ 1676 w 1676"/>
                  <a:gd name="T1" fmla="*/ 0 h 593"/>
                  <a:gd name="T2" fmla="*/ 490 w 1676"/>
                  <a:gd name="T3" fmla="*/ 593 h 593"/>
                  <a:gd name="T4" fmla="*/ 490 w 1676"/>
                  <a:gd name="T5" fmla="*/ 593 h 593"/>
                  <a:gd name="T6" fmla="*/ 436 w 1676"/>
                  <a:gd name="T7" fmla="*/ 564 h 593"/>
                  <a:gd name="T8" fmla="*/ 383 w 1676"/>
                  <a:gd name="T9" fmla="*/ 533 h 593"/>
                  <a:gd name="T10" fmla="*/ 333 w 1676"/>
                  <a:gd name="T11" fmla="*/ 501 h 593"/>
                  <a:gd name="T12" fmla="*/ 286 w 1676"/>
                  <a:gd name="T13" fmla="*/ 469 h 593"/>
                  <a:gd name="T14" fmla="*/ 242 w 1676"/>
                  <a:gd name="T15" fmla="*/ 434 h 593"/>
                  <a:gd name="T16" fmla="*/ 202 w 1676"/>
                  <a:gd name="T17" fmla="*/ 400 h 593"/>
                  <a:gd name="T18" fmla="*/ 165 w 1676"/>
                  <a:gd name="T19" fmla="*/ 363 h 593"/>
                  <a:gd name="T20" fmla="*/ 131 w 1676"/>
                  <a:gd name="T21" fmla="*/ 326 h 593"/>
                  <a:gd name="T22" fmla="*/ 101 w 1676"/>
                  <a:gd name="T23" fmla="*/ 288 h 593"/>
                  <a:gd name="T24" fmla="*/ 88 w 1676"/>
                  <a:gd name="T25" fmla="*/ 269 h 593"/>
                  <a:gd name="T26" fmla="*/ 75 w 1676"/>
                  <a:gd name="T27" fmla="*/ 249 h 593"/>
                  <a:gd name="T28" fmla="*/ 64 w 1676"/>
                  <a:gd name="T29" fmla="*/ 229 h 593"/>
                  <a:gd name="T30" fmla="*/ 53 w 1676"/>
                  <a:gd name="T31" fmla="*/ 209 h 593"/>
                  <a:gd name="T32" fmla="*/ 43 w 1676"/>
                  <a:gd name="T33" fmla="*/ 189 h 593"/>
                  <a:gd name="T34" fmla="*/ 34 w 1676"/>
                  <a:gd name="T35" fmla="*/ 170 h 593"/>
                  <a:gd name="T36" fmla="*/ 25 w 1676"/>
                  <a:gd name="T37" fmla="*/ 148 h 593"/>
                  <a:gd name="T38" fmla="*/ 20 w 1676"/>
                  <a:gd name="T39" fmla="*/ 128 h 593"/>
                  <a:gd name="T40" fmla="*/ 13 w 1676"/>
                  <a:gd name="T41" fmla="*/ 107 h 593"/>
                  <a:gd name="T42" fmla="*/ 8 w 1676"/>
                  <a:gd name="T43" fmla="*/ 85 h 593"/>
                  <a:gd name="T44" fmla="*/ 4 w 1676"/>
                  <a:gd name="T45" fmla="*/ 66 h 593"/>
                  <a:gd name="T46" fmla="*/ 3 w 1676"/>
                  <a:gd name="T47" fmla="*/ 44 h 593"/>
                  <a:gd name="T48" fmla="*/ 0 w 1676"/>
                  <a:gd name="T49" fmla="*/ 21 h 593"/>
                  <a:gd name="T50" fmla="*/ 0 w 1676"/>
                  <a:gd name="T51" fmla="*/ 0 h 593"/>
                  <a:gd name="T52" fmla="*/ 1676 w 1676"/>
                  <a:gd name="T53" fmla="*/ 0 h 5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76"/>
                  <a:gd name="T82" fmla="*/ 0 h 593"/>
                  <a:gd name="T83" fmla="*/ 1676 w 1676"/>
                  <a:gd name="T84" fmla="*/ 593 h 59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76" h="593">
                    <a:moveTo>
                      <a:pt x="1676" y="0"/>
                    </a:moveTo>
                    <a:lnTo>
                      <a:pt x="490" y="593"/>
                    </a:lnTo>
                    <a:lnTo>
                      <a:pt x="436" y="564"/>
                    </a:lnTo>
                    <a:lnTo>
                      <a:pt x="383" y="533"/>
                    </a:lnTo>
                    <a:lnTo>
                      <a:pt x="333" y="501"/>
                    </a:lnTo>
                    <a:lnTo>
                      <a:pt x="286" y="469"/>
                    </a:lnTo>
                    <a:lnTo>
                      <a:pt x="242" y="434"/>
                    </a:lnTo>
                    <a:lnTo>
                      <a:pt x="202" y="400"/>
                    </a:lnTo>
                    <a:lnTo>
                      <a:pt x="165" y="363"/>
                    </a:lnTo>
                    <a:lnTo>
                      <a:pt x="131" y="326"/>
                    </a:lnTo>
                    <a:lnTo>
                      <a:pt x="101" y="288"/>
                    </a:lnTo>
                    <a:lnTo>
                      <a:pt x="88" y="269"/>
                    </a:lnTo>
                    <a:lnTo>
                      <a:pt x="75" y="249"/>
                    </a:lnTo>
                    <a:lnTo>
                      <a:pt x="64" y="229"/>
                    </a:lnTo>
                    <a:lnTo>
                      <a:pt x="53" y="209"/>
                    </a:lnTo>
                    <a:lnTo>
                      <a:pt x="43" y="189"/>
                    </a:lnTo>
                    <a:lnTo>
                      <a:pt x="34" y="170"/>
                    </a:lnTo>
                    <a:lnTo>
                      <a:pt x="25" y="148"/>
                    </a:lnTo>
                    <a:lnTo>
                      <a:pt x="20" y="128"/>
                    </a:lnTo>
                    <a:lnTo>
                      <a:pt x="13" y="107"/>
                    </a:lnTo>
                    <a:lnTo>
                      <a:pt x="8" y="85"/>
                    </a:lnTo>
                    <a:lnTo>
                      <a:pt x="4" y="66"/>
                    </a:lnTo>
                    <a:lnTo>
                      <a:pt x="3" y="44"/>
                    </a:lnTo>
                    <a:lnTo>
                      <a:pt x="0" y="21"/>
                    </a:lnTo>
                    <a:lnTo>
                      <a:pt x="0" y="0"/>
                    </a:lnTo>
                    <a:lnTo>
                      <a:pt x="1676" y="0"/>
                    </a:lnTo>
                    <a:close/>
                  </a:path>
                </a:pathLst>
              </a:cu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5" name="Freeform 22"/>
              <p:cNvSpPr>
                <a:spLocks noChangeArrowheads="1"/>
              </p:cNvSpPr>
              <p:nvPr/>
            </p:nvSpPr>
            <p:spPr bwMode="auto">
              <a:xfrm>
                <a:off x="0" y="0"/>
                <a:ext cx="490" cy="1221"/>
              </a:xfrm>
              <a:custGeom>
                <a:avLst/>
                <a:gdLst>
                  <a:gd name="T0" fmla="*/ 490 w 490"/>
                  <a:gd name="T1" fmla="*/ 593 h 1221"/>
                  <a:gd name="T2" fmla="*/ 490 w 490"/>
                  <a:gd name="T3" fmla="*/ 593 h 1221"/>
                  <a:gd name="T4" fmla="*/ 436 w 490"/>
                  <a:gd name="T5" fmla="*/ 564 h 1221"/>
                  <a:gd name="T6" fmla="*/ 383 w 490"/>
                  <a:gd name="T7" fmla="*/ 533 h 1221"/>
                  <a:gd name="T8" fmla="*/ 333 w 490"/>
                  <a:gd name="T9" fmla="*/ 501 h 1221"/>
                  <a:gd name="T10" fmla="*/ 286 w 490"/>
                  <a:gd name="T11" fmla="*/ 469 h 1221"/>
                  <a:gd name="T12" fmla="*/ 242 w 490"/>
                  <a:gd name="T13" fmla="*/ 434 h 1221"/>
                  <a:gd name="T14" fmla="*/ 202 w 490"/>
                  <a:gd name="T15" fmla="*/ 400 h 1221"/>
                  <a:gd name="T16" fmla="*/ 165 w 490"/>
                  <a:gd name="T17" fmla="*/ 363 h 1221"/>
                  <a:gd name="T18" fmla="*/ 131 w 490"/>
                  <a:gd name="T19" fmla="*/ 326 h 1221"/>
                  <a:gd name="T20" fmla="*/ 101 w 490"/>
                  <a:gd name="T21" fmla="*/ 288 h 1221"/>
                  <a:gd name="T22" fmla="*/ 88 w 490"/>
                  <a:gd name="T23" fmla="*/ 269 h 1221"/>
                  <a:gd name="T24" fmla="*/ 75 w 490"/>
                  <a:gd name="T25" fmla="*/ 249 h 1221"/>
                  <a:gd name="T26" fmla="*/ 64 w 490"/>
                  <a:gd name="T27" fmla="*/ 229 h 1221"/>
                  <a:gd name="T28" fmla="*/ 53 w 490"/>
                  <a:gd name="T29" fmla="*/ 209 h 1221"/>
                  <a:gd name="T30" fmla="*/ 43 w 490"/>
                  <a:gd name="T31" fmla="*/ 189 h 1221"/>
                  <a:gd name="T32" fmla="*/ 34 w 490"/>
                  <a:gd name="T33" fmla="*/ 170 h 1221"/>
                  <a:gd name="T34" fmla="*/ 25 w 490"/>
                  <a:gd name="T35" fmla="*/ 148 h 1221"/>
                  <a:gd name="T36" fmla="*/ 20 w 490"/>
                  <a:gd name="T37" fmla="*/ 128 h 1221"/>
                  <a:gd name="T38" fmla="*/ 13 w 490"/>
                  <a:gd name="T39" fmla="*/ 107 h 1221"/>
                  <a:gd name="T40" fmla="*/ 8 w 490"/>
                  <a:gd name="T41" fmla="*/ 85 h 1221"/>
                  <a:gd name="T42" fmla="*/ 4 w 490"/>
                  <a:gd name="T43" fmla="*/ 66 h 1221"/>
                  <a:gd name="T44" fmla="*/ 3 w 490"/>
                  <a:gd name="T45" fmla="*/ 44 h 1221"/>
                  <a:gd name="T46" fmla="*/ 0 w 490"/>
                  <a:gd name="T47" fmla="*/ 21 h 1221"/>
                  <a:gd name="T48" fmla="*/ 0 w 490"/>
                  <a:gd name="T49" fmla="*/ 0 h 1221"/>
                  <a:gd name="T50" fmla="*/ 0 w 490"/>
                  <a:gd name="T51" fmla="*/ 628 h 1221"/>
                  <a:gd name="T52" fmla="*/ 0 w 490"/>
                  <a:gd name="T53" fmla="*/ 628 h 1221"/>
                  <a:gd name="T54" fmla="*/ 0 w 490"/>
                  <a:gd name="T55" fmla="*/ 650 h 1221"/>
                  <a:gd name="T56" fmla="*/ 3 w 490"/>
                  <a:gd name="T57" fmla="*/ 672 h 1221"/>
                  <a:gd name="T58" fmla="*/ 4 w 490"/>
                  <a:gd name="T59" fmla="*/ 694 h 1221"/>
                  <a:gd name="T60" fmla="*/ 8 w 490"/>
                  <a:gd name="T61" fmla="*/ 714 h 1221"/>
                  <a:gd name="T62" fmla="*/ 13 w 490"/>
                  <a:gd name="T63" fmla="*/ 735 h 1221"/>
                  <a:gd name="T64" fmla="*/ 20 w 490"/>
                  <a:gd name="T65" fmla="*/ 756 h 1221"/>
                  <a:gd name="T66" fmla="*/ 25 w 490"/>
                  <a:gd name="T67" fmla="*/ 776 h 1221"/>
                  <a:gd name="T68" fmla="*/ 34 w 490"/>
                  <a:gd name="T69" fmla="*/ 798 h 1221"/>
                  <a:gd name="T70" fmla="*/ 43 w 490"/>
                  <a:gd name="T71" fmla="*/ 818 h 1221"/>
                  <a:gd name="T72" fmla="*/ 53 w 490"/>
                  <a:gd name="T73" fmla="*/ 838 h 1221"/>
                  <a:gd name="T74" fmla="*/ 64 w 490"/>
                  <a:gd name="T75" fmla="*/ 858 h 1221"/>
                  <a:gd name="T76" fmla="*/ 75 w 490"/>
                  <a:gd name="T77" fmla="*/ 877 h 1221"/>
                  <a:gd name="T78" fmla="*/ 88 w 490"/>
                  <a:gd name="T79" fmla="*/ 897 h 1221"/>
                  <a:gd name="T80" fmla="*/ 101 w 490"/>
                  <a:gd name="T81" fmla="*/ 916 h 1221"/>
                  <a:gd name="T82" fmla="*/ 131 w 490"/>
                  <a:gd name="T83" fmla="*/ 954 h 1221"/>
                  <a:gd name="T84" fmla="*/ 165 w 490"/>
                  <a:gd name="T85" fmla="*/ 991 h 1221"/>
                  <a:gd name="T86" fmla="*/ 202 w 490"/>
                  <a:gd name="T87" fmla="*/ 1028 h 1221"/>
                  <a:gd name="T88" fmla="*/ 242 w 490"/>
                  <a:gd name="T89" fmla="*/ 1063 h 1221"/>
                  <a:gd name="T90" fmla="*/ 286 w 490"/>
                  <a:gd name="T91" fmla="*/ 1097 h 1221"/>
                  <a:gd name="T92" fmla="*/ 333 w 490"/>
                  <a:gd name="T93" fmla="*/ 1130 h 1221"/>
                  <a:gd name="T94" fmla="*/ 383 w 490"/>
                  <a:gd name="T95" fmla="*/ 1161 h 1221"/>
                  <a:gd name="T96" fmla="*/ 436 w 490"/>
                  <a:gd name="T97" fmla="*/ 1192 h 1221"/>
                  <a:gd name="T98" fmla="*/ 490 w 490"/>
                  <a:gd name="T99" fmla="*/ 1221 h 1221"/>
                  <a:gd name="T100" fmla="*/ 490 w 490"/>
                  <a:gd name="T101" fmla="*/ 593 h 122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90"/>
                  <a:gd name="T154" fmla="*/ 0 h 1221"/>
                  <a:gd name="T155" fmla="*/ 490 w 490"/>
                  <a:gd name="T156" fmla="*/ 1221 h 122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90" h="1221">
                    <a:moveTo>
                      <a:pt x="490" y="593"/>
                    </a:moveTo>
                    <a:lnTo>
                      <a:pt x="490" y="593"/>
                    </a:lnTo>
                    <a:lnTo>
                      <a:pt x="436" y="564"/>
                    </a:lnTo>
                    <a:lnTo>
                      <a:pt x="383" y="533"/>
                    </a:lnTo>
                    <a:lnTo>
                      <a:pt x="333" y="501"/>
                    </a:lnTo>
                    <a:lnTo>
                      <a:pt x="286" y="469"/>
                    </a:lnTo>
                    <a:lnTo>
                      <a:pt x="242" y="434"/>
                    </a:lnTo>
                    <a:lnTo>
                      <a:pt x="202" y="400"/>
                    </a:lnTo>
                    <a:lnTo>
                      <a:pt x="165" y="363"/>
                    </a:lnTo>
                    <a:lnTo>
                      <a:pt x="131" y="326"/>
                    </a:lnTo>
                    <a:lnTo>
                      <a:pt x="101" y="288"/>
                    </a:lnTo>
                    <a:lnTo>
                      <a:pt x="88" y="269"/>
                    </a:lnTo>
                    <a:lnTo>
                      <a:pt x="75" y="249"/>
                    </a:lnTo>
                    <a:lnTo>
                      <a:pt x="64" y="229"/>
                    </a:lnTo>
                    <a:lnTo>
                      <a:pt x="53" y="209"/>
                    </a:lnTo>
                    <a:lnTo>
                      <a:pt x="43" y="189"/>
                    </a:lnTo>
                    <a:lnTo>
                      <a:pt x="34" y="170"/>
                    </a:lnTo>
                    <a:lnTo>
                      <a:pt x="25" y="148"/>
                    </a:lnTo>
                    <a:lnTo>
                      <a:pt x="20" y="128"/>
                    </a:lnTo>
                    <a:lnTo>
                      <a:pt x="13" y="107"/>
                    </a:lnTo>
                    <a:lnTo>
                      <a:pt x="8" y="85"/>
                    </a:lnTo>
                    <a:lnTo>
                      <a:pt x="4" y="66"/>
                    </a:lnTo>
                    <a:lnTo>
                      <a:pt x="3" y="44"/>
                    </a:lnTo>
                    <a:lnTo>
                      <a:pt x="0" y="21"/>
                    </a:lnTo>
                    <a:lnTo>
                      <a:pt x="0" y="0"/>
                    </a:lnTo>
                    <a:lnTo>
                      <a:pt x="0" y="628"/>
                    </a:lnTo>
                    <a:lnTo>
                      <a:pt x="0" y="650"/>
                    </a:lnTo>
                    <a:lnTo>
                      <a:pt x="3" y="672"/>
                    </a:lnTo>
                    <a:lnTo>
                      <a:pt x="4" y="694"/>
                    </a:lnTo>
                    <a:lnTo>
                      <a:pt x="8" y="714"/>
                    </a:lnTo>
                    <a:lnTo>
                      <a:pt x="13" y="735"/>
                    </a:lnTo>
                    <a:lnTo>
                      <a:pt x="20" y="756"/>
                    </a:lnTo>
                    <a:lnTo>
                      <a:pt x="25" y="776"/>
                    </a:lnTo>
                    <a:lnTo>
                      <a:pt x="34" y="798"/>
                    </a:lnTo>
                    <a:lnTo>
                      <a:pt x="43" y="818"/>
                    </a:lnTo>
                    <a:lnTo>
                      <a:pt x="53" y="838"/>
                    </a:lnTo>
                    <a:lnTo>
                      <a:pt x="64" y="858"/>
                    </a:lnTo>
                    <a:lnTo>
                      <a:pt x="75" y="877"/>
                    </a:lnTo>
                    <a:lnTo>
                      <a:pt x="88" y="897"/>
                    </a:lnTo>
                    <a:lnTo>
                      <a:pt x="101" y="916"/>
                    </a:lnTo>
                    <a:lnTo>
                      <a:pt x="131" y="954"/>
                    </a:lnTo>
                    <a:lnTo>
                      <a:pt x="165" y="991"/>
                    </a:lnTo>
                    <a:lnTo>
                      <a:pt x="202" y="1028"/>
                    </a:lnTo>
                    <a:lnTo>
                      <a:pt x="242" y="1063"/>
                    </a:lnTo>
                    <a:lnTo>
                      <a:pt x="286" y="1097"/>
                    </a:lnTo>
                    <a:lnTo>
                      <a:pt x="333" y="1130"/>
                    </a:lnTo>
                    <a:lnTo>
                      <a:pt x="383" y="1161"/>
                    </a:lnTo>
                    <a:lnTo>
                      <a:pt x="436" y="1192"/>
                    </a:lnTo>
                    <a:lnTo>
                      <a:pt x="490" y="1221"/>
                    </a:lnTo>
                    <a:lnTo>
                      <a:pt x="490" y="593"/>
                    </a:lnTo>
                    <a:close/>
                  </a:path>
                </a:pathLst>
              </a:custGeom>
              <a:solidFill>
                <a:srgbClr val="7F7F7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Freeform 23"/>
              <p:cNvSpPr>
                <a:spLocks noChangeArrowheads="1"/>
              </p:cNvSpPr>
              <p:nvPr/>
            </p:nvSpPr>
            <p:spPr bwMode="auto">
              <a:xfrm>
                <a:off x="490" y="0"/>
                <a:ext cx="1186" cy="1221"/>
              </a:xfrm>
              <a:custGeom>
                <a:avLst/>
                <a:gdLst>
                  <a:gd name="T0" fmla="*/ 1186 w 1186"/>
                  <a:gd name="T1" fmla="*/ 628 h 1221"/>
                  <a:gd name="T2" fmla="*/ 0 w 1186"/>
                  <a:gd name="T3" fmla="*/ 1221 h 1221"/>
                  <a:gd name="T4" fmla="*/ 0 w 1186"/>
                  <a:gd name="T5" fmla="*/ 593 h 1221"/>
                  <a:gd name="T6" fmla="*/ 1186 w 1186"/>
                  <a:gd name="T7" fmla="*/ 0 h 1221"/>
                  <a:gd name="T8" fmla="*/ 1186 w 1186"/>
                  <a:gd name="T9" fmla="*/ 628 h 1221"/>
                  <a:gd name="T10" fmla="*/ 0 60000 65536"/>
                  <a:gd name="T11" fmla="*/ 0 60000 65536"/>
                  <a:gd name="T12" fmla="*/ 0 60000 65536"/>
                  <a:gd name="T13" fmla="*/ 0 60000 65536"/>
                  <a:gd name="T14" fmla="*/ 0 60000 65536"/>
                  <a:gd name="T15" fmla="*/ 0 w 1186"/>
                  <a:gd name="T16" fmla="*/ 0 h 1221"/>
                  <a:gd name="T17" fmla="*/ 1186 w 1186"/>
                  <a:gd name="T18" fmla="*/ 1221 h 1221"/>
                </a:gdLst>
                <a:ahLst/>
                <a:cxnLst>
                  <a:cxn ang="T10">
                    <a:pos x="T0" y="T1"/>
                  </a:cxn>
                  <a:cxn ang="T11">
                    <a:pos x="T2" y="T3"/>
                  </a:cxn>
                  <a:cxn ang="T12">
                    <a:pos x="T4" y="T5"/>
                  </a:cxn>
                  <a:cxn ang="T13">
                    <a:pos x="T6" y="T7"/>
                  </a:cxn>
                  <a:cxn ang="T14">
                    <a:pos x="T8" y="T9"/>
                  </a:cxn>
                </a:cxnLst>
                <a:rect l="T15" t="T16" r="T17" b="T18"/>
                <a:pathLst>
                  <a:path w="1186" h="1221">
                    <a:moveTo>
                      <a:pt x="1186" y="628"/>
                    </a:moveTo>
                    <a:lnTo>
                      <a:pt x="0" y="1221"/>
                    </a:lnTo>
                    <a:lnTo>
                      <a:pt x="0" y="593"/>
                    </a:lnTo>
                    <a:lnTo>
                      <a:pt x="1186" y="0"/>
                    </a:lnTo>
                    <a:lnTo>
                      <a:pt x="1186" y="628"/>
                    </a:lnTo>
                    <a:close/>
                  </a:path>
                </a:pathLst>
              </a:cu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27" name="Group 18"/>
            <p:cNvGrpSpPr/>
            <p:nvPr/>
          </p:nvGrpSpPr>
          <p:grpSpPr bwMode="auto">
            <a:xfrm>
              <a:off x="13430" y="7760"/>
              <a:ext cx="3657" cy="1520"/>
              <a:chOff x="0" y="0"/>
              <a:chExt cx="1675" cy="697"/>
            </a:xfrm>
          </p:grpSpPr>
          <p:sp>
            <p:nvSpPr>
              <p:cNvPr id="28" name="Freeform 25"/>
              <p:cNvSpPr>
                <a:spLocks noChangeArrowheads="1"/>
              </p:cNvSpPr>
              <p:nvPr/>
            </p:nvSpPr>
            <p:spPr bwMode="auto">
              <a:xfrm>
                <a:off x="0" y="0"/>
                <a:ext cx="1675" cy="593"/>
              </a:xfrm>
              <a:custGeom>
                <a:avLst/>
                <a:gdLst>
                  <a:gd name="T0" fmla="*/ 0 w 1675"/>
                  <a:gd name="T1" fmla="*/ 0 h 593"/>
                  <a:gd name="T2" fmla="*/ 1185 w 1675"/>
                  <a:gd name="T3" fmla="*/ 593 h 593"/>
                  <a:gd name="T4" fmla="*/ 1185 w 1675"/>
                  <a:gd name="T5" fmla="*/ 593 h 593"/>
                  <a:gd name="T6" fmla="*/ 1239 w 1675"/>
                  <a:gd name="T7" fmla="*/ 563 h 593"/>
                  <a:gd name="T8" fmla="*/ 1292 w 1675"/>
                  <a:gd name="T9" fmla="*/ 533 h 593"/>
                  <a:gd name="T10" fmla="*/ 1342 w 1675"/>
                  <a:gd name="T11" fmla="*/ 502 h 593"/>
                  <a:gd name="T12" fmla="*/ 1389 w 1675"/>
                  <a:gd name="T13" fmla="*/ 469 h 593"/>
                  <a:gd name="T14" fmla="*/ 1433 w 1675"/>
                  <a:gd name="T15" fmla="*/ 435 h 593"/>
                  <a:gd name="T16" fmla="*/ 1473 w 1675"/>
                  <a:gd name="T17" fmla="*/ 399 h 593"/>
                  <a:gd name="T18" fmla="*/ 1510 w 1675"/>
                  <a:gd name="T19" fmla="*/ 363 h 593"/>
                  <a:gd name="T20" fmla="*/ 1544 w 1675"/>
                  <a:gd name="T21" fmla="*/ 326 h 593"/>
                  <a:gd name="T22" fmla="*/ 1574 w 1675"/>
                  <a:gd name="T23" fmla="*/ 288 h 593"/>
                  <a:gd name="T24" fmla="*/ 1587 w 1675"/>
                  <a:gd name="T25" fmla="*/ 268 h 593"/>
                  <a:gd name="T26" fmla="*/ 1600 w 1675"/>
                  <a:gd name="T27" fmla="*/ 249 h 593"/>
                  <a:gd name="T28" fmla="*/ 1611 w 1675"/>
                  <a:gd name="T29" fmla="*/ 230 h 593"/>
                  <a:gd name="T30" fmla="*/ 1622 w 1675"/>
                  <a:gd name="T31" fmla="*/ 210 h 593"/>
                  <a:gd name="T32" fmla="*/ 1632 w 1675"/>
                  <a:gd name="T33" fmla="*/ 190 h 593"/>
                  <a:gd name="T34" fmla="*/ 1641 w 1675"/>
                  <a:gd name="T35" fmla="*/ 168 h 593"/>
                  <a:gd name="T36" fmla="*/ 1650 w 1675"/>
                  <a:gd name="T37" fmla="*/ 148 h 593"/>
                  <a:gd name="T38" fmla="*/ 1655 w 1675"/>
                  <a:gd name="T39" fmla="*/ 127 h 593"/>
                  <a:gd name="T40" fmla="*/ 1662 w 1675"/>
                  <a:gd name="T41" fmla="*/ 107 h 593"/>
                  <a:gd name="T42" fmla="*/ 1667 w 1675"/>
                  <a:gd name="T43" fmla="*/ 86 h 593"/>
                  <a:gd name="T44" fmla="*/ 1671 w 1675"/>
                  <a:gd name="T45" fmla="*/ 64 h 593"/>
                  <a:gd name="T46" fmla="*/ 1672 w 1675"/>
                  <a:gd name="T47" fmla="*/ 43 h 593"/>
                  <a:gd name="T48" fmla="*/ 1675 w 1675"/>
                  <a:gd name="T49" fmla="*/ 22 h 593"/>
                  <a:gd name="T50" fmla="*/ 1675 w 1675"/>
                  <a:gd name="T51" fmla="*/ 0 h 593"/>
                  <a:gd name="T52" fmla="*/ 0 w 1675"/>
                  <a:gd name="T53" fmla="*/ 0 h 59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75"/>
                  <a:gd name="T82" fmla="*/ 0 h 593"/>
                  <a:gd name="T83" fmla="*/ 1675 w 1675"/>
                  <a:gd name="T84" fmla="*/ 593 h 59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75" h="593">
                    <a:moveTo>
                      <a:pt x="0" y="0"/>
                    </a:moveTo>
                    <a:lnTo>
                      <a:pt x="1185" y="593"/>
                    </a:lnTo>
                    <a:lnTo>
                      <a:pt x="1239" y="563"/>
                    </a:lnTo>
                    <a:lnTo>
                      <a:pt x="1292" y="533"/>
                    </a:lnTo>
                    <a:lnTo>
                      <a:pt x="1342" y="502"/>
                    </a:lnTo>
                    <a:lnTo>
                      <a:pt x="1389" y="469"/>
                    </a:lnTo>
                    <a:lnTo>
                      <a:pt x="1433" y="435"/>
                    </a:lnTo>
                    <a:lnTo>
                      <a:pt x="1473" y="399"/>
                    </a:lnTo>
                    <a:lnTo>
                      <a:pt x="1510" y="363"/>
                    </a:lnTo>
                    <a:lnTo>
                      <a:pt x="1544" y="326"/>
                    </a:lnTo>
                    <a:lnTo>
                      <a:pt x="1574" y="288"/>
                    </a:lnTo>
                    <a:lnTo>
                      <a:pt x="1587" y="268"/>
                    </a:lnTo>
                    <a:lnTo>
                      <a:pt x="1600" y="249"/>
                    </a:lnTo>
                    <a:lnTo>
                      <a:pt x="1611" y="230"/>
                    </a:lnTo>
                    <a:lnTo>
                      <a:pt x="1622" y="210"/>
                    </a:lnTo>
                    <a:lnTo>
                      <a:pt x="1632" y="190"/>
                    </a:lnTo>
                    <a:lnTo>
                      <a:pt x="1641" y="168"/>
                    </a:lnTo>
                    <a:lnTo>
                      <a:pt x="1650" y="148"/>
                    </a:lnTo>
                    <a:lnTo>
                      <a:pt x="1655" y="127"/>
                    </a:lnTo>
                    <a:lnTo>
                      <a:pt x="1662" y="107"/>
                    </a:lnTo>
                    <a:lnTo>
                      <a:pt x="1667" y="86"/>
                    </a:lnTo>
                    <a:lnTo>
                      <a:pt x="1671" y="64"/>
                    </a:lnTo>
                    <a:lnTo>
                      <a:pt x="1672" y="43"/>
                    </a:lnTo>
                    <a:lnTo>
                      <a:pt x="1675" y="22"/>
                    </a:lnTo>
                    <a:lnTo>
                      <a:pt x="1675" y="0"/>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9" name="Freeform 26"/>
              <p:cNvSpPr>
                <a:spLocks noChangeArrowheads="1"/>
              </p:cNvSpPr>
              <p:nvPr/>
            </p:nvSpPr>
            <p:spPr bwMode="auto">
              <a:xfrm>
                <a:off x="1185" y="0"/>
                <a:ext cx="490" cy="697"/>
              </a:xfrm>
              <a:custGeom>
                <a:avLst/>
                <a:gdLst>
                  <a:gd name="T0" fmla="*/ 0 w 490"/>
                  <a:gd name="T1" fmla="*/ 593 h 697"/>
                  <a:gd name="T2" fmla="*/ 0 w 490"/>
                  <a:gd name="T3" fmla="*/ 593 h 697"/>
                  <a:gd name="T4" fmla="*/ 54 w 490"/>
                  <a:gd name="T5" fmla="*/ 563 h 697"/>
                  <a:gd name="T6" fmla="*/ 107 w 490"/>
                  <a:gd name="T7" fmla="*/ 533 h 697"/>
                  <a:gd name="T8" fmla="*/ 157 w 490"/>
                  <a:gd name="T9" fmla="*/ 502 h 697"/>
                  <a:gd name="T10" fmla="*/ 204 w 490"/>
                  <a:gd name="T11" fmla="*/ 469 h 697"/>
                  <a:gd name="T12" fmla="*/ 248 w 490"/>
                  <a:gd name="T13" fmla="*/ 435 h 697"/>
                  <a:gd name="T14" fmla="*/ 288 w 490"/>
                  <a:gd name="T15" fmla="*/ 399 h 697"/>
                  <a:gd name="T16" fmla="*/ 325 w 490"/>
                  <a:gd name="T17" fmla="*/ 363 h 697"/>
                  <a:gd name="T18" fmla="*/ 359 w 490"/>
                  <a:gd name="T19" fmla="*/ 326 h 697"/>
                  <a:gd name="T20" fmla="*/ 389 w 490"/>
                  <a:gd name="T21" fmla="*/ 288 h 697"/>
                  <a:gd name="T22" fmla="*/ 402 w 490"/>
                  <a:gd name="T23" fmla="*/ 268 h 697"/>
                  <a:gd name="T24" fmla="*/ 415 w 490"/>
                  <a:gd name="T25" fmla="*/ 249 h 697"/>
                  <a:gd name="T26" fmla="*/ 426 w 490"/>
                  <a:gd name="T27" fmla="*/ 230 h 697"/>
                  <a:gd name="T28" fmla="*/ 437 w 490"/>
                  <a:gd name="T29" fmla="*/ 210 h 697"/>
                  <a:gd name="T30" fmla="*/ 447 w 490"/>
                  <a:gd name="T31" fmla="*/ 190 h 697"/>
                  <a:gd name="T32" fmla="*/ 456 w 490"/>
                  <a:gd name="T33" fmla="*/ 168 h 697"/>
                  <a:gd name="T34" fmla="*/ 465 w 490"/>
                  <a:gd name="T35" fmla="*/ 148 h 697"/>
                  <a:gd name="T36" fmla="*/ 470 w 490"/>
                  <a:gd name="T37" fmla="*/ 127 h 697"/>
                  <a:gd name="T38" fmla="*/ 477 w 490"/>
                  <a:gd name="T39" fmla="*/ 107 h 697"/>
                  <a:gd name="T40" fmla="*/ 482 w 490"/>
                  <a:gd name="T41" fmla="*/ 86 h 697"/>
                  <a:gd name="T42" fmla="*/ 486 w 490"/>
                  <a:gd name="T43" fmla="*/ 64 h 697"/>
                  <a:gd name="T44" fmla="*/ 487 w 490"/>
                  <a:gd name="T45" fmla="*/ 43 h 697"/>
                  <a:gd name="T46" fmla="*/ 490 w 490"/>
                  <a:gd name="T47" fmla="*/ 22 h 697"/>
                  <a:gd name="T48" fmla="*/ 490 w 490"/>
                  <a:gd name="T49" fmla="*/ 0 h 697"/>
                  <a:gd name="T50" fmla="*/ 490 w 490"/>
                  <a:gd name="T51" fmla="*/ 104 h 697"/>
                  <a:gd name="T52" fmla="*/ 490 w 490"/>
                  <a:gd name="T53" fmla="*/ 104 h 697"/>
                  <a:gd name="T54" fmla="*/ 490 w 490"/>
                  <a:gd name="T55" fmla="*/ 126 h 697"/>
                  <a:gd name="T56" fmla="*/ 487 w 490"/>
                  <a:gd name="T57" fmla="*/ 148 h 697"/>
                  <a:gd name="T58" fmla="*/ 486 w 490"/>
                  <a:gd name="T59" fmla="*/ 170 h 697"/>
                  <a:gd name="T60" fmla="*/ 482 w 490"/>
                  <a:gd name="T61" fmla="*/ 190 h 697"/>
                  <a:gd name="T62" fmla="*/ 477 w 490"/>
                  <a:gd name="T63" fmla="*/ 211 h 697"/>
                  <a:gd name="T64" fmla="*/ 470 w 490"/>
                  <a:gd name="T65" fmla="*/ 232 h 697"/>
                  <a:gd name="T66" fmla="*/ 465 w 490"/>
                  <a:gd name="T67" fmla="*/ 252 h 697"/>
                  <a:gd name="T68" fmla="*/ 456 w 490"/>
                  <a:gd name="T69" fmla="*/ 274 h 697"/>
                  <a:gd name="T70" fmla="*/ 447 w 490"/>
                  <a:gd name="T71" fmla="*/ 294 h 697"/>
                  <a:gd name="T72" fmla="*/ 437 w 490"/>
                  <a:gd name="T73" fmla="*/ 314 h 697"/>
                  <a:gd name="T74" fmla="*/ 426 w 490"/>
                  <a:gd name="T75" fmla="*/ 334 h 697"/>
                  <a:gd name="T76" fmla="*/ 415 w 490"/>
                  <a:gd name="T77" fmla="*/ 353 h 697"/>
                  <a:gd name="T78" fmla="*/ 402 w 490"/>
                  <a:gd name="T79" fmla="*/ 373 h 697"/>
                  <a:gd name="T80" fmla="*/ 389 w 490"/>
                  <a:gd name="T81" fmla="*/ 392 h 697"/>
                  <a:gd name="T82" fmla="*/ 359 w 490"/>
                  <a:gd name="T83" fmla="*/ 430 h 697"/>
                  <a:gd name="T84" fmla="*/ 325 w 490"/>
                  <a:gd name="T85" fmla="*/ 467 h 697"/>
                  <a:gd name="T86" fmla="*/ 288 w 490"/>
                  <a:gd name="T87" fmla="*/ 504 h 697"/>
                  <a:gd name="T88" fmla="*/ 248 w 490"/>
                  <a:gd name="T89" fmla="*/ 539 h 697"/>
                  <a:gd name="T90" fmla="*/ 204 w 490"/>
                  <a:gd name="T91" fmla="*/ 573 h 697"/>
                  <a:gd name="T92" fmla="*/ 157 w 490"/>
                  <a:gd name="T93" fmla="*/ 606 h 697"/>
                  <a:gd name="T94" fmla="*/ 107 w 490"/>
                  <a:gd name="T95" fmla="*/ 637 h 697"/>
                  <a:gd name="T96" fmla="*/ 54 w 490"/>
                  <a:gd name="T97" fmla="*/ 668 h 697"/>
                  <a:gd name="T98" fmla="*/ 0 w 490"/>
                  <a:gd name="T99" fmla="*/ 697 h 697"/>
                  <a:gd name="T100" fmla="*/ 0 w 490"/>
                  <a:gd name="T101" fmla="*/ 593 h 69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90"/>
                  <a:gd name="T154" fmla="*/ 0 h 697"/>
                  <a:gd name="T155" fmla="*/ 490 w 490"/>
                  <a:gd name="T156" fmla="*/ 697 h 69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90" h="697">
                    <a:moveTo>
                      <a:pt x="0" y="593"/>
                    </a:moveTo>
                    <a:lnTo>
                      <a:pt x="0" y="593"/>
                    </a:lnTo>
                    <a:lnTo>
                      <a:pt x="54" y="563"/>
                    </a:lnTo>
                    <a:lnTo>
                      <a:pt x="107" y="533"/>
                    </a:lnTo>
                    <a:lnTo>
                      <a:pt x="157" y="502"/>
                    </a:lnTo>
                    <a:lnTo>
                      <a:pt x="204" y="469"/>
                    </a:lnTo>
                    <a:lnTo>
                      <a:pt x="248" y="435"/>
                    </a:lnTo>
                    <a:lnTo>
                      <a:pt x="288" y="399"/>
                    </a:lnTo>
                    <a:lnTo>
                      <a:pt x="325" y="363"/>
                    </a:lnTo>
                    <a:lnTo>
                      <a:pt x="359" y="326"/>
                    </a:lnTo>
                    <a:lnTo>
                      <a:pt x="389" y="288"/>
                    </a:lnTo>
                    <a:lnTo>
                      <a:pt x="402" y="268"/>
                    </a:lnTo>
                    <a:lnTo>
                      <a:pt x="415" y="249"/>
                    </a:lnTo>
                    <a:lnTo>
                      <a:pt x="426" y="230"/>
                    </a:lnTo>
                    <a:lnTo>
                      <a:pt x="437" y="210"/>
                    </a:lnTo>
                    <a:lnTo>
                      <a:pt x="447" y="190"/>
                    </a:lnTo>
                    <a:lnTo>
                      <a:pt x="456" y="168"/>
                    </a:lnTo>
                    <a:lnTo>
                      <a:pt x="465" y="148"/>
                    </a:lnTo>
                    <a:lnTo>
                      <a:pt x="470" y="127"/>
                    </a:lnTo>
                    <a:lnTo>
                      <a:pt x="477" y="107"/>
                    </a:lnTo>
                    <a:lnTo>
                      <a:pt x="482" y="86"/>
                    </a:lnTo>
                    <a:lnTo>
                      <a:pt x="486" y="64"/>
                    </a:lnTo>
                    <a:lnTo>
                      <a:pt x="487" y="43"/>
                    </a:lnTo>
                    <a:lnTo>
                      <a:pt x="490" y="22"/>
                    </a:lnTo>
                    <a:lnTo>
                      <a:pt x="490" y="0"/>
                    </a:lnTo>
                    <a:lnTo>
                      <a:pt x="490" y="104"/>
                    </a:lnTo>
                    <a:lnTo>
                      <a:pt x="490" y="126"/>
                    </a:lnTo>
                    <a:lnTo>
                      <a:pt x="487" y="148"/>
                    </a:lnTo>
                    <a:lnTo>
                      <a:pt x="486" y="170"/>
                    </a:lnTo>
                    <a:lnTo>
                      <a:pt x="482" y="190"/>
                    </a:lnTo>
                    <a:lnTo>
                      <a:pt x="477" y="211"/>
                    </a:lnTo>
                    <a:lnTo>
                      <a:pt x="470" y="232"/>
                    </a:lnTo>
                    <a:lnTo>
                      <a:pt x="465" y="252"/>
                    </a:lnTo>
                    <a:lnTo>
                      <a:pt x="456" y="274"/>
                    </a:lnTo>
                    <a:lnTo>
                      <a:pt x="447" y="294"/>
                    </a:lnTo>
                    <a:lnTo>
                      <a:pt x="437" y="314"/>
                    </a:lnTo>
                    <a:lnTo>
                      <a:pt x="426" y="334"/>
                    </a:lnTo>
                    <a:lnTo>
                      <a:pt x="415" y="353"/>
                    </a:lnTo>
                    <a:lnTo>
                      <a:pt x="402" y="373"/>
                    </a:lnTo>
                    <a:lnTo>
                      <a:pt x="389" y="392"/>
                    </a:lnTo>
                    <a:lnTo>
                      <a:pt x="359" y="430"/>
                    </a:lnTo>
                    <a:lnTo>
                      <a:pt x="325" y="467"/>
                    </a:lnTo>
                    <a:lnTo>
                      <a:pt x="288" y="504"/>
                    </a:lnTo>
                    <a:lnTo>
                      <a:pt x="248" y="539"/>
                    </a:lnTo>
                    <a:lnTo>
                      <a:pt x="204" y="573"/>
                    </a:lnTo>
                    <a:lnTo>
                      <a:pt x="157" y="606"/>
                    </a:lnTo>
                    <a:lnTo>
                      <a:pt x="107" y="637"/>
                    </a:lnTo>
                    <a:lnTo>
                      <a:pt x="54" y="668"/>
                    </a:lnTo>
                    <a:lnTo>
                      <a:pt x="0" y="697"/>
                    </a:lnTo>
                    <a:lnTo>
                      <a:pt x="0" y="593"/>
                    </a:lnTo>
                    <a:close/>
                  </a:path>
                </a:pathLst>
              </a:custGeom>
              <a:solidFill>
                <a:srgbClr val="77777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0" name="Freeform 27"/>
              <p:cNvSpPr>
                <a:spLocks noChangeArrowheads="1"/>
              </p:cNvSpPr>
              <p:nvPr/>
            </p:nvSpPr>
            <p:spPr bwMode="auto">
              <a:xfrm>
                <a:off x="0" y="0"/>
                <a:ext cx="1185" cy="697"/>
              </a:xfrm>
              <a:custGeom>
                <a:avLst/>
                <a:gdLst>
                  <a:gd name="T0" fmla="*/ 0 w 1185"/>
                  <a:gd name="T1" fmla="*/ 104 h 697"/>
                  <a:gd name="T2" fmla="*/ 1185 w 1185"/>
                  <a:gd name="T3" fmla="*/ 697 h 697"/>
                  <a:gd name="T4" fmla="*/ 1185 w 1185"/>
                  <a:gd name="T5" fmla="*/ 593 h 697"/>
                  <a:gd name="T6" fmla="*/ 0 w 1185"/>
                  <a:gd name="T7" fmla="*/ 0 h 697"/>
                  <a:gd name="T8" fmla="*/ 0 w 1185"/>
                  <a:gd name="T9" fmla="*/ 104 h 697"/>
                  <a:gd name="T10" fmla="*/ 0 60000 65536"/>
                  <a:gd name="T11" fmla="*/ 0 60000 65536"/>
                  <a:gd name="T12" fmla="*/ 0 60000 65536"/>
                  <a:gd name="T13" fmla="*/ 0 60000 65536"/>
                  <a:gd name="T14" fmla="*/ 0 60000 65536"/>
                  <a:gd name="T15" fmla="*/ 0 w 1185"/>
                  <a:gd name="T16" fmla="*/ 0 h 697"/>
                  <a:gd name="T17" fmla="*/ 1185 w 1185"/>
                  <a:gd name="T18" fmla="*/ 697 h 697"/>
                </a:gdLst>
                <a:ahLst/>
                <a:cxnLst>
                  <a:cxn ang="T10">
                    <a:pos x="T0" y="T1"/>
                  </a:cxn>
                  <a:cxn ang="T11">
                    <a:pos x="T2" y="T3"/>
                  </a:cxn>
                  <a:cxn ang="T12">
                    <a:pos x="T4" y="T5"/>
                  </a:cxn>
                  <a:cxn ang="T13">
                    <a:pos x="T6" y="T7"/>
                  </a:cxn>
                  <a:cxn ang="T14">
                    <a:pos x="T8" y="T9"/>
                  </a:cxn>
                </a:cxnLst>
                <a:rect l="T15" t="T16" r="T17" b="T18"/>
                <a:pathLst>
                  <a:path w="1185" h="697">
                    <a:moveTo>
                      <a:pt x="0" y="104"/>
                    </a:moveTo>
                    <a:lnTo>
                      <a:pt x="1185" y="697"/>
                    </a:lnTo>
                    <a:lnTo>
                      <a:pt x="1185" y="593"/>
                    </a:lnTo>
                    <a:lnTo>
                      <a:pt x="0" y="0"/>
                    </a:lnTo>
                    <a:lnTo>
                      <a:pt x="0" y="104"/>
                    </a:lnTo>
                    <a:close/>
                  </a:path>
                </a:pathLst>
              </a:custGeom>
              <a:gradFill rotWithShape="1">
                <a:gsLst>
                  <a:gs pos="0">
                    <a:srgbClr val="969696"/>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31" name="Text Box 30"/>
            <p:cNvSpPr>
              <a:spLocks noChangeArrowheads="1"/>
            </p:cNvSpPr>
            <p:nvPr/>
          </p:nvSpPr>
          <p:spPr bwMode="auto">
            <a:xfrm>
              <a:off x="15075" y="7944"/>
              <a:ext cx="1819"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p>
              <a:pPr marL="0" marR="0" lvl="0" indent="0" algn="ctr" defTabSz="815975" rtl="0" eaLnBrk="1" fontAlgn="auto" latinLnBrk="1"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Arial Black" panose="020B0A04020102020204" pitchFamily="34" charset="0"/>
                </a:rPr>
                <a:t>98.65%</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32" name="Text Box 31"/>
            <p:cNvSpPr>
              <a:spLocks noChangeArrowheads="1"/>
            </p:cNvSpPr>
            <p:nvPr/>
          </p:nvSpPr>
          <p:spPr bwMode="auto">
            <a:xfrm>
              <a:off x="14956" y="6814"/>
              <a:ext cx="1700"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spAutoFit/>
            </a:bodyPr>
            <a:lstStyle/>
            <a:p>
              <a:pPr marL="0" marR="0" lvl="0" indent="0" algn="l" defTabSz="815975"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54.36%</a:t>
              </a:r>
            </a:p>
          </p:txBody>
        </p:sp>
        <p:sp>
          <p:nvSpPr>
            <p:cNvPr id="33" name="Text Box 32"/>
            <p:cNvSpPr>
              <a:spLocks noChangeArrowheads="1"/>
            </p:cNvSpPr>
            <p:nvPr/>
          </p:nvSpPr>
          <p:spPr bwMode="auto">
            <a:xfrm>
              <a:off x="10400" y="6839"/>
              <a:ext cx="1842"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spAutoFit/>
            </a:bodyPr>
            <a:lstStyle/>
            <a:p>
              <a:pPr marL="0" marR="0" lvl="0" indent="0" algn="l" defTabSz="815975"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362.79%</a:t>
              </a:r>
            </a:p>
          </p:txBody>
        </p:sp>
        <p:sp>
          <p:nvSpPr>
            <p:cNvPr id="34" name="Text Box 33"/>
            <p:cNvSpPr>
              <a:spLocks noChangeArrowheads="1"/>
            </p:cNvSpPr>
            <p:nvPr/>
          </p:nvSpPr>
          <p:spPr bwMode="auto">
            <a:xfrm>
              <a:off x="11674" y="5584"/>
              <a:ext cx="1702"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spAutoFit/>
            </a:bodyPr>
            <a:lstStyle/>
            <a:p>
              <a:pPr marL="0" marR="0" lvl="0" indent="0" algn="l" defTabSz="815975"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123.67%</a:t>
              </a:r>
            </a:p>
          </p:txBody>
        </p:sp>
        <p:sp>
          <p:nvSpPr>
            <p:cNvPr id="35" name="Text Box 34"/>
            <p:cNvSpPr>
              <a:spLocks noChangeArrowheads="1"/>
            </p:cNvSpPr>
            <p:nvPr/>
          </p:nvSpPr>
          <p:spPr bwMode="auto">
            <a:xfrm>
              <a:off x="10145" y="6074"/>
              <a:ext cx="1919"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p>
              <a:pPr marL="0" marR="0" lvl="0" indent="0" algn="ctr" defTabSz="815975" rtl="0" eaLnBrk="1" fontAlgn="auto" latinLnBrk="1"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sym typeface="Arial Black" panose="020B0A04020102020204" pitchFamily="34" charset="0"/>
                </a:rPr>
                <a:t>178.97</a:t>
              </a:r>
              <a:endParaRPr kumimoji="0" lang="en-US" altLang="zh-CN" sz="1200" b="0"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36" name="Text Box 35"/>
            <p:cNvSpPr>
              <a:spLocks noChangeArrowheads="1"/>
            </p:cNvSpPr>
            <p:nvPr/>
          </p:nvSpPr>
          <p:spPr bwMode="auto">
            <a:xfrm>
              <a:off x="13630" y="5878"/>
              <a:ext cx="1734"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1" tIns="34285" rIns="68571" bIns="34285">
              <a:spAutoFit/>
            </a:bodyPr>
            <a:lstStyle/>
            <a:p>
              <a:pPr marL="0" marR="0" lvl="0" indent="0" algn="ctr" defTabSz="815975" rtl="0" eaLnBrk="1" fontAlgn="auto" latinLnBrk="1"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Arial Black" panose="020B0A04020102020204" pitchFamily="34" charset="0"/>
                </a:rPr>
                <a:t>56.90%</a:t>
              </a:r>
              <a:endParaRPr kumimoji="0" lang="en-US" altLang="zh-CN" sz="1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7" name="文本框 36"/>
          <p:cNvSpPr txBox="1"/>
          <p:nvPr/>
        </p:nvSpPr>
        <p:spPr>
          <a:xfrm>
            <a:off x="5801360" y="1417955"/>
            <a:ext cx="5592445" cy="1383665"/>
          </a:xfrm>
          <a:prstGeom prst="rect">
            <a:avLst/>
          </a:prstGeom>
          <a:noFill/>
        </p:spPr>
        <p:txBody>
          <a:bodyPr wrap="square" rtlCol="0" anchor="t">
            <a:spAutoFit/>
          </a:bodyPr>
          <a:lstStyle/>
          <a:p>
            <a:r>
              <a:rPr lang="zh-CN" altLang="en-US" sz="1400" b="1" dirty="0">
                <a:latin typeface="微软雅黑" panose="020B0503020204020204" pitchFamily="34" charset="-122"/>
                <a:ea typeface="微软雅黑" panose="020B0503020204020204" pitchFamily="34" charset="-122"/>
                <a:sym typeface="+mn-ea"/>
              </a:rPr>
              <a:t>流 动 比 率 </a:t>
            </a:r>
            <a:r>
              <a:rPr lang="zh-CN" altLang="en-US" sz="1400" dirty="0">
                <a:latin typeface="微软雅黑" panose="020B0503020204020204" pitchFamily="34" charset="-122"/>
                <a:ea typeface="微软雅黑" panose="020B0503020204020204" pitchFamily="34" charset="-122"/>
                <a:sym typeface="+mn-ea"/>
              </a:rPr>
              <a:t>： 流 动 比 率 反 映 了 企 业 资 产 中 比 较 容 易 变 现 的 流 动 资 产 对 流 动 负 债 的 保 障 情 况 ， 一 般 认 为 生 产 企 业 台 的 最 低 流 动 比 率 </a:t>
            </a:r>
            <a:r>
              <a:rPr lang="en-US" altLang="zh-CN" sz="1400" dirty="0">
                <a:latin typeface="微软雅黑" panose="020B0503020204020204" pitchFamily="34" charset="-122"/>
                <a:ea typeface="微软雅黑" panose="020B0503020204020204" pitchFamily="34" charset="-122"/>
                <a:sym typeface="+mn-ea"/>
              </a:rPr>
              <a:t>2 </a:t>
            </a:r>
            <a:r>
              <a:rPr lang="zh-CN" altLang="en-US" sz="1400" dirty="0">
                <a:latin typeface="微软雅黑" panose="020B0503020204020204" pitchFamily="34" charset="-122"/>
                <a:ea typeface="微软雅黑" panose="020B0503020204020204" pitchFamily="34" charset="-122"/>
                <a:sym typeface="+mn-ea"/>
              </a:rPr>
              <a:t>， 四 川 长 虹 </a:t>
            </a:r>
            <a:r>
              <a:rPr lang="en-US" altLang="zh-CN" sz="1400" dirty="0">
                <a:latin typeface="微软雅黑" panose="020B0503020204020204" pitchFamily="34" charset="-122"/>
                <a:ea typeface="微软雅黑" panose="020B0503020204020204" pitchFamily="34" charset="-122"/>
                <a:sym typeface="+mn-ea"/>
              </a:rPr>
              <a:t>2017 </a:t>
            </a:r>
            <a:r>
              <a:rPr lang="zh-CN" altLang="en-US" sz="1400" dirty="0">
                <a:latin typeface="微软雅黑" panose="020B0503020204020204" pitchFamily="34" charset="-122"/>
                <a:ea typeface="微软雅黑" panose="020B0503020204020204" pitchFamily="34" charset="-122"/>
                <a:sym typeface="+mn-ea"/>
              </a:rPr>
              <a:t>年 的 流 动 比 率 为 </a:t>
            </a:r>
            <a:r>
              <a:rPr lang="en-US" altLang="zh-CN" sz="1400" dirty="0">
                <a:latin typeface="微软雅黑" panose="020B0503020204020204" pitchFamily="34" charset="-122"/>
                <a:ea typeface="微软雅黑" panose="020B0503020204020204" pitchFamily="34" charset="-122"/>
                <a:sym typeface="+mn-ea"/>
              </a:rPr>
              <a:t>3 </a:t>
            </a:r>
            <a:r>
              <a:rPr lang="zh-CN" altLang="en-US" sz="1400" dirty="0">
                <a:latin typeface="微软雅黑" panose="020B0503020204020204" pitchFamily="34" charset="-122"/>
                <a:ea typeface="微软雅黑" panose="020B0503020204020204" pitchFamily="34" charset="-122"/>
                <a:sym typeface="+mn-ea"/>
              </a:rPr>
              <a:t>． </a:t>
            </a:r>
            <a:r>
              <a:rPr lang="en-US" altLang="zh-CN" sz="1400" dirty="0">
                <a:latin typeface="微软雅黑" panose="020B0503020204020204" pitchFamily="34" charset="-122"/>
                <a:ea typeface="微软雅黑" panose="020B0503020204020204" pitchFamily="34" charset="-122"/>
                <a:sym typeface="+mn-ea"/>
              </a:rPr>
              <a:t>63 </a:t>
            </a:r>
            <a:r>
              <a:rPr lang="zh-CN" altLang="en-US" sz="1400" dirty="0">
                <a:latin typeface="微软雅黑" panose="020B0503020204020204" pitchFamily="34" charset="-122"/>
                <a:ea typeface="微软雅黑" panose="020B0503020204020204" pitchFamily="34" charset="-122"/>
                <a:sym typeface="+mn-ea"/>
              </a:rPr>
              <a:t>， </a:t>
            </a:r>
            <a:r>
              <a:rPr lang="en-US" altLang="zh-CN" sz="1400" dirty="0">
                <a:latin typeface="微软雅黑" panose="020B0503020204020204" pitchFamily="34" charset="-122"/>
                <a:ea typeface="微软雅黑" panose="020B0503020204020204" pitchFamily="34" charset="-122"/>
                <a:sym typeface="+mn-ea"/>
              </a:rPr>
              <a:t>2018 </a:t>
            </a:r>
            <a:r>
              <a:rPr lang="zh-CN" altLang="en-US" sz="1400" dirty="0">
                <a:latin typeface="微软雅黑" panose="020B0503020204020204" pitchFamily="34" charset="-122"/>
                <a:ea typeface="微软雅黑" panose="020B0503020204020204" pitchFamily="34" charset="-122"/>
                <a:sym typeface="+mn-ea"/>
              </a:rPr>
              <a:t>年 为 </a:t>
            </a:r>
            <a:r>
              <a:rPr lang="en-US" altLang="zh-CN" sz="1400" dirty="0">
                <a:latin typeface="微软雅黑" panose="020B0503020204020204" pitchFamily="34" charset="-122"/>
                <a:ea typeface="微软雅黑" panose="020B0503020204020204" pitchFamily="34" charset="-122"/>
                <a:sym typeface="+mn-ea"/>
              </a:rPr>
              <a:t>2 </a:t>
            </a:r>
            <a:r>
              <a:rPr lang="zh-CN" altLang="en-US" sz="1400" dirty="0">
                <a:latin typeface="微软雅黑" panose="020B0503020204020204" pitchFamily="34" charset="-122"/>
                <a:ea typeface="微软雅黑" panose="020B0503020204020204" pitchFamily="34" charset="-122"/>
                <a:sym typeface="+mn-ea"/>
              </a:rPr>
              <a:t>． </a:t>
            </a:r>
            <a:r>
              <a:rPr lang="en-US" altLang="zh-CN" sz="1400" dirty="0">
                <a:latin typeface="微软雅黑" panose="020B0503020204020204" pitchFamily="34" charset="-122"/>
                <a:ea typeface="微软雅黑" panose="020B0503020204020204" pitchFamily="34" charset="-122"/>
                <a:sym typeface="+mn-ea"/>
              </a:rPr>
              <a:t>92 </a:t>
            </a:r>
            <a:r>
              <a:rPr lang="zh-CN" altLang="en-US" sz="1400" dirty="0">
                <a:latin typeface="微软雅黑" panose="020B0503020204020204" pitchFamily="34" charset="-122"/>
                <a:ea typeface="微软雅黑" panose="020B0503020204020204" pitchFamily="34" charset="-122"/>
                <a:sym typeface="+mn-ea"/>
              </a:rPr>
              <a:t>， 这 个 指 标 己 经 远 远 超 出 了 这 个 水 平 ， 基 本 上 处 于 同 行 业 的 最 高 水 平 ， 具 有 很 强 的 短 期 偿 债 能 力 。 </a:t>
            </a:r>
            <a:endParaRPr lang="zh-CN" altLang="en-US" sz="1400"/>
          </a:p>
        </p:txBody>
      </p:sp>
      <p:sp>
        <p:nvSpPr>
          <p:cNvPr id="39" name="圆角矩形 38"/>
          <p:cNvSpPr/>
          <p:nvPr/>
        </p:nvSpPr>
        <p:spPr>
          <a:xfrm>
            <a:off x="1452880" y="1304290"/>
            <a:ext cx="3463925" cy="4726940"/>
          </a:xfrm>
          <a:prstGeom prst="roundRect">
            <a:avLst/>
          </a:prstGeom>
          <a:noFill/>
          <a:ln w="127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0" name="文本框 39"/>
          <p:cNvSpPr txBox="1"/>
          <p:nvPr/>
        </p:nvSpPr>
        <p:spPr>
          <a:xfrm>
            <a:off x="1673860" y="1682750"/>
            <a:ext cx="3021965" cy="3969385"/>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1400" b="1" dirty="0">
                <a:latin typeface="微软雅黑" panose="020B0503020204020204" pitchFamily="34" charset="-122"/>
                <a:ea typeface="微软雅黑" panose="020B0503020204020204" pitchFamily="34" charset="-122"/>
                <a:sym typeface="+mn-ea"/>
              </a:rPr>
              <a:t>速 动 比 率</a:t>
            </a:r>
            <a:r>
              <a:rPr lang="zh-CN" altLang="en-US" sz="1400" dirty="0">
                <a:latin typeface="微软雅黑" panose="020B0503020204020204" pitchFamily="34" charset="-122"/>
                <a:ea typeface="微软雅黑" panose="020B0503020204020204" pitchFamily="34" charset="-122"/>
                <a:sym typeface="+mn-ea"/>
              </a:rPr>
              <a:t> ： 由 于 存 货 存 在 变 现 能 力 较 差 、 有 可 能 市 价 和 成 本 价 不 符 等 原 因 ， 为 了 进 一 步 评 价 流 动 资 产 的 总 体 的 变 现 能 力 ， 我 们 把 存 货 从流 动 负 债 中 去 除 来 评 价 短 期 偿 债 能 力 。 长 虹 </a:t>
            </a:r>
            <a:r>
              <a:rPr lang="en-US" altLang="zh-CN" sz="1400" dirty="0">
                <a:latin typeface="微软雅黑" panose="020B0503020204020204" pitchFamily="34" charset="-122"/>
                <a:ea typeface="微软雅黑" panose="020B0503020204020204" pitchFamily="34" charset="-122"/>
                <a:sym typeface="+mn-ea"/>
              </a:rPr>
              <a:t>2017 </a:t>
            </a:r>
            <a:r>
              <a:rPr lang="zh-CN" altLang="en-US" sz="1400" dirty="0">
                <a:latin typeface="微软雅黑" panose="020B0503020204020204" pitchFamily="34" charset="-122"/>
                <a:ea typeface="微软雅黑" panose="020B0503020204020204" pitchFamily="34" charset="-122"/>
                <a:sym typeface="+mn-ea"/>
              </a:rPr>
              <a:t>和 </a:t>
            </a:r>
            <a:r>
              <a:rPr lang="en-US" altLang="zh-CN" sz="1400" dirty="0">
                <a:latin typeface="微软雅黑" panose="020B0503020204020204" pitchFamily="34" charset="-122"/>
                <a:ea typeface="微软雅黑" panose="020B0503020204020204" pitchFamily="34" charset="-122"/>
                <a:sym typeface="+mn-ea"/>
              </a:rPr>
              <a:t>2018 </a:t>
            </a:r>
            <a:r>
              <a:rPr lang="zh-CN" altLang="en-US" sz="1400" dirty="0">
                <a:latin typeface="微软雅黑" panose="020B0503020204020204" pitchFamily="34" charset="-122"/>
                <a:ea typeface="微软雅黑" panose="020B0503020204020204" pitchFamily="34" charset="-122"/>
                <a:sym typeface="+mn-ea"/>
              </a:rPr>
              <a:t>年 的 速 动 比 率 分 别 为 </a:t>
            </a:r>
            <a:r>
              <a:rPr lang="en-US" altLang="zh-CN" sz="1400" dirty="0">
                <a:latin typeface="微软雅黑" panose="020B0503020204020204" pitchFamily="34" charset="-122"/>
                <a:ea typeface="微软雅黑" panose="020B0503020204020204" pitchFamily="34" charset="-122"/>
                <a:sym typeface="+mn-ea"/>
              </a:rPr>
              <a:t>1 </a:t>
            </a:r>
            <a:r>
              <a:rPr lang="zh-CN" altLang="en-US" sz="1400" dirty="0">
                <a:latin typeface="微软雅黑" panose="020B0503020204020204" pitchFamily="34" charset="-122"/>
                <a:ea typeface="微软雅黑" panose="020B0503020204020204" pitchFamily="34" charset="-122"/>
                <a:sym typeface="+mn-ea"/>
              </a:rPr>
              <a:t>． </a:t>
            </a:r>
            <a:r>
              <a:rPr lang="en-US" altLang="zh-CN" sz="1400" dirty="0">
                <a:latin typeface="微软雅黑" panose="020B0503020204020204" pitchFamily="34" charset="-122"/>
                <a:ea typeface="微软雅黑" panose="020B0503020204020204" pitchFamily="34" charset="-122"/>
                <a:sym typeface="+mn-ea"/>
              </a:rPr>
              <a:t>78 </a:t>
            </a:r>
            <a:r>
              <a:rPr lang="zh-CN" altLang="en-US" sz="1400" dirty="0">
                <a:latin typeface="微软雅黑" panose="020B0503020204020204" pitchFamily="34" charset="-122"/>
                <a:ea typeface="微软雅黑" panose="020B0503020204020204" pitchFamily="34" charset="-122"/>
                <a:sym typeface="+mn-ea"/>
              </a:rPr>
              <a:t>、 </a:t>
            </a:r>
            <a:r>
              <a:rPr lang="en-US" altLang="zh-CN" sz="1400" dirty="0">
                <a:latin typeface="微软雅黑" panose="020B0503020204020204" pitchFamily="34" charset="-122"/>
                <a:ea typeface="微软雅黑" panose="020B0503020204020204" pitchFamily="34" charset="-122"/>
                <a:sym typeface="+mn-ea"/>
              </a:rPr>
              <a:t>1 </a:t>
            </a:r>
            <a:r>
              <a:rPr lang="zh-CN" altLang="en-US" sz="1400" dirty="0">
                <a:latin typeface="微软雅黑" panose="020B0503020204020204" pitchFamily="34" charset="-122"/>
                <a:ea typeface="微软雅黑" panose="020B0503020204020204" pitchFamily="34" charset="-122"/>
                <a:sym typeface="+mn-ea"/>
              </a:rPr>
              <a:t>． </a:t>
            </a:r>
            <a:r>
              <a:rPr lang="en-US" altLang="zh-CN" sz="1400" dirty="0">
                <a:latin typeface="微软雅黑" panose="020B0503020204020204" pitchFamily="34" charset="-122"/>
                <a:ea typeface="微软雅黑" panose="020B0503020204020204" pitchFamily="34" charset="-122"/>
                <a:sym typeface="+mn-ea"/>
              </a:rPr>
              <a:t>70 </a:t>
            </a:r>
            <a:r>
              <a:rPr lang="zh-CN" altLang="en-US" sz="1400" dirty="0">
                <a:latin typeface="微软雅黑" panose="020B0503020204020204" pitchFamily="34" charset="-122"/>
                <a:ea typeface="微软雅黑" panose="020B0503020204020204" pitchFamily="34" charset="-122"/>
                <a:sym typeface="+mn-ea"/>
              </a:rPr>
              <a:t>， 有 非 常 强 的 短 期 偿 能 力 ， 短 期 权 人 对 长 虹 的 短 期 偿 债 能 力 应 该 有 充 足 的 信 心 </a:t>
            </a:r>
            <a:endParaRPr lang="zh-CN" altLang="en-US" sz="1400"/>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2" presetClass="entr" presetSubtype="4" fill="hold" grpId="0" nodeType="after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down)">
                                      <p:cBhvr>
                                        <p:cTn id="21" dur="500"/>
                                        <p:tgtEl>
                                          <p:spTgt spid="39"/>
                                        </p:tgtEl>
                                      </p:cBhvr>
                                    </p:animEffect>
                                  </p:childTnLst>
                                </p:cTn>
                              </p:par>
                            </p:childTnLst>
                          </p:cTn>
                        </p:par>
                        <p:par>
                          <p:cTn id="22" fill="hold">
                            <p:stCondLst>
                              <p:cond delay="2000"/>
                            </p:stCondLst>
                            <p:childTnLst>
                              <p:par>
                                <p:cTn id="23" presetID="31" presetClass="entr" presetSubtype="0" fill="hold" grpId="0" nodeType="after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p:cTn id="25" dur="1000" fill="hold"/>
                                        <p:tgtEl>
                                          <p:spTgt spid="40"/>
                                        </p:tgtEl>
                                        <p:attrNameLst>
                                          <p:attrName>ppt_w</p:attrName>
                                        </p:attrNameLst>
                                      </p:cBhvr>
                                      <p:tavLst>
                                        <p:tav tm="0">
                                          <p:val>
                                            <p:fltVal val="0"/>
                                          </p:val>
                                        </p:tav>
                                        <p:tav tm="100000">
                                          <p:val>
                                            <p:strVal val="#ppt_w"/>
                                          </p:val>
                                        </p:tav>
                                      </p:tavLst>
                                    </p:anim>
                                    <p:anim calcmode="lin" valueType="num">
                                      <p:cBhvr>
                                        <p:cTn id="26" dur="1000" fill="hold"/>
                                        <p:tgtEl>
                                          <p:spTgt spid="40"/>
                                        </p:tgtEl>
                                        <p:attrNameLst>
                                          <p:attrName>ppt_h</p:attrName>
                                        </p:attrNameLst>
                                      </p:cBhvr>
                                      <p:tavLst>
                                        <p:tav tm="0">
                                          <p:val>
                                            <p:fltVal val="0"/>
                                          </p:val>
                                        </p:tav>
                                        <p:tav tm="100000">
                                          <p:val>
                                            <p:strVal val="#ppt_h"/>
                                          </p:val>
                                        </p:tav>
                                      </p:tavLst>
                                    </p:anim>
                                    <p:anim calcmode="lin" valueType="num">
                                      <p:cBhvr>
                                        <p:cTn id="27" dur="1000" fill="hold"/>
                                        <p:tgtEl>
                                          <p:spTgt spid="40"/>
                                        </p:tgtEl>
                                        <p:attrNameLst>
                                          <p:attrName>style.rotation</p:attrName>
                                        </p:attrNameLst>
                                      </p:cBhvr>
                                      <p:tavLst>
                                        <p:tav tm="0">
                                          <p:val>
                                            <p:fltVal val="90"/>
                                          </p:val>
                                        </p:tav>
                                        <p:tav tm="100000">
                                          <p:val>
                                            <p:fltVal val="0"/>
                                          </p:val>
                                        </p:tav>
                                      </p:tavLst>
                                    </p:anim>
                                    <p:animEffect transition="in" filter="fade">
                                      <p:cBhvr>
                                        <p:cTn id="28" dur="1000"/>
                                        <p:tgtEl>
                                          <p:spTgt spid="40"/>
                                        </p:tgtEl>
                                      </p:cBhvr>
                                    </p:animEffect>
                                  </p:childTnLst>
                                </p:cTn>
                              </p:par>
                            </p:childTnLst>
                          </p:cTn>
                        </p:par>
                        <p:par>
                          <p:cTn id="29" fill="hold">
                            <p:stCondLst>
                              <p:cond delay="3000"/>
                            </p:stCondLst>
                            <p:childTnLst>
                              <p:par>
                                <p:cTn id="30" presetID="31" presetClass="entr" presetSubtype="0" fill="hold" grpId="0" nodeType="afterEffect">
                                  <p:stCondLst>
                                    <p:cond delay="0"/>
                                  </p:stCondLst>
                                  <p:childTnLst>
                                    <p:set>
                                      <p:cBhvr>
                                        <p:cTn id="31" dur="1" fill="hold">
                                          <p:stCondLst>
                                            <p:cond delay="0"/>
                                          </p:stCondLst>
                                        </p:cTn>
                                        <p:tgtEl>
                                          <p:spTgt spid="37"/>
                                        </p:tgtEl>
                                        <p:attrNameLst>
                                          <p:attrName>style.visibility</p:attrName>
                                        </p:attrNameLst>
                                      </p:cBhvr>
                                      <p:to>
                                        <p:strVal val="visible"/>
                                      </p:to>
                                    </p:set>
                                    <p:anim calcmode="lin" valueType="num">
                                      <p:cBhvr>
                                        <p:cTn id="32" dur="1000" fill="hold"/>
                                        <p:tgtEl>
                                          <p:spTgt spid="37"/>
                                        </p:tgtEl>
                                        <p:attrNameLst>
                                          <p:attrName>ppt_w</p:attrName>
                                        </p:attrNameLst>
                                      </p:cBhvr>
                                      <p:tavLst>
                                        <p:tav tm="0">
                                          <p:val>
                                            <p:fltVal val="0"/>
                                          </p:val>
                                        </p:tav>
                                        <p:tav tm="100000">
                                          <p:val>
                                            <p:strVal val="#ppt_w"/>
                                          </p:val>
                                        </p:tav>
                                      </p:tavLst>
                                    </p:anim>
                                    <p:anim calcmode="lin" valueType="num">
                                      <p:cBhvr>
                                        <p:cTn id="33" dur="1000" fill="hold"/>
                                        <p:tgtEl>
                                          <p:spTgt spid="37"/>
                                        </p:tgtEl>
                                        <p:attrNameLst>
                                          <p:attrName>ppt_h</p:attrName>
                                        </p:attrNameLst>
                                      </p:cBhvr>
                                      <p:tavLst>
                                        <p:tav tm="0">
                                          <p:val>
                                            <p:fltVal val="0"/>
                                          </p:val>
                                        </p:tav>
                                        <p:tav tm="100000">
                                          <p:val>
                                            <p:strVal val="#ppt_h"/>
                                          </p:val>
                                        </p:tav>
                                      </p:tavLst>
                                    </p:anim>
                                    <p:anim calcmode="lin" valueType="num">
                                      <p:cBhvr>
                                        <p:cTn id="34" dur="1000" fill="hold"/>
                                        <p:tgtEl>
                                          <p:spTgt spid="37"/>
                                        </p:tgtEl>
                                        <p:attrNameLst>
                                          <p:attrName>style.rotation</p:attrName>
                                        </p:attrNameLst>
                                      </p:cBhvr>
                                      <p:tavLst>
                                        <p:tav tm="0">
                                          <p:val>
                                            <p:fltVal val="90"/>
                                          </p:val>
                                        </p:tav>
                                        <p:tav tm="100000">
                                          <p:val>
                                            <p:fltVal val="0"/>
                                          </p:val>
                                        </p:tav>
                                      </p:tavLst>
                                    </p:anim>
                                    <p:animEffect transition="in" filter="fade">
                                      <p:cBhvr>
                                        <p:cTn id="35" dur="1000"/>
                                        <p:tgtEl>
                                          <p:spTgt spid="37"/>
                                        </p:tgtEl>
                                      </p:cBhvr>
                                    </p:animEffect>
                                  </p:childTnLst>
                                </p:cTn>
                              </p:par>
                            </p:childTnLst>
                          </p:cTn>
                        </p:par>
                        <p:par>
                          <p:cTn id="36" fill="hold">
                            <p:stCondLst>
                              <p:cond delay="4000"/>
                            </p:stCondLst>
                            <p:childTnLst>
                              <p:par>
                                <p:cTn id="37" presetID="51" presetClass="entr" presetSubtype="0"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770" decel="100000"/>
                                        <p:tgtEl>
                                          <p:spTgt spid="41"/>
                                        </p:tgtEl>
                                      </p:cBhvr>
                                    </p:animEffect>
                                    <p:animScale>
                                      <p:cBhvr>
                                        <p:cTn id="40" dur="770" decel="100000"/>
                                        <p:tgtEl>
                                          <p:spTgt spid="41"/>
                                        </p:tgtEl>
                                      </p:cBhvr>
                                      <p:from x="10000" y="10000"/>
                                      <p:to x="200000" y="450000"/>
                                    </p:animScale>
                                    <p:animScale>
                                      <p:cBhvr>
                                        <p:cTn id="41" dur="1230" accel="100000" fill="hold">
                                          <p:stCondLst>
                                            <p:cond delay="770"/>
                                          </p:stCondLst>
                                        </p:cTn>
                                        <p:tgtEl>
                                          <p:spTgt spid="41"/>
                                        </p:tgtEl>
                                      </p:cBhvr>
                                      <p:from x="200000" y="450000"/>
                                      <p:to x="100000" y="100000"/>
                                    </p:animScale>
                                    <p:set>
                                      <p:cBhvr>
                                        <p:cTn id="42" dur="770" fill="hold"/>
                                        <p:tgtEl>
                                          <p:spTgt spid="41"/>
                                        </p:tgtEl>
                                        <p:attrNameLst>
                                          <p:attrName>ppt_x</p:attrName>
                                        </p:attrNameLst>
                                      </p:cBhvr>
                                      <p:to>
                                        <p:strVal val="(0.5)"/>
                                      </p:to>
                                    </p:set>
                                    <p:anim from="(0.5)" to="(#ppt_x)" calcmode="lin" valueType="num">
                                      <p:cBhvr>
                                        <p:cTn id="43" dur="1230" accel="100000" fill="hold">
                                          <p:stCondLst>
                                            <p:cond delay="770"/>
                                          </p:stCondLst>
                                        </p:cTn>
                                        <p:tgtEl>
                                          <p:spTgt spid="41"/>
                                        </p:tgtEl>
                                        <p:attrNameLst>
                                          <p:attrName>ppt_x</p:attrName>
                                        </p:attrNameLst>
                                      </p:cBhvr>
                                    </p:anim>
                                    <p:set>
                                      <p:cBhvr>
                                        <p:cTn id="44" dur="770" fill="hold"/>
                                        <p:tgtEl>
                                          <p:spTgt spid="41"/>
                                        </p:tgtEl>
                                        <p:attrNameLst>
                                          <p:attrName>ppt_y</p:attrName>
                                        </p:attrNameLst>
                                      </p:cBhvr>
                                      <p:to>
                                        <p:strVal val="(#ppt_y+0.4)"/>
                                      </p:to>
                                    </p:set>
                                    <p:anim from="(#ppt_y+0.4)" to="(#ppt_y)" calcmode="lin" valueType="num">
                                      <p:cBhvr>
                                        <p:cTn id="45" dur="1230" accel="100000" fill="hold">
                                          <p:stCondLst>
                                            <p:cond delay="770"/>
                                          </p:stCondLst>
                                        </p:cTn>
                                        <p:tgtEl>
                                          <p:spTgt spid="41"/>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37" grpId="0"/>
      <p:bldP spid="39" grpId="0" animBg="1"/>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1"/>
          <p:cNvGrpSpPr/>
          <p:nvPr/>
        </p:nvGrpSpPr>
        <p:grpSpPr>
          <a:xfrm>
            <a:off x="5455723" y="2948947"/>
            <a:ext cx="1349663" cy="1248139"/>
            <a:chOff x="5359953" y="1203598"/>
            <a:chExt cx="1012247" cy="936104"/>
          </a:xfrm>
        </p:grpSpPr>
        <p:sp>
          <p:nvSpPr>
            <p:cNvPr id="11" name="椭圆 10"/>
            <p:cNvSpPr/>
            <p:nvPr/>
          </p:nvSpPr>
          <p:spPr>
            <a:xfrm>
              <a:off x="5364088" y="1203598"/>
              <a:ext cx="936104" cy="936104"/>
            </a:xfrm>
            <a:prstGeom prst="ellips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文本框 12"/>
            <p:cNvSpPr txBox="1"/>
            <p:nvPr/>
          </p:nvSpPr>
          <p:spPr>
            <a:xfrm>
              <a:off x="5359953" y="1324929"/>
              <a:ext cx="1012247" cy="741521"/>
            </a:xfrm>
            <a:prstGeom prst="rect">
              <a:avLst/>
            </a:prstGeom>
            <a:noFill/>
          </p:spPr>
          <p:txBody>
            <a:bodyPr wrap="square" lIns="86697" tIns="43348" rIns="86697" bIns="43348" rtlCol="0">
              <a:spAutoFit/>
            </a:bodyPr>
            <a:lstStyle/>
            <a:p>
              <a:pPr algn="ctr"/>
              <a:r>
                <a:rPr lang="en-US" altLang="zh-CN" sz="5865" b="1"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03</a:t>
              </a:r>
              <a:endParaRPr lang="zh-CN" altLang="en-US" sz="5865" b="1"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grpSp>
      <p:sp>
        <p:nvSpPr>
          <p:cNvPr id="21" name="矩形 20"/>
          <p:cNvSpPr/>
          <p:nvPr/>
        </p:nvSpPr>
        <p:spPr>
          <a:xfrm>
            <a:off x="6943090" y="2911475"/>
            <a:ext cx="3945255" cy="615315"/>
          </a:xfrm>
          <a:prstGeom prst="rect">
            <a:avLst/>
          </a:prstGeom>
        </p:spPr>
        <p:txBody>
          <a:bodyPr wrap="square" lIns="0" tIns="0" rIns="0" bIns="0">
            <a:spAutoFit/>
          </a:bodyPr>
          <a:lstStyle/>
          <a:p>
            <a:pPr algn="ct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比较分析</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22" name="TextBox 11"/>
          <p:cNvSpPr txBox="1"/>
          <p:nvPr/>
        </p:nvSpPr>
        <p:spPr>
          <a:xfrm>
            <a:off x="7038340" y="3657600"/>
            <a:ext cx="1860550" cy="245745"/>
          </a:xfrm>
          <a:prstGeom prst="rect">
            <a:avLst/>
          </a:prstGeom>
          <a:noFill/>
        </p:spPr>
        <p:txBody>
          <a:bodyPr wrap="square" lIns="0" tIns="0" rIns="0" bIns="0" rtlCol="0">
            <a:spAutoFit/>
          </a:bodyPr>
          <a:lstStyle/>
          <a:p>
            <a:pPr indent="0" algn="just">
              <a:buFont typeface="Arial" panose="020B0604020202020204" pitchFamily="34" charset="0"/>
              <a:buChar char="•"/>
            </a:pPr>
            <a:r>
              <a:rPr lang="en-US" altLang="zh-CN" sz="160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600">
                <a:sym typeface="+mn-ea"/>
              </a:rPr>
              <a:t>结构百分比分析</a:t>
            </a:r>
            <a:endParaRPr lang="zh-CN" altLang="en-US" sz="16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3" name="TextBox 11"/>
          <p:cNvSpPr txBox="1"/>
          <p:nvPr/>
        </p:nvSpPr>
        <p:spPr>
          <a:xfrm>
            <a:off x="9131935" y="3657600"/>
            <a:ext cx="1928495" cy="245745"/>
          </a:xfrm>
          <a:prstGeom prst="rect">
            <a:avLst/>
          </a:prstGeom>
          <a:noFill/>
        </p:spPr>
        <p:txBody>
          <a:bodyPr wrap="square" lIns="0" tIns="0" rIns="0" bIns="0" rtlCol="0">
            <a:spAutoFit/>
          </a:bodyPr>
          <a:lstStyle/>
          <a:p>
            <a:pPr indent="0" algn="just">
              <a:buFont typeface="Arial" panose="020B0604020202020204" pitchFamily="34" charset="0"/>
              <a:buChar char="•"/>
            </a:pPr>
            <a:r>
              <a:rPr lang="en-US" altLang="zh-CN" sz="1600">
                <a:sym typeface="+mn-ea"/>
              </a:rPr>
              <a:t> </a:t>
            </a:r>
            <a:r>
              <a:rPr lang="zh-CN" altLang="en-US" sz="1600">
                <a:sym typeface="+mn-ea"/>
              </a:rPr>
              <a:t>定基百分比分析</a:t>
            </a:r>
            <a:endParaRPr lang="en-US" altLang="zh-CN"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TextBox 11"/>
          <p:cNvSpPr txBox="1"/>
          <p:nvPr/>
        </p:nvSpPr>
        <p:spPr>
          <a:xfrm>
            <a:off x="7031919" y="3971383"/>
            <a:ext cx="1550035" cy="245745"/>
          </a:xfrm>
          <a:prstGeom prst="rect">
            <a:avLst/>
          </a:prstGeom>
          <a:noFill/>
        </p:spPr>
        <p:txBody>
          <a:bodyPr wrap="none" lIns="0" tIns="0" rIns="0" bIns="0" rtlCol="0">
            <a:spAutoFit/>
          </a:bodyPr>
          <a:lstStyle/>
          <a:p>
            <a:pPr indent="0" algn="just">
              <a:buFont typeface="Arial" panose="020B0604020202020204" pitchFamily="34" charset="0"/>
              <a:buChar char="•"/>
            </a:pPr>
            <a:r>
              <a:rPr lang="en-US" altLang="zh-CN" sz="1600">
                <a:sym typeface="+mn-ea"/>
              </a:rPr>
              <a:t> </a:t>
            </a:r>
            <a:r>
              <a:rPr lang="zh-CN" altLang="en-US" sz="1600">
                <a:sym typeface="+mn-ea"/>
              </a:rPr>
              <a:t>环比百分比分析</a:t>
            </a:r>
            <a:endParaRPr lang="zh-CN" altLang="en-US" sz="1600">
              <a:solidFill>
                <a:schemeClr val="bg1">
                  <a:lumMod val="50000"/>
                </a:schemeClr>
              </a:solidFill>
              <a:latin typeface="微软雅黑" panose="020B0503020204020204" pitchFamily="34" charset="-122"/>
              <a:ea typeface="微软雅黑" panose="020B0503020204020204" pitchFamily="34" charset="-122"/>
            </a:endParaRPr>
          </a:p>
        </p:txBody>
      </p:sp>
      <p:sp>
        <p:nvSpPr>
          <p:cNvPr id="25" name="TextBox 11"/>
          <p:cNvSpPr txBox="1"/>
          <p:nvPr/>
        </p:nvSpPr>
        <p:spPr>
          <a:xfrm>
            <a:off x="9137087" y="3971383"/>
            <a:ext cx="1143635" cy="245745"/>
          </a:xfrm>
          <a:prstGeom prst="rect">
            <a:avLst/>
          </a:prstGeom>
          <a:noFill/>
        </p:spPr>
        <p:txBody>
          <a:bodyPr wrap="none" lIns="0" tIns="0" rIns="0" bIns="0" rtlCol="0">
            <a:spAutoFit/>
          </a:bodyPr>
          <a:lstStyle/>
          <a:p>
            <a:pPr indent="0" algn="just">
              <a:buFont typeface="Arial" panose="020B0604020202020204" pitchFamily="34" charset="0"/>
              <a:buChar char="•"/>
            </a:pPr>
            <a:r>
              <a:rPr lang="en-US" altLang="zh-CN" sz="1600">
                <a:sym typeface="+mn-ea"/>
              </a:rPr>
              <a:t> </a:t>
            </a:r>
            <a:r>
              <a:rPr lang="zh-CN" altLang="en-US" sz="1600">
                <a:sym typeface="+mn-ea"/>
              </a:rPr>
              <a:t>同行业分析</a:t>
            </a:r>
            <a:endParaRPr lang="zh-CN" altLang="en-US" sz="1600">
              <a:solidFill>
                <a:schemeClr val="bg1">
                  <a:lumMod val="50000"/>
                </a:schemeClr>
              </a:solidFill>
              <a:latin typeface="微软雅黑" panose="020B0503020204020204" pitchFamily="34" charset="-122"/>
              <a:ea typeface="微软雅黑" panose="020B0503020204020204" pitchFamily="34" charset="-122"/>
            </a:endParaRPr>
          </a:p>
        </p:txBody>
      </p:sp>
      <p:pic>
        <p:nvPicPr>
          <p:cNvPr id="14" name="Picture 2" descr="C:\Users\Administrator\Desktop\1057523b4226046.png"/>
          <p:cNvPicPr>
            <a:picLocks noChangeAspect="1" noChangeArrowheads="1"/>
          </p:cNvPicPr>
          <p:nvPr/>
        </p:nvPicPr>
        <p:blipFill>
          <a:blip r:embed="rId3" cstate="print"/>
          <a:srcRect/>
          <a:stretch>
            <a:fillRect/>
          </a:stretch>
        </p:blipFill>
        <p:spPr bwMode="auto">
          <a:xfrm>
            <a:off x="527381" y="1220755"/>
            <a:ext cx="5001253" cy="4416491"/>
          </a:xfrm>
          <a:prstGeom prst="rect">
            <a:avLst/>
          </a:prstGeom>
          <a:noFill/>
        </p:spPr>
      </p:pic>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3" presetClass="entr" presetSubtype="32"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strVal val="4*#ppt_w"/>
                                          </p:val>
                                        </p:tav>
                                        <p:tav tm="100000">
                                          <p:val>
                                            <p:strVal val="#ppt_w"/>
                                          </p:val>
                                        </p:tav>
                                      </p:tavLst>
                                    </p:anim>
                                    <p:anim calcmode="lin" valueType="num">
                                      <p:cBhvr>
                                        <p:cTn id="20" dur="500" fill="hold"/>
                                        <p:tgtEl>
                                          <p:spTgt spid="21"/>
                                        </p:tgtEl>
                                        <p:attrNameLst>
                                          <p:attrName>ppt_h</p:attrName>
                                        </p:attrNameLst>
                                      </p:cBhvr>
                                      <p:tavLst>
                                        <p:tav tm="0">
                                          <p:val>
                                            <p:strVal val="4*#ppt_h"/>
                                          </p:val>
                                        </p:tav>
                                        <p:tav tm="100000">
                                          <p:val>
                                            <p:strVal val="#ppt_h"/>
                                          </p:val>
                                        </p:tav>
                                      </p:tavLst>
                                    </p:anim>
                                  </p:childTnLst>
                                </p:cTn>
                              </p:par>
                            </p:childTnLst>
                          </p:cTn>
                        </p:par>
                        <p:par>
                          <p:cTn id="21" fill="hold">
                            <p:stCondLst>
                              <p:cond delay="2500"/>
                            </p:stCondLst>
                            <p:childTnLst>
                              <p:par>
                                <p:cTn id="22" presetID="12" presetClass="entr" presetSubtype="8"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additive="base">
                                        <p:cTn id="24" dur="500"/>
                                        <p:tgtEl>
                                          <p:spTgt spid="22"/>
                                        </p:tgtEl>
                                        <p:attrNameLst>
                                          <p:attrName>ppt_x</p:attrName>
                                        </p:attrNameLst>
                                      </p:cBhvr>
                                      <p:tavLst>
                                        <p:tav tm="0">
                                          <p:val>
                                            <p:strVal val="#ppt_x-#ppt_w*1.125000"/>
                                          </p:val>
                                        </p:tav>
                                        <p:tav tm="100000">
                                          <p:val>
                                            <p:strVal val="#ppt_x"/>
                                          </p:val>
                                        </p:tav>
                                      </p:tavLst>
                                    </p:anim>
                                    <p:animEffect transition="in" filter="wipe(right)">
                                      <p:cBhvr>
                                        <p:cTn id="25" dur="500"/>
                                        <p:tgtEl>
                                          <p:spTgt spid="22"/>
                                        </p:tgtEl>
                                      </p:cBhvr>
                                    </p:animEffect>
                                  </p:childTnLst>
                                </p:cTn>
                              </p:par>
                            </p:childTnLst>
                          </p:cTn>
                        </p:par>
                        <p:par>
                          <p:cTn id="26" fill="hold">
                            <p:stCondLst>
                              <p:cond delay="3000"/>
                            </p:stCondLst>
                            <p:childTnLst>
                              <p:par>
                                <p:cTn id="27" presetID="12" presetClass="entr" presetSubtype="8"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p:tgtEl>
                                          <p:spTgt spid="23"/>
                                        </p:tgtEl>
                                        <p:attrNameLst>
                                          <p:attrName>ppt_x</p:attrName>
                                        </p:attrNameLst>
                                      </p:cBhvr>
                                      <p:tavLst>
                                        <p:tav tm="0">
                                          <p:val>
                                            <p:strVal val="#ppt_x-#ppt_w*1.125000"/>
                                          </p:val>
                                        </p:tav>
                                        <p:tav tm="100000">
                                          <p:val>
                                            <p:strVal val="#ppt_x"/>
                                          </p:val>
                                        </p:tav>
                                      </p:tavLst>
                                    </p:anim>
                                    <p:animEffect transition="in" filter="wipe(right)">
                                      <p:cBhvr>
                                        <p:cTn id="30" dur="500"/>
                                        <p:tgtEl>
                                          <p:spTgt spid="23"/>
                                        </p:tgtEl>
                                      </p:cBhvr>
                                    </p:animEffect>
                                  </p:childTnLst>
                                </p:cTn>
                              </p:par>
                            </p:childTnLst>
                          </p:cTn>
                        </p:par>
                        <p:par>
                          <p:cTn id="31" fill="hold">
                            <p:stCondLst>
                              <p:cond delay="3500"/>
                            </p:stCondLst>
                            <p:childTnLst>
                              <p:par>
                                <p:cTn id="32" presetID="12" presetClass="entr" presetSubtype="8"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p:tgtEl>
                                          <p:spTgt spid="24"/>
                                        </p:tgtEl>
                                        <p:attrNameLst>
                                          <p:attrName>ppt_x</p:attrName>
                                        </p:attrNameLst>
                                      </p:cBhvr>
                                      <p:tavLst>
                                        <p:tav tm="0">
                                          <p:val>
                                            <p:strVal val="#ppt_x-#ppt_w*1.125000"/>
                                          </p:val>
                                        </p:tav>
                                        <p:tav tm="100000">
                                          <p:val>
                                            <p:strVal val="#ppt_x"/>
                                          </p:val>
                                        </p:tav>
                                      </p:tavLst>
                                    </p:anim>
                                    <p:animEffect transition="in" filter="wipe(right)">
                                      <p:cBhvr>
                                        <p:cTn id="35" dur="500"/>
                                        <p:tgtEl>
                                          <p:spTgt spid="24"/>
                                        </p:tgtEl>
                                      </p:cBhvr>
                                    </p:animEffect>
                                  </p:childTnLst>
                                </p:cTn>
                              </p:par>
                            </p:childTnLst>
                          </p:cTn>
                        </p:par>
                        <p:par>
                          <p:cTn id="36" fill="hold">
                            <p:stCondLst>
                              <p:cond delay="4000"/>
                            </p:stCondLst>
                            <p:childTnLst>
                              <p:par>
                                <p:cTn id="37" presetID="12" presetClass="entr" presetSubtype="8"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500"/>
                                        <p:tgtEl>
                                          <p:spTgt spid="25"/>
                                        </p:tgtEl>
                                        <p:attrNameLst>
                                          <p:attrName>ppt_x</p:attrName>
                                        </p:attrNameLst>
                                      </p:cBhvr>
                                      <p:tavLst>
                                        <p:tav tm="0">
                                          <p:val>
                                            <p:strVal val="#ppt_x-#ppt_w*1.125000"/>
                                          </p:val>
                                        </p:tav>
                                        <p:tav tm="100000">
                                          <p:val>
                                            <p:strVal val="#ppt_x"/>
                                          </p:val>
                                        </p:tav>
                                      </p:tavLst>
                                    </p:anim>
                                    <p:animEffect transition="in" filter="wipe(right)">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1336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结构百分比分析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51"/>
          <p:cNvGrpSpPr/>
          <p:nvPr/>
        </p:nvGrpSpPr>
        <p:grpSpPr>
          <a:xfrm>
            <a:off x="1157496" y="1316953"/>
            <a:ext cx="9896593" cy="3776423"/>
            <a:chOff x="1498" y="1873"/>
            <a:chExt cx="11411" cy="4354"/>
          </a:xfrm>
        </p:grpSpPr>
        <p:grpSp>
          <p:nvGrpSpPr>
            <p:cNvPr id="2" name="Group 3"/>
            <p:cNvGrpSpPr/>
            <p:nvPr/>
          </p:nvGrpSpPr>
          <p:grpSpPr>
            <a:xfrm>
              <a:off x="1498" y="1873"/>
              <a:ext cx="6789" cy="4354"/>
              <a:chOff x="763170" y="1585667"/>
              <a:chExt cx="5748467" cy="3686665"/>
            </a:xfrm>
          </p:grpSpPr>
          <p:graphicFrame>
            <p:nvGraphicFramePr>
              <p:cNvPr id="3" name="Chart 10"/>
              <p:cNvGraphicFramePr/>
              <p:nvPr/>
            </p:nvGraphicFramePr>
            <p:xfrm>
              <a:off x="763170" y="1585667"/>
              <a:ext cx="5748467" cy="368666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11"/>
              <p:cNvSpPr txBox="1"/>
              <p:nvPr/>
            </p:nvSpPr>
            <p:spPr>
              <a:xfrm>
                <a:off x="2091389" y="2166128"/>
                <a:ext cx="1443289" cy="449433"/>
              </a:xfrm>
              <a:prstGeom prst="rect">
                <a:avLst/>
              </a:prstGeom>
              <a:noFill/>
            </p:spPr>
            <p:txBody>
              <a:bodyPr wrap="square" rtlCol="0">
                <a:spAutoFit/>
              </a:bodyPr>
              <a:lstStyle/>
              <a:p>
                <a:pPr algn="ctr">
                  <a:lnSpc>
                    <a:spcPct val="120000"/>
                  </a:lnSpc>
                </a:pPr>
                <a:r>
                  <a:rPr lang="zh-CN" altLang="en-US" sz="1000" dirty="0" smtClean="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a:p>
                <a:pPr algn="ctr">
                  <a:lnSpc>
                    <a:spcPct val="120000"/>
                  </a:lnSpc>
                </a:pPr>
                <a:r>
                  <a:rPr 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20%</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TextBox 12"/>
              <p:cNvSpPr txBox="1"/>
              <p:nvPr/>
            </p:nvSpPr>
            <p:spPr>
              <a:xfrm>
                <a:off x="2964225" y="3149801"/>
                <a:ext cx="1443289" cy="449433"/>
              </a:xfrm>
              <a:prstGeom prst="rect">
                <a:avLst/>
              </a:prstGeom>
              <a:noFill/>
            </p:spPr>
            <p:txBody>
              <a:bodyPr wrap="square" rtlCol="0">
                <a:spAutoFit/>
              </a:bodyPr>
              <a:lstStyle/>
              <a:p>
                <a:pPr algn="ctr">
                  <a:lnSpc>
                    <a:spcPct val="120000"/>
                  </a:lnSpc>
                </a:pPr>
                <a:r>
                  <a:rPr lang="zh-CN" altLang="en-US" sz="1000" dirty="0" smtClean="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a:p>
                <a:pPr algn="ctr">
                  <a:lnSpc>
                    <a:spcPct val="120000"/>
                  </a:lnSpc>
                </a:pPr>
                <a:r>
                  <a:rPr 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20%</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TextBox 13"/>
              <p:cNvSpPr txBox="1"/>
              <p:nvPr/>
            </p:nvSpPr>
            <p:spPr>
              <a:xfrm>
                <a:off x="1164942" y="3665314"/>
                <a:ext cx="1443289" cy="449433"/>
              </a:xfrm>
              <a:prstGeom prst="rect">
                <a:avLst/>
              </a:prstGeom>
              <a:noFill/>
            </p:spPr>
            <p:txBody>
              <a:bodyPr wrap="square" rtlCol="0">
                <a:spAutoFit/>
              </a:bodyPr>
              <a:lstStyle/>
              <a:p>
                <a:pPr algn="ctr">
                  <a:lnSpc>
                    <a:spcPct val="120000"/>
                  </a:lnSpc>
                </a:pPr>
                <a:r>
                  <a:rPr lang="zh-CN" altLang="en-US" sz="1000" dirty="0" smtClean="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a:p>
                <a:pPr algn="ctr">
                  <a:lnSpc>
                    <a:spcPct val="120000"/>
                  </a:lnSpc>
                </a:pPr>
                <a:r>
                  <a:rPr 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60%</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3" name="Group 14"/>
              <p:cNvGrpSpPr/>
              <p:nvPr/>
            </p:nvGrpSpPr>
            <p:grpSpPr>
              <a:xfrm>
                <a:off x="5520531" y="3883595"/>
                <a:ext cx="465138" cy="435769"/>
                <a:chOff x="5368132" y="3540125"/>
                <a:chExt cx="465138" cy="435769"/>
              </a:xfrm>
              <a:solidFill>
                <a:schemeClr val="bg2"/>
              </a:solidFill>
            </p:grpSpPr>
            <p:sp>
              <p:nvSpPr>
                <p:cNvPr id="38"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090" tIns="20090" rIns="20090" bIns="20090" anchor="ctr"/>
                <a:lstStyle/>
                <a:p>
                  <a:pPr algn="ctr" defTabSz="170815" hangingPunct="0">
                    <a:lnSpc>
                      <a:spcPct val="120000"/>
                    </a:lnSpc>
                  </a:pPr>
                  <a:endParaRPr lang="en-US" sz="10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090" tIns="20090" rIns="20090" bIns="20090" anchor="ctr"/>
                <a:lstStyle/>
                <a:p>
                  <a:pPr algn="ctr" defTabSz="170815" hangingPunct="0">
                    <a:lnSpc>
                      <a:spcPct val="120000"/>
                    </a:lnSpc>
                  </a:pPr>
                  <a:endParaRPr lang="en-US" sz="10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3" name="Group 17"/>
              <p:cNvGrpSpPr/>
              <p:nvPr/>
            </p:nvGrpSpPr>
            <p:grpSpPr>
              <a:xfrm>
                <a:off x="5520532" y="2636674"/>
                <a:ext cx="465138" cy="391319"/>
                <a:chOff x="5368132" y="2625725"/>
                <a:chExt cx="465138" cy="391319"/>
              </a:xfrm>
              <a:solidFill>
                <a:schemeClr val="bg2"/>
              </a:solidFill>
            </p:grpSpPr>
            <p:sp>
              <p:nvSpPr>
                <p:cNvPr id="44"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090" tIns="20090" rIns="20090" bIns="20090" anchor="ctr"/>
                <a:lstStyle/>
                <a:p>
                  <a:pPr algn="ctr" defTabSz="170815" hangingPunct="0">
                    <a:lnSpc>
                      <a:spcPct val="120000"/>
                    </a:lnSpc>
                  </a:pPr>
                  <a:endParaRPr lang="en-US" sz="10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090" tIns="20090" rIns="20090" bIns="20090" anchor="ctr"/>
                <a:lstStyle/>
                <a:p>
                  <a:pPr algn="ctr" defTabSz="170815" hangingPunct="0">
                    <a:lnSpc>
                      <a:spcPct val="120000"/>
                    </a:lnSpc>
                  </a:pPr>
                  <a:endParaRPr lang="en-US" sz="10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0090" tIns="20090" rIns="20090" bIns="20090" anchor="ctr"/>
                <a:lstStyle/>
                <a:p>
                  <a:pPr algn="ctr" defTabSz="170815" hangingPunct="0">
                    <a:lnSpc>
                      <a:spcPct val="120000"/>
                    </a:lnSpc>
                  </a:pPr>
                  <a:endParaRPr lang="en-US" sz="1000" dirty="0">
                    <a:solidFill>
                      <a:schemeClr val="bg1"/>
                    </a:solidFill>
                    <a:effectLst>
                      <a:outerShdw blurRad="38100" dist="38100" dir="2700000" algn="tl">
                        <a:srgbClr val="000000"/>
                      </a:outerShdw>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nvGrpSpPr>
            <p:cNvPr id="47" name="Group 4"/>
            <p:cNvGrpSpPr/>
            <p:nvPr/>
          </p:nvGrpSpPr>
          <p:grpSpPr>
            <a:xfrm>
              <a:off x="8231" y="2559"/>
              <a:ext cx="4677" cy="3324"/>
              <a:chOff x="7500839" y="1971109"/>
              <a:chExt cx="3960341" cy="2928997"/>
            </a:xfrm>
          </p:grpSpPr>
          <p:sp>
            <p:nvSpPr>
              <p:cNvPr id="48" name="Rectangle 23"/>
              <p:cNvSpPr/>
              <p:nvPr/>
            </p:nvSpPr>
            <p:spPr>
              <a:xfrm>
                <a:off x="7500839" y="1971109"/>
                <a:ext cx="3960341" cy="26186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Rectangle 25"/>
              <p:cNvSpPr/>
              <p:nvPr/>
            </p:nvSpPr>
            <p:spPr>
              <a:xfrm>
                <a:off x="7645809" y="2063039"/>
                <a:ext cx="3670521" cy="2837067"/>
              </a:xfrm>
              <a:prstGeom prst="rect">
                <a:avLst/>
              </a:prstGeom>
            </p:spPr>
            <p:txBody>
              <a:bodyPr wrap="square">
                <a:spAutoFit/>
              </a:bodyPr>
              <a:lstStyle/>
              <a:p>
                <a:pPr algn="just">
                  <a:lnSpc>
                    <a:spcPct val="150000"/>
                  </a:lnSpc>
                </a:pPr>
                <a:r>
                  <a:rPr lang="zh-CN" altLang="en-US" sz="900" dirty="0">
                    <a:latin typeface="微软雅黑" panose="020B0503020204020204" pitchFamily="34" charset="-122"/>
                    <a:ea typeface="微软雅黑" panose="020B0503020204020204" pitchFamily="34" charset="-122"/>
                    <a:sym typeface="+mn-ea"/>
                  </a:rPr>
                  <a:t>从资产负债结构表分析，四川长虹的应收款和存货占总资产比例较高，</a:t>
                </a:r>
                <a:r>
                  <a:rPr lang="en-US" altLang="zh-CN" sz="900" dirty="0">
                    <a:latin typeface="微软雅黑" panose="020B0503020204020204" pitchFamily="34" charset="-122"/>
                    <a:ea typeface="微软雅黑" panose="020B0503020204020204" pitchFamily="34" charset="-122"/>
                    <a:sym typeface="+mn-ea"/>
                  </a:rPr>
                  <a:t>99</a:t>
                </a:r>
                <a:r>
                  <a:rPr lang="zh-CN" altLang="en-US" sz="900" dirty="0">
                    <a:latin typeface="微软雅黑" panose="020B0503020204020204" pitchFamily="34" charset="-122"/>
                    <a:ea typeface="微软雅黑" panose="020B0503020204020204" pitchFamily="34" charset="-122"/>
                    <a:sym typeface="+mn-ea"/>
                  </a:rPr>
                  <a:t>年应收帐款款及其他应收款净额占总资产的比例为</a:t>
                </a:r>
                <a:r>
                  <a:rPr lang="en-US" altLang="zh-CN" sz="900" dirty="0">
                    <a:latin typeface="微软雅黑" panose="020B0503020204020204" pitchFamily="34" charset="-122"/>
                    <a:ea typeface="微软雅黑" panose="020B0503020204020204" pitchFamily="34" charset="-122"/>
                    <a:sym typeface="+mn-ea"/>
                  </a:rPr>
                  <a:t>29.26%</a:t>
                </a:r>
                <a:r>
                  <a:rPr lang="zh-CN" altLang="en-US" sz="900" dirty="0">
                    <a:latin typeface="微软雅黑" panose="020B0503020204020204" pitchFamily="34" charset="-122"/>
                    <a:ea typeface="微软雅黑" panose="020B0503020204020204" pitchFamily="34" charset="-122"/>
                    <a:sym typeface="+mn-ea"/>
                  </a:rPr>
                  <a:t>，</a:t>
                </a:r>
                <a:r>
                  <a:rPr lang="en-US" altLang="zh-CN" sz="900" dirty="0">
                    <a:latin typeface="微软雅黑" panose="020B0503020204020204" pitchFamily="34" charset="-122"/>
                    <a:ea typeface="微软雅黑" panose="020B0503020204020204" pitchFamily="34" charset="-122"/>
                    <a:sym typeface="+mn-ea"/>
                  </a:rPr>
                  <a:t>2017</a:t>
                </a:r>
                <a:r>
                  <a:rPr lang="zh-CN" altLang="en-US" sz="900" dirty="0">
                    <a:latin typeface="微软雅黑" panose="020B0503020204020204" pitchFamily="34" charset="-122"/>
                    <a:ea typeface="微软雅黑" panose="020B0503020204020204" pitchFamily="34" charset="-122"/>
                    <a:sym typeface="+mn-ea"/>
                  </a:rPr>
                  <a:t>年为</a:t>
                </a:r>
                <a:r>
                  <a:rPr lang="en-US" altLang="zh-CN" sz="900" dirty="0">
                    <a:latin typeface="微软雅黑" panose="020B0503020204020204" pitchFamily="34" charset="-122"/>
                    <a:ea typeface="微软雅黑" panose="020B0503020204020204" pitchFamily="34" charset="-122"/>
                    <a:sym typeface="+mn-ea"/>
                  </a:rPr>
                  <a:t>15.58%</a:t>
                </a:r>
                <a:r>
                  <a:rPr lang="zh-CN" altLang="en-US" sz="900" dirty="0">
                    <a:latin typeface="微软雅黑" panose="020B0503020204020204" pitchFamily="34" charset="-122"/>
                    <a:ea typeface="微软雅黑" panose="020B0503020204020204" pitchFamily="34" charset="-122"/>
                    <a:sym typeface="+mn-ea"/>
                  </a:rPr>
                  <a:t>，</a:t>
                </a:r>
                <a:r>
                  <a:rPr lang="en-US" altLang="zh-CN" sz="900" dirty="0">
                    <a:latin typeface="微软雅黑" panose="020B0503020204020204" pitchFamily="34" charset="-122"/>
                    <a:ea typeface="微软雅黑" panose="020B0503020204020204" pitchFamily="34" charset="-122"/>
                    <a:sym typeface="+mn-ea"/>
                  </a:rPr>
                  <a:t>2018</a:t>
                </a:r>
                <a:r>
                  <a:rPr lang="zh-CN" altLang="en-US" sz="900" dirty="0">
                    <a:latin typeface="微软雅黑" panose="020B0503020204020204" pitchFamily="34" charset="-122"/>
                    <a:ea typeface="微软雅黑" panose="020B0503020204020204" pitchFamily="34" charset="-122"/>
                    <a:sym typeface="+mn-ea"/>
                  </a:rPr>
                  <a:t>年为</a:t>
                </a:r>
                <a:r>
                  <a:rPr lang="en-US" altLang="zh-CN" sz="900" dirty="0">
                    <a:latin typeface="微软雅黑" panose="020B0503020204020204" pitchFamily="34" charset="-122"/>
                    <a:ea typeface="微软雅黑" panose="020B0503020204020204" pitchFamily="34" charset="-122"/>
                    <a:sym typeface="+mn-ea"/>
                  </a:rPr>
                  <a:t>24.67%</a:t>
                </a:r>
                <a:r>
                  <a:rPr lang="zh-CN" altLang="en-US" sz="900" dirty="0">
                    <a:latin typeface="微软雅黑" panose="020B0503020204020204" pitchFamily="34" charset="-122"/>
                    <a:ea typeface="微软雅黑" panose="020B0503020204020204" pitchFamily="34" charset="-122"/>
                    <a:sym typeface="+mn-ea"/>
                  </a:rPr>
                  <a:t>；存货净额的比例</a:t>
                </a:r>
                <a:r>
                  <a:rPr lang="en-US" altLang="zh-CN" sz="900" dirty="0">
                    <a:latin typeface="微软雅黑" panose="020B0503020204020204" pitchFamily="34" charset="-122"/>
                    <a:ea typeface="微软雅黑" panose="020B0503020204020204" pitchFamily="34" charset="-122"/>
                    <a:sym typeface="+mn-ea"/>
                  </a:rPr>
                  <a:t>99</a:t>
                </a:r>
                <a:r>
                  <a:rPr lang="zh-CN" altLang="en-US" sz="900" dirty="0">
                    <a:latin typeface="微软雅黑" panose="020B0503020204020204" pitchFamily="34" charset="-122"/>
                    <a:ea typeface="微软雅黑" panose="020B0503020204020204" pitchFamily="34" charset="-122"/>
                    <a:sym typeface="+mn-ea"/>
                  </a:rPr>
                  <a:t>年</a:t>
                </a:r>
                <a:r>
                  <a:rPr lang="en-US" altLang="zh-CN" sz="900" dirty="0">
                    <a:latin typeface="微软雅黑" panose="020B0503020204020204" pitchFamily="34" charset="-122"/>
                    <a:ea typeface="微软雅黑" panose="020B0503020204020204" pitchFamily="34" charset="-122"/>
                    <a:sym typeface="+mn-ea"/>
                  </a:rPr>
                  <a:t>37.21%</a:t>
                </a:r>
                <a:r>
                  <a:rPr lang="zh-CN" altLang="en-US" sz="900" dirty="0">
                    <a:latin typeface="微软雅黑" panose="020B0503020204020204" pitchFamily="34" charset="-122"/>
                    <a:ea typeface="微软雅黑" panose="020B0503020204020204" pitchFamily="34" charset="-122"/>
                    <a:sym typeface="+mn-ea"/>
                  </a:rPr>
                  <a:t>，</a:t>
                </a:r>
                <a:r>
                  <a:rPr lang="en-US" altLang="zh-CN" sz="900" dirty="0">
                    <a:latin typeface="微软雅黑" panose="020B0503020204020204" pitchFamily="34" charset="-122"/>
                    <a:ea typeface="微软雅黑" panose="020B0503020204020204" pitchFamily="34" charset="-122"/>
                    <a:sym typeface="+mn-ea"/>
                  </a:rPr>
                  <a:t>2017</a:t>
                </a:r>
                <a:r>
                  <a:rPr lang="zh-CN" altLang="en-US" sz="900" dirty="0">
                    <a:latin typeface="微软雅黑" panose="020B0503020204020204" pitchFamily="34" charset="-122"/>
                    <a:ea typeface="微软雅黑" panose="020B0503020204020204" pitchFamily="34" charset="-122"/>
                    <a:sym typeface="+mn-ea"/>
                  </a:rPr>
                  <a:t>年为</a:t>
                </a:r>
                <a:r>
                  <a:rPr lang="en-US" altLang="zh-CN" sz="900" dirty="0">
                    <a:latin typeface="微软雅黑" panose="020B0503020204020204" pitchFamily="34" charset="-122"/>
                    <a:ea typeface="微软雅黑" panose="020B0503020204020204" pitchFamily="34" charset="-122"/>
                    <a:sym typeface="+mn-ea"/>
                  </a:rPr>
                  <a:t>38.89%</a:t>
                </a:r>
                <a:r>
                  <a:rPr lang="zh-CN" altLang="en-US" sz="900" dirty="0">
                    <a:latin typeface="微软雅黑" panose="020B0503020204020204" pitchFamily="34" charset="-122"/>
                    <a:ea typeface="微软雅黑" panose="020B0503020204020204" pitchFamily="34" charset="-122"/>
                    <a:sym typeface="+mn-ea"/>
                  </a:rPr>
                  <a:t>，</a:t>
                </a:r>
                <a:r>
                  <a:rPr lang="en-US" altLang="zh-CN" sz="900" dirty="0">
                    <a:latin typeface="微软雅黑" panose="020B0503020204020204" pitchFamily="34" charset="-122"/>
                    <a:ea typeface="微软雅黑" panose="020B0503020204020204" pitchFamily="34" charset="-122"/>
                    <a:sym typeface="+mn-ea"/>
                  </a:rPr>
                  <a:t>2018</a:t>
                </a:r>
                <a:r>
                  <a:rPr lang="zh-CN" altLang="en-US" sz="900" dirty="0">
                    <a:latin typeface="微软雅黑" panose="020B0503020204020204" pitchFamily="34" charset="-122"/>
                    <a:ea typeface="微软雅黑" panose="020B0503020204020204" pitchFamily="34" charset="-122"/>
                    <a:sym typeface="+mn-ea"/>
                  </a:rPr>
                  <a:t>年为</a:t>
                </a:r>
                <a:r>
                  <a:rPr lang="en-US" altLang="zh-CN" sz="900" dirty="0">
                    <a:latin typeface="微软雅黑" panose="020B0503020204020204" pitchFamily="34" charset="-122"/>
                    <a:ea typeface="微软雅黑" panose="020B0503020204020204" pitchFamily="34" charset="-122"/>
                    <a:sym typeface="+mn-ea"/>
                  </a:rPr>
                  <a:t>33.69%</a:t>
                </a:r>
                <a:r>
                  <a:rPr lang="zh-CN" altLang="en-US" sz="900" dirty="0">
                    <a:latin typeface="微软雅黑" panose="020B0503020204020204" pitchFamily="34" charset="-122"/>
                    <a:ea typeface="微软雅黑" panose="020B0503020204020204" pitchFamily="34" charset="-122"/>
                    <a:sym typeface="+mn-ea"/>
                  </a:rPr>
                  <a:t>，表明企业产品集压过多，由于四川长虹主要经营电子产品，而电子产品发展速度很快，产品更新换代也很快，过高的产品存货容易降低产品的市场价值，增加企业的经营风险。四川长虹的流动资产占总资产比例很高，</a:t>
                </a:r>
                <a:r>
                  <a:rPr lang="en-US" altLang="zh-CN" sz="900" dirty="0">
                    <a:latin typeface="微软雅黑" panose="020B0503020204020204" pitchFamily="34" charset="-122"/>
                    <a:ea typeface="微软雅黑" panose="020B0503020204020204" pitchFamily="34" charset="-122"/>
                    <a:sym typeface="+mn-ea"/>
                  </a:rPr>
                  <a:t>99</a:t>
                </a:r>
                <a:r>
                  <a:rPr lang="zh-CN" altLang="en-US" sz="900" dirty="0">
                    <a:latin typeface="微软雅黑" panose="020B0503020204020204" pitchFamily="34" charset="-122"/>
                    <a:ea typeface="微软雅黑" panose="020B0503020204020204" pitchFamily="34" charset="-122"/>
                    <a:sym typeface="+mn-ea"/>
                  </a:rPr>
                  <a:t>年比例为</a:t>
                </a:r>
                <a:r>
                  <a:rPr lang="en-US" altLang="zh-CN" sz="900" dirty="0">
                    <a:latin typeface="微软雅黑" panose="020B0503020204020204" pitchFamily="34" charset="-122"/>
                    <a:ea typeface="微软雅黑" panose="020B0503020204020204" pitchFamily="34" charset="-122"/>
                    <a:sym typeface="+mn-ea"/>
                  </a:rPr>
                  <a:t>83.59%</a:t>
                </a:r>
                <a:r>
                  <a:rPr lang="zh-CN" altLang="en-US" sz="900" dirty="0">
                    <a:latin typeface="微软雅黑" panose="020B0503020204020204" pitchFamily="34" charset="-122"/>
                    <a:ea typeface="微软雅黑" panose="020B0503020204020204" pitchFamily="34" charset="-122"/>
                    <a:sym typeface="+mn-ea"/>
                  </a:rPr>
                  <a:t>，</a:t>
                </a:r>
                <a:r>
                  <a:rPr lang="en-US" altLang="zh-CN" sz="900" dirty="0">
                    <a:latin typeface="微软雅黑" panose="020B0503020204020204" pitchFamily="34" charset="-122"/>
                    <a:ea typeface="微软雅黑" panose="020B0503020204020204" pitchFamily="34" charset="-122"/>
                    <a:sym typeface="+mn-ea"/>
                  </a:rPr>
                  <a:t>2017</a:t>
                </a:r>
                <a:r>
                  <a:rPr lang="zh-CN" altLang="en-US" sz="900" dirty="0">
                    <a:latin typeface="微软雅黑" panose="020B0503020204020204" pitchFamily="34" charset="-122"/>
                    <a:ea typeface="微软雅黑" panose="020B0503020204020204" pitchFamily="34" charset="-122"/>
                    <a:sym typeface="+mn-ea"/>
                  </a:rPr>
                  <a:t>年为</a:t>
                </a:r>
                <a:r>
                  <a:rPr lang="en-US" altLang="zh-CN" sz="900" dirty="0">
                    <a:latin typeface="微软雅黑" panose="020B0503020204020204" pitchFamily="34" charset="-122"/>
                    <a:ea typeface="微软雅黑" panose="020B0503020204020204" pitchFamily="34" charset="-122"/>
                    <a:sym typeface="+mn-ea"/>
                  </a:rPr>
                  <a:t>76.58%</a:t>
                </a:r>
                <a:r>
                  <a:rPr lang="zh-CN" altLang="en-US" sz="900" dirty="0">
                    <a:latin typeface="微软雅黑" panose="020B0503020204020204" pitchFamily="34" charset="-122"/>
                    <a:ea typeface="微软雅黑" panose="020B0503020204020204" pitchFamily="34" charset="-122"/>
                    <a:sym typeface="+mn-ea"/>
                  </a:rPr>
                  <a:t>，</a:t>
                </a:r>
                <a:r>
                  <a:rPr lang="en-US" altLang="zh-CN" sz="900" dirty="0">
                    <a:latin typeface="微软雅黑" panose="020B0503020204020204" pitchFamily="34" charset="-122"/>
                    <a:ea typeface="微软雅黑" panose="020B0503020204020204" pitchFamily="34" charset="-122"/>
                    <a:sym typeface="+mn-ea"/>
                  </a:rPr>
                  <a:t>2018</a:t>
                </a:r>
                <a:r>
                  <a:rPr lang="zh-CN" altLang="en-US" sz="900" dirty="0">
                    <a:latin typeface="微软雅黑" panose="020B0503020204020204" pitchFamily="34" charset="-122"/>
                    <a:ea typeface="微软雅黑" panose="020B0503020204020204" pitchFamily="34" charset="-122"/>
                    <a:sym typeface="+mn-ea"/>
                  </a:rPr>
                  <a:t>年为</a:t>
                </a:r>
                <a:r>
                  <a:rPr lang="en-US" altLang="zh-CN" sz="900" dirty="0">
                    <a:latin typeface="微软雅黑" panose="020B0503020204020204" pitchFamily="34" charset="-122"/>
                    <a:ea typeface="微软雅黑" panose="020B0503020204020204" pitchFamily="34" charset="-122"/>
                    <a:sym typeface="+mn-ea"/>
                  </a:rPr>
                  <a:t>80.77%</a:t>
                </a:r>
                <a:r>
                  <a:rPr lang="zh-CN" altLang="en-US" sz="900" dirty="0">
                    <a:latin typeface="微软雅黑" panose="020B0503020204020204" pitchFamily="34" charset="-122"/>
                    <a:ea typeface="微软雅黑" panose="020B0503020204020204" pitchFamily="34" charset="-122"/>
                    <a:sym typeface="+mn-ea"/>
                  </a:rPr>
                  <a:t>；而固定资产占总资产比例较低，</a:t>
                </a:r>
                <a:r>
                  <a:rPr lang="en-US" altLang="zh-CN" sz="900" dirty="0">
                    <a:latin typeface="微软雅黑" panose="020B0503020204020204" pitchFamily="34" charset="-122"/>
                    <a:ea typeface="微软雅黑" panose="020B0503020204020204" pitchFamily="34" charset="-122"/>
                    <a:sym typeface="+mn-ea"/>
                  </a:rPr>
                  <a:t>99</a:t>
                </a:r>
                <a:r>
                  <a:rPr lang="zh-CN" altLang="en-US" sz="900" dirty="0">
                    <a:latin typeface="微软雅黑" panose="020B0503020204020204" pitchFamily="34" charset="-122"/>
                    <a:ea typeface="微软雅黑" panose="020B0503020204020204" pitchFamily="34" charset="-122"/>
                    <a:sym typeface="+mn-ea"/>
                  </a:rPr>
                  <a:t>年比例为</a:t>
                </a:r>
                <a:r>
                  <a:rPr lang="en-US" altLang="zh-CN" sz="900" dirty="0">
                    <a:latin typeface="微软雅黑" panose="020B0503020204020204" pitchFamily="34" charset="-122"/>
                    <a:ea typeface="微软雅黑" panose="020B0503020204020204" pitchFamily="34" charset="-122"/>
                    <a:sym typeface="+mn-ea"/>
                  </a:rPr>
                  <a:t>14.05%</a:t>
                </a:r>
                <a:r>
                  <a:rPr lang="zh-CN" altLang="en-US" sz="900" dirty="0">
                    <a:latin typeface="微软雅黑" panose="020B0503020204020204" pitchFamily="34" charset="-122"/>
                    <a:ea typeface="微软雅黑" panose="020B0503020204020204" pitchFamily="34" charset="-122"/>
                    <a:sym typeface="+mn-ea"/>
                  </a:rPr>
                  <a:t>，</a:t>
                </a:r>
                <a:r>
                  <a:rPr lang="en-US" altLang="zh-CN" sz="900" dirty="0">
                    <a:latin typeface="微软雅黑" panose="020B0503020204020204" pitchFamily="34" charset="-122"/>
                    <a:ea typeface="微软雅黑" panose="020B0503020204020204" pitchFamily="34" charset="-122"/>
                    <a:sym typeface="+mn-ea"/>
                  </a:rPr>
                  <a:t>2017</a:t>
                </a:r>
                <a:r>
                  <a:rPr lang="zh-CN" altLang="en-US" sz="900" dirty="0">
                    <a:latin typeface="微软雅黑" panose="020B0503020204020204" pitchFamily="34" charset="-122"/>
                    <a:ea typeface="微软雅黑" panose="020B0503020204020204" pitchFamily="34" charset="-122"/>
                    <a:sym typeface="+mn-ea"/>
                  </a:rPr>
                  <a:t>年为</a:t>
                </a:r>
                <a:r>
                  <a:rPr lang="en-US" altLang="zh-CN" sz="900" dirty="0">
                    <a:latin typeface="微软雅黑" panose="020B0503020204020204" pitchFamily="34" charset="-122"/>
                    <a:ea typeface="微软雅黑" panose="020B0503020204020204" pitchFamily="34" charset="-122"/>
                    <a:sym typeface="+mn-ea"/>
                  </a:rPr>
                  <a:t>19.08%</a:t>
                </a:r>
                <a:r>
                  <a:rPr lang="zh-CN" altLang="en-US" sz="900" dirty="0">
                    <a:latin typeface="微软雅黑" panose="020B0503020204020204" pitchFamily="34" charset="-122"/>
                    <a:ea typeface="微软雅黑" panose="020B0503020204020204" pitchFamily="34" charset="-122"/>
                    <a:sym typeface="+mn-ea"/>
                  </a:rPr>
                  <a:t>，</a:t>
                </a:r>
                <a:r>
                  <a:rPr lang="en-US" altLang="zh-CN" sz="900" dirty="0">
                    <a:latin typeface="微软雅黑" panose="020B0503020204020204" pitchFamily="34" charset="-122"/>
                    <a:ea typeface="微软雅黑" panose="020B0503020204020204" pitchFamily="34" charset="-122"/>
                    <a:sym typeface="+mn-ea"/>
                  </a:rPr>
                  <a:t>2018</a:t>
                </a:r>
                <a:r>
                  <a:rPr lang="zh-CN" altLang="en-US" sz="900" dirty="0">
                    <a:latin typeface="微软雅黑" panose="020B0503020204020204" pitchFamily="34" charset="-122"/>
                    <a:ea typeface="微软雅黑" panose="020B0503020204020204" pitchFamily="34" charset="-122"/>
                    <a:sym typeface="+mn-ea"/>
                  </a:rPr>
                  <a:t>年为</a:t>
                </a:r>
                <a:r>
                  <a:rPr lang="en-US" altLang="zh-CN" sz="900" dirty="0">
                    <a:latin typeface="微软雅黑" panose="020B0503020204020204" pitchFamily="34" charset="-122"/>
                    <a:ea typeface="微软雅黑" panose="020B0503020204020204" pitchFamily="34" charset="-122"/>
                    <a:sym typeface="+mn-ea"/>
                  </a:rPr>
                  <a:t>15.67%</a:t>
                </a:r>
                <a:r>
                  <a:rPr lang="zh-CN" altLang="en-US" sz="900" dirty="0">
                    <a:latin typeface="微软雅黑" panose="020B0503020204020204" pitchFamily="34" charset="-122"/>
                    <a:ea typeface="微软雅黑" panose="020B0503020204020204" pitchFamily="34" charset="-122"/>
                    <a:sym typeface="+mn-ea"/>
                  </a:rPr>
                  <a:t>；表明企业的资金主要由流动资产占用，因而扩大销售，加快存货和应收款的周转速度显得尤为重要。</a:t>
                </a:r>
                <a:endParaRPr lang="zh-CN" altLang="en-US" sz="900" dirty="0">
                  <a:latin typeface="微软雅黑" panose="020B0503020204020204" pitchFamily="34" charset="-122"/>
                  <a:ea typeface="微软雅黑" panose="020B0503020204020204" pitchFamily="34" charset="-122"/>
                </a:endParaRPr>
              </a:p>
              <a:p>
                <a:pPr algn="just">
                  <a:lnSpc>
                    <a:spcPct val="150000"/>
                  </a:lnSpc>
                </a:pPr>
                <a:endParaRPr lang="en-US" altLang="zh-CN" sz="900" dirty="0">
                  <a:latin typeface="微软雅黑" panose="020B0503020204020204" pitchFamily="34" charset="-122"/>
                  <a:ea typeface="微软雅黑" panose="020B0503020204020204" pitchFamily="34" charset="-122"/>
                </a:endParaRPr>
              </a:p>
              <a:p>
                <a:pPr algn="just">
                  <a:lnSpc>
                    <a:spcPct val="150000"/>
                  </a:lnSpc>
                </a:pPr>
                <a:endParaRPr lang="en-GB" sz="9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53" name="文本框 52"/>
          <p:cNvSpPr txBox="1"/>
          <p:nvPr/>
        </p:nvSpPr>
        <p:spPr>
          <a:xfrm>
            <a:off x="1394460" y="5109210"/>
            <a:ext cx="9798685" cy="1383665"/>
          </a:xfrm>
          <a:prstGeom prst="rect">
            <a:avLst/>
          </a:prstGeom>
          <a:noFill/>
        </p:spPr>
        <p:txBody>
          <a:bodyPr wrap="square" rtlCol="0" anchor="t">
            <a:spAutoFit/>
          </a:bodyPr>
          <a:lstStyle/>
          <a:p>
            <a:pPr marL="285750" indent="-285750" algn="just">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长虹的短期负债占比</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99</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年和</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年为不到</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22%</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年为</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27.7%</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，增加的幅度较快，但比例还是相对较低，长期负债所占比例也很低。表明资产的结构比较安全。</a:t>
            </a:r>
          </a:p>
          <a:p>
            <a:pPr marL="285750" indent="-285750" algn="just">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从利润结构表分析，主营业务成本占主营业务收入比例呈上升趋势，导致主营业务利润所占比例逐年下降，而且销售费用和管理费用又逐年增加，所以净利润逐年下降！</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52"/>
                                        </p:tgtEl>
                                        <p:attrNameLst>
                                          <p:attrName>style.visibility</p:attrName>
                                        </p:attrNameLst>
                                      </p:cBhvr>
                                      <p:to>
                                        <p:strVal val="visible"/>
                                      </p:to>
                                    </p:set>
                                    <p:anim calcmode="lin" valueType="num">
                                      <p:cBhvr>
                                        <p:cTn id="21" dur="500" fill="hold"/>
                                        <p:tgtEl>
                                          <p:spTgt spid="52"/>
                                        </p:tgtEl>
                                        <p:attrNameLst>
                                          <p:attrName>ppt_w</p:attrName>
                                        </p:attrNameLst>
                                      </p:cBhvr>
                                      <p:tavLst>
                                        <p:tav tm="0">
                                          <p:val>
                                            <p:fltVal val="0"/>
                                          </p:val>
                                        </p:tav>
                                        <p:tav tm="100000">
                                          <p:val>
                                            <p:strVal val="#ppt_w"/>
                                          </p:val>
                                        </p:tav>
                                      </p:tavLst>
                                    </p:anim>
                                    <p:anim calcmode="lin" valueType="num">
                                      <p:cBhvr>
                                        <p:cTn id="22" dur="500" fill="hold"/>
                                        <p:tgtEl>
                                          <p:spTgt spid="52"/>
                                        </p:tgtEl>
                                        <p:attrNameLst>
                                          <p:attrName>ppt_h</p:attrName>
                                        </p:attrNameLst>
                                      </p:cBhvr>
                                      <p:tavLst>
                                        <p:tav tm="0">
                                          <p:val>
                                            <p:fltVal val="0"/>
                                          </p:val>
                                        </p:tav>
                                        <p:tav tm="100000">
                                          <p:val>
                                            <p:strVal val="#ppt_h"/>
                                          </p:val>
                                        </p:tav>
                                      </p:tavLst>
                                    </p:anim>
                                    <p:animEffect transition="in" filter="fade">
                                      <p:cBhvr>
                                        <p:cTn id="23" dur="500"/>
                                        <p:tgtEl>
                                          <p:spTgt spid="52"/>
                                        </p:tgtEl>
                                      </p:cBhvr>
                                    </p:animEffect>
                                  </p:childTnLst>
                                </p:cTn>
                              </p:par>
                            </p:childTnLst>
                          </p:cTn>
                        </p:par>
                        <p:par>
                          <p:cTn id="24" fill="hold">
                            <p:stCondLst>
                              <p:cond delay="2000"/>
                            </p:stCondLst>
                            <p:childTnLst>
                              <p:par>
                                <p:cTn id="25" presetID="19" presetClass="entr" presetSubtype="10" fill="hold" grpId="0" nodeType="afterEffect">
                                  <p:stCondLst>
                                    <p:cond delay="0"/>
                                  </p:stCondLst>
                                  <p:childTnLst>
                                    <p:set>
                                      <p:cBhvr>
                                        <p:cTn id="26" dur="1" fill="hold">
                                          <p:stCondLst>
                                            <p:cond delay="0"/>
                                          </p:stCondLst>
                                        </p:cTn>
                                        <p:tgtEl>
                                          <p:spTgt spid="53"/>
                                        </p:tgtEl>
                                        <p:attrNameLst>
                                          <p:attrName>style.visibility</p:attrName>
                                        </p:attrNameLst>
                                      </p:cBhvr>
                                      <p:to>
                                        <p:strVal val="visible"/>
                                      </p:to>
                                    </p:set>
                                    <p:anim calcmode="lin" valueType="num">
                                      <p:cBhvr>
                                        <p:cTn id="27" dur="5000" fill="hold"/>
                                        <p:tgtEl>
                                          <p:spTgt spid="53"/>
                                        </p:tgtEl>
                                        <p:attrNameLst>
                                          <p:attrName>ppt_w</p:attrName>
                                        </p:attrNameLst>
                                      </p:cBhvr>
                                      <p:tavLst>
                                        <p:tav tm="0" fmla="#ppt_w*sin(2.5*pi*$)">
                                          <p:val>
                                            <p:fltVal val="0"/>
                                          </p:val>
                                        </p:tav>
                                        <p:tav tm="100000">
                                          <p:val>
                                            <p:fltVal val="1"/>
                                          </p:val>
                                        </p:tav>
                                      </p:tavLst>
                                    </p:anim>
                                    <p:anim calcmode="lin" valueType="num">
                                      <p:cBhvr>
                                        <p:cTn id="28" dur="5000" fill="hold"/>
                                        <p:tgtEl>
                                          <p:spTgt spid="5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1336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定基百分比分析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5" name="组合 54"/>
          <p:cNvGrpSpPr/>
          <p:nvPr/>
        </p:nvGrpSpPr>
        <p:grpSpPr>
          <a:xfrm>
            <a:off x="407972" y="1187436"/>
            <a:ext cx="11453384" cy="5197489"/>
            <a:chOff x="1469" y="1777"/>
            <a:chExt cx="11755" cy="5334"/>
          </a:xfrm>
        </p:grpSpPr>
        <p:grpSp>
          <p:nvGrpSpPr>
            <p:cNvPr id="7" name="组合 6"/>
            <p:cNvGrpSpPr/>
            <p:nvPr/>
          </p:nvGrpSpPr>
          <p:grpSpPr>
            <a:xfrm>
              <a:off x="2133" y="2321"/>
              <a:ext cx="4780" cy="4462"/>
              <a:chOff x="1356184" y="1198174"/>
              <a:chExt cx="3035238" cy="2833237"/>
            </a:xfrm>
            <a:solidFill>
              <a:srgbClr val="414455"/>
            </a:solidFill>
          </p:grpSpPr>
          <p:grpSp>
            <p:nvGrpSpPr>
              <p:cNvPr id="8" name="组合 7"/>
              <p:cNvGrpSpPr/>
              <p:nvPr/>
            </p:nvGrpSpPr>
            <p:grpSpPr>
              <a:xfrm>
                <a:off x="1356184" y="1198174"/>
                <a:ext cx="3035238" cy="2833237"/>
                <a:chOff x="1356184" y="1198174"/>
                <a:chExt cx="3035238" cy="2833237"/>
              </a:xfrm>
              <a:grpFill/>
            </p:grpSpPr>
            <p:grpSp>
              <p:nvGrpSpPr>
                <p:cNvPr id="11" name="组合 10"/>
                <p:cNvGrpSpPr/>
                <p:nvPr/>
              </p:nvGrpSpPr>
              <p:grpSpPr>
                <a:xfrm>
                  <a:off x="1356184" y="2251948"/>
                  <a:ext cx="2361706" cy="1779463"/>
                  <a:chOff x="1356184" y="2251948"/>
                  <a:chExt cx="2361706" cy="1779463"/>
                </a:xfrm>
                <a:grpFill/>
              </p:grpSpPr>
              <p:sp>
                <p:nvSpPr>
                  <p:cNvPr id="12" name="Freeform 5"/>
                  <p:cNvSpPr>
                    <a:spLocks noEditPoints="1"/>
                  </p:cNvSpPr>
                  <p:nvPr/>
                </p:nvSpPr>
                <p:spPr bwMode="auto">
                  <a:xfrm>
                    <a:off x="1356184" y="2251948"/>
                    <a:ext cx="1464389" cy="895164"/>
                  </a:xfrm>
                  <a:custGeom>
                    <a:avLst/>
                    <a:gdLst>
                      <a:gd name="T0" fmla="*/ 1069975 w 674"/>
                      <a:gd name="T1" fmla="*/ 654050 h 412"/>
                      <a:gd name="T2" fmla="*/ 1065213 w 674"/>
                      <a:gd name="T3" fmla="*/ 652463 h 412"/>
                      <a:gd name="T4" fmla="*/ 0 w 674"/>
                      <a:gd name="T5" fmla="*/ 522288 h 412"/>
                      <a:gd name="T6" fmla="*/ 4763 w 674"/>
                      <a:gd name="T7" fmla="*/ 519113 h 412"/>
                      <a:gd name="T8" fmla="*/ 641350 w 674"/>
                      <a:gd name="T9" fmla="*/ 0 h 412"/>
                      <a:gd name="T10" fmla="*/ 1069975 w 674"/>
                      <a:gd name="T11" fmla="*/ 654050 h 412"/>
                      <a:gd name="T12" fmla="*/ 7938 w 674"/>
                      <a:gd name="T13" fmla="*/ 519113 h 412"/>
                      <a:gd name="T14" fmla="*/ 1062038 w 674"/>
                      <a:gd name="T15" fmla="*/ 649288 h 412"/>
                      <a:gd name="T16" fmla="*/ 641350 w 674"/>
                      <a:gd name="T17" fmla="*/ 6350 h 412"/>
                      <a:gd name="T18" fmla="*/ 7938 w 674"/>
                      <a:gd name="T19" fmla="*/ 519113 h 4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74" h="412">
                        <a:moveTo>
                          <a:pt x="674" y="412"/>
                        </a:moveTo>
                        <a:lnTo>
                          <a:pt x="671" y="411"/>
                        </a:lnTo>
                        <a:lnTo>
                          <a:pt x="0" y="329"/>
                        </a:lnTo>
                        <a:lnTo>
                          <a:pt x="3" y="327"/>
                        </a:lnTo>
                        <a:lnTo>
                          <a:pt x="404" y="0"/>
                        </a:lnTo>
                        <a:lnTo>
                          <a:pt x="674" y="412"/>
                        </a:lnTo>
                        <a:close/>
                        <a:moveTo>
                          <a:pt x="5" y="327"/>
                        </a:moveTo>
                        <a:lnTo>
                          <a:pt x="669" y="409"/>
                        </a:lnTo>
                        <a:lnTo>
                          <a:pt x="404" y="4"/>
                        </a:lnTo>
                        <a:lnTo>
                          <a:pt x="5" y="327"/>
                        </a:lnTo>
                        <a:close/>
                      </a:path>
                    </a:pathLst>
                  </a:custGeom>
                  <a:grpFill/>
                  <a:ln w="3175">
                    <a:noFill/>
                    <a:round/>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3" name="Freeform 6"/>
                  <p:cNvSpPr/>
                  <p:nvPr/>
                </p:nvSpPr>
                <p:spPr bwMode="auto">
                  <a:xfrm>
                    <a:off x="1360529" y="2962429"/>
                    <a:ext cx="827793" cy="929927"/>
                  </a:xfrm>
                  <a:custGeom>
                    <a:avLst/>
                    <a:gdLst>
                      <a:gd name="T0" fmla="*/ 601663 w 381"/>
                      <a:gd name="T1" fmla="*/ 679450 h 428"/>
                      <a:gd name="T2" fmla="*/ 0 w 381"/>
                      <a:gd name="T3" fmla="*/ 3175 h 428"/>
                      <a:gd name="T4" fmla="*/ 1588 w 381"/>
                      <a:gd name="T5" fmla="*/ 0 h 428"/>
                      <a:gd name="T6" fmla="*/ 604838 w 381"/>
                      <a:gd name="T7" fmla="*/ 677863 h 428"/>
                      <a:gd name="T8" fmla="*/ 601663 w 381"/>
                      <a:gd name="T9" fmla="*/ 679450 h 4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1" h="428">
                        <a:moveTo>
                          <a:pt x="379" y="428"/>
                        </a:moveTo>
                        <a:lnTo>
                          <a:pt x="0" y="2"/>
                        </a:lnTo>
                        <a:lnTo>
                          <a:pt x="1" y="0"/>
                        </a:lnTo>
                        <a:lnTo>
                          <a:pt x="381" y="427"/>
                        </a:lnTo>
                        <a:lnTo>
                          <a:pt x="379" y="428"/>
                        </a:lnTo>
                        <a:close/>
                      </a:path>
                    </a:pathLst>
                  </a:custGeom>
                  <a:grpFill/>
                  <a:ln w="3175">
                    <a:noFill/>
                    <a:round/>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5" name="Freeform 7"/>
                  <p:cNvSpPr>
                    <a:spLocks noEditPoints="1"/>
                  </p:cNvSpPr>
                  <p:nvPr/>
                </p:nvSpPr>
                <p:spPr bwMode="auto">
                  <a:xfrm>
                    <a:off x="2179630" y="3138420"/>
                    <a:ext cx="1538260" cy="892991"/>
                  </a:xfrm>
                  <a:custGeom>
                    <a:avLst/>
                    <a:gdLst>
                      <a:gd name="T0" fmla="*/ 1123950 w 708"/>
                      <a:gd name="T1" fmla="*/ 652463 h 411"/>
                      <a:gd name="T2" fmla="*/ 0 w 708"/>
                      <a:gd name="T3" fmla="*/ 552450 h 411"/>
                      <a:gd name="T4" fmla="*/ 463550 w 708"/>
                      <a:gd name="T5" fmla="*/ 0 h 411"/>
                      <a:gd name="T6" fmla="*/ 465138 w 708"/>
                      <a:gd name="T7" fmla="*/ 1588 h 411"/>
                      <a:gd name="T8" fmla="*/ 1123950 w 708"/>
                      <a:gd name="T9" fmla="*/ 652463 h 411"/>
                      <a:gd name="T10" fmla="*/ 7938 w 708"/>
                      <a:gd name="T11" fmla="*/ 547688 h 411"/>
                      <a:gd name="T12" fmla="*/ 1112838 w 708"/>
                      <a:gd name="T13" fmla="*/ 649288 h 411"/>
                      <a:gd name="T14" fmla="*/ 463550 w 708"/>
                      <a:gd name="T15" fmla="*/ 6350 h 411"/>
                      <a:gd name="T16" fmla="*/ 7938 w 708"/>
                      <a:gd name="T17" fmla="*/ 547688 h 4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08" h="411">
                        <a:moveTo>
                          <a:pt x="708" y="411"/>
                        </a:moveTo>
                        <a:lnTo>
                          <a:pt x="0" y="348"/>
                        </a:lnTo>
                        <a:lnTo>
                          <a:pt x="292" y="0"/>
                        </a:lnTo>
                        <a:lnTo>
                          <a:pt x="293" y="1"/>
                        </a:lnTo>
                        <a:lnTo>
                          <a:pt x="708" y="411"/>
                        </a:lnTo>
                        <a:close/>
                        <a:moveTo>
                          <a:pt x="5" y="345"/>
                        </a:moveTo>
                        <a:lnTo>
                          <a:pt x="701" y="409"/>
                        </a:lnTo>
                        <a:lnTo>
                          <a:pt x="292" y="4"/>
                        </a:lnTo>
                        <a:lnTo>
                          <a:pt x="5" y="345"/>
                        </a:lnTo>
                        <a:close/>
                      </a:path>
                    </a:pathLst>
                  </a:custGeom>
                  <a:grpFill/>
                  <a:ln w="3175">
                    <a:noFill/>
                    <a:round/>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16" name="组合 15"/>
                <p:cNvGrpSpPr/>
                <p:nvPr/>
              </p:nvGrpSpPr>
              <p:grpSpPr>
                <a:xfrm>
                  <a:off x="2231774" y="1198174"/>
                  <a:ext cx="2159648" cy="1948937"/>
                  <a:chOff x="2231774" y="1198174"/>
                  <a:chExt cx="2159648" cy="1948937"/>
                </a:xfrm>
                <a:grpFill/>
              </p:grpSpPr>
              <p:sp>
                <p:nvSpPr>
                  <p:cNvPr id="17" name="Freeform 8"/>
                  <p:cNvSpPr>
                    <a:spLocks noEditPoints="1"/>
                  </p:cNvSpPr>
                  <p:nvPr/>
                </p:nvSpPr>
                <p:spPr bwMode="auto">
                  <a:xfrm>
                    <a:off x="2853162" y="1232938"/>
                    <a:ext cx="1538260" cy="1914173"/>
                  </a:xfrm>
                  <a:custGeom>
                    <a:avLst/>
                    <a:gdLst>
                      <a:gd name="T0" fmla="*/ 0 w 708"/>
                      <a:gd name="T1" fmla="*/ 1398588 h 881"/>
                      <a:gd name="T2" fmla="*/ 176213 w 708"/>
                      <a:gd name="T3" fmla="*/ 0 h 881"/>
                      <a:gd name="T4" fmla="*/ 179388 w 708"/>
                      <a:gd name="T5" fmla="*/ 4763 h 881"/>
                      <a:gd name="T6" fmla="*/ 1123950 w 708"/>
                      <a:gd name="T7" fmla="*/ 1160463 h 881"/>
                      <a:gd name="T8" fmla="*/ 1120775 w 708"/>
                      <a:gd name="T9" fmla="*/ 1162050 h 881"/>
                      <a:gd name="T10" fmla="*/ 0 w 708"/>
                      <a:gd name="T11" fmla="*/ 1398588 h 881"/>
                      <a:gd name="T12" fmla="*/ 179388 w 708"/>
                      <a:gd name="T13" fmla="*/ 11113 h 881"/>
                      <a:gd name="T14" fmla="*/ 4763 w 708"/>
                      <a:gd name="T15" fmla="*/ 1393825 h 881"/>
                      <a:gd name="T16" fmla="*/ 1117600 w 708"/>
                      <a:gd name="T17" fmla="*/ 1157288 h 881"/>
                      <a:gd name="T18" fmla="*/ 179388 w 708"/>
                      <a:gd name="T19" fmla="*/ 11113 h 8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08" h="881">
                        <a:moveTo>
                          <a:pt x="0" y="881"/>
                        </a:moveTo>
                        <a:lnTo>
                          <a:pt x="111" y="0"/>
                        </a:lnTo>
                        <a:lnTo>
                          <a:pt x="113" y="3"/>
                        </a:lnTo>
                        <a:lnTo>
                          <a:pt x="708" y="731"/>
                        </a:lnTo>
                        <a:lnTo>
                          <a:pt x="706" y="732"/>
                        </a:lnTo>
                        <a:lnTo>
                          <a:pt x="0" y="881"/>
                        </a:lnTo>
                        <a:close/>
                        <a:moveTo>
                          <a:pt x="113" y="7"/>
                        </a:moveTo>
                        <a:lnTo>
                          <a:pt x="3" y="878"/>
                        </a:lnTo>
                        <a:lnTo>
                          <a:pt x="704" y="729"/>
                        </a:lnTo>
                        <a:lnTo>
                          <a:pt x="113" y="7"/>
                        </a:lnTo>
                        <a:close/>
                      </a:path>
                    </a:pathLst>
                  </a:custGeom>
                  <a:grpFill/>
                  <a:ln w="3175">
                    <a:noFill/>
                    <a:round/>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18" name="Freeform 9"/>
                  <p:cNvSpPr/>
                  <p:nvPr/>
                </p:nvSpPr>
                <p:spPr bwMode="auto">
                  <a:xfrm>
                    <a:off x="2231774" y="1198174"/>
                    <a:ext cx="923391" cy="1060291"/>
                  </a:xfrm>
                  <a:custGeom>
                    <a:avLst/>
                    <a:gdLst>
                      <a:gd name="T0" fmla="*/ 3175 w 425"/>
                      <a:gd name="T1" fmla="*/ 774700 h 488"/>
                      <a:gd name="T2" fmla="*/ 0 w 425"/>
                      <a:gd name="T3" fmla="*/ 771525 h 488"/>
                      <a:gd name="T4" fmla="*/ 673100 w 425"/>
                      <a:gd name="T5" fmla="*/ 0 h 488"/>
                      <a:gd name="T6" fmla="*/ 674688 w 425"/>
                      <a:gd name="T7" fmla="*/ 1588 h 488"/>
                      <a:gd name="T8" fmla="*/ 3175 w 425"/>
                      <a:gd name="T9" fmla="*/ 774700 h 4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5" h="488">
                        <a:moveTo>
                          <a:pt x="2" y="488"/>
                        </a:moveTo>
                        <a:lnTo>
                          <a:pt x="0" y="486"/>
                        </a:lnTo>
                        <a:lnTo>
                          <a:pt x="424" y="0"/>
                        </a:lnTo>
                        <a:lnTo>
                          <a:pt x="425" y="1"/>
                        </a:lnTo>
                        <a:lnTo>
                          <a:pt x="2" y="488"/>
                        </a:lnTo>
                        <a:close/>
                      </a:path>
                    </a:pathLst>
                  </a:custGeom>
                  <a:grpFill/>
                  <a:ln w="3175">
                    <a:noFill/>
                    <a:round/>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sp>
            <p:nvSpPr>
              <p:cNvPr id="19" name="Freeform 10"/>
              <p:cNvSpPr/>
              <p:nvPr/>
            </p:nvSpPr>
            <p:spPr bwMode="auto">
              <a:xfrm>
                <a:off x="3707027" y="2819029"/>
                <a:ext cx="682223" cy="1210210"/>
              </a:xfrm>
              <a:custGeom>
                <a:avLst/>
                <a:gdLst>
                  <a:gd name="T0" fmla="*/ 3175 w 314"/>
                  <a:gd name="T1" fmla="*/ 884238 h 557"/>
                  <a:gd name="T2" fmla="*/ 0 w 314"/>
                  <a:gd name="T3" fmla="*/ 884238 h 557"/>
                  <a:gd name="T4" fmla="*/ 495300 w 314"/>
                  <a:gd name="T5" fmla="*/ 0 h 557"/>
                  <a:gd name="T6" fmla="*/ 498475 w 314"/>
                  <a:gd name="T7" fmla="*/ 1588 h 557"/>
                  <a:gd name="T8" fmla="*/ 3175 w 314"/>
                  <a:gd name="T9" fmla="*/ 884238 h 5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4" h="557">
                    <a:moveTo>
                      <a:pt x="2" y="557"/>
                    </a:moveTo>
                    <a:lnTo>
                      <a:pt x="0" y="557"/>
                    </a:lnTo>
                    <a:lnTo>
                      <a:pt x="312" y="0"/>
                    </a:lnTo>
                    <a:lnTo>
                      <a:pt x="314" y="1"/>
                    </a:lnTo>
                    <a:lnTo>
                      <a:pt x="2" y="557"/>
                    </a:lnTo>
                    <a:close/>
                  </a:path>
                </a:pathLst>
              </a:custGeom>
              <a:grpFill/>
              <a:ln w="3175">
                <a:noFill/>
                <a:round/>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20" name="Oval 951"/>
            <p:cNvSpPr>
              <a:spLocks noChangeArrowheads="1"/>
            </p:cNvSpPr>
            <p:nvPr/>
          </p:nvSpPr>
          <p:spPr bwMode="auto">
            <a:xfrm>
              <a:off x="3515" y="4573"/>
              <a:ext cx="1653" cy="1646"/>
            </a:xfrm>
            <a:prstGeom prst="ellipse">
              <a:avLst/>
            </a:prstGeom>
            <a:solidFill>
              <a:schemeClr val="accent1"/>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1" name="Oval 952"/>
            <p:cNvSpPr>
              <a:spLocks noChangeArrowheads="1"/>
            </p:cNvSpPr>
            <p:nvPr/>
          </p:nvSpPr>
          <p:spPr bwMode="auto">
            <a:xfrm>
              <a:off x="1469" y="4405"/>
              <a:ext cx="1221" cy="1222"/>
            </a:xfrm>
            <a:prstGeom prst="ellipse">
              <a:avLst/>
            </a:prstGeom>
            <a:solidFill>
              <a:srgbClr val="A5A5A5"/>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2" name="Oval 953"/>
            <p:cNvSpPr>
              <a:spLocks noChangeArrowheads="1"/>
            </p:cNvSpPr>
            <p:nvPr/>
          </p:nvSpPr>
          <p:spPr bwMode="auto">
            <a:xfrm>
              <a:off x="5356" y="6373"/>
              <a:ext cx="739" cy="739"/>
            </a:xfrm>
            <a:prstGeom prst="ellipse">
              <a:avLst/>
            </a:prstGeom>
            <a:solidFill>
              <a:srgbClr val="CE3418"/>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4" name="Oval 954"/>
            <p:cNvSpPr>
              <a:spLocks noChangeArrowheads="1"/>
            </p:cNvSpPr>
            <p:nvPr/>
          </p:nvSpPr>
          <p:spPr bwMode="auto">
            <a:xfrm>
              <a:off x="4124" y="1777"/>
              <a:ext cx="1451" cy="1447"/>
            </a:xfrm>
            <a:prstGeom prst="ellipse">
              <a:avLst/>
            </a:prstGeom>
            <a:solidFill>
              <a:srgbClr val="A5A5A5"/>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5" name="Oval 955"/>
            <p:cNvSpPr>
              <a:spLocks noChangeArrowheads="1"/>
            </p:cNvSpPr>
            <p:nvPr/>
          </p:nvSpPr>
          <p:spPr bwMode="auto">
            <a:xfrm>
              <a:off x="3235" y="6359"/>
              <a:ext cx="407" cy="411"/>
            </a:xfrm>
            <a:prstGeom prst="ellipse">
              <a:avLst/>
            </a:prstGeom>
            <a:solidFill>
              <a:srgbClr val="5B9BD5"/>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6" name="Oval 956"/>
            <p:cNvSpPr>
              <a:spLocks noChangeArrowheads="1"/>
            </p:cNvSpPr>
            <p:nvPr/>
          </p:nvSpPr>
          <p:spPr bwMode="auto">
            <a:xfrm>
              <a:off x="6082" y="4128"/>
              <a:ext cx="1447" cy="1444"/>
            </a:xfrm>
            <a:prstGeom prst="ellipse">
              <a:avLst/>
            </a:prstGeom>
            <a:solidFill>
              <a:srgbClr val="CE3418"/>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7" name="Oval 957"/>
            <p:cNvSpPr>
              <a:spLocks noChangeArrowheads="1"/>
            </p:cNvSpPr>
            <p:nvPr/>
          </p:nvSpPr>
          <p:spPr bwMode="auto">
            <a:xfrm>
              <a:off x="3187" y="3659"/>
              <a:ext cx="657" cy="657"/>
            </a:xfrm>
            <a:prstGeom prst="ellipse">
              <a:avLst/>
            </a:prstGeom>
            <a:solidFill>
              <a:srgbClr val="CE3418"/>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8" name="Oval 952"/>
            <p:cNvSpPr>
              <a:spLocks noChangeArrowheads="1"/>
            </p:cNvSpPr>
            <p:nvPr/>
          </p:nvSpPr>
          <p:spPr bwMode="auto">
            <a:xfrm>
              <a:off x="8211" y="2067"/>
              <a:ext cx="440" cy="440"/>
            </a:xfrm>
            <a:prstGeom prst="ellipse">
              <a:avLst/>
            </a:prstGeom>
            <a:solidFill>
              <a:schemeClr val="accent1"/>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1" name="Oval 952"/>
            <p:cNvSpPr>
              <a:spLocks noChangeArrowheads="1"/>
            </p:cNvSpPr>
            <p:nvPr/>
          </p:nvSpPr>
          <p:spPr bwMode="auto">
            <a:xfrm>
              <a:off x="8211" y="3978"/>
              <a:ext cx="440" cy="440"/>
            </a:xfrm>
            <a:prstGeom prst="ellipse">
              <a:avLst/>
            </a:prstGeom>
            <a:solidFill>
              <a:srgbClr val="CE3418"/>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4" name="TextBox 974"/>
            <p:cNvSpPr txBox="1">
              <a:spLocks noChangeArrowheads="1"/>
            </p:cNvSpPr>
            <p:nvPr/>
          </p:nvSpPr>
          <p:spPr bwMode="auto">
            <a:xfrm>
              <a:off x="4124" y="2296"/>
              <a:ext cx="1427"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704975" algn="l"/>
                  <a:tab pos="3314700" algn="l"/>
                  <a:tab pos="4752975" algn="l"/>
                  <a:tab pos="6372225" algn="l"/>
                </a:tabLst>
                <a:defRPr>
                  <a:solidFill>
                    <a:schemeClr val="tx1"/>
                  </a:solidFill>
                  <a:latin typeface="Calibri" panose="020F0502020204030204" pitchFamily="34" charset="0"/>
                </a:defRPr>
              </a:lvl1pPr>
              <a:lvl2pPr marL="742950" indent="-285750">
                <a:tabLst>
                  <a:tab pos="1704975" algn="l"/>
                  <a:tab pos="3314700" algn="l"/>
                  <a:tab pos="4752975" algn="l"/>
                  <a:tab pos="6372225" algn="l"/>
                </a:tabLst>
                <a:defRPr>
                  <a:solidFill>
                    <a:schemeClr val="tx1"/>
                  </a:solidFill>
                  <a:latin typeface="Calibri" panose="020F0502020204030204" pitchFamily="34" charset="0"/>
                </a:defRPr>
              </a:lvl2pPr>
              <a:lvl3pPr marL="1143000" indent="-228600">
                <a:tabLst>
                  <a:tab pos="1704975" algn="l"/>
                  <a:tab pos="3314700" algn="l"/>
                  <a:tab pos="4752975" algn="l"/>
                  <a:tab pos="6372225" algn="l"/>
                </a:tabLst>
                <a:defRPr>
                  <a:solidFill>
                    <a:schemeClr val="tx1"/>
                  </a:solidFill>
                  <a:latin typeface="Calibri" panose="020F0502020204030204" pitchFamily="34" charset="0"/>
                </a:defRPr>
              </a:lvl3pPr>
              <a:lvl4pPr marL="1600200" indent="-228600">
                <a:tabLst>
                  <a:tab pos="1704975" algn="l"/>
                  <a:tab pos="3314700" algn="l"/>
                  <a:tab pos="4752975" algn="l"/>
                  <a:tab pos="6372225" algn="l"/>
                </a:tabLst>
                <a:defRPr>
                  <a:solidFill>
                    <a:schemeClr val="tx1"/>
                  </a:solidFill>
                  <a:latin typeface="Calibri" panose="020F0502020204030204" pitchFamily="34" charset="0"/>
                </a:defRPr>
              </a:lvl4pPr>
              <a:lvl5pPr marL="2057400" indent="-228600">
                <a:tabLst>
                  <a:tab pos="1704975" algn="l"/>
                  <a:tab pos="3314700" algn="l"/>
                  <a:tab pos="4752975" algn="l"/>
                  <a:tab pos="6372225" algn="l"/>
                </a:tabLst>
                <a:defRPr>
                  <a:solidFill>
                    <a:schemeClr val="tx1"/>
                  </a:solidFill>
                  <a:latin typeface="Calibri" panose="020F0502020204030204" pitchFamily="34" charset="0"/>
                </a:defRPr>
              </a:lvl5pPr>
              <a:lvl6pPr marL="25146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6pPr>
              <a:lvl7pPr marL="29718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7pPr>
              <a:lvl8pPr marL="34290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8pPr>
              <a:lvl9pPr marL="38862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9pPr>
            </a:lstStyle>
            <a:p>
              <a:pPr marL="0" marR="0" lvl="0" indent="0" algn="ctr" defTabSz="815975" rtl="0" eaLnBrk="1" fontAlgn="auto" latinLnBrk="0" hangingPunct="1">
                <a:lnSpc>
                  <a:spcPct val="100000"/>
                </a:lnSpc>
                <a:spcBef>
                  <a:spcPts val="0"/>
                </a:spcBef>
                <a:spcAft>
                  <a:spcPts val="0"/>
                </a:spcAft>
                <a:buClrTx/>
                <a:buSzTx/>
                <a:buFontTx/>
                <a:buNone/>
                <a:tabLst>
                  <a:tab pos="1704975" algn="l"/>
                  <a:tab pos="3314700" algn="l"/>
                  <a:tab pos="4752975" algn="l"/>
                  <a:tab pos="6372225" algn="l"/>
                </a:tabLst>
                <a:defRPr/>
              </a:pPr>
              <a:r>
                <a:rPr kumimoji="0" 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Roboto Condensed" pitchFamily="2" charset="0"/>
                </a:rPr>
                <a:t>2014</a:t>
              </a:r>
              <a:endParaRPr kumimoji="0" lang="bg-BG"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Roboto Condensed" pitchFamily="2" charset="0"/>
              </a:endParaRPr>
            </a:p>
          </p:txBody>
        </p:sp>
        <p:sp>
          <p:nvSpPr>
            <p:cNvPr id="35" name="TextBox 975"/>
            <p:cNvSpPr txBox="1">
              <a:spLocks noChangeArrowheads="1"/>
            </p:cNvSpPr>
            <p:nvPr/>
          </p:nvSpPr>
          <p:spPr bwMode="auto">
            <a:xfrm>
              <a:off x="6134" y="4535"/>
              <a:ext cx="1433"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704975" algn="l"/>
                  <a:tab pos="3314700" algn="l"/>
                  <a:tab pos="4752975" algn="l"/>
                  <a:tab pos="6372225" algn="l"/>
                </a:tabLst>
                <a:defRPr>
                  <a:solidFill>
                    <a:schemeClr val="tx1"/>
                  </a:solidFill>
                  <a:latin typeface="Calibri" panose="020F0502020204030204" pitchFamily="34" charset="0"/>
                </a:defRPr>
              </a:lvl1pPr>
              <a:lvl2pPr marL="742950" indent="-285750">
                <a:tabLst>
                  <a:tab pos="1704975" algn="l"/>
                  <a:tab pos="3314700" algn="l"/>
                  <a:tab pos="4752975" algn="l"/>
                  <a:tab pos="6372225" algn="l"/>
                </a:tabLst>
                <a:defRPr>
                  <a:solidFill>
                    <a:schemeClr val="tx1"/>
                  </a:solidFill>
                  <a:latin typeface="Calibri" panose="020F0502020204030204" pitchFamily="34" charset="0"/>
                </a:defRPr>
              </a:lvl2pPr>
              <a:lvl3pPr marL="1143000" indent="-228600">
                <a:tabLst>
                  <a:tab pos="1704975" algn="l"/>
                  <a:tab pos="3314700" algn="l"/>
                  <a:tab pos="4752975" algn="l"/>
                  <a:tab pos="6372225" algn="l"/>
                </a:tabLst>
                <a:defRPr>
                  <a:solidFill>
                    <a:schemeClr val="tx1"/>
                  </a:solidFill>
                  <a:latin typeface="Calibri" panose="020F0502020204030204" pitchFamily="34" charset="0"/>
                </a:defRPr>
              </a:lvl3pPr>
              <a:lvl4pPr marL="1600200" indent="-228600">
                <a:tabLst>
                  <a:tab pos="1704975" algn="l"/>
                  <a:tab pos="3314700" algn="l"/>
                  <a:tab pos="4752975" algn="l"/>
                  <a:tab pos="6372225" algn="l"/>
                </a:tabLst>
                <a:defRPr>
                  <a:solidFill>
                    <a:schemeClr val="tx1"/>
                  </a:solidFill>
                  <a:latin typeface="Calibri" panose="020F0502020204030204" pitchFamily="34" charset="0"/>
                </a:defRPr>
              </a:lvl4pPr>
              <a:lvl5pPr marL="2057400" indent="-228600">
                <a:tabLst>
                  <a:tab pos="1704975" algn="l"/>
                  <a:tab pos="3314700" algn="l"/>
                  <a:tab pos="4752975" algn="l"/>
                  <a:tab pos="6372225" algn="l"/>
                </a:tabLst>
                <a:defRPr>
                  <a:solidFill>
                    <a:schemeClr val="tx1"/>
                  </a:solidFill>
                  <a:latin typeface="Calibri" panose="020F0502020204030204" pitchFamily="34" charset="0"/>
                </a:defRPr>
              </a:lvl5pPr>
              <a:lvl6pPr marL="25146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6pPr>
              <a:lvl7pPr marL="29718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7pPr>
              <a:lvl8pPr marL="34290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8pPr>
              <a:lvl9pPr marL="38862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9pPr>
            </a:lstStyle>
            <a:p>
              <a:pPr marL="0" marR="0" lvl="0" indent="0" algn="ctr" defTabSz="815975" rtl="0" eaLnBrk="1" fontAlgn="auto" latinLnBrk="0" hangingPunct="1">
                <a:lnSpc>
                  <a:spcPct val="100000"/>
                </a:lnSpc>
                <a:spcBef>
                  <a:spcPts val="0"/>
                </a:spcBef>
                <a:spcAft>
                  <a:spcPts val="0"/>
                </a:spcAft>
                <a:buClrTx/>
                <a:buSzTx/>
                <a:buFontTx/>
                <a:buNone/>
                <a:tabLst>
                  <a:tab pos="1704975" algn="l"/>
                  <a:tab pos="3314700" algn="l"/>
                  <a:tab pos="4752975" algn="l"/>
                  <a:tab pos="6372225" algn="l"/>
                </a:tabLst>
                <a:defRPr/>
              </a:pPr>
              <a:r>
                <a:rPr kumimoji="0" lang="en-US"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Roboto Condensed" pitchFamily="2" charset="0"/>
                </a:rPr>
                <a:t>2015</a:t>
              </a:r>
              <a:endParaRPr kumimoji="0" lang="bg-BG"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Roboto Condensed" pitchFamily="2" charset="0"/>
              </a:endParaRPr>
            </a:p>
          </p:txBody>
        </p:sp>
        <p:sp>
          <p:nvSpPr>
            <p:cNvPr id="36" name="TextBox 976"/>
            <p:cNvSpPr txBox="1">
              <a:spLocks noChangeArrowheads="1"/>
            </p:cNvSpPr>
            <p:nvPr/>
          </p:nvSpPr>
          <p:spPr bwMode="auto">
            <a:xfrm>
              <a:off x="1469" y="4860"/>
              <a:ext cx="118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704975" algn="l"/>
                  <a:tab pos="3314700" algn="l"/>
                  <a:tab pos="4752975" algn="l"/>
                  <a:tab pos="6372225" algn="l"/>
                </a:tabLst>
                <a:defRPr>
                  <a:solidFill>
                    <a:schemeClr val="tx1"/>
                  </a:solidFill>
                  <a:latin typeface="Calibri" panose="020F0502020204030204" pitchFamily="34" charset="0"/>
                </a:defRPr>
              </a:lvl1pPr>
              <a:lvl2pPr marL="742950" indent="-285750">
                <a:tabLst>
                  <a:tab pos="1704975" algn="l"/>
                  <a:tab pos="3314700" algn="l"/>
                  <a:tab pos="4752975" algn="l"/>
                  <a:tab pos="6372225" algn="l"/>
                </a:tabLst>
                <a:defRPr>
                  <a:solidFill>
                    <a:schemeClr val="tx1"/>
                  </a:solidFill>
                  <a:latin typeface="Calibri" panose="020F0502020204030204" pitchFamily="34" charset="0"/>
                </a:defRPr>
              </a:lvl2pPr>
              <a:lvl3pPr marL="1143000" indent="-228600">
                <a:tabLst>
                  <a:tab pos="1704975" algn="l"/>
                  <a:tab pos="3314700" algn="l"/>
                  <a:tab pos="4752975" algn="l"/>
                  <a:tab pos="6372225" algn="l"/>
                </a:tabLst>
                <a:defRPr>
                  <a:solidFill>
                    <a:schemeClr val="tx1"/>
                  </a:solidFill>
                  <a:latin typeface="Calibri" panose="020F0502020204030204" pitchFamily="34" charset="0"/>
                </a:defRPr>
              </a:lvl3pPr>
              <a:lvl4pPr marL="1600200" indent="-228600">
                <a:tabLst>
                  <a:tab pos="1704975" algn="l"/>
                  <a:tab pos="3314700" algn="l"/>
                  <a:tab pos="4752975" algn="l"/>
                  <a:tab pos="6372225" algn="l"/>
                </a:tabLst>
                <a:defRPr>
                  <a:solidFill>
                    <a:schemeClr val="tx1"/>
                  </a:solidFill>
                  <a:latin typeface="Calibri" panose="020F0502020204030204" pitchFamily="34" charset="0"/>
                </a:defRPr>
              </a:lvl4pPr>
              <a:lvl5pPr marL="2057400" indent="-228600">
                <a:tabLst>
                  <a:tab pos="1704975" algn="l"/>
                  <a:tab pos="3314700" algn="l"/>
                  <a:tab pos="4752975" algn="l"/>
                  <a:tab pos="6372225" algn="l"/>
                </a:tabLst>
                <a:defRPr>
                  <a:solidFill>
                    <a:schemeClr val="tx1"/>
                  </a:solidFill>
                  <a:latin typeface="Calibri" panose="020F0502020204030204" pitchFamily="34" charset="0"/>
                </a:defRPr>
              </a:lvl5pPr>
              <a:lvl6pPr marL="25146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6pPr>
              <a:lvl7pPr marL="29718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7pPr>
              <a:lvl8pPr marL="34290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8pPr>
              <a:lvl9pPr marL="38862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9pPr>
            </a:lstStyle>
            <a:p>
              <a:pPr marL="0" marR="0" lvl="0" indent="0" algn="ctr" defTabSz="815975" rtl="0" eaLnBrk="1" fontAlgn="auto" latinLnBrk="0" hangingPunct="1">
                <a:lnSpc>
                  <a:spcPct val="100000"/>
                </a:lnSpc>
                <a:spcBef>
                  <a:spcPts val="0"/>
                </a:spcBef>
                <a:spcAft>
                  <a:spcPts val="0"/>
                </a:spcAft>
                <a:buClrTx/>
                <a:buSzTx/>
                <a:buFontTx/>
                <a:buNone/>
                <a:tabLst>
                  <a:tab pos="1704975" algn="l"/>
                  <a:tab pos="3314700" algn="l"/>
                  <a:tab pos="4752975" algn="l"/>
                  <a:tab pos="6372225" algn="l"/>
                </a:tabLst>
                <a:defRPr/>
              </a:pPr>
              <a:r>
                <a:rPr kumimoji="0" 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Roboto Condensed" pitchFamily="2" charset="0"/>
                </a:rPr>
                <a:t>2013</a:t>
              </a:r>
              <a:endParaRPr kumimoji="0" lang="bg-BG"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Roboto Condensed" pitchFamily="2" charset="0"/>
              </a:endParaRPr>
            </a:p>
          </p:txBody>
        </p:sp>
        <p:sp>
          <p:nvSpPr>
            <p:cNvPr id="37" name="TextBox 977"/>
            <p:cNvSpPr txBox="1">
              <a:spLocks noChangeArrowheads="1"/>
            </p:cNvSpPr>
            <p:nvPr/>
          </p:nvSpPr>
          <p:spPr bwMode="auto">
            <a:xfrm>
              <a:off x="3516" y="5123"/>
              <a:ext cx="1654" cy="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704975" algn="l"/>
                  <a:tab pos="3314700" algn="l"/>
                  <a:tab pos="4752975" algn="l"/>
                  <a:tab pos="6372225" algn="l"/>
                </a:tabLst>
                <a:defRPr>
                  <a:solidFill>
                    <a:schemeClr val="tx1"/>
                  </a:solidFill>
                  <a:latin typeface="Calibri" panose="020F0502020204030204" pitchFamily="34" charset="0"/>
                </a:defRPr>
              </a:lvl1pPr>
              <a:lvl2pPr marL="742950" indent="-285750">
                <a:tabLst>
                  <a:tab pos="1704975" algn="l"/>
                  <a:tab pos="3314700" algn="l"/>
                  <a:tab pos="4752975" algn="l"/>
                  <a:tab pos="6372225" algn="l"/>
                </a:tabLst>
                <a:defRPr>
                  <a:solidFill>
                    <a:schemeClr val="tx1"/>
                  </a:solidFill>
                  <a:latin typeface="Calibri" panose="020F0502020204030204" pitchFamily="34" charset="0"/>
                </a:defRPr>
              </a:lvl2pPr>
              <a:lvl3pPr marL="1143000" indent="-228600">
                <a:tabLst>
                  <a:tab pos="1704975" algn="l"/>
                  <a:tab pos="3314700" algn="l"/>
                  <a:tab pos="4752975" algn="l"/>
                  <a:tab pos="6372225" algn="l"/>
                </a:tabLst>
                <a:defRPr>
                  <a:solidFill>
                    <a:schemeClr val="tx1"/>
                  </a:solidFill>
                  <a:latin typeface="Calibri" panose="020F0502020204030204" pitchFamily="34" charset="0"/>
                </a:defRPr>
              </a:lvl3pPr>
              <a:lvl4pPr marL="1600200" indent="-228600">
                <a:tabLst>
                  <a:tab pos="1704975" algn="l"/>
                  <a:tab pos="3314700" algn="l"/>
                  <a:tab pos="4752975" algn="l"/>
                  <a:tab pos="6372225" algn="l"/>
                </a:tabLst>
                <a:defRPr>
                  <a:solidFill>
                    <a:schemeClr val="tx1"/>
                  </a:solidFill>
                  <a:latin typeface="Calibri" panose="020F0502020204030204" pitchFamily="34" charset="0"/>
                </a:defRPr>
              </a:lvl4pPr>
              <a:lvl5pPr marL="2057400" indent="-228600">
                <a:tabLst>
                  <a:tab pos="1704975" algn="l"/>
                  <a:tab pos="3314700" algn="l"/>
                  <a:tab pos="4752975" algn="l"/>
                  <a:tab pos="6372225" algn="l"/>
                </a:tabLst>
                <a:defRPr>
                  <a:solidFill>
                    <a:schemeClr val="tx1"/>
                  </a:solidFill>
                  <a:latin typeface="Calibri" panose="020F0502020204030204" pitchFamily="34" charset="0"/>
                </a:defRPr>
              </a:lvl5pPr>
              <a:lvl6pPr marL="25146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6pPr>
              <a:lvl7pPr marL="29718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7pPr>
              <a:lvl8pPr marL="34290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8pPr>
              <a:lvl9pPr marL="3886200" indent="-228600" fontAlgn="base">
                <a:spcBef>
                  <a:spcPct val="0"/>
                </a:spcBef>
                <a:spcAft>
                  <a:spcPct val="0"/>
                </a:spcAft>
                <a:tabLst>
                  <a:tab pos="1704975" algn="l"/>
                  <a:tab pos="3314700" algn="l"/>
                  <a:tab pos="4752975" algn="l"/>
                  <a:tab pos="6372225" algn="l"/>
                </a:tabLst>
                <a:defRPr>
                  <a:solidFill>
                    <a:schemeClr val="tx1"/>
                  </a:solidFill>
                  <a:latin typeface="Calibri" panose="020F0502020204030204" pitchFamily="34" charset="0"/>
                </a:defRPr>
              </a:lvl9pPr>
            </a:lstStyle>
            <a:p>
              <a:pPr marL="0" marR="0" lvl="0" indent="0" algn="ctr" defTabSz="815975" rtl="0" eaLnBrk="1" fontAlgn="auto" latinLnBrk="0" hangingPunct="1">
                <a:lnSpc>
                  <a:spcPct val="100000"/>
                </a:lnSpc>
                <a:spcBef>
                  <a:spcPts val="0"/>
                </a:spcBef>
                <a:spcAft>
                  <a:spcPts val="0"/>
                </a:spcAft>
                <a:buClrTx/>
                <a:buSzTx/>
                <a:buFontTx/>
                <a:buNone/>
                <a:tabLst>
                  <a:tab pos="1704975" algn="l"/>
                  <a:tab pos="3314700" algn="l"/>
                  <a:tab pos="4752975" algn="l"/>
                  <a:tab pos="6372225" algn="l"/>
                </a:tabLst>
                <a:defRPr/>
              </a:pPr>
              <a:r>
                <a:rPr kumimoji="0" lang="en-US" sz="2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Roboto Condensed" pitchFamily="2" charset="0"/>
                </a:rPr>
                <a:t>2016</a:t>
              </a:r>
              <a:endParaRPr kumimoji="0" lang="bg-BG" altLang="zh-CN" sz="2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Roboto Condensed" pitchFamily="2" charset="0"/>
              </a:endParaRPr>
            </a:p>
          </p:txBody>
        </p:sp>
        <p:sp>
          <p:nvSpPr>
            <p:cNvPr id="39" name="TextBox 28"/>
            <p:cNvSpPr txBox="1"/>
            <p:nvPr/>
          </p:nvSpPr>
          <p:spPr>
            <a:xfrm>
              <a:off x="8827" y="1960"/>
              <a:ext cx="4395" cy="1870"/>
            </a:xfrm>
            <a:prstGeom prst="rect">
              <a:avLst/>
            </a:prstGeom>
            <a:noFill/>
          </p:spPr>
          <p:txBody>
            <a:bodyPr wrap="square" lIns="68580" tIns="34290" rIns="68580" bIns="34290" rtlCol="0">
              <a:spAutoFit/>
            </a:bodyPr>
            <a:lstStyle/>
            <a:p>
              <a:pPr algn="just">
                <a:lnSpc>
                  <a:spcPct val="15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从四川长虹三年资产负债表的趋势来看，总资产呈增长趋势。</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年略增加</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0.59%</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，增长的原因主要是固定资产和无形资产增加增快，其中：固定资产增加</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36.63%</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，无形资产增加</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173.02%</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；同时，流动资产</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年下降</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7.84%</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，下降的原因主要是由于应收账款和其他应收款净额和货币资金减少较多其中：应收款减少</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46.45%</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，货币资金减少</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19.69%</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。还可看到</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年负债减少</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4.31%</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，造成以上情况的原因可能是四川长虹用流动资产投资于固定资产和无形资产，并偿还了部分债务。</a:t>
              </a:r>
              <a:endParaRPr lang="en-US" altLang="zh-CN" sz="1000" dirty="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90000"/>
                </a:lnSpc>
              </a:pPr>
              <a:endParaRPr kumimoji="0" lang="zh-CN" altLang="en-US" sz="10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TextBox 32"/>
            <p:cNvSpPr txBox="1"/>
            <p:nvPr/>
          </p:nvSpPr>
          <p:spPr>
            <a:xfrm>
              <a:off x="8827" y="3887"/>
              <a:ext cx="4397" cy="1018"/>
            </a:xfrm>
            <a:prstGeom prst="rect">
              <a:avLst/>
            </a:prstGeom>
            <a:noFill/>
          </p:spPr>
          <p:txBody>
            <a:bodyPr wrap="square" lIns="68580" tIns="34290" rIns="68580" bIns="34290" rtlCol="0">
              <a:spAutoFit/>
            </a:bodyPr>
            <a:lstStyle/>
            <a:p>
              <a:pPr marL="0" marR="0" lvl="0" indent="0" algn="l" defTabSz="815975" rtl="0" eaLnBrk="1" fontAlgn="auto" latinLnBrk="0" hangingPunct="1">
                <a:lnSpc>
                  <a:spcPct val="150000"/>
                </a:lnSpc>
                <a:spcBef>
                  <a:spcPts val="0"/>
                </a:spcBef>
                <a:spcAft>
                  <a:spcPts val="0"/>
                </a:spcAft>
                <a:buClrTx/>
                <a:buSzTx/>
                <a:buFontTx/>
                <a:buNone/>
                <a:defRPr/>
              </a:pP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年总资产比</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99</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年增加</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6.85%</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，其中：流动资产比</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99</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年增加</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3.25%</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，固定资产增加为</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19.23</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，无形资产增加为</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124.68%</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；而负债比</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99</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年增加</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36.40%</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，增加的幅度较大，结果导致了股东权益下降</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1.42%</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，原因可能是资产的利用效果不好，其产生效益的速度慢于负债增加的速度。</a:t>
              </a:r>
              <a:endParaRPr kumimoji="0" lang="zh-CN" altLang="en-US" sz="1000" b="0" i="0" u="none" strike="noStrike" kern="1200" cap="none" spc="0" normalizeH="0" baseline="0" noProof="0" dirty="0">
                <a:ln>
                  <a:noFill/>
                </a:ln>
                <a:solidFill>
                  <a:prstClr val="black">
                    <a:lumMod val="65000"/>
                    <a:lumOff val="35000"/>
                  </a:prst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6" name="Oval 952"/>
          <p:cNvSpPr>
            <a:spLocks noChangeArrowheads="1"/>
          </p:cNvSpPr>
          <p:nvPr/>
        </p:nvSpPr>
        <p:spPr bwMode="auto">
          <a:xfrm>
            <a:off x="6976982" y="4679647"/>
            <a:ext cx="428587" cy="429016"/>
          </a:xfrm>
          <a:prstGeom prst="ellipse">
            <a:avLst/>
          </a:prstGeom>
          <a:solidFill>
            <a:srgbClr val="A5A5A5"/>
          </a:solidFill>
          <a:ln>
            <a:noFill/>
          </a:ln>
        </p:spPr>
        <p:txBody>
          <a:bodyPr/>
          <a:lstStyle/>
          <a:p>
            <a:pPr marL="0" marR="0" lvl="0" indent="0" algn="l" defTabSz="815975" rtl="0" eaLnBrk="1" fontAlgn="auto" latinLnBrk="0" hangingPunct="1">
              <a:lnSpc>
                <a:spcPct val="100000"/>
              </a:lnSpc>
              <a:spcBef>
                <a:spcPts val="0"/>
              </a:spcBef>
              <a:spcAft>
                <a:spcPts val="0"/>
              </a:spcAft>
              <a:buClrTx/>
              <a:buSzTx/>
              <a:buFontTx/>
              <a:buNone/>
              <a:defRPr/>
            </a:pPr>
            <a:endParaRPr kumimoji="0" lang="zh-CN" altLang="zh-CN" sz="16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7" name="文本框 56"/>
          <p:cNvSpPr txBox="1"/>
          <p:nvPr/>
        </p:nvSpPr>
        <p:spPr>
          <a:xfrm>
            <a:off x="7576185" y="4494530"/>
            <a:ext cx="4283710" cy="1938020"/>
          </a:xfrm>
          <a:prstGeom prst="rect">
            <a:avLst/>
          </a:prstGeom>
          <a:noFill/>
        </p:spPr>
        <p:txBody>
          <a:bodyPr wrap="square" rtlCol="0" anchor="t">
            <a:spAutoFit/>
          </a:bodyPr>
          <a:lstStyle/>
          <a:p>
            <a:pPr>
              <a:lnSpc>
                <a:spcPct val="150000"/>
              </a:lnSpc>
            </a:pPr>
            <a:r>
              <a:rPr lang="zh-CN" altLang="en-US" sz="1000">
                <a:latin typeface="微软雅黑" panose="020B0503020204020204" pitchFamily="34" charset="-122"/>
                <a:ea typeface="微软雅黑" panose="020B0503020204020204" pitchFamily="34" charset="-122"/>
                <a:cs typeface="微软雅黑" panose="020B0503020204020204" pitchFamily="34" charset="-122"/>
              </a:rPr>
              <a:t>从利润看，净利润呈明显下降趋势。</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99</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年为</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52532</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万元，</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2017</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年为</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27424</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万元，减少</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47.80%</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2018</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年减少</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81.15%</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2017</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年，主营业务收入增加</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6.06%</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，，但是主营成本增加</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7.49%</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，导致主营业务利润减少</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；同时销售费用增加较大，达到</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16.00%</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，其他业务利润下降</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39.10%</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，因此，即使投资收益增加</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202.02%</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、补贴收入增加</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5093.84%</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和营业外收入增加</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44.39%</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，也未能控制净利润下降趋势。</a:t>
            </a:r>
            <a:r>
              <a:rPr lang="en-US" altLang="zh-CN" sz="1000">
                <a:latin typeface="微软雅黑" panose="020B0503020204020204" pitchFamily="34" charset="-122"/>
                <a:ea typeface="微软雅黑" panose="020B0503020204020204" pitchFamily="34" charset="-122"/>
                <a:cs typeface="微软雅黑" panose="020B0503020204020204" pitchFamily="34" charset="-122"/>
              </a:rPr>
              <a:t>2018</a:t>
            </a:r>
            <a:r>
              <a:rPr lang="zh-CN" altLang="en-US" sz="1000">
                <a:latin typeface="微软雅黑" panose="020B0503020204020204" pitchFamily="34" charset="-122"/>
                <a:ea typeface="微软雅黑" panose="020B0503020204020204" pitchFamily="34" charset="-122"/>
                <a:cs typeface="微软雅黑" panose="020B0503020204020204" pitchFamily="34" charset="-122"/>
              </a:rPr>
              <a:t>年基本上也是同样的情况，主要原因是由于主要业务成本和销售费用、管理费用增加较大和各项准备提取增加造成。</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50" presetClass="entr" presetSubtype="0" decel="100000" fill="hold" nodeType="afterEffect">
                                  <p:stCondLst>
                                    <p:cond delay="0"/>
                                  </p:stCondLst>
                                  <p:childTnLst>
                                    <p:set>
                                      <p:cBhvr>
                                        <p:cTn id="20" dur="1" fill="hold">
                                          <p:stCondLst>
                                            <p:cond delay="0"/>
                                          </p:stCondLst>
                                        </p:cTn>
                                        <p:tgtEl>
                                          <p:spTgt spid="55"/>
                                        </p:tgtEl>
                                        <p:attrNameLst>
                                          <p:attrName>style.visibility</p:attrName>
                                        </p:attrNameLst>
                                      </p:cBhvr>
                                      <p:to>
                                        <p:strVal val="visible"/>
                                      </p:to>
                                    </p:set>
                                    <p:anim calcmode="lin" valueType="num">
                                      <p:cBhvr>
                                        <p:cTn id="21" dur="1000" fill="hold"/>
                                        <p:tgtEl>
                                          <p:spTgt spid="55"/>
                                        </p:tgtEl>
                                        <p:attrNameLst>
                                          <p:attrName>ppt_w</p:attrName>
                                        </p:attrNameLst>
                                      </p:cBhvr>
                                      <p:tavLst>
                                        <p:tav tm="0">
                                          <p:val>
                                            <p:strVal val="#ppt_w+.3"/>
                                          </p:val>
                                        </p:tav>
                                        <p:tav tm="100000">
                                          <p:val>
                                            <p:strVal val="#ppt_w"/>
                                          </p:val>
                                        </p:tav>
                                      </p:tavLst>
                                    </p:anim>
                                    <p:anim calcmode="lin" valueType="num">
                                      <p:cBhvr>
                                        <p:cTn id="22" dur="1000" fill="hold"/>
                                        <p:tgtEl>
                                          <p:spTgt spid="55"/>
                                        </p:tgtEl>
                                        <p:attrNameLst>
                                          <p:attrName>ppt_h</p:attrName>
                                        </p:attrNameLst>
                                      </p:cBhvr>
                                      <p:tavLst>
                                        <p:tav tm="0">
                                          <p:val>
                                            <p:strVal val="#ppt_h"/>
                                          </p:val>
                                        </p:tav>
                                        <p:tav tm="100000">
                                          <p:val>
                                            <p:strVal val="#ppt_h"/>
                                          </p:val>
                                        </p:tav>
                                      </p:tavLst>
                                    </p:anim>
                                    <p:animEffect transition="in" filter="fade">
                                      <p:cBhvr>
                                        <p:cTn id="23" dur="1000"/>
                                        <p:tgtEl>
                                          <p:spTgt spid="55"/>
                                        </p:tgtEl>
                                      </p:cBhvr>
                                    </p:animEffect>
                                  </p:childTnLst>
                                </p:cTn>
                              </p:par>
                            </p:childTnLst>
                          </p:cTn>
                        </p:par>
                        <p:par>
                          <p:cTn id="24" fill="hold">
                            <p:stCondLst>
                              <p:cond delay="2500"/>
                            </p:stCondLst>
                            <p:childTnLst>
                              <p:par>
                                <p:cTn id="25" presetID="16" presetClass="entr" presetSubtype="21" fill="hold" grpId="0"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barn(inVertical)">
                                      <p:cBhvr>
                                        <p:cTn id="27" dur="500"/>
                                        <p:tgtEl>
                                          <p:spTgt spid="57"/>
                                        </p:tgtEl>
                                      </p:cBhvr>
                                    </p:animEffect>
                                  </p:childTnLst>
                                </p:cTn>
                              </p:par>
                            </p:childTnLst>
                          </p:cTn>
                        </p:par>
                        <p:par>
                          <p:cTn id="28" fill="hold">
                            <p:stCondLst>
                              <p:cond delay="3000"/>
                            </p:stCondLst>
                            <p:childTnLst>
                              <p:par>
                                <p:cTn id="29" presetID="21" presetClass="entr" presetSubtype="1" fill="hold" grpId="0" nodeType="after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wheel(1)">
                                      <p:cBhvr>
                                        <p:cTn id="31" dur="2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56" grpId="0" animBg="1"/>
      <p:bldP spid="5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1336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环比百分比分析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3449955" y="1414145"/>
            <a:ext cx="4874260" cy="3655695"/>
            <a:chOff x="4600" y="1650"/>
            <a:chExt cx="10000" cy="7500"/>
          </a:xfrm>
        </p:grpSpPr>
        <p:graphicFrame>
          <p:nvGraphicFramePr>
            <p:cNvPr id="2" name="图表 1"/>
            <p:cNvGraphicFramePr/>
            <p:nvPr/>
          </p:nvGraphicFramePr>
          <p:xfrm>
            <a:off x="4600" y="1650"/>
            <a:ext cx="10000" cy="7500"/>
          </p:xfrm>
          <a:graphic>
            <a:graphicData uri="http://schemas.openxmlformats.org/drawingml/2006/chart">
              <c:chart xmlns:c="http://schemas.openxmlformats.org/drawingml/2006/chart" xmlns:r="http://schemas.openxmlformats.org/officeDocument/2006/relationships" r:id="rId3"/>
            </a:graphicData>
          </a:graphic>
        </p:graphicFrame>
        <p:sp>
          <p:nvSpPr>
            <p:cNvPr id="51" name="Freeform 50"/>
            <p:cNvSpPr/>
            <p:nvPr/>
          </p:nvSpPr>
          <p:spPr bwMode="auto">
            <a:xfrm>
              <a:off x="8388" y="3773"/>
              <a:ext cx="2424" cy="3590"/>
            </a:xfrm>
            <a:custGeom>
              <a:avLst/>
              <a:gdLst>
                <a:gd name="T0" fmla="*/ 25 w 206"/>
                <a:gd name="T1" fmla="*/ 112 h 284"/>
                <a:gd name="T2" fmla="*/ 25 w 206"/>
                <a:gd name="T3" fmla="*/ 64 h 284"/>
                <a:gd name="T4" fmla="*/ 5 w 206"/>
                <a:gd name="T5" fmla="*/ 64 h 284"/>
                <a:gd name="T6" fmla="*/ 4 w 206"/>
                <a:gd name="T7" fmla="*/ 60 h 284"/>
                <a:gd name="T8" fmla="*/ 104 w 206"/>
                <a:gd name="T9" fmla="*/ 2 h 284"/>
                <a:gd name="T10" fmla="*/ 117 w 206"/>
                <a:gd name="T11" fmla="*/ 2 h 284"/>
                <a:gd name="T12" fmla="*/ 145 w 206"/>
                <a:gd name="T13" fmla="*/ 25 h 284"/>
                <a:gd name="T14" fmla="*/ 145 w 206"/>
                <a:gd name="T15" fmla="*/ 2 h 284"/>
                <a:gd name="T16" fmla="*/ 168 w 206"/>
                <a:gd name="T17" fmla="*/ 2 h 284"/>
                <a:gd name="T18" fmla="*/ 168 w 206"/>
                <a:gd name="T19" fmla="*/ 40 h 284"/>
                <a:gd name="T20" fmla="*/ 184 w 206"/>
                <a:gd name="T21" fmla="*/ 49 h 284"/>
                <a:gd name="T22" fmla="*/ 184 w 206"/>
                <a:gd name="T23" fmla="*/ 49 h 284"/>
                <a:gd name="T24" fmla="*/ 184 w 206"/>
                <a:gd name="T25" fmla="*/ 49 h 284"/>
                <a:gd name="T26" fmla="*/ 202 w 206"/>
                <a:gd name="T27" fmla="*/ 60 h 284"/>
                <a:gd name="T28" fmla="*/ 201 w 206"/>
                <a:gd name="T29" fmla="*/ 64 h 284"/>
                <a:gd name="T30" fmla="*/ 184 w 206"/>
                <a:gd name="T31" fmla="*/ 64 h 284"/>
                <a:gd name="T32" fmla="*/ 184 w 206"/>
                <a:gd name="T33" fmla="*/ 117 h 284"/>
                <a:gd name="T34" fmla="*/ 169 w 206"/>
                <a:gd name="T35" fmla="*/ 134 h 284"/>
                <a:gd name="T36" fmla="*/ 136 w 206"/>
                <a:gd name="T37" fmla="*/ 134 h 284"/>
                <a:gd name="T38" fmla="*/ 129 w 206"/>
                <a:gd name="T39" fmla="*/ 137 h 284"/>
                <a:gd name="T40" fmla="*/ 140 w 206"/>
                <a:gd name="T41" fmla="*/ 155 h 284"/>
                <a:gd name="T42" fmla="*/ 139 w 206"/>
                <a:gd name="T43" fmla="*/ 160 h 284"/>
                <a:gd name="T44" fmla="*/ 118 w 206"/>
                <a:gd name="T45" fmla="*/ 161 h 284"/>
                <a:gd name="T46" fmla="*/ 119 w 206"/>
                <a:gd name="T47" fmla="*/ 168 h 284"/>
                <a:gd name="T48" fmla="*/ 130 w 206"/>
                <a:gd name="T49" fmla="*/ 179 h 284"/>
                <a:gd name="T50" fmla="*/ 115 w 206"/>
                <a:gd name="T51" fmla="*/ 195 h 284"/>
                <a:gd name="T52" fmla="*/ 129 w 206"/>
                <a:gd name="T53" fmla="*/ 211 h 284"/>
                <a:gd name="T54" fmla="*/ 129 w 206"/>
                <a:gd name="T55" fmla="*/ 220 h 284"/>
                <a:gd name="T56" fmla="*/ 115 w 206"/>
                <a:gd name="T57" fmla="*/ 235 h 284"/>
                <a:gd name="T58" fmla="*/ 124 w 206"/>
                <a:gd name="T59" fmla="*/ 248 h 284"/>
                <a:gd name="T60" fmla="*/ 124 w 206"/>
                <a:gd name="T61" fmla="*/ 260 h 284"/>
                <a:gd name="T62" fmla="*/ 102 w 206"/>
                <a:gd name="T63" fmla="*/ 284 h 284"/>
                <a:gd name="T64" fmla="*/ 86 w 206"/>
                <a:gd name="T65" fmla="*/ 264 h 284"/>
                <a:gd name="T66" fmla="*/ 85 w 206"/>
                <a:gd name="T67" fmla="*/ 163 h 284"/>
                <a:gd name="T68" fmla="*/ 83 w 206"/>
                <a:gd name="T69" fmla="*/ 160 h 284"/>
                <a:gd name="T70" fmla="*/ 71 w 206"/>
                <a:gd name="T71" fmla="*/ 159 h 284"/>
                <a:gd name="T72" fmla="*/ 68 w 206"/>
                <a:gd name="T73" fmla="*/ 152 h 284"/>
                <a:gd name="T74" fmla="*/ 77 w 206"/>
                <a:gd name="T75" fmla="*/ 140 h 284"/>
                <a:gd name="T76" fmla="*/ 78 w 206"/>
                <a:gd name="T77" fmla="*/ 136 h 284"/>
                <a:gd name="T78" fmla="*/ 73 w 206"/>
                <a:gd name="T79" fmla="*/ 134 h 284"/>
                <a:gd name="T80" fmla="*/ 40 w 206"/>
                <a:gd name="T81" fmla="*/ 134 h 284"/>
                <a:gd name="T82" fmla="*/ 25 w 206"/>
                <a:gd name="T83" fmla="*/ 112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6" h="284">
                  <a:moveTo>
                    <a:pt x="25" y="112"/>
                  </a:moveTo>
                  <a:cubicBezTo>
                    <a:pt x="25" y="64"/>
                    <a:pt x="25" y="64"/>
                    <a:pt x="25" y="64"/>
                  </a:cubicBezTo>
                  <a:cubicBezTo>
                    <a:pt x="5" y="64"/>
                    <a:pt x="5" y="64"/>
                    <a:pt x="5" y="64"/>
                  </a:cubicBezTo>
                  <a:cubicBezTo>
                    <a:pt x="1" y="64"/>
                    <a:pt x="0" y="62"/>
                    <a:pt x="4" y="60"/>
                  </a:cubicBezTo>
                  <a:cubicBezTo>
                    <a:pt x="104" y="2"/>
                    <a:pt x="104" y="2"/>
                    <a:pt x="104" y="2"/>
                  </a:cubicBezTo>
                  <a:cubicBezTo>
                    <a:pt x="107" y="0"/>
                    <a:pt x="113" y="0"/>
                    <a:pt x="117" y="2"/>
                  </a:cubicBezTo>
                  <a:cubicBezTo>
                    <a:pt x="145" y="25"/>
                    <a:pt x="145" y="25"/>
                    <a:pt x="145" y="25"/>
                  </a:cubicBezTo>
                  <a:cubicBezTo>
                    <a:pt x="145" y="2"/>
                    <a:pt x="145" y="2"/>
                    <a:pt x="145" y="2"/>
                  </a:cubicBezTo>
                  <a:cubicBezTo>
                    <a:pt x="168" y="2"/>
                    <a:pt x="168" y="2"/>
                    <a:pt x="168" y="2"/>
                  </a:cubicBezTo>
                  <a:cubicBezTo>
                    <a:pt x="168" y="40"/>
                    <a:pt x="168" y="40"/>
                    <a:pt x="168" y="40"/>
                  </a:cubicBezTo>
                  <a:cubicBezTo>
                    <a:pt x="184" y="49"/>
                    <a:pt x="184" y="49"/>
                    <a:pt x="184" y="49"/>
                  </a:cubicBezTo>
                  <a:cubicBezTo>
                    <a:pt x="184" y="49"/>
                    <a:pt x="184" y="49"/>
                    <a:pt x="184" y="49"/>
                  </a:cubicBezTo>
                  <a:cubicBezTo>
                    <a:pt x="184" y="49"/>
                    <a:pt x="184" y="49"/>
                    <a:pt x="184" y="49"/>
                  </a:cubicBezTo>
                  <a:cubicBezTo>
                    <a:pt x="202" y="60"/>
                    <a:pt x="202" y="60"/>
                    <a:pt x="202" y="60"/>
                  </a:cubicBezTo>
                  <a:cubicBezTo>
                    <a:pt x="206" y="62"/>
                    <a:pt x="205" y="64"/>
                    <a:pt x="201" y="64"/>
                  </a:cubicBezTo>
                  <a:cubicBezTo>
                    <a:pt x="184" y="64"/>
                    <a:pt x="184" y="64"/>
                    <a:pt x="184" y="64"/>
                  </a:cubicBezTo>
                  <a:cubicBezTo>
                    <a:pt x="184" y="117"/>
                    <a:pt x="184" y="117"/>
                    <a:pt x="184" y="117"/>
                  </a:cubicBezTo>
                  <a:cubicBezTo>
                    <a:pt x="184" y="117"/>
                    <a:pt x="185" y="134"/>
                    <a:pt x="169" y="134"/>
                  </a:cubicBezTo>
                  <a:cubicBezTo>
                    <a:pt x="136" y="134"/>
                    <a:pt x="136" y="134"/>
                    <a:pt x="136" y="134"/>
                  </a:cubicBezTo>
                  <a:cubicBezTo>
                    <a:pt x="134" y="135"/>
                    <a:pt x="131" y="136"/>
                    <a:pt x="129" y="137"/>
                  </a:cubicBezTo>
                  <a:cubicBezTo>
                    <a:pt x="140" y="155"/>
                    <a:pt x="140" y="155"/>
                    <a:pt x="140" y="155"/>
                  </a:cubicBezTo>
                  <a:cubicBezTo>
                    <a:pt x="142" y="159"/>
                    <a:pt x="139" y="160"/>
                    <a:pt x="139" y="160"/>
                  </a:cubicBezTo>
                  <a:cubicBezTo>
                    <a:pt x="118" y="161"/>
                    <a:pt x="118" y="161"/>
                    <a:pt x="118" y="161"/>
                  </a:cubicBezTo>
                  <a:cubicBezTo>
                    <a:pt x="119" y="168"/>
                    <a:pt x="119" y="168"/>
                    <a:pt x="119" y="168"/>
                  </a:cubicBezTo>
                  <a:cubicBezTo>
                    <a:pt x="130" y="179"/>
                    <a:pt x="130" y="179"/>
                    <a:pt x="130" y="179"/>
                  </a:cubicBezTo>
                  <a:cubicBezTo>
                    <a:pt x="115" y="195"/>
                    <a:pt x="115" y="195"/>
                    <a:pt x="115" y="195"/>
                  </a:cubicBezTo>
                  <a:cubicBezTo>
                    <a:pt x="129" y="211"/>
                    <a:pt x="129" y="211"/>
                    <a:pt x="129" y="211"/>
                  </a:cubicBezTo>
                  <a:cubicBezTo>
                    <a:pt x="129" y="220"/>
                    <a:pt x="129" y="220"/>
                    <a:pt x="129" y="220"/>
                  </a:cubicBezTo>
                  <a:cubicBezTo>
                    <a:pt x="115" y="235"/>
                    <a:pt x="115" y="235"/>
                    <a:pt x="115" y="235"/>
                  </a:cubicBezTo>
                  <a:cubicBezTo>
                    <a:pt x="124" y="248"/>
                    <a:pt x="124" y="248"/>
                    <a:pt x="124" y="248"/>
                  </a:cubicBezTo>
                  <a:cubicBezTo>
                    <a:pt x="124" y="260"/>
                    <a:pt x="124" y="260"/>
                    <a:pt x="124" y="260"/>
                  </a:cubicBezTo>
                  <a:cubicBezTo>
                    <a:pt x="102" y="284"/>
                    <a:pt x="102" y="284"/>
                    <a:pt x="102" y="284"/>
                  </a:cubicBezTo>
                  <a:cubicBezTo>
                    <a:pt x="94" y="283"/>
                    <a:pt x="86" y="264"/>
                    <a:pt x="86" y="264"/>
                  </a:cubicBezTo>
                  <a:cubicBezTo>
                    <a:pt x="85" y="163"/>
                    <a:pt x="85" y="163"/>
                    <a:pt x="85" y="163"/>
                  </a:cubicBezTo>
                  <a:cubicBezTo>
                    <a:pt x="85" y="160"/>
                    <a:pt x="83" y="160"/>
                    <a:pt x="83" y="160"/>
                  </a:cubicBezTo>
                  <a:cubicBezTo>
                    <a:pt x="71" y="159"/>
                    <a:pt x="71" y="159"/>
                    <a:pt x="71" y="159"/>
                  </a:cubicBezTo>
                  <a:cubicBezTo>
                    <a:pt x="64" y="159"/>
                    <a:pt x="68" y="152"/>
                    <a:pt x="68" y="152"/>
                  </a:cubicBezTo>
                  <a:cubicBezTo>
                    <a:pt x="77" y="140"/>
                    <a:pt x="77" y="140"/>
                    <a:pt x="77" y="140"/>
                  </a:cubicBezTo>
                  <a:cubicBezTo>
                    <a:pt x="78" y="139"/>
                    <a:pt x="78" y="137"/>
                    <a:pt x="78" y="136"/>
                  </a:cubicBezTo>
                  <a:cubicBezTo>
                    <a:pt x="76" y="136"/>
                    <a:pt x="74" y="135"/>
                    <a:pt x="73" y="134"/>
                  </a:cubicBezTo>
                  <a:cubicBezTo>
                    <a:pt x="40" y="134"/>
                    <a:pt x="40" y="134"/>
                    <a:pt x="40" y="134"/>
                  </a:cubicBezTo>
                  <a:cubicBezTo>
                    <a:pt x="40" y="134"/>
                    <a:pt x="25" y="133"/>
                    <a:pt x="25" y="112"/>
                  </a:cubicBezTo>
                  <a:close/>
                </a:path>
              </a:pathLst>
            </a:custGeom>
            <a:solidFill>
              <a:schemeClr val="tx1">
                <a:lumMod val="50000"/>
                <a:lumOff val="50000"/>
              </a:schemeClr>
            </a:solidFill>
            <a:ln>
              <a:noFill/>
            </a:ln>
          </p:spPr>
          <p:txBody>
            <a:bodyPr vert="horz" wrap="square" lIns="68571" tIns="34286" rIns="68571" bIns="34286" numCol="1" anchor="t" anchorCtr="0" compatLnSpc="1"/>
            <a:lstStyle/>
            <a:p>
              <a:pPr algn="just">
                <a:lnSpc>
                  <a:spcPct val="120000"/>
                </a:lnSpc>
              </a:pPr>
              <a:endParaRPr lang="en-GB" sz="7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 name="椭圆 2"/>
            <p:cNvSpPr/>
            <p:nvPr/>
          </p:nvSpPr>
          <p:spPr>
            <a:xfrm>
              <a:off x="6288" y="3327"/>
              <a:ext cx="531" cy="531"/>
            </a:xfrm>
            <a:prstGeom prst="ellipse">
              <a:avLst/>
            </a:prstGeom>
            <a:solidFill>
              <a:schemeClr val="tx1">
                <a:lumMod val="65000"/>
                <a:lumOff val="3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2500" y="6832"/>
              <a:ext cx="531" cy="531"/>
            </a:xfrm>
            <a:prstGeom prst="ellipse">
              <a:avLst/>
            </a:prstGeom>
            <a:solidFill>
              <a:schemeClr val="tx1">
                <a:lumMod val="65000"/>
                <a:lumOff val="3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a:stCxn id="3" idx="1"/>
            </p:cNvCxnSpPr>
            <p:nvPr/>
          </p:nvCxnSpPr>
          <p:spPr>
            <a:xfrm flipH="1" flipV="1">
              <a:off x="5909" y="2948"/>
              <a:ext cx="457" cy="457"/>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4823" y="2923"/>
              <a:ext cx="1086"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2903" y="7235"/>
              <a:ext cx="485" cy="489"/>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3362" y="7698"/>
              <a:ext cx="1187"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sp>
        <p:nvSpPr>
          <p:cNvPr id="12" name="文本框 11"/>
          <p:cNvSpPr txBox="1"/>
          <p:nvPr/>
        </p:nvSpPr>
        <p:spPr>
          <a:xfrm>
            <a:off x="700405" y="1414145"/>
            <a:ext cx="2748915" cy="4154170"/>
          </a:xfrm>
          <a:prstGeom prst="rect">
            <a:avLst/>
          </a:prstGeom>
          <a:noFill/>
        </p:spPr>
        <p:txBody>
          <a:bodyPr wrap="square" rtlCol="0" anchor="t">
            <a:spAutoFit/>
          </a:bodyPr>
          <a:lstStyle/>
          <a:p>
            <a:pPr eaLnBrk="1" hangingPunct="1">
              <a:lnSpc>
                <a:spcPct val="150000"/>
              </a:lnSpc>
            </a:pPr>
            <a:r>
              <a:rPr lang="zh-CN" altLang="en-US" sz="1200">
                <a:latin typeface="微软雅黑" panose="020B0503020204020204" pitchFamily="34" charset="-122"/>
                <a:ea typeface="微软雅黑" panose="020B0503020204020204" pitchFamily="34" charset="-122"/>
                <a:cs typeface="微软雅黑" panose="020B0503020204020204" pitchFamily="34" charset="-122"/>
              </a:rPr>
              <a:t>环比分析实际上是对基比分析的进一步补充和细化，是为了更好的说明财务状况的趋势。</a:t>
            </a:r>
          </a:p>
          <a:p>
            <a:pPr eaLnBrk="1" hangingPunct="1">
              <a:lnSpc>
                <a:spcPct val="150000"/>
              </a:lnSpc>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2018</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年长虹总资产为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1763751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万元，比</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2017</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年增加</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6.22%</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，其中：流动资产增加</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12.04%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，主要原因是应收款净额增加</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68.25%</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和应收票据增加</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15.50%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以及货币资金增加</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7.99%</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的原因；</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2018</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年由于折旧和资产清理增加，固定资产下降</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12.74%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；而长期待摊费用下降导致无形资产及其他资产下降</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17.71%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；与此同时负债有</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42.54%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的增加，导致了股东权益比</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2017</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年下降了</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3.29%</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p>
          <a:p>
            <a:pPr eaLnBrk="1" hangingPunct="1">
              <a:buFontTx/>
              <a:buNone/>
            </a:pP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8661400" y="2777490"/>
            <a:ext cx="2435225" cy="3138170"/>
          </a:xfrm>
          <a:prstGeom prst="rect">
            <a:avLst/>
          </a:prstGeom>
          <a:noFill/>
        </p:spPr>
        <p:txBody>
          <a:bodyPr wrap="square" rtlCol="0" anchor="t">
            <a:spAutoFit/>
          </a:bodyPr>
          <a:lstStyle/>
          <a:p>
            <a:pPr>
              <a:lnSpc>
                <a:spcPct val="150000"/>
              </a:lnSpc>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2 0 0 1 </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年 ， 主营 业 务 收入为</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119260</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万元，下降了</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11.14%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，主营业务成本下降</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8.64%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，收入下降速度快于成本下降速度以及主营业务税金及附加增长较快，导致主营业务利润较上年下降了</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-26.64%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；同时，销售费用下降了</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8.31%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，财务费用下降</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9.38%</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，而且没有提取存货跌价准备，但是管理费用却上升了</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29%</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，最终利润比</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2017</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年下降</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7.72%</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1"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heel(1)">
                                      <p:cBhvr>
                                        <p:cTn id="21" dur="2000"/>
                                        <p:tgtEl>
                                          <p:spTgt spid="14"/>
                                        </p:tgtEl>
                                      </p:cBhvr>
                                    </p:animEffect>
                                  </p:childTnLst>
                                </p:cTn>
                              </p:par>
                            </p:childTnLst>
                          </p:cTn>
                        </p:par>
                        <p:par>
                          <p:cTn id="22" fill="hold">
                            <p:stCondLst>
                              <p:cond delay="3500"/>
                            </p:stCondLst>
                            <p:childTnLst>
                              <p:par>
                                <p:cTn id="23" presetID="3" presetClass="entr" presetSubtype="1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childTnLst>
                          </p:cTn>
                        </p:par>
                        <p:par>
                          <p:cTn id="26" fill="hold">
                            <p:stCondLst>
                              <p:cond delay="4000"/>
                            </p:stCondLst>
                            <p:childTnLst>
                              <p:par>
                                <p:cTn id="27" presetID="3" presetClass="entr" presetSubtype="1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linds(horizontal)">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81178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2400" b="1" dirty="0">
                <a:sym typeface="+mn-ea"/>
              </a:rPr>
              <a:t>2017</a:t>
            </a:r>
            <a:r>
              <a:rPr lang="zh-CN" altLang="en-US" sz="2400" b="1" dirty="0">
                <a:sym typeface="+mn-ea"/>
              </a:rPr>
              <a:t>年行业比较分析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1" name="组合 90"/>
          <p:cNvGrpSpPr/>
          <p:nvPr/>
        </p:nvGrpSpPr>
        <p:grpSpPr>
          <a:xfrm>
            <a:off x="925830" y="1572260"/>
            <a:ext cx="10449560" cy="4714988"/>
            <a:chOff x="1682" y="2476"/>
            <a:chExt cx="11210" cy="5058"/>
          </a:xfrm>
        </p:grpSpPr>
        <p:grpSp>
          <p:nvGrpSpPr>
            <p:cNvPr id="15" name="Group 4"/>
            <p:cNvGrpSpPr/>
            <p:nvPr/>
          </p:nvGrpSpPr>
          <p:grpSpPr>
            <a:xfrm>
              <a:off x="1682" y="2476"/>
              <a:ext cx="3709" cy="2623"/>
              <a:chOff x="486928" y="1561513"/>
              <a:chExt cx="3616446" cy="2556801"/>
            </a:xfrm>
          </p:grpSpPr>
          <p:cxnSp>
            <p:nvCxnSpPr>
              <p:cNvPr id="16" name="Straight Connector 5"/>
              <p:cNvCxnSpPr/>
              <p:nvPr/>
            </p:nvCxnSpPr>
            <p:spPr>
              <a:xfrm>
                <a:off x="1127704"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6"/>
              <p:cNvCxnSpPr/>
              <p:nvPr/>
            </p:nvCxnSpPr>
            <p:spPr>
              <a:xfrm>
                <a:off x="1802952"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7"/>
              <p:cNvCxnSpPr/>
              <p:nvPr/>
            </p:nvCxnSpPr>
            <p:spPr>
              <a:xfrm>
                <a:off x="2478200"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8"/>
              <p:cNvCxnSpPr/>
              <p:nvPr/>
            </p:nvCxnSpPr>
            <p:spPr>
              <a:xfrm>
                <a:off x="3153448"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9"/>
              <p:cNvCxnSpPr/>
              <p:nvPr/>
            </p:nvCxnSpPr>
            <p:spPr>
              <a:xfrm>
                <a:off x="3828696"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Rectangle 10"/>
              <p:cNvSpPr/>
              <p:nvPr/>
            </p:nvSpPr>
            <p:spPr>
              <a:xfrm>
                <a:off x="1127704" y="3235568"/>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Rectangle 11"/>
              <p:cNvSpPr/>
              <p:nvPr/>
            </p:nvSpPr>
            <p:spPr>
              <a:xfrm>
                <a:off x="1127704" y="2715065"/>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Rectangle 12"/>
              <p:cNvSpPr/>
              <p:nvPr/>
            </p:nvSpPr>
            <p:spPr>
              <a:xfrm>
                <a:off x="1127704" y="2194562"/>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Rectangle 13"/>
              <p:cNvSpPr/>
              <p:nvPr/>
            </p:nvSpPr>
            <p:spPr>
              <a:xfrm>
                <a:off x="1127704" y="1674059"/>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Rectangle 14"/>
              <p:cNvSpPr/>
              <p:nvPr/>
            </p:nvSpPr>
            <p:spPr>
              <a:xfrm>
                <a:off x="1127704" y="3235566"/>
                <a:ext cx="1871003" cy="4220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6" name="Rectangle 15"/>
              <p:cNvSpPr/>
              <p:nvPr/>
            </p:nvSpPr>
            <p:spPr>
              <a:xfrm>
                <a:off x="1127705" y="2715063"/>
                <a:ext cx="829990" cy="4220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7" name="Rectangle 16"/>
              <p:cNvSpPr/>
              <p:nvPr/>
            </p:nvSpPr>
            <p:spPr>
              <a:xfrm>
                <a:off x="1127705" y="2194561"/>
                <a:ext cx="1519310" cy="4220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Rectangle 17"/>
              <p:cNvSpPr/>
              <p:nvPr/>
            </p:nvSpPr>
            <p:spPr>
              <a:xfrm>
                <a:off x="1127704" y="1674058"/>
                <a:ext cx="2461846" cy="422031"/>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9" name="TextBox 18"/>
              <p:cNvSpPr txBox="1"/>
              <p:nvPr/>
            </p:nvSpPr>
            <p:spPr>
              <a:xfrm>
                <a:off x="941631" y="3868618"/>
                <a:ext cx="372145"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TextBox 19"/>
              <p:cNvSpPr txBox="1"/>
              <p:nvPr/>
            </p:nvSpPr>
            <p:spPr>
              <a:xfrm>
                <a:off x="1572576" y="3868618"/>
                <a:ext cx="460751"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50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TextBox 20"/>
              <p:cNvSpPr txBox="1"/>
              <p:nvPr/>
            </p:nvSpPr>
            <p:spPr>
              <a:xfrm>
                <a:off x="3554017" y="3868618"/>
                <a:ext cx="549357"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TextBox 21"/>
              <p:cNvSpPr txBox="1"/>
              <p:nvPr/>
            </p:nvSpPr>
            <p:spPr>
              <a:xfrm>
                <a:off x="2878772" y="3868618"/>
                <a:ext cx="549357"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150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TextBox 22"/>
              <p:cNvSpPr txBox="1"/>
              <p:nvPr/>
            </p:nvSpPr>
            <p:spPr>
              <a:xfrm>
                <a:off x="2203520" y="3868618"/>
                <a:ext cx="549357"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100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TextBox 23"/>
              <p:cNvSpPr txBox="1"/>
              <p:nvPr/>
            </p:nvSpPr>
            <p:spPr>
              <a:xfrm>
                <a:off x="486928" y="1700222"/>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2015</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TextBox 24"/>
              <p:cNvSpPr txBox="1"/>
              <p:nvPr/>
            </p:nvSpPr>
            <p:spPr>
              <a:xfrm>
                <a:off x="486928" y="3259639"/>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2012</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6" name="TextBox 25"/>
              <p:cNvSpPr txBox="1"/>
              <p:nvPr/>
            </p:nvSpPr>
            <p:spPr>
              <a:xfrm>
                <a:off x="486928" y="2739834"/>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2013</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7" name="TextBox 26"/>
              <p:cNvSpPr txBox="1"/>
              <p:nvPr/>
            </p:nvSpPr>
            <p:spPr>
              <a:xfrm>
                <a:off x="486928" y="2220026"/>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2014</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8" name="Group 27"/>
            <p:cNvGrpSpPr/>
            <p:nvPr/>
          </p:nvGrpSpPr>
          <p:grpSpPr>
            <a:xfrm>
              <a:off x="9182" y="2476"/>
              <a:ext cx="3709" cy="2623"/>
              <a:chOff x="8112623" y="1561513"/>
              <a:chExt cx="3616447" cy="2556801"/>
            </a:xfrm>
          </p:grpSpPr>
          <p:cxnSp>
            <p:nvCxnSpPr>
              <p:cNvPr id="39" name="Straight Connector 28"/>
              <p:cNvCxnSpPr/>
              <p:nvPr/>
            </p:nvCxnSpPr>
            <p:spPr>
              <a:xfrm>
                <a:off x="8753402"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29"/>
              <p:cNvCxnSpPr/>
              <p:nvPr/>
            </p:nvCxnSpPr>
            <p:spPr>
              <a:xfrm>
                <a:off x="9428650"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1" name="Straight Connector 30"/>
              <p:cNvCxnSpPr/>
              <p:nvPr/>
            </p:nvCxnSpPr>
            <p:spPr>
              <a:xfrm>
                <a:off x="10103898"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31"/>
              <p:cNvCxnSpPr/>
              <p:nvPr/>
            </p:nvCxnSpPr>
            <p:spPr>
              <a:xfrm>
                <a:off x="10779146"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3" name="Straight Connector 32"/>
              <p:cNvCxnSpPr/>
              <p:nvPr/>
            </p:nvCxnSpPr>
            <p:spPr>
              <a:xfrm>
                <a:off x="11454394"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4" name="Rectangle 33"/>
              <p:cNvSpPr/>
              <p:nvPr/>
            </p:nvSpPr>
            <p:spPr>
              <a:xfrm>
                <a:off x="8753402" y="3235568"/>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5" name="Rectangle 34"/>
              <p:cNvSpPr/>
              <p:nvPr/>
            </p:nvSpPr>
            <p:spPr>
              <a:xfrm>
                <a:off x="8753402" y="2715065"/>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Rectangle 35"/>
              <p:cNvSpPr/>
              <p:nvPr/>
            </p:nvSpPr>
            <p:spPr>
              <a:xfrm>
                <a:off x="8753402" y="2194562"/>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7" name="Rectangle 36"/>
              <p:cNvSpPr/>
              <p:nvPr/>
            </p:nvSpPr>
            <p:spPr>
              <a:xfrm>
                <a:off x="8753402" y="1674059"/>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8" name="Rectangle 37"/>
              <p:cNvSpPr/>
              <p:nvPr/>
            </p:nvSpPr>
            <p:spPr>
              <a:xfrm>
                <a:off x="8753402" y="3235566"/>
                <a:ext cx="1615953" cy="4220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Rectangle 38"/>
              <p:cNvSpPr/>
              <p:nvPr/>
            </p:nvSpPr>
            <p:spPr>
              <a:xfrm>
                <a:off x="8753403" y="2715063"/>
                <a:ext cx="2290320" cy="4220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Rectangle 39"/>
              <p:cNvSpPr/>
              <p:nvPr/>
            </p:nvSpPr>
            <p:spPr>
              <a:xfrm>
                <a:off x="8753403" y="2194561"/>
                <a:ext cx="1615952" cy="4220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2" name="Rectangle 40"/>
              <p:cNvSpPr/>
              <p:nvPr/>
            </p:nvSpPr>
            <p:spPr>
              <a:xfrm>
                <a:off x="8753402" y="1674058"/>
                <a:ext cx="2025744" cy="4220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3" name="TextBox 41"/>
              <p:cNvSpPr txBox="1"/>
              <p:nvPr/>
            </p:nvSpPr>
            <p:spPr>
              <a:xfrm>
                <a:off x="8567327" y="3868618"/>
                <a:ext cx="372145"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4" name="TextBox 42"/>
              <p:cNvSpPr txBox="1"/>
              <p:nvPr/>
            </p:nvSpPr>
            <p:spPr>
              <a:xfrm>
                <a:off x="9198273" y="3868618"/>
                <a:ext cx="460751"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50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TextBox 43"/>
              <p:cNvSpPr txBox="1"/>
              <p:nvPr/>
            </p:nvSpPr>
            <p:spPr>
              <a:xfrm>
                <a:off x="11179713" y="3868618"/>
                <a:ext cx="549357"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TextBox 44"/>
              <p:cNvSpPr txBox="1"/>
              <p:nvPr/>
            </p:nvSpPr>
            <p:spPr>
              <a:xfrm>
                <a:off x="10504468" y="3868618"/>
                <a:ext cx="549357"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150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7" name="TextBox 45"/>
              <p:cNvSpPr txBox="1"/>
              <p:nvPr/>
            </p:nvSpPr>
            <p:spPr>
              <a:xfrm>
                <a:off x="9829217" y="3868618"/>
                <a:ext cx="549357"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100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8" name="TextBox 46"/>
              <p:cNvSpPr txBox="1"/>
              <p:nvPr/>
            </p:nvSpPr>
            <p:spPr>
              <a:xfrm>
                <a:off x="8112625" y="1694236"/>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2015</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9" name="TextBox 47"/>
              <p:cNvSpPr txBox="1"/>
              <p:nvPr/>
            </p:nvSpPr>
            <p:spPr>
              <a:xfrm>
                <a:off x="8112625" y="3186362"/>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2012</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0" name="TextBox 48"/>
              <p:cNvSpPr txBox="1"/>
              <p:nvPr/>
            </p:nvSpPr>
            <p:spPr>
              <a:xfrm>
                <a:off x="8112623" y="2688988"/>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2013</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1" name="TextBox 49"/>
              <p:cNvSpPr txBox="1"/>
              <p:nvPr/>
            </p:nvSpPr>
            <p:spPr>
              <a:xfrm>
                <a:off x="8112625" y="2191610"/>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2014</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2" name="Group 50"/>
            <p:cNvGrpSpPr/>
            <p:nvPr/>
          </p:nvGrpSpPr>
          <p:grpSpPr>
            <a:xfrm>
              <a:off x="5390" y="2476"/>
              <a:ext cx="3709" cy="2623"/>
              <a:chOff x="4304201" y="1561513"/>
              <a:chExt cx="3616444" cy="2556801"/>
            </a:xfrm>
          </p:grpSpPr>
          <p:cxnSp>
            <p:nvCxnSpPr>
              <p:cNvPr id="63" name="Straight Connector 51"/>
              <p:cNvCxnSpPr/>
              <p:nvPr/>
            </p:nvCxnSpPr>
            <p:spPr>
              <a:xfrm>
                <a:off x="4944978"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52"/>
              <p:cNvCxnSpPr/>
              <p:nvPr/>
            </p:nvCxnSpPr>
            <p:spPr>
              <a:xfrm>
                <a:off x="5620226"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53"/>
              <p:cNvCxnSpPr/>
              <p:nvPr/>
            </p:nvCxnSpPr>
            <p:spPr>
              <a:xfrm>
                <a:off x="6295474"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6" name="Straight Connector 54"/>
              <p:cNvCxnSpPr/>
              <p:nvPr/>
            </p:nvCxnSpPr>
            <p:spPr>
              <a:xfrm>
                <a:off x="6970722"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55"/>
              <p:cNvCxnSpPr/>
              <p:nvPr/>
            </p:nvCxnSpPr>
            <p:spPr>
              <a:xfrm>
                <a:off x="7645970" y="1561513"/>
                <a:ext cx="0" cy="219456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8" name="Rectangle 56"/>
              <p:cNvSpPr/>
              <p:nvPr/>
            </p:nvSpPr>
            <p:spPr>
              <a:xfrm>
                <a:off x="4944978" y="3235568"/>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9" name="Rectangle 57"/>
              <p:cNvSpPr/>
              <p:nvPr/>
            </p:nvSpPr>
            <p:spPr>
              <a:xfrm>
                <a:off x="4944978" y="2715065"/>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0" name="Rectangle 58"/>
              <p:cNvSpPr/>
              <p:nvPr/>
            </p:nvSpPr>
            <p:spPr>
              <a:xfrm>
                <a:off x="4944978" y="2194562"/>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59"/>
              <p:cNvSpPr/>
              <p:nvPr/>
            </p:nvSpPr>
            <p:spPr>
              <a:xfrm>
                <a:off x="4944978" y="1674059"/>
                <a:ext cx="2700992" cy="4220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60"/>
              <p:cNvSpPr/>
              <p:nvPr/>
            </p:nvSpPr>
            <p:spPr>
              <a:xfrm>
                <a:off x="4944979" y="3235566"/>
                <a:ext cx="1195754" cy="422031"/>
              </a:xfrm>
              <a:prstGeom prst="rect">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3" name="Rectangle 61"/>
              <p:cNvSpPr/>
              <p:nvPr/>
            </p:nvSpPr>
            <p:spPr>
              <a:xfrm>
                <a:off x="4944978" y="2715063"/>
                <a:ext cx="2180485" cy="422031"/>
              </a:xfrm>
              <a:prstGeom prst="rect">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4" name="Rectangle 62"/>
              <p:cNvSpPr/>
              <p:nvPr/>
            </p:nvSpPr>
            <p:spPr>
              <a:xfrm>
                <a:off x="4944978" y="2194561"/>
                <a:ext cx="1856929" cy="422031"/>
              </a:xfrm>
              <a:prstGeom prst="rect">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5" name="Rectangle 63"/>
              <p:cNvSpPr/>
              <p:nvPr/>
            </p:nvSpPr>
            <p:spPr>
              <a:xfrm>
                <a:off x="4944978" y="1674058"/>
                <a:ext cx="1615953" cy="422031"/>
              </a:xfrm>
              <a:prstGeom prst="rect">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6" name="TextBox 64"/>
              <p:cNvSpPr txBox="1"/>
              <p:nvPr/>
            </p:nvSpPr>
            <p:spPr>
              <a:xfrm>
                <a:off x="4758904" y="3868618"/>
                <a:ext cx="372145"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7" name="TextBox 65"/>
              <p:cNvSpPr txBox="1"/>
              <p:nvPr/>
            </p:nvSpPr>
            <p:spPr>
              <a:xfrm>
                <a:off x="5389849" y="3868618"/>
                <a:ext cx="460751"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50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8" name="TextBox 66"/>
              <p:cNvSpPr txBox="1"/>
              <p:nvPr/>
            </p:nvSpPr>
            <p:spPr>
              <a:xfrm>
                <a:off x="7371289" y="3868618"/>
                <a:ext cx="549356"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9" name="TextBox 67"/>
              <p:cNvSpPr txBox="1"/>
              <p:nvPr/>
            </p:nvSpPr>
            <p:spPr>
              <a:xfrm>
                <a:off x="6696045" y="3868618"/>
                <a:ext cx="549357"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150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0" name="TextBox 68"/>
              <p:cNvSpPr txBox="1"/>
              <p:nvPr/>
            </p:nvSpPr>
            <p:spPr>
              <a:xfrm>
                <a:off x="6020793" y="3868618"/>
                <a:ext cx="549357" cy="249696"/>
              </a:xfrm>
              <a:prstGeom prst="rect">
                <a:avLst/>
              </a:prstGeom>
              <a:noFill/>
            </p:spPr>
            <p:txBody>
              <a:bodyPr wrap="square" rtlCol="0">
                <a:spAutoFit/>
              </a:bodyPr>
              <a:lstStyle/>
              <a:p>
                <a:pPr algn="ct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100</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1" name="TextBox 69"/>
              <p:cNvSpPr txBox="1"/>
              <p:nvPr/>
            </p:nvSpPr>
            <p:spPr>
              <a:xfrm>
                <a:off x="4304201" y="1694236"/>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2015</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2" name="TextBox 70"/>
              <p:cNvSpPr txBox="1"/>
              <p:nvPr/>
            </p:nvSpPr>
            <p:spPr>
              <a:xfrm>
                <a:off x="4304201" y="3186362"/>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2012</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3" name="TextBox 71"/>
              <p:cNvSpPr txBox="1"/>
              <p:nvPr/>
            </p:nvSpPr>
            <p:spPr>
              <a:xfrm>
                <a:off x="4304201" y="2688988"/>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2013</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84" name="TextBox 72"/>
              <p:cNvSpPr txBox="1"/>
              <p:nvPr/>
            </p:nvSpPr>
            <p:spPr>
              <a:xfrm>
                <a:off x="4304201" y="2191610"/>
                <a:ext cx="637962" cy="249362"/>
              </a:xfrm>
              <a:prstGeom prst="rect">
                <a:avLst/>
              </a:prstGeom>
              <a:noFill/>
            </p:spPr>
            <p:txBody>
              <a:bodyPr wrap="square" rtlCol="0">
                <a:spAutoFit/>
              </a:bodyPr>
              <a:lstStyle/>
              <a:p>
                <a:pPr algn="r">
                  <a:lnSpc>
                    <a:spcPct val="120000"/>
                  </a:lnSpc>
                </a:pPr>
                <a:r>
                  <a:rPr lang="en-US"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2014</a:t>
                </a:r>
                <a:endParaRPr lang="en-GB" sz="8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88" name="Rectangle 79"/>
            <p:cNvSpPr/>
            <p:nvPr/>
          </p:nvSpPr>
          <p:spPr>
            <a:xfrm>
              <a:off x="2348" y="5306"/>
              <a:ext cx="2729" cy="2228"/>
            </a:xfrm>
            <a:prstGeom prst="rect">
              <a:avLst/>
            </a:prstGeom>
          </p:spPr>
          <p:txBody>
            <a:bodyPr wrap="square" lIns="0" tIns="0" rIns="0" bIns="0">
              <a:spAutoFit/>
            </a:bodyPr>
            <a:lstStyle/>
            <a:p>
              <a:pPr algn="l">
                <a:lnSpc>
                  <a:spcPct val="150000"/>
                </a:lnSpc>
              </a:pP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偿债能力分析：公司的偿债能力处于同行业领先水平，流动比率、速动比率．股东权益比率分别居同行业上市公司的第</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位  ，同时从资产负债表中可看出公司现金充足，公司的债务风险小，偿债能力强。但是公司的资产负债率位居同行业的</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31</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位，所以，公司自有资本与债务的结构有进一步调整的空间以进一步发挥财务杠杆的作用，为公司	获取更多的收益。</a:t>
              </a:r>
              <a:endParaRPr lang="en-GB" altLang="zh-CN"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89" name="Rectangle 80"/>
            <p:cNvSpPr/>
            <p:nvPr/>
          </p:nvSpPr>
          <p:spPr>
            <a:xfrm>
              <a:off x="6057" y="5306"/>
              <a:ext cx="2729" cy="1486"/>
            </a:xfrm>
            <a:prstGeom prst="rect">
              <a:avLst/>
            </a:prstGeom>
          </p:spPr>
          <p:txBody>
            <a:bodyPr wrap="square" lIns="0" tIns="0" rIns="0" bIns="0">
              <a:spAutoFit/>
            </a:bodyPr>
            <a:lstStyle/>
            <a:p>
              <a:pPr algn="l">
                <a:lnSpc>
                  <a:spcPct val="150000"/>
                </a:lnSpc>
              </a:pP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营运能力分析：公司的营运能力处于同行业中游水平，应收帐款周转率、存货周转率．流动资产周转率、总资产周转率分别居同行业上市公司的第</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15</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18</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位，表明公司的营运能力仍显不足，资产的利用效率还有待进一步提高。</a:t>
              </a:r>
              <a:endParaRPr lang="en-GB" altLang="zh-CN"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90" name="Rectangle 81"/>
            <p:cNvSpPr/>
            <p:nvPr/>
          </p:nvSpPr>
          <p:spPr>
            <a:xfrm>
              <a:off x="9848" y="5306"/>
              <a:ext cx="2729" cy="1486"/>
            </a:xfrm>
            <a:prstGeom prst="rect">
              <a:avLst/>
            </a:prstGeom>
          </p:spPr>
          <p:txBody>
            <a:bodyPr wrap="square" lIns="0" tIns="0" rIns="0" bIns="0">
              <a:spAutoFit/>
            </a:bodyPr>
            <a:lstStyle/>
            <a:p>
              <a:pPr algn="l">
                <a:lnSpc>
                  <a:spcPct val="150000"/>
                </a:lnSpc>
              </a:pP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盈利能力分析：公司的盈利能力处于行业中游，主营业务毛利率、主营业务利润率、净资产收益率、总资产利润率、第股收益分别居同行业上市公司的第</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21</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19</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20</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19</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1000">
                  <a:latin typeface="微软雅黑" panose="020B0503020204020204" pitchFamily="34" charset="-122"/>
                  <a:ea typeface="微软雅黑" panose="020B0503020204020204" pitchFamily="34" charset="-122"/>
                  <a:cs typeface="微软雅黑" panose="020B0503020204020204" pitchFamily="34" charset="-122"/>
                  <a:sym typeface="+mn-ea"/>
                </a:rPr>
                <a:t>18</a:t>
              </a:r>
              <a:r>
                <a:rPr lang="zh-CN" altLang="en-US" sz="1000">
                  <a:latin typeface="微软雅黑" panose="020B0503020204020204" pitchFamily="34" charset="-122"/>
                  <a:ea typeface="微软雅黑" panose="020B0503020204020204" pitchFamily="34" charset="-122"/>
                  <a:cs typeface="微软雅黑" panose="020B0503020204020204" pitchFamily="34" charset="-122"/>
                  <a:sym typeface="+mn-ea"/>
                </a:rPr>
                <a:t>位，表明公司的盈利能力不足，公司应进一步扩大销售和降低成本费用，为股利获得更多的回报。</a:t>
              </a:r>
              <a:endParaRPr lang="en-GB" altLang="zh-CN"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gr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91"/>
                                        </p:tgtEl>
                                        <p:attrNameLst>
                                          <p:attrName>style.visibility</p:attrName>
                                        </p:attrNameLst>
                                      </p:cBhvr>
                                      <p:to>
                                        <p:strVal val="visible"/>
                                      </p:to>
                                    </p:set>
                                    <p:anim calcmode="lin" valueType="num">
                                      <p:cBhvr>
                                        <p:cTn id="21" dur="500" fill="hold"/>
                                        <p:tgtEl>
                                          <p:spTgt spid="91"/>
                                        </p:tgtEl>
                                        <p:attrNameLst>
                                          <p:attrName>ppt_w</p:attrName>
                                        </p:attrNameLst>
                                      </p:cBhvr>
                                      <p:tavLst>
                                        <p:tav tm="0">
                                          <p:val>
                                            <p:fltVal val="0"/>
                                          </p:val>
                                        </p:tav>
                                        <p:tav tm="100000">
                                          <p:val>
                                            <p:strVal val="#ppt_w"/>
                                          </p:val>
                                        </p:tav>
                                      </p:tavLst>
                                    </p:anim>
                                    <p:anim calcmode="lin" valueType="num">
                                      <p:cBhvr>
                                        <p:cTn id="22" dur="500" fill="hold"/>
                                        <p:tgtEl>
                                          <p:spTgt spid="91"/>
                                        </p:tgtEl>
                                        <p:attrNameLst>
                                          <p:attrName>ppt_h</p:attrName>
                                        </p:attrNameLst>
                                      </p:cBhvr>
                                      <p:tavLst>
                                        <p:tav tm="0">
                                          <p:val>
                                            <p:fltVal val="0"/>
                                          </p:val>
                                        </p:tav>
                                        <p:tav tm="100000">
                                          <p:val>
                                            <p:strVal val="#ppt_h"/>
                                          </p:val>
                                        </p:tav>
                                      </p:tavLst>
                                    </p:anim>
                                    <p:animEffect transition="in" filter="fade">
                                      <p:cBhvr>
                                        <p:cTn id="23"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81178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altLang="zh-CN" sz="2400" b="1" dirty="0">
                <a:sym typeface="+mn-ea"/>
              </a:rPr>
              <a:t>2018</a:t>
            </a:r>
            <a:r>
              <a:rPr lang="zh-CN" altLang="en-US" sz="2400" b="1" dirty="0">
                <a:sym typeface="+mn-ea"/>
              </a:rPr>
              <a:t>年行业比较分析</a:t>
            </a:r>
            <a:endParaRPr lang="en-US" altLang="zh-CN" sz="2400"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Group 3"/>
          <p:cNvGrpSpPr/>
          <p:nvPr/>
        </p:nvGrpSpPr>
        <p:grpSpPr>
          <a:xfrm>
            <a:off x="4935043" y="2293789"/>
            <a:ext cx="439544" cy="566711"/>
            <a:chOff x="787010" y="2176759"/>
            <a:chExt cx="359937" cy="464074"/>
          </a:xfrm>
        </p:grpSpPr>
        <p:sp>
          <p:nvSpPr>
            <p:cNvPr id="3"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rgbClr val="CE3418"/>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 name="TextBox 5"/>
            <p:cNvSpPr txBox="1"/>
            <p:nvPr/>
          </p:nvSpPr>
          <p:spPr>
            <a:xfrm>
              <a:off x="787010" y="2216099"/>
              <a:ext cx="359937"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26%</a:t>
              </a:r>
            </a:p>
          </p:txBody>
        </p:sp>
      </p:grpSp>
      <p:grpSp>
        <p:nvGrpSpPr>
          <p:cNvPr id="7" name="Group 6"/>
          <p:cNvGrpSpPr/>
          <p:nvPr/>
        </p:nvGrpSpPr>
        <p:grpSpPr>
          <a:xfrm>
            <a:off x="2957547" y="1587759"/>
            <a:ext cx="439544" cy="566711"/>
            <a:chOff x="787010" y="2176759"/>
            <a:chExt cx="359936" cy="464074"/>
          </a:xfrm>
        </p:grpSpPr>
        <p:sp>
          <p:nvSpPr>
            <p:cNvPr id="8"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rgbClr val="CE3418"/>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9" name="TextBox 8"/>
            <p:cNvSpPr txBox="1"/>
            <p:nvPr/>
          </p:nvSpPr>
          <p:spPr>
            <a:xfrm>
              <a:off x="787010" y="2216099"/>
              <a:ext cx="359936"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56%</a:t>
              </a:r>
            </a:p>
          </p:txBody>
        </p:sp>
      </p:grpSp>
      <p:grpSp>
        <p:nvGrpSpPr>
          <p:cNvPr id="11" name="Group 9"/>
          <p:cNvGrpSpPr/>
          <p:nvPr/>
        </p:nvGrpSpPr>
        <p:grpSpPr>
          <a:xfrm>
            <a:off x="3995742" y="1945600"/>
            <a:ext cx="439544" cy="566711"/>
            <a:chOff x="787010" y="2176759"/>
            <a:chExt cx="359936" cy="464074"/>
          </a:xfrm>
        </p:grpSpPr>
        <p:sp>
          <p:nvSpPr>
            <p:cNvPr id="12"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3"/>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3" name="TextBox 11"/>
            <p:cNvSpPr txBox="1"/>
            <p:nvPr/>
          </p:nvSpPr>
          <p:spPr>
            <a:xfrm>
              <a:off x="787010" y="2216099"/>
              <a:ext cx="359936"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45%</a:t>
              </a:r>
            </a:p>
          </p:txBody>
        </p:sp>
      </p:grpSp>
      <p:grpSp>
        <p:nvGrpSpPr>
          <p:cNvPr id="14" name="Group 12"/>
          <p:cNvGrpSpPr/>
          <p:nvPr/>
        </p:nvGrpSpPr>
        <p:grpSpPr>
          <a:xfrm>
            <a:off x="2100172" y="2112345"/>
            <a:ext cx="439544" cy="566711"/>
            <a:chOff x="787010" y="2176759"/>
            <a:chExt cx="359936" cy="464074"/>
          </a:xfrm>
        </p:grpSpPr>
        <p:sp>
          <p:nvSpPr>
            <p:cNvPr id="51"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1"/>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5" name="TextBox 14"/>
            <p:cNvSpPr txBox="1"/>
            <p:nvPr/>
          </p:nvSpPr>
          <p:spPr>
            <a:xfrm>
              <a:off x="787010" y="2216099"/>
              <a:ext cx="359936"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39%</a:t>
              </a:r>
            </a:p>
          </p:txBody>
        </p:sp>
      </p:grpSp>
      <p:grpSp>
        <p:nvGrpSpPr>
          <p:cNvPr id="86" name="Group 15"/>
          <p:cNvGrpSpPr/>
          <p:nvPr/>
        </p:nvGrpSpPr>
        <p:grpSpPr>
          <a:xfrm>
            <a:off x="9766798" y="1912497"/>
            <a:ext cx="439544" cy="566711"/>
            <a:chOff x="787010" y="2176759"/>
            <a:chExt cx="359936" cy="464074"/>
          </a:xfrm>
        </p:grpSpPr>
        <p:sp>
          <p:nvSpPr>
            <p:cNvPr id="87"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rgbClr val="CE3418"/>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92" name="TextBox 17"/>
            <p:cNvSpPr txBox="1"/>
            <p:nvPr/>
          </p:nvSpPr>
          <p:spPr>
            <a:xfrm>
              <a:off x="787010" y="2216099"/>
              <a:ext cx="359936"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26%</a:t>
              </a:r>
            </a:p>
          </p:txBody>
        </p:sp>
      </p:grpSp>
      <p:grpSp>
        <p:nvGrpSpPr>
          <p:cNvPr id="93" name="Group 18"/>
          <p:cNvGrpSpPr/>
          <p:nvPr/>
        </p:nvGrpSpPr>
        <p:grpSpPr>
          <a:xfrm>
            <a:off x="8293532" y="2288520"/>
            <a:ext cx="439544" cy="566711"/>
            <a:chOff x="787010" y="2176759"/>
            <a:chExt cx="359936" cy="464074"/>
          </a:xfrm>
        </p:grpSpPr>
        <p:sp>
          <p:nvSpPr>
            <p:cNvPr id="94"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rgbClr val="CE3418"/>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95" name="TextBox 20"/>
            <p:cNvSpPr txBox="1"/>
            <p:nvPr/>
          </p:nvSpPr>
          <p:spPr>
            <a:xfrm>
              <a:off x="787010" y="2216099"/>
              <a:ext cx="359936"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56%</a:t>
              </a:r>
            </a:p>
          </p:txBody>
        </p:sp>
      </p:grpSp>
      <p:grpSp>
        <p:nvGrpSpPr>
          <p:cNvPr id="96" name="Group 21"/>
          <p:cNvGrpSpPr/>
          <p:nvPr/>
        </p:nvGrpSpPr>
        <p:grpSpPr>
          <a:xfrm>
            <a:off x="9062569" y="2107509"/>
            <a:ext cx="439544" cy="566711"/>
            <a:chOff x="787010" y="2176759"/>
            <a:chExt cx="359936" cy="464074"/>
          </a:xfrm>
        </p:grpSpPr>
        <p:sp>
          <p:nvSpPr>
            <p:cNvPr id="97"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3"/>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98" name="TextBox 23"/>
            <p:cNvSpPr txBox="1"/>
            <p:nvPr/>
          </p:nvSpPr>
          <p:spPr>
            <a:xfrm>
              <a:off x="787010" y="2216099"/>
              <a:ext cx="359936"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45%</a:t>
              </a:r>
            </a:p>
          </p:txBody>
        </p:sp>
      </p:grpSp>
      <p:grpSp>
        <p:nvGrpSpPr>
          <p:cNvPr id="99" name="Group 24"/>
          <p:cNvGrpSpPr/>
          <p:nvPr/>
        </p:nvGrpSpPr>
        <p:grpSpPr>
          <a:xfrm>
            <a:off x="7504423" y="1359352"/>
            <a:ext cx="439544" cy="566711"/>
            <a:chOff x="787011" y="2176759"/>
            <a:chExt cx="359937" cy="464074"/>
          </a:xfrm>
        </p:grpSpPr>
        <p:sp>
          <p:nvSpPr>
            <p:cNvPr id="100"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chemeClr val="accent1"/>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1" name="TextBox 26"/>
            <p:cNvSpPr txBox="1"/>
            <p:nvPr/>
          </p:nvSpPr>
          <p:spPr>
            <a:xfrm>
              <a:off x="787011" y="2216099"/>
              <a:ext cx="359937"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39%</a:t>
              </a:r>
            </a:p>
          </p:txBody>
        </p:sp>
      </p:grpSp>
      <p:grpSp>
        <p:nvGrpSpPr>
          <p:cNvPr id="102" name="Group 27"/>
          <p:cNvGrpSpPr/>
          <p:nvPr/>
        </p:nvGrpSpPr>
        <p:grpSpPr>
          <a:xfrm>
            <a:off x="5859193" y="2107776"/>
            <a:ext cx="439544" cy="566711"/>
            <a:chOff x="787010" y="2186119"/>
            <a:chExt cx="359936" cy="464074"/>
          </a:xfrm>
        </p:grpSpPr>
        <p:sp>
          <p:nvSpPr>
            <p:cNvPr id="103" name="Freeform 7"/>
            <p:cNvSpPr>
              <a:spLocks noEditPoints="1"/>
            </p:cNvSpPr>
            <p:nvPr/>
          </p:nvSpPr>
          <p:spPr bwMode="auto">
            <a:xfrm>
              <a:off x="818146" y="218611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rgbClr val="5B9BD5"/>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4" name="TextBox 29"/>
            <p:cNvSpPr txBox="1"/>
            <p:nvPr/>
          </p:nvSpPr>
          <p:spPr>
            <a:xfrm>
              <a:off x="787010" y="2216099"/>
              <a:ext cx="359936"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26%</a:t>
              </a:r>
            </a:p>
          </p:txBody>
        </p:sp>
      </p:grpSp>
      <p:grpSp>
        <p:nvGrpSpPr>
          <p:cNvPr id="105" name="Group 30"/>
          <p:cNvGrpSpPr/>
          <p:nvPr/>
        </p:nvGrpSpPr>
        <p:grpSpPr>
          <a:xfrm>
            <a:off x="6719106" y="2519470"/>
            <a:ext cx="439544" cy="566711"/>
            <a:chOff x="787010" y="2176759"/>
            <a:chExt cx="359936" cy="464074"/>
          </a:xfrm>
        </p:grpSpPr>
        <p:sp>
          <p:nvSpPr>
            <p:cNvPr id="106" name="Freeform 7"/>
            <p:cNvSpPr>
              <a:spLocks noEditPoints="1"/>
            </p:cNvSpPr>
            <p:nvPr/>
          </p:nvSpPr>
          <p:spPr bwMode="auto">
            <a:xfrm>
              <a:off x="829066" y="2176759"/>
              <a:ext cx="272155" cy="464074"/>
            </a:xfrm>
            <a:custGeom>
              <a:avLst/>
              <a:gdLst>
                <a:gd name="T0" fmla="*/ 53 w 106"/>
                <a:gd name="T1" fmla="*/ 0 h 181"/>
                <a:gd name="T2" fmla="*/ 0 w 106"/>
                <a:gd name="T3" fmla="*/ 53 h 181"/>
                <a:gd name="T4" fmla="*/ 53 w 106"/>
                <a:gd name="T5" fmla="*/ 181 h 181"/>
                <a:gd name="T6" fmla="*/ 106 w 106"/>
                <a:gd name="T7" fmla="*/ 53 h 181"/>
                <a:gd name="T8" fmla="*/ 53 w 106"/>
                <a:gd name="T9" fmla="*/ 0 h 181"/>
                <a:gd name="T10" fmla="*/ 53 w 106"/>
                <a:gd name="T11" fmla="*/ 90 h 181"/>
                <a:gd name="T12" fmla="*/ 15 w 106"/>
                <a:gd name="T13" fmla="*/ 52 h 181"/>
                <a:gd name="T14" fmla="*/ 53 w 106"/>
                <a:gd name="T15" fmla="*/ 13 h 181"/>
                <a:gd name="T16" fmla="*/ 92 w 106"/>
                <a:gd name="T17" fmla="*/ 52 h 181"/>
                <a:gd name="T18" fmla="*/ 53 w 106"/>
                <a:gd name="T19" fmla="*/ 9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81">
                  <a:moveTo>
                    <a:pt x="53" y="0"/>
                  </a:moveTo>
                  <a:cubicBezTo>
                    <a:pt x="24" y="0"/>
                    <a:pt x="0" y="24"/>
                    <a:pt x="0" y="53"/>
                  </a:cubicBezTo>
                  <a:cubicBezTo>
                    <a:pt x="0" y="83"/>
                    <a:pt x="53" y="181"/>
                    <a:pt x="53" y="181"/>
                  </a:cubicBezTo>
                  <a:cubicBezTo>
                    <a:pt x="53" y="181"/>
                    <a:pt x="106" y="83"/>
                    <a:pt x="106" y="53"/>
                  </a:cubicBezTo>
                  <a:cubicBezTo>
                    <a:pt x="106" y="24"/>
                    <a:pt x="82" y="0"/>
                    <a:pt x="53" y="0"/>
                  </a:cubicBezTo>
                  <a:close/>
                  <a:moveTo>
                    <a:pt x="53" y="90"/>
                  </a:moveTo>
                  <a:cubicBezTo>
                    <a:pt x="32" y="90"/>
                    <a:pt x="15" y="73"/>
                    <a:pt x="15" y="52"/>
                  </a:cubicBezTo>
                  <a:cubicBezTo>
                    <a:pt x="15" y="30"/>
                    <a:pt x="32" y="13"/>
                    <a:pt x="53" y="13"/>
                  </a:cubicBezTo>
                  <a:cubicBezTo>
                    <a:pt x="75" y="13"/>
                    <a:pt x="92" y="30"/>
                    <a:pt x="92" y="52"/>
                  </a:cubicBezTo>
                  <a:cubicBezTo>
                    <a:pt x="92" y="73"/>
                    <a:pt x="75" y="90"/>
                    <a:pt x="53" y="90"/>
                  </a:cubicBezTo>
                  <a:close/>
                </a:path>
              </a:pathLst>
            </a:custGeom>
            <a:solidFill>
              <a:srgbClr val="CE3418"/>
            </a:solidFill>
            <a:ln>
              <a:noFill/>
            </a:ln>
          </p:spPr>
          <p:txBody>
            <a:bodyPr vert="horz" wrap="square" lIns="111664" tIns="55832" rIns="111664" bIns="55832" numCol="1" anchor="t" anchorCtr="0" compatLnSpc="1"/>
            <a:lstStyle/>
            <a:p>
              <a:pPr algn="ctr">
                <a:lnSpc>
                  <a:spcPct val="120000"/>
                </a:lnSpc>
              </a:pPr>
              <a:endPar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07" name="TextBox 32"/>
            <p:cNvSpPr txBox="1"/>
            <p:nvPr/>
          </p:nvSpPr>
          <p:spPr>
            <a:xfrm>
              <a:off x="787010" y="2216099"/>
              <a:ext cx="359936" cy="226832"/>
            </a:xfrm>
            <a:prstGeom prst="rect">
              <a:avLst/>
            </a:prstGeom>
            <a:noFill/>
          </p:spPr>
          <p:txBody>
            <a:bodyPr wrap="none" rtlCol="0">
              <a:spAutoFit/>
            </a:bodyPr>
            <a:lstStyle/>
            <a:p>
              <a:pPr algn="ctr">
                <a:lnSpc>
                  <a:spcPct val="120000"/>
                </a:lnSpc>
              </a:pPr>
              <a:r>
                <a:rPr lang="en-US" sz="10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26%</a:t>
              </a:r>
            </a:p>
          </p:txBody>
        </p:sp>
      </p:grpSp>
      <p:grpSp>
        <p:nvGrpSpPr>
          <p:cNvPr id="108" name="Group 35"/>
          <p:cNvGrpSpPr/>
          <p:nvPr/>
        </p:nvGrpSpPr>
        <p:grpSpPr>
          <a:xfrm>
            <a:off x="1610194" y="2744030"/>
            <a:ext cx="1419492" cy="1285724"/>
            <a:chOff x="755576" y="2395604"/>
            <a:chExt cx="1162406" cy="1052867"/>
          </a:xfrm>
        </p:grpSpPr>
        <p:sp>
          <p:nvSpPr>
            <p:cNvPr id="109" name="Isosceles Triangle 2"/>
            <p:cNvSpPr/>
            <p:nvPr/>
          </p:nvSpPr>
          <p:spPr>
            <a:xfrm>
              <a:off x="755576" y="2395604"/>
              <a:ext cx="1162406" cy="828163"/>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10" name="Content Placeholder 2"/>
            <p:cNvSpPr txBox="1"/>
            <p:nvPr/>
          </p:nvSpPr>
          <p:spPr>
            <a:xfrm>
              <a:off x="988884" y="3235161"/>
              <a:ext cx="695790" cy="213310"/>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smtClean="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a:t>
              </a: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内容</a:t>
              </a:r>
            </a:p>
          </p:txBody>
        </p:sp>
      </p:grpSp>
      <p:grpSp>
        <p:nvGrpSpPr>
          <p:cNvPr id="111" name="Group 38"/>
          <p:cNvGrpSpPr/>
          <p:nvPr/>
        </p:nvGrpSpPr>
        <p:grpSpPr>
          <a:xfrm>
            <a:off x="2470108" y="2209398"/>
            <a:ext cx="1419492" cy="1807659"/>
            <a:chOff x="1459750" y="1957798"/>
            <a:chExt cx="1162406" cy="1480273"/>
          </a:xfrm>
        </p:grpSpPr>
        <p:sp>
          <p:nvSpPr>
            <p:cNvPr id="112" name="Isosceles Triangle 2"/>
            <p:cNvSpPr/>
            <p:nvPr/>
          </p:nvSpPr>
          <p:spPr>
            <a:xfrm>
              <a:off x="1459750" y="1957798"/>
              <a:ext cx="1162406" cy="1265969"/>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CE341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13" name="Content Placeholder 2"/>
            <p:cNvSpPr txBox="1"/>
            <p:nvPr/>
          </p:nvSpPr>
          <p:spPr>
            <a:xfrm>
              <a:off x="1691223" y="3235158"/>
              <a:ext cx="695790" cy="202913"/>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grpSp>
        <p:nvGrpSpPr>
          <p:cNvPr id="114" name="Group 41"/>
          <p:cNvGrpSpPr/>
          <p:nvPr/>
        </p:nvGrpSpPr>
        <p:grpSpPr>
          <a:xfrm>
            <a:off x="3562717" y="2577139"/>
            <a:ext cx="1305584" cy="1439918"/>
            <a:chOff x="2354476" y="2258939"/>
            <a:chExt cx="1069128" cy="1179134"/>
          </a:xfrm>
        </p:grpSpPr>
        <p:sp>
          <p:nvSpPr>
            <p:cNvPr id="115" name="Isosceles Triangle 2"/>
            <p:cNvSpPr/>
            <p:nvPr/>
          </p:nvSpPr>
          <p:spPr>
            <a:xfrm>
              <a:off x="2354476" y="2258939"/>
              <a:ext cx="1069128" cy="964828"/>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16" name="Content Placeholder 2"/>
            <p:cNvSpPr txBox="1"/>
            <p:nvPr/>
          </p:nvSpPr>
          <p:spPr>
            <a:xfrm>
              <a:off x="2539310" y="3235159"/>
              <a:ext cx="695790" cy="202914"/>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grpSp>
        <p:nvGrpSpPr>
          <p:cNvPr id="117" name="Group 44"/>
          <p:cNvGrpSpPr/>
          <p:nvPr/>
        </p:nvGrpSpPr>
        <p:grpSpPr>
          <a:xfrm>
            <a:off x="4546089" y="2942235"/>
            <a:ext cx="1217447" cy="1074825"/>
            <a:chOff x="3159748" y="2557908"/>
            <a:chExt cx="996954" cy="880163"/>
          </a:xfrm>
        </p:grpSpPr>
        <p:sp>
          <p:nvSpPr>
            <p:cNvPr id="118" name="Isosceles Triangle 2"/>
            <p:cNvSpPr/>
            <p:nvPr/>
          </p:nvSpPr>
          <p:spPr>
            <a:xfrm>
              <a:off x="3159748" y="2557908"/>
              <a:ext cx="996954" cy="665859"/>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CE341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19" name="Content Placeholder 2"/>
            <p:cNvSpPr txBox="1"/>
            <p:nvPr/>
          </p:nvSpPr>
          <p:spPr>
            <a:xfrm>
              <a:off x="3308495" y="3235158"/>
              <a:ext cx="695790" cy="202913"/>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grpSp>
        <p:nvGrpSpPr>
          <p:cNvPr id="120" name="Group 47"/>
          <p:cNvGrpSpPr/>
          <p:nvPr/>
        </p:nvGrpSpPr>
        <p:grpSpPr>
          <a:xfrm>
            <a:off x="5369214" y="2744030"/>
            <a:ext cx="1419492" cy="1273029"/>
            <a:chOff x="3833796" y="2395604"/>
            <a:chExt cx="1162406" cy="1042471"/>
          </a:xfrm>
        </p:grpSpPr>
        <p:sp>
          <p:nvSpPr>
            <p:cNvPr id="121" name="Isosceles Triangle 2"/>
            <p:cNvSpPr/>
            <p:nvPr/>
          </p:nvSpPr>
          <p:spPr>
            <a:xfrm>
              <a:off x="3833796" y="2395604"/>
              <a:ext cx="1162406" cy="828163"/>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5B9BD5">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22" name="Content Placeholder 2"/>
            <p:cNvSpPr txBox="1"/>
            <p:nvPr/>
          </p:nvSpPr>
          <p:spPr>
            <a:xfrm>
              <a:off x="4065269" y="3235161"/>
              <a:ext cx="695790" cy="202914"/>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grpSp>
        <p:nvGrpSpPr>
          <p:cNvPr id="123" name="Group 50"/>
          <p:cNvGrpSpPr/>
          <p:nvPr/>
        </p:nvGrpSpPr>
        <p:grpSpPr>
          <a:xfrm>
            <a:off x="6229130" y="3166252"/>
            <a:ext cx="1419492" cy="850807"/>
            <a:chOff x="4537970" y="2741353"/>
            <a:chExt cx="1162406" cy="696717"/>
          </a:xfrm>
        </p:grpSpPr>
        <p:sp>
          <p:nvSpPr>
            <p:cNvPr id="124" name="Isosceles Triangle 2"/>
            <p:cNvSpPr/>
            <p:nvPr/>
          </p:nvSpPr>
          <p:spPr>
            <a:xfrm>
              <a:off x="4537970" y="2741353"/>
              <a:ext cx="1162406" cy="482414"/>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CE341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25" name="Content Placeholder 2"/>
            <p:cNvSpPr txBox="1"/>
            <p:nvPr/>
          </p:nvSpPr>
          <p:spPr>
            <a:xfrm>
              <a:off x="4771278" y="3235157"/>
              <a:ext cx="695790" cy="202913"/>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grpSp>
        <p:nvGrpSpPr>
          <p:cNvPr id="126" name="Group 53"/>
          <p:cNvGrpSpPr/>
          <p:nvPr/>
        </p:nvGrpSpPr>
        <p:grpSpPr>
          <a:xfrm>
            <a:off x="6974155" y="1993640"/>
            <a:ext cx="1510426" cy="2023422"/>
            <a:chOff x="5148063" y="1781113"/>
            <a:chExt cx="1236871" cy="1656959"/>
          </a:xfrm>
        </p:grpSpPr>
        <p:sp>
          <p:nvSpPr>
            <p:cNvPr id="127" name="Isosceles Triangle 2"/>
            <p:cNvSpPr/>
            <p:nvPr/>
          </p:nvSpPr>
          <p:spPr>
            <a:xfrm>
              <a:off x="5148063" y="1781113"/>
              <a:ext cx="1236871" cy="1442653"/>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28" name="Content Placeholder 2"/>
            <p:cNvSpPr txBox="1"/>
            <p:nvPr/>
          </p:nvSpPr>
          <p:spPr>
            <a:xfrm>
              <a:off x="5414366" y="3235159"/>
              <a:ext cx="695790" cy="202913"/>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grpSp>
        <p:nvGrpSpPr>
          <p:cNvPr id="129" name="Group 56"/>
          <p:cNvGrpSpPr/>
          <p:nvPr/>
        </p:nvGrpSpPr>
        <p:grpSpPr>
          <a:xfrm>
            <a:off x="7769711" y="2942233"/>
            <a:ext cx="1408461" cy="1074825"/>
            <a:chOff x="5799535" y="2557908"/>
            <a:chExt cx="1153373" cy="880163"/>
          </a:xfrm>
        </p:grpSpPr>
        <p:sp>
          <p:nvSpPr>
            <p:cNvPr id="130" name="Isosceles Triangle 2"/>
            <p:cNvSpPr/>
            <p:nvPr/>
          </p:nvSpPr>
          <p:spPr>
            <a:xfrm>
              <a:off x="5799535" y="2557908"/>
              <a:ext cx="1153373" cy="665859"/>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CE341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31" name="Content Placeholder 2"/>
            <p:cNvSpPr txBox="1"/>
            <p:nvPr/>
          </p:nvSpPr>
          <p:spPr>
            <a:xfrm>
              <a:off x="6060556" y="3235158"/>
              <a:ext cx="695790" cy="202913"/>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grpSp>
        <p:nvGrpSpPr>
          <p:cNvPr id="132" name="Group 59"/>
          <p:cNvGrpSpPr/>
          <p:nvPr/>
        </p:nvGrpSpPr>
        <p:grpSpPr>
          <a:xfrm>
            <a:off x="8461234" y="2744030"/>
            <a:ext cx="1642205" cy="1273029"/>
            <a:chOff x="6365816" y="2395604"/>
            <a:chExt cx="1344784" cy="1042471"/>
          </a:xfrm>
        </p:grpSpPr>
        <p:sp>
          <p:nvSpPr>
            <p:cNvPr id="133" name="Isosceles Triangle 2"/>
            <p:cNvSpPr/>
            <p:nvPr/>
          </p:nvSpPr>
          <p:spPr>
            <a:xfrm>
              <a:off x="6365816" y="2395604"/>
              <a:ext cx="1344784" cy="828163"/>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34" name="Content Placeholder 2"/>
            <p:cNvSpPr txBox="1"/>
            <p:nvPr/>
          </p:nvSpPr>
          <p:spPr>
            <a:xfrm>
              <a:off x="6690313" y="3235161"/>
              <a:ext cx="695790" cy="202914"/>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grpSp>
        <p:nvGrpSpPr>
          <p:cNvPr id="135" name="Group 62"/>
          <p:cNvGrpSpPr/>
          <p:nvPr/>
        </p:nvGrpSpPr>
        <p:grpSpPr>
          <a:xfrm>
            <a:off x="9282338" y="2586126"/>
            <a:ext cx="1408461" cy="1430930"/>
            <a:chOff x="7038208" y="2266298"/>
            <a:chExt cx="1153373" cy="1171773"/>
          </a:xfrm>
        </p:grpSpPr>
        <p:sp>
          <p:nvSpPr>
            <p:cNvPr id="136" name="Isosceles Triangle 2"/>
            <p:cNvSpPr/>
            <p:nvPr/>
          </p:nvSpPr>
          <p:spPr>
            <a:xfrm>
              <a:off x="7038208" y="2266298"/>
              <a:ext cx="1153373" cy="957470"/>
            </a:xfrm>
            <a:custGeom>
              <a:avLst/>
              <a:gdLst>
                <a:gd name="connsiteX0" fmla="*/ 0 w 1278647"/>
                <a:gd name="connsiteY0" fmla="*/ 1102282 h 1102282"/>
                <a:gd name="connsiteX1" fmla="*/ 639324 w 1278647"/>
                <a:gd name="connsiteY1" fmla="*/ 0 h 1102282"/>
                <a:gd name="connsiteX2" fmla="*/ 1278647 w 1278647"/>
                <a:gd name="connsiteY2" fmla="*/ 1102282 h 1102282"/>
                <a:gd name="connsiteX3" fmla="*/ 0 w 1278647"/>
                <a:gd name="connsiteY3" fmla="*/ 1102282 h 1102282"/>
                <a:gd name="connsiteX0-1" fmla="*/ 0 w 1278647"/>
                <a:gd name="connsiteY0-2" fmla="*/ 1102282 h 1102282"/>
                <a:gd name="connsiteX1-3" fmla="*/ 639324 w 1278647"/>
                <a:gd name="connsiteY1-4" fmla="*/ 0 h 1102282"/>
                <a:gd name="connsiteX2-5" fmla="*/ 1278647 w 1278647"/>
                <a:gd name="connsiteY2-6" fmla="*/ 1102282 h 1102282"/>
                <a:gd name="connsiteX3-7" fmla="*/ 0 w 1278647"/>
                <a:gd name="connsiteY3-8" fmla="*/ 1102282 h 1102282"/>
                <a:gd name="connsiteX0-9" fmla="*/ 0 w 1278647"/>
                <a:gd name="connsiteY0-10" fmla="*/ 1102284 h 1102284"/>
                <a:gd name="connsiteX1-11" fmla="*/ 639324 w 1278647"/>
                <a:gd name="connsiteY1-12" fmla="*/ 2 h 1102284"/>
                <a:gd name="connsiteX2-13" fmla="*/ 1278647 w 1278647"/>
                <a:gd name="connsiteY2-14" fmla="*/ 1102284 h 1102284"/>
                <a:gd name="connsiteX3-15" fmla="*/ 0 w 1278647"/>
                <a:gd name="connsiteY3-16" fmla="*/ 1102284 h 1102284"/>
              </a:gdLst>
              <a:ahLst/>
              <a:cxnLst>
                <a:cxn ang="0">
                  <a:pos x="connsiteX0-1" y="connsiteY0-2"/>
                </a:cxn>
                <a:cxn ang="0">
                  <a:pos x="connsiteX1-3" y="connsiteY1-4"/>
                </a:cxn>
                <a:cxn ang="0">
                  <a:pos x="connsiteX2-5" y="connsiteY2-6"/>
                </a:cxn>
                <a:cxn ang="0">
                  <a:pos x="connsiteX3-7" y="connsiteY3-8"/>
                </a:cxn>
              </a:cxnLst>
              <a:rect l="l" t="t" r="r" b="b"/>
              <a:pathLst>
                <a:path w="1278647" h="1102284">
                  <a:moveTo>
                    <a:pt x="0" y="1102284"/>
                  </a:moveTo>
                  <a:cubicBezTo>
                    <a:pt x="213108" y="734857"/>
                    <a:pt x="133608" y="-1665"/>
                    <a:pt x="639324" y="2"/>
                  </a:cubicBezTo>
                  <a:cubicBezTo>
                    <a:pt x="1145040" y="1669"/>
                    <a:pt x="1065539" y="734857"/>
                    <a:pt x="1278647" y="1102284"/>
                  </a:cubicBezTo>
                  <a:lnTo>
                    <a:pt x="0" y="1102284"/>
                  </a:lnTo>
                  <a:close/>
                </a:path>
              </a:pathLst>
            </a:custGeom>
            <a:solidFill>
              <a:srgbClr val="CE341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137" name="Content Placeholder 2"/>
            <p:cNvSpPr txBox="1"/>
            <p:nvPr/>
          </p:nvSpPr>
          <p:spPr>
            <a:xfrm>
              <a:off x="7266999" y="3235158"/>
              <a:ext cx="695790" cy="202913"/>
            </a:xfrm>
            <a:prstGeom prst="rect">
              <a:avLst/>
            </a:prstGeom>
          </p:spPr>
          <p:txBody>
            <a:bodyPr vert="horz" wrap="square" lIns="111664" tIns="55832" rIns="111664" bIns="55832"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20000"/>
                </a:lnSpc>
                <a:spcBef>
                  <a:spcPts val="0"/>
                </a:spcBef>
                <a:buNone/>
              </a:pP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Arial" panose="020B0604020202020204" pitchFamily="34" charset="0"/>
                </a:rPr>
                <a:t>文字内容</a:t>
              </a:r>
            </a:p>
          </p:txBody>
        </p:sp>
      </p:grpSp>
      <p:sp>
        <p:nvSpPr>
          <p:cNvPr id="138" name="文本框 137"/>
          <p:cNvSpPr txBox="1"/>
          <p:nvPr/>
        </p:nvSpPr>
        <p:spPr>
          <a:xfrm>
            <a:off x="1393190" y="4257675"/>
            <a:ext cx="9918700" cy="2168525"/>
          </a:xfrm>
          <a:prstGeom prst="rect">
            <a:avLst/>
          </a:prstGeom>
          <a:noFill/>
        </p:spPr>
        <p:txBody>
          <a:bodyPr wrap="square" rtlCol="0" anchor="t">
            <a:spAutoFit/>
          </a:bodyPr>
          <a:lstStyle/>
          <a:p>
            <a:pPr algn="just">
              <a:lnSpc>
                <a:spcPct val="150000"/>
              </a:lnSpc>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偿债能力分析</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：公司的偿债能力处于同行业领先水平，流动比率、速动比率．股东权益比率分别居同行业上市公司的第</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位  ，与上年相比名次，变化不大。</a:t>
            </a:r>
            <a:endParaRPr lang="en-US" altLang="zh-CN" sz="1200">
              <a:latin typeface="微软雅黑" panose="020B0503020204020204" pitchFamily="34" charset="-122"/>
              <a:ea typeface="微软雅黑" panose="020B0503020204020204" pitchFamily="34" charset="-122"/>
              <a:cs typeface="微软雅黑" panose="020B0503020204020204" pitchFamily="34" charset="-122"/>
            </a:endParaRPr>
          </a:p>
          <a:p>
            <a:pPr algn="just">
              <a:lnSpc>
                <a:spcPct val="150000"/>
              </a:lnSpc>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营运能力分析</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：公司的营运能力处于同行业中游水平，应收帐款周转率、存货周转率．流动资产周转率、总资产周转率分别居同行业上市公司的第</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位，其中应收帐款周转率、存货周转率与上年名次相比有明显下降，表明公司的营运能力继续恶化。</a:t>
            </a:r>
          </a:p>
          <a:p>
            <a:pPr algn="just">
              <a:lnSpc>
                <a:spcPct val="150000"/>
              </a:lnSpc>
            </a:pPr>
            <a:r>
              <a:rPr lang="en-US" altLang="zh-CN" sz="1200">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cs typeface="微软雅黑" panose="020B0503020204020204" pitchFamily="34" charset="-122"/>
              </a:rPr>
              <a:t>盈利能力分析</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：公司的盈利能力处于行业中游，主营业务毛利率、主营业务利润率、净资产收益率、总资产利润率、第股收益分别居同行业上市公司的第</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23</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17</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位，与去年相比名次大体一致，表明公司的盈利能力不足，公司应进一步扩大销售和降低成本费用，为股利获得更多的回报。</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2" presetClass="entr" presetSubtype="4" fill="hold" nodeType="afterEffect">
                                  <p:stCondLst>
                                    <p:cond delay="0"/>
                                  </p:stCondLst>
                                  <p:childTnLst>
                                    <p:set>
                                      <p:cBhvr>
                                        <p:cTn id="20" dur="1" fill="hold">
                                          <p:stCondLst>
                                            <p:cond delay="0"/>
                                          </p:stCondLst>
                                        </p:cTn>
                                        <p:tgtEl>
                                          <p:spTgt spid="108"/>
                                        </p:tgtEl>
                                        <p:attrNameLst>
                                          <p:attrName>style.visibility</p:attrName>
                                        </p:attrNameLst>
                                      </p:cBhvr>
                                      <p:to>
                                        <p:strVal val="visible"/>
                                      </p:to>
                                    </p:set>
                                    <p:animEffect transition="in" filter="wipe(down)">
                                      <p:cBhvr>
                                        <p:cTn id="21" dur="500"/>
                                        <p:tgtEl>
                                          <p:spTgt spid="108"/>
                                        </p:tgtEl>
                                      </p:cBhvr>
                                    </p:animEffect>
                                  </p:childTnLst>
                                </p:cTn>
                              </p:par>
                            </p:childTnLst>
                          </p:cTn>
                        </p:par>
                        <p:par>
                          <p:cTn id="22" fill="hold">
                            <p:stCondLst>
                              <p:cond delay="2000"/>
                            </p:stCondLst>
                            <p:childTnLst>
                              <p:par>
                                <p:cTn id="23" presetID="22" presetClass="entr" presetSubtype="4"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childTnLst>
                          </p:cTn>
                        </p:par>
                        <p:par>
                          <p:cTn id="26" fill="hold">
                            <p:stCondLst>
                              <p:cond delay="2500"/>
                            </p:stCondLst>
                            <p:childTnLst>
                              <p:par>
                                <p:cTn id="27" presetID="22" presetClass="entr" presetSubtype="4" fill="hold" nodeType="after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wipe(down)">
                                      <p:cBhvr>
                                        <p:cTn id="29" dur="500"/>
                                        <p:tgtEl>
                                          <p:spTgt spid="111"/>
                                        </p:tgtEl>
                                      </p:cBhvr>
                                    </p:animEffect>
                                  </p:childTnLst>
                                </p:cTn>
                              </p:par>
                            </p:childTnLst>
                          </p:cTn>
                        </p:par>
                        <p:par>
                          <p:cTn id="30" fill="hold">
                            <p:stCondLst>
                              <p:cond delay="3000"/>
                            </p:stCondLst>
                            <p:childTnLst>
                              <p:par>
                                <p:cTn id="31" presetID="22" presetClass="entr" presetSubtype="4" fill="hold"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500"/>
                                        <p:tgtEl>
                                          <p:spTgt spid="7"/>
                                        </p:tgtEl>
                                      </p:cBhvr>
                                    </p:animEffect>
                                  </p:childTnLst>
                                </p:cTn>
                              </p:par>
                            </p:childTnLst>
                          </p:cTn>
                        </p:par>
                        <p:par>
                          <p:cTn id="34" fill="hold">
                            <p:stCondLst>
                              <p:cond delay="3500"/>
                            </p:stCondLst>
                            <p:childTnLst>
                              <p:par>
                                <p:cTn id="35" presetID="22" presetClass="entr" presetSubtype="4" fill="hold" nodeType="afterEffect">
                                  <p:stCondLst>
                                    <p:cond delay="0"/>
                                  </p:stCondLst>
                                  <p:childTnLst>
                                    <p:set>
                                      <p:cBhvr>
                                        <p:cTn id="36" dur="1" fill="hold">
                                          <p:stCondLst>
                                            <p:cond delay="0"/>
                                          </p:stCondLst>
                                        </p:cTn>
                                        <p:tgtEl>
                                          <p:spTgt spid="114"/>
                                        </p:tgtEl>
                                        <p:attrNameLst>
                                          <p:attrName>style.visibility</p:attrName>
                                        </p:attrNameLst>
                                      </p:cBhvr>
                                      <p:to>
                                        <p:strVal val="visible"/>
                                      </p:to>
                                    </p:set>
                                    <p:animEffect transition="in" filter="wipe(down)">
                                      <p:cBhvr>
                                        <p:cTn id="37" dur="500"/>
                                        <p:tgtEl>
                                          <p:spTgt spid="114"/>
                                        </p:tgtEl>
                                      </p:cBhvr>
                                    </p:animEffect>
                                  </p:childTnLst>
                                </p:cTn>
                              </p:par>
                            </p:childTnLst>
                          </p:cTn>
                        </p:par>
                        <p:par>
                          <p:cTn id="38" fill="hold">
                            <p:stCondLst>
                              <p:cond delay="4000"/>
                            </p:stCondLst>
                            <p:childTnLst>
                              <p:par>
                                <p:cTn id="39" presetID="22" presetClass="entr" presetSubtype="4" fill="hold"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00"/>
                                        <p:tgtEl>
                                          <p:spTgt spid="11"/>
                                        </p:tgtEl>
                                      </p:cBhvr>
                                    </p:animEffect>
                                  </p:childTnLst>
                                </p:cTn>
                              </p:par>
                            </p:childTnLst>
                          </p:cTn>
                        </p:par>
                        <p:par>
                          <p:cTn id="42" fill="hold">
                            <p:stCondLst>
                              <p:cond delay="4500"/>
                            </p:stCondLst>
                            <p:childTnLst>
                              <p:par>
                                <p:cTn id="43" presetID="22" presetClass="entr" presetSubtype="4" fill="hold" nodeType="afterEffect">
                                  <p:stCondLst>
                                    <p:cond delay="0"/>
                                  </p:stCondLst>
                                  <p:childTnLst>
                                    <p:set>
                                      <p:cBhvr>
                                        <p:cTn id="44" dur="1" fill="hold">
                                          <p:stCondLst>
                                            <p:cond delay="0"/>
                                          </p:stCondLst>
                                        </p:cTn>
                                        <p:tgtEl>
                                          <p:spTgt spid="117"/>
                                        </p:tgtEl>
                                        <p:attrNameLst>
                                          <p:attrName>style.visibility</p:attrName>
                                        </p:attrNameLst>
                                      </p:cBhvr>
                                      <p:to>
                                        <p:strVal val="visible"/>
                                      </p:to>
                                    </p:set>
                                    <p:animEffect transition="in" filter="wipe(down)">
                                      <p:cBhvr>
                                        <p:cTn id="45" dur="500"/>
                                        <p:tgtEl>
                                          <p:spTgt spid="117"/>
                                        </p:tgtEl>
                                      </p:cBhvr>
                                    </p:animEffect>
                                  </p:childTnLst>
                                </p:cTn>
                              </p:par>
                            </p:childTnLst>
                          </p:cTn>
                        </p:par>
                        <p:par>
                          <p:cTn id="46" fill="hold">
                            <p:stCondLst>
                              <p:cond delay="5000"/>
                            </p:stCondLst>
                            <p:childTnLst>
                              <p:par>
                                <p:cTn id="47" presetID="22" presetClass="entr" presetSubtype="4" fill="hold" nodeType="after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wipe(down)">
                                      <p:cBhvr>
                                        <p:cTn id="49" dur="500"/>
                                        <p:tgtEl>
                                          <p:spTgt spid="2"/>
                                        </p:tgtEl>
                                      </p:cBhvr>
                                    </p:animEffect>
                                  </p:childTnLst>
                                </p:cTn>
                              </p:par>
                            </p:childTnLst>
                          </p:cTn>
                        </p:par>
                        <p:par>
                          <p:cTn id="50" fill="hold">
                            <p:stCondLst>
                              <p:cond delay="5500"/>
                            </p:stCondLst>
                            <p:childTnLst>
                              <p:par>
                                <p:cTn id="51" presetID="22" presetClass="entr" presetSubtype="4" fill="hold" nodeType="afterEffect">
                                  <p:stCondLst>
                                    <p:cond delay="0"/>
                                  </p:stCondLst>
                                  <p:childTnLst>
                                    <p:set>
                                      <p:cBhvr>
                                        <p:cTn id="52" dur="1" fill="hold">
                                          <p:stCondLst>
                                            <p:cond delay="0"/>
                                          </p:stCondLst>
                                        </p:cTn>
                                        <p:tgtEl>
                                          <p:spTgt spid="120"/>
                                        </p:tgtEl>
                                        <p:attrNameLst>
                                          <p:attrName>style.visibility</p:attrName>
                                        </p:attrNameLst>
                                      </p:cBhvr>
                                      <p:to>
                                        <p:strVal val="visible"/>
                                      </p:to>
                                    </p:set>
                                    <p:animEffect transition="in" filter="wipe(down)">
                                      <p:cBhvr>
                                        <p:cTn id="53" dur="500"/>
                                        <p:tgtEl>
                                          <p:spTgt spid="120"/>
                                        </p:tgtEl>
                                      </p:cBhvr>
                                    </p:animEffect>
                                  </p:childTnLst>
                                </p:cTn>
                              </p:par>
                            </p:childTnLst>
                          </p:cTn>
                        </p:par>
                        <p:par>
                          <p:cTn id="54" fill="hold">
                            <p:stCondLst>
                              <p:cond delay="6000"/>
                            </p:stCondLst>
                            <p:childTnLst>
                              <p:par>
                                <p:cTn id="55" presetID="22" presetClass="entr" presetSubtype="4" fill="hold" nodeType="afterEffect">
                                  <p:stCondLst>
                                    <p:cond delay="0"/>
                                  </p:stCondLst>
                                  <p:childTnLst>
                                    <p:set>
                                      <p:cBhvr>
                                        <p:cTn id="56" dur="1" fill="hold">
                                          <p:stCondLst>
                                            <p:cond delay="0"/>
                                          </p:stCondLst>
                                        </p:cTn>
                                        <p:tgtEl>
                                          <p:spTgt spid="102"/>
                                        </p:tgtEl>
                                        <p:attrNameLst>
                                          <p:attrName>style.visibility</p:attrName>
                                        </p:attrNameLst>
                                      </p:cBhvr>
                                      <p:to>
                                        <p:strVal val="visible"/>
                                      </p:to>
                                    </p:set>
                                    <p:animEffect transition="in" filter="wipe(down)">
                                      <p:cBhvr>
                                        <p:cTn id="57" dur="500"/>
                                        <p:tgtEl>
                                          <p:spTgt spid="102"/>
                                        </p:tgtEl>
                                      </p:cBhvr>
                                    </p:animEffect>
                                  </p:childTnLst>
                                </p:cTn>
                              </p:par>
                            </p:childTnLst>
                          </p:cTn>
                        </p:par>
                        <p:par>
                          <p:cTn id="58" fill="hold">
                            <p:stCondLst>
                              <p:cond delay="6500"/>
                            </p:stCondLst>
                            <p:childTnLst>
                              <p:par>
                                <p:cTn id="59" presetID="22" presetClass="entr" presetSubtype="4" fill="hold" nodeType="afterEffect">
                                  <p:stCondLst>
                                    <p:cond delay="0"/>
                                  </p:stCondLst>
                                  <p:childTnLst>
                                    <p:set>
                                      <p:cBhvr>
                                        <p:cTn id="60" dur="1" fill="hold">
                                          <p:stCondLst>
                                            <p:cond delay="0"/>
                                          </p:stCondLst>
                                        </p:cTn>
                                        <p:tgtEl>
                                          <p:spTgt spid="123"/>
                                        </p:tgtEl>
                                        <p:attrNameLst>
                                          <p:attrName>style.visibility</p:attrName>
                                        </p:attrNameLst>
                                      </p:cBhvr>
                                      <p:to>
                                        <p:strVal val="visible"/>
                                      </p:to>
                                    </p:set>
                                    <p:animEffect transition="in" filter="wipe(down)">
                                      <p:cBhvr>
                                        <p:cTn id="61" dur="500"/>
                                        <p:tgtEl>
                                          <p:spTgt spid="123"/>
                                        </p:tgtEl>
                                      </p:cBhvr>
                                    </p:animEffect>
                                  </p:childTnLst>
                                </p:cTn>
                              </p:par>
                            </p:childTnLst>
                          </p:cTn>
                        </p:par>
                        <p:par>
                          <p:cTn id="62" fill="hold">
                            <p:stCondLst>
                              <p:cond delay="7000"/>
                            </p:stCondLst>
                            <p:childTnLst>
                              <p:par>
                                <p:cTn id="63" presetID="22" presetClass="entr" presetSubtype="4" fill="hold" nodeType="afterEffect">
                                  <p:stCondLst>
                                    <p:cond delay="0"/>
                                  </p:stCondLst>
                                  <p:childTnLst>
                                    <p:set>
                                      <p:cBhvr>
                                        <p:cTn id="64" dur="1" fill="hold">
                                          <p:stCondLst>
                                            <p:cond delay="0"/>
                                          </p:stCondLst>
                                        </p:cTn>
                                        <p:tgtEl>
                                          <p:spTgt spid="105"/>
                                        </p:tgtEl>
                                        <p:attrNameLst>
                                          <p:attrName>style.visibility</p:attrName>
                                        </p:attrNameLst>
                                      </p:cBhvr>
                                      <p:to>
                                        <p:strVal val="visible"/>
                                      </p:to>
                                    </p:set>
                                    <p:animEffect transition="in" filter="wipe(down)">
                                      <p:cBhvr>
                                        <p:cTn id="65" dur="500"/>
                                        <p:tgtEl>
                                          <p:spTgt spid="105"/>
                                        </p:tgtEl>
                                      </p:cBhvr>
                                    </p:animEffect>
                                  </p:childTnLst>
                                </p:cTn>
                              </p:par>
                            </p:childTnLst>
                          </p:cTn>
                        </p:par>
                        <p:par>
                          <p:cTn id="66" fill="hold">
                            <p:stCondLst>
                              <p:cond delay="7500"/>
                            </p:stCondLst>
                            <p:childTnLst>
                              <p:par>
                                <p:cTn id="67" presetID="22" presetClass="entr" presetSubtype="4" fill="hold" nodeType="afterEffect">
                                  <p:stCondLst>
                                    <p:cond delay="0"/>
                                  </p:stCondLst>
                                  <p:childTnLst>
                                    <p:set>
                                      <p:cBhvr>
                                        <p:cTn id="68" dur="1" fill="hold">
                                          <p:stCondLst>
                                            <p:cond delay="0"/>
                                          </p:stCondLst>
                                        </p:cTn>
                                        <p:tgtEl>
                                          <p:spTgt spid="126"/>
                                        </p:tgtEl>
                                        <p:attrNameLst>
                                          <p:attrName>style.visibility</p:attrName>
                                        </p:attrNameLst>
                                      </p:cBhvr>
                                      <p:to>
                                        <p:strVal val="visible"/>
                                      </p:to>
                                    </p:set>
                                    <p:animEffect transition="in" filter="wipe(down)">
                                      <p:cBhvr>
                                        <p:cTn id="69" dur="500"/>
                                        <p:tgtEl>
                                          <p:spTgt spid="126"/>
                                        </p:tgtEl>
                                      </p:cBhvr>
                                    </p:animEffect>
                                  </p:childTnLst>
                                </p:cTn>
                              </p:par>
                            </p:childTnLst>
                          </p:cTn>
                        </p:par>
                        <p:par>
                          <p:cTn id="70" fill="hold">
                            <p:stCondLst>
                              <p:cond delay="8000"/>
                            </p:stCondLst>
                            <p:childTnLst>
                              <p:par>
                                <p:cTn id="71" presetID="22" presetClass="entr" presetSubtype="4" fill="hold" nodeType="afterEffect">
                                  <p:stCondLst>
                                    <p:cond delay="0"/>
                                  </p:stCondLst>
                                  <p:childTnLst>
                                    <p:set>
                                      <p:cBhvr>
                                        <p:cTn id="72" dur="1" fill="hold">
                                          <p:stCondLst>
                                            <p:cond delay="0"/>
                                          </p:stCondLst>
                                        </p:cTn>
                                        <p:tgtEl>
                                          <p:spTgt spid="99"/>
                                        </p:tgtEl>
                                        <p:attrNameLst>
                                          <p:attrName>style.visibility</p:attrName>
                                        </p:attrNameLst>
                                      </p:cBhvr>
                                      <p:to>
                                        <p:strVal val="visible"/>
                                      </p:to>
                                    </p:set>
                                    <p:animEffect transition="in" filter="wipe(down)">
                                      <p:cBhvr>
                                        <p:cTn id="73" dur="500"/>
                                        <p:tgtEl>
                                          <p:spTgt spid="99"/>
                                        </p:tgtEl>
                                      </p:cBhvr>
                                    </p:animEffect>
                                  </p:childTnLst>
                                </p:cTn>
                              </p:par>
                            </p:childTnLst>
                          </p:cTn>
                        </p:par>
                        <p:par>
                          <p:cTn id="74" fill="hold">
                            <p:stCondLst>
                              <p:cond delay="8500"/>
                            </p:stCondLst>
                            <p:childTnLst>
                              <p:par>
                                <p:cTn id="75" presetID="22" presetClass="entr" presetSubtype="4" fill="hold" nodeType="afterEffect">
                                  <p:stCondLst>
                                    <p:cond delay="0"/>
                                  </p:stCondLst>
                                  <p:childTnLst>
                                    <p:set>
                                      <p:cBhvr>
                                        <p:cTn id="76" dur="1" fill="hold">
                                          <p:stCondLst>
                                            <p:cond delay="0"/>
                                          </p:stCondLst>
                                        </p:cTn>
                                        <p:tgtEl>
                                          <p:spTgt spid="129"/>
                                        </p:tgtEl>
                                        <p:attrNameLst>
                                          <p:attrName>style.visibility</p:attrName>
                                        </p:attrNameLst>
                                      </p:cBhvr>
                                      <p:to>
                                        <p:strVal val="visible"/>
                                      </p:to>
                                    </p:set>
                                    <p:animEffect transition="in" filter="wipe(down)">
                                      <p:cBhvr>
                                        <p:cTn id="77" dur="500"/>
                                        <p:tgtEl>
                                          <p:spTgt spid="129"/>
                                        </p:tgtEl>
                                      </p:cBhvr>
                                    </p:animEffect>
                                  </p:childTnLst>
                                </p:cTn>
                              </p:par>
                            </p:childTnLst>
                          </p:cTn>
                        </p:par>
                        <p:par>
                          <p:cTn id="78" fill="hold">
                            <p:stCondLst>
                              <p:cond delay="9000"/>
                            </p:stCondLst>
                            <p:childTnLst>
                              <p:par>
                                <p:cTn id="79" presetID="22" presetClass="entr" presetSubtype="4" fill="hold" nodeType="afterEffect">
                                  <p:stCondLst>
                                    <p:cond delay="0"/>
                                  </p:stCondLst>
                                  <p:childTnLst>
                                    <p:set>
                                      <p:cBhvr>
                                        <p:cTn id="80" dur="1" fill="hold">
                                          <p:stCondLst>
                                            <p:cond delay="0"/>
                                          </p:stCondLst>
                                        </p:cTn>
                                        <p:tgtEl>
                                          <p:spTgt spid="93"/>
                                        </p:tgtEl>
                                        <p:attrNameLst>
                                          <p:attrName>style.visibility</p:attrName>
                                        </p:attrNameLst>
                                      </p:cBhvr>
                                      <p:to>
                                        <p:strVal val="visible"/>
                                      </p:to>
                                    </p:set>
                                    <p:animEffect transition="in" filter="wipe(down)">
                                      <p:cBhvr>
                                        <p:cTn id="81" dur="500"/>
                                        <p:tgtEl>
                                          <p:spTgt spid="93"/>
                                        </p:tgtEl>
                                      </p:cBhvr>
                                    </p:animEffect>
                                  </p:childTnLst>
                                </p:cTn>
                              </p:par>
                            </p:childTnLst>
                          </p:cTn>
                        </p:par>
                        <p:par>
                          <p:cTn id="82" fill="hold">
                            <p:stCondLst>
                              <p:cond delay="9500"/>
                            </p:stCondLst>
                            <p:childTnLst>
                              <p:par>
                                <p:cTn id="83" presetID="22" presetClass="entr" presetSubtype="4" fill="hold" nodeType="afterEffect">
                                  <p:stCondLst>
                                    <p:cond delay="0"/>
                                  </p:stCondLst>
                                  <p:childTnLst>
                                    <p:set>
                                      <p:cBhvr>
                                        <p:cTn id="84" dur="1" fill="hold">
                                          <p:stCondLst>
                                            <p:cond delay="0"/>
                                          </p:stCondLst>
                                        </p:cTn>
                                        <p:tgtEl>
                                          <p:spTgt spid="132"/>
                                        </p:tgtEl>
                                        <p:attrNameLst>
                                          <p:attrName>style.visibility</p:attrName>
                                        </p:attrNameLst>
                                      </p:cBhvr>
                                      <p:to>
                                        <p:strVal val="visible"/>
                                      </p:to>
                                    </p:set>
                                    <p:animEffect transition="in" filter="wipe(down)">
                                      <p:cBhvr>
                                        <p:cTn id="85" dur="500"/>
                                        <p:tgtEl>
                                          <p:spTgt spid="132"/>
                                        </p:tgtEl>
                                      </p:cBhvr>
                                    </p:animEffect>
                                  </p:childTnLst>
                                </p:cTn>
                              </p:par>
                            </p:childTnLst>
                          </p:cTn>
                        </p:par>
                        <p:par>
                          <p:cTn id="86" fill="hold">
                            <p:stCondLst>
                              <p:cond delay="10000"/>
                            </p:stCondLst>
                            <p:childTnLst>
                              <p:par>
                                <p:cTn id="87" presetID="22" presetClass="entr" presetSubtype="4" fill="hold" nodeType="afterEffect">
                                  <p:stCondLst>
                                    <p:cond delay="0"/>
                                  </p:stCondLst>
                                  <p:childTnLst>
                                    <p:set>
                                      <p:cBhvr>
                                        <p:cTn id="88" dur="1" fill="hold">
                                          <p:stCondLst>
                                            <p:cond delay="0"/>
                                          </p:stCondLst>
                                        </p:cTn>
                                        <p:tgtEl>
                                          <p:spTgt spid="96"/>
                                        </p:tgtEl>
                                        <p:attrNameLst>
                                          <p:attrName>style.visibility</p:attrName>
                                        </p:attrNameLst>
                                      </p:cBhvr>
                                      <p:to>
                                        <p:strVal val="visible"/>
                                      </p:to>
                                    </p:set>
                                    <p:animEffect transition="in" filter="wipe(down)">
                                      <p:cBhvr>
                                        <p:cTn id="89" dur="500"/>
                                        <p:tgtEl>
                                          <p:spTgt spid="96"/>
                                        </p:tgtEl>
                                      </p:cBhvr>
                                    </p:animEffect>
                                  </p:childTnLst>
                                </p:cTn>
                              </p:par>
                            </p:childTnLst>
                          </p:cTn>
                        </p:par>
                        <p:par>
                          <p:cTn id="90" fill="hold">
                            <p:stCondLst>
                              <p:cond delay="10500"/>
                            </p:stCondLst>
                            <p:childTnLst>
                              <p:par>
                                <p:cTn id="91" presetID="22" presetClass="entr" presetSubtype="4" fill="hold" nodeType="afterEffect">
                                  <p:stCondLst>
                                    <p:cond delay="0"/>
                                  </p:stCondLst>
                                  <p:childTnLst>
                                    <p:set>
                                      <p:cBhvr>
                                        <p:cTn id="92" dur="1" fill="hold">
                                          <p:stCondLst>
                                            <p:cond delay="0"/>
                                          </p:stCondLst>
                                        </p:cTn>
                                        <p:tgtEl>
                                          <p:spTgt spid="135"/>
                                        </p:tgtEl>
                                        <p:attrNameLst>
                                          <p:attrName>style.visibility</p:attrName>
                                        </p:attrNameLst>
                                      </p:cBhvr>
                                      <p:to>
                                        <p:strVal val="visible"/>
                                      </p:to>
                                    </p:set>
                                    <p:animEffect transition="in" filter="wipe(down)">
                                      <p:cBhvr>
                                        <p:cTn id="93" dur="500"/>
                                        <p:tgtEl>
                                          <p:spTgt spid="135"/>
                                        </p:tgtEl>
                                      </p:cBhvr>
                                    </p:animEffect>
                                  </p:childTnLst>
                                </p:cTn>
                              </p:par>
                            </p:childTnLst>
                          </p:cTn>
                        </p:par>
                        <p:par>
                          <p:cTn id="94" fill="hold">
                            <p:stCondLst>
                              <p:cond delay="11000"/>
                            </p:stCondLst>
                            <p:childTnLst>
                              <p:par>
                                <p:cTn id="95" presetID="22" presetClass="entr" presetSubtype="4" fill="hold" nodeType="afterEffect">
                                  <p:stCondLst>
                                    <p:cond delay="0"/>
                                  </p:stCondLst>
                                  <p:childTnLst>
                                    <p:set>
                                      <p:cBhvr>
                                        <p:cTn id="96" dur="1" fill="hold">
                                          <p:stCondLst>
                                            <p:cond delay="0"/>
                                          </p:stCondLst>
                                        </p:cTn>
                                        <p:tgtEl>
                                          <p:spTgt spid="86"/>
                                        </p:tgtEl>
                                        <p:attrNameLst>
                                          <p:attrName>style.visibility</p:attrName>
                                        </p:attrNameLst>
                                      </p:cBhvr>
                                      <p:to>
                                        <p:strVal val="visible"/>
                                      </p:to>
                                    </p:set>
                                    <p:animEffect transition="in" filter="wipe(down)">
                                      <p:cBhvr>
                                        <p:cTn id="97" dur="500"/>
                                        <p:tgtEl>
                                          <p:spTgt spid="86"/>
                                        </p:tgtEl>
                                      </p:cBhvr>
                                    </p:animEffect>
                                  </p:childTnLst>
                                </p:cTn>
                              </p:par>
                            </p:childTnLst>
                          </p:cTn>
                        </p:par>
                        <p:par>
                          <p:cTn id="98" fill="hold">
                            <p:stCondLst>
                              <p:cond delay="11500"/>
                            </p:stCondLst>
                            <p:childTnLst>
                              <p:par>
                                <p:cTn id="99" presetID="54" presetClass="entr" presetSubtype="0" accel="100000" fill="hold" grpId="0" nodeType="afterEffect">
                                  <p:stCondLst>
                                    <p:cond delay="0"/>
                                  </p:stCondLst>
                                  <p:childTnLst>
                                    <p:set>
                                      <p:cBhvr>
                                        <p:cTn id="100" dur="1" fill="hold">
                                          <p:stCondLst>
                                            <p:cond delay="0"/>
                                          </p:stCondLst>
                                        </p:cTn>
                                        <p:tgtEl>
                                          <p:spTgt spid="138"/>
                                        </p:tgtEl>
                                        <p:attrNameLst>
                                          <p:attrName>style.visibility</p:attrName>
                                        </p:attrNameLst>
                                      </p:cBhvr>
                                      <p:to>
                                        <p:strVal val="visible"/>
                                      </p:to>
                                    </p:set>
                                    <p:anim calcmode="lin" valueType="num">
                                      <p:cBhvr>
                                        <p:cTn id="101" dur="500" fill="hold"/>
                                        <p:tgtEl>
                                          <p:spTgt spid="138"/>
                                        </p:tgtEl>
                                        <p:attrNameLst>
                                          <p:attrName>ppt_w</p:attrName>
                                        </p:attrNameLst>
                                      </p:cBhvr>
                                      <p:tavLst>
                                        <p:tav tm="0">
                                          <p:val>
                                            <p:strVal val="#ppt_w*0.05"/>
                                          </p:val>
                                        </p:tav>
                                        <p:tav tm="100000">
                                          <p:val>
                                            <p:strVal val="#ppt_w"/>
                                          </p:val>
                                        </p:tav>
                                      </p:tavLst>
                                    </p:anim>
                                    <p:anim calcmode="lin" valueType="num">
                                      <p:cBhvr>
                                        <p:cTn id="102" dur="500" fill="hold"/>
                                        <p:tgtEl>
                                          <p:spTgt spid="138"/>
                                        </p:tgtEl>
                                        <p:attrNameLst>
                                          <p:attrName>ppt_h</p:attrName>
                                        </p:attrNameLst>
                                      </p:cBhvr>
                                      <p:tavLst>
                                        <p:tav tm="0">
                                          <p:val>
                                            <p:strVal val="#ppt_h"/>
                                          </p:val>
                                        </p:tav>
                                        <p:tav tm="100000">
                                          <p:val>
                                            <p:strVal val="#ppt_h"/>
                                          </p:val>
                                        </p:tav>
                                      </p:tavLst>
                                    </p:anim>
                                    <p:anim calcmode="lin" valueType="num">
                                      <p:cBhvr>
                                        <p:cTn id="103" dur="500" fill="hold"/>
                                        <p:tgtEl>
                                          <p:spTgt spid="138"/>
                                        </p:tgtEl>
                                        <p:attrNameLst>
                                          <p:attrName>ppt_x</p:attrName>
                                        </p:attrNameLst>
                                      </p:cBhvr>
                                      <p:tavLst>
                                        <p:tav tm="0">
                                          <p:val>
                                            <p:strVal val="#ppt_x-.2"/>
                                          </p:val>
                                        </p:tav>
                                        <p:tav tm="100000">
                                          <p:val>
                                            <p:strVal val="#ppt_x"/>
                                          </p:val>
                                        </p:tav>
                                      </p:tavLst>
                                    </p:anim>
                                    <p:anim calcmode="lin" valueType="num">
                                      <p:cBhvr>
                                        <p:cTn id="104" dur="500" fill="hold"/>
                                        <p:tgtEl>
                                          <p:spTgt spid="138"/>
                                        </p:tgtEl>
                                        <p:attrNameLst>
                                          <p:attrName>ppt_y</p:attrName>
                                        </p:attrNameLst>
                                      </p:cBhvr>
                                      <p:tavLst>
                                        <p:tav tm="0">
                                          <p:val>
                                            <p:strVal val="#ppt_y"/>
                                          </p:val>
                                        </p:tav>
                                        <p:tav tm="100000">
                                          <p:val>
                                            <p:strVal val="#ppt_y"/>
                                          </p:val>
                                        </p:tav>
                                      </p:tavLst>
                                    </p:anim>
                                    <p:animEffect transition="in" filter="fade">
                                      <p:cBhvr>
                                        <p:cTn id="105" dur="5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13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6096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olidFill>
                  <a:schemeClr val="tx1">
                    <a:lumMod val="65000"/>
                    <a:lumOff val="35000"/>
                  </a:schemeClr>
                </a:solidFill>
                <a:latin typeface="微软雅黑" panose="020B0503020204020204" pitchFamily="34" charset="-122"/>
                <a:ea typeface="微软雅黑" panose="020B0503020204020204" pitchFamily="34" charset="-122"/>
                <a:sym typeface="+mn-ea"/>
              </a:rPr>
              <a:t>结论</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1555605" y="1557322"/>
            <a:ext cx="9080074" cy="4141844"/>
            <a:chOff x="2070" y="1669"/>
            <a:chExt cx="11066" cy="5048"/>
          </a:xfrm>
        </p:grpSpPr>
        <p:sp>
          <p:nvSpPr>
            <p:cNvPr id="15" name="矩形 14"/>
            <p:cNvSpPr/>
            <p:nvPr/>
          </p:nvSpPr>
          <p:spPr>
            <a:xfrm>
              <a:off x="2070" y="1669"/>
              <a:ext cx="4241" cy="504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6407" y="1669"/>
              <a:ext cx="6729" cy="1968"/>
            </a:xfrm>
            <a:prstGeom prst="rect">
              <a:avLst/>
            </a:prstGeom>
            <a:blipFill>
              <a:blip r:embed="rId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solidFill>
                  <a:schemeClr val="tx1">
                    <a:lumMod val="75000"/>
                    <a:lumOff val="25000"/>
                  </a:schemeClr>
                </a:solidFill>
              </a:endParaRPr>
            </a:p>
          </p:txBody>
        </p:sp>
        <p:sp>
          <p:nvSpPr>
            <p:cNvPr id="17" name="矩形 16"/>
            <p:cNvSpPr/>
            <p:nvPr/>
          </p:nvSpPr>
          <p:spPr>
            <a:xfrm>
              <a:off x="6407" y="4640"/>
              <a:ext cx="6729" cy="2077"/>
            </a:xfrm>
            <a:prstGeom prst="rect">
              <a:avLst/>
            </a:prstGeom>
            <a:blipFill>
              <a:blip r:embed="rId4"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rtlCol="0" anchor="ctr"/>
            <a:lstStyle/>
            <a:p>
              <a:pPr algn="ctr"/>
              <a:endParaRPr lang="zh-CN" altLang="en-US">
                <a:solidFill>
                  <a:schemeClr val="tx1">
                    <a:lumMod val="75000"/>
                    <a:lumOff val="25000"/>
                  </a:schemeClr>
                </a:solidFill>
              </a:endParaRPr>
            </a:p>
          </p:txBody>
        </p:sp>
        <p:sp>
          <p:nvSpPr>
            <p:cNvPr id="18" name="文本框 21"/>
            <p:cNvSpPr txBox="1"/>
            <p:nvPr/>
          </p:nvSpPr>
          <p:spPr>
            <a:xfrm>
              <a:off x="2715" y="2035"/>
              <a:ext cx="2826" cy="4134"/>
            </a:xfrm>
            <a:prstGeom prst="rect">
              <a:avLst/>
            </a:prstGeom>
            <a:noFill/>
            <a:effectLst/>
          </p:spPr>
          <p:txBody>
            <a:bodyPr wrap="square" lIns="68589" tIns="34295" rIns="68589" bIns="34295" rtlCol="0">
              <a:spAutoFit/>
            </a:bodyPr>
            <a:lstStyle/>
            <a:p>
              <a:pPr algn="just">
                <a:lnSpc>
                  <a:spcPct val="150000"/>
                </a:lnSpc>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根据以上的分析，四川长虹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年的财务状况总体上保持</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年的水平，其中营运能力、偿债能力、盈利能力无明显改善。同时，我们注意到长虹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年每股收益为</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0.13</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元／股，</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年每股收益为</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0.04</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元／股，每股收益水平有较大下降，但在行业的名次却基本保持不变，表明长虹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年收入与利润下降除了存在自身原因外，也与行业的普遍不景气有关。</a:t>
              </a:r>
              <a:endPar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9" name="组合 18"/>
            <p:cNvGrpSpPr/>
            <p:nvPr/>
          </p:nvGrpSpPr>
          <p:grpSpPr>
            <a:xfrm>
              <a:off x="6407" y="3712"/>
              <a:ext cx="3317" cy="1610"/>
              <a:chOff x="5423593" y="3785503"/>
              <a:chExt cx="2807705" cy="1362851"/>
            </a:xfrm>
          </p:grpSpPr>
          <p:sp>
            <p:nvSpPr>
              <p:cNvPr id="20" name="任意多边形 19"/>
              <p:cNvSpPr/>
              <p:nvPr/>
            </p:nvSpPr>
            <p:spPr>
              <a:xfrm>
                <a:off x="5423593" y="3785503"/>
                <a:ext cx="2807705" cy="1362851"/>
              </a:xfrm>
              <a:custGeom>
                <a:avLst/>
                <a:gdLst>
                  <a:gd name="connsiteX0" fmla="*/ 0 w 2807705"/>
                  <a:gd name="connsiteY0" fmla="*/ 0 h 1362851"/>
                  <a:gd name="connsiteX1" fmla="*/ 2807705 w 2807705"/>
                  <a:gd name="connsiteY1" fmla="*/ 0 h 1362851"/>
                  <a:gd name="connsiteX2" fmla="*/ 2807705 w 2807705"/>
                  <a:gd name="connsiteY2" fmla="*/ 723414 h 1362851"/>
                  <a:gd name="connsiteX3" fmla="*/ 1745089 w 2807705"/>
                  <a:gd name="connsiteY3" fmla="*/ 723414 h 1362851"/>
                  <a:gd name="connsiteX4" fmla="*/ 1403852 w 2807705"/>
                  <a:gd name="connsiteY4" fmla="*/ 1362851 h 1362851"/>
                  <a:gd name="connsiteX5" fmla="*/ 1062614 w 2807705"/>
                  <a:gd name="connsiteY5" fmla="*/ 723414 h 1362851"/>
                  <a:gd name="connsiteX6" fmla="*/ 0 w 2807705"/>
                  <a:gd name="connsiteY6" fmla="*/ 723414 h 136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7705" h="1362851">
                    <a:moveTo>
                      <a:pt x="0" y="0"/>
                    </a:moveTo>
                    <a:lnTo>
                      <a:pt x="2807705" y="0"/>
                    </a:lnTo>
                    <a:lnTo>
                      <a:pt x="2807705" y="723414"/>
                    </a:lnTo>
                    <a:lnTo>
                      <a:pt x="1745089" y="723414"/>
                    </a:lnTo>
                    <a:lnTo>
                      <a:pt x="1403852" y="1362851"/>
                    </a:lnTo>
                    <a:lnTo>
                      <a:pt x="1062614" y="723414"/>
                    </a:lnTo>
                    <a:lnTo>
                      <a:pt x="0" y="723414"/>
                    </a:lnTo>
                    <a:close/>
                  </a:path>
                </a:pathLst>
              </a:cu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21" name="文本框 22"/>
              <p:cNvSpPr txBox="1"/>
              <p:nvPr/>
            </p:nvSpPr>
            <p:spPr>
              <a:xfrm>
                <a:off x="6235318" y="3901779"/>
                <a:ext cx="1203539" cy="316482"/>
              </a:xfrm>
              <a:prstGeom prst="rect">
                <a:avLst/>
              </a:prstGeom>
              <a:noFill/>
              <a:effectLst/>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添加标题</a:t>
                </a:r>
                <a:endParaRPr lang="en-US" altLang="zh-CN" sz="1400" b="1" dirty="0" smtClean="0">
                  <a:solidFill>
                    <a:schemeClr val="bg1"/>
                  </a:solidFill>
                  <a:latin typeface="微软雅黑" panose="020B0503020204020204" pitchFamily="34" charset="-122"/>
                  <a:ea typeface="微软雅黑" panose="020B0503020204020204" pitchFamily="34" charset="-122"/>
                </a:endParaRPr>
              </a:p>
            </p:txBody>
          </p:sp>
        </p:grpSp>
        <p:grpSp>
          <p:nvGrpSpPr>
            <p:cNvPr id="22" name="组合 21"/>
            <p:cNvGrpSpPr/>
            <p:nvPr/>
          </p:nvGrpSpPr>
          <p:grpSpPr>
            <a:xfrm>
              <a:off x="9819" y="2956"/>
              <a:ext cx="3317" cy="1610"/>
              <a:chOff x="8312051" y="3146066"/>
              <a:chExt cx="2807705" cy="1362851"/>
            </a:xfrm>
          </p:grpSpPr>
          <p:sp>
            <p:nvSpPr>
              <p:cNvPr id="23" name="任意多边形 22"/>
              <p:cNvSpPr/>
              <p:nvPr/>
            </p:nvSpPr>
            <p:spPr>
              <a:xfrm>
                <a:off x="8312051" y="3146066"/>
                <a:ext cx="2807705" cy="1362851"/>
              </a:xfrm>
              <a:custGeom>
                <a:avLst/>
                <a:gdLst>
                  <a:gd name="connsiteX0" fmla="*/ 1403852 w 2807705"/>
                  <a:gd name="connsiteY0" fmla="*/ 0 h 1362851"/>
                  <a:gd name="connsiteX1" fmla="*/ 1745089 w 2807705"/>
                  <a:gd name="connsiteY1" fmla="*/ 639437 h 1362851"/>
                  <a:gd name="connsiteX2" fmla="*/ 2807705 w 2807705"/>
                  <a:gd name="connsiteY2" fmla="*/ 639437 h 1362851"/>
                  <a:gd name="connsiteX3" fmla="*/ 2807705 w 2807705"/>
                  <a:gd name="connsiteY3" fmla="*/ 1362851 h 1362851"/>
                  <a:gd name="connsiteX4" fmla="*/ 0 w 2807705"/>
                  <a:gd name="connsiteY4" fmla="*/ 1362851 h 1362851"/>
                  <a:gd name="connsiteX5" fmla="*/ 0 w 2807705"/>
                  <a:gd name="connsiteY5" fmla="*/ 639437 h 1362851"/>
                  <a:gd name="connsiteX6" fmla="*/ 1062614 w 2807705"/>
                  <a:gd name="connsiteY6" fmla="*/ 639437 h 136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7705" h="1362851">
                    <a:moveTo>
                      <a:pt x="1403852" y="0"/>
                    </a:moveTo>
                    <a:lnTo>
                      <a:pt x="1745089" y="639437"/>
                    </a:lnTo>
                    <a:lnTo>
                      <a:pt x="2807705" y="639437"/>
                    </a:lnTo>
                    <a:lnTo>
                      <a:pt x="2807705" y="1362851"/>
                    </a:lnTo>
                    <a:lnTo>
                      <a:pt x="0" y="1362851"/>
                    </a:lnTo>
                    <a:lnTo>
                      <a:pt x="0" y="639437"/>
                    </a:lnTo>
                    <a:lnTo>
                      <a:pt x="1062614" y="639437"/>
                    </a:lnTo>
                    <a:close/>
                  </a:path>
                </a:pathLst>
              </a:cu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24" name="文本框 23"/>
              <p:cNvSpPr txBox="1"/>
              <p:nvPr/>
            </p:nvSpPr>
            <p:spPr>
              <a:xfrm>
                <a:off x="9115138" y="3880104"/>
                <a:ext cx="1203539" cy="316482"/>
              </a:xfrm>
              <a:prstGeom prst="rect">
                <a:avLst/>
              </a:prstGeom>
              <a:noFill/>
              <a:effectLst/>
            </p:spPr>
            <p:txBody>
              <a:bodyPr wrap="square" rtlCol="0">
                <a:spAutoFit/>
              </a:bodyPr>
              <a:lstStyle/>
              <a:p>
                <a:r>
                  <a:rPr lang="zh-CN" altLang="en-US" sz="1400" dirty="0" smtClean="0">
                    <a:solidFill>
                      <a:schemeClr val="bg1"/>
                    </a:solidFill>
                    <a:latin typeface="微软雅黑" panose="020B0503020204020204" pitchFamily="34" charset="-122"/>
                    <a:ea typeface="微软雅黑" panose="020B0503020204020204" pitchFamily="34" charset="-122"/>
                  </a:rPr>
                  <a:t>添加标题</a:t>
                </a:r>
                <a:endParaRPr lang="en-US" altLang="zh-CN" sz="1400" b="1" dirty="0" smtClean="0">
                  <a:solidFill>
                    <a:schemeClr val="bg1"/>
                  </a:solidFill>
                  <a:latin typeface="微软雅黑" panose="020B0503020204020204" pitchFamily="34" charset="-122"/>
                  <a:ea typeface="微软雅黑" panose="020B0503020204020204" pitchFamily="34" charset="-122"/>
                </a:endParaRPr>
              </a:p>
            </p:txBody>
          </p:sp>
        </p:grpSp>
      </p:gr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49" presetClass="entr" presetSubtype="0" decel="100000" fill="hold" nodeType="after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p:cTn id="21" dur="500" fill="hold"/>
                                        <p:tgtEl>
                                          <p:spTgt spid="25"/>
                                        </p:tgtEl>
                                        <p:attrNameLst>
                                          <p:attrName>ppt_w</p:attrName>
                                        </p:attrNameLst>
                                      </p:cBhvr>
                                      <p:tavLst>
                                        <p:tav tm="0">
                                          <p:val>
                                            <p:fltVal val="0"/>
                                          </p:val>
                                        </p:tav>
                                        <p:tav tm="100000">
                                          <p:val>
                                            <p:strVal val="#ppt_w"/>
                                          </p:val>
                                        </p:tav>
                                      </p:tavLst>
                                    </p:anim>
                                    <p:anim calcmode="lin" valueType="num">
                                      <p:cBhvr>
                                        <p:cTn id="22" dur="500" fill="hold"/>
                                        <p:tgtEl>
                                          <p:spTgt spid="25"/>
                                        </p:tgtEl>
                                        <p:attrNameLst>
                                          <p:attrName>ppt_h</p:attrName>
                                        </p:attrNameLst>
                                      </p:cBhvr>
                                      <p:tavLst>
                                        <p:tav tm="0">
                                          <p:val>
                                            <p:fltVal val="0"/>
                                          </p:val>
                                        </p:tav>
                                        <p:tav tm="100000">
                                          <p:val>
                                            <p:strVal val="#ppt_h"/>
                                          </p:val>
                                        </p:tav>
                                      </p:tavLst>
                                    </p:anim>
                                    <p:anim calcmode="lin" valueType="num">
                                      <p:cBhvr>
                                        <p:cTn id="23" dur="500" fill="hold"/>
                                        <p:tgtEl>
                                          <p:spTgt spid="25"/>
                                        </p:tgtEl>
                                        <p:attrNameLst>
                                          <p:attrName>style.rotation</p:attrName>
                                        </p:attrNameLst>
                                      </p:cBhvr>
                                      <p:tavLst>
                                        <p:tav tm="0">
                                          <p:val>
                                            <p:fltVal val="360"/>
                                          </p:val>
                                        </p:tav>
                                        <p:tav tm="100000">
                                          <p:val>
                                            <p:fltVal val="0"/>
                                          </p:val>
                                        </p:tav>
                                      </p:tavLst>
                                    </p:anim>
                                    <p:animEffect transition="in" filter="fade">
                                      <p:cBhvr>
                                        <p:cTn id="2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1"/>
          <p:cNvGrpSpPr/>
          <p:nvPr/>
        </p:nvGrpSpPr>
        <p:grpSpPr>
          <a:xfrm>
            <a:off x="5455723" y="2948947"/>
            <a:ext cx="1349663" cy="1248139"/>
            <a:chOff x="5359953" y="1203598"/>
            <a:chExt cx="1012247" cy="936104"/>
          </a:xfrm>
        </p:grpSpPr>
        <p:sp>
          <p:nvSpPr>
            <p:cNvPr id="11" name="椭圆 10"/>
            <p:cNvSpPr/>
            <p:nvPr/>
          </p:nvSpPr>
          <p:spPr>
            <a:xfrm>
              <a:off x="5364088" y="1203598"/>
              <a:ext cx="936104" cy="936104"/>
            </a:xfrm>
            <a:prstGeom prst="ellips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文本框 12"/>
            <p:cNvSpPr txBox="1"/>
            <p:nvPr/>
          </p:nvSpPr>
          <p:spPr>
            <a:xfrm>
              <a:off x="5359953" y="1324929"/>
              <a:ext cx="1012247" cy="741521"/>
            </a:xfrm>
            <a:prstGeom prst="rect">
              <a:avLst/>
            </a:prstGeom>
            <a:noFill/>
          </p:spPr>
          <p:txBody>
            <a:bodyPr wrap="square" lIns="86697" tIns="43348" rIns="86697" bIns="43348" rtlCol="0">
              <a:spAutoFit/>
            </a:bodyPr>
            <a:lstStyle/>
            <a:p>
              <a:pPr algn="ctr"/>
              <a:r>
                <a:rPr lang="en-US" altLang="zh-CN" sz="5865" b="1" dirty="0" smtClean="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04</a:t>
              </a:r>
              <a:endParaRPr lang="zh-CN" altLang="en-US" sz="5865" b="1"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grpSp>
      <p:sp>
        <p:nvSpPr>
          <p:cNvPr id="21" name="矩形 20"/>
          <p:cNvSpPr/>
          <p:nvPr/>
        </p:nvSpPr>
        <p:spPr>
          <a:xfrm>
            <a:off x="6943090" y="2911475"/>
            <a:ext cx="4389120" cy="615315"/>
          </a:xfrm>
          <a:prstGeom prst="rect">
            <a:avLst/>
          </a:prstGeom>
        </p:spPr>
        <p:txBody>
          <a:bodyPr wrap="square" lIns="0" tIns="0" rIns="0" bIns="0">
            <a:spAutoFit/>
          </a:bodyPr>
          <a:lstStyle/>
          <a:p>
            <a:pPr algn="ctr"/>
            <a:r>
              <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杜邦财务体系分析</a:t>
            </a:r>
            <a:endParaRPr lang="zh-CN" altLang="en-US" sz="4000" b="1" dirty="0">
              <a:solidFill>
                <a:schemeClr val="tx1">
                  <a:lumMod val="85000"/>
                  <a:lumOff val="15000"/>
                </a:schemeClr>
              </a:solidFill>
              <a:latin typeface="微软雅黑" panose="020B0503020204020204" pitchFamily="34" charset="-122"/>
              <a:ea typeface="微软雅黑" panose="020B0503020204020204" pitchFamily="34" charset="-122"/>
              <a:cs typeface="+mn-ea"/>
              <a:sym typeface="+mn-ea"/>
            </a:endParaRPr>
          </a:p>
        </p:txBody>
      </p:sp>
      <p:sp>
        <p:nvSpPr>
          <p:cNvPr id="22" name="TextBox 11"/>
          <p:cNvSpPr txBox="1"/>
          <p:nvPr/>
        </p:nvSpPr>
        <p:spPr>
          <a:xfrm>
            <a:off x="7038340" y="3764280"/>
            <a:ext cx="1860550" cy="245745"/>
          </a:xfrm>
          <a:prstGeom prst="rect">
            <a:avLst/>
          </a:prstGeom>
          <a:noFill/>
        </p:spPr>
        <p:txBody>
          <a:bodyPr wrap="square" lIns="0" tIns="0" rIns="0" bIns="0" rtlCol="0">
            <a:spAutoFit/>
          </a:bodyPr>
          <a:lstStyle/>
          <a:p>
            <a:pPr indent="0" algn="just">
              <a:buFont typeface="Arial" panose="020B0604020202020204" pitchFamily="34" charset="0"/>
              <a:buChar char="•"/>
            </a:pPr>
            <a:r>
              <a:rPr lang="en-US" altLang="zh-CN" sz="1600" dirty="0">
                <a:sym typeface="+mn-ea"/>
              </a:rPr>
              <a:t> </a:t>
            </a:r>
            <a:r>
              <a:rPr lang="zh-CN" altLang="en-US" sz="1600" dirty="0">
                <a:sym typeface="+mn-ea"/>
              </a:rPr>
              <a:t>体系构成</a:t>
            </a:r>
            <a:endParaRPr lang="zh-CN" altLang="en-US" sz="16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3" name="TextBox 11"/>
          <p:cNvSpPr txBox="1"/>
          <p:nvPr/>
        </p:nvSpPr>
        <p:spPr>
          <a:xfrm>
            <a:off x="9131935" y="3733800"/>
            <a:ext cx="1928495" cy="245745"/>
          </a:xfrm>
          <a:prstGeom prst="rect">
            <a:avLst/>
          </a:prstGeom>
          <a:noFill/>
        </p:spPr>
        <p:txBody>
          <a:bodyPr wrap="square" lIns="0" tIns="0" rIns="0" bIns="0" rtlCol="0">
            <a:spAutoFit/>
          </a:bodyPr>
          <a:lstStyle/>
          <a:p>
            <a:pPr indent="0" algn="just">
              <a:buFont typeface="Arial" panose="020B0604020202020204" pitchFamily="34" charset="0"/>
              <a:buChar char="•"/>
            </a:pPr>
            <a:r>
              <a:rPr lang="en-US" altLang="zh-CN" sz="1600">
                <a:sym typeface="+mn-ea"/>
              </a:rPr>
              <a:t> </a:t>
            </a:r>
            <a:r>
              <a:rPr lang="zh-CN" altLang="en-US" sz="1600" dirty="0">
                <a:sym typeface="+mn-ea"/>
              </a:rPr>
              <a:t>体系解析</a:t>
            </a:r>
            <a:endParaRPr lang="en-US" altLang="zh-CN" sz="1600" dirty="0">
              <a:solidFill>
                <a:schemeClr val="bg1">
                  <a:lumMod val="50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14" name="Picture 2" descr="C:\Users\Administrator\Desktop\1057523b4226046.png"/>
          <p:cNvPicPr>
            <a:picLocks noChangeAspect="1" noChangeArrowheads="1"/>
          </p:cNvPicPr>
          <p:nvPr/>
        </p:nvPicPr>
        <p:blipFill>
          <a:blip r:embed="rId3" cstate="print"/>
          <a:srcRect/>
          <a:stretch>
            <a:fillRect/>
          </a:stretch>
        </p:blipFill>
        <p:spPr bwMode="auto">
          <a:xfrm>
            <a:off x="527381" y="1220755"/>
            <a:ext cx="5001253" cy="4416491"/>
          </a:xfrm>
          <a:prstGeom prst="rect">
            <a:avLst/>
          </a:prstGeom>
          <a:noFill/>
        </p:spPr>
      </p:pic>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tgtEl>
                                          <p:spTgt spid="21"/>
                                        </p:tgtEl>
                                        <p:attrNameLst>
                                          <p:attrName>ppt_w</p:attrName>
                                        </p:attrNameLst>
                                      </p:cBhvr>
                                      <p:tavLst>
                                        <p:tav tm="0">
                                          <p:val>
                                            <p:strVal val="4*#ppt_w"/>
                                          </p:val>
                                        </p:tav>
                                        <p:tav tm="100000">
                                          <p:val>
                                            <p:strVal val="#ppt_w"/>
                                          </p:val>
                                        </p:tav>
                                      </p:tavLst>
                                    </p:anim>
                                    <p:anim calcmode="lin" valueType="num">
                                      <p:cBhvr>
                                        <p:cTn id="22" dur="500" fill="hold"/>
                                        <p:tgtEl>
                                          <p:spTgt spid="21"/>
                                        </p:tgtEl>
                                        <p:attrNameLst>
                                          <p:attrName>ppt_h</p:attrName>
                                        </p:attrNameLst>
                                      </p:cBhvr>
                                      <p:tavLst>
                                        <p:tav tm="0">
                                          <p:val>
                                            <p:strVal val="4*#ppt_h"/>
                                          </p:val>
                                        </p:tav>
                                        <p:tav tm="100000">
                                          <p:val>
                                            <p:strVal val="#ppt_h"/>
                                          </p:val>
                                        </p:tav>
                                      </p:tavLst>
                                    </p:anim>
                                  </p:childTnLst>
                                </p:cTn>
                              </p:par>
                            </p:childTnLst>
                          </p:cTn>
                        </p:par>
                        <p:par>
                          <p:cTn id="23" fill="hold">
                            <p:stCondLst>
                              <p:cond delay="500"/>
                            </p:stCondLst>
                            <p:childTnLst>
                              <p:par>
                                <p:cTn id="24" presetID="12" presetClass="entr" presetSubtype="8" fill="hold" grpId="0" nodeType="afterEffect">
                                  <p:stCondLst>
                                    <p:cond delay="0"/>
                                  </p:stCondLst>
                                  <p:childTnLst>
                                    <p:set>
                                      <p:cBhvr>
                                        <p:cTn id="25" dur="1" fill="hold">
                                          <p:stCondLst>
                                            <p:cond delay="0"/>
                                          </p:stCondLst>
                                        </p:cTn>
                                        <p:tgtEl>
                                          <p:spTgt spid="22"/>
                                        </p:tgtEl>
                                        <p:attrNameLst>
                                          <p:attrName>style.visibility</p:attrName>
                                        </p:attrNameLst>
                                      </p:cBhvr>
                                      <p:to>
                                        <p:strVal val="visible"/>
                                      </p:to>
                                    </p:set>
                                    <p:anim calcmode="lin" valueType="num">
                                      <p:cBhvr additive="base">
                                        <p:cTn id="26" dur="500"/>
                                        <p:tgtEl>
                                          <p:spTgt spid="22"/>
                                        </p:tgtEl>
                                        <p:attrNameLst>
                                          <p:attrName>ppt_x</p:attrName>
                                        </p:attrNameLst>
                                      </p:cBhvr>
                                      <p:tavLst>
                                        <p:tav tm="0">
                                          <p:val>
                                            <p:strVal val="#ppt_x-#ppt_w*1.125000"/>
                                          </p:val>
                                        </p:tav>
                                        <p:tav tm="100000">
                                          <p:val>
                                            <p:strVal val="#ppt_x"/>
                                          </p:val>
                                        </p:tav>
                                      </p:tavLst>
                                    </p:anim>
                                    <p:animEffect transition="in" filter="wipe(right)">
                                      <p:cBhvr>
                                        <p:cTn id="27" dur="500"/>
                                        <p:tgtEl>
                                          <p:spTgt spid="22"/>
                                        </p:tgtEl>
                                      </p:cBhvr>
                                    </p:animEffect>
                                  </p:childTnLst>
                                </p:cTn>
                              </p:par>
                            </p:childTnLst>
                          </p:cTn>
                        </p:par>
                        <p:par>
                          <p:cTn id="28" fill="hold">
                            <p:stCondLst>
                              <p:cond delay="1000"/>
                            </p:stCondLst>
                            <p:childTnLst>
                              <p:par>
                                <p:cTn id="29" presetID="12" presetClass="entr" presetSubtype="8"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ppt_x</p:attrName>
                                        </p:attrNameLst>
                                      </p:cBhvr>
                                      <p:tavLst>
                                        <p:tav tm="0">
                                          <p:val>
                                            <p:strVal val="#ppt_x-#ppt_w*1.125000"/>
                                          </p:val>
                                        </p:tav>
                                        <p:tav tm="100000">
                                          <p:val>
                                            <p:strVal val="#ppt_x"/>
                                          </p:val>
                                        </p:tav>
                                      </p:tavLst>
                                    </p:anim>
                                    <p:animEffect transition="in" filter="wipe(right)">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1336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latin typeface="宋体" panose="02010600030101010101" pitchFamily="2" charset="-122"/>
                <a:sym typeface="+mn-ea"/>
              </a:rPr>
              <a:t>权益净利率分析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ounded Rectangle 1"/>
          <p:cNvSpPr/>
          <p:nvPr/>
        </p:nvSpPr>
        <p:spPr>
          <a:xfrm>
            <a:off x="1473877" y="5493792"/>
            <a:ext cx="1092992" cy="215555"/>
          </a:xfrm>
          <a:prstGeom prst="roundRect">
            <a:avLst>
              <a:gd name="adj" fmla="val 50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Rounded Rectangle 59"/>
          <p:cNvSpPr/>
          <p:nvPr/>
        </p:nvSpPr>
        <p:spPr>
          <a:xfrm>
            <a:off x="1473877" y="5194400"/>
            <a:ext cx="1092992" cy="215555"/>
          </a:xfrm>
          <a:prstGeom prst="roundRect">
            <a:avLst>
              <a:gd name="adj" fmla="val 50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Rounded Rectangle 60"/>
          <p:cNvSpPr/>
          <p:nvPr/>
        </p:nvSpPr>
        <p:spPr>
          <a:xfrm>
            <a:off x="1473877" y="4902240"/>
            <a:ext cx="1092992" cy="215555"/>
          </a:xfrm>
          <a:prstGeom prst="roundRect">
            <a:avLst>
              <a:gd name="adj" fmla="val 50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Rounded Rectangle 61"/>
          <p:cNvSpPr/>
          <p:nvPr/>
        </p:nvSpPr>
        <p:spPr>
          <a:xfrm>
            <a:off x="1473877" y="4602849"/>
            <a:ext cx="1092992" cy="215555"/>
          </a:xfrm>
          <a:prstGeom prst="roundRect">
            <a:avLst>
              <a:gd name="adj" fmla="val 50000"/>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Rounded Rectangle 62"/>
          <p:cNvSpPr/>
          <p:nvPr/>
        </p:nvSpPr>
        <p:spPr>
          <a:xfrm>
            <a:off x="1473877" y="4302948"/>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9" name="Rounded Rectangle 78"/>
          <p:cNvSpPr/>
          <p:nvPr/>
        </p:nvSpPr>
        <p:spPr>
          <a:xfrm>
            <a:off x="1473877" y="4003557"/>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Rounded Rectangle 79"/>
          <p:cNvSpPr/>
          <p:nvPr/>
        </p:nvSpPr>
        <p:spPr>
          <a:xfrm>
            <a:off x="1473877" y="3711397"/>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1" name="Rounded Rectangle 80"/>
          <p:cNvSpPr/>
          <p:nvPr/>
        </p:nvSpPr>
        <p:spPr>
          <a:xfrm>
            <a:off x="1473877" y="3412006"/>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Rounded Rectangle 81"/>
          <p:cNvSpPr/>
          <p:nvPr/>
        </p:nvSpPr>
        <p:spPr>
          <a:xfrm>
            <a:off x="3002346" y="5493792"/>
            <a:ext cx="1092992" cy="215555"/>
          </a:xfrm>
          <a:prstGeom prst="roundRect">
            <a:avLst>
              <a:gd name="adj" fmla="val 50000"/>
            </a:avLst>
          </a:prstGeom>
          <a:solidFill>
            <a:srgbClr val="CE3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3" name="Rounded Rectangle 82"/>
          <p:cNvSpPr/>
          <p:nvPr/>
        </p:nvSpPr>
        <p:spPr>
          <a:xfrm>
            <a:off x="3002346" y="5194400"/>
            <a:ext cx="1092992" cy="215555"/>
          </a:xfrm>
          <a:prstGeom prst="roundRect">
            <a:avLst>
              <a:gd name="adj" fmla="val 50000"/>
            </a:avLst>
          </a:prstGeom>
          <a:solidFill>
            <a:srgbClr val="CE3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4" name="Rounded Rectangle 83"/>
          <p:cNvSpPr/>
          <p:nvPr/>
        </p:nvSpPr>
        <p:spPr>
          <a:xfrm>
            <a:off x="3002346" y="4902240"/>
            <a:ext cx="1092992" cy="215555"/>
          </a:xfrm>
          <a:prstGeom prst="roundRect">
            <a:avLst>
              <a:gd name="adj" fmla="val 50000"/>
            </a:avLst>
          </a:prstGeom>
          <a:solidFill>
            <a:srgbClr val="CE3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5" name="Rounded Rectangle 84"/>
          <p:cNvSpPr/>
          <p:nvPr/>
        </p:nvSpPr>
        <p:spPr>
          <a:xfrm>
            <a:off x="3002346" y="4602849"/>
            <a:ext cx="1092992" cy="215555"/>
          </a:xfrm>
          <a:prstGeom prst="roundRect">
            <a:avLst>
              <a:gd name="adj" fmla="val 50000"/>
            </a:avLst>
          </a:prstGeom>
          <a:solidFill>
            <a:srgbClr val="CE3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6" name="Rounded Rectangle 85"/>
          <p:cNvSpPr/>
          <p:nvPr/>
        </p:nvSpPr>
        <p:spPr>
          <a:xfrm>
            <a:off x="3002346" y="4302948"/>
            <a:ext cx="1092992" cy="215555"/>
          </a:xfrm>
          <a:prstGeom prst="roundRect">
            <a:avLst>
              <a:gd name="adj" fmla="val 50000"/>
            </a:avLst>
          </a:prstGeom>
          <a:solidFill>
            <a:srgbClr val="CE3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Rounded Rectangle 86"/>
          <p:cNvSpPr/>
          <p:nvPr/>
        </p:nvSpPr>
        <p:spPr>
          <a:xfrm>
            <a:off x="3002346" y="4003557"/>
            <a:ext cx="1092992" cy="215555"/>
          </a:xfrm>
          <a:prstGeom prst="roundRect">
            <a:avLst>
              <a:gd name="adj" fmla="val 50000"/>
            </a:avLst>
          </a:prstGeom>
          <a:solidFill>
            <a:srgbClr val="CE3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Rounded Rectangle 87"/>
          <p:cNvSpPr/>
          <p:nvPr/>
        </p:nvSpPr>
        <p:spPr>
          <a:xfrm>
            <a:off x="3002346" y="3711397"/>
            <a:ext cx="1092992" cy="215555"/>
          </a:xfrm>
          <a:prstGeom prst="roundRect">
            <a:avLst>
              <a:gd name="adj" fmla="val 50000"/>
            </a:avLst>
          </a:prstGeom>
          <a:solidFill>
            <a:srgbClr val="CE3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Rounded Rectangle 88"/>
          <p:cNvSpPr/>
          <p:nvPr/>
        </p:nvSpPr>
        <p:spPr>
          <a:xfrm>
            <a:off x="3002346" y="3412006"/>
            <a:ext cx="1092992" cy="215555"/>
          </a:xfrm>
          <a:prstGeom prst="roundRect">
            <a:avLst>
              <a:gd name="adj" fmla="val 50000"/>
            </a:avLst>
          </a:prstGeom>
          <a:solidFill>
            <a:srgbClr val="CE3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Rounded Rectangle 89"/>
          <p:cNvSpPr/>
          <p:nvPr/>
        </p:nvSpPr>
        <p:spPr>
          <a:xfrm>
            <a:off x="4578086" y="5493792"/>
            <a:ext cx="1092992" cy="215555"/>
          </a:xfrm>
          <a:prstGeom prst="roundRect">
            <a:avLst>
              <a:gd name="adj" fmla="val 50000"/>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Rounded Rectangle 90"/>
          <p:cNvSpPr/>
          <p:nvPr/>
        </p:nvSpPr>
        <p:spPr>
          <a:xfrm>
            <a:off x="4578086" y="5194400"/>
            <a:ext cx="1092992" cy="215555"/>
          </a:xfrm>
          <a:prstGeom prst="roundRect">
            <a:avLst>
              <a:gd name="adj" fmla="val 50000"/>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Rounded Rectangle 91"/>
          <p:cNvSpPr/>
          <p:nvPr/>
        </p:nvSpPr>
        <p:spPr>
          <a:xfrm>
            <a:off x="4578086" y="4902240"/>
            <a:ext cx="1092992" cy="215555"/>
          </a:xfrm>
          <a:prstGeom prst="roundRect">
            <a:avLst>
              <a:gd name="adj" fmla="val 50000"/>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 name="Rounded Rectangle 92"/>
          <p:cNvSpPr/>
          <p:nvPr/>
        </p:nvSpPr>
        <p:spPr>
          <a:xfrm>
            <a:off x="4578086" y="4602849"/>
            <a:ext cx="1092992" cy="215555"/>
          </a:xfrm>
          <a:prstGeom prst="roundRect">
            <a:avLst>
              <a:gd name="adj" fmla="val 50000"/>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Rounded Rectangle 93"/>
          <p:cNvSpPr/>
          <p:nvPr/>
        </p:nvSpPr>
        <p:spPr>
          <a:xfrm>
            <a:off x="4578086" y="4302948"/>
            <a:ext cx="1092992" cy="215555"/>
          </a:xfrm>
          <a:prstGeom prst="roundRect">
            <a:avLst>
              <a:gd name="adj" fmla="val 50000"/>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Rounded Rectangle 94"/>
          <p:cNvSpPr/>
          <p:nvPr/>
        </p:nvSpPr>
        <p:spPr>
          <a:xfrm>
            <a:off x="4578086" y="4003557"/>
            <a:ext cx="1092992" cy="215555"/>
          </a:xfrm>
          <a:prstGeom prst="roundRect">
            <a:avLst>
              <a:gd name="adj" fmla="val 50000"/>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Rounded Rectangle 95"/>
          <p:cNvSpPr/>
          <p:nvPr/>
        </p:nvSpPr>
        <p:spPr>
          <a:xfrm>
            <a:off x="4578086" y="3711397"/>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Rounded Rectangle 96"/>
          <p:cNvSpPr/>
          <p:nvPr/>
        </p:nvSpPr>
        <p:spPr>
          <a:xfrm>
            <a:off x="4578086" y="3412006"/>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Rectangle 2"/>
          <p:cNvSpPr/>
          <p:nvPr/>
        </p:nvSpPr>
        <p:spPr>
          <a:xfrm>
            <a:off x="4622273" y="2389506"/>
            <a:ext cx="988538" cy="215444"/>
          </a:xfrm>
          <a:prstGeom prst="rect">
            <a:avLst/>
          </a:prstGeom>
        </p:spPr>
        <p:txBody>
          <a:bodyPr wrap="square" lIns="0" tIns="0" rIns="0" bIns="0">
            <a:spAutoFit/>
          </a:bodyPr>
          <a:lstStyle/>
          <a:p>
            <a:pPr algn="ctr">
              <a:spcBef>
                <a:spcPts val="0"/>
              </a:spcBef>
              <a:spcAft>
                <a:spcPts val="0"/>
              </a:spcAft>
            </a:pPr>
            <a:r>
              <a:rPr lang="zh-CN" altLang="en-US" sz="1400" dirty="0" smtClean="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en-US"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Rounded Rectangle 97"/>
          <p:cNvSpPr/>
          <p:nvPr/>
        </p:nvSpPr>
        <p:spPr>
          <a:xfrm>
            <a:off x="1473877" y="3109524"/>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Rounded Rectangle 98"/>
          <p:cNvSpPr/>
          <p:nvPr/>
        </p:nvSpPr>
        <p:spPr>
          <a:xfrm>
            <a:off x="3002346" y="3109524"/>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Rounded Rectangle 99"/>
          <p:cNvSpPr/>
          <p:nvPr/>
        </p:nvSpPr>
        <p:spPr>
          <a:xfrm>
            <a:off x="4578086" y="3109524"/>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Rectangle 100"/>
          <p:cNvSpPr/>
          <p:nvPr/>
        </p:nvSpPr>
        <p:spPr>
          <a:xfrm>
            <a:off x="3052060" y="2389506"/>
            <a:ext cx="988538" cy="215444"/>
          </a:xfrm>
          <a:prstGeom prst="rect">
            <a:avLst/>
          </a:prstGeom>
        </p:spPr>
        <p:txBody>
          <a:bodyPr wrap="square" lIns="0" tIns="0" rIns="0" bIns="0">
            <a:spAutoFit/>
          </a:bodyPr>
          <a:lstStyle/>
          <a:p>
            <a:pPr algn="ctr">
              <a:spcBef>
                <a:spcPts val="0"/>
              </a:spcBef>
              <a:spcAft>
                <a:spcPts val="0"/>
              </a:spcAft>
            </a:pPr>
            <a:r>
              <a:rPr lang="zh-CN" altLang="en-US" sz="1400" dirty="0" smtClean="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en-US"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Rectangle 101"/>
          <p:cNvSpPr/>
          <p:nvPr/>
        </p:nvSpPr>
        <p:spPr>
          <a:xfrm>
            <a:off x="1528029" y="2389506"/>
            <a:ext cx="988538" cy="215444"/>
          </a:xfrm>
          <a:prstGeom prst="rect">
            <a:avLst/>
          </a:prstGeom>
        </p:spPr>
        <p:txBody>
          <a:bodyPr wrap="square" lIns="0" tIns="0" rIns="0" bIns="0">
            <a:spAutoFit/>
          </a:bodyPr>
          <a:lstStyle/>
          <a:p>
            <a:pPr algn="ctr">
              <a:spcBef>
                <a:spcPts val="0"/>
              </a:spcBef>
              <a:spcAft>
                <a:spcPts val="0"/>
              </a:spcAft>
            </a:pPr>
            <a:r>
              <a:rPr lang="zh-CN" altLang="en-US" sz="1400" dirty="0" smtClean="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en-US" sz="14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Rounded Rectangle 102"/>
          <p:cNvSpPr/>
          <p:nvPr/>
        </p:nvSpPr>
        <p:spPr>
          <a:xfrm>
            <a:off x="1473877" y="2812820"/>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Rounded Rectangle 103"/>
          <p:cNvSpPr/>
          <p:nvPr/>
        </p:nvSpPr>
        <p:spPr>
          <a:xfrm>
            <a:off x="3002346" y="2812820"/>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Rounded Rectangle 104"/>
          <p:cNvSpPr/>
          <p:nvPr/>
        </p:nvSpPr>
        <p:spPr>
          <a:xfrm>
            <a:off x="4578086" y="2812820"/>
            <a:ext cx="1092992" cy="215555"/>
          </a:xfrm>
          <a:prstGeom prst="roundRect">
            <a:avLst>
              <a:gd name="adj" fmla="val 50000"/>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文本框 16"/>
          <p:cNvSpPr txBox="1"/>
          <p:nvPr/>
        </p:nvSpPr>
        <p:spPr>
          <a:xfrm>
            <a:off x="6130925" y="1834515"/>
            <a:ext cx="5643880" cy="3969385"/>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权 益 净 利 率 指 标 是 衡 量 企 业 利 用 资 产 获 取 利 润 能 力 的 指 标 ： 权 益 净 利 率 充 分 考 虑 了 筹 资 方 式 对 企 业 获 利 能 力 的 影 响 ， 因 此 它 所 反 映 的 获 利 能 力 是 企 业 经 营 能 力 、 财 务 决 策 和 筹 资 方 式 等 多 种 因 素 综 合 作 用 的 结 果 ： </a:t>
            </a:r>
          </a:p>
          <a:p>
            <a:pPr marL="285750" indent="-285750">
              <a:lnSpc>
                <a:spcPct val="150000"/>
              </a:lnSpc>
              <a:buFont typeface="Arial" panose="020B0604020202020204" pitchFamily="34" charset="0"/>
              <a:buChar char="•"/>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可 以 看 出 近 两 年 四 川 长 虹 权 益 净 利 率 从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09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降 到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72 ‰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下 降 了 近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70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通 过 指 标 分 解 可 以 看 出 ， 权 益 净 利 率 的 变 动 在 于 资 本 结 构 （ 权 益 乘 数 ） 变 动 和 资 产 利 用 效 果 （ 资 产 净 利 率 ） 变 动 两 方 面 共 同 作 用 的 结 果 ： 其 权 益 乘 数 比 较 稳 定 ， 相 对 变 动 不 大 ， 他 们 变 动 的 原 因 主 要 在 于 资 产 净 利 率 的 下 降 从</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1.66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降 到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52 %</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500"/>
                                        <p:tgtEl>
                                          <p:spTgt spid="6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fade">
                                      <p:cBhvr>
                                        <p:cTn id="30" dur="500"/>
                                        <p:tgtEl>
                                          <p:spTgt spid="6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9"/>
                                        </p:tgtEl>
                                        <p:attrNameLst>
                                          <p:attrName>style.visibility</p:attrName>
                                        </p:attrNameLst>
                                      </p:cBhvr>
                                      <p:to>
                                        <p:strVal val="visible"/>
                                      </p:to>
                                    </p:set>
                                    <p:animEffect transition="in" filter="fade">
                                      <p:cBhvr>
                                        <p:cTn id="36" dur="500"/>
                                        <p:tgtEl>
                                          <p:spTgt spid="7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0"/>
                                        </p:tgtEl>
                                        <p:attrNameLst>
                                          <p:attrName>style.visibility</p:attrName>
                                        </p:attrNameLst>
                                      </p:cBhvr>
                                      <p:to>
                                        <p:strVal val="visible"/>
                                      </p:to>
                                    </p:set>
                                    <p:animEffect transition="in" filter="fade">
                                      <p:cBhvr>
                                        <p:cTn id="39" dur="500"/>
                                        <p:tgtEl>
                                          <p:spTgt spid="8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1"/>
                                        </p:tgtEl>
                                        <p:attrNameLst>
                                          <p:attrName>style.visibility</p:attrName>
                                        </p:attrNameLst>
                                      </p:cBhvr>
                                      <p:to>
                                        <p:strVal val="visible"/>
                                      </p:to>
                                    </p:set>
                                    <p:animEffect transition="in" filter="fade">
                                      <p:cBhvr>
                                        <p:cTn id="42" dur="500"/>
                                        <p:tgtEl>
                                          <p:spTgt spid="8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98"/>
                                        </p:tgtEl>
                                        <p:attrNameLst>
                                          <p:attrName>style.visibility</p:attrName>
                                        </p:attrNameLst>
                                      </p:cBhvr>
                                      <p:to>
                                        <p:strVal val="visible"/>
                                      </p:to>
                                    </p:set>
                                    <p:animEffect transition="in" filter="fade">
                                      <p:cBhvr>
                                        <p:cTn id="45" dur="500"/>
                                        <p:tgtEl>
                                          <p:spTgt spid="9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3"/>
                                        </p:tgtEl>
                                        <p:attrNameLst>
                                          <p:attrName>style.visibility</p:attrName>
                                        </p:attrNameLst>
                                      </p:cBhvr>
                                      <p:to>
                                        <p:strVal val="visible"/>
                                      </p:to>
                                    </p:set>
                                    <p:animEffect transition="in" filter="fade">
                                      <p:cBhvr>
                                        <p:cTn id="48" dur="500"/>
                                        <p:tgtEl>
                                          <p:spTgt spid="103"/>
                                        </p:tgtEl>
                                      </p:cBhvr>
                                    </p:animEffect>
                                  </p:childTnLst>
                                </p:cTn>
                              </p:par>
                            </p:childTnLst>
                          </p:cTn>
                        </p:par>
                        <p:par>
                          <p:cTn id="49" fill="hold">
                            <p:stCondLst>
                              <p:cond delay="2000"/>
                            </p:stCondLst>
                            <p:childTnLst>
                              <p:par>
                                <p:cTn id="50" presetID="22" presetClass="entr" presetSubtype="4" fill="hold" grpId="0" nodeType="afterEffect">
                                  <p:stCondLst>
                                    <p:cond delay="0"/>
                                  </p:stCondLst>
                                  <p:childTnLst>
                                    <p:set>
                                      <p:cBhvr>
                                        <p:cTn id="51" dur="1" fill="hold">
                                          <p:stCondLst>
                                            <p:cond delay="0"/>
                                          </p:stCondLst>
                                        </p:cTn>
                                        <p:tgtEl>
                                          <p:spTgt spid="102"/>
                                        </p:tgtEl>
                                        <p:attrNameLst>
                                          <p:attrName>style.visibility</p:attrName>
                                        </p:attrNameLst>
                                      </p:cBhvr>
                                      <p:to>
                                        <p:strVal val="visible"/>
                                      </p:to>
                                    </p:set>
                                    <p:animEffect transition="in" filter="wipe(down)">
                                      <p:cBhvr>
                                        <p:cTn id="52" dur="500"/>
                                        <p:tgtEl>
                                          <p:spTgt spid="102"/>
                                        </p:tgtEl>
                                      </p:cBhvr>
                                    </p:animEffect>
                                  </p:childTnLst>
                                </p:cTn>
                              </p:par>
                            </p:childTnLst>
                          </p:cTn>
                        </p:par>
                        <p:par>
                          <p:cTn id="53" fill="hold">
                            <p:stCondLst>
                              <p:cond delay="2500"/>
                            </p:stCondLst>
                            <p:childTnLst>
                              <p:par>
                                <p:cTn id="54" presetID="10" presetClass="entr" presetSubtype="0" fill="hold" grpId="0" nodeType="afterEffect">
                                  <p:stCondLst>
                                    <p:cond delay="0"/>
                                  </p:stCondLst>
                                  <p:childTnLst>
                                    <p:set>
                                      <p:cBhvr>
                                        <p:cTn id="55" dur="1" fill="hold">
                                          <p:stCondLst>
                                            <p:cond delay="0"/>
                                          </p:stCondLst>
                                        </p:cTn>
                                        <p:tgtEl>
                                          <p:spTgt spid="82"/>
                                        </p:tgtEl>
                                        <p:attrNameLst>
                                          <p:attrName>style.visibility</p:attrName>
                                        </p:attrNameLst>
                                      </p:cBhvr>
                                      <p:to>
                                        <p:strVal val="visible"/>
                                      </p:to>
                                    </p:set>
                                    <p:animEffect transition="in" filter="fade">
                                      <p:cBhvr>
                                        <p:cTn id="56" dur="500"/>
                                        <p:tgtEl>
                                          <p:spTgt spid="8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3"/>
                                        </p:tgtEl>
                                        <p:attrNameLst>
                                          <p:attrName>style.visibility</p:attrName>
                                        </p:attrNameLst>
                                      </p:cBhvr>
                                      <p:to>
                                        <p:strVal val="visible"/>
                                      </p:to>
                                    </p:set>
                                    <p:animEffect transition="in" filter="fade">
                                      <p:cBhvr>
                                        <p:cTn id="59" dur="500"/>
                                        <p:tgtEl>
                                          <p:spTgt spid="8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4"/>
                                        </p:tgtEl>
                                        <p:attrNameLst>
                                          <p:attrName>style.visibility</p:attrName>
                                        </p:attrNameLst>
                                      </p:cBhvr>
                                      <p:to>
                                        <p:strVal val="visible"/>
                                      </p:to>
                                    </p:set>
                                    <p:animEffect transition="in" filter="fade">
                                      <p:cBhvr>
                                        <p:cTn id="62" dur="500"/>
                                        <p:tgtEl>
                                          <p:spTgt spid="8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5"/>
                                        </p:tgtEl>
                                        <p:attrNameLst>
                                          <p:attrName>style.visibility</p:attrName>
                                        </p:attrNameLst>
                                      </p:cBhvr>
                                      <p:to>
                                        <p:strVal val="visible"/>
                                      </p:to>
                                    </p:set>
                                    <p:animEffect transition="in" filter="fade">
                                      <p:cBhvr>
                                        <p:cTn id="65" dur="500"/>
                                        <p:tgtEl>
                                          <p:spTgt spid="8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6"/>
                                        </p:tgtEl>
                                        <p:attrNameLst>
                                          <p:attrName>style.visibility</p:attrName>
                                        </p:attrNameLst>
                                      </p:cBhvr>
                                      <p:to>
                                        <p:strVal val="visible"/>
                                      </p:to>
                                    </p:set>
                                    <p:animEffect transition="in" filter="fade">
                                      <p:cBhvr>
                                        <p:cTn id="68" dur="500"/>
                                        <p:tgtEl>
                                          <p:spTgt spid="8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7"/>
                                        </p:tgtEl>
                                        <p:attrNameLst>
                                          <p:attrName>style.visibility</p:attrName>
                                        </p:attrNameLst>
                                      </p:cBhvr>
                                      <p:to>
                                        <p:strVal val="visible"/>
                                      </p:to>
                                    </p:set>
                                    <p:animEffect transition="in" filter="fade">
                                      <p:cBhvr>
                                        <p:cTn id="71" dur="500"/>
                                        <p:tgtEl>
                                          <p:spTgt spid="8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88"/>
                                        </p:tgtEl>
                                        <p:attrNameLst>
                                          <p:attrName>style.visibility</p:attrName>
                                        </p:attrNameLst>
                                      </p:cBhvr>
                                      <p:to>
                                        <p:strVal val="visible"/>
                                      </p:to>
                                    </p:set>
                                    <p:animEffect transition="in" filter="fade">
                                      <p:cBhvr>
                                        <p:cTn id="74" dur="500"/>
                                        <p:tgtEl>
                                          <p:spTgt spid="8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89"/>
                                        </p:tgtEl>
                                        <p:attrNameLst>
                                          <p:attrName>style.visibility</p:attrName>
                                        </p:attrNameLst>
                                      </p:cBhvr>
                                      <p:to>
                                        <p:strVal val="visible"/>
                                      </p:to>
                                    </p:set>
                                    <p:animEffect transition="in" filter="fade">
                                      <p:cBhvr>
                                        <p:cTn id="77" dur="500"/>
                                        <p:tgtEl>
                                          <p:spTgt spid="8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99"/>
                                        </p:tgtEl>
                                        <p:attrNameLst>
                                          <p:attrName>style.visibility</p:attrName>
                                        </p:attrNameLst>
                                      </p:cBhvr>
                                      <p:to>
                                        <p:strVal val="visible"/>
                                      </p:to>
                                    </p:set>
                                    <p:animEffect transition="in" filter="fade">
                                      <p:cBhvr>
                                        <p:cTn id="80" dur="500"/>
                                        <p:tgtEl>
                                          <p:spTgt spid="9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04"/>
                                        </p:tgtEl>
                                        <p:attrNameLst>
                                          <p:attrName>style.visibility</p:attrName>
                                        </p:attrNameLst>
                                      </p:cBhvr>
                                      <p:to>
                                        <p:strVal val="visible"/>
                                      </p:to>
                                    </p:set>
                                    <p:animEffect transition="in" filter="fade">
                                      <p:cBhvr>
                                        <p:cTn id="83" dur="500"/>
                                        <p:tgtEl>
                                          <p:spTgt spid="104"/>
                                        </p:tgtEl>
                                      </p:cBhvr>
                                    </p:animEffect>
                                  </p:childTnLst>
                                </p:cTn>
                              </p:par>
                            </p:childTnLst>
                          </p:cTn>
                        </p:par>
                        <p:par>
                          <p:cTn id="84" fill="hold">
                            <p:stCondLst>
                              <p:cond delay="3000"/>
                            </p:stCondLst>
                            <p:childTnLst>
                              <p:par>
                                <p:cTn id="85" presetID="22" presetClass="entr" presetSubtype="4" fill="hold" grpId="0" nodeType="afterEffect">
                                  <p:stCondLst>
                                    <p:cond delay="0"/>
                                  </p:stCondLst>
                                  <p:childTnLst>
                                    <p:set>
                                      <p:cBhvr>
                                        <p:cTn id="86" dur="1" fill="hold">
                                          <p:stCondLst>
                                            <p:cond delay="0"/>
                                          </p:stCondLst>
                                        </p:cTn>
                                        <p:tgtEl>
                                          <p:spTgt spid="101"/>
                                        </p:tgtEl>
                                        <p:attrNameLst>
                                          <p:attrName>style.visibility</p:attrName>
                                        </p:attrNameLst>
                                      </p:cBhvr>
                                      <p:to>
                                        <p:strVal val="visible"/>
                                      </p:to>
                                    </p:set>
                                    <p:animEffect transition="in" filter="wipe(down)">
                                      <p:cBhvr>
                                        <p:cTn id="87" dur="500"/>
                                        <p:tgtEl>
                                          <p:spTgt spid="101"/>
                                        </p:tgtEl>
                                      </p:cBhvr>
                                    </p:animEffect>
                                  </p:childTnLst>
                                </p:cTn>
                              </p:par>
                            </p:childTnLst>
                          </p:cTn>
                        </p:par>
                        <p:par>
                          <p:cTn id="88" fill="hold">
                            <p:stCondLst>
                              <p:cond delay="3500"/>
                            </p:stCondLst>
                            <p:childTnLst>
                              <p:par>
                                <p:cTn id="89" presetID="10" presetClass="entr" presetSubtype="0" fill="hold" grpId="0" nodeType="afterEffect">
                                  <p:stCondLst>
                                    <p:cond delay="0"/>
                                  </p:stCondLst>
                                  <p:childTnLst>
                                    <p:set>
                                      <p:cBhvr>
                                        <p:cTn id="90" dur="1" fill="hold">
                                          <p:stCondLst>
                                            <p:cond delay="0"/>
                                          </p:stCondLst>
                                        </p:cTn>
                                        <p:tgtEl>
                                          <p:spTgt spid="90"/>
                                        </p:tgtEl>
                                        <p:attrNameLst>
                                          <p:attrName>style.visibility</p:attrName>
                                        </p:attrNameLst>
                                      </p:cBhvr>
                                      <p:to>
                                        <p:strVal val="visible"/>
                                      </p:to>
                                    </p:set>
                                    <p:animEffect transition="in" filter="fade">
                                      <p:cBhvr>
                                        <p:cTn id="91" dur="500"/>
                                        <p:tgtEl>
                                          <p:spTgt spid="9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91"/>
                                        </p:tgtEl>
                                        <p:attrNameLst>
                                          <p:attrName>style.visibility</p:attrName>
                                        </p:attrNameLst>
                                      </p:cBhvr>
                                      <p:to>
                                        <p:strVal val="visible"/>
                                      </p:to>
                                    </p:set>
                                    <p:animEffect transition="in" filter="fade">
                                      <p:cBhvr>
                                        <p:cTn id="94" dur="500"/>
                                        <p:tgtEl>
                                          <p:spTgt spid="9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92"/>
                                        </p:tgtEl>
                                        <p:attrNameLst>
                                          <p:attrName>style.visibility</p:attrName>
                                        </p:attrNameLst>
                                      </p:cBhvr>
                                      <p:to>
                                        <p:strVal val="visible"/>
                                      </p:to>
                                    </p:set>
                                    <p:animEffect transition="in" filter="fade">
                                      <p:cBhvr>
                                        <p:cTn id="97" dur="500"/>
                                        <p:tgtEl>
                                          <p:spTgt spid="9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93"/>
                                        </p:tgtEl>
                                        <p:attrNameLst>
                                          <p:attrName>style.visibility</p:attrName>
                                        </p:attrNameLst>
                                      </p:cBhvr>
                                      <p:to>
                                        <p:strVal val="visible"/>
                                      </p:to>
                                    </p:set>
                                    <p:animEffect transition="in" filter="fade">
                                      <p:cBhvr>
                                        <p:cTn id="100" dur="500"/>
                                        <p:tgtEl>
                                          <p:spTgt spid="9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94"/>
                                        </p:tgtEl>
                                        <p:attrNameLst>
                                          <p:attrName>style.visibility</p:attrName>
                                        </p:attrNameLst>
                                      </p:cBhvr>
                                      <p:to>
                                        <p:strVal val="visible"/>
                                      </p:to>
                                    </p:set>
                                    <p:animEffect transition="in" filter="fade">
                                      <p:cBhvr>
                                        <p:cTn id="103" dur="500"/>
                                        <p:tgtEl>
                                          <p:spTgt spid="9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95"/>
                                        </p:tgtEl>
                                        <p:attrNameLst>
                                          <p:attrName>style.visibility</p:attrName>
                                        </p:attrNameLst>
                                      </p:cBhvr>
                                      <p:to>
                                        <p:strVal val="visible"/>
                                      </p:to>
                                    </p:set>
                                    <p:animEffect transition="in" filter="fade">
                                      <p:cBhvr>
                                        <p:cTn id="106" dur="500"/>
                                        <p:tgtEl>
                                          <p:spTgt spid="9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96"/>
                                        </p:tgtEl>
                                        <p:attrNameLst>
                                          <p:attrName>style.visibility</p:attrName>
                                        </p:attrNameLst>
                                      </p:cBhvr>
                                      <p:to>
                                        <p:strVal val="visible"/>
                                      </p:to>
                                    </p:set>
                                    <p:animEffect transition="in" filter="fade">
                                      <p:cBhvr>
                                        <p:cTn id="109" dur="500"/>
                                        <p:tgtEl>
                                          <p:spTgt spid="9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97"/>
                                        </p:tgtEl>
                                        <p:attrNameLst>
                                          <p:attrName>style.visibility</p:attrName>
                                        </p:attrNameLst>
                                      </p:cBhvr>
                                      <p:to>
                                        <p:strVal val="visible"/>
                                      </p:to>
                                    </p:set>
                                    <p:animEffect transition="in" filter="fade">
                                      <p:cBhvr>
                                        <p:cTn id="112" dur="500"/>
                                        <p:tgtEl>
                                          <p:spTgt spid="9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00"/>
                                        </p:tgtEl>
                                        <p:attrNameLst>
                                          <p:attrName>style.visibility</p:attrName>
                                        </p:attrNameLst>
                                      </p:cBhvr>
                                      <p:to>
                                        <p:strVal val="visible"/>
                                      </p:to>
                                    </p:set>
                                    <p:animEffect transition="in" filter="fade">
                                      <p:cBhvr>
                                        <p:cTn id="115" dur="500"/>
                                        <p:tgtEl>
                                          <p:spTgt spid="10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5"/>
                                        </p:tgtEl>
                                        <p:attrNameLst>
                                          <p:attrName>style.visibility</p:attrName>
                                        </p:attrNameLst>
                                      </p:cBhvr>
                                      <p:to>
                                        <p:strVal val="visible"/>
                                      </p:to>
                                    </p:set>
                                    <p:animEffect transition="in" filter="fade">
                                      <p:cBhvr>
                                        <p:cTn id="118" dur="500"/>
                                        <p:tgtEl>
                                          <p:spTgt spid="105"/>
                                        </p:tgtEl>
                                      </p:cBhvr>
                                    </p:animEffect>
                                  </p:childTnLst>
                                </p:cTn>
                              </p:par>
                            </p:childTnLst>
                          </p:cTn>
                        </p:par>
                        <p:par>
                          <p:cTn id="119" fill="hold">
                            <p:stCondLst>
                              <p:cond delay="4000"/>
                            </p:stCondLst>
                            <p:childTnLst>
                              <p:par>
                                <p:cTn id="120" presetID="22" presetClass="entr" presetSubtype="4" fill="hold" grpId="0" nodeType="afterEffect">
                                  <p:stCondLst>
                                    <p:cond delay="0"/>
                                  </p:stCondLst>
                                  <p:childTnLst>
                                    <p:set>
                                      <p:cBhvr>
                                        <p:cTn id="121" dur="1" fill="hold">
                                          <p:stCondLst>
                                            <p:cond delay="0"/>
                                          </p:stCondLst>
                                        </p:cTn>
                                        <p:tgtEl>
                                          <p:spTgt spid="16"/>
                                        </p:tgtEl>
                                        <p:attrNameLst>
                                          <p:attrName>style.visibility</p:attrName>
                                        </p:attrNameLst>
                                      </p:cBhvr>
                                      <p:to>
                                        <p:strVal val="visible"/>
                                      </p:to>
                                    </p:set>
                                    <p:animEffect transition="in" filter="wipe(down)">
                                      <p:cBhvr>
                                        <p:cTn id="122" dur="500"/>
                                        <p:tgtEl>
                                          <p:spTgt spid="16"/>
                                        </p:tgtEl>
                                      </p:cBhvr>
                                    </p:animEffect>
                                  </p:childTnLst>
                                </p:cTn>
                              </p:par>
                            </p:childTnLst>
                          </p:cTn>
                        </p:par>
                        <p:par>
                          <p:cTn id="123" fill="hold">
                            <p:stCondLst>
                              <p:cond delay="4500"/>
                            </p:stCondLst>
                            <p:childTnLst>
                              <p:par>
                                <p:cTn id="124" presetID="58" presetClass="entr" presetSubtype="0" accel="100000" fill="hold" grpId="0" nodeType="afterEffect">
                                  <p:stCondLst>
                                    <p:cond delay="0"/>
                                  </p:stCondLst>
                                  <p:childTnLst>
                                    <p:set>
                                      <p:cBhvr>
                                        <p:cTn id="125" dur="1" fill="hold">
                                          <p:stCondLst>
                                            <p:cond delay="0"/>
                                          </p:stCondLst>
                                        </p:cTn>
                                        <p:tgtEl>
                                          <p:spTgt spid="17"/>
                                        </p:tgtEl>
                                        <p:attrNameLst>
                                          <p:attrName>style.visibility</p:attrName>
                                        </p:attrNameLst>
                                      </p:cBhvr>
                                      <p:to>
                                        <p:strVal val="visible"/>
                                      </p:to>
                                    </p:set>
                                    <p:anim calcmode="lin" valueType="num">
                                      <p:cBhvr>
                                        <p:cTn id="126" dur="500" fill="hold"/>
                                        <p:tgtEl>
                                          <p:spTgt spid="17"/>
                                        </p:tgtEl>
                                        <p:attrNameLst>
                                          <p:attrName>ppt_w</p:attrName>
                                        </p:attrNameLst>
                                      </p:cBhvr>
                                      <p:tavLst>
                                        <p:tav tm="0">
                                          <p:val>
                                            <p:strVal val="#ppt_w*2.5"/>
                                          </p:val>
                                        </p:tav>
                                        <p:tav tm="100000">
                                          <p:val>
                                            <p:strVal val="#ppt_w"/>
                                          </p:val>
                                        </p:tav>
                                      </p:tavLst>
                                    </p:anim>
                                    <p:anim calcmode="lin" valueType="num">
                                      <p:cBhvr>
                                        <p:cTn id="127" dur="500" fill="hold"/>
                                        <p:tgtEl>
                                          <p:spTgt spid="17"/>
                                        </p:tgtEl>
                                        <p:attrNameLst>
                                          <p:attrName>ppt_h</p:attrName>
                                        </p:attrNameLst>
                                      </p:cBhvr>
                                      <p:tavLst>
                                        <p:tav tm="0">
                                          <p:val>
                                            <p:strVal val="#ppt_h*0.01"/>
                                          </p:val>
                                        </p:tav>
                                        <p:tav tm="100000">
                                          <p:val>
                                            <p:strVal val="#ppt_h"/>
                                          </p:val>
                                        </p:tav>
                                      </p:tavLst>
                                    </p:anim>
                                    <p:anim calcmode="lin" valueType="num">
                                      <p:cBhvr>
                                        <p:cTn id="128" dur="500" fill="hold"/>
                                        <p:tgtEl>
                                          <p:spTgt spid="17"/>
                                        </p:tgtEl>
                                        <p:attrNameLst>
                                          <p:attrName>ppt_x</p:attrName>
                                        </p:attrNameLst>
                                      </p:cBhvr>
                                      <p:tavLst>
                                        <p:tav tm="0">
                                          <p:val>
                                            <p:strVal val="#ppt_x"/>
                                          </p:val>
                                        </p:tav>
                                        <p:tav tm="100000">
                                          <p:val>
                                            <p:strVal val="#ppt_x"/>
                                          </p:val>
                                        </p:tav>
                                      </p:tavLst>
                                    </p:anim>
                                    <p:anim calcmode="lin" valueType="num">
                                      <p:cBhvr>
                                        <p:cTn id="129" dur="500" fill="hold"/>
                                        <p:tgtEl>
                                          <p:spTgt spid="17"/>
                                        </p:tgtEl>
                                        <p:attrNameLst>
                                          <p:attrName>ppt_y</p:attrName>
                                        </p:attrNameLst>
                                      </p:cBhvr>
                                      <p:tavLst>
                                        <p:tav tm="0">
                                          <p:val>
                                            <p:strVal val="#ppt_h+1"/>
                                          </p:val>
                                        </p:tav>
                                        <p:tav tm="100000">
                                          <p:val>
                                            <p:strVal val="#ppt_y"/>
                                          </p:val>
                                        </p:tav>
                                      </p:tavLst>
                                    </p:anim>
                                    <p:animEffect transition="in" filter="fade">
                                      <p:cBhvr>
                                        <p:cTn id="1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15" grpId="0" bldLvl="0" animBg="1"/>
      <p:bldP spid="60" grpId="0" bldLvl="0" animBg="1"/>
      <p:bldP spid="61" grpId="0" bldLvl="0" animBg="1"/>
      <p:bldP spid="62" grpId="0" bldLvl="0" animBg="1"/>
      <p:bldP spid="63" grpId="0" bldLvl="0" animBg="1"/>
      <p:bldP spid="79" grpId="0" bldLvl="0" animBg="1"/>
      <p:bldP spid="80" grpId="0" bldLvl="0" animBg="1"/>
      <p:bldP spid="81" grpId="0" bldLvl="0" animBg="1"/>
      <p:bldP spid="82" grpId="0" bldLvl="0" animBg="1"/>
      <p:bldP spid="83" grpId="0" bldLvl="0" animBg="1"/>
      <p:bldP spid="84" grpId="0" bldLvl="0" animBg="1"/>
      <p:bldP spid="85" grpId="0" bldLvl="0" animBg="1"/>
      <p:bldP spid="86" grpId="0" bldLvl="0" animBg="1"/>
      <p:bldP spid="87" grpId="0" bldLvl="0" animBg="1"/>
      <p:bldP spid="88" grpId="0" bldLvl="0" animBg="1"/>
      <p:bldP spid="89" grpId="0" bldLvl="0" animBg="1"/>
      <p:bldP spid="90" grpId="0" bldLvl="0" animBg="1"/>
      <p:bldP spid="91" grpId="0" bldLvl="0" animBg="1"/>
      <p:bldP spid="92" grpId="0" bldLvl="0" animBg="1"/>
      <p:bldP spid="93" grpId="0" bldLvl="0" animBg="1"/>
      <p:bldP spid="94" grpId="0" bldLvl="0" animBg="1"/>
      <p:bldP spid="95" grpId="0" bldLvl="0" animBg="1"/>
      <p:bldP spid="96" grpId="0" bldLvl="0" animBg="1"/>
      <p:bldP spid="97" grpId="0" bldLvl="0" animBg="1"/>
      <p:bldP spid="16" grpId="0"/>
      <p:bldP spid="98" grpId="0" bldLvl="0" animBg="1"/>
      <p:bldP spid="99" grpId="0" bldLvl="0" animBg="1"/>
      <p:bldP spid="100" grpId="0" bldLvl="0" animBg="1"/>
      <p:bldP spid="101" grpId="0"/>
      <p:bldP spid="102" grpId="0"/>
      <p:bldP spid="103" grpId="0" bldLvl="0" animBg="1"/>
      <p:bldP spid="104" grpId="0" bldLvl="0" animBg="1"/>
      <p:bldP spid="105" grpId="0" bldLvl="0" animBg="1"/>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21336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latin typeface="宋体" panose="02010600030101010101" pitchFamily="2" charset="-122"/>
                <a:sym typeface="+mn-ea"/>
              </a:rPr>
              <a:t>权益乘数的分析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Chart 4"/>
          <p:cNvGraphicFramePr/>
          <p:nvPr/>
        </p:nvGraphicFramePr>
        <p:xfrm>
          <a:off x="1417320" y="1269365"/>
          <a:ext cx="9869805" cy="3092450"/>
        </p:xfrm>
        <a:graphic>
          <a:graphicData uri="http://schemas.openxmlformats.org/drawingml/2006/chart">
            <c:chart xmlns:c="http://schemas.openxmlformats.org/drawingml/2006/chart" xmlns:r="http://schemas.openxmlformats.org/officeDocument/2006/relationships" r:id="rId3"/>
          </a:graphicData>
        </a:graphic>
      </p:graphicFrame>
      <p:sp>
        <p:nvSpPr>
          <p:cNvPr id="3" name="文本框 2"/>
          <p:cNvSpPr txBox="1"/>
          <p:nvPr/>
        </p:nvSpPr>
        <p:spPr>
          <a:xfrm>
            <a:off x="1226820" y="4499610"/>
            <a:ext cx="10276840" cy="2030095"/>
          </a:xfrm>
          <a:prstGeom prst="rect">
            <a:avLst/>
          </a:prstGeom>
          <a:noFill/>
        </p:spPr>
        <p:txBody>
          <a:bodyPr wrap="square" rtlCol="0" anchor="t">
            <a:spAutoFit/>
          </a:bodyPr>
          <a:lstStyle/>
          <a:p>
            <a:pPr marL="285750" indent="-285750" algn="just">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权益乘数越大，企业负债程度越高，偿还债务能力越差，财务风险程度越高。这个指标同时也反映了财务杠杆对利润水平的影响。财务杠杆具有正反两方面的作用。在收益较好的年度，它可以使股东获得的潜在报酬增加，但股东要承担因负债增加而引起的风险；在收益不好的年度，则可能使股东潜在的报酬下降。当然，从投资者角度而言，只要资产报酬率高于借贷资本利息率，负债比率越高越好。</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just">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由表中可知，在</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年至</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年四川长虹公司的资产负债率始终低于同行业的平均水平，一方面说明公司偿债能力较强，另一方面也反映企业的筹资能力不是很强；但有上升的趋势。通过分析，权益乘数的上升在于公司资本结构的调整。</a:t>
            </a:r>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par>
                          <p:cTn id="22" fill="hold">
                            <p:stCondLst>
                              <p:cond delay="2000"/>
                            </p:stCondLst>
                            <p:childTnLst>
                              <p:par>
                                <p:cTn id="23" presetID="16" presetClass="entr" presetSubtype="21"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arn(inVertical)">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Graphic spid="2" grpId="0">
        <p:bldAsOne/>
      </p:bldGraphic>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39624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dirty="0">
                <a:latin typeface="宋体" panose="02010600030101010101" pitchFamily="2" charset="-122"/>
                <a:sym typeface="+mn-ea"/>
              </a:rPr>
              <a:t>资产结构及资金周转情况分析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1509987" y="1787119"/>
            <a:ext cx="9128125" cy="4053966"/>
            <a:chOff x="2378" y="2814"/>
            <a:chExt cx="9773" cy="4340"/>
          </a:xfrm>
        </p:grpSpPr>
        <p:graphicFrame>
          <p:nvGraphicFramePr>
            <p:cNvPr id="2" name="Chart 4"/>
            <p:cNvGraphicFramePr/>
            <p:nvPr/>
          </p:nvGraphicFramePr>
          <p:xfrm>
            <a:off x="2658" y="2814"/>
            <a:ext cx="1393" cy="248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nvGraphicFramePr>
          <p:xfrm>
            <a:off x="4537" y="2814"/>
            <a:ext cx="1393" cy="248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p:cNvGraphicFramePr/>
            <p:nvPr/>
          </p:nvGraphicFramePr>
          <p:xfrm>
            <a:off x="6398" y="2814"/>
            <a:ext cx="1393" cy="248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p:cNvGraphicFramePr/>
            <p:nvPr/>
          </p:nvGraphicFramePr>
          <p:xfrm>
            <a:off x="8241" y="2814"/>
            <a:ext cx="1393" cy="2481"/>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9" name="Chart 8"/>
            <p:cNvGraphicFramePr/>
            <p:nvPr/>
          </p:nvGraphicFramePr>
          <p:xfrm>
            <a:off x="10065" y="2814"/>
            <a:ext cx="1393" cy="2481"/>
          </p:xfrm>
          <a:graphic>
            <a:graphicData uri="http://schemas.openxmlformats.org/drawingml/2006/chart">
              <c:chart xmlns:c="http://schemas.openxmlformats.org/drawingml/2006/chart" xmlns:r="http://schemas.openxmlformats.org/officeDocument/2006/relationships" r:id="rId7"/>
            </a:graphicData>
          </a:graphic>
        </p:graphicFrame>
        <p:grpSp>
          <p:nvGrpSpPr>
            <p:cNvPr id="3" name="Group 9"/>
            <p:cNvGrpSpPr/>
            <p:nvPr/>
          </p:nvGrpSpPr>
          <p:grpSpPr>
            <a:xfrm>
              <a:off x="2378" y="5672"/>
              <a:ext cx="9773" cy="1483"/>
              <a:chOff x="1591107" y="4608264"/>
              <a:chExt cx="9528368" cy="1445539"/>
            </a:xfrm>
          </p:grpSpPr>
          <p:sp>
            <p:nvSpPr>
              <p:cNvPr id="11" name="Text Placeholder 32"/>
              <p:cNvSpPr txBox="1"/>
              <p:nvPr/>
            </p:nvSpPr>
            <p:spPr>
              <a:xfrm>
                <a:off x="2410381" y="4608264"/>
                <a:ext cx="3928671" cy="722438"/>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None/>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流 动 资 金 中 货 币 资 金 占 的 比 重 从</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20.9%</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降到</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19.1%</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，应收账款占有的比重从</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20.3%</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升到</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30.5%</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，存货占的比重从</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52.8%</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降低到</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41.7%</a:t>
                </a:r>
                <a:endParaRPr lang="en-US"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3" name="Oval 12"/>
              <p:cNvSpPr>
                <a:spLocks noChangeAspect="1"/>
              </p:cNvSpPr>
              <p:nvPr/>
            </p:nvSpPr>
            <p:spPr>
              <a:xfrm>
                <a:off x="1591107" y="4608685"/>
                <a:ext cx="556087" cy="5560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lnSpc>
                    <a:spcPct val="120000"/>
                  </a:lnSpc>
                </a:pPr>
                <a:r>
                  <a:rPr lang="en-AU" sz="1100" dirty="0">
                    <a:solidFill>
                      <a:schemeClr val="bg1"/>
                    </a:solidFill>
                    <a:latin typeface="Arial" panose="020B0604020202020204" pitchFamily="34" charset="0"/>
                    <a:ea typeface="微软雅黑" panose="020B0503020204020204" pitchFamily="34" charset="-122"/>
                    <a:sym typeface="Arial" panose="020B0604020202020204" pitchFamily="34" charset="0"/>
                  </a:rPr>
                  <a:t>01</a:t>
                </a:r>
                <a:endParaRPr lang="en-US" sz="11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Text Placeholder 32"/>
              <p:cNvSpPr txBox="1"/>
              <p:nvPr/>
            </p:nvSpPr>
            <p:spPr>
              <a:xfrm>
                <a:off x="7307465" y="4608264"/>
                <a:ext cx="3812010" cy="1445539"/>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50000"/>
                  </a:lnSpc>
                  <a:buNone/>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可以看出 ， 存 货 所 占 的 比 重仍然偏大 ． 考 虑 到 家 电 业 技 本 更 新 换代速度很快，产 品 容 易 跌 价 。 同 时 应 收 帐 款比重上升一成，说 明 实 际 上 企 业的偿债能力有所 下 降 ， 存 货 和 应 收 帐 款 过 多 ． 占 用 了 大 量 的 现金 ． 影 响 了 企 业 的资金周转。明 显 存 货 和 应 收 帐 款 周 转 率 变 慢， 使 获 利 能 力 和 偿债能力受到影响。 </a:t>
                </a:r>
                <a:endParaRPr lang="zh-CN" altLang="en-US"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Oval 18"/>
              <p:cNvSpPr>
                <a:spLocks noChangeAspect="1"/>
              </p:cNvSpPr>
              <p:nvPr/>
            </p:nvSpPr>
            <p:spPr>
              <a:xfrm>
                <a:off x="6541797" y="4608685"/>
                <a:ext cx="556087" cy="556087"/>
              </a:xfrm>
              <a:prstGeom prst="ellips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lvl="0" algn="ctr">
                  <a:lnSpc>
                    <a:spcPct val="120000"/>
                  </a:lnSpc>
                </a:pPr>
                <a:r>
                  <a:rPr lang="en-AU" sz="1100" dirty="0">
                    <a:solidFill>
                      <a:schemeClr val="bg1"/>
                    </a:solidFill>
                    <a:latin typeface="Arial" panose="020B0604020202020204" pitchFamily="34" charset="0"/>
                    <a:ea typeface="微软雅黑" panose="020B0503020204020204" pitchFamily="34" charset="-122"/>
                    <a:sym typeface="Arial" panose="020B0604020202020204" pitchFamily="34" charset="0"/>
                  </a:rPr>
                  <a:t>0</a:t>
                </a:r>
                <a:r>
                  <a:rPr lang="en-US" altLang="en-AU" sz="1100" dirty="0">
                    <a:solidFill>
                      <a:schemeClr val="bg1"/>
                    </a:solidFill>
                    <a:latin typeface="Arial" panose="020B0604020202020204" pitchFamily="34" charset="0"/>
                    <a:ea typeface="微软雅黑" panose="020B0503020204020204" pitchFamily="34" charset="-122"/>
                    <a:sym typeface="Arial" panose="020B0604020202020204" pitchFamily="34" charset="0"/>
                  </a:rPr>
                  <a:t>2</a:t>
                </a:r>
              </a:p>
            </p:txBody>
          </p:sp>
        </p:grpSp>
      </p:gr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 presetClass="entr" presetSubtype="4" fill="hold" nodeType="after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additive="base">
                                        <p:cTn id="21" dur="500" fill="hold"/>
                                        <p:tgtEl>
                                          <p:spTgt spid="34"/>
                                        </p:tgtEl>
                                        <p:attrNameLst>
                                          <p:attrName>ppt_x</p:attrName>
                                        </p:attrNameLst>
                                      </p:cBhvr>
                                      <p:tavLst>
                                        <p:tav tm="0">
                                          <p:val>
                                            <p:strVal val="#ppt_x"/>
                                          </p:val>
                                        </p:tav>
                                        <p:tav tm="100000">
                                          <p:val>
                                            <p:strVal val="#ppt_x"/>
                                          </p:val>
                                        </p:tav>
                                      </p:tavLst>
                                    </p:anim>
                                    <p:anim calcmode="lin" valueType="num">
                                      <p:cBhvr additive="base">
                                        <p:cTn id="2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00857" y="337623"/>
            <a:ext cx="18288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综合财务分析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6510" y="3432810"/>
            <a:ext cx="12199620" cy="3430905"/>
          </a:xfrm>
          <a:prstGeom prst="rect">
            <a:avLst/>
          </a:prstGeom>
          <a:blipFill dpi="0" rotWithShape="1">
            <a:blip r:embed="rId3" cstate="print">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solidFill>
                <a:schemeClr val="accent2"/>
              </a:solidFill>
            </a:endParaRPr>
          </a:p>
        </p:txBody>
      </p:sp>
      <p:sp>
        <p:nvSpPr>
          <p:cNvPr id="14" name="文本框 13"/>
          <p:cNvSpPr txBox="1"/>
          <p:nvPr/>
        </p:nvSpPr>
        <p:spPr>
          <a:xfrm>
            <a:off x="1527175" y="1609090"/>
            <a:ext cx="8866505" cy="1198880"/>
          </a:xfrm>
          <a:prstGeom prst="rect">
            <a:avLst/>
          </a:prstGeom>
          <a:noFill/>
        </p:spPr>
        <p:txBody>
          <a:bodyPr wrap="square" rtlCol="0" anchor="t">
            <a:spAutoFit/>
          </a:bodyPr>
          <a:lstStyle/>
          <a:p>
            <a:pPr algn="ctr">
              <a:lnSpc>
                <a:spcPct val="150000"/>
              </a:lnSpc>
            </a:pPr>
            <a:r>
              <a:rPr lang="zh-CN" altLang="en-US" sz="2400" b="1">
                <a:latin typeface="微软雅黑" panose="020B0503020204020204" pitchFamily="34" charset="-122"/>
                <a:ea typeface="微软雅黑" panose="020B0503020204020204" pitchFamily="34" charset="-122"/>
                <a:sym typeface="+mn-ea"/>
              </a:rPr>
              <a:t>综合财务分析是结合会计报表附注，对一些重要的会计报表项目进行补充说明，以增强分析报告使用人对于会计报表的全面了解。</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16" presetClass="entr" presetSubtype="21"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childTnLst>
                          </p:cTn>
                        </p:par>
                        <p:par>
                          <p:cTn id="22" fill="hold">
                            <p:stCondLst>
                              <p:cond delay="2000"/>
                            </p:stCondLst>
                            <p:childTnLst>
                              <p:par>
                                <p:cTn id="23" presetID="3" presetClass="entr" presetSubtype="1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12" grpId="0" animBg="1"/>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81502" y="337623"/>
            <a:ext cx="24384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杜邦财务体系分析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374650" y="1362007"/>
            <a:ext cx="11350696" cy="5300429"/>
            <a:chOff x="1278" y="2457"/>
            <a:chExt cx="11324" cy="5287"/>
          </a:xfrm>
        </p:grpSpPr>
        <p:graphicFrame>
          <p:nvGraphicFramePr>
            <p:cNvPr id="13" name="Chart 12"/>
            <p:cNvGraphicFramePr/>
            <p:nvPr/>
          </p:nvGraphicFramePr>
          <p:xfrm>
            <a:off x="1278" y="2694"/>
            <a:ext cx="6101" cy="4101"/>
          </p:xfrm>
          <a:graphic>
            <a:graphicData uri="http://schemas.openxmlformats.org/drawingml/2006/chart">
              <c:chart xmlns:c="http://schemas.openxmlformats.org/drawingml/2006/chart" xmlns:r="http://schemas.openxmlformats.org/officeDocument/2006/relationships" r:id="rId3"/>
            </a:graphicData>
          </a:graphic>
        </p:graphicFrame>
        <p:sp>
          <p:nvSpPr>
            <p:cNvPr id="2" name="Oval 13"/>
            <p:cNvSpPr/>
            <p:nvPr/>
          </p:nvSpPr>
          <p:spPr>
            <a:xfrm>
              <a:off x="7782" y="2457"/>
              <a:ext cx="640" cy="643"/>
            </a:xfrm>
            <a:prstGeom prst="ellipse">
              <a:avLst/>
            </a:prstGeom>
            <a:solidFill>
              <a:schemeClr val="accent1"/>
            </a:solidFill>
            <a:ln>
              <a:noFill/>
            </a:ln>
          </p:spPr>
          <p:style>
            <a:lnRef idx="2">
              <a:schemeClr val="accent5">
                <a:shade val="50000"/>
              </a:schemeClr>
            </a:lnRef>
            <a:fillRef idx="1">
              <a:schemeClr val="accent5"/>
            </a:fillRef>
            <a:effectRef idx="0">
              <a:schemeClr val="accent5"/>
            </a:effectRef>
            <a:fontRef idx="minor">
              <a:schemeClr val="lt1"/>
            </a:fontRef>
          </p:style>
          <p:txBody>
            <a:bodyPr lIns="65023" tIns="32511" rIns="65023" bIns="32511" rtlCol="0" anchor="ctr"/>
            <a:lstStyle/>
            <a:p>
              <a:pPr algn="just">
                <a:lnSpc>
                  <a:spcPct val="120000"/>
                </a:lnSpc>
              </a:pP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Text Box 10"/>
            <p:cNvSpPr txBox="1">
              <a:spLocks noChangeArrowheads="1"/>
            </p:cNvSpPr>
            <p:nvPr/>
          </p:nvSpPr>
          <p:spPr bwMode="auto">
            <a:xfrm>
              <a:off x="8595" y="2609"/>
              <a:ext cx="4007" cy="1184"/>
            </a:xfrm>
            <a:prstGeom prst="rect">
              <a:avLst/>
            </a:prstGeom>
            <a:noFill/>
            <a:ln w="9525">
              <a:noFill/>
              <a:miter lim="800000"/>
            </a:ln>
          </p:spPr>
          <p:txBody>
            <a:bodyPr wrap="square" lIns="34288" tIns="17144" rIns="34288" bIns="17144">
              <a:spAutoFit/>
            </a:bodyPr>
            <a:lstStyle/>
            <a:p>
              <a:pPr algn="just" defTabSz="815975">
                <a:lnSpc>
                  <a:spcPct val="15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四川长虹应收账款</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年末余额较</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年末上升</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58.27%</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，原因主要是当期的政策的问题</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采用了信用证结算</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由于信用证尚未到期以及改变营销政策加大信用销售力度所致</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但是</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放宽信用政策会增加产生坏账的可能性</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同事我们也看到应收账款中</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99.8%</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的账龄在</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年以内</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表明应收款的可收性较好</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其他应收款也是类似的情况</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6" name="Oval 15"/>
            <p:cNvSpPr/>
            <p:nvPr/>
          </p:nvSpPr>
          <p:spPr>
            <a:xfrm>
              <a:off x="7782" y="4024"/>
              <a:ext cx="640" cy="643"/>
            </a:xfrm>
            <a:prstGeom prst="ellipse">
              <a:avLst/>
            </a:prstGeom>
            <a:solidFill>
              <a:srgbClr val="CE3418"/>
            </a:solidFill>
            <a:ln>
              <a:noFill/>
            </a:ln>
          </p:spPr>
          <p:style>
            <a:lnRef idx="2">
              <a:schemeClr val="accent5">
                <a:shade val="50000"/>
              </a:schemeClr>
            </a:lnRef>
            <a:fillRef idx="1">
              <a:schemeClr val="accent5"/>
            </a:fillRef>
            <a:effectRef idx="0">
              <a:schemeClr val="accent5"/>
            </a:effectRef>
            <a:fontRef idx="minor">
              <a:schemeClr val="lt1"/>
            </a:fontRef>
          </p:style>
          <p:txBody>
            <a:bodyPr lIns="65023" tIns="32511" rIns="65023" bIns="32511" rtlCol="0" anchor="ctr"/>
            <a:lstStyle/>
            <a:p>
              <a:pPr algn="just">
                <a:lnSpc>
                  <a:spcPct val="120000"/>
                </a:lnSpc>
              </a:pP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Text Box 10"/>
            <p:cNvSpPr txBox="1">
              <a:spLocks noChangeArrowheads="1"/>
            </p:cNvSpPr>
            <p:nvPr/>
          </p:nvSpPr>
          <p:spPr bwMode="auto">
            <a:xfrm>
              <a:off x="8569" y="4281"/>
              <a:ext cx="3864" cy="493"/>
            </a:xfrm>
            <a:prstGeom prst="rect">
              <a:avLst/>
            </a:prstGeom>
            <a:noFill/>
            <a:ln w="9525">
              <a:noFill/>
              <a:miter lim="800000"/>
            </a:ln>
          </p:spPr>
          <p:txBody>
            <a:bodyPr wrap="square" lIns="34288" tIns="17144" rIns="34288" bIns="17144">
              <a:spAutoFit/>
            </a:bodyPr>
            <a:lstStyle/>
            <a:p>
              <a:pPr algn="just" defTabSz="815975">
                <a:lnSpc>
                  <a:spcPct val="15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四川长虹</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2018 </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年度投资收益较</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2017 </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年投资收益上升</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631.67%</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，主要是当年取得债券投资收益和股权转让收益所致。</a:t>
              </a:r>
              <a:endParaRPr lang="en-US"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18" name="Oval 17"/>
            <p:cNvSpPr/>
            <p:nvPr/>
          </p:nvSpPr>
          <p:spPr>
            <a:xfrm>
              <a:off x="7782" y="5187"/>
              <a:ext cx="640" cy="643"/>
            </a:xfrm>
            <a:prstGeom prst="ellipse">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lIns="65023" tIns="32511" rIns="65023" bIns="32511" rtlCol="0" anchor="ctr"/>
            <a:lstStyle/>
            <a:p>
              <a:pPr algn="just">
                <a:lnSpc>
                  <a:spcPct val="120000"/>
                </a:lnSpc>
              </a:pP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Text Box 10"/>
            <p:cNvSpPr txBox="1">
              <a:spLocks noChangeArrowheads="1"/>
            </p:cNvSpPr>
            <p:nvPr/>
          </p:nvSpPr>
          <p:spPr bwMode="auto">
            <a:xfrm>
              <a:off x="8622" y="5237"/>
              <a:ext cx="3864" cy="954"/>
            </a:xfrm>
            <a:prstGeom prst="rect">
              <a:avLst/>
            </a:prstGeom>
            <a:noFill/>
            <a:ln w="9525">
              <a:noFill/>
              <a:miter lim="800000"/>
            </a:ln>
          </p:spPr>
          <p:txBody>
            <a:bodyPr wrap="square" lIns="34288" tIns="17144" rIns="34288" bIns="17144">
              <a:spAutoFit/>
            </a:bodyPr>
            <a:lstStyle/>
            <a:p>
              <a:pPr algn="just" defTabSz="815975">
                <a:lnSpc>
                  <a:spcPct val="15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四川长虹的短期借款、一年内到期的长期借款、长期借款均为信用贷款。表明公司的信用度高，向银行的融资能力强。长虹在</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年提前归还了长期借款，表明公司的现金充足，偿债能力强，但是也说明公司利用负债融资的获利能力低。</a:t>
              </a:r>
              <a:endParaRPr lang="en-US"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20" name="Oval 19"/>
            <p:cNvSpPr/>
            <p:nvPr/>
          </p:nvSpPr>
          <p:spPr>
            <a:xfrm>
              <a:off x="7782" y="6294"/>
              <a:ext cx="640" cy="643"/>
            </a:xfrm>
            <a:prstGeom prst="ellipse">
              <a:avLst/>
            </a:prstGeom>
            <a:solidFill>
              <a:srgbClr val="5B9BD5"/>
            </a:solidFill>
            <a:ln>
              <a:noFill/>
            </a:ln>
          </p:spPr>
          <p:style>
            <a:lnRef idx="2">
              <a:schemeClr val="accent5">
                <a:shade val="50000"/>
              </a:schemeClr>
            </a:lnRef>
            <a:fillRef idx="1">
              <a:schemeClr val="accent5"/>
            </a:fillRef>
            <a:effectRef idx="0">
              <a:schemeClr val="accent5"/>
            </a:effectRef>
            <a:fontRef idx="minor">
              <a:schemeClr val="lt1"/>
            </a:fontRef>
          </p:style>
          <p:txBody>
            <a:bodyPr lIns="65023" tIns="32511" rIns="65023" bIns="32511" rtlCol="0" anchor="ctr"/>
            <a:lstStyle/>
            <a:p>
              <a:pPr algn="just">
                <a:lnSpc>
                  <a:spcPct val="120000"/>
                </a:lnSpc>
              </a:pPr>
              <a:endParaRPr lang="en-US"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Text Box 10"/>
            <p:cNvSpPr txBox="1">
              <a:spLocks noChangeArrowheads="1"/>
            </p:cNvSpPr>
            <p:nvPr/>
          </p:nvSpPr>
          <p:spPr bwMode="auto">
            <a:xfrm>
              <a:off x="8622" y="6560"/>
              <a:ext cx="3980" cy="1184"/>
            </a:xfrm>
            <a:prstGeom prst="rect">
              <a:avLst/>
            </a:prstGeom>
            <a:noFill/>
            <a:ln w="9525">
              <a:noFill/>
              <a:miter lim="800000"/>
            </a:ln>
          </p:spPr>
          <p:txBody>
            <a:bodyPr wrap="square" lIns="34288" tIns="17144" rIns="34288" bIns="17144">
              <a:spAutoFit/>
            </a:bodyPr>
            <a:lstStyle/>
            <a:p>
              <a:pPr algn="l">
                <a:lnSpc>
                  <a:spcPct val="15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四川长虹</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2018 </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年度主营业务收入较</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2017 </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年度减少</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1,192,595,419.33 </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元，下降</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11.14%</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，主要是电视机价格下降所致。</a:t>
              </a:r>
              <a:endParaRPr lang="zh-CN" altLang="en-US" sz="1000" b="1" dirty="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pP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四川长虹</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2018</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年彩电业务销售收入</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1,070,721</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万元， </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2017</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年为</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951,462</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万元，同比降低</a:t>
              </a:r>
              <a:r>
                <a:rPr lang="en-US" altLang="zh-CN" sz="1000" dirty="0">
                  <a:latin typeface="微软雅黑" panose="020B0503020204020204" pitchFamily="34" charset="-122"/>
                  <a:ea typeface="微软雅黑" panose="020B0503020204020204" pitchFamily="34" charset="-122"/>
                  <a:cs typeface="微软雅黑" panose="020B0503020204020204" pitchFamily="34" charset="-122"/>
                  <a:sym typeface="+mn-ea"/>
                </a:rPr>
                <a:t>12.53%</a:t>
              </a:r>
              <a:r>
                <a:rPr lang="zh-CN" altLang="en-US" sz="1000" dirty="0">
                  <a:latin typeface="微软雅黑" panose="020B0503020204020204" pitchFamily="34" charset="-122"/>
                  <a:ea typeface="微软雅黑" panose="020B0503020204020204" pitchFamily="34" charset="-122"/>
                  <a:cs typeface="微软雅黑" panose="020B0503020204020204" pitchFamily="34" charset="-122"/>
                  <a:sym typeface="+mn-ea"/>
                </a:rPr>
                <a:t>。这是造成长虹公司主营业务收入降低的主要原因。</a:t>
              </a:r>
              <a:endParaRPr lang="en-US" sz="1000" dirty="0">
                <a:solidFill>
                  <a:schemeClr val="bg1">
                    <a:lumMod val="65000"/>
                  </a:schemeClr>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pitchFamily="34" charset="0"/>
              </a:endParaRPr>
            </a:p>
          </p:txBody>
        </p:sp>
        <p:sp>
          <p:nvSpPr>
            <p:cNvPr id="22" name="Freeform 35"/>
            <p:cNvSpPr>
              <a:spLocks noEditPoints="1"/>
            </p:cNvSpPr>
            <p:nvPr/>
          </p:nvSpPr>
          <p:spPr bwMode="auto">
            <a:xfrm>
              <a:off x="7868" y="2604"/>
              <a:ext cx="469" cy="316"/>
            </a:xfrm>
            <a:custGeom>
              <a:avLst/>
              <a:gdLst>
                <a:gd name="T0" fmla="*/ 135 w 157"/>
                <a:gd name="T1" fmla="*/ 46 h 106"/>
                <a:gd name="T2" fmla="*/ 136 w 157"/>
                <a:gd name="T3" fmla="*/ 37 h 106"/>
                <a:gd name="T4" fmla="*/ 99 w 157"/>
                <a:gd name="T5" fmla="*/ 0 h 106"/>
                <a:gd name="T6" fmla="*/ 73 w 157"/>
                <a:gd name="T7" fmla="*/ 18 h 106"/>
                <a:gd name="T8" fmla="*/ 45 w 157"/>
                <a:gd name="T9" fmla="*/ 8 h 106"/>
                <a:gd name="T10" fmla="*/ 19 w 157"/>
                <a:gd name="T11" fmla="*/ 39 h 106"/>
                <a:gd name="T12" fmla="*/ 20 w 157"/>
                <a:gd name="T13" fmla="*/ 47 h 106"/>
                <a:gd name="T14" fmla="*/ 0 w 157"/>
                <a:gd name="T15" fmla="*/ 75 h 106"/>
                <a:gd name="T16" fmla="*/ 31 w 157"/>
                <a:gd name="T17" fmla="*/ 106 h 106"/>
                <a:gd name="T18" fmla="*/ 126 w 157"/>
                <a:gd name="T19" fmla="*/ 106 h 106"/>
                <a:gd name="T20" fmla="*/ 157 w 157"/>
                <a:gd name="T21" fmla="*/ 75 h 106"/>
                <a:gd name="T22" fmla="*/ 135 w 157"/>
                <a:gd name="T23" fmla="*/ 46 h 106"/>
                <a:gd name="T24" fmla="*/ 120 w 157"/>
                <a:gd name="T25" fmla="*/ 100 h 106"/>
                <a:gd name="T26" fmla="*/ 79 w 157"/>
                <a:gd name="T27" fmla="*/ 100 h 106"/>
                <a:gd name="T28" fmla="*/ 103 w 157"/>
                <a:gd name="T29" fmla="*/ 75 h 106"/>
                <a:gd name="T30" fmla="*/ 102 w 157"/>
                <a:gd name="T31" fmla="*/ 72 h 106"/>
                <a:gd name="T32" fmla="*/ 92 w 157"/>
                <a:gd name="T33" fmla="*/ 72 h 106"/>
                <a:gd name="T34" fmla="*/ 92 w 157"/>
                <a:gd name="T35" fmla="*/ 68 h 106"/>
                <a:gd name="T36" fmla="*/ 92 w 157"/>
                <a:gd name="T37" fmla="*/ 37 h 106"/>
                <a:gd name="T38" fmla="*/ 90 w 157"/>
                <a:gd name="T39" fmla="*/ 35 h 106"/>
                <a:gd name="T40" fmla="*/ 64 w 157"/>
                <a:gd name="T41" fmla="*/ 35 h 106"/>
                <a:gd name="T42" fmla="*/ 62 w 157"/>
                <a:gd name="T43" fmla="*/ 37 h 106"/>
                <a:gd name="T44" fmla="*/ 62 w 157"/>
                <a:gd name="T45" fmla="*/ 68 h 106"/>
                <a:gd name="T46" fmla="*/ 62 w 157"/>
                <a:gd name="T47" fmla="*/ 73 h 106"/>
                <a:gd name="T48" fmla="*/ 51 w 157"/>
                <a:gd name="T49" fmla="*/ 73 h 106"/>
                <a:gd name="T50" fmla="*/ 50 w 157"/>
                <a:gd name="T51" fmla="*/ 76 h 106"/>
                <a:gd name="T52" fmla="*/ 75 w 157"/>
                <a:gd name="T53" fmla="*/ 100 h 106"/>
                <a:gd name="T54" fmla="*/ 38 w 157"/>
                <a:gd name="T55" fmla="*/ 100 h 106"/>
                <a:gd name="T56" fmla="*/ 11 w 157"/>
                <a:gd name="T57" fmla="*/ 74 h 106"/>
                <a:gd name="T58" fmla="*/ 29 w 157"/>
                <a:gd name="T59" fmla="*/ 50 h 106"/>
                <a:gd name="T60" fmla="*/ 28 w 157"/>
                <a:gd name="T61" fmla="*/ 44 h 106"/>
                <a:gd name="T62" fmla="*/ 50 w 157"/>
                <a:gd name="T63" fmla="*/ 17 h 106"/>
                <a:gd name="T64" fmla="*/ 74 w 157"/>
                <a:gd name="T65" fmla="*/ 29 h 106"/>
                <a:gd name="T66" fmla="*/ 97 w 157"/>
                <a:gd name="T67" fmla="*/ 10 h 106"/>
                <a:gd name="T68" fmla="*/ 128 w 157"/>
                <a:gd name="T69" fmla="*/ 42 h 106"/>
                <a:gd name="T70" fmla="*/ 127 w 157"/>
                <a:gd name="T71" fmla="*/ 49 h 106"/>
                <a:gd name="T72" fmla="*/ 147 w 157"/>
                <a:gd name="T73" fmla="*/ 74 h 106"/>
                <a:gd name="T74" fmla="*/ 120 w 157"/>
                <a:gd name="T75" fmla="*/ 10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6">
                  <a:moveTo>
                    <a:pt x="135" y="46"/>
                  </a:moveTo>
                  <a:cubicBezTo>
                    <a:pt x="136" y="43"/>
                    <a:pt x="136" y="40"/>
                    <a:pt x="136" y="37"/>
                  </a:cubicBezTo>
                  <a:cubicBezTo>
                    <a:pt x="136" y="16"/>
                    <a:pt x="120" y="0"/>
                    <a:pt x="99" y="0"/>
                  </a:cubicBezTo>
                  <a:cubicBezTo>
                    <a:pt x="76" y="0"/>
                    <a:pt x="73" y="18"/>
                    <a:pt x="73" y="18"/>
                  </a:cubicBezTo>
                  <a:cubicBezTo>
                    <a:pt x="73" y="18"/>
                    <a:pt x="63" y="6"/>
                    <a:pt x="45" y="8"/>
                  </a:cubicBezTo>
                  <a:cubicBezTo>
                    <a:pt x="30" y="11"/>
                    <a:pt x="19" y="25"/>
                    <a:pt x="19" y="39"/>
                  </a:cubicBezTo>
                  <a:cubicBezTo>
                    <a:pt x="19" y="42"/>
                    <a:pt x="20" y="44"/>
                    <a:pt x="20" y="47"/>
                  </a:cubicBezTo>
                  <a:cubicBezTo>
                    <a:pt x="9" y="51"/>
                    <a:pt x="0" y="62"/>
                    <a:pt x="0" y="75"/>
                  </a:cubicBezTo>
                  <a:cubicBezTo>
                    <a:pt x="0" y="92"/>
                    <a:pt x="14" y="106"/>
                    <a:pt x="31" y="106"/>
                  </a:cubicBezTo>
                  <a:cubicBezTo>
                    <a:pt x="126" y="106"/>
                    <a:pt x="126" y="106"/>
                    <a:pt x="126" y="106"/>
                  </a:cubicBezTo>
                  <a:cubicBezTo>
                    <a:pt x="143" y="106"/>
                    <a:pt x="157" y="92"/>
                    <a:pt x="157" y="75"/>
                  </a:cubicBezTo>
                  <a:cubicBezTo>
                    <a:pt x="157" y="62"/>
                    <a:pt x="148" y="50"/>
                    <a:pt x="135" y="46"/>
                  </a:cubicBezTo>
                  <a:close/>
                  <a:moveTo>
                    <a:pt x="120" y="100"/>
                  </a:moveTo>
                  <a:cubicBezTo>
                    <a:pt x="79" y="100"/>
                    <a:pt x="79" y="100"/>
                    <a:pt x="79" y="100"/>
                  </a:cubicBezTo>
                  <a:cubicBezTo>
                    <a:pt x="82" y="97"/>
                    <a:pt x="103" y="75"/>
                    <a:pt x="103" y="75"/>
                  </a:cubicBezTo>
                  <a:cubicBezTo>
                    <a:pt x="103" y="75"/>
                    <a:pt x="106" y="72"/>
                    <a:pt x="102" y="72"/>
                  </a:cubicBezTo>
                  <a:cubicBezTo>
                    <a:pt x="98" y="72"/>
                    <a:pt x="92" y="72"/>
                    <a:pt x="92" y="72"/>
                  </a:cubicBezTo>
                  <a:cubicBezTo>
                    <a:pt x="92" y="72"/>
                    <a:pt x="92" y="70"/>
                    <a:pt x="92" y="68"/>
                  </a:cubicBezTo>
                  <a:cubicBezTo>
                    <a:pt x="92" y="59"/>
                    <a:pt x="92" y="43"/>
                    <a:pt x="92" y="37"/>
                  </a:cubicBezTo>
                  <a:cubicBezTo>
                    <a:pt x="92" y="37"/>
                    <a:pt x="92" y="35"/>
                    <a:pt x="90" y="35"/>
                  </a:cubicBezTo>
                  <a:cubicBezTo>
                    <a:pt x="88" y="35"/>
                    <a:pt x="67" y="35"/>
                    <a:pt x="64" y="35"/>
                  </a:cubicBezTo>
                  <a:cubicBezTo>
                    <a:pt x="61" y="35"/>
                    <a:pt x="62" y="37"/>
                    <a:pt x="62" y="37"/>
                  </a:cubicBezTo>
                  <a:cubicBezTo>
                    <a:pt x="62" y="44"/>
                    <a:pt x="62" y="59"/>
                    <a:pt x="62" y="68"/>
                  </a:cubicBezTo>
                  <a:cubicBezTo>
                    <a:pt x="62" y="71"/>
                    <a:pt x="62" y="73"/>
                    <a:pt x="62" y="73"/>
                  </a:cubicBezTo>
                  <a:cubicBezTo>
                    <a:pt x="62" y="73"/>
                    <a:pt x="54" y="73"/>
                    <a:pt x="51" y="73"/>
                  </a:cubicBezTo>
                  <a:cubicBezTo>
                    <a:pt x="47" y="73"/>
                    <a:pt x="50" y="76"/>
                    <a:pt x="50" y="76"/>
                  </a:cubicBezTo>
                  <a:cubicBezTo>
                    <a:pt x="75" y="100"/>
                    <a:pt x="75" y="100"/>
                    <a:pt x="75" y="100"/>
                  </a:cubicBezTo>
                  <a:cubicBezTo>
                    <a:pt x="38" y="100"/>
                    <a:pt x="38" y="100"/>
                    <a:pt x="38" y="100"/>
                  </a:cubicBezTo>
                  <a:cubicBezTo>
                    <a:pt x="23" y="100"/>
                    <a:pt x="11" y="88"/>
                    <a:pt x="11" y="74"/>
                  </a:cubicBezTo>
                  <a:cubicBezTo>
                    <a:pt x="11" y="63"/>
                    <a:pt x="18" y="53"/>
                    <a:pt x="29" y="50"/>
                  </a:cubicBezTo>
                  <a:cubicBezTo>
                    <a:pt x="28" y="48"/>
                    <a:pt x="28" y="46"/>
                    <a:pt x="28" y="44"/>
                  </a:cubicBezTo>
                  <a:cubicBezTo>
                    <a:pt x="28" y="31"/>
                    <a:pt x="37" y="19"/>
                    <a:pt x="50" y="17"/>
                  </a:cubicBezTo>
                  <a:cubicBezTo>
                    <a:pt x="65" y="15"/>
                    <a:pt x="74" y="29"/>
                    <a:pt x="74" y="29"/>
                  </a:cubicBezTo>
                  <a:cubicBezTo>
                    <a:pt x="74" y="29"/>
                    <a:pt x="77" y="10"/>
                    <a:pt x="97" y="10"/>
                  </a:cubicBezTo>
                  <a:cubicBezTo>
                    <a:pt x="115" y="10"/>
                    <a:pt x="128" y="24"/>
                    <a:pt x="128" y="42"/>
                  </a:cubicBezTo>
                  <a:cubicBezTo>
                    <a:pt x="128" y="44"/>
                    <a:pt x="127" y="47"/>
                    <a:pt x="127" y="49"/>
                  </a:cubicBezTo>
                  <a:cubicBezTo>
                    <a:pt x="138" y="53"/>
                    <a:pt x="147" y="62"/>
                    <a:pt x="147" y="74"/>
                  </a:cubicBezTo>
                  <a:cubicBezTo>
                    <a:pt x="147" y="88"/>
                    <a:pt x="135" y="100"/>
                    <a:pt x="120" y="100"/>
                  </a:cubicBezTo>
                  <a:close/>
                </a:path>
              </a:pathLst>
            </a:custGeom>
            <a:solidFill>
              <a:schemeClr val="bg1"/>
            </a:solidFill>
            <a:ln>
              <a:noFill/>
            </a:ln>
          </p:spPr>
          <p:txBody>
            <a:bodyPr vert="horz" wrap="square" lIns="68575" tIns="34288" rIns="68575" bIns="34288" numCol="1" anchor="t" anchorCtr="0" compatLnSpc="1"/>
            <a:lstStyle/>
            <a:p>
              <a:pPr algn="just">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106"/>
            <p:cNvSpPr>
              <a:spLocks noEditPoints="1"/>
            </p:cNvSpPr>
            <p:nvPr/>
          </p:nvSpPr>
          <p:spPr bwMode="auto">
            <a:xfrm>
              <a:off x="7982" y="5328"/>
              <a:ext cx="240" cy="323"/>
            </a:xfrm>
            <a:custGeom>
              <a:avLst/>
              <a:gdLst>
                <a:gd name="T0" fmla="*/ 0 w 107"/>
                <a:gd name="T1" fmla="*/ 0 h 144"/>
                <a:gd name="T2" fmla="*/ 0 w 107"/>
                <a:gd name="T3" fmla="*/ 144 h 144"/>
                <a:gd name="T4" fmla="*/ 80 w 107"/>
                <a:gd name="T5" fmla="*/ 144 h 144"/>
                <a:gd name="T6" fmla="*/ 107 w 107"/>
                <a:gd name="T7" fmla="*/ 113 h 144"/>
                <a:gd name="T8" fmla="*/ 107 w 107"/>
                <a:gd name="T9" fmla="*/ 0 h 144"/>
                <a:gd name="T10" fmla="*/ 0 w 107"/>
                <a:gd name="T11" fmla="*/ 0 h 144"/>
                <a:gd name="T12" fmla="*/ 9 w 107"/>
                <a:gd name="T13" fmla="*/ 134 h 144"/>
                <a:gd name="T14" fmla="*/ 9 w 107"/>
                <a:gd name="T15" fmla="*/ 9 h 144"/>
                <a:gd name="T16" fmla="*/ 99 w 107"/>
                <a:gd name="T17" fmla="*/ 9 h 144"/>
                <a:gd name="T18" fmla="*/ 99 w 107"/>
                <a:gd name="T19" fmla="*/ 102 h 144"/>
                <a:gd name="T20" fmla="*/ 72 w 107"/>
                <a:gd name="T21" fmla="*/ 102 h 144"/>
                <a:gd name="T22" fmla="*/ 72 w 107"/>
                <a:gd name="T23" fmla="*/ 134 h 144"/>
                <a:gd name="T24" fmla="*/ 9 w 107"/>
                <a:gd name="T25" fmla="*/ 13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7" h="144">
                  <a:moveTo>
                    <a:pt x="0" y="0"/>
                  </a:moveTo>
                  <a:lnTo>
                    <a:pt x="0" y="144"/>
                  </a:lnTo>
                  <a:lnTo>
                    <a:pt x="80" y="144"/>
                  </a:lnTo>
                  <a:lnTo>
                    <a:pt x="107" y="113"/>
                  </a:lnTo>
                  <a:lnTo>
                    <a:pt x="107" y="0"/>
                  </a:lnTo>
                  <a:lnTo>
                    <a:pt x="0" y="0"/>
                  </a:lnTo>
                  <a:close/>
                  <a:moveTo>
                    <a:pt x="9" y="134"/>
                  </a:moveTo>
                  <a:lnTo>
                    <a:pt x="9" y="9"/>
                  </a:lnTo>
                  <a:lnTo>
                    <a:pt x="99" y="9"/>
                  </a:lnTo>
                  <a:lnTo>
                    <a:pt x="99" y="102"/>
                  </a:lnTo>
                  <a:lnTo>
                    <a:pt x="72" y="102"/>
                  </a:lnTo>
                  <a:lnTo>
                    <a:pt x="72" y="134"/>
                  </a:lnTo>
                  <a:lnTo>
                    <a:pt x="9" y="134"/>
                  </a:lnTo>
                  <a:close/>
                </a:path>
              </a:pathLst>
            </a:custGeom>
            <a:solidFill>
              <a:schemeClr val="bg1"/>
            </a:solidFill>
            <a:ln>
              <a:noFill/>
            </a:ln>
          </p:spPr>
          <p:txBody>
            <a:bodyPr vert="horz" wrap="square" lIns="68575" tIns="34288" rIns="68575" bIns="34288" numCol="1" anchor="t" anchorCtr="0" compatLnSpc="1"/>
            <a:lstStyle/>
            <a:p>
              <a:pPr algn="just">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3" name="Group 23"/>
            <p:cNvGrpSpPr/>
            <p:nvPr/>
          </p:nvGrpSpPr>
          <p:grpSpPr>
            <a:xfrm>
              <a:off x="7977" y="4159"/>
              <a:ext cx="251" cy="375"/>
              <a:chOff x="4669866" y="3800264"/>
              <a:chExt cx="279527" cy="416797"/>
            </a:xfrm>
            <a:solidFill>
              <a:schemeClr val="bg1"/>
            </a:solidFill>
          </p:grpSpPr>
          <p:sp>
            <p:nvSpPr>
              <p:cNvPr id="25" name="Freeform 141"/>
              <p:cNvSpPr>
                <a:spLocks noEditPoints="1"/>
              </p:cNvSpPr>
              <p:nvPr/>
            </p:nvSpPr>
            <p:spPr bwMode="auto">
              <a:xfrm>
                <a:off x="4669866" y="3800264"/>
                <a:ext cx="279527" cy="316965"/>
              </a:xfrm>
              <a:custGeom>
                <a:avLst/>
                <a:gdLst>
                  <a:gd name="T0" fmla="*/ 84 w 84"/>
                  <a:gd name="T1" fmla="*/ 42 h 95"/>
                  <a:gd name="T2" fmla="*/ 42 w 84"/>
                  <a:gd name="T3" fmla="*/ 0 h 95"/>
                  <a:gd name="T4" fmla="*/ 0 w 84"/>
                  <a:gd name="T5" fmla="*/ 42 h 95"/>
                  <a:gd name="T6" fmla="*/ 28 w 84"/>
                  <a:gd name="T7" fmla="*/ 81 h 95"/>
                  <a:gd name="T8" fmla="*/ 25 w 84"/>
                  <a:gd name="T9" fmla="*/ 81 h 95"/>
                  <a:gd name="T10" fmla="*/ 25 w 84"/>
                  <a:gd name="T11" fmla="*/ 95 h 95"/>
                  <a:gd name="T12" fmla="*/ 60 w 84"/>
                  <a:gd name="T13" fmla="*/ 95 h 95"/>
                  <a:gd name="T14" fmla="*/ 60 w 84"/>
                  <a:gd name="T15" fmla="*/ 81 h 95"/>
                  <a:gd name="T16" fmla="*/ 57 w 84"/>
                  <a:gd name="T17" fmla="*/ 81 h 95"/>
                  <a:gd name="T18" fmla="*/ 84 w 84"/>
                  <a:gd name="T19" fmla="*/ 42 h 95"/>
                  <a:gd name="T20" fmla="*/ 42 w 84"/>
                  <a:gd name="T21" fmla="*/ 77 h 95"/>
                  <a:gd name="T22" fmla="*/ 7 w 84"/>
                  <a:gd name="T23" fmla="*/ 42 h 95"/>
                  <a:gd name="T24" fmla="*/ 42 w 84"/>
                  <a:gd name="T25" fmla="*/ 7 h 95"/>
                  <a:gd name="T26" fmla="*/ 77 w 84"/>
                  <a:gd name="T27" fmla="*/ 42 h 95"/>
                  <a:gd name="T28" fmla="*/ 42 w 84"/>
                  <a:gd name="T29" fmla="*/ 77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95">
                    <a:moveTo>
                      <a:pt x="84" y="42"/>
                    </a:moveTo>
                    <a:cubicBezTo>
                      <a:pt x="84" y="19"/>
                      <a:pt x="65" y="0"/>
                      <a:pt x="42" y="0"/>
                    </a:cubicBezTo>
                    <a:cubicBezTo>
                      <a:pt x="19" y="0"/>
                      <a:pt x="0" y="19"/>
                      <a:pt x="0" y="42"/>
                    </a:cubicBezTo>
                    <a:cubicBezTo>
                      <a:pt x="0" y="60"/>
                      <a:pt x="12" y="75"/>
                      <a:pt x="28" y="81"/>
                    </a:cubicBezTo>
                    <a:cubicBezTo>
                      <a:pt x="25" y="81"/>
                      <a:pt x="25" y="81"/>
                      <a:pt x="25" y="81"/>
                    </a:cubicBezTo>
                    <a:cubicBezTo>
                      <a:pt x="25" y="95"/>
                      <a:pt x="25" y="95"/>
                      <a:pt x="25" y="95"/>
                    </a:cubicBezTo>
                    <a:cubicBezTo>
                      <a:pt x="60" y="95"/>
                      <a:pt x="60" y="95"/>
                      <a:pt x="60" y="95"/>
                    </a:cubicBezTo>
                    <a:cubicBezTo>
                      <a:pt x="60" y="81"/>
                      <a:pt x="60" y="81"/>
                      <a:pt x="60" y="81"/>
                    </a:cubicBezTo>
                    <a:cubicBezTo>
                      <a:pt x="57" y="81"/>
                      <a:pt x="57" y="81"/>
                      <a:pt x="57" y="81"/>
                    </a:cubicBezTo>
                    <a:cubicBezTo>
                      <a:pt x="73" y="75"/>
                      <a:pt x="84" y="60"/>
                      <a:pt x="84" y="42"/>
                    </a:cubicBezTo>
                    <a:close/>
                    <a:moveTo>
                      <a:pt x="42" y="77"/>
                    </a:moveTo>
                    <a:cubicBezTo>
                      <a:pt x="23" y="77"/>
                      <a:pt x="7" y="61"/>
                      <a:pt x="7" y="42"/>
                    </a:cubicBezTo>
                    <a:cubicBezTo>
                      <a:pt x="7" y="23"/>
                      <a:pt x="23" y="7"/>
                      <a:pt x="42" y="7"/>
                    </a:cubicBezTo>
                    <a:cubicBezTo>
                      <a:pt x="62" y="7"/>
                      <a:pt x="77" y="23"/>
                      <a:pt x="77" y="42"/>
                    </a:cubicBezTo>
                    <a:cubicBezTo>
                      <a:pt x="77" y="61"/>
                      <a:pt x="62" y="77"/>
                      <a:pt x="42"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Rectangle 142"/>
              <p:cNvSpPr>
                <a:spLocks noChangeArrowheads="1"/>
              </p:cNvSpPr>
              <p:nvPr/>
            </p:nvSpPr>
            <p:spPr bwMode="auto">
              <a:xfrm>
                <a:off x="4752226" y="4127210"/>
                <a:ext cx="117302" cy="424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6435" tIns="48218" rIns="96435" bIns="48218" numCol="1" anchor="t" anchorCtr="0" compatLnSpc="1"/>
              <a:lstStyle/>
              <a:p>
                <a:pPr algn="just">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143"/>
              <p:cNvSpPr/>
              <p:nvPr/>
            </p:nvSpPr>
            <p:spPr bwMode="auto">
              <a:xfrm>
                <a:off x="4752226" y="4179623"/>
                <a:ext cx="117302" cy="37438"/>
              </a:xfrm>
              <a:custGeom>
                <a:avLst/>
                <a:gdLst>
                  <a:gd name="T0" fmla="*/ 0 w 47"/>
                  <a:gd name="T1" fmla="*/ 9 h 15"/>
                  <a:gd name="T2" fmla="*/ 16 w 47"/>
                  <a:gd name="T3" fmla="*/ 9 h 15"/>
                  <a:gd name="T4" fmla="*/ 16 w 47"/>
                  <a:gd name="T5" fmla="*/ 15 h 15"/>
                  <a:gd name="T6" fmla="*/ 31 w 47"/>
                  <a:gd name="T7" fmla="*/ 15 h 15"/>
                  <a:gd name="T8" fmla="*/ 31 w 47"/>
                  <a:gd name="T9" fmla="*/ 9 h 15"/>
                  <a:gd name="T10" fmla="*/ 47 w 47"/>
                  <a:gd name="T11" fmla="*/ 9 h 15"/>
                  <a:gd name="T12" fmla="*/ 47 w 47"/>
                  <a:gd name="T13" fmla="*/ 0 h 15"/>
                  <a:gd name="T14" fmla="*/ 0 w 47"/>
                  <a:gd name="T15" fmla="*/ 0 h 15"/>
                  <a:gd name="T16" fmla="*/ 0 w 47"/>
                  <a:gd name="T17" fmla="*/ 9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5">
                    <a:moveTo>
                      <a:pt x="0" y="9"/>
                    </a:moveTo>
                    <a:lnTo>
                      <a:pt x="16" y="9"/>
                    </a:lnTo>
                    <a:lnTo>
                      <a:pt x="16" y="15"/>
                    </a:lnTo>
                    <a:lnTo>
                      <a:pt x="31" y="15"/>
                    </a:lnTo>
                    <a:lnTo>
                      <a:pt x="31" y="9"/>
                    </a:lnTo>
                    <a:lnTo>
                      <a:pt x="47" y="9"/>
                    </a:lnTo>
                    <a:lnTo>
                      <a:pt x="47" y="0"/>
                    </a:lnTo>
                    <a:lnTo>
                      <a:pt x="0" y="0"/>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144"/>
              <p:cNvSpPr>
                <a:spLocks noEditPoints="1"/>
              </p:cNvSpPr>
              <p:nvPr/>
            </p:nvSpPr>
            <p:spPr bwMode="auto">
              <a:xfrm>
                <a:off x="4769697" y="3890112"/>
                <a:ext cx="82362" cy="162227"/>
              </a:xfrm>
              <a:custGeom>
                <a:avLst/>
                <a:gdLst>
                  <a:gd name="T0" fmla="*/ 32 w 33"/>
                  <a:gd name="T1" fmla="*/ 3 h 65"/>
                  <a:gd name="T2" fmla="*/ 28 w 33"/>
                  <a:gd name="T3" fmla="*/ 0 h 65"/>
                  <a:gd name="T4" fmla="*/ 16 w 33"/>
                  <a:gd name="T5" fmla="*/ 5 h 65"/>
                  <a:gd name="T6" fmla="*/ 4 w 33"/>
                  <a:gd name="T7" fmla="*/ 0 h 65"/>
                  <a:gd name="T8" fmla="*/ 0 w 33"/>
                  <a:gd name="T9" fmla="*/ 3 h 65"/>
                  <a:gd name="T10" fmla="*/ 0 w 33"/>
                  <a:gd name="T11" fmla="*/ 3 h 65"/>
                  <a:gd name="T12" fmla="*/ 0 w 33"/>
                  <a:gd name="T13" fmla="*/ 3 h 65"/>
                  <a:gd name="T14" fmla="*/ 15 w 33"/>
                  <a:gd name="T15" fmla="*/ 65 h 65"/>
                  <a:gd name="T16" fmla="*/ 19 w 33"/>
                  <a:gd name="T17" fmla="*/ 65 h 65"/>
                  <a:gd name="T18" fmla="*/ 33 w 33"/>
                  <a:gd name="T19" fmla="*/ 3 h 65"/>
                  <a:gd name="T20" fmla="*/ 33 w 33"/>
                  <a:gd name="T21" fmla="*/ 3 h 65"/>
                  <a:gd name="T22" fmla="*/ 33 w 33"/>
                  <a:gd name="T23" fmla="*/ 3 h 65"/>
                  <a:gd name="T24" fmla="*/ 33 w 33"/>
                  <a:gd name="T25" fmla="*/ 3 h 65"/>
                  <a:gd name="T26" fmla="*/ 32 w 33"/>
                  <a:gd name="T27" fmla="*/ 3 h 65"/>
                  <a:gd name="T28" fmla="*/ 16 w 33"/>
                  <a:gd name="T29" fmla="*/ 57 h 65"/>
                  <a:gd name="T30" fmla="*/ 4 w 33"/>
                  <a:gd name="T31" fmla="*/ 4 h 65"/>
                  <a:gd name="T32" fmla="*/ 16 w 33"/>
                  <a:gd name="T33" fmla="*/ 8 h 65"/>
                  <a:gd name="T34" fmla="*/ 29 w 33"/>
                  <a:gd name="T35" fmla="*/ 4 h 65"/>
                  <a:gd name="T36" fmla="*/ 16 w 33"/>
                  <a:gd name="T37" fmla="*/ 5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 h="65">
                    <a:moveTo>
                      <a:pt x="32" y="3"/>
                    </a:moveTo>
                    <a:lnTo>
                      <a:pt x="28" y="0"/>
                    </a:lnTo>
                    <a:lnTo>
                      <a:pt x="16" y="5"/>
                    </a:lnTo>
                    <a:lnTo>
                      <a:pt x="4" y="0"/>
                    </a:lnTo>
                    <a:lnTo>
                      <a:pt x="0" y="3"/>
                    </a:lnTo>
                    <a:lnTo>
                      <a:pt x="0" y="3"/>
                    </a:lnTo>
                    <a:lnTo>
                      <a:pt x="0" y="3"/>
                    </a:lnTo>
                    <a:lnTo>
                      <a:pt x="15" y="65"/>
                    </a:lnTo>
                    <a:lnTo>
                      <a:pt x="19" y="65"/>
                    </a:lnTo>
                    <a:lnTo>
                      <a:pt x="33" y="3"/>
                    </a:lnTo>
                    <a:lnTo>
                      <a:pt x="33" y="3"/>
                    </a:lnTo>
                    <a:lnTo>
                      <a:pt x="33" y="3"/>
                    </a:lnTo>
                    <a:lnTo>
                      <a:pt x="33" y="3"/>
                    </a:lnTo>
                    <a:lnTo>
                      <a:pt x="32" y="3"/>
                    </a:lnTo>
                    <a:close/>
                    <a:moveTo>
                      <a:pt x="16" y="57"/>
                    </a:moveTo>
                    <a:lnTo>
                      <a:pt x="4" y="4"/>
                    </a:lnTo>
                    <a:lnTo>
                      <a:pt x="16" y="8"/>
                    </a:lnTo>
                    <a:lnTo>
                      <a:pt x="29" y="4"/>
                    </a:lnTo>
                    <a:lnTo>
                      <a:pt x="16"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 name="Group 28"/>
            <p:cNvGrpSpPr/>
            <p:nvPr/>
          </p:nvGrpSpPr>
          <p:grpSpPr>
            <a:xfrm>
              <a:off x="7968" y="6483"/>
              <a:ext cx="269" cy="350"/>
              <a:chOff x="6421904" y="5432968"/>
              <a:chExt cx="299494" cy="389087"/>
            </a:xfrm>
            <a:solidFill>
              <a:schemeClr val="bg1"/>
            </a:solidFill>
          </p:grpSpPr>
          <p:sp>
            <p:nvSpPr>
              <p:cNvPr id="30" name="Freeform 170"/>
              <p:cNvSpPr/>
              <p:nvPr/>
            </p:nvSpPr>
            <p:spPr bwMode="auto">
              <a:xfrm>
                <a:off x="6421904" y="5545023"/>
                <a:ext cx="299494" cy="277032"/>
              </a:xfrm>
              <a:custGeom>
                <a:avLst/>
                <a:gdLst>
                  <a:gd name="T0" fmla="*/ 45 w 90"/>
                  <a:gd name="T1" fmla="*/ 83 h 83"/>
                  <a:gd name="T2" fmla="*/ 90 w 90"/>
                  <a:gd name="T3" fmla="*/ 0 h 83"/>
                  <a:gd name="T4" fmla="*/ 0 w 90"/>
                  <a:gd name="T5" fmla="*/ 0 h 83"/>
                  <a:gd name="T6" fmla="*/ 45 w 90"/>
                  <a:gd name="T7" fmla="*/ 83 h 83"/>
                </a:gdLst>
                <a:ahLst/>
                <a:cxnLst>
                  <a:cxn ang="0">
                    <a:pos x="T0" y="T1"/>
                  </a:cxn>
                  <a:cxn ang="0">
                    <a:pos x="T2" y="T3"/>
                  </a:cxn>
                  <a:cxn ang="0">
                    <a:pos x="T4" y="T5"/>
                  </a:cxn>
                  <a:cxn ang="0">
                    <a:pos x="T6" y="T7"/>
                  </a:cxn>
                </a:cxnLst>
                <a:rect l="0" t="0" r="r" b="b"/>
                <a:pathLst>
                  <a:path w="90" h="83">
                    <a:moveTo>
                      <a:pt x="45" y="83"/>
                    </a:moveTo>
                    <a:cubicBezTo>
                      <a:pt x="90" y="59"/>
                      <a:pt x="90" y="0"/>
                      <a:pt x="90" y="0"/>
                    </a:cubicBezTo>
                    <a:cubicBezTo>
                      <a:pt x="0" y="0"/>
                      <a:pt x="0" y="0"/>
                      <a:pt x="0" y="0"/>
                    </a:cubicBezTo>
                    <a:cubicBezTo>
                      <a:pt x="0" y="0"/>
                      <a:pt x="0" y="59"/>
                      <a:pt x="4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171"/>
              <p:cNvSpPr/>
              <p:nvPr/>
            </p:nvSpPr>
            <p:spPr bwMode="auto">
              <a:xfrm>
                <a:off x="6421904" y="5432968"/>
                <a:ext cx="299494" cy="94840"/>
              </a:xfrm>
              <a:custGeom>
                <a:avLst/>
                <a:gdLst>
                  <a:gd name="T0" fmla="*/ 84 w 90"/>
                  <a:gd name="T1" fmla="*/ 0 h 29"/>
                  <a:gd name="T2" fmla="*/ 68 w 90"/>
                  <a:gd name="T3" fmla="*/ 16 h 29"/>
                  <a:gd name="T4" fmla="*/ 52 w 90"/>
                  <a:gd name="T5" fmla="*/ 0 h 29"/>
                  <a:gd name="T6" fmla="*/ 39 w 90"/>
                  <a:gd name="T7" fmla="*/ 0 h 29"/>
                  <a:gd name="T8" fmla="*/ 23 w 90"/>
                  <a:gd name="T9" fmla="*/ 16 h 29"/>
                  <a:gd name="T10" fmla="*/ 7 w 90"/>
                  <a:gd name="T11" fmla="*/ 0 h 29"/>
                  <a:gd name="T12" fmla="*/ 0 w 90"/>
                  <a:gd name="T13" fmla="*/ 0 h 29"/>
                  <a:gd name="T14" fmla="*/ 0 w 90"/>
                  <a:gd name="T15" fmla="*/ 29 h 29"/>
                  <a:gd name="T16" fmla="*/ 90 w 90"/>
                  <a:gd name="T17" fmla="*/ 29 h 29"/>
                  <a:gd name="T18" fmla="*/ 90 w 90"/>
                  <a:gd name="T19" fmla="*/ 0 h 29"/>
                  <a:gd name="T20" fmla="*/ 84 w 90"/>
                  <a:gd name="T21"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6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8" name="文本框 7"/>
          <p:cNvSpPr txBox="1"/>
          <p:nvPr/>
        </p:nvSpPr>
        <p:spPr>
          <a:xfrm>
            <a:off x="7735570" y="1212850"/>
            <a:ext cx="1554480" cy="368300"/>
          </a:xfrm>
          <a:prstGeom prst="rect">
            <a:avLst/>
          </a:prstGeom>
          <a:noFill/>
        </p:spPr>
        <p:txBody>
          <a:bodyPr wrap="none" rtlCol="0" anchor="t">
            <a:spAutoFit/>
          </a:bodyPr>
          <a:lstStyle/>
          <a:p>
            <a:r>
              <a:rPr lang="zh-CN" altLang="en-US" b="1" dirty="0">
                <a:sym typeface="+mn-ea"/>
              </a:rPr>
              <a:t>应收账款分析</a:t>
            </a:r>
            <a:endParaRPr lang="zh-CN" altLang="en-US"/>
          </a:p>
        </p:txBody>
      </p:sp>
      <p:sp>
        <p:nvSpPr>
          <p:cNvPr id="9" name="文本框 8"/>
          <p:cNvSpPr txBox="1"/>
          <p:nvPr/>
        </p:nvSpPr>
        <p:spPr>
          <a:xfrm>
            <a:off x="7708900" y="2854325"/>
            <a:ext cx="1554480" cy="368300"/>
          </a:xfrm>
          <a:prstGeom prst="rect">
            <a:avLst/>
          </a:prstGeom>
          <a:noFill/>
        </p:spPr>
        <p:txBody>
          <a:bodyPr wrap="none" rtlCol="0" anchor="t">
            <a:spAutoFit/>
          </a:bodyPr>
          <a:lstStyle/>
          <a:p>
            <a:r>
              <a:rPr lang="zh-CN" altLang="en-US" b="1">
                <a:sym typeface="+mn-ea"/>
              </a:rPr>
              <a:t>长期投资分析</a:t>
            </a:r>
            <a:endParaRPr lang="zh-CN" altLang="en-US"/>
          </a:p>
        </p:txBody>
      </p:sp>
      <p:sp>
        <p:nvSpPr>
          <p:cNvPr id="11" name="文本框 10"/>
          <p:cNvSpPr txBox="1"/>
          <p:nvPr/>
        </p:nvSpPr>
        <p:spPr>
          <a:xfrm>
            <a:off x="7735570" y="3824605"/>
            <a:ext cx="2011680" cy="368300"/>
          </a:xfrm>
          <a:prstGeom prst="rect">
            <a:avLst/>
          </a:prstGeom>
          <a:noFill/>
        </p:spPr>
        <p:txBody>
          <a:bodyPr wrap="none" rtlCol="0" anchor="t">
            <a:spAutoFit/>
          </a:bodyPr>
          <a:lstStyle/>
          <a:p>
            <a:r>
              <a:rPr lang="zh-CN" altLang="en-US" b="1" dirty="0">
                <a:sym typeface="+mn-ea"/>
              </a:rPr>
              <a:t>长、短期借款分析</a:t>
            </a:r>
            <a:endParaRPr lang="zh-CN" altLang="en-US"/>
          </a:p>
        </p:txBody>
      </p:sp>
      <p:sp>
        <p:nvSpPr>
          <p:cNvPr id="24" name="文本框 23"/>
          <p:cNvSpPr txBox="1"/>
          <p:nvPr/>
        </p:nvSpPr>
        <p:spPr>
          <a:xfrm>
            <a:off x="7735570" y="5115560"/>
            <a:ext cx="2011680" cy="368300"/>
          </a:xfrm>
          <a:prstGeom prst="rect">
            <a:avLst/>
          </a:prstGeom>
          <a:noFill/>
        </p:spPr>
        <p:txBody>
          <a:bodyPr wrap="none" rtlCol="0" anchor="t">
            <a:spAutoFit/>
          </a:bodyPr>
          <a:lstStyle/>
          <a:p>
            <a:r>
              <a:rPr lang="zh-CN" altLang="en-US" b="1">
                <a:sym typeface="+mn-ea"/>
              </a:rPr>
              <a:t>主营业务收入分析</a:t>
            </a:r>
            <a:endParaRPr lang="zh-CN" altLang="en-US"/>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 presetClass="entr" presetSubtype="4"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8"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0-#ppt_w/2"/>
                                          </p:val>
                                        </p:tav>
                                        <p:tav tm="100000">
                                          <p:val>
                                            <p:strVal val="#ppt_x"/>
                                          </p:val>
                                        </p:tav>
                                      </p:tavLst>
                                    </p:anim>
                                    <p:anim calcmode="lin" valueType="num">
                                      <p:cBhvr additive="base">
                                        <p:cTn id="27" dur="500" fill="hold"/>
                                        <p:tgtEl>
                                          <p:spTgt spid="8"/>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8"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par>
                          <p:cTn id="33" fill="hold">
                            <p:stCondLst>
                              <p:cond delay="3000"/>
                            </p:stCondLst>
                            <p:childTnLst>
                              <p:par>
                                <p:cTn id="34" presetID="2" presetClass="entr" presetSubtype="8"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0-#ppt_w/2"/>
                                          </p:val>
                                        </p:tav>
                                        <p:tav tm="100000">
                                          <p:val>
                                            <p:strVal val="#ppt_x"/>
                                          </p:val>
                                        </p:tav>
                                      </p:tavLst>
                                    </p:anim>
                                    <p:anim calcmode="lin" valueType="num">
                                      <p:cBhvr additive="base">
                                        <p:cTn id="37" dur="500" fill="hold"/>
                                        <p:tgtEl>
                                          <p:spTgt spid="11"/>
                                        </p:tgtEl>
                                        <p:attrNameLst>
                                          <p:attrName>ppt_y</p:attrName>
                                        </p:attrNameLst>
                                      </p:cBhvr>
                                      <p:tavLst>
                                        <p:tav tm="0">
                                          <p:val>
                                            <p:strVal val="#ppt_y"/>
                                          </p:val>
                                        </p:tav>
                                        <p:tav tm="100000">
                                          <p:val>
                                            <p:strVal val="#ppt_y"/>
                                          </p:val>
                                        </p:tav>
                                      </p:tavLst>
                                    </p:anim>
                                  </p:childTnLst>
                                </p:cTn>
                              </p:par>
                            </p:childTnLst>
                          </p:cTn>
                        </p:par>
                        <p:par>
                          <p:cTn id="38" fill="hold">
                            <p:stCondLst>
                              <p:cond delay="3500"/>
                            </p:stCondLst>
                            <p:childTnLst>
                              <p:par>
                                <p:cTn id="39" presetID="2" presetClass="entr" presetSubtype="8"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additive="base">
                                        <p:cTn id="41" dur="500" fill="hold"/>
                                        <p:tgtEl>
                                          <p:spTgt spid="24"/>
                                        </p:tgtEl>
                                        <p:attrNameLst>
                                          <p:attrName>ppt_x</p:attrName>
                                        </p:attrNameLst>
                                      </p:cBhvr>
                                      <p:tavLst>
                                        <p:tav tm="0">
                                          <p:val>
                                            <p:strVal val="0-#ppt_w/2"/>
                                          </p:val>
                                        </p:tav>
                                        <p:tav tm="100000">
                                          <p:val>
                                            <p:strVal val="#ppt_x"/>
                                          </p:val>
                                        </p:tav>
                                      </p:tavLst>
                                    </p:anim>
                                    <p:anim calcmode="lin" valueType="num">
                                      <p:cBhvr additive="base">
                                        <p:cTn id="42"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P spid="8" grpId="0"/>
      <p:bldP spid="9" grpId="0"/>
      <p:bldP spid="11" grpId="0"/>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81502" y="337623"/>
            <a:ext cx="24384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2400" b="1" dirty="0">
                <a:solidFill>
                  <a:schemeClr val="tx1">
                    <a:lumMod val="85000"/>
                    <a:lumOff val="15000"/>
                  </a:schemeClr>
                </a:solidFill>
                <a:latin typeface="微软雅黑" panose="020B0503020204020204" pitchFamily="34" charset="-122"/>
                <a:ea typeface="微软雅黑" panose="020B0503020204020204" pitchFamily="34" charset="-122"/>
                <a:sym typeface="+mn-ea"/>
              </a:rPr>
              <a:t>杜邦财务体系分析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2" name="Chart 61"/>
          <p:cNvGraphicFramePr/>
          <p:nvPr/>
        </p:nvGraphicFramePr>
        <p:xfrm>
          <a:off x="1678294" y="1226999"/>
          <a:ext cx="1998127" cy="2114852"/>
        </p:xfrm>
        <a:graphic>
          <a:graphicData uri="http://schemas.openxmlformats.org/drawingml/2006/chart">
            <c:chart xmlns:c="http://schemas.openxmlformats.org/drawingml/2006/chart" xmlns:r="http://schemas.openxmlformats.org/officeDocument/2006/relationships" r:id="rId3"/>
          </a:graphicData>
        </a:graphic>
      </p:graphicFrame>
      <p:sp>
        <p:nvSpPr>
          <p:cNvPr id="68" name="TextBox 67"/>
          <p:cNvSpPr txBox="1"/>
          <p:nvPr/>
        </p:nvSpPr>
        <p:spPr>
          <a:xfrm>
            <a:off x="2325817" y="2131637"/>
            <a:ext cx="781549" cy="350865"/>
          </a:xfrm>
          <a:prstGeom prst="rect">
            <a:avLst/>
          </a:prstGeom>
          <a:noFill/>
        </p:spPr>
        <p:txBody>
          <a:bodyPr wrap="square" rtlCol="0" anchor="ctr">
            <a:spAutoFit/>
          </a:bodyPr>
          <a:lstStyle/>
          <a:p>
            <a:pPr algn="ctr">
              <a:lnSpc>
                <a:spcPct val="120000"/>
              </a:lnSpc>
            </a:pPr>
            <a:r>
              <a:rPr lang="en-US" sz="14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50%</a:t>
            </a:r>
          </a:p>
        </p:txBody>
      </p:sp>
      <p:sp>
        <p:nvSpPr>
          <p:cNvPr id="50" name="TextBox 49"/>
          <p:cNvSpPr txBox="1"/>
          <p:nvPr/>
        </p:nvSpPr>
        <p:spPr>
          <a:xfrm>
            <a:off x="2481407" y="3247706"/>
            <a:ext cx="397546" cy="258532"/>
          </a:xfrm>
          <a:prstGeom prst="rect">
            <a:avLst/>
          </a:prstGeom>
          <a:noFill/>
        </p:spPr>
        <p:txBody>
          <a:bodyPr wrap="none" lIns="0" tIns="0" rIns="0" bIns="0" rtlCol="0">
            <a:spAutoFit/>
          </a:bodyPr>
          <a:lstStyle/>
          <a:p>
            <a:pPr algn="ctr">
              <a:lnSpc>
                <a:spcPct val="120000"/>
              </a:lnSpc>
            </a:pPr>
            <a:r>
              <a:rPr lang="en-US" sz="1400" b="1" dirty="0">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2001</a:t>
            </a:r>
          </a:p>
        </p:txBody>
      </p:sp>
      <p:graphicFrame>
        <p:nvGraphicFramePr>
          <p:cNvPr id="36" name="Chart 35"/>
          <p:cNvGraphicFramePr/>
          <p:nvPr/>
        </p:nvGraphicFramePr>
        <p:xfrm>
          <a:off x="4160854" y="1226999"/>
          <a:ext cx="1998127" cy="2114852"/>
        </p:xfrm>
        <a:graphic>
          <a:graphicData uri="http://schemas.openxmlformats.org/drawingml/2006/chart">
            <c:chart xmlns:c="http://schemas.openxmlformats.org/drawingml/2006/chart" xmlns:r="http://schemas.openxmlformats.org/officeDocument/2006/relationships" r:id="rId4"/>
          </a:graphicData>
        </a:graphic>
      </p:graphicFrame>
      <p:sp>
        <p:nvSpPr>
          <p:cNvPr id="37" name="TextBox 36"/>
          <p:cNvSpPr txBox="1"/>
          <p:nvPr/>
        </p:nvSpPr>
        <p:spPr>
          <a:xfrm>
            <a:off x="4808378" y="2131637"/>
            <a:ext cx="781549" cy="350865"/>
          </a:xfrm>
          <a:prstGeom prst="rect">
            <a:avLst/>
          </a:prstGeom>
          <a:noFill/>
        </p:spPr>
        <p:txBody>
          <a:bodyPr wrap="square" rtlCol="0" anchor="ctr">
            <a:spAutoFit/>
          </a:bodyPr>
          <a:lstStyle/>
          <a:p>
            <a:pPr algn="ctr">
              <a:lnSpc>
                <a:spcPct val="120000"/>
              </a:lnSpc>
            </a:pPr>
            <a:r>
              <a:rPr lang="en-US" sz="1400" b="1" dirty="0">
                <a:solidFill>
                  <a:srgbClr val="CE3418"/>
                </a:solidFill>
                <a:latin typeface="Arial" panose="020B0604020202020204" pitchFamily="34" charset="0"/>
                <a:ea typeface="微软雅黑" panose="020B0503020204020204" pitchFamily="34" charset="-122"/>
                <a:cs typeface="+mn-ea"/>
                <a:sym typeface="Arial" panose="020B0604020202020204" pitchFamily="34" charset="0"/>
              </a:rPr>
              <a:t>70%</a:t>
            </a:r>
          </a:p>
        </p:txBody>
      </p:sp>
      <p:sp>
        <p:nvSpPr>
          <p:cNvPr id="38" name="TextBox 37"/>
          <p:cNvSpPr txBox="1"/>
          <p:nvPr/>
        </p:nvSpPr>
        <p:spPr>
          <a:xfrm>
            <a:off x="4970170" y="3247706"/>
            <a:ext cx="397546" cy="258532"/>
          </a:xfrm>
          <a:prstGeom prst="rect">
            <a:avLst/>
          </a:prstGeom>
          <a:noFill/>
        </p:spPr>
        <p:txBody>
          <a:bodyPr wrap="none" lIns="0" tIns="0" rIns="0" bIns="0" rtlCol="0">
            <a:spAutoFit/>
          </a:bodyPr>
          <a:lstStyle/>
          <a:p>
            <a:pPr algn="ctr">
              <a:lnSpc>
                <a:spcPct val="120000"/>
              </a:lnSpc>
            </a:pPr>
            <a:r>
              <a:rPr lang="en-US" sz="1400" b="1" dirty="0">
                <a:solidFill>
                  <a:srgbClr val="CE3418"/>
                </a:solidFill>
                <a:latin typeface="Arial" panose="020B0604020202020204" pitchFamily="34" charset="0"/>
                <a:ea typeface="微软雅黑" panose="020B0503020204020204" pitchFamily="34" charset="-122"/>
                <a:cs typeface="+mn-ea"/>
                <a:sym typeface="Arial" panose="020B0604020202020204" pitchFamily="34" charset="0"/>
              </a:rPr>
              <a:t>2010</a:t>
            </a:r>
          </a:p>
        </p:txBody>
      </p:sp>
      <p:graphicFrame>
        <p:nvGraphicFramePr>
          <p:cNvPr id="43" name="Chart 42"/>
          <p:cNvGraphicFramePr/>
          <p:nvPr/>
        </p:nvGraphicFramePr>
        <p:xfrm>
          <a:off x="6619879" y="1226999"/>
          <a:ext cx="1998127" cy="2114852"/>
        </p:xfrm>
        <a:graphic>
          <a:graphicData uri="http://schemas.openxmlformats.org/drawingml/2006/chart">
            <c:chart xmlns:c="http://schemas.openxmlformats.org/drawingml/2006/chart" xmlns:r="http://schemas.openxmlformats.org/officeDocument/2006/relationships" r:id="rId5"/>
          </a:graphicData>
        </a:graphic>
      </p:graphicFrame>
      <p:sp>
        <p:nvSpPr>
          <p:cNvPr id="44" name="TextBox 43"/>
          <p:cNvSpPr txBox="1"/>
          <p:nvPr/>
        </p:nvSpPr>
        <p:spPr>
          <a:xfrm>
            <a:off x="7267401" y="2131637"/>
            <a:ext cx="781549" cy="350865"/>
          </a:xfrm>
          <a:prstGeom prst="rect">
            <a:avLst/>
          </a:prstGeom>
          <a:noFill/>
        </p:spPr>
        <p:txBody>
          <a:bodyPr wrap="square" rtlCol="0" anchor="ctr">
            <a:spAutoFit/>
          </a:bodyPr>
          <a:lstStyle/>
          <a:p>
            <a:pPr algn="ctr">
              <a:lnSpc>
                <a:spcPct val="120000"/>
              </a:lnSpc>
            </a:pPr>
            <a:r>
              <a:rPr lang="en-US" sz="1400" b="1"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80%</a:t>
            </a:r>
          </a:p>
        </p:txBody>
      </p:sp>
      <p:sp>
        <p:nvSpPr>
          <p:cNvPr id="45" name="TextBox 44"/>
          <p:cNvSpPr txBox="1"/>
          <p:nvPr/>
        </p:nvSpPr>
        <p:spPr>
          <a:xfrm>
            <a:off x="7458931" y="3279249"/>
            <a:ext cx="397546" cy="258532"/>
          </a:xfrm>
          <a:prstGeom prst="rect">
            <a:avLst/>
          </a:prstGeom>
          <a:noFill/>
        </p:spPr>
        <p:txBody>
          <a:bodyPr wrap="none" lIns="0" tIns="0" rIns="0" bIns="0" rtlCol="0">
            <a:spAutoFit/>
          </a:bodyPr>
          <a:lstStyle/>
          <a:p>
            <a:pPr algn="ctr">
              <a:lnSpc>
                <a:spcPct val="120000"/>
              </a:lnSpc>
            </a:pPr>
            <a:r>
              <a:rPr lang="en-US" sz="1400" b="1" dirty="0">
                <a:solidFill>
                  <a:schemeClr val="accent3"/>
                </a:solidFill>
                <a:latin typeface="Arial" panose="020B0604020202020204" pitchFamily="34" charset="0"/>
                <a:ea typeface="微软雅黑" panose="020B0503020204020204" pitchFamily="34" charset="-122"/>
                <a:cs typeface="+mn-ea"/>
                <a:sym typeface="Arial" panose="020B0604020202020204" pitchFamily="34" charset="0"/>
              </a:rPr>
              <a:t>2012</a:t>
            </a:r>
          </a:p>
        </p:txBody>
      </p:sp>
      <p:graphicFrame>
        <p:nvGraphicFramePr>
          <p:cNvPr id="54" name="Chart 53"/>
          <p:cNvGraphicFramePr/>
          <p:nvPr/>
        </p:nvGraphicFramePr>
        <p:xfrm>
          <a:off x="9108169" y="1226999"/>
          <a:ext cx="1998127" cy="2114852"/>
        </p:xfrm>
        <a:graphic>
          <a:graphicData uri="http://schemas.openxmlformats.org/drawingml/2006/chart">
            <c:chart xmlns:c="http://schemas.openxmlformats.org/drawingml/2006/chart" xmlns:r="http://schemas.openxmlformats.org/officeDocument/2006/relationships" r:id="rId6"/>
          </a:graphicData>
        </a:graphic>
      </p:graphicFrame>
      <p:sp>
        <p:nvSpPr>
          <p:cNvPr id="56" name="TextBox 55"/>
          <p:cNvSpPr txBox="1"/>
          <p:nvPr/>
        </p:nvSpPr>
        <p:spPr>
          <a:xfrm>
            <a:off x="9755692" y="2131637"/>
            <a:ext cx="781549" cy="350865"/>
          </a:xfrm>
          <a:prstGeom prst="rect">
            <a:avLst/>
          </a:prstGeom>
          <a:noFill/>
        </p:spPr>
        <p:txBody>
          <a:bodyPr wrap="square" rtlCol="0" anchor="ctr">
            <a:spAutoFit/>
          </a:bodyPr>
          <a:lstStyle/>
          <a:p>
            <a:pPr algn="ctr">
              <a:lnSpc>
                <a:spcPct val="120000"/>
              </a:lnSpc>
            </a:pPr>
            <a:r>
              <a:rPr lang="en-US" sz="1400" b="1" dirty="0">
                <a:solidFill>
                  <a:srgbClr val="5B9BD5"/>
                </a:solidFill>
                <a:latin typeface="Arial" panose="020B0604020202020204" pitchFamily="34" charset="0"/>
                <a:ea typeface="微软雅黑" panose="020B0503020204020204" pitchFamily="34" charset="-122"/>
                <a:cs typeface="+mn-ea"/>
                <a:sym typeface="Arial" panose="020B0604020202020204" pitchFamily="34" charset="0"/>
              </a:rPr>
              <a:t>40%</a:t>
            </a:r>
          </a:p>
        </p:txBody>
      </p:sp>
      <p:sp>
        <p:nvSpPr>
          <p:cNvPr id="59" name="TextBox 58"/>
          <p:cNvSpPr txBox="1"/>
          <p:nvPr/>
        </p:nvSpPr>
        <p:spPr>
          <a:xfrm>
            <a:off x="9947694" y="3279249"/>
            <a:ext cx="397546" cy="258532"/>
          </a:xfrm>
          <a:prstGeom prst="rect">
            <a:avLst/>
          </a:prstGeom>
          <a:noFill/>
        </p:spPr>
        <p:txBody>
          <a:bodyPr wrap="none" lIns="0" tIns="0" rIns="0" bIns="0" rtlCol="0">
            <a:spAutoFit/>
          </a:bodyPr>
          <a:lstStyle/>
          <a:p>
            <a:pPr algn="ctr">
              <a:lnSpc>
                <a:spcPct val="120000"/>
              </a:lnSpc>
            </a:pPr>
            <a:r>
              <a:rPr lang="en-US" sz="1400" b="1" dirty="0">
                <a:solidFill>
                  <a:srgbClr val="5B9BD5"/>
                </a:solidFill>
                <a:latin typeface="Arial" panose="020B0604020202020204" pitchFamily="34" charset="0"/>
                <a:ea typeface="微软雅黑" panose="020B0503020204020204" pitchFamily="34" charset="-122"/>
                <a:cs typeface="+mn-ea"/>
                <a:sym typeface="Arial" panose="020B0604020202020204" pitchFamily="34" charset="0"/>
              </a:rPr>
              <a:t>2015</a:t>
            </a:r>
          </a:p>
        </p:txBody>
      </p:sp>
      <p:grpSp>
        <p:nvGrpSpPr>
          <p:cNvPr id="12" name="Group 29"/>
          <p:cNvGrpSpPr/>
          <p:nvPr/>
        </p:nvGrpSpPr>
        <p:grpSpPr>
          <a:xfrm>
            <a:off x="1812053" y="3824208"/>
            <a:ext cx="9295130" cy="2389505"/>
            <a:chOff x="648100" y="3562350"/>
            <a:chExt cx="8562231" cy="3025490"/>
          </a:xfrm>
        </p:grpSpPr>
        <p:sp>
          <p:nvSpPr>
            <p:cNvPr id="29" name="Rectangle 28"/>
            <p:cNvSpPr/>
            <p:nvPr/>
          </p:nvSpPr>
          <p:spPr>
            <a:xfrm>
              <a:off x="800767" y="3562350"/>
              <a:ext cx="8409564" cy="302549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Rectangle 29"/>
            <p:cNvSpPr/>
            <p:nvPr/>
          </p:nvSpPr>
          <p:spPr>
            <a:xfrm>
              <a:off x="648100" y="3562350"/>
              <a:ext cx="152082" cy="30254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5" name="文本框 34"/>
          <p:cNvSpPr txBox="1"/>
          <p:nvPr/>
        </p:nvSpPr>
        <p:spPr>
          <a:xfrm>
            <a:off x="2515235" y="4143375"/>
            <a:ext cx="1402080" cy="460375"/>
          </a:xfrm>
          <a:prstGeom prst="rect">
            <a:avLst/>
          </a:prstGeom>
          <a:noFill/>
        </p:spPr>
        <p:txBody>
          <a:bodyPr wrap="none" rtlCol="0" anchor="t">
            <a:spAutoFit/>
          </a:bodyPr>
          <a:lstStyle/>
          <a:p>
            <a:pPr algn="ctr"/>
            <a:r>
              <a:rPr lang="zh-CN" altLang="en-US" sz="2400" b="1">
                <a:latin typeface="微软雅黑" panose="020B0503020204020204" pitchFamily="34" charset="-122"/>
                <a:ea typeface="微软雅黑" panose="020B0503020204020204" pitchFamily="34" charset="-122"/>
                <a:sym typeface="+mn-ea"/>
              </a:rPr>
              <a:t>利润分析</a:t>
            </a:r>
          </a:p>
        </p:txBody>
      </p:sp>
      <p:sp>
        <p:nvSpPr>
          <p:cNvPr id="41" name="文本框 40"/>
          <p:cNvSpPr txBox="1"/>
          <p:nvPr/>
        </p:nvSpPr>
        <p:spPr>
          <a:xfrm>
            <a:off x="2515235" y="4699000"/>
            <a:ext cx="8054975" cy="1060450"/>
          </a:xfrm>
          <a:prstGeom prst="rect">
            <a:avLst/>
          </a:prstGeom>
          <a:noFill/>
        </p:spPr>
        <p:txBody>
          <a:bodyPr wrap="square" rtlCol="0" anchor="t">
            <a:spAutoFit/>
          </a:bodyPr>
          <a:lstStyle/>
          <a:p>
            <a:pPr algn="l">
              <a:lnSpc>
                <a:spcPct val="150000"/>
              </a:lnSpc>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四川长虹</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2018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年利润总额实现</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11,160.76 </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万元，与</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2017</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年相比下降</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33.69%</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长虹认为利润下降的主要原因是由于中国家电市场的日益激烈的竞争，使利润空间越来越小，已处于微利状态。但是，从利润结构分析表中可以看到造成利润率下降的原因是主营业务成本和管理费用有较大的增加。</a:t>
            </a:r>
          </a:p>
        </p:txBody>
      </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23" presetClass="entr" presetSubtype="16" fill="hold" grpId="0" nodeType="afterEffect">
                                  <p:stCondLst>
                                    <p:cond delay="0"/>
                                  </p:stCondLst>
                                  <p:childTnLst>
                                    <p:set>
                                      <p:cBhvr>
                                        <p:cTn id="20" dur="1" fill="hold">
                                          <p:stCondLst>
                                            <p:cond delay="0"/>
                                          </p:stCondLst>
                                        </p:cTn>
                                        <p:tgtEl>
                                          <p:spTgt spid="68"/>
                                        </p:tgtEl>
                                        <p:attrNameLst>
                                          <p:attrName>style.visibility</p:attrName>
                                        </p:attrNameLst>
                                      </p:cBhvr>
                                      <p:to>
                                        <p:strVal val="visible"/>
                                      </p:to>
                                    </p:set>
                                    <p:anim calcmode="lin" valueType="num">
                                      <p:cBhvr>
                                        <p:cTn id="21" dur="500" fill="hold"/>
                                        <p:tgtEl>
                                          <p:spTgt spid="68"/>
                                        </p:tgtEl>
                                        <p:attrNameLst>
                                          <p:attrName>ppt_w</p:attrName>
                                        </p:attrNameLst>
                                      </p:cBhvr>
                                      <p:tavLst>
                                        <p:tav tm="0">
                                          <p:val>
                                            <p:fltVal val="0"/>
                                          </p:val>
                                        </p:tav>
                                        <p:tav tm="100000">
                                          <p:val>
                                            <p:strVal val="#ppt_w"/>
                                          </p:val>
                                        </p:tav>
                                      </p:tavLst>
                                    </p:anim>
                                    <p:anim calcmode="lin" valueType="num">
                                      <p:cBhvr>
                                        <p:cTn id="22" dur="500" fill="hold"/>
                                        <p:tgtEl>
                                          <p:spTgt spid="68"/>
                                        </p:tgtEl>
                                        <p:attrNameLst>
                                          <p:attrName>ppt_h</p:attrName>
                                        </p:attrNameLst>
                                      </p:cBhvr>
                                      <p:tavLst>
                                        <p:tav tm="0">
                                          <p:val>
                                            <p:fltVal val="0"/>
                                          </p:val>
                                        </p:tav>
                                        <p:tav tm="100000">
                                          <p:val>
                                            <p:strVal val="#ppt_h"/>
                                          </p:val>
                                        </p:tav>
                                      </p:tavLst>
                                    </p:anim>
                                  </p:childTnLst>
                                </p:cTn>
                              </p:par>
                            </p:childTnLst>
                          </p:cTn>
                        </p:par>
                        <p:par>
                          <p:cTn id="23" fill="hold">
                            <p:stCondLst>
                              <p:cond delay="2000"/>
                            </p:stCondLst>
                            <p:childTnLst>
                              <p:par>
                                <p:cTn id="24" presetID="23" presetClass="entr" presetSubtype="16" fill="hold" grpId="0" nodeType="afterEffect">
                                  <p:stCondLst>
                                    <p:cond delay="0"/>
                                  </p:stCondLst>
                                  <p:childTnLst>
                                    <p:set>
                                      <p:cBhvr>
                                        <p:cTn id="25" dur="1" fill="hold">
                                          <p:stCondLst>
                                            <p:cond delay="0"/>
                                          </p:stCondLst>
                                        </p:cTn>
                                        <p:tgtEl>
                                          <p:spTgt spid="50"/>
                                        </p:tgtEl>
                                        <p:attrNameLst>
                                          <p:attrName>style.visibility</p:attrName>
                                        </p:attrNameLst>
                                      </p:cBhvr>
                                      <p:to>
                                        <p:strVal val="visible"/>
                                      </p:to>
                                    </p:set>
                                    <p:anim calcmode="lin" valueType="num">
                                      <p:cBhvr>
                                        <p:cTn id="26" dur="500" fill="hold"/>
                                        <p:tgtEl>
                                          <p:spTgt spid="50"/>
                                        </p:tgtEl>
                                        <p:attrNameLst>
                                          <p:attrName>ppt_w</p:attrName>
                                        </p:attrNameLst>
                                      </p:cBhvr>
                                      <p:tavLst>
                                        <p:tav tm="0">
                                          <p:val>
                                            <p:fltVal val="0"/>
                                          </p:val>
                                        </p:tav>
                                        <p:tav tm="100000">
                                          <p:val>
                                            <p:strVal val="#ppt_w"/>
                                          </p:val>
                                        </p:tav>
                                      </p:tavLst>
                                    </p:anim>
                                    <p:anim calcmode="lin" valueType="num">
                                      <p:cBhvr>
                                        <p:cTn id="27" dur="500" fill="hold"/>
                                        <p:tgtEl>
                                          <p:spTgt spid="50"/>
                                        </p:tgtEl>
                                        <p:attrNameLst>
                                          <p:attrName>ppt_h</p:attrName>
                                        </p:attrNameLst>
                                      </p:cBhvr>
                                      <p:tavLst>
                                        <p:tav tm="0">
                                          <p:val>
                                            <p:fltVal val="0"/>
                                          </p:val>
                                        </p:tav>
                                        <p:tav tm="100000">
                                          <p:val>
                                            <p:strVal val="#ppt_h"/>
                                          </p:val>
                                        </p:tav>
                                      </p:tavLst>
                                    </p:anim>
                                  </p:childTnLst>
                                </p:cTn>
                              </p:par>
                            </p:childTnLst>
                          </p:cTn>
                        </p:par>
                        <p:par>
                          <p:cTn id="28" fill="hold">
                            <p:stCondLst>
                              <p:cond delay="2500"/>
                            </p:stCondLst>
                            <p:childTnLst>
                              <p:par>
                                <p:cTn id="29" presetID="23" presetClass="entr" presetSubtype="16"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p:cTn id="31" dur="500" fill="hold"/>
                                        <p:tgtEl>
                                          <p:spTgt spid="37"/>
                                        </p:tgtEl>
                                        <p:attrNameLst>
                                          <p:attrName>ppt_w</p:attrName>
                                        </p:attrNameLst>
                                      </p:cBhvr>
                                      <p:tavLst>
                                        <p:tav tm="0">
                                          <p:val>
                                            <p:fltVal val="0"/>
                                          </p:val>
                                        </p:tav>
                                        <p:tav tm="100000">
                                          <p:val>
                                            <p:strVal val="#ppt_w"/>
                                          </p:val>
                                        </p:tav>
                                      </p:tavLst>
                                    </p:anim>
                                    <p:anim calcmode="lin" valueType="num">
                                      <p:cBhvr>
                                        <p:cTn id="32" dur="500" fill="hold"/>
                                        <p:tgtEl>
                                          <p:spTgt spid="37"/>
                                        </p:tgtEl>
                                        <p:attrNameLst>
                                          <p:attrName>ppt_h</p:attrName>
                                        </p:attrNameLst>
                                      </p:cBhvr>
                                      <p:tavLst>
                                        <p:tav tm="0">
                                          <p:val>
                                            <p:fltVal val="0"/>
                                          </p:val>
                                        </p:tav>
                                        <p:tav tm="100000">
                                          <p:val>
                                            <p:strVal val="#ppt_h"/>
                                          </p:val>
                                        </p:tav>
                                      </p:tavLst>
                                    </p:anim>
                                  </p:childTnLst>
                                </p:cTn>
                              </p:par>
                            </p:childTnLst>
                          </p:cTn>
                        </p:par>
                        <p:par>
                          <p:cTn id="33" fill="hold">
                            <p:stCondLst>
                              <p:cond delay="3000"/>
                            </p:stCondLst>
                            <p:childTnLst>
                              <p:par>
                                <p:cTn id="34" presetID="23" presetClass="entr" presetSubtype="16" fill="hold" grpId="0" nodeType="afterEffect">
                                  <p:stCondLst>
                                    <p:cond delay="0"/>
                                  </p:stCondLst>
                                  <p:childTnLst>
                                    <p:set>
                                      <p:cBhvr>
                                        <p:cTn id="35" dur="1" fill="hold">
                                          <p:stCondLst>
                                            <p:cond delay="0"/>
                                          </p:stCondLst>
                                        </p:cTn>
                                        <p:tgtEl>
                                          <p:spTgt spid="38"/>
                                        </p:tgtEl>
                                        <p:attrNameLst>
                                          <p:attrName>style.visibility</p:attrName>
                                        </p:attrNameLst>
                                      </p:cBhvr>
                                      <p:to>
                                        <p:strVal val="visible"/>
                                      </p:to>
                                    </p:set>
                                    <p:anim calcmode="lin" valueType="num">
                                      <p:cBhvr>
                                        <p:cTn id="36" dur="500" fill="hold"/>
                                        <p:tgtEl>
                                          <p:spTgt spid="38"/>
                                        </p:tgtEl>
                                        <p:attrNameLst>
                                          <p:attrName>ppt_w</p:attrName>
                                        </p:attrNameLst>
                                      </p:cBhvr>
                                      <p:tavLst>
                                        <p:tav tm="0">
                                          <p:val>
                                            <p:fltVal val="0"/>
                                          </p:val>
                                        </p:tav>
                                        <p:tav tm="100000">
                                          <p:val>
                                            <p:strVal val="#ppt_w"/>
                                          </p:val>
                                        </p:tav>
                                      </p:tavLst>
                                    </p:anim>
                                    <p:anim calcmode="lin" valueType="num">
                                      <p:cBhvr>
                                        <p:cTn id="37" dur="500" fill="hold"/>
                                        <p:tgtEl>
                                          <p:spTgt spid="38"/>
                                        </p:tgtEl>
                                        <p:attrNameLst>
                                          <p:attrName>ppt_h</p:attrName>
                                        </p:attrNameLst>
                                      </p:cBhvr>
                                      <p:tavLst>
                                        <p:tav tm="0">
                                          <p:val>
                                            <p:fltVal val="0"/>
                                          </p:val>
                                        </p:tav>
                                        <p:tav tm="100000">
                                          <p:val>
                                            <p:strVal val="#ppt_h"/>
                                          </p:val>
                                        </p:tav>
                                      </p:tavLst>
                                    </p:anim>
                                  </p:childTnLst>
                                </p:cTn>
                              </p:par>
                            </p:childTnLst>
                          </p:cTn>
                        </p:par>
                        <p:par>
                          <p:cTn id="38" fill="hold">
                            <p:stCondLst>
                              <p:cond delay="3500"/>
                            </p:stCondLst>
                            <p:childTnLst>
                              <p:par>
                                <p:cTn id="39" presetID="23" presetClass="entr" presetSubtype="16" fill="hold" grpId="0" nodeType="afterEffect">
                                  <p:stCondLst>
                                    <p:cond delay="0"/>
                                  </p:stCondLst>
                                  <p:childTnLst>
                                    <p:set>
                                      <p:cBhvr>
                                        <p:cTn id="40" dur="1" fill="hold">
                                          <p:stCondLst>
                                            <p:cond delay="0"/>
                                          </p:stCondLst>
                                        </p:cTn>
                                        <p:tgtEl>
                                          <p:spTgt spid="44"/>
                                        </p:tgtEl>
                                        <p:attrNameLst>
                                          <p:attrName>style.visibility</p:attrName>
                                        </p:attrNameLst>
                                      </p:cBhvr>
                                      <p:to>
                                        <p:strVal val="visible"/>
                                      </p:to>
                                    </p:set>
                                    <p:anim calcmode="lin" valueType="num">
                                      <p:cBhvr>
                                        <p:cTn id="41" dur="500" fill="hold"/>
                                        <p:tgtEl>
                                          <p:spTgt spid="44"/>
                                        </p:tgtEl>
                                        <p:attrNameLst>
                                          <p:attrName>ppt_w</p:attrName>
                                        </p:attrNameLst>
                                      </p:cBhvr>
                                      <p:tavLst>
                                        <p:tav tm="0">
                                          <p:val>
                                            <p:fltVal val="0"/>
                                          </p:val>
                                        </p:tav>
                                        <p:tav tm="100000">
                                          <p:val>
                                            <p:strVal val="#ppt_w"/>
                                          </p:val>
                                        </p:tav>
                                      </p:tavLst>
                                    </p:anim>
                                    <p:anim calcmode="lin" valueType="num">
                                      <p:cBhvr>
                                        <p:cTn id="42" dur="500" fill="hold"/>
                                        <p:tgtEl>
                                          <p:spTgt spid="44"/>
                                        </p:tgtEl>
                                        <p:attrNameLst>
                                          <p:attrName>ppt_h</p:attrName>
                                        </p:attrNameLst>
                                      </p:cBhvr>
                                      <p:tavLst>
                                        <p:tav tm="0">
                                          <p:val>
                                            <p:fltVal val="0"/>
                                          </p:val>
                                        </p:tav>
                                        <p:tav tm="100000">
                                          <p:val>
                                            <p:strVal val="#ppt_h"/>
                                          </p:val>
                                        </p:tav>
                                      </p:tavLst>
                                    </p:anim>
                                  </p:childTnLst>
                                </p:cTn>
                              </p:par>
                            </p:childTnLst>
                          </p:cTn>
                        </p:par>
                        <p:par>
                          <p:cTn id="43" fill="hold">
                            <p:stCondLst>
                              <p:cond delay="4000"/>
                            </p:stCondLst>
                            <p:childTnLst>
                              <p:par>
                                <p:cTn id="44" presetID="23" presetClass="entr" presetSubtype="16" fill="hold" grpId="0" nodeType="afterEffect">
                                  <p:stCondLst>
                                    <p:cond delay="0"/>
                                  </p:stCondLst>
                                  <p:childTnLst>
                                    <p:set>
                                      <p:cBhvr>
                                        <p:cTn id="45" dur="1" fill="hold">
                                          <p:stCondLst>
                                            <p:cond delay="0"/>
                                          </p:stCondLst>
                                        </p:cTn>
                                        <p:tgtEl>
                                          <p:spTgt spid="45"/>
                                        </p:tgtEl>
                                        <p:attrNameLst>
                                          <p:attrName>style.visibility</p:attrName>
                                        </p:attrNameLst>
                                      </p:cBhvr>
                                      <p:to>
                                        <p:strVal val="visible"/>
                                      </p:to>
                                    </p:set>
                                    <p:anim calcmode="lin" valueType="num">
                                      <p:cBhvr>
                                        <p:cTn id="46" dur="500" fill="hold"/>
                                        <p:tgtEl>
                                          <p:spTgt spid="45"/>
                                        </p:tgtEl>
                                        <p:attrNameLst>
                                          <p:attrName>ppt_w</p:attrName>
                                        </p:attrNameLst>
                                      </p:cBhvr>
                                      <p:tavLst>
                                        <p:tav tm="0">
                                          <p:val>
                                            <p:fltVal val="0"/>
                                          </p:val>
                                        </p:tav>
                                        <p:tav tm="100000">
                                          <p:val>
                                            <p:strVal val="#ppt_w"/>
                                          </p:val>
                                        </p:tav>
                                      </p:tavLst>
                                    </p:anim>
                                    <p:anim calcmode="lin" valueType="num">
                                      <p:cBhvr>
                                        <p:cTn id="47" dur="500" fill="hold"/>
                                        <p:tgtEl>
                                          <p:spTgt spid="45"/>
                                        </p:tgtEl>
                                        <p:attrNameLst>
                                          <p:attrName>ppt_h</p:attrName>
                                        </p:attrNameLst>
                                      </p:cBhvr>
                                      <p:tavLst>
                                        <p:tav tm="0">
                                          <p:val>
                                            <p:fltVal val="0"/>
                                          </p:val>
                                        </p:tav>
                                        <p:tav tm="100000">
                                          <p:val>
                                            <p:strVal val="#ppt_h"/>
                                          </p:val>
                                        </p:tav>
                                      </p:tavLst>
                                    </p:anim>
                                  </p:childTnLst>
                                </p:cTn>
                              </p:par>
                            </p:childTnLst>
                          </p:cTn>
                        </p:par>
                        <p:par>
                          <p:cTn id="48" fill="hold">
                            <p:stCondLst>
                              <p:cond delay="4500"/>
                            </p:stCondLst>
                            <p:childTnLst>
                              <p:par>
                                <p:cTn id="49" presetID="23" presetClass="entr" presetSubtype="16" fill="hold" grpId="0" nodeType="after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p:cTn id="51" dur="500" fill="hold"/>
                                        <p:tgtEl>
                                          <p:spTgt spid="56"/>
                                        </p:tgtEl>
                                        <p:attrNameLst>
                                          <p:attrName>ppt_w</p:attrName>
                                        </p:attrNameLst>
                                      </p:cBhvr>
                                      <p:tavLst>
                                        <p:tav tm="0">
                                          <p:val>
                                            <p:fltVal val="0"/>
                                          </p:val>
                                        </p:tav>
                                        <p:tav tm="100000">
                                          <p:val>
                                            <p:strVal val="#ppt_w"/>
                                          </p:val>
                                        </p:tav>
                                      </p:tavLst>
                                    </p:anim>
                                    <p:anim calcmode="lin" valueType="num">
                                      <p:cBhvr>
                                        <p:cTn id="52" dur="500" fill="hold"/>
                                        <p:tgtEl>
                                          <p:spTgt spid="56"/>
                                        </p:tgtEl>
                                        <p:attrNameLst>
                                          <p:attrName>ppt_h</p:attrName>
                                        </p:attrNameLst>
                                      </p:cBhvr>
                                      <p:tavLst>
                                        <p:tav tm="0">
                                          <p:val>
                                            <p:fltVal val="0"/>
                                          </p:val>
                                        </p:tav>
                                        <p:tav tm="100000">
                                          <p:val>
                                            <p:strVal val="#ppt_h"/>
                                          </p:val>
                                        </p:tav>
                                      </p:tavLst>
                                    </p:anim>
                                  </p:childTnLst>
                                </p:cTn>
                              </p:par>
                            </p:childTnLst>
                          </p:cTn>
                        </p:par>
                        <p:par>
                          <p:cTn id="53" fill="hold">
                            <p:stCondLst>
                              <p:cond delay="5000"/>
                            </p:stCondLst>
                            <p:childTnLst>
                              <p:par>
                                <p:cTn id="54" presetID="23" presetClass="entr" presetSubtype="16" fill="hold" grpId="0" nodeType="afterEffect">
                                  <p:stCondLst>
                                    <p:cond delay="0"/>
                                  </p:stCondLst>
                                  <p:childTnLst>
                                    <p:set>
                                      <p:cBhvr>
                                        <p:cTn id="55" dur="1" fill="hold">
                                          <p:stCondLst>
                                            <p:cond delay="0"/>
                                          </p:stCondLst>
                                        </p:cTn>
                                        <p:tgtEl>
                                          <p:spTgt spid="59"/>
                                        </p:tgtEl>
                                        <p:attrNameLst>
                                          <p:attrName>style.visibility</p:attrName>
                                        </p:attrNameLst>
                                      </p:cBhvr>
                                      <p:to>
                                        <p:strVal val="visible"/>
                                      </p:to>
                                    </p:set>
                                    <p:anim calcmode="lin" valueType="num">
                                      <p:cBhvr>
                                        <p:cTn id="56" dur="500" fill="hold"/>
                                        <p:tgtEl>
                                          <p:spTgt spid="59"/>
                                        </p:tgtEl>
                                        <p:attrNameLst>
                                          <p:attrName>ppt_w</p:attrName>
                                        </p:attrNameLst>
                                      </p:cBhvr>
                                      <p:tavLst>
                                        <p:tav tm="0">
                                          <p:val>
                                            <p:fltVal val="0"/>
                                          </p:val>
                                        </p:tav>
                                        <p:tav tm="100000">
                                          <p:val>
                                            <p:strVal val="#ppt_w"/>
                                          </p:val>
                                        </p:tav>
                                      </p:tavLst>
                                    </p:anim>
                                    <p:anim calcmode="lin" valueType="num">
                                      <p:cBhvr>
                                        <p:cTn id="57" dur="500" fill="hold"/>
                                        <p:tgtEl>
                                          <p:spTgt spid="59"/>
                                        </p:tgtEl>
                                        <p:attrNameLst>
                                          <p:attrName>ppt_h</p:attrName>
                                        </p:attrNameLst>
                                      </p:cBhvr>
                                      <p:tavLst>
                                        <p:tav tm="0">
                                          <p:val>
                                            <p:fltVal val="0"/>
                                          </p:val>
                                        </p:tav>
                                        <p:tav tm="100000">
                                          <p:val>
                                            <p:strVal val="#ppt_h"/>
                                          </p:val>
                                        </p:tav>
                                      </p:tavLst>
                                    </p:anim>
                                  </p:childTnLst>
                                </p:cTn>
                              </p:par>
                            </p:childTnLst>
                          </p:cTn>
                        </p:par>
                        <p:par>
                          <p:cTn id="58" fill="hold">
                            <p:stCondLst>
                              <p:cond delay="5500"/>
                            </p:stCondLst>
                            <p:childTnLst>
                              <p:par>
                                <p:cTn id="59" presetID="22" presetClass="entr" presetSubtype="8" fill="hold"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par>
                          <p:cTn id="62" fill="hold">
                            <p:stCondLst>
                              <p:cond delay="6000"/>
                            </p:stCondLst>
                            <p:childTnLst>
                              <p:par>
                                <p:cTn id="63" presetID="21" presetClass="entr" presetSubtype="1" fill="hold" nodeType="afterEffect">
                                  <p:stCondLst>
                                    <p:cond delay="0"/>
                                  </p:stCondLst>
                                  <p:childTnLst>
                                    <p:set>
                                      <p:cBhvr>
                                        <p:cTn id="64" dur="1" fill="hold">
                                          <p:stCondLst>
                                            <p:cond delay="0"/>
                                          </p:stCondLst>
                                        </p:cTn>
                                        <p:tgtEl>
                                          <p:spTgt spid="62"/>
                                        </p:tgtEl>
                                        <p:attrNameLst>
                                          <p:attrName>style.visibility</p:attrName>
                                        </p:attrNameLst>
                                      </p:cBhvr>
                                      <p:to>
                                        <p:strVal val="visible"/>
                                      </p:to>
                                    </p:set>
                                    <p:animEffect transition="in" filter="wheel(1)">
                                      <p:cBhvr>
                                        <p:cTn id="65" dur="2000"/>
                                        <p:tgtEl>
                                          <p:spTgt spid="62"/>
                                        </p:tgtEl>
                                      </p:cBhvr>
                                    </p:animEffect>
                                  </p:childTnLst>
                                </p:cTn>
                              </p:par>
                            </p:childTnLst>
                          </p:cTn>
                        </p:par>
                        <p:par>
                          <p:cTn id="66" fill="hold">
                            <p:stCondLst>
                              <p:cond delay="8000"/>
                            </p:stCondLst>
                            <p:childTnLst>
                              <p:par>
                                <p:cTn id="67" presetID="21" presetClass="entr" presetSubtype="1" fill="hold" nodeType="after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wheel(1)">
                                      <p:cBhvr>
                                        <p:cTn id="69" dur="2000"/>
                                        <p:tgtEl>
                                          <p:spTgt spid="36"/>
                                        </p:tgtEl>
                                      </p:cBhvr>
                                    </p:animEffect>
                                  </p:childTnLst>
                                </p:cTn>
                              </p:par>
                            </p:childTnLst>
                          </p:cTn>
                        </p:par>
                        <p:par>
                          <p:cTn id="70" fill="hold">
                            <p:stCondLst>
                              <p:cond delay="10000"/>
                            </p:stCondLst>
                            <p:childTnLst>
                              <p:par>
                                <p:cTn id="71" presetID="21" presetClass="entr" presetSubtype="1" fill="hold"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wheel(1)">
                                      <p:cBhvr>
                                        <p:cTn id="73" dur="2000"/>
                                        <p:tgtEl>
                                          <p:spTgt spid="43"/>
                                        </p:tgtEl>
                                      </p:cBhvr>
                                    </p:animEffect>
                                  </p:childTnLst>
                                </p:cTn>
                              </p:par>
                            </p:childTnLst>
                          </p:cTn>
                        </p:par>
                        <p:par>
                          <p:cTn id="74" fill="hold">
                            <p:stCondLst>
                              <p:cond delay="12000"/>
                            </p:stCondLst>
                            <p:childTnLst>
                              <p:par>
                                <p:cTn id="75" presetID="21" presetClass="entr" presetSubtype="1" fill="hold" nodeType="afterEffect">
                                  <p:stCondLst>
                                    <p:cond delay="0"/>
                                  </p:stCondLst>
                                  <p:childTnLst>
                                    <p:set>
                                      <p:cBhvr>
                                        <p:cTn id="76" dur="1" fill="hold">
                                          <p:stCondLst>
                                            <p:cond delay="0"/>
                                          </p:stCondLst>
                                        </p:cTn>
                                        <p:tgtEl>
                                          <p:spTgt spid="54"/>
                                        </p:tgtEl>
                                        <p:attrNameLst>
                                          <p:attrName>style.visibility</p:attrName>
                                        </p:attrNameLst>
                                      </p:cBhvr>
                                      <p:to>
                                        <p:strVal val="visible"/>
                                      </p:to>
                                    </p:set>
                                    <p:animEffect transition="in" filter="wheel(1)">
                                      <p:cBhvr>
                                        <p:cTn id="77" dur="2000"/>
                                        <p:tgtEl>
                                          <p:spTgt spid="54"/>
                                        </p:tgtEl>
                                      </p:cBhvr>
                                    </p:animEffect>
                                  </p:childTnLst>
                                </p:cTn>
                              </p:par>
                            </p:childTnLst>
                          </p:cTn>
                        </p:par>
                        <p:par>
                          <p:cTn id="78" fill="hold">
                            <p:stCondLst>
                              <p:cond delay="14000"/>
                            </p:stCondLst>
                            <p:childTnLst>
                              <p:par>
                                <p:cTn id="79" presetID="16" presetClass="entr" presetSubtype="21" fill="hold" grpId="0" nodeType="afterEffect">
                                  <p:stCondLst>
                                    <p:cond delay="0"/>
                                  </p:stCondLst>
                                  <p:childTnLst>
                                    <p:set>
                                      <p:cBhvr>
                                        <p:cTn id="80" dur="1" fill="hold">
                                          <p:stCondLst>
                                            <p:cond delay="0"/>
                                          </p:stCondLst>
                                        </p:cTn>
                                        <p:tgtEl>
                                          <p:spTgt spid="41"/>
                                        </p:tgtEl>
                                        <p:attrNameLst>
                                          <p:attrName>style.visibility</p:attrName>
                                        </p:attrNameLst>
                                      </p:cBhvr>
                                      <p:to>
                                        <p:strVal val="visible"/>
                                      </p:to>
                                    </p:set>
                                    <p:animEffect transition="in" filter="barn(inVertical)">
                                      <p:cBhvr>
                                        <p:cTn id="81" dur="500"/>
                                        <p:tgtEl>
                                          <p:spTgt spid="41"/>
                                        </p:tgtEl>
                                      </p:cBhvr>
                                    </p:animEffect>
                                  </p:childTnLst>
                                </p:cTn>
                              </p:par>
                            </p:childTnLst>
                          </p:cTn>
                        </p:par>
                        <p:par>
                          <p:cTn id="82" fill="hold">
                            <p:stCondLst>
                              <p:cond delay="14500"/>
                            </p:stCondLst>
                            <p:childTnLst>
                              <p:par>
                                <p:cTn id="83" presetID="16" presetClass="entr" presetSubtype="21" fill="hold" grpId="0" nodeType="after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barn(inVertical)">
                                      <p:cBhvr>
                                        <p:cTn id="8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Graphic spid="62" grpId="0">
        <p:bldAsOne/>
      </p:bldGraphic>
      <p:bldP spid="68" grpId="0"/>
      <p:bldP spid="50" grpId="0"/>
      <p:bldGraphic spid="36" grpId="0">
        <p:bldAsOne/>
      </p:bldGraphic>
      <p:bldP spid="37" grpId="0"/>
      <p:bldP spid="38" grpId="0"/>
      <p:bldGraphic spid="43" grpId="0">
        <p:bldAsOne/>
      </p:bldGraphic>
      <p:bldP spid="44" grpId="0"/>
      <p:bldP spid="45" grpId="0"/>
      <p:bldGraphic spid="54" grpId="0">
        <p:bldAsOne/>
      </p:bldGraphic>
      <p:bldP spid="56" grpId="0"/>
      <p:bldP spid="59" grpId="0"/>
      <p:bldP spid="35" grpId="0"/>
      <p:bldP spid="4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flipH="1">
            <a:off x="-222885" y="212725"/>
            <a:ext cx="1030605" cy="618490"/>
          </a:xfrm>
          <a:prstGeom prst="triangle">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原创设计师QQ598969553      _3"/>
          <p:cNvSpPr>
            <a:spLocks noChangeArrowheads="1"/>
          </p:cNvSpPr>
          <p:nvPr/>
        </p:nvSpPr>
        <p:spPr bwMode="auto">
          <a:xfrm>
            <a:off x="773882" y="337623"/>
            <a:ext cx="2743200"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zh-CN" altLang="en-US" sz="2400" b="1">
                <a:sym typeface="+mn-ea"/>
              </a:rPr>
              <a:t>本次财务分析的局限</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 name="等腰三角形 4"/>
          <p:cNvSpPr/>
          <p:nvPr/>
        </p:nvSpPr>
        <p:spPr>
          <a:xfrm rot="5400000">
            <a:off x="109855" y="545465"/>
            <a:ext cx="603250" cy="381000"/>
          </a:xfrm>
          <a:prstGeom prst="triangl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p:cNvGrpSpPr/>
          <p:nvPr/>
        </p:nvGrpSpPr>
        <p:grpSpPr>
          <a:xfrm>
            <a:off x="1910080" y="1595755"/>
            <a:ext cx="7774305" cy="4552315"/>
            <a:chOff x="3260" y="2513"/>
            <a:chExt cx="7824" cy="4581"/>
          </a:xfrm>
        </p:grpSpPr>
        <p:sp>
          <p:nvSpPr>
            <p:cNvPr id="6" name="Freeform 5"/>
            <p:cNvSpPr/>
            <p:nvPr/>
          </p:nvSpPr>
          <p:spPr bwMode="auto">
            <a:xfrm>
              <a:off x="7227" y="2665"/>
              <a:ext cx="1454" cy="2672"/>
            </a:xfrm>
            <a:custGeom>
              <a:avLst/>
              <a:gdLst>
                <a:gd name="T0" fmla="*/ 1 w 902"/>
                <a:gd name="T1" fmla="*/ 497 h 1659"/>
                <a:gd name="T2" fmla="*/ 66 w 902"/>
                <a:gd name="T3" fmla="*/ 464 h 1659"/>
                <a:gd name="T4" fmla="*/ 246 w 902"/>
                <a:gd name="T5" fmla="*/ 439 h 1659"/>
                <a:gd name="T6" fmla="*/ 404 w 902"/>
                <a:gd name="T7" fmla="*/ 616 h 1659"/>
                <a:gd name="T8" fmla="*/ 307 w 902"/>
                <a:gd name="T9" fmla="*/ 833 h 1659"/>
                <a:gd name="T10" fmla="*/ 70 w 902"/>
                <a:gd name="T11" fmla="*/ 835 h 1659"/>
                <a:gd name="T12" fmla="*/ 1 w 902"/>
                <a:gd name="T13" fmla="*/ 798 h 1659"/>
                <a:gd name="T14" fmla="*/ 2 w 902"/>
                <a:gd name="T15" fmla="*/ 1228 h 1659"/>
                <a:gd name="T16" fmla="*/ 100 w 902"/>
                <a:gd name="T17" fmla="*/ 1319 h 1659"/>
                <a:gd name="T18" fmla="*/ 430 w 902"/>
                <a:gd name="T19" fmla="*/ 1319 h 1659"/>
                <a:gd name="T20" fmla="*/ 589 w 902"/>
                <a:gd name="T21" fmla="*/ 1319 h 1659"/>
                <a:gd name="T22" fmla="*/ 551 w 902"/>
                <a:gd name="T23" fmla="*/ 1470 h 1659"/>
                <a:gd name="T24" fmla="*/ 554 w 902"/>
                <a:gd name="T25" fmla="*/ 1634 h 1659"/>
                <a:gd name="T26" fmla="*/ 574 w 902"/>
                <a:gd name="T27" fmla="*/ 1659 h 1659"/>
                <a:gd name="T28" fmla="*/ 598 w 902"/>
                <a:gd name="T29" fmla="*/ 1446 h 1659"/>
                <a:gd name="T30" fmla="*/ 629 w 902"/>
                <a:gd name="T31" fmla="*/ 1347 h 1659"/>
                <a:gd name="T32" fmla="*/ 630 w 902"/>
                <a:gd name="T33" fmla="*/ 1347 h 1659"/>
                <a:gd name="T34" fmla="*/ 783 w 902"/>
                <a:gd name="T35" fmla="*/ 1090 h 1659"/>
                <a:gd name="T36" fmla="*/ 872 w 902"/>
                <a:gd name="T37" fmla="*/ 915 h 1659"/>
                <a:gd name="T38" fmla="*/ 894 w 902"/>
                <a:gd name="T39" fmla="*/ 660 h 1659"/>
                <a:gd name="T40" fmla="*/ 895 w 902"/>
                <a:gd name="T41" fmla="*/ 660 h 1659"/>
                <a:gd name="T42" fmla="*/ 829 w 902"/>
                <a:gd name="T43" fmla="*/ 374 h 1659"/>
                <a:gd name="T44" fmla="*/ 822 w 902"/>
                <a:gd name="T45" fmla="*/ 353 h 1659"/>
                <a:gd name="T46" fmla="*/ 809 w 902"/>
                <a:gd name="T47" fmla="*/ 363 h 1659"/>
                <a:gd name="T48" fmla="*/ 531 w 902"/>
                <a:gd name="T49" fmla="*/ 343 h 1659"/>
                <a:gd name="T50" fmla="*/ 498 w 902"/>
                <a:gd name="T51" fmla="*/ 63 h 1659"/>
                <a:gd name="T52" fmla="*/ 509 w 902"/>
                <a:gd name="T53" fmla="*/ 45 h 1659"/>
                <a:gd name="T54" fmla="*/ 470 w 902"/>
                <a:gd name="T55" fmla="*/ 32 h 1659"/>
                <a:gd name="T56" fmla="*/ 349 w 902"/>
                <a:gd name="T57" fmla="*/ 0 h 1659"/>
                <a:gd name="T58" fmla="*/ 100 w 902"/>
                <a:gd name="T59" fmla="*/ 1 h 1659"/>
                <a:gd name="T60" fmla="*/ 1 w 902"/>
                <a:gd name="T61" fmla="*/ 103 h 1659"/>
                <a:gd name="T62" fmla="*/ 1 w 902"/>
                <a:gd name="T63" fmla="*/ 364 h 1659"/>
                <a:gd name="T64" fmla="*/ 1 w 902"/>
                <a:gd name="T65" fmla="*/ 497 h 1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02" h="1659">
                  <a:moveTo>
                    <a:pt x="1" y="497"/>
                  </a:moveTo>
                  <a:cubicBezTo>
                    <a:pt x="28" y="483"/>
                    <a:pt x="47" y="474"/>
                    <a:pt x="66" y="464"/>
                  </a:cubicBezTo>
                  <a:cubicBezTo>
                    <a:pt x="123" y="433"/>
                    <a:pt x="183" y="421"/>
                    <a:pt x="246" y="439"/>
                  </a:cubicBezTo>
                  <a:cubicBezTo>
                    <a:pt x="335" y="464"/>
                    <a:pt x="390" y="525"/>
                    <a:pt x="404" y="616"/>
                  </a:cubicBezTo>
                  <a:cubicBezTo>
                    <a:pt x="418" y="706"/>
                    <a:pt x="386" y="782"/>
                    <a:pt x="307" y="833"/>
                  </a:cubicBezTo>
                  <a:cubicBezTo>
                    <a:pt x="230" y="883"/>
                    <a:pt x="149" y="882"/>
                    <a:pt x="70" y="835"/>
                  </a:cubicBezTo>
                  <a:cubicBezTo>
                    <a:pt x="49" y="823"/>
                    <a:pt x="28" y="812"/>
                    <a:pt x="1" y="798"/>
                  </a:cubicBezTo>
                  <a:cubicBezTo>
                    <a:pt x="1" y="947"/>
                    <a:pt x="0" y="1088"/>
                    <a:pt x="2" y="1228"/>
                  </a:cubicBezTo>
                  <a:cubicBezTo>
                    <a:pt x="3" y="1282"/>
                    <a:pt x="44" y="1319"/>
                    <a:pt x="100" y="1319"/>
                  </a:cubicBezTo>
                  <a:cubicBezTo>
                    <a:pt x="210" y="1319"/>
                    <a:pt x="320" y="1319"/>
                    <a:pt x="430" y="1319"/>
                  </a:cubicBezTo>
                  <a:cubicBezTo>
                    <a:pt x="482" y="1319"/>
                    <a:pt x="534" y="1319"/>
                    <a:pt x="589" y="1319"/>
                  </a:cubicBezTo>
                  <a:cubicBezTo>
                    <a:pt x="597" y="1378"/>
                    <a:pt x="577" y="1424"/>
                    <a:pt x="551" y="1470"/>
                  </a:cubicBezTo>
                  <a:cubicBezTo>
                    <a:pt x="519" y="1525"/>
                    <a:pt x="519" y="1581"/>
                    <a:pt x="554" y="1634"/>
                  </a:cubicBezTo>
                  <a:cubicBezTo>
                    <a:pt x="560" y="1643"/>
                    <a:pt x="567" y="1652"/>
                    <a:pt x="574" y="1659"/>
                  </a:cubicBezTo>
                  <a:cubicBezTo>
                    <a:pt x="575" y="1589"/>
                    <a:pt x="583" y="1518"/>
                    <a:pt x="598" y="1446"/>
                  </a:cubicBezTo>
                  <a:cubicBezTo>
                    <a:pt x="605" y="1412"/>
                    <a:pt x="617" y="1378"/>
                    <a:pt x="629" y="1347"/>
                  </a:cubicBezTo>
                  <a:cubicBezTo>
                    <a:pt x="630" y="1347"/>
                    <a:pt x="630" y="1347"/>
                    <a:pt x="630" y="1347"/>
                  </a:cubicBezTo>
                  <a:cubicBezTo>
                    <a:pt x="666" y="1254"/>
                    <a:pt x="724" y="1172"/>
                    <a:pt x="783" y="1090"/>
                  </a:cubicBezTo>
                  <a:cubicBezTo>
                    <a:pt x="821" y="1039"/>
                    <a:pt x="855" y="978"/>
                    <a:pt x="872" y="915"/>
                  </a:cubicBezTo>
                  <a:cubicBezTo>
                    <a:pt x="897" y="830"/>
                    <a:pt x="902" y="745"/>
                    <a:pt x="894" y="660"/>
                  </a:cubicBezTo>
                  <a:cubicBezTo>
                    <a:pt x="895" y="660"/>
                    <a:pt x="895" y="660"/>
                    <a:pt x="895" y="660"/>
                  </a:cubicBezTo>
                  <a:cubicBezTo>
                    <a:pt x="887" y="563"/>
                    <a:pt x="863" y="469"/>
                    <a:pt x="829" y="374"/>
                  </a:cubicBezTo>
                  <a:cubicBezTo>
                    <a:pt x="827" y="367"/>
                    <a:pt x="824" y="360"/>
                    <a:pt x="822" y="353"/>
                  </a:cubicBezTo>
                  <a:cubicBezTo>
                    <a:pt x="817" y="357"/>
                    <a:pt x="813" y="360"/>
                    <a:pt x="809" y="363"/>
                  </a:cubicBezTo>
                  <a:cubicBezTo>
                    <a:pt x="723" y="423"/>
                    <a:pt x="608" y="415"/>
                    <a:pt x="531" y="343"/>
                  </a:cubicBezTo>
                  <a:cubicBezTo>
                    <a:pt x="454" y="271"/>
                    <a:pt x="441" y="156"/>
                    <a:pt x="498" y="63"/>
                  </a:cubicBezTo>
                  <a:cubicBezTo>
                    <a:pt x="502" y="58"/>
                    <a:pt x="505" y="51"/>
                    <a:pt x="509" y="45"/>
                  </a:cubicBezTo>
                  <a:cubicBezTo>
                    <a:pt x="496" y="41"/>
                    <a:pt x="483" y="36"/>
                    <a:pt x="470" y="32"/>
                  </a:cubicBezTo>
                  <a:cubicBezTo>
                    <a:pt x="430" y="21"/>
                    <a:pt x="389" y="10"/>
                    <a:pt x="349" y="0"/>
                  </a:cubicBezTo>
                  <a:cubicBezTo>
                    <a:pt x="266" y="0"/>
                    <a:pt x="183" y="0"/>
                    <a:pt x="100" y="1"/>
                  </a:cubicBezTo>
                  <a:cubicBezTo>
                    <a:pt x="38" y="1"/>
                    <a:pt x="2" y="41"/>
                    <a:pt x="1" y="103"/>
                  </a:cubicBezTo>
                  <a:cubicBezTo>
                    <a:pt x="1" y="190"/>
                    <a:pt x="1" y="277"/>
                    <a:pt x="1" y="364"/>
                  </a:cubicBezTo>
                  <a:cubicBezTo>
                    <a:pt x="1" y="406"/>
                    <a:pt x="1" y="448"/>
                    <a:pt x="1" y="497"/>
                  </a:cubicBezTo>
                  <a:close/>
                </a:path>
              </a:pathLst>
            </a:custGeom>
            <a:solidFill>
              <a:srgbClr val="CE3418"/>
            </a:solidFill>
            <a:ln>
              <a:noFill/>
            </a:ln>
          </p:spPr>
          <p:txBody>
            <a:bodyPr vert="horz" wrap="square" lIns="59553" tIns="29777" rIns="59553" bIns="29777" numCol="1" anchor="t" anchorCtr="0" compatLnSpc="1"/>
            <a:lstStyle/>
            <a:p>
              <a:pPr>
                <a:lnSpc>
                  <a:spcPct val="120000"/>
                </a:lnSpc>
              </a:pPr>
              <a:endParaRPr lang="en-IN" sz="1100" dirty="0">
                <a:latin typeface="Arial" panose="020B0604020202020204" pitchFamily="34" charset="0"/>
                <a:ea typeface="微软雅黑" panose="020B0503020204020204" pitchFamily="34" charset="-122"/>
                <a:sym typeface="Arial" panose="020B0604020202020204" pitchFamily="34" charset="0"/>
              </a:endParaRPr>
            </a:p>
          </p:txBody>
        </p:sp>
        <p:sp>
          <p:nvSpPr>
            <p:cNvPr id="7" name="Freeform 6"/>
            <p:cNvSpPr/>
            <p:nvPr/>
          </p:nvSpPr>
          <p:spPr bwMode="auto">
            <a:xfrm>
              <a:off x="5823" y="4255"/>
              <a:ext cx="1345" cy="1475"/>
            </a:xfrm>
            <a:custGeom>
              <a:avLst/>
              <a:gdLst>
                <a:gd name="T0" fmla="*/ 494 w 834"/>
                <a:gd name="T1" fmla="*/ 856 h 916"/>
                <a:gd name="T2" fmla="*/ 509 w 834"/>
                <a:gd name="T3" fmla="*/ 892 h 916"/>
                <a:gd name="T4" fmla="*/ 747 w 834"/>
                <a:gd name="T5" fmla="*/ 870 h 916"/>
                <a:gd name="T6" fmla="*/ 830 w 834"/>
                <a:gd name="T7" fmla="*/ 916 h 916"/>
                <a:gd name="T8" fmla="*/ 831 w 834"/>
                <a:gd name="T9" fmla="*/ 516 h 916"/>
                <a:gd name="T10" fmla="*/ 705 w 834"/>
                <a:gd name="T11" fmla="*/ 392 h 916"/>
                <a:gd name="T12" fmla="*/ 291 w 834"/>
                <a:gd name="T13" fmla="*/ 393 h 916"/>
                <a:gd name="T14" fmla="*/ 245 w 834"/>
                <a:gd name="T15" fmla="*/ 393 h 916"/>
                <a:gd name="T16" fmla="*/ 281 w 834"/>
                <a:gd name="T17" fmla="*/ 246 h 916"/>
                <a:gd name="T18" fmla="*/ 274 w 834"/>
                <a:gd name="T19" fmla="*/ 72 h 916"/>
                <a:gd name="T20" fmla="*/ 120 w 834"/>
                <a:gd name="T21" fmla="*/ 13 h 916"/>
                <a:gd name="T22" fmla="*/ 1 w 834"/>
                <a:gd name="T23" fmla="*/ 139 h 916"/>
                <a:gd name="T24" fmla="*/ 5 w 834"/>
                <a:gd name="T25" fmla="*/ 183 h 916"/>
                <a:gd name="T26" fmla="*/ 6 w 834"/>
                <a:gd name="T27" fmla="*/ 184 h 916"/>
                <a:gd name="T28" fmla="*/ 42 w 834"/>
                <a:gd name="T29" fmla="*/ 266 h 916"/>
                <a:gd name="T30" fmla="*/ 35 w 834"/>
                <a:gd name="T31" fmla="*/ 280 h 916"/>
                <a:gd name="T32" fmla="*/ 78 w 834"/>
                <a:gd name="T33" fmla="*/ 393 h 916"/>
                <a:gd name="T34" fmla="*/ 56 w 834"/>
                <a:gd name="T35" fmla="*/ 393 h 916"/>
                <a:gd name="T36" fmla="*/ 40 w 834"/>
                <a:gd name="T37" fmla="*/ 460 h 916"/>
                <a:gd name="T38" fmla="*/ 43 w 834"/>
                <a:gd name="T39" fmla="*/ 596 h 916"/>
                <a:gd name="T40" fmla="*/ 123 w 834"/>
                <a:gd name="T41" fmla="*/ 749 h 916"/>
                <a:gd name="T42" fmla="*/ 365 w 834"/>
                <a:gd name="T43" fmla="*/ 781 h 916"/>
                <a:gd name="T44" fmla="*/ 494 w 834"/>
                <a:gd name="T45" fmla="*/ 85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34" h="916">
                  <a:moveTo>
                    <a:pt x="494" y="856"/>
                  </a:moveTo>
                  <a:cubicBezTo>
                    <a:pt x="499" y="867"/>
                    <a:pt x="504" y="879"/>
                    <a:pt x="509" y="892"/>
                  </a:cubicBezTo>
                  <a:cubicBezTo>
                    <a:pt x="577" y="839"/>
                    <a:pt x="671" y="830"/>
                    <a:pt x="747" y="870"/>
                  </a:cubicBezTo>
                  <a:cubicBezTo>
                    <a:pt x="773" y="884"/>
                    <a:pt x="799" y="899"/>
                    <a:pt x="830" y="916"/>
                  </a:cubicBezTo>
                  <a:cubicBezTo>
                    <a:pt x="830" y="777"/>
                    <a:pt x="827" y="646"/>
                    <a:pt x="831" y="516"/>
                  </a:cubicBezTo>
                  <a:cubicBezTo>
                    <a:pt x="834" y="422"/>
                    <a:pt x="778" y="391"/>
                    <a:pt x="705" y="392"/>
                  </a:cubicBezTo>
                  <a:cubicBezTo>
                    <a:pt x="567" y="395"/>
                    <a:pt x="429" y="393"/>
                    <a:pt x="291" y="393"/>
                  </a:cubicBezTo>
                  <a:cubicBezTo>
                    <a:pt x="275" y="393"/>
                    <a:pt x="260" y="393"/>
                    <a:pt x="245" y="393"/>
                  </a:cubicBezTo>
                  <a:cubicBezTo>
                    <a:pt x="239" y="335"/>
                    <a:pt x="247" y="303"/>
                    <a:pt x="281" y="246"/>
                  </a:cubicBezTo>
                  <a:cubicBezTo>
                    <a:pt x="315" y="188"/>
                    <a:pt x="313" y="122"/>
                    <a:pt x="274" y="72"/>
                  </a:cubicBezTo>
                  <a:cubicBezTo>
                    <a:pt x="235" y="21"/>
                    <a:pt x="182" y="0"/>
                    <a:pt x="120" y="13"/>
                  </a:cubicBezTo>
                  <a:cubicBezTo>
                    <a:pt x="54" y="28"/>
                    <a:pt x="6" y="71"/>
                    <a:pt x="1" y="139"/>
                  </a:cubicBezTo>
                  <a:cubicBezTo>
                    <a:pt x="0" y="154"/>
                    <a:pt x="2" y="168"/>
                    <a:pt x="5" y="183"/>
                  </a:cubicBezTo>
                  <a:cubicBezTo>
                    <a:pt x="6" y="183"/>
                    <a:pt x="6" y="183"/>
                    <a:pt x="6" y="184"/>
                  </a:cubicBezTo>
                  <a:cubicBezTo>
                    <a:pt x="57" y="198"/>
                    <a:pt x="67" y="222"/>
                    <a:pt x="42" y="266"/>
                  </a:cubicBezTo>
                  <a:cubicBezTo>
                    <a:pt x="40" y="271"/>
                    <a:pt x="37" y="276"/>
                    <a:pt x="35" y="280"/>
                  </a:cubicBezTo>
                  <a:cubicBezTo>
                    <a:pt x="46" y="315"/>
                    <a:pt x="62" y="351"/>
                    <a:pt x="78" y="393"/>
                  </a:cubicBezTo>
                  <a:cubicBezTo>
                    <a:pt x="69" y="393"/>
                    <a:pt x="62" y="393"/>
                    <a:pt x="56" y="393"/>
                  </a:cubicBezTo>
                  <a:cubicBezTo>
                    <a:pt x="47" y="420"/>
                    <a:pt x="32" y="450"/>
                    <a:pt x="40" y="460"/>
                  </a:cubicBezTo>
                  <a:cubicBezTo>
                    <a:pt x="79" y="506"/>
                    <a:pt x="62" y="548"/>
                    <a:pt x="43" y="596"/>
                  </a:cubicBezTo>
                  <a:cubicBezTo>
                    <a:pt x="13" y="681"/>
                    <a:pt x="33" y="727"/>
                    <a:pt x="123" y="749"/>
                  </a:cubicBezTo>
                  <a:cubicBezTo>
                    <a:pt x="200" y="768"/>
                    <a:pt x="283" y="776"/>
                    <a:pt x="365" y="781"/>
                  </a:cubicBezTo>
                  <a:cubicBezTo>
                    <a:pt x="424" y="783"/>
                    <a:pt x="467" y="805"/>
                    <a:pt x="494" y="856"/>
                  </a:cubicBezTo>
                  <a:close/>
                </a:path>
              </a:pathLst>
            </a:custGeom>
            <a:solidFill>
              <a:schemeClr val="accent3"/>
            </a:solidFill>
            <a:ln>
              <a:noFill/>
            </a:ln>
          </p:spPr>
          <p:txBody>
            <a:bodyPr vert="horz" wrap="square" lIns="59553" tIns="29777" rIns="59553" bIns="29777" numCol="1" anchor="t" anchorCtr="0" compatLnSpc="1"/>
            <a:lstStyle/>
            <a:p>
              <a:pPr>
                <a:lnSpc>
                  <a:spcPct val="120000"/>
                </a:lnSpc>
              </a:pPr>
              <a:endParaRPr lang="en-IN" sz="1100" dirty="0">
                <a:latin typeface="Arial" panose="020B0604020202020204" pitchFamily="34" charset="0"/>
                <a:ea typeface="微软雅黑" panose="020B0503020204020204" pitchFamily="34" charset="-122"/>
                <a:sym typeface="Arial" panose="020B0604020202020204" pitchFamily="34" charset="0"/>
              </a:endParaRPr>
            </a:p>
          </p:txBody>
        </p:sp>
        <p:sp>
          <p:nvSpPr>
            <p:cNvPr id="8" name="Freeform 7"/>
            <p:cNvSpPr/>
            <p:nvPr/>
          </p:nvSpPr>
          <p:spPr bwMode="auto">
            <a:xfrm>
              <a:off x="6344" y="6217"/>
              <a:ext cx="819" cy="800"/>
            </a:xfrm>
            <a:custGeom>
              <a:avLst/>
              <a:gdLst>
                <a:gd name="T0" fmla="*/ 417 w 508"/>
                <a:gd name="T1" fmla="*/ 496 h 497"/>
                <a:gd name="T2" fmla="*/ 507 w 508"/>
                <a:gd name="T3" fmla="*/ 402 h 497"/>
                <a:gd name="T4" fmla="*/ 507 w 508"/>
                <a:gd name="T5" fmla="*/ 232 h 497"/>
                <a:gd name="T6" fmla="*/ 507 w 508"/>
                <a:gd name="T7" fmla="*/ 0 h 497"/>
                <a:gd name="T8" fmla="*/ 440 w 508"/>
                <a:gd name="T9" fmla="*/ 33 h 497"/>
                <a:gd name="T10" fmla="*/ 334 w 508"/>
                <a:gd name="T11" fmla="*/ 65 h 497"/>
                <a:gd name="T12" fmla="*/ 202 w 508"/>
                <a:gd name="T13" fmla="*/ 30 h 497"/>
                <a:gd name="T14" fmla="*/ 200 w 508"/>
                <a:gd name="T15" fmla="*/ 62 h 497"/>
                <a:gd name="T16" fmla="*/ 40 w 508"/>
                <a:gd name="T17" fmla="*/ 451 h 497"/>
                <a:gd name="T18" fmla="*/ 0 w 508"/>
                <a:gd name="T19" fmla="*/ 496 h 497"/>
                <a:gd name="T20" fmla="*/ 417 w 508"/>
                <a:gd name="T21" fmla="*/ 496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8" h="497">
                  <a:moveTo>
                    <a:pt x="417" y="496"/>
                  </a:moveTo>
                  <a:cubicBezTo>
                    <a:pt x="469" y="495"/>
                    <a:pt x="506" y="456"/>
                    <a:pt x="507" y="402"/>
                  </a:cubicBezTo>
                  <a:cubicBezTo>
                    <a:pt x="508" y="345"/>
                    <a:pt x="507" y="289"/>
                    <a:pt x="507" y="232"/>
                  </a:cubicBezTo>
                  <a:cubicBezTo>
                    <a:pt x="507" y="157"/>
                    <a:pt x="507" y="82"/>
                    <a:pt x="507" y="0"/>
                  </a:cubicBezTo>
                  <a:cubicBezTo>
                    <a:pt x="481" y="13"/>
                    <a:pt x="461" y="25"/>
                    <a:pt x="440" y="33"/>
                  </a:cubicBezTo>
                  <a:cubicBezTo>
                    <a:pt x="405" y="45"/>
                    <a:pt x="370" y="61"/>
                    <a:pt x="334" y="65"/>
                  </a:cubicBezTo>
                  <a:cubicBezTo>
                    <a:pt x="287" y="69"/>
                    <a:pt x="240" y="56"/>
                    <a:pt x="202" y="30"/>
                  </a:cubicBezTo>
                  <a:cubicBezTo>
                    <a:pt x="201" y="41"/>
                    <a:pt x="201" y="52"/>
                    <a:pt x="200" y="62"/>
                  </a:cubicBezTo>
                  <a:cubicBezTo>
                    <a:pt x="191" y="210"/>
                    <a:pt x="152" y="344"/>
                    <a:pt x="40" y="451"/>
                  </a:cubicBezTo>
                  <a:cubicBezTo>
                    <a:pt x="26" y="464"/>
                    <a:pt x="13" y="479"/>
                    <a:pt x="0" y="496"/>
                  </a:cubicBezTo>
                  <a:cubicBezTo>
                    <a:pt x="145" y="496"/>
                    <a:pt x="281" y="497"/>
                    <a:pt x="417" y="496"/>
                  </a:cubicBezTo>
                  <a:close/>
                </a:path>
              </a:pathLst>
            </a:custGeom>
            <a:solidFill>
              <a:schemeClr val="accent3"/>
            </a:solidFill>
            <a:ln>
              <a:noFill/>
            </a:ln>
          </p:spPr>
          <p:txBody>
            <a:bodyPr vert="horz" wrap="square" lIns="59553" tIns="29777" rIns="59553" bIns="29777" numCol="1" anchor="t" anchorCtr="0" compatLnSpc="1"/>
            <a:lstStyle/>
            <a:p>
              <a:pPr>
                <a:lnSpc>
                  <a:spcPct val="120000"/>
                </a:lnSpc>
              </a:pPr>
              <a:endParaRPr lang="en-IN" sz="1100" dirty="0">
                <a:latin typeface="Arial" panose="020B0604020202020204" pitchFamily="34" charset="0"/>
                <a:ea typeface="微软雅黑" panose="020B0503020204020204" pitchFamily="34" charset="-122"/>
                <a:sym typeface="Arial" panose="020B0604020202020204" pitchFamily="34" charset="0"/>
              </a:endParaRPr>
            </a:p>
          </p:txBody>
        </p:sp>
        <p:sp>
          <p:nvSpPr>
            <p:cNvPr id="9" name="Freeform 9"/>
            <p:cNvSpPr/>
            <p:nvPr/>
          </p:nvSpPr>
          <p:spPr bwMode="auto">
            <a:xfrm>
              <a:off x="5709" y="2687"/>
              <a:ext cx="2091" cy="2130"/>
            </a:xfrm>
            <a:custGeom>
              <a:avLst/>
              <a:gdLst>
                <a:gd name="T0" fmla="*/ 412 w 1297"/>
                <a:gd name="T1" fmla="*/ 1024 h 1322"/>
                <a:gd name="T2" fmla="*/ 417 w 1297"/>
                <a:gd name="T3" fmla="*/ 1259 h 1322"/>
                <a:gd name="T4" fmla="*/ 381 w 1297"/>
                <a:gd name="T5" fmla="*/ 1322 h 1322"/>
                <a:gd name="T6" fmla="*/ 780 w 1297"/>
                <a:gd name="T7" fmla="*/ 1322 h 1322"/>
                <a:gd name="T8" fmla="*/ 900 w 1297"/>
                <a:gd name="T9" fmla="*/ 1202 h 1322"/>
                <a:gd name="T10" fmla="*/ 900 w 1297"/>
                <a:gd name="T11" fmla="*/ 764 h 1322"/>
                <a:gd name="T12" fmla="*/ 936 w 1297"/>
                <a:gd name="T13" fmla="*/ 732 h 1322"/>
                <a:gd name="T14" fmla="*/ 1050 w 1297"/>
                <a:gd name="T15" fmla="*/ 774 h 1322"/>
                <a:gd name="T16" fmla="*/ 1240 w 1297"/>
                <a:gd name="T17" fmla="*/ 748 h 1322"/>
                <a:gd name="T18" fmla="*/ 1256 w 1297"/>
                <a:gd name="T19" fmla="*/ 554 h 1322"/>
                <a:gd name="T20" fmla="*/ 1047 w 1297"/>
                <a:gd name="T21" fmla="*/ 509 h 1322"/>
                <a:gd name="T22" fmla="*/ 900 w 1297"/>
                <a:gd name="T23" fmla="*/ 569 h 1322"/>
                <a:gd name="T24" fmla="*/ 900 w 1297"/>
                <a:gd name="T25" fmla="*/ 516 h 1322"/>
                <a:gd name="T26" fmla="*/ 900 w 1297"/>
                <a:gd name="T27" fmla="*/ 123 h 1322"/>
                <a:gd name="T28" fmla="*/ 777 w 1297"/>
                <a:gd name="T29" fmla="*/ 1 h 1322"/>
                <a:gd name="T30" fmla="*/ 639 w 1297"/>
                <a:gd name="T31" fmla="*/ 0 h 1322"/>
                <a:gd name="T32" fmla="*/ 451 w 1297"/>
                <a:gd name="T33" fmla="*/ 114 h 1322"/>
                <a:gd name="T34" fmla="*/ 126 w 1297"/>
                <a:gd name="T35" fmla="*/ 647 h 1322"/>
                <a:gd name="T36" fmla="*/ 125 w 1297"/>
                <a:gd name="T37" fmla="*/ 647 h 1322"/>
                <a:gd name="T38" fmla="*/ 145 w 1297"/>
                <a:gd name="T39" fmla="*/ 749 h 1322"/>
                <a:gd name="T40" fmla="*/ 150 w 1297"/>
                <a:gd name="T41" fmla="*/ 836 h 1322"/>
                <a:gd name="T42" fmla="*/ 31 w 1297"/>
                <a:gd name="T43" fmla="*/ 1021 h 1322"/>
                <a:gd name="T44" fmla="*/ 12 w 1297"/>
                <a:gd name="T45" fmla="*/ 1113 h 1322"/>
                <a:gd name="T46" fmla="*/ 20 w 1297"/>
                <a:gd name="T47" fmla="*/ 1079 h 1322"/>
                <a:gd name="T48" fmla="*/ 203 w 1297"/>
                <a:gd name="T49" fmla="*/ 927 h 1322"/>
                <a:gd name="T50" fmla="*/ 412 w 1297"/>
                <a:gd name="T51" fmla="*/ 1024 h 1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97" h="1322">
                  <a:moveTo>
                    <a:pt x="412" y="1024"/>
                  </a:moveTo>
                  <a:cubicBezTo>
                    <a:pt x="461" y="1100"/>
                    <a:pt x="462" y="1180"/>
                    <a:pt x="417" y="1259"/>
                  </a:cubicBezTo>
                  <a:cubicBezTo>
                    <a:pt x="406" y="1278"/>
                    <a:pt x="395" y="1297"/>
                    <a:pt x="381" y="1322"/>
                  </a:cubicBezTo>
                  <a:cubicBezTo>
                    <a:pt x="521" y="1322"/>
                    <a:pt x="651" y="1322"/>
                    <a:pt x="780" y="1322"/>
                  </a:cubicBezTo>
                  <a:cubicBezTo>
                    <a:pt x="867" y="1322"/>
                    <a:pt x="900" y="1288"/>
                    <a:pt x="900" y="1202"/>
                  </a:cubicBezTo>
                  <a:cubicBezTo>
                    <a:pt x="900" y="1056"/>
                    <a:pt x="901" y="910"/>
                    <a:pt x="900" y="764"/>
                  </a:cubicBezTo>
                  <a:cubicBezTo>
                    <a:pt x="900" y="736"/>
                    <a:pt x="909" y="723"/>
                    <a:pt x="936" y="732"/>
                  </a:cubicBezTo>
                  <a:cubicBezTo>
                    <a:pt x="974" y="744"/>
                    <a:pt x="1014" y="755"/>
                    <a:pt x="1050" y="774"/>
                  </a:cubicBezTo>
                  <a:cubicBezTo>
                    <a:pt x="1113" y="807"/>
                    <a:pt x="1192" y="798"/>
                    <a:pt x="1240" y="748"/>
                  </a:cubicBezTo>
                  <a:cubicBezTo>
                    <a:pt x="1290" y="696"/>
                    <a:pt x="1297" y="614"/>
                    <a:pt x="1256" y="554"/>
                  </a:cubicBezTo>
                  <a:cubicBezTo>
                    <a:pt x="1209" y="485"/>
                    <a:pt x="1130" y="470"/>
                    <a:pt x="1047" y="509"/>
                  </a:cubicBezTo>
                  <a:cubicBezTo>
                    <a:pt x="1002" y="531"/>
                    <a:pt x="955" y="547"/>
                    <a:pt x="900" y="569"/>
                  </a:cubicBezTo>
                  <a:cubicBezTo>
                    <a:pt x="900" y="543"/>
                    <a:pt x="900" y="529"/>
                    <a:pt x="900" y="516"/>
                  </a:cubicBezTo>
                  <a:cubicBezTo>
                    <a:pt x="900" y="385"/>
                    <a:pt x="900" y="254"/>
                    <a:pt x="900" y="123"/>
                  </a:cubicBezTo>
                  <a:cubicBezTo>
                    <a:pt x="900" y="35"/>
                    <a:pt x="866" y="1"/>
                    <a:pt x="777" y="1"/>
                  </a:cubicBezTo>
                  <a:cubicBezTo>
                    <a:pt x="731" y="0"/>
                    <a:pt x="685" y="0"/>
                    <a:pt x="639" y="0"/>
                  </a:cubicBezTo>
                  <a:cubicBezTo>
                    <a:pt x="571" y="27"/>
                    <a:pt x="508" y="64"/>
                    <a:pt x="451" y="114"/>
                  </a:cubicBezTo>
                  <a:cubicBezTo>
                    <a:pt x="286" y="257"/>
                    <a:pt x="186" y="444"/>
                    <a:pt x="126" y="647"/>
                  </a:cubicBezTo>
                  <a:cubicBezTo>
                    <a:pt x="125" y="647"/>
                    <a:pt x="125" y="647"/>
                    <a:pt x="125" y="647"/>
                  </a:cubicBezTo>
                  <a:cubicBezTo>
                    <a:pt x="116" y="676"/>
                    <a:pt x="128" y="720"/>
                    <a:pt x="145" y="749"/>
                  </a:cubicBezTo>
                  <a:cubicBezTo>
                    <a:pt x="164" y="781"/>
                    <a:pt x="169" y="807"/>
                    <a:pt x="150" y="836"/>
                  </a:cubicBezTo>
                  <a:cubicBezTo>
                    <a:pt x="113" y="899"/>
                    <a:pt x="72" y="960"/>
                    <a:pt x="31" y="1021"/>
                  </a:cubicBezTo>
                  <a:cubicBezTo>
                    <a:pt x="7" y="1060"/>
                    <a:pt x="0" y="1090"/>
                    <a:pt x="12" y="1113"/>
                  </a:cubicBezTo>
                  <a:cubicBezTo>
                    <a:pt x="14" y="1102"/>
                    <a:pt x="17" y="1091"/>
                    <a:pt x="20" y="1079"/>
                  </a:cubicBezTo>
                  <a:cubicBezTo>
                    <a:pt x="50" y="991"/>
                    <a:pt x="113" y="939"/>
                    <a:pt x="203" y="927"/>
                  </a:cubicBezTo>
                  <a:cubicBezTo>
                    <a:pt x="291" y="916"/>
                    <a:pt x="364" y="950"/>
                    <a:pt x="412" y="1024"/>
                  </a:cubicBezTo>
                  <a:close/>
                </a:path>
              </a:pathLst>
            </a:custGeom>
            <a:solidFill>
              <a:schemeClr val="accent1"/>
            </a:solidFill>
            <a:ln>
              <a:noFill/>
            </a:ln>
          </p:spPr>
          <p:txBody>
            <a:bodyPr vert="horz" wrap="square" lIns="59553" tIns="29777" rIns="59553" bIns="29777" numCol="1" anchor="t" anchorCtr="0" compatLnSpc="1"/>
            <a:lstStyle/>
            <a:p>
              <a:pPr>
                <a:lnSpc>
                  <a:spcPct val="120000"/>
                </a:lnSpc>
              </a:pPr>
              <a:endParaRPr lang="en-IN" sz="1100" dirty="0">
                <a:latin typeface="Arial" panose="020B0604020202020204" pitchFamily="34" charset="0"/>
                <a:ea typeface="微软雅黑" panose="020B0503020204020204" pitchFamily="34" charset="-122"/>
                <a:sym typeface="Arial" panose="020B0604020202020204" pitchFamily="34" charset="0"/>
              </a:endParaRPr>
            </a:p>
          </p:txBody>
        </p:sp>
        <p:grpSp>
          <p:nvGrpSpPr>
            <p:cNvPr id="2" name="Group 9"/>
            <p:cNvGrpSpPr/>
            <p:nvPr/>
          </p:nvGrpSpPr>
          <p:grpSpPr>
            <a:xfrm>
              <a:off x="7981" y="5368"/>
              <a:ext cx="2437" cy="596"/>
              <a:chOff x="5095082" y="3828931"/>
              <a:chExt cx="2376489" cy="581144"/>
            </a:xfrm>
            <a:solidFill>
              <a:schemeClr val="accent4"/>
            </a:solidFill>
          </p:grpSpPr>
          <p:cxnSp>
            <p:nvCxnSpPr>
              <p:cNvPr id="11" name="Straight Connector 10"/>
              <p:cNvCxnSpPr/>
              <p:nvPr/>
            </p:nvCxnSpPr>
            <p:spPr bwMode="auto">
              <a:xfrm>
                <a:off x="5095082" y="3828931"/>
                <a:ext cx="403756" cy="376604"/>
              </a:xfrm>
              <a:prstGeom prst="line">
                <a:avLst/>
              </a:prstGeom>
              <a:grpFill/>
              <a:ln w="12700" cap="flat" cmpd="sng" algn="ctr">
                <a:solidFill>
                  <a:srgbClr val="5B9BD5"/>
                </a:solidFill>
                <a:prstDash val="sysDash"/>
                <a:round/>
                <a:headEnd type="none" w="med" len="med"/>
                <a:tailEnd type="none" w="med" len="med"/>
              </a:ln>
              <a:effectLst/>
            </p:spPr>
          </p:cxnSp>
          <p:cxnSp>
            <p:nvCxnSpPr>
              <p:cNvPr id="3" name="Straight Connector 11"/>
              <p:cNvCxnSpPr/>
              <p:nvPr/>
            </p:nvCxnSpPr>
            <p:spPr bwMode="auto">
              <a:xfrm flipV="1">
                <a:off x="5686647" y="4315130"/>
                <a:ext cx="1599407" cy="0"/>
              </a:xfrm>
              <a:prstGeom prst="line">
                <a:avLst/>
              </a:prstGeom>
              <a:grpFill/>
              <a:ln w="12700" cap="flat" cmpd="sng" algn="ctr">
                <a:solidFill>
                  <a:srgbClr val="5B9BD5"/>
                </a:solidFill>
                <a:prstDash val="sysDash"/>
                <a:round/>
                <a:headEnd type="none" w="med" len="med"/>
                <a:tailEnd type="none" w="med" len="med"/>
              </a:ln>
              <a:effectLst/>
            </p:spPr>
          </p:cxnSp>
          <p:sp>
            <p:nvSpPr>
              <p:cNvPr id="18" name="Freeform 22"/>
              <p:cNvSpPr>
                <a:spLocks noEditPoints="1"/>
              </p:cNvSpPr>
              <p:nvPr/>
            </p:nvSpPr>
            <p:spPr bwMode="auto">
              <a:xfrm flipH="1" flipV="1">
                <a:off x="5491740" y="4199703"/>
                <a:ext cx="194907" cy="1949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4 h 72"/>
                  <a:gd name="T12" fmla="*/ 4 w 72"/>
                  <a:gd name="T13" fmla="*/ 36 h 72"/>
                  <a:gd name="T14" fmla="*/ 36 w 72"/>
                  <a:gd name="T15" fmla="*/ 68 h 72"/>
                  <a:gd name="T16" fmla="*/ 68 w 72"/>
                  <a:gd name="T17" fmla="*/ 36 h 72"/>
                  <a:gd name="T18" fmla="*/ 36 w 72"/>
                  <a:gd name="T19"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4"/>
                    </a:moveTo>
                    <a:cubicBezTo>
                      <a:pt x="18" y="4"/>
                      <a:pt x="4" y="19"/>
                      <a:pt x="4" y="36"/>
                    </a:cubicBezTo>
                    <a:cubicBezTo>
                      <a:pt x="4" y="54"/>
                      <a:pt x="18" y="68"/>
                      <a:pt x="36" y="68"/>
                    </a:cubicBezTo>
                    <a:cubicBezTo>
                      <a:pt x="54" y="68"/>
                      <a:pt x="68" y="54"/>
                      <a:pt x="68" y="36"/>
                    </a:cubicBezTo>
                    <a:cubicBezTo>
                      <a:pt x="68" y="19"/>
                      <a:pt x="54" y="4"/>
                      <a:pt x="36" y="4"/>
                    </a:cubicBezTo>
                    <a:close/>
                  </a:path>
                </a:pathLst>
              </a:custGeom>
              <a:grpFill/>
              <a:ln w="9525">
                <a:solidFill>
                  <a:srgbClr val="5B9BD5"/>
                </a:solidFill>
                <a:round/>
              </a:ln>
            </p:spPr>
            <p:txBody>
              <a:bodyPr vert="horz" wrap="square" lIns="83748" tIns="41874" rIns="83748" bIns="41874" numCol="1" anchor="t" anchorCtr="0" compatLnSpc="1"/>
              <a:lstStyle/>
              <a:p>
                <a:pPr>
                  <a:lnSpc>
                    <a:spcPct val="120000"/>
                  </a:lnSpc>
                </a:pPr>
                <a:endParaRPr lang="en-US" sz="1100" dirty="0">
                  <a:latin typeface="Arial" panose="020B0604020202020204" pitchFamily="34" charset="0"/>
                  <a:ea typeface="微软雅黑" panose="020B0503020204020204" pitchFamily="34" charset="-122"/>
                  <a:sym typeface="Arial" panose="020B0604020202020204" pitchFamily="34" charset="0"/>
                </a:endParaRPr>
              </a:p>
            </p:txBody>
          </p:sp>
          <p:sp>
            <p:nvSpPr>
              <p:cNvPr id="16" name="Freeform 22"/>
              <p:cNvSpPr>
                <a:spLocks noEditPoints="1"/>
              </p:cNvSpPr>
              <p:nvPr/>
            </p:nvSpPr>
            <p:spPr bwMode="auto">
              <a:xfrm flipH="1" flipV="1">
                <a:off x="7276664" y="4215168"/>
                <a:ext cx="194907" cy="1949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4 h 72"/>
                  <a:gd name="T12" fmla="*/ 4 w 72"/>
                  <a:gd name="T13" fmla="*/ 36 h 72"/>
                  <a:gd name="T14" fmla="*/ 36 w 72"/>
                  <a:gd name="T15" fmla="*/ 68 h 72"/>
                  <a:gd name="T16" fmla="*/ 68 w 72"/>
                  <a:gd name="T17" fmla="*/ 36 h 72"/>
                  <a:gd name="T18" fmla="*/ 36 w 72"/>
                  <a:gd name="T19"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4"/>
                    </a:moveTo>
                    <a:cubicBezTo>
                      <a:pt x="18" y="4"/>
                      <a:pt x="4" y="19"/>
                      <a:pt x="4" y="36"/>
                    </a:cubicBezTo>
                    <a:cubicBezTo>
                      <a:pt x="4" y="54"/>
                      <a:pt x="18" y="68"/>
                      <a:pt x="36" y="68"/>
                    </a:cubicBezTo>
                    <a:cubicBezTo>
                      <a:pt x="54" y="68"/>
                      <a:pt x="68" y="54"/>
                      <a:pt x="68" y="36"/>
                    </a:cubicBezTo>
                    <a:cubicBezTo>
                      <a:pt x="68" y="19"/>
                      <a:pt x="54" y="4"/>
                      <a:pt x="36" y="4"/>
                    </a:cubicBezTo>
                    <a:close/>
                  </a:path>
                </a:pathLst>
              </a:custGeom>
              <a:grpFill/>
              <a:ln w="9525">
                <a:solidFill>
                  <a:srgbClr val="5B9BD5"/>
                </a:solidFill>
                <a:round/>
              </a:ln>
            </p:spPr>
            <p:txBody>
              <a:bodyPr vert="horz" wrap="square" lIns="83748" tIns="41874" rIns="83748" bIns="41874" numCol="1" anchor="t" anchorCtr="0" compatLnSpc="1"/>
              <a:lstStyle/>
              <a:p>
                <a:pPr>
                  <a:lnSpc>
                    <a:spcPct val="120000"/>
                  </a:lnSpc>
                </a:pPr>
                <a:endParaRPr lang="en-US" sz="11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3" name="Group 18"/>
            <p:cNvGrpSpPr/>
            <p:nvPr/>
          </p:nvGrpSpPr>
          <p:grpSpPr>
            <a:xfrm>
              <a:off x="7938" y="2904"/>
              <a:ext cx="2437" cy="596"/>
              <a:chOff x="5314951" y="1576421"/>
              <a:chExt cx="2376489" cy="581144"/>
            </a:xfrm>
            <a:solidFill>
              <a:schemeClr val="accent5"/>
            </a:solidFill>
          </p:grpSpPr>
          <p:cxnSp>
            <p:nvCxnSpPr>
              <p:cNvPr id="20" name="Straight Connector 19"/>
              <p:cNvCxnSpPr/>
              <p:nvPr/>
            </p:nvCxnSpPr>
            <p:spPr bwMode="auto">
              <a:xfrm flipV="1">
                <a:off x="5314951" y="1780961"/>
                <a:ext cx="403756" cy="376604"/>
              </a:xfrm>
              <a:prstGeom prst="line">
                <a:avLst/>
              </a:prstGeom>
              <a:grpFill/>
              <a:ln w="12700" cap="flat" cmpd="sng" algn="ctr">
                <a:solidFill>
                  <a:srgbClr val="CE3418"/>
                </a:solidFill>
                <a:prstDash val="sysDash"/>
                <a:round/>
                <a:headEnd type="none" w="med" len="med"/>
                <a:tailEnd type="none" w="med" len="med"/>
              </a:ln>
              <a:effectLst/>
            </p:spPr>
          </p:cxnSp>
          <p:cxnSp>
            <p:nvCxnSpPr>
              <p:cNvPr id="21" name="Straight Connector 20"/>
              <p:cNvCxnSpPr/>
              <p:nvPr/>
            </p:nvCxnSpPr>
            <p:spPr bwMode="auto">
              <a:xfrm>
                <a:off x="5906516" y="1671366"/>
                <a:ext cx="1599407" cy="0"/>
              </a:xfrm>
              <a:prstGeom prst="line">
                <a:avLst/>
              </a:prstGeom>
              <a:grpFill/>
              <a:ln w="12700" cap="flat" cmpd="sng" algn="ctr">
                <a:solidFill>
                  <a:srgbClr val="CE3418"/>
                </a:solidFill>
                <a:prstDash val="sysDash"/>
                <a:round/>
                <a:headEnd type="none" w="med" len="med"/>
                <a:tailEnd type="none" w="med" len="med"/>
              </a:ln>
              <a:effectLst/>
            </p:spPr>
          </p:cxnSp>
          <p:sp>
            <p:nvSpPr>
              <p:cNvPr id="27" name="Freeform 22"/>
              <p:cNvSpPr>
                <a:spLocks noEditPoints="1"/>
              </p:cNvSpPr>
              <p:nvPr/>
            </p:nvSpPr>
            <p:spPr bwMode="auto">
              <a:xfrm flipH="1">
                <a:off x="5711609" y="1591886"/>
                <a:ext cx="194907" cy="1949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4 h 72"/>
                  <a:gd name="T12" fmla="*/ 4 w 72"/>
                  <a:gd name="T13" fmla="*/ 36 h 72"/>
                  <a:gd name="T14" fmla="*/ 36 w 72"/>
                  <a:gd name="T15" fmla="*/ 68 h 72"/>
                  <a:gd name="T16" fmla="*/ 68 w 72"/>
                  <a:gd name="T17" fmla="*/ 36 h 72"/>
                  <a:gd name="T18" fmla="*/ 36 w 72"/>
                  <a:gd name="T19"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4"/>
                    </a:moveTo>
                    <a:cubicBezTo>
                      <a:pt x="18" y="4"/>
                      <a:pt x="4" y="19"/>
                      <a:pt x="4" y="36"/>
                    </a:cubicBezTo>
                    <a:cubicBezTo>
                      <a:pt x="4" y="54"/>
                      <a:pt x="18" y="68"/>
                      <a:pt x="36" y="68"/>
                    </a:cubicBezTo>
                    <a:cubicBezTo>
                      <a:pt x="54" y="68"/>
                      <a:pt x="68" y="54"/>
                      <a:pt x="68" y="36"/>
                    </a:cubicBezTo>
                    <a:cubicBezTo>
                      <a:pt x="68" y="19"/>
                      <a:pt x="54" y="4"/>
                      <a:pt x="36" y="4"/>
                    </a:cubicBezTo>
                    <a:close/>
                  </a:path>
                </a:pathLst>
              </a:custGeom>
              <a:grpFill/>
              <a:ln w="9525">
                <a:solidFill>
                  <a:srgbClr val="CE3418"/>
                </a:solidFill>
                <a:round/>
              </a:ln>
            </p:spPr>
            <p:txBody>
              <a:bodyPr vert="horz" wrap="square" lIns="83748" tIns="41874" rIns="83748" bIns="41874" numCol="1" anchor="t" anchorCtr="0" compatLnSpc="1"/>
              <a:lstStyle/>
              <a:p>
                <a:pPr>
                  <a:lnSpc>
                    <a:spcPct val="120000"/>
                  </a:lnSpc>
                </a:pPr>
                <a:endParaRPr lang="en-US" sz="1100"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2"/>
              <p:cNvSpPr>
                <a:spLocks noEditPoints="1"/>
              </p:cNvSpPr>
              <p:nvPr/>
            </p:nvSpPr>
            <p:spPr bwMode="auto">
              <a:xfrm flipH="1">
                <a:off x="7496533" y="1576421"/>
                <a:ext cx="194907" cy="1949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4 h 72"/>
                  <a:gd name="T12" fmla="*/ 4 w 72"/>
                  <a:gd name="T13" fmla="*/ 36 h 72"/>
                  <a:gd name="T14" fmla="*/ 36 w 72"/>
                  <a:gd name="T15" fmla="*/ 68 h 72"/>
                  <a:gd name="T16" fmla="*/ 68 w 72"/>
                  <a:gd name="T17" fmla="*/ 36 h 72"/>
                  <a:gd name="T18" fmla="*/ 36 w 72"/>
                  <a:gd name="T19"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4"/>
                    </a:moveTo>
                    <a:cubicBezTo>
                      <a:pt x="18" y="4"/>
                      <a:pt x="4" y="19"/>
                      <a:pt x="4" y="36"/>
                    </a:cubicBezTo>
                    <a:cubicBezTo>
                      <a:pt x="4" y="54"/>
                      <a:pt x="18" y="68"/>
                      <a:pt x="36" y="68"/>
                    </a:cubicBezTo>
                    <a:cubicBezTo>
                      <a:pt x="54" y="68"/>
                      <a:pt x="68" y="54"/>
                      <a:pt x="68" y="36"/>
                    </a:cubicBezTo>
                    <a:cubicBezTo>
                      <a:pt x="68" y="19"/>
                      <a:pt x="54" y="4"/>
                      <a:pt x="36" y="4"/>
                    </a:cubicBezTo>
                    <a:close/>
                  </a:path>
                </a:pathLst>
              </a:custGeom>
              <a:grpFill/>
              <a:ln w="9525">
                <a:solidFill>
                  <a:srgbClr val="CE3418"/>
                </a:solidFill>
                <a:round/>
              </a:ln>
            </p:spPr>
            <p:txBody>
              <a:bodyPr vert="horz" wrap="square" lIns="83748" tIns="41874" rIns="83748" bIns="41874" numCol="1" anchor="t" anchorCtr="0" compatLnSpc="1"/>
              <a:lstStyle/>
              <a:p>
                <a:pPr>
                  <a:lnSpc>
                    <a:spcPct val="120000"/>
                  </a:lnSpc>
                </a:pPr>
                <a:endParaRPr lang="en-US" sz="11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5" name="Group 27"/>
            <p:cNvGrpSpPr/>
            <p:nvPr/>
          </p:nvGrpSpPr>
          <p:grpSpPr>
            <a:xfrm>
              <a:off x="3895" y="2904"/>
              <a:ext cx="2437" cy="596"/>
              <a:chOff x="1601392" y="1504354"/>
              <a:chExt cx="2376489" cy="581144"/>
            </a:xfrm>
            <a:solidFill>
              <a:schemeClr val="accent1"/>
            </a:solidFill>
          </p:grpSpPr>
          <p:cxnSp>
            <p:nvCxnSpPr>
              <p:cNvPr id="17" name="Straight Connector 28"/>
              <p:cNvCxnSpPr/>
              <p:nvPr/>
            </p:nvCxnSpPr>
            <p:spPr bwMode="auto">
              <a:xfrm flipH="1" flipV="1">
                <a:off x="3574125" y="1708894"/>
                <a:ext cx="403756" cy="376604"/>
              </a:xfrm>
              <a:prstGeom prst="line">
                <a:avLst/>
              </a:prstGeom>
              <a:grpFill/>
              <a:ln w="12700" cap="flat" cmpd="sng" algn="ctr">
                <a:solidFill>
                  <a:schemeClr val="accent1"/>
                </a:solidFill>
                <a:prstDash val="sysDash"/>
                <a:round/>
                <a:headEnd type="none" w="med" len="med"/>
                <a:tailEnd type="none" w="med" len="med"/>
              </a:ln>
              <a:effectLst/>
            </p:spPr>
          </p:cxnSp>
          <p:cxnSp>
            <p:nvCxnSpPr>
              <p:cNvPr id="30" name="Straight Connector 29"/>
              <p:cNvCxnSpPr/>
              <p:nvPr/>
            </p:nvCxnSpPr>
            <p:spPr bwMode="auto">
              <a:xfrm flipH="1">
                <a:off x="1786909" y="1599299"/>
                <a:ext cx="1599407" cy="0"/>
              </a:xfrm>
              <a:prstGeom prst="line">
                <a:avLst/>
              </a:prstGeom>
              <a:grpFill/>
              <a:ln w="12700" cap="flat" cmpd="sng" algn="ctr">
                <a:solidFill>
                  <a:schemeClr val="accent1"/>
                </a:solidFill>
                <a:prstDash val="sysDash"/>
                <a:round/>
                <a:headEnd type="none" w="med" len="med"/>
                <a:tailEnd type="none" w="med" len="med"/>
              </a:ln>
              <a:effectLst/>
            </p:spPr>
          </p:cxnSp>
          <p:sp>
            <p:nvSpPr>
              <p:cNvPr id="19" name="Freeform 22"/>
              <p:cNvSpPr>
                <a:spLocks noEditPoints="1"/>
              </p:cNvSpPr>
              <p:nvPr/>
            </p:nvSpPr>
            <p:spPr bwMode="auto">
              <a:xfrm>
                <a:off x="3386316" y="1519819"/>
                <a:ext cx="194907" cy="1949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4 h 72"/>
                  <a:gd name="T12" fmla="*/ 4 w 72"/>
                  <a:gd name="T13" fmla="*/ 36 h 72"/>
                  <a:gd name="T14" fmla="*/ 36 w 72"/>
                  <a:gd name="T15" fmla="*/ 68 h 72"/>
                  <a:gd name="T16" fmla="*/ 68 w 72"/>
                  <a:gd name="T17" fmla="*/ 36 h 72"/>
                  <a:gd name="T18" fmla="*/ 36 w 72"/>
                  <a:gd name="T19"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4"/>
                    </a:moveTo>
                    <a:cubicBezTo>
                      <a:pt x="18" y="4"/>
                      <a:pt x="4" y="19"/>
                      <a:pt x="4" y="36"/>
                    </a:cubicBezTo>
                    <a:cubicBezTo>
                      <a:pt x="4" y="54"/>
                      <a:pt x="18" y="68"/>
                      <a:pt x="36" y="68"/>
                    </a:cubicBezTo>
                    <a:cubicBezTo>
                      <a:pt x="54" y="68"/>
                      <a:pt x="68" y="54"/>
                      <a:pt x="68" y="36"/>
                    </a:cubicBezTo>
                    <a:cubicBezTo>
                      <a:pt x="68" y="19"/>
                      <a:pt x="54" y="4"/>
                      <a:pt x="36" y="4"/>
                    </a:cubicBezTo>
                    <a:close/>
                  </a:path>
                </a:pathLst>
              </a:custGeom>
              <a:grpFill/>
              <a:ln w="9525">
                <a:solidFill>
                  <a:schemeClr val="accent1"/>
                </a:solidFill>
                <a:round/>
              </a:ln>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4" name="Freeform 22"/>
              <p:cNvSpPr>
                <a:spLocks noEditPoints="1"/>
              </p:cNvSpPr>
              <p:nvPr/>
            </p:nvSpPr>
            <p:spPr bwMode="auto">
              <a:xfrm>
                <a:off x="1601392" y="1504354"/>
                <a:ext cx="194907" cy="1949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4 h 72"/>
                  <a:gd name="T12" fmla="*/ 4 w 72"/>
                  <a:gd name="T13" fmla="*/ 36 h 72"/>
                  <a:gd name="T14" fmla="*/ 36 w 72"/>
                  <a:gd name="T15" fmla="*/ 68 h 72"/>
                  <a:gd name="T16" fmla="*/ 68 w 72"/>
                  <a:gd name="T17" fmla="*/ 36 h 72"/>
                  <a:gd name="T18" fmla="*/ 36 w 72"/>
                  <a:gd name="T19"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4"/>
                    </a:moveTo>
                    <a:cubicBezTo>
                      <a:pt x="18" y="4"/>
                      <a:pt x="4" y="19"/>
                      <a:pt x="4" y="36"/>
                    </a:cubicBezTo>
                    <a:cubicBezTo>
                      <a:pt x="4" y="54"/>
                      <a:pt x="18" y="68"/>
                      <a:pt x="36" y="68"/>
                    </a:cubicBezTo>
                    <a:cubicBezTo>
                      <a:pt x="54" y="68"/>
                      <a:pt x="68" y="54"/>
                      <a:pt x="68" y="36"/>
                    </a:cubicBezTo>
                    <a:cubicBezTo>
                      <a:pt x="68" y="19"/>
                      <a:pt x="54" y="4"/>
                      <a:pt x="36" y="4"/>
                    </a:cubicBezTo>
                    <a:close/>
                  </a:path>
                </a:pathLst>
              </a:custGeom>
              <a:grpFill/>
              <a:ln w="9525">
                <a:solidFill>
                  <a:schemeClr val="accent1"/>
                </a:solidFill>
                <a:round/>
              </a:ln>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2" name="Group 36"/>
            <p:cNvGrpSpPr/>
            <p:nvPr/>
          </p:nvGrpSpPr>
          <p:grpSpPr>
            <a:xfrm>
              <a:off x="3979" y="5344"/>
              <a:ext cx="2437" cy="596"/>
              <a:chOff x="1683544" y="3746382"/>
              <a:chExt cx="2376489" cy="581144"/>
            </a:xfrm>
            <a:solidFill>
              <a:schemeClr val="accent1"/>
            </a:solidFill>
          </p:grpSpPr>
          <p:cxnSp>
            <p:nvCxnSpPr>
              <p:cNvPr id="23" name="Straight Connector 37"/>
              <p:cNvCxnSpPr/>
              <p:nvPr/>
            </p:nvCxnSpPr>
            <p:spPr bwMode="auto">
              <a:xfrm flipH="1">
                <a:off x="3656277" y="3746382"/>
                <a:ext cx="403756" cy="376604"/>
              </a:xfrm>
              <a:prstGeom prst="line">
                <a:avLst/>
              </a:prstGeom>
              <a:grpFill/>
              <a:ln w="12700" cap="flat" cmpd="sng" algn="ctr">
                <a:solidFill>
                  <a:schemeClr val="accent3"/>
                </a:solidFill>
                <a:prstDash val="sysDash"/>
                <a:round/>
                <a:headEnd type="none" w="med" len="med"/>
                <a:tailEnd type="none" w="med" len="med"/>
              </a:ln>
              <a:effectLst/>
            </p:spPr>
          </p:cxnSp>
          <p:cxnSp>
            <p:nvCxnSpPr>
              <p:cNvPr id="39" name="Straight Connector 38"/>
              <p:cNvCxnSpPr/>
              <p:nvPr/>
            </p:nvCxnSpPr>
            <p:spPr bwMode="auto">
              <a:xfrm flipH="1" flipV="1">
                <a:off x="1869061" y="4232581"/>
                <a:ext cx="1599407" cy="0"/>
              </a:xfrm>
              <a:prstGeom prst="line">
                <a:avLst/>
              </a:prstGeom>
              <a:grpFill/>
              <a:ln w="12700" cap="flat" cmpd="sng" algn="ctr">
                <a:solidFill>
                  <a:schemeClr val="accent3"/>
                </a:solidFill>
                <a:prstDash val="sysDash"/>
                <a:round/>
                <a:headEnd type="none" w="med" len="med"/>
                <a:tailEnd type="none" w="med" len="med"/>
              </a:ln>
              <a:effectLst/>
            </p:spPr>
          </p:cxnSp>
          <p:sp>
            <p:nvSpPr>
              <p:cNvPr id="24" name="Freeform 22"/>
              <p:cNvSpPr>
                <a:spLocks noEditPoints="1"/>
              </p:cNvSpPr>
              <p:nvPr/>
            </p:nvSpPr>
            <p:spPr bwMode="auto">
              <a:xfrm flipV="1">
                <a:off x="3468468" y="4117154"/>
                <a:ext cx="194907" cy="1949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4 h 72"/>
                  <a:gd name="T12" fmla="*/ 4 w 72"/>
                  <a:gd name="T13" fmla="*/ 36 h 72"/>
                  <a:gd name="T14" fmla="*/ 36 w 72"/>
                  <a:gd name="T15" fmla="*/ 68 h 72"/>
                  <a:gd name="T16" fmla="*/ 68 w 72"/>
                  <a:gd name="T17" fmla="*/ 36 h 72"/>
                  <a:gd name="T18" fmla="*/ 36 w 72"/>
                  <a:gd name="T19"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4"/>
                    </a:moveTo>
                    <a:cubicBezTo>
                      <a:pt x="18" y="4"/>
                      <a:pt x="4" y="19"/>
                      <a:pt x="4" y="36"/>
                    </a:cubicBezTo>
                    <a:cubicBezTo>
                      <a:pt x="4" y="54"/>
                      <a:pt x="18" y="68"/>
                      <a:pt x="36" y="68"/>
                    </a:cubicBezTo>
                    <a:cubicBezTo>
                      <a:pt x="54" y="68"/>
                      <a:pt x="68" y="54"/>
                      <a:pt x="68" y="36"/>
                    </a:cubicBezTo>
                    <a:cubicBezTo>
                      <a:pt x="68" y="19"/>
                      <a:pt x="54" y="4"/>
                      <a:pt x="36" y="4"/>
                    </a:cubicBezTo>
                    <a:close/>
                  </a:path>
                </a:pathLst>
              </a:custGeom>
              <a:grpFill/>
              <a:ln w="9525">
                <a:solidFill>
                  <a:schemeClr val="accent3"/>
                </a:solidFill>
                <a:round/>
              </a:ln>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6" name="Freeform 22"/>
              <p:cNvSpPr>
                <a:spLocks noEditPoints="1"/>
              </p:cNvSpPr>
              <p:nvPr/>
            </p:nvSpPr>
            <p:spPr bwMode="auto">
              <a:xfrm flipV="1">
                <a:off x="1683544" y="4132619"/>
                <a:ext cx="194907" cy="1949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4 h 72"/>
                  <a:gd name="T12" fmla="*/ 4 w 72"/>
                  <a:gd name="T13" fmla="*/ 36 h 72"/>
                  <a:gd name="T14" fmla="*/ 36 w 72"/>
                  <a:gd name="T15" fmla="*/ 68 h 72"/>
                  <a:gd name="T16" fmla="*/ 68 w 72"/>
                  <a:gd name="T17" fmla="*/ 36 h 72"/>
                  <a:gd name="T18" fmla="*/ 36 w 72"/>
                  <a:gd name="T19" fmla="*/ 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4"/>
                    </a:moveTo>
                    <a:cubicBezTo>
                      <a:pt x="18" y="4"/>
                      <a:pt x="4" y="19"/>
                      <a:pt x="4" y="36"/>
                    </a:cubicBezTo>
                    <a:cubicBezTo>
                      <a:pt x="4" y="54"/>
                      <a:pt x="18" y="68"/>
                      <a:pt x="36" y="68"/>
                    </a:cubicBezTo>
                    <a:cubicBezTo>
                      <a:pt x="54" y="68"/>
                      <a:pt x="68" y="54"/>
                      <a:pt x="68" y="36"/>
                    </a:cubicBezTo>
                    <a:cubicBezTo>
                      <a:pt x="68" y="19"/>
                      <a:pt x="54" y="4"/>
                      <a:pt x="36" y="4"/>
                    </a:cubicBezTo>
                    <a:close/>
                  </a:path>
                </a:pathLst>
              </a:custGeom>
              <a:grpFill/>
              <a:ln w="9525">
                <a:solidFill>
                  <a:schemeClr val="accent3"/>
                </a:solidFill>
                <a:round/>
              </a:ln>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47" name="Freeform 46"/>
            <p:cNvSpPr/>
            <p:nvPr/>
          </p:nvSpPr>
          <p:spPr bwMode="auto">
            <a:xfrm>
              <a:off x="6678" y="4875"/>
              <a:ext cx="1926" cy="2219"/>
            </a:xfrm>
            <a:custGeom>
              <a:avLst/>
              <a:gdLst>
                <a:gd name="T0" fmla="*/ 1195 w 1195"/>
                <a:gd name="T1" fmla="*/ 1319 h 1377"/>
                <a:gd name="T2" fmla="*/ 1027 w 1195"/>
                <a:gd name="T3" fmla="*/ 831 h 1377"/>
                <a:gd name="T4" fmla="*/ 972 w 1195"/>
                <a:gd name="T5" fmla="*/ 676 h 1377"/>
                <a:gd name="T6" fmla="*/ 971 w 1195"/>
                <a:gd name="T7" fmla="*/ 676 h 1377"/>
                <a:gd name="T8" fmla="*/ 917 w 1195"/>
                <a:gd name="T9" fmla="*/ 384 h 1377"/>
                <a:gd name="T10" fmla="*/ 861 w 1195"/>
                <a:gd name="T11" fmla="*/ 346 h 1377"/>
                <a:gd name="T12" fmla="*/ 830 w 1195"/>
                <a:gd name="T13" fmla="*/ 60 h 1377"/>
                <a:gd name="T14" fmla="*/ 858 w 1195"/>
                <a:gd name="T15" fmla="*/ 8 h 1377"/>
                <a:gd name="T16" fmla="*/ 846 w 1195"/>
                <a:gd name="T17" fmla="*/ 1 h 1377"/>
                <a:gd name="T18" fmla="*/ 429 w 1195"/>
                <a:gd name="T19" fmla="*/ 3 h 1377"/>
                <a:gd name="T20" fmla="*/ 341 w 1195"/>
                <a:gd name="T21" fmla="*/ 98 h 1377"/>
                <a:gd name="T22" fmla="*/ 341 w 1195"/>
                <a:gd name="T23" fmla="*/ 268 h 1377"/>
                <a:gd name="T24" fmla="*/ 342 w 1195"/>
                <a:gd name="T25" fmla="*/ 591 h 1377"/>
                <a:gd name="T26" fmla="*/ 183 w 1195"/>
                <a:gd name="T27" fmla="*/ 548 h 1377"/>
                <a:gd name="T28" fmla="*/ 23 w 1195"/>
                <a:gd name="T29" fmla="*/ 558 h 1377"/>
                <a:gd name="T30" fmla="*/ 2 w 1195"/>
                <a:gd name="T31" fmla="*/ 575 h 1377"/>
                <a:gd name="T32" fmla="*/ 5 w 1195"/>
                <a:gd name="T33" fmla="*/ 596 h 1377"/>
                <a:gd name="T34" fmla="*/ 5 w 1195"/>
                <a:gd name="T35" fmla="*/ 676 h 1377"/>
                <a:gd name="T36" fmla="*/ 5 w 1195"/>
                <a:gd name="T37" fmla="*/ 676 h 1377"/>
                <a:gd name="T38" fmla="*/ 0 w 1195"/>
                <a:gd name="T39" fmla="*/ 790 h 1377"/>
                <a:gd name="T40" fmla="*/ 71 w 1195"/>
                <a:gd name="T41" fmla="*/ 831 h 1377"/>
                <a:gd name="T42" fmla="*/ 205 w 1195"/>
                <a:gd name="T43" fmla="*/ 810 h 1377"/>
                <a:gd name="T44" fmla="*/ 341 w 1195"/>
                <a:gd name="T45" fmla="*/ 756 h 1377"/>
                <a:gd name="T46" fmla="*/ 343 w 1195"/>
                <a:gd name="T47" fmla="*/ 819 h 1377"/>
                <a:gd name="T48" fmla="*/ 344 w 1195"/>
                <a:gd name="T49" fmla="*/ 1215 h 1377"/>
                <a:gd name="T50" fmla="*/ 452 w 1195"/>
                <a:gd name="T51" fmla="*/ 1321 h 1377"/>
                <a:gd name="T52" fmla="*/ 881 w 1195"/>
                <a:gd name="T53" fmla="*/ 1320 h 1377"/>
                <a:gd name="T54" fmla="*/ 934 w 1195"/>
                <a:gd name="T55" fmla="*/ 1323 h 1377"/>
                <a:gd name="T56" fmla="*/ 913 w 1195"/>
                <a:gd name="T57" fmla="*/ 1377 h 1377"/>
                <a:gd name="T58" fmla="*/ 1117 w 1195"/>
                <a:gd name="T59" fmla="*/ 1377 h 1377"/>
                <a:gd name="T60" fmla="*/ 1094 w 1195"/>
                <a:gd name="T61" fmla="*/ 1320 h 1377"/>
                <a:gd name="T62" fmla="*/ 1146 w 1195"/>
                <a:gd name="T63" fmla="*/ 1319 h 1377"/>
                <a:gd name="T64" fmla="*/ 1195 w 1195"/>
                <a:gd name="T65" fmla="*/ 1319 h 1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95" h="1377">
                  <a:moveTo>
                    <a:pt x="1195" y="1319"/>
                  </a:moveTo>
                  <a:cubicBezTo>
                    <a:pt x="1141" y="1155"/>
                    <a:pt x="1094" y="989"/>
                    <a:pt x="1027" y="831"/>
                  </a:cubicBezTo>
                  <a:cubicBezTo>
                    <a:pt x="1006" y="780"/>
                    <a:pt x="986" y="727"/>
                    <a:pt x="972" y="676"/>
                  </a:cubicBezTo>
                  <a:cubicBezTo>
                    <a:pt x="971" y="676"/>
                    <a:pt x="971" y="676"/>
                    <a:pt x="971" y="676"/>
                  </a:cubicBezTo>
                  <a:cubicBezTo>
                    <a:pt x="941" y="580"/>
                    <a:pt x="923" y="483"/>
                    <a:pt x="917" y="384"/>
                  </a:cubicBezTo>
                  <a:cubicBezTo>
                    <a:pt x="897" y="375"/>
                    <a:pt x="878" y="362"/>
                    <a:pt x="861" y="346"/>
                  </a:cubicBezTo>
                  <a:cubicBezTo>
                    <a:pt x="781" y="269"/>
                    <a:pt x="769" y="157"/>
                    <a:pt x="830" y="60"/>
                  </a:cubicBezTo>
                  <a:cubicBezTo>
                    <a:pt x="841" y="43"/>
                    <a:pt x="849" y="25"/>
                    <a:pt x="858" y="8"/>
                  </a:cubicBezTo>
                  <a:cubicBezTo>
                    <a:pt x="851" y="4"/>
                    <a:pt x="849" y="1"/>
                    <a:pt x="846" y="1"/>
                  </a:cubicBezTo>
                  <a:cubicBezTo>
                    <a:pt x="707" y="1"/>
                    <a:pt x="568" y="0"/>
                    <a:pt x="429" y="3"/>
                  </a:cubicBezTo>
                  <a:cubicBezTo>
                    <a:pt x="376" y="4"/>
                    <a:pt x="342" y="43"/>
                    <a:pt x="341" y="98"/>
                  </a:cubicBezTo>
                  <a:cubicBezTo>
                    <a:pt x="340" y="155"/>
                    <a:pt x="341" y="211"/>
                    <a:pt x="341" y="268"/>
                  </a:cubicBezTo>
                  <a:cubicBezTo>
                    <a:pt x="341" y="374"/>
                    <a:pt x="342" y="481"/>
                    <a:pt x="342" y="591"/>
                  </a:cubicBezTo>
                  <a:cubicBezTo>
                    <a:pt x="281" y="597"/>
                    <a:pt x="231" y="575"/>
                    <a:pt x="183" y="548"/>
                  </a:cubicBezTo>
                  <a:cubicBezTo>
                    <a:pt x="128" y="518"/>
                    <a:pt x="74" y="522"/>
                    <a:pt x="23" y="558"/>
                  </a:cubicBezTo>
                  <a:cubicBezTo>
                    <a:pt x="16" y="563"/>
                    <a:pt x="9" y="569"/>
                    <a:pt x="2" y="575"/>
                  </a:cubicBezTo>
                  <a:cubicBezTo>
                    <a:pt x="4" y="582"/>
                    <a:pt x="5" y="589"/>
                    <a:pt x="5" y="596"/>
                  </a:cubicBezTo>
                  <a:cubicBezTo>
                    <a:pt x="5" y="622"/>
                    <a:pt x="5" y="649"/>
                    <a:pt x="5" y="676"/>
                  </a:cubicBezTo>
                  <a:cubicBezTo>
                    <a:pt x="5" y="676"/>
                    <a:pt x="5" y="676"/>
                    <a:pt x="5" y="676"/>
                  </a:cubicBezTo>
                  <a:cubicBezTo>
                    <a:pt x="4" y="714"/>
                    <a:pt x="2" y="752"/>
                    <a:pt x="0" y="790"/>
                  </a:cubicBezTo>
                  <a:cubicBezTo>
                    <a:pt x="18" y="808"/>
                    <a:pt x="41" y="822"/>
                    <a:pt x="71" y="831"/>
                  </a:cubicBezTo>
                  <a:cubicBezTo>
                    <a:pt x="119" y="845"/>
                    <a:pt x="162" y="831"/>
                    <a:pt x="205" y="810"/>
                  </a:cubicBezTo>
                  <a:cubicBezTo>
                    <a:pt x="247" y="789"/>
                    <a:pt x="292" y="775"/>
                    <a:pt x="341" y="756"/>
                  </a:cubicBezTo>
                  <a:cubicBezTo>
                    <a:pt x="342" y="786"/>
                    <a:pt x="343" y="802"/>
                    <a:pt x="343" y="819"/>
                  </a:cubicBezTo>
                  <a:cubicBezTo>
                    <a:pt x="343" y="951"/>
                    <a:pt x="343" y="1083"/>
                    <a:pt x="344" y="1215"/>
                  </a:cubicBezTo>
                  <a:cubicBezTo>
                    <a:pt x="345" y="1286"/>
                    <a:pt x="381" y="1321"/>
                    <a:pt x="452" y="1321"/>
                  </a:cubicBezTo>
                  <a:cubicBezTo>
                    <a:pt x="595" y="1321"/>
                    <a:pt x="738" y="1320"/>
                    <a:pt x="881" y="1320"/>
                  </a:cubicBezTo>
                  <a:cubicBezTo>
                    <a:pt x="895" y="1320"/>
                    <a:pt x="910" y="1321"/>
                    <a:pt x="934" y="1323"/>
                  </a:cubicBezTo>
                  <a:cubicBezTo>
                    <a:pt x="926" y="1342"/>
                    <a:pt x="919" y="1360"/>
                    <a:pt x="913" y="1377"/>
                  </a:cubicBezTo>
                  <a:cubicBezTo>
                    <a:pt x="981" y="1377"/>
                    <a:pt x="1049" y="1377"/>
                    <a:pt x="1117" y="1377"/>
                  </a:cubicBezTo>
                  <a:cubicBezTo>
                    <a:pt x="1110" y="1359"/>
                    <a:pt x="1103" y="1340"/>
                    <a:pt x="1094" y="1320"/>
                  </a:cubicBezTo>
                  <a:cubicBezTo>
                    <a:pt x="1119" y="1320"/>
                    <a:pt x="1133" y="1319"/>
                    <a:pt x="1146" y="1319"/>
                  </a:cubicBezTo>
                  <a:cubicBezTo>
                    <a:pt x="1162" y="1319"/>
                    <a:pt x="1178" y="1319"/>
                    <a:pt x="1195" y="1319"/>
                  </a:cubicBezTo>
                  <a:close/>
                </a:path>
              </a:pathLst>
            </a:custGeom>
            <a:solidFill>
              <a:srgbClr val="5B9BD5"/>
            </a:solidFill>
            <a:ln>
              <a:noFill/>
            </a:ln>
          </p:spPr>
          <p:txBody>
            <a:bodyPr vert="horz" wrap="square" lIns="59553" tIns="29777" rIns="59553" bIns="29777" numCol="1" anchor="t" anchorCtr="0" compatLnSpc="1"/>
            <a:lstStyle/>
            <a:p>
              <a:pPr>
                <a:lnSpc>
                  <a:spcPct val="120000"/>
                </a:lnSpc>
              </a:pPr>
              <a:endParaRPr lang="en-IN" sz="1100"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Rectangle 48"/>
            <p:cNvSpPr/>
            <p:nvPr/>
          </p:nvSpPr>
          <p:spPr>
            <a:xfrm>
              <a:off x="9016" y="3392"/>
              <a:ext cx="1641" cy="743"/>
            </a:xfrm>
            <a:prstGeom prst="rect">
              <a:avLst/>
            </a:prstGeom>
          </p:spPr>
          <p:txBody>
            <a:bodyPr wrap="square" lIns="0" tIns="0" rIns="0" bIns="0">
              <a:spAutoFit/>
            </a:bodyPr>
            <a:lstStyle/>
            <a:p>
              <a:pPr algn="r">
                <a:lnSpc>
                  <a:spcPct val="150000"/>
                </a:lnSpc>
              </a:pPr>
              <a:r>
                <a:rPr lang="zh-CN" altLang="en-US" sz="800">
                  <a:latin typeface="微软雅黑" panose="020B0503020204020204" pitchFamily="34" charset="-122"/>
                  <a:ea typeface="微软雅黑" panose="020B0503020204020204" pitchFamily="34" charset="-122"/>
                  <a:sym typeface="+mn-ea"/>
                </a:rPr>
                <a:t>本次分析对四川长虹在同行业内的财务状况进行了解析，但是不同企业可能采用不同的会计政策，使得行业内的财务数据丧失可比性；</a:t>
              </a:r>
              <a:endParaRPr lang="zh-CN" altLang="en-US" sz="800" dirty="0">
                <a:solidFill>
                  <a:schemeClr val="bg1">
                    <a:lumMod val="65000"/>
                  </a:schemeClr>
                </a:solidFill>
                <a:latin typeface="微软雅黑" panose="020B0503020204020204" pitchFamily="34" charset="-122"/>
                <a:ea typeface="微软雅黑" panose="020B0503020204020204" pitchFamily="34" charset="-122"/>
                <a:sym typeface="+mn-ea"/>
              </a:endParaRPr>
            </a:p>
          </p:txBody>
        </p:sp>
        <p:sp>
          <p:nvSpPr>
            <p:cNvPr id="51" name="Rectangle 50"/>
            <p:cNvSpPr/>
            <p:nvPr/>
          </p:nvSpPr>
          <p:spPr>
            <a:xfrm>
              <a:off x="3831" y="3392"/>
              <a:ext cx="1641" cy="929"/>
            </a:xfrm>
            <a:prstGeom prst="rect">
              <a:avLst/>
            </a:prstGeom>
          </p:spPr>
          <p:txBody>
            <a:bodyPr wrap="square" lIns="0" tIns="0" rIns="0" bIns="0">
              <a:spAutoFit/>
            </a:bodyPr>
            <a:lstStyle/>
            <a:p>
              <a:pPr>
                <a:lnSpc>
                  <a:spcPct val="150000"/>
                </a:lnSpc>
              </a:pPr>
              <a:r>
                <a:rPr lang="zh-CN" altLang="en-US" sz="800">
                  <a:latin typeface="微软雅黑" panose="020B0503020204020204" pitchFamily="34" charset="-122"/>
                  <a:ea typeface="微软雅黑" panose="020B0503020204020204" pitchFamily="34" charset="-122"/>
                  <a:sym typeface="+mn-ea"/>
                </a:rPr>
                <a:t>本次财务分析的财务数据不一定反映真实的情况。比如会计报表的许多项目和数据是估计的，历史成本的计帐原则也可能使一些项目与实际情况未必相符；</a:t>
              </a:r>
              <a:endParaRPr lang="zh-CN" altLang="en-US" sz="800" dirty="0">
                <a:solidFill>
                  <a:schemeClr val="bg1">
                    <a:lumMod val="65000"/>
                  </a:schemeClr>
                </a:solidFill>
                <a:latin typeface="微软雅黑" panose="020B0503020204020204" pitchFamily="34" charset="-122"/>
                <a:ea typeface="微软雅黑" panose="020B0503020204020204" pitchFamily="34" charset="-122"/>
                <a:sym typeface="+mn-ea"/>
              </a:endParaRPr>
            </a:p>
          </p:txBody>
        </p:sp>
        <p:sp>
          <p:nvSpPr>
            <p:cNvPr id="53" name="Rectangle 52"/>
            <p:cNvSpPr/>
            <p:nvPr/>
          </p:nvSpPr>
          <p:spPr>
            <a:xfrm>
              <a:off x="3793" y="4557"/>
              <a:ext cx="1641" cy="1114"/>
            </a:xfrm>
            <a:prstGeom prst="rect">
              <a:avLst/>
            </a:prstGeom>
          </p:spPr>
          <p:txBody>
            <a:bodyPr wrap="square" lIns="0" tIns="0" rIns="0" bIns="0">
              <a:spAutoFit/>
            </a:bodyPr>
            <a:lstStyle/>
            <a:p>
              <a:pPr algn="just">
                <a:lnSpc>
                  <a:spcPct val="150000"/>
                </a:lnSpc>
              </a:pPr>
              <a:r>
                <a:rPr lang="zh-CN" altLang="en-US" sz="800">
                  <a:latin typeface="微软雅黑" panose="020B0503020204020204" pitchFamily="34" charset="-122"/>
                  <a:ea typeface="微软雅黑" panose="020B0503020204020204" pitchFamily="34" charset="-122"/>
                  <a:sym typeface="+mn-ea"/>
                </a:rPr>
                <a:t>在本次分析中，我们假设四川长虹的会计报表符合合法性、公允性、一致性的原则，但是由于我们没有一一看到行业内其他上市公司的审计报告，所以，我们不能说我们依据真实的财务数据作出了正确的财务分析。</a:t>
              </a:r>
              <a:endParaRPr lang="zh-CN" altLang="en-US" sz="800" dirty="0">
                <a:solidFill>
                  <a:schemeClr val="bg1">
                    <a:lumMod val="65000"/>
                  </a:schemeClr>
                </a:solidFill>
                <a:latin typeface="微软雅黑" panose="020B0503020204020204" pitchFamily="34" charset="-122"/>
                <a:ea typeface="微软雅黑" panose="020B0503020204020204" pitchFamily="34" charset="-122"/>
                <a:sym typeface="+mn-ea"/>
              </a:endParaRPr>
            </a:p>
          </p:txBody>
        </p:sp>
        <p:sp>
          <p:nvSpPr>
            <p:cNvPr id="55" name="Rectangle 54"/>
            <p:cNvSpPr/>
            <p:nvPr/>
          </p:nvSpPr>
          <p:spPr>
            <a:xfrm>
              <a:off x="8973" y="4928"/>
              <a:ext cx="1641" cy="743"/>
            </a:xfrm>
            <a:prstGeom prst="rect">
              <a:avLst/>
            </a:prstGeom>
          </p:spPr>
          <p:txBody>
            <a:bodyPr wrap="square" lIns="0" tIns="0" rIns="0" bIns="0">
              <a:spAutoFit/>
            </a:bodyPr>
            <a:lstStyle/>
            <a:p>
              <a:pPr algn="r">
                <a:lnSpc>
                  <a:spcPct val="150000"/>
                </a:lnSpc>
              </a:pPr>
              <a:r>
                <a:rPr lang="zh-CN" altLang="en-US" sz="800">
                  <a:latin typeface="微软雅黑" panose="020B0503020204020204" pitchFamily="34" charset="-122"/>
                  <a:ea typeface="微软雅黑" panose="020B0503020204020204" pitchFamily="34" charset="-122"/>
                  <a:sym typeface="+mn-ea"/>
                </a:rPr>
                <a:t>由于时间的原因，在本次分析中我们没有对现金流量进行分析，但是在以上的各项分析中，大体已反映了企业的现金流状况和偿债能力。</a:t>
              </a:r>
              <a:endParaRPr lang="zh-CN" altLang="en-US" sz="800" dirty="0">
                <a:solidFill>
                  <a:schemeClr val="bg1">
                    <a:lumMod val="65000"/>
                  </a:schemeClr>
                </a:solidFill>
                <a:latin typeface="微软雅黑" panose="020B0503020204020204" pitchFamily="34" charset="-122"/>
                <a:ea typeface="微软雅黑" panose="020B0503020204020204" pitchFamily="34" charset="-122"/>
                <a:sym typeface="+mn-ea"/>
              </a:endParaRPr>
            </a:p>
          </p:txBody>
        </p:sp>
        <p:sp>
          <p:nvSpPr>
            <p:cNvPr id="57" name="TextBox 56"/>
            <p:cNvSpPr txBox="1"/>
            <p:nvPr/>
          </p:nvSpPr>
          <p:spPr>
            <a:xfrm>
              <a:off x="9222" y="2513"/>
              <a:ext cx="384" cy="315"/>
            </a:xfrm>
            <a:prstGeom prst="rect">
              <a:avLst/>
            </a:prstGeom>
            <a:noFill/>
          </p:spPr>
          <p:txBody>
            <a:bodyPr wrap="square" lIns="0" tIns="0" rIns="0" bIns="0" rtlCol="0">
              <a:spAutoFit/>
            </a:bodyPr>
            <a:lstStyle/>
            <a:p>
              <a:pPr>
                <a:lnSpc>
                  <a:spcPct val="120000"/>
                </a:lnSpc>
              </a:pPr>
              <a:r>
                <a:rPr lang="en-US" sz="17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02</a:t>
              </a:r>
            </a:p>
          </p:txBody>
        </p:sp>
        <p:sp>
          <p:nvSpPr>
            <p:cNvPr id="58" name="TextBox 57"/>
            <p:cNvSpPr txBox="1"/>
            <p:nvPr/>
          </p:nvSpPr>
          <p:spPr>
            <a:xfrm>
              <a:off x="9222" y="5909"/>
              <a:ext cx="384" cy="315"/>
            </a:xfrm>
            <a:prstGeom prst="rect">
              <a:avLst/>
            </a:prstGeom>
            <a:noFill/>
          </p:spPr>
          <p:txBody>
            <a:bodyPr wrap="square" lIns="0" tIns="0" rIns="0" bIns="0" rtlCol="0">
              <a:spAutoFit/>
            </a:bodyPr>
            <a:lstStyle/>
            <a:p>
              <a:pPr>
                <a:lnSpc>
                  <a:spcPct val="120000"/>
                </a:lnSpc>
              </a:pPr>
              <a:r>
                <a:rPr lang="en-US" sz="17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04</a:t>
              </a:r>
            </a:p>
          </p:txBody>
        </p:sp>
        <p:sp>
          <p:nvSpPr>
            <p:cNvPr id="33" name="TextBox 58"/>
            <p:cNvSpPr txBox="1"/>
            <p:nvPr/>
          </p:nvSpPr>
          <p:spPr>
            <a:xfrm>
              <a:off x="4753" y="2513"/>
              <a:ext cx="384" cy="315"/>
            </a:xfrm>
            <a:prstGeom prst="rect">
              <a:avLst/>
            </a:prstGeom>
            <a:noFill/>
          </p:spPr>
          <p:txBody>
            <a:bodyPr wrap="square" lIns="0" tIns="0" rIns="0" bIns="0" rtlCol="0">
              <a:spAutoFit/>
            </a:bodyPr>
            <a:lstStyle/>
            <a:p>
              <a:pPr>
                <a:lnSpc>
                  <a:spcPct val="120000"/>
                </a:lnSpc>
              </a:pPr>
              <a:r>
                <a:rPr lang="en-US" sz="17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01</a:t>
              </a:r>
            </a:p>
          </p:txBody>
        </p:sp>
        <p:sp>
          <p:nvSpPr>
            <p:cNvPr id="60" name="TextBox 59"/>
            <p:cNvSpPr txBox="1"/>
            <p:nvPr/>
          </p:nvSpPr>
          <p:spPr>
            <a:xfrm>
              <a:off x="4753" y="5909"/>
              <a:ext cx="384" cy="315"/>
            </a:xfrm>
            <a:prstGeom prst="rect">
              <a:avLst/>
            </a:prstGeom>
            <a:noFill/>
          </p:spPr>
          <p:txBody>
            <a:bodyPr wrap="square" lIns="0" tIns="0" rIns="0" bIns="0" rtlCol="0">
              <a:spAutoFit/>
            </a:bodyPr>
            <a:lstStyle/>
            <a:p>
              <a:pPr>
                <a:lnSpc>
                  <a:spcPct val="120000"/>
                </a:lnSpc>
              </a:pPr>
              <a:r>
                <a:rPr lang="en-US" sz="17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rPr>
                <a:t>03</a:t>
              </a:r>
            </a:p>
          </p:txBody>
        </p:sp>
        <p:grpSp>
          <p:nvGrpSpPr>
            <p:cNvPr id="40" name="Group 60"/>
            <p:cNvGrpSpPr/>
            <p:nvPr/>
          </p:nvGrpSpPr>
          <p:grpSpPr>
            <a:xfrm>
              <a:off x="3260" y="5634"/>
              <a:ext cx="469" cy="469"/>
              <a:chOff x="4168892" y="2012305"/>
              <a:chExt cx="739552" cy="743795"/>
            </a:xfrm>
          </p:grpSpPr>
          <p:sp>
            <p:nvSpPr>
              <p:cNvPr id="42" name="Oval 61"/>
              <p:cNvSpPr/>
              <p:nvPr/>
            </p:nvSpPr>
            <p:spPr>
              <a:xfrm>
                <a:off x="4168892" y="2012305"/>
                <a:ext cx="739552" cy="743795"/>
              </a:xfrm>
              <a:prstGeom prst="ellipse">
                <a:avLst/>
              </a:prstGeom>
              <a:solidFill>
                <a:schemeClr val="accent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lnSpc>
                    <a:spcPct val="120000"/>
                  </a:lnSpc>
                </a:pPr>
                <a:endParaRPr lang="en-US" sz="92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6" name="Group 62"/>
              <p:cNvGrpSpPr/>
              <p:nvPr/>
            </p:nvGrpSpPr>
            <p:grpSpPr>
              <a:xfrm>
                <a:off x="4374990" y="2274029"/>
                <a:ext cx="335260" cy="209340"/>
                <a:chOff x="7507288" y="3873501"/>
                <a:chExt cx="338138" cy="211137"/>
              </a:xfrm>
              <a:solidFill>
                <a:schemeClr val="bg1"/>
              </a:solidFill>
            </p:grpSpPr>
            <p:sp>
              <p:nvSpPr>
                <p:cNvPr id="64" name="Freeform 8"/>
                <p:cNvSpPr/>
                <p:nvPr/>
              </p:nvSpPr>
              <p:spPr bwMode="auto">
                <a:xfrm>
                  <a:off x="7507288" y="3873501"/>
                  <a:ext cx="338138" cy="79375"/>
                </a:xfrm>
                <a:custGeom>
                  <a:avLst/>
                  <a:gdLst>
                    <a:gd name="T0" fmla="*/ 154 w 213"/>
                    <a:gd name="T1" fmla="*/ 50 h 50"/>
                    <a:gd name="T2" fmla="*/ 213 w 213"/>
                    <a:gd name="T3" fmla="*/ 50 h 50"/>
                    <a:gd name="T4" fmla="*/ 170 w 213"/>
                    <a:gd name="T5" fmla="*/ 0 h 50"/>
                    <a:gd name="T6" fmla="*/ 106 w 213"/>
                    <a:gd name="T7" fmla="*/ 0 h 50"/>
                    <a:gd name="T8" fmla="*/ 42 w 213"/>
                    <a:gd name="T9" fmla="*/ 0 h 50"/>
                    <a:gd name="T10" fmla="*/ 0 w 213"/>
                    <a:gd name="T11" fmla="*/ 50 h 50"/>
                    <a:gd name="T12" fmla="*/ 59 w 213"/>
                    <a:gd name="T13" fmla="*/ 50 h 50"/>
                    <a:gd name="T14" fmla="*/ 154 w 213"/>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 h="50">
                      <a:moveTo>
                        <a:pt x="154" y="50"/>
                      </a:moveTo>
                      <a:lnTo>
                        <a:pt x="213" y="50"/>
                      </a:lnTo>
                      <a:lnTo>
                        <a:pt x="170" y="0"/>
                      </a:lnTo>
                      <a:lnTo>
                        <a:pt x="106" y="0"/>
                      </a:lnTo>
                      <a:lnTo>
                        <a:pt x="42" y="0"/>
                      </a:lnTo>
                      <a:lnTo>
                        <a:pt x="0" y="50"/>
                      </a:lnTo>
                      <a:lnTo>
                        <a:pt x="59" y="50"/>
                      </a:lnTo>
                      <a:lnTo>
                        <a:pt x="154" y="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9"/>
                <p:cNvSpPr/>
                <p:nvPr/>
              </p:nvSpPr>
              <p:spPr bwMode="auto">
                <a:xfrm>
                  <a:off x="7507288" y="3978276"/>
                  <a:ext cx="338138" cy="38100"/>
                </a:xfrm>
                <a:custGeom>
                  <a:avLst/>
                  <a:gdLst>
                    <a:gd name="T0" fmla="*/ 21 w 213"/>
                    <a:gd name="T1" fmla="*/ 0 h 24"/>
                    <a:gd name="T2" fmla="*/ 0 w 213"/>
                    <a:gd name="T3" fmla="*/ 24 h 24"/>
                    <a:gd name="T4" fmla="*/ 59 w 213"/>
                    <a:gd name="T5" fmla="*/ 24 h 24"/>
                    <a:gd name="T6" fmla="*/ 154 w 213"/>
                    <a:gd name="T7" fmla="*/ 24 h 24"/>
                    <a:gd name="T8" fmla="*/ 213 w 213"/>
                    <a:gd name="T9" fmla="*/ 24 h 24"/>
                    <a:gd name="T10" fmla="*/ 191 w 213"/>
                    <a:gd name="T11" fmla="*/ 0 h 24"/>
                    <a:gd name="T12" fmla="*/ 21 w 213"/>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13" h="24">
                      <a:moveTo>
                        <a:pt x="21" y="0"/>
                      </a:moveTo>
                      <a:lnTo>
                        <a:pt x="0" y="24"/>
                      </a:lnTo>
                      <a:lnTo>
                        <a:pt x="59" y="24"/>
                      </a:lnTo>
                      <a:lnTo>
                        <a:pt x="154" y="24"/>
                      </a:lnTo>
                      <a:lnTo>
                        <a:pt x="213" y="24"/>
                      </a:lnTo>
                      <a:lnTo>
                        <a:pt x="191"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66" name="Freeform 10"/>
                <p:cNvSpPr/>
                <p:nvPr/>
              </p:nvSpPr>
              <p:spPr bwMode="auto">
                <a:xfrm>
                  <a:off x="7507288" y="4043363"/>
                  <a:ext cx="338138" cy="41275"/>
                </a:xfrm>
                <a:custGeom>
                  <a:avLst/>
                  <a:gdLst>
                    <a:gd name="T0" fmla="*/ 21 w 213"/>
                    <a:gd name="T1" fmla="*/ 0 h 26"/>
                    <a:gd name="T2" fmla="*/ 0 w 213"/>
                    <a:gd name="T3" fmla="*/ 26 h 26"/>
                    <a:gd name="T4" fmla="*/ 59 w 213"/>
                    <a:gd name="T5" fmla="*/ 26 h 26"/>
                    <a:gd name="T6" fmla="*/ 154 w 213"/>
                    <a:gd name="T7" fmla="*/ 26 h 26"/>
                    <a:gd name="T8" fmla="*/ 213 w 213"/>
                    <a:gd name="T9" fmla="*/ 26 h 26"/>
                    <a:gd name="T10" fmla="*/ 191 w 213"/>
                    <a:gd name="T11" fmla="*/ 0 h 26"/>
                    <a:gd name="T12" fmla="*/ 21 w 213"/>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213" h="26">
                      <a:moveTo>
                        <a:pt x="21" y="0"/>
                      </a:moveTo>
                      <a:lnTo>
                        <a:pt x="0" y="26"/>
                      </a:lnTo>
                      <a:lnTo>
                        <a:pt x="59" y="26"/>
                      </a:lnTo>
                      <a:lnTo>
                        <a:pt x="154" y="26"/>
                      </a:lnTo>
                      <a:lnTo>
                        <a:pt x="213" y="26"/>
                      </a:lnTo>
                      <a:lnTo>
                        <a:pt x="191"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8" name="Group 66"/>
            <p:cNvGrpSpPr/>
            <p:nvPr/>
          </p:nvGrpSpPr>
          <p:grpSpPr>
            <a:xfrm>
              <a:off x="10614" y="5634"/>
              <a:ext cx="469" cy="469"/>
              <a:chOff x="8173630" y="2776471"/>
              <a:chExt cx="1039365" cy="1045329"/>
            </a:xfrm>
          </p:grpSpPr>
          <p:sp>
            <p:nvSpPr>
              <p:cNvPr id="61" name="Oval 67"/>
              <p:cNvSpPr/>
              <p:nvPr/>
            </p:nvSpPr>
            <p:spPr>
              <a:xfrm>
                <a:off x="8173630" y="2776471"/>
                <a:ext cx="1039365" cy="1045329"/>
              </a:xfrm>
              <a:prstGeom prst="ellipse">
                <a:avLst/>
              </a:prstGeom>
              <a:solidFill>
                <a:srgbClr val="5B9BD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lnSpc>
                    <a:spcPct val="120000"/>
                  </a:lnSpc>
                </a:pPr>
                <a:endParaRPr lang="en-US" sz="92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63" name="Group 68"/>
              <p:cNvGrpSpPr/>
              <p:nvPr/>
            </p:nvGrpSpPr>
            <p:grpSpPr>
              <a:xfrm>
                <a:off x="8473738" y="3091969"/>
                <a:ext cx="429464" cy="359632"/>
                <a:chOff x="5099051" y="3930651"/>
                <a:chExt cx="390525" cy="327025"/>
              </a:xfrm>
              <a:solidFill>
                <a:schemeClr val="bg1"/>
              </a:solidFill>
            </p:grpSpPr>
            <p:sp>
              <p:nvSpPr>
                <p:cNvPr id="70" name="Freeform 103"/>
                <p:cNvSpPr/>
                <p:nvPr/>
              </p:nvSpPr>
              <p:spPr bwMode="auto">
                <a:xfrm>
                  <a:off x="5165726" y="4027488"/>
                  <a:ext cx="255588" cy="230188"/>
                </a:xfrm>
                <a:custGeom>
                  <a:avLst/>
                  <a:gdLst>
                    <a:gd name="T0" fmla="*/ 0 w 161"/>
                    <a:gd name="T1" fmla="*/ 62 h 145"/>
                    <a:gd name="T2" fmla="*/ 0 w 161"/>
                    <a:gd name="T3" fmla="*/ 145 h 145"/>
                    <a:gd name="T4" fmla="*/ 31 w 161"/>
                    <a:gd name="T5" fmla="*/ 145 h 145"/>
                    <a:gd name="T6" fmla="*/ 130 w 161"/>
                    <a:gd name="T7" fmla="*/ 145 h 145"/>
                    <a:gd name="T8" fmla="*/ 161 w 161"/>
                    <a:gd name="T9" fmla="*/ 145 h 145"/>
                    <a:gd name="T10" fmla="*/ 161 w 161"/>
                    <a:gd name="T11" fmla="*/ 62 h 145"/>
                    <a:gd name="T12" fmla="*/ 81 w 161"/>
                    <a:gd name="T13" fmla="*/ 0 h 145"/>
                    <a:gd name="T14" fmla="*/ 0 w 161"/>
                    <a:gd name="T15" fmla="*/ 62 h 1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145">
                      <a:moveTo>
                        <a:pt x="0" y="62"/>
                      </a:moveTo>
                      <a:lnTo>
                        <a:pt x="0" y="145"/>
                      </a:lnTo>
                      <a:lnTo>
                        <a:pt x="31" y="145"/>
                      </a:lnTo>
                      <a:lnTo>
                        <a:pt x="130" y="145"/>
                      </a:lnTo>
                      <a:lnTo>
                        <a:pt x="161" y="145"/>
                      </a:lnTo>
                      <a:lnTo>
                        <a:pt x="161" y="62"/>
                      </a:lnTo>
                      <a:lnTo>
                        <a:pt x="81" y="0"/>
                      </a:lnTo>
                      <a:lnTo>
                        <a:pt x="0" y="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1" name="Freeform 104"/>
                <p:cNvSpPr/>
                <p:nvPr/>
              </p:nvSpPr>
              <p:spPr bwMode="auto">
                <a:xfrm>
                  <a:off x="5099051" y="3930651"/>
                  <a:ext cx="390525" cy="195263"/>
                </a:xfrm>
                <a:custGeom>
                  <a:avLst/>
                  <a:gdLst>
                    <a:gd name="T0" fmla="*/ 225 w 246"/>
                    <a:gd name="T1" fmla="*/ 80 h 123"/>
                    <a:gd name="T2" fmla="*/ 225 w 246"/>
                    <a:gd name="T3" fmla="*/ 21 h 123"/>
                    <a:gd name="T4" fmla="*/ 182 w 246"/>
                    <a:gd name="T5" fmla="*/ 21 h 123"/>
                    <a:gd name="T6" fmla="*/ 182 w 246"/>
                    <a:gd name="T7" fmla="*/ 47 h 123"/>
                    <a:gd name="T8" fmla="*/ 123 w 246"/>
                    <a:gd name="T9" fmla="*/ 0 h 123"/>
                    <a:gd name="T10" fmla="*/ 123 w 246"/>
                    <a:gd name="T11" fmla="*/ 0 h 123"/>
                    <a:gd name="T12" fmla="*/ 123 w 246"/>
                    <a:gd name="T13" fmla="*/ 0 h 123"/>
                    <a:gd name="T14" fmla="*/ 123 w 246"/>
                    <a:gd name="T15" fmla="*/ 0 h 123"/>
                    <a:gd name="T16" fmla="*/ 123 w 246"/>
                    <a:gd name="T17" fmla="*/ 0 h 123"/>
                    <a:gd name="T18" fmla="*/ 0 w 246"/>
                    <a:gd name="T19" fmla="*/ 97 h 123"/>
                    <a:gd name="T20" fmla="*/ 21 w 246"/>
                    <a:gd name="T21" fmla="*/ 123 h 123"/>
                    <a:gd name="T22" fmla="*/ 123 w 246"/>
                    <a:gd name="T23" fmla="*/ 42 h 123"/>
                    <a:gd name="T24" fmla="*/ 225 w 246"/>
                    <a:gd name="T25" fmla="*/ 123 h 123"/>
                    <a:gd name="T26" fmla="*/ 246 w 246"/>
                    <a:gd name="T27" fmla="*/ 97 h 123"/>
                    <a:gd name="T28" fmla="*/ 225 w 246"/>
                    <a:gd name="T29" fmla="*/ 8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123">
                      <a:moveTo>
                        <a:pt x="225" y="80"/>
                      </a:moveTo>
                      <a:lnTo>
                        <a:pt x="225" y="21"/>
                      </a:lnTo>
                      <a:lnTo>
                        <a:pt x="182" y="21"/>
                      </a:lnTo>
                      <a:lnTo>
                        <a:pt x="182" y="47"/>
                      </a:lnTo>
                      <a:lnTo>
                        <a:pt x="123" y="0"/>
                      </a:lnTo>
                      <a:lnTo>
                        <a:pt x="123" y="0"/>
                      </a:lnTo>
                      <a:lnTo>
                        <a:pt x="123" y="0"/>
                      </a:lnTo>
                      <a:lnTo>
                        <a:pt x="123" y="0"/>
                      </a:lnTo>
                      <a:lnTo>
                        <a:pt x="123" y="0"/>
                      </a:lnTo>
                      <a:lnTo>
                        <a:pt x="0" y="97"/>
                      </a:lnTo>
                      <a:lnTo>
                        <a:pt x="21" y="123"/>
                      </a:lnTo>
                      <a:lnTo>
                        <a:pt x="123" y="42"/>
                      </a:lnTo>
                      <a:lnTo>
                        <a:pt x="225" y="123"/>
                      </a:lnTo>
                      <a:lnTo>
                        <a:pt x="246" y="97"/>
                      </a:lnTo>
                      <a:lnTo>
                        <a:pt x="225" y="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7" name="Group 71"/>
            <p:cNvGrpSpPr/>
            <p:nvPr/>
          </p:nvGrpSpPr>
          <p:grpSpPr>
            <a:xfrm>
              <a:off x="3260" y="2908"/>
              <a:ext cx="469" cy="469"/>
              <a:chOff x="817364" y="1776265"/>
              <a:chExt cx="826181" cy="826181"/>
            </a:xfrm>
          </p:grpSpPr>
          <p:sp>
            <p:nvSpPr>
              <p:cNvPr id="73" name="Oval 72"/>
              <p:cNvSpPr/>
              <p:nvPr/>
            </p:nvSpPr>
            <p:spPr>
              <a:xfrm>
                <a:off x="817364" y="1776265"/>
                <a:ext cx="826181" cy="8261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7"/>
              <p:cNvSpPr>
                <a:spLocks noEditPoints="1"/>
              </p:cNvSpPr>
              <p:nvPr/>
            </p:nvSpPr>
            <p:spPr bwMode="auto">
              <a:xfrm>
                <a:off x="1014427" y="1973328"/>
                <a:ext cx="432054" cy="432054"/>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9" name="Group 74"/>
            <p:cNvGrpSpPr/>
            <p:nvPr/>
          </p:nvGrpSpPr>
          <p:grpSpPr>
            <a:xfrm>
              <a:off x="10614" y="2908"/>
              <a:ext cx="469" cy="469"/>
              <a:chOff x="5773542" y="1776265"/>
              <a:chExt cx="826181" cy="826181"/>
            </a:xfrm>
          </p:grpSpPr>
          <p:sp>
            <p:nvSpPr>
              <p:cNvPr id="76" name="Oval 75"/>
              <p:cNvSpPr/>
              <p:nvPr/>
            </p:nvSpPr>
            <p:spPr>
              <a:xfrm>
                <a:off x="5773542" y="1776265"/>
                <a:ext cx="826181" cy="826181"/>
              </a:xfrm>
              <a:prstGeom prst="ellipse">
                <a:avLst/>
              </a:prstGeom>
              <a:solidFill>
                <a:srgbClr val="CE34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77" name="Freeform 22"/>
              <p:cNvSpPr>
                <a:spLocks noEditPoints="1"/>
              </p:cNvSpPr>
              <p:nvPr/>
            </p:nvSpPr>
            <p:spPr bwMode="auto">
              <a:xfrm>
                <a:off x="5989302" y="1999111"/>
                <a:ext cx="394661" cy="394133"/>
              </a:xfrm>
              <a:custGeom>
                <a:avLst/>
                <a:gdLst>
                  <a:gd name="T0" fmla="*/ 287 w 316"/>
                  <a:gd name="T1" fmla="*/ 29 h 316"/>
                  <a:gd name="T2" fmla="*/ 236 w 316"/>
                  <a:gd name="T3" fmla="*/ 4 h 316"/>
                  <a:gd name="T4" fmla="*/ 135 w 316"/>
                  <a:gd name="T5" fmla="*/ 105 h 316"/>
                  <a:gd name="T6" fmla="*/ 20 w 316"/>
                  <a:gd name="T7" fmla="*/ 221 h 316"/>
                  <a:gd name="T8" fmla="*/ 0 w 316"/>
                  <a:gd name="T9" fmla="*/ 316 h 316"/>
                  <a:gd name="T10" fmla="*/ 95 w 316"/>
                  <a:gd name="T11" fmla="*/ 296 h 316"/>
                  <a:gd name="T12" fmla="*/ 210 w 316"/>
                  <a:gd name="T13" fmla="*/ 180 h 316"/>
                  <a:gd name="T14" fmla="*/ 312 w 316"/>
                  <a:gd name="T15" fmla="*/ 79 h 316"/>
                  <a:gd name="T16" fmla="*/ 287 w 316"/>
                  <a:gd name="T17" fmla="*/ 29 h 316"/>
                  <a:gd name="T18" fmla="*/ 89 w 316"/>
                  <a:gd name="T19" fmla="*/ 284 h 316"/>
                  <a:gd name="T20" fmla="*/ 57 w 316"/>
                  <a:gd name="T21" fmla="*/ 291 h 316"/>
                  <a:gd name="T22" fmla="*/ 43 w 316"/>
                  <a:gd name="T23" fmla="*/ 273 h 316"/>
                  <a:gd name="T24" fmla="*/ 24 w 316"/>
                  <a:gd name="T25" fmla="*/ 259 h 316"/>
                  <a:gd name="T26" fmla="*/ 31 w 316"/>
                  <a:gd name="T27" fmla="*/ 226 h 316"/>
                  <a:gd name="T28" fmla="*/ 41 w 316"/>
                  <a:gd name="T29" fmla="*/ 217 h 316"/>
                  <a:gd name="T30" fmla="*/ 78 w 316"/>
                  <a:gd name="T31" fmla="*/ 237 h 316"/>
                  <a:gd name="T32" fmla="*/ 99 w 316"/>
                  <a:gd name="T33" fmla="*/ 275 h 316"/>
                  <a:gd name="T34" fmla="*/ 89 w 316"/>
                  <a:gd name="T35" fmla="*/ 284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6" h="316">
                    <a:moveTo>
                      <a:pt x="287" y="29"/>
                    </a:moveTo>
                    <a:cubicBezTo>
                      <a:pt x="258" y="0"/>
                      <a:pt x="236" y="4"/>
                      <a:pt x="236" y="4"/>
                    </a:cubicBezTo>
                    <a:cubicBezTo>
                      <a:pt x="135" y="105"/>
                      <a:pt x="135" y="105"/>
                      <a:pt x="135" y="105"/>
                    </a:cubicBezTo>
                    <a:cubicBezTo>
                      <a:pt x="20" y="221"/>
                      <a:pt x="20" y="221"/>
                      <a:pt x="20" y="221"/>
                    </a:cubicBezTo>
                    <a:cubicBezTo>
                      <a:pt x="0" y="316"/>
                      <a:pt x="0" y="316"/>
                      <a:pt x="0" y="316"/>
                    </a:cubicBezTo>
                    <a:cubicBezTo>
                      <a:pt x="95" y="296"/>
                      <a:pt x="95" y="296"/>
                      <a:pt x="95" y="296"/>
                    </a:cubicBezTo>
                    <a:cubicBezTo>
                      <a:pt x="210" y="180"/>
                      <a:pt x="210" y="180"/>
                      <a:pt x="210" y="180"/>
                    </a:cubicBezTo>
                    <a:cubicBezTo>
                      <a:pt x="312" y="79"/>
                      <a:pt x="312" y="79"/>
                      <a:pt x="312" y="79"/>
                    </a:cubicBezTo>
                    <a:cubicBezTo>
                      <a:pt x="312" y="79"/>
                      <a:pt x="316" y="58"/>
                      <a:pt x="287" y="29"/>
                    </a:cubicBezTo>
                    <a:close/>
                    <a:moveTo>
                      <a:pt x="89" y="284"/>
                    </a:moveTo>
                    <a:cubicBezTo>
                      <a:pt x="57" y="291"/>
                      <a:pt x="57" y="291"/>
                      <a:pt x="57" y="291"/>
                    </a:cubicBezTo>
                    <a:cubicBezTo>
                      <a:pt x="54" y="285"/>
                      <a:pt x="50" y="280"/>
                      <a:pt x="43" y="273"/>
                    </a:cubicBezTo>
                    <a:cubicBezTo>
                      <a:pt x="36" y="266"/>
                      <a:pt x="30" y="262"/>
                      <a:pt x="24" y="259"/>
                    </a:cubicBezTo>
                    <a:cubicBezTo>
                      <a:pt x="31" y="226"/>
                      <a:pt x="31" y="226"/>
                      <a:pt x="31" y="226"/>
                    </a:cubicBezTo>
                    <a:cubicBezTo>
                      <a:pt x="41" y="217"/>
                      <a:pt x="41" y="217"/>
                      <a:pt x="41" y="217"/>
                    </a:cubicBezTo>
                    <a:cubicBezTo>
                      <a:pt x="41" y="217"/>
                      <a:pt x="58" y="217"/>
                      <a:pt x="78" y="237"/>
                    </a:cubicBezTo>
                    <a:cubicBezTo>
                      <a:pt x="98" y="257"/>
                      <a:pt x="99" y="275"/>
                      <a:pt x="99" y="275"/>
                    </a:cubicBezTo>
                    <a:lnTo>
                      <a:pt x="89" y="284"/>
                    </a:lnTo>
                    <a:close/>
                  </a:path>
                </a:pathLst>
              </a:custGeom>
              <a:solidFill>
                <a:schemeClr val="bg1"/>
              </a:solidFill>
              <a:ln>
                <a:noFill/>
              </a:ln>
            </p:spPr>
            <p:txBody>
              <a:bodyPr vert="horz" wrap="square" lIns="83748" tIns="41874" rIns="83748" bIns="41874" numCol="1" anchor="t" anchorCtr="0" compatLnSpc="1"/>
              <a:lstStyle/>
              <a:p>
                <a:pPr>
                  <a:lnSpc>
                    <a:spcPct val="120000"/>
                  </a:lnSpc>
                </a:pPr>
                <a:endParaRPr lang="en-US" sz="1100" dirty="0">
                  <a:solidFill>
                    <a:schemeClr val="bg1">
                      <a:lumMod val="6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spTree>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par>
                          <p:cTn id="18" fill="hold">
                            <p:stCondLst>
                              <p:cond delay="1500"/>
                            </p:stCondLst>
                            <p:childTnLst>
                              <p:par>
                                <p:cTn id="19" presetID="18" presetClass="entr" presetSubtype="12" fill="hold" nodeType="after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strips(downLeft)">
                                      <p:cBhvr>
                                        <p:cTn id="21"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10" grpId="0"/>
      <p:bldP spid="5"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FEFEFE"/>
            </a:gs>
            <a:gs pos="100000">
              <a:srgbClr val="FCFCFC"/>
            </a:gs>
          </a:gsLst>
          <a:lin ang="13200000" scaled="0"/>
        </a:gradFill>
        <a:effectLst/>
      </p:bgPr>
    </p:bg>
    <p:spTree>
      <p:nvGrpSpPr>
        <p:cNvPr id="1" name=""/>
        <p:cNvGrpSpPr/>
        <p:nvPr/>
      </p:nvGrpSpPr>
      <p:grpSpPr>
        <a:xfrm>
          <a:off x="0" y="0"/>
          <a:ext cx="0" cy="0"/>
          <a:chOff x="0" y="0"/>
          <a:chExt cx="0" cy="0"/>
        </a:xfrm>
      </p:grpSpPr>
      <p:pic>
        <p:nvPicPr>
          <p:cNvPr id="3074" name="Picture 3" descr="C:\Documents and Settings\t11318\桌面\揭开01.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349625" y="0"/>
            <a:ext cx="8836025" cy="685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525520" y="2021840"/>
            <a:ext cx="6208395" cy="4984750"/>
          </a:xfrm>
          <a:prstGeom prst="rect">
            <a:avLst/>
          </a:prstGeom>
        </p:spPr>
      </p:pic>
      <p:sp>
        <p:nvSpPr>
          <p:cNvPr id="27" name="TextBox 26"/>
          <p:cNvSpPr txBox="1"/>
          <p:nvPr/>
        </p:nvSpPr>
        <p:spPr>
          <a:xfrm>
            <a:off x="726440" y="2796540"/>
            <a:ext cx="3230880" cy="1014730"/>
          </a:xfrm>
          <a:prstGeom prst="rect">
            <a:avLst/>
          </a:prstGeom>
          <a:noFill/>
        </p:spPr>
        <p:txBody>
          <a:bodyPr wrap="none" rtlCol="0">
            <a:spAutoFit/>
          </a:bodyPr>
          <a:lstStyle/>
          <a:p>
            <a:pPr algn="l"/>
            <a:r>
              <a:rPr lang="zh-CN" altLang="en-US" sz="60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谢谢观看</a:t>
            </a:r>
          </a:p>
        </p:txBody>
      </p:sp>
    </p:spTree>
    <p:custDataLst>
      <p:tags r:id="rId1"/>
    </p:custDataLst>
  </p:cSld>
  <p:clrMapOvr>
    <a:masterClrMapping/>
  </p:clrMapOvr>
  <p:transition advTm="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4553"/>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4553"/>
</p:tagLst>
</file>

<file path=ppt/tags/tag3.xml><?xml version="1.0" encoding="utf-8"?>
<p:tagLst xmlns:a="http://schemas.openxmlformats.org/drawingml/2006/main" xmlns:r="http://schemas.openxmlformats.org/officeDocument/2006/relationships" xmlns:p="http://schemas.openxmlformats.org/presentationml/2006/main">
  <p:tag name="KSO_WM_TEMPLATE_TOPIC_DEFAULT" val="1"/>
  <p:tag name="KSO_WM_TEMPLATE_JOB_ID" val="2"/>
  <p:tag name="KSO_WM_TEMPLATE_SCENE_ID" val="1"/>
  <p:tag name="KSO_WM_TEMPLATE_OUTLINE_ID" val="15"/>
  <p:tag name="KSO_WM_TEMPLATE_TOPIC_ID" val="2869567"/>
  <p:tag name="KSO_WM_BEAUTIFY_FLAG" val="#wm#"/>
  <p:tag name="KSO_WM_TAG_VERSION" val="1.0"/>
  <p:tag name="KSO_WM_TEMPLATE_INDEX" val="20184553"/>
  <p:tag name="KSO_WM_TEMPLATE_CATEGORY" val="custom"/>
  <p:tag name="KSO_WM_TEMPLATE_THUMBS_INDEX" val="1、6、10、14、20、26、27、28、29、31"/>
</p:tagLst>
</file>

<file path=ppt/tags/tag4.xml><?xml version="1.0" encoding="utf-8"?>
<p:tagLst xmlns:a="http://schemas.openxmlformats.org/drawingml/2006/main" xmlns:r="http://schemas.openxmlformats.org/officeDocument/2006/relationships" xmlns:p="http://schemas.openxmlformats.org/presentationml/2006/main">
  <p:tag name="KSO_WM_SLIDE_SUBTYPE" val="pureTxt"/>
  <p:tag name="KSO_WM_TEMPLATE_TOPIC_DEFAULT" val="1"/>
  <p:tag name="KSO_WM_TEMPLATE_JOB_ID" val="2"/>
  <p:tag name="KSO_WM_TEMPLATE_SCENE_ID" val="1"/>
  <p:tag name="KSO_WM_TEMPLATE_OUTLINE_ID" val="15"/>
  <p:tag name="KSO_WM_TEMPLATE_TOPIC_ID" val="2869567"/>
  <p:tag name="KSO_WM_SLIDE_SIZE" val="828*343"/>
  <p:tag name="KSO_WM_SLIDE_POSITION" val="66*144"/>
  <p:tag name="KSO_WM_BEAUTIFY_FLAG" val="#wm#"/>
  <p:tag name="KSO_WM_SLIDE_TYPE" val="title"/>
  <p:tag name="KSO_WM_SLIDE_LAYOUT_CNT" val="1_1"/>
  <p:tag name="KSO_WM_SLIDE_LAYOUT" val="a_b"/>
  <p:tag name="KSO_WM_SLIDE_ITEM_CNT" val="2"/>
  <p:tag name="KSO_WM_SLIDE_INDEX" val="1"/>
  <p:tag name="KSO_WM_SLIDE_ID" val="custom20184553_1"/>
  <p:tag name="KSO_WM_TAG_VERSION" val="1.0"/>
  <p:tag name="KSO_WM_TEMPLATE_INDEX" val="20184553"/>
  <p:tag name="KSO_WM_TEMPLATE_CATEGORY" val="custom"/>
  <p:tag name="KSO_WM_TEMPLATE_THUMBS_INDEX" val="1、6、10、14、20、26、27、28、29、31"/>
</p:tagLst>
</file>

<file path=ppt/tags/tag5.xml><?xml version="1.0" encoding="utf-8"?>
<p:tagLst xmlns:a="http://schemas.openxmlformats.org/drawingml/2006/main" xmlns:r="http://schemas.openxmlformats.org/officeDocument/2006/relationships" xmlns:p="http://schemas.openxmlformats.org/presentationml/2006/main">
  <p:tag name="ISLIDE.DIAGRAM" val="94f87322-0335-49a4-ab2d-5842b1252b8d"/>
</p:tagLst>
</file>

<file path=ppt/tags/tag6.xml><?xml version="1.0" encoding="utf-8"?>
<p:tagLst xmlns:a="http://schemas.openxmlformats.org/drawingml/2006/main" xmlns:r="http://schemas.openxmlformats.org/officeDocument/2006/relationships" xmlns:p="http://schemas.openxmlformats.org/presentationml/2006/main">
  <p:tag name="KSO_WM_SLIDE_SUBTYPE" val="pureTxt"/>
  <p:tag name="KSO_WM_TEMPLATE_TOPIC_DEFAULT" val="1"/>
  <p:tag name="KSO_WM_TEMPLATE_JOB_ID" val="2"/>
  <p:tag name="KSO_WM_TEMPLATE_SCENE_ID" val="1"/>
  <p:tag name="KSO_WM_TEMPLATE_OUTLINE_ID" val="15"/>
  <p:tag name="KSO_WM_TEMPLATE_TOPIC_ID" val="2869567"/>
  <p:tag name="KSO_WM_SLIDE_SIZE" val="828*343"/>
  <p:tag name="KSO_WM_SLIDE_POSITION" val="66*144"/>
  <p:tag name="KSO_WM_BEAUTIFY_FLAG" val="#wm#"/>
  <p:tag name="KSO_WM_SLIDE_TYPE" val="title"/>
  <p:tag name="KSO_WM_SLIDE_LAYOUT_CNT" val="1_1"/>
  <p:tag name="KSO_WM_SLIDE_LAYOUT" val="a_b"/>
  <p:tag name="KSO_WM_SLIDE_ITEM_CNT" val="2"/>
  <p:tag name="KSO_WM_SLIDE_INDEX" val="1"/>
  <p:tag name="KSO_WM_SLIDE_ID" val="custom20184553_1"/>
  <p:tag name="KSO_WM_TAG_VERSION" val="1.0"/>
  <p:tag name="KSO_WM_TEMPLATE_INDEX" val="20184553"/>
  <p:tag name="KSO_WM_TEMPLATE_CATEGORY" val="custom"/>
  <p:tag name="KSO_WM_TEMPLATE_THUMBS_INDEX" val="1、6、10、14、20、26、27、28、29、31"/>
</p:tagLst>
</file>

<file path=ppt/theme/theme1.xml><?xml version="1.0" encoding="utf-8"?>
<a:theme xmlns:a="http://schemas.openxmlformats.org/drawingml/2006/main" name="Office 主题">
  <a:themeElements>
    <a:clrScheme name="自定义 21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3890</Words>
  <Application>Microsoft Macintosh PowerPoint</Application>
  <PresentationFormat>宽屏</PresentationFormat>
  <Paragraphs>266</Paragraphs>
  <Slides>28</Slides>
  <Notes>28</Notes>
  <HiddenSlides>0</HiddenSlides>
  <MMClips>1</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40" baseType="lpstr">
      <vt:lpstr>Arial Black</vt:lpstr>
      <vt:lpstr>Calibri</vt:lpstr>
      <vt:lpstr>Gill Sans</vt:lpstr>
      <vt:lpstr>Gulim</vt:lpstr>
      <vt:lpstr>Roboto Condensed</vt:lpstr>
      <vt:lpstr>方正兰亭黑_GBK</vt:lpstr>
      <vt:lpstr>黑体</vt:lpstr>
      <vt:lpstr>宋体</vt:lpstr>
      <vt:lpstr>微软雅黑</vt:lpstr>
      <vt:lpstr>Arial</vt:lpstr>
      <vt:lpstr>Office 主题</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3</cp:revision>
  <dcterms:created xsi:type="dcterms:W3CDTF">2019-05-14T02:19:00Z</dcterms:created>
  <dcterms:modified xsi:type="dcterms:W3CDTF">2020-03-13T12:05:03Z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