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12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609153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2180901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1419371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1562202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875940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3442742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2717245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1539282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3977944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398270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1016639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4DA746-A472-4CC3-B54A-872399EF1F0A}" type="datetimeFigureOut">
              <a:rPr lang="zh-CN" altLang="en-US" smtClean="0"/>
              <a:t>2015-2-8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2269793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4DA746-A472-4CC3-B54A-872399EF1F0A}" type="datetimeFigureOut">
              <a:rPr lang="zh-CN" altLang="en-US" smtClean="0"/>
              <a:t>2015-2-8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C9AAA-5F97-4044-928B-87D38DAEBF23}" type="slidenum">
              <a:rPr lang="zh-CN" altLang="en-US" smtClean="0"/>
              <a:t>‹#›</a:t>
            </a:fld>
            <a:endParaRPr lang="zh-CN" altLang="en-US"/>
          </a:p>
        </p:txBody>
      </p:sp>
    </p:spTree>
    <p:extLst>
      <p:ext uri="{BB962C8B-B14F-4D97-AF65-F5344CB8AC3E}">
        <p14:creationId xmlns:p14="http://schemas.microsoft.com/office/powerpoint/2010/main" val="3622074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zh-CN" altLang="en-US" b="0" i="0" u="none" strike="noStrike" kern="100" baseline="0" dirty="0" smtClean="0">
                <a:latin typeface="Calibri"/>
                <a:ea typeface="宋体"/>
              </a:rPr>
              <a:t>一般贸易出口退税流程介绍</a:t>
            </a:r>
          </a:p>
        </p:txBody>
      </p:sp>
    </p:spTree>
    <p:extLst>
      <p:ext uri="{BB962C8B-B14F-4D97-AF65-F5344CB8AC3E}">
        <p14:creationId xmlns:p14="http://schemas.microsoft.com/office/powerpoint/2010/main" val="991992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前两篇文章，我们介绍了一个什么是一般贸易出口退税和出口退税的计算方法，先了解这两个内容我们再来看看一般贸易出口退税的流程是什么样的？</a:t>
            </a:r>
          </a:p>
        </p:txBody>
      </p:sp>
    </p:spTree>
    <p:extLst>
      <p:ext uri="{BB962C8B-B14F-4D97-AF65-F5344CB8AC3E}">
        <p14:creationId xmlns:p14="http://schemas.microsoft.com/office/powerpoint/2010/main" val="3440035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在一般贸易出口退税的流程，申请条件，申请范围，申报要求等几个方面来全方位了解整个流程。</a:t>
            </a:r>
          </a:p>
        </p:txBody>
      </p:sp>
    </p:spTree>
    <p:extLst>
      <p:ext uri="{BB962C8B-B14F-4D97-AF65-F5344CB8AC3E}">
        <p14:creationId xmlns:p14="http://schemas.microsoft.com/office/powerpoint/2010/main" val="209250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zh-CN" altLang="en-US" b="0" i="0" u="none" strike="noStrike" kern="100" baseline="0" smtClean="0">
                <a:latin typeface="Calibri"/>
                <a:ea typeface="宋体"/>
              </a:rPr>
              <a:t>一般贸易出口退税申请流程的流程简介：</a:t>
            </a:r>
          </a:p>
        </p:txBody>
      </p:sp>
    </p:spTree>
    <p:extLst>
      <p:ext uri="{BB962C8B-B14F-4D97-AF65-F5344CB8AC3E}">
        <p14:creationId xmlns:p14="http://schemas.microsoft.com/office/powerpoint/2010/main" val="2874426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en-US" altLang="zh-CN" b="0" i="0" u="none" strike="noStrike" kern="100" baseline="0" smtClean="0">
                <a:ea typeface="宋体"/>
              </a:rPr>
              <a:t>1. </a:t>
            </a:r>
            <a:r>
              <a:rPr lang="zh-CN" altLang="en-US" b="0" i="0" u="none" strike="noStrike" kern="100" baseline="0" smtClean="0">
                <a:latin typeface="Calibri"/>
                <a:ea typeface="宋体"/>
              </a:rPr>
              <a:t>有关证件的送验及登记表的领取</a:t>
            </a:r>
          </a:p>
        </p:txBody>
      </p:sp>
    </p:spTree>
    <p:extLst>
      <p:ext uri="{BB962C8B-B14F-4D97-AF65-F5344CB8AC3E}">
        <p14:creationId xmlns:p14="http://schemas.microsoft.com/office/powerpoint/2010/main" val="3223875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企业在取得有关部门批准其经营出口产品业务的文件和工商行政管理部门核发的工商登记证明后，应于</a:t>
            </a:r>
            <a:r>
              <a:rPr lang="en-US" altLang="zh-CN" b="0" i="0" u="none" strike="noStrike" kern="100" baseline="0" smtClean="0">
                <a:latin typeface="Calibri"/>
                <a:ea typeface="宋体"/>
              </a:rPr>
              <a:t>30</a:t>
            </a:r>
            <a:r>
              <a:rPr lang="zh-CN" altLang="en-US" b="0" i="0" u="none" strike="noStrike" kern="100" baseline="0" smtClean="0">
                <a:latin typeface="Calibri"/>
                <a:ea typeface="宋体"/>
              </a:rPr>
              <a:t>日内办理出口企业退税登记。</a:t>
            </a:r>
          </a:p>
        </p:txBody>
      </p:sp>
    </p:spTree>
    <p:extLst>
      <p:ext uri="{BB962C8B-B14F-4D97-AF65-F5344CB8AC3E}">
        <p14:creationId xmlns:p14="http://schemas.microsoft.com/office/powerpoint/2010/main" val="2705328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2. </a:t>
            </a:r>
            <a:r>
              <a:rPr lang="zh-CN" altLang="en-US" b="0" i="0" u="none" strike="noStrike" kern="100" baseline="0" smtClean="0">
                <a:latin typeface="Calibri"/>
                <a:ea typeface="宋体"/>
              </a:rPr>
              <a:t>退税登记的申报和受理</a:t>
            </a:r>
          </a:p>
        </p:txBody>
      </p:sp>
    </p:spTree>
    <p:extLst>
      <p:ext uri="{BB962C8B-B14F-4D97-AF65-F5344CB8AC3E}">
        <p14:creationId xmlns:p14="http://schemas.microsoft.com/office/powerpoint/2010/main" val="3695302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企业领到“出口企业退税登记表”后，即按登记表及有关要求填写，加盖企业公章和有关人员印章后，连同出口产品经营权批准文件、工商登记证明等证明资料一起报送税务机关，税务机关经审核无误后，即受理登记。</a:t>
            </a:r>
          </a:p>
        </p:txBody>
      </p:sp>
    </p:spTree>
    <p:extLst>
      <p:ext uri="{BB962C8B-B14F-4D97-AF65-F5344CB8AC3E}">
        <p14:creationId xmlns:p14="http://schemas.microsoft.com/office/powerpoint/2010/main" val="2855832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3. </a:t>
            </a:r>
            <a:r>
              <a:rPr lang="zh-CN" altLang="en-US" b="0" i="0" u="none" strike="noStrike" kern="100" baseline="0" smtClean="0">
                <a:latin typeface="Calibri"/>
                <a:ea typeface="宋体"/>
              </a:rPr>
              <a:t>填发出口退税登记证</a:t>
            </a:r>
          </a:p>
        </p:txBody>
      </p:sp>
    </p:spTree>
    <p:extLst>
      <p:ext uri="{BB962C8B-B14F-4D97-AF65-F5344CB8AC3E}">
        <p14:creationId xmlns:p14="http://schemas.microsoft.com/office/powerpoint/2010/main" val="3627430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税务机关接到企业的正式申请，经审核无误并按规定的程序批准后，核发给企业“出口退税登记”。</a:t>
            </a:r>
          </a:p>
        </p:txBody>
      </p:sp>
    </p:spTree>
    <p:extLst>
      <p:ext uri="{BB962C8B-B14F-4D97-AF65-F5344CB8AC3E}">
        <p14:creationId xmlns:p14="http://schemas.microsoft.com/office/powerpoint/2010/main" val="2288166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4. </a:t>
            </a:r>
            <a:r>
              <a:rPr lang="zh-CN" altLang="en-US" b="0" i="0" u="none" strike="noStrike" kern="100" baseline="0" smtClean="0">
                <a:latin typeface="Calibri"/>
                <a:ea typeface="宋体"/>
              </a:rPr>
              <a:t>出口退税登记的变更或注销</a:t>
            </a:r>
          </a:p>
        </p:txBody>
      </p:sp>
    </p:spTree>
    <p:extLst>
      <p:ext uri="{BB962C8B-B14F-4D97-AF65-F5344CB8AC3E}">
        <p14:creationId xmlns:p14="http://schemas.microsoft.com/office/powerpoint/2010/main" val="2795077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当企业经营状况发生变化或某些退税政策发生变动时，应根据实际需要变更或注销退税登记。</a:t>
            </a:r>
          </a:p>
        </p:txBody>
      </p:sp>
    </p:spTree>
    <p:extLst>
      <p:ext uri="{BB962C8B-B14F-4D97-AF65-F5344CB8AC3E}">
        <p14:creationId xmlns:p14="http://schemas.microsoft.com/office/powerpoint/2010/main" val="2707742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zh-CN" altLang="en-US" b="0" i="0" u="none" strike="noStrike" kern="100" baseline="0" smtClean="0">
                <a:latin typeface="Calibri"/>
                <a:ea typeface="宋体"/>
              </a:rPr>
              <a:t>一般贸易出口退税申请流程的申请条件：</a:t>
            </a:r>
          </a:p>
        </p:txBody>
      </p:sp>
    </p:spTree>
    <p:extLst>
      <p:ext uri="{BB962C8B-B14F-4D97-AF65-F5344CB8AC3E}">
        <p14:creationId xmlns:p14="http://schemas.microsoft.com/office/powerpoint/2010/main" val="3455137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1. </a:t>
            </a:r>
            <a:r>
              <a:rPr lang="zh-CN" altLang="en-US" b="0" i="0" u="none" strike="noStrike" kern="100" baseline="0" smtClean="0">
                <a:latin typeface="Calibri"/>
                <a:ea typeface="宋体"/>
              </a:rPr>
              <a:t>必须经营出口产品业务，这是企业申办出口退税登记最基本的条件。</a:t>
            </a:r>
          </a:p>
        </p:txBody>
      </p:sp>
    </p:spTree>
    <p:extLst>
      <p:ext uri="{BB962C8B-B14F-4D97-AF65-F5344CB8AC3E}">
        <p14:creationId xmlns:p14="http://schemas.microsoft.com/office/powerpoint/2010/main" val="2949221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2. </a:t>
            </a:r>
            <a:r>
              <a:rPr lang="zh-CN" altLang="en-US" b="0" i="0" u="none" strike="noStrike" kern="100" baseline="0" smtClean="0">
                <a:latin typeface="Calibri"/>
                <a:ea typeface="宋体"/>
              </a:rPr>
              <a:t>必须持有工商行政管理部门核发的营业执照。营业执照是企业法人营业执照的简称，是企业或组织是合法经营权的凭证。</a:t>
            </a:r>
          </a:p>
        </p:txBody>
      </p:sp>
    </p:spTree>
    <p:extLst>
      <p:ext uri="{BB962C8B-B14F-4D97-AF65-F5344CB8AC3E}">
        <p14:creationId xmlns:p14="http://schemas.microsoft.com/office/powerpoint/2010/main" val="1133962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3. </a:t>
            </a:r>
            <a:r>
              <a:rPr lang="zh-CN" altLang="en-US" b="0" i="0" u="none" strike="noStrike" kern="100" baseline="0" smtClean="0">
                <a:latin typeface="Calibri"/>
                <a:ea typeface="宋体"/>
              </a:rPr>
              <a:t>必须是实行独立经济核算的企业单位，具有法人地位，有完整的会计工作体系，独立编制财务收支计划和资金平衡表，并在银行开设独立帐户，可以对外办理购销业务和货款结算。</a:t>
            </a:r>
          </a:p>
        </p:txBody>
      </p:sp>
    </p:spTree>
    <p:extLst>
      <p:ext uri="{BB962C8B-B14F-4D97-AF65-F5344CB8AC3E}">
        <p14:creationId xmlns:p14="http://schemas.microsoft.com/office/powerpoint/2010/main" val="1098053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凡不同时具备上述条件的企业单位，一般不予以办理出口企业退税登记。</a:t>
            </a:r>
          </a:p>
        </p:txBody>
      </p:sp>
    </p:spTree>
    <p:extLst>
      <p:ext uri="{BB962C8B-B14F-4D97-AF65-F5344CB8AC3E}">
        <p14:creationId xmlns:p14="http://schemas.microsoft.com/office/powerpoint/2010/main" val="2394786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zh-CN" altLang="en-US" b="0" i="0" u="none" strike="noStrike" kern="100" baseline="0" smtClean="0">
                <a:latin typeface="Calibri"/>
                <a:ea typeface="宋体"/>
              </a:rPr>
              <a:t>一般贸易出口退税申请流程的申请范围：</a:t>
            </a:r>
          </a:p>
        </p:txBody>
      </p:sp>
    </p:spTree>
    <p:extLst>
      <p:ext uri="{BB962C8B-B14F-4D97-AF65-F5344CB8AC3E}">
        <p14:creationId xmlns:p14="http://schemas.microsoft.com/office/powerpoint/2010/main" val="4220891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我国出口的产品，凡属于已征或应征产品税、增值税和特别消费税的产品，除国家明确规定不予退还已征税款或免征应征税款。</a:t>
            </a:r>
          </a:p>
        </p:txBody>
      </p:sp>
    </p:spTree>
    <p:extLst>
      <p:ext uri="{BB962C8B-B14F-4D97-AF65-F5344CB8AC3E}">
        <p14:creationId xmlns:p14="http://schemas.microsoft.com/office/powerpoint/2010/main" val="3695650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zh-CN" altLang="en-US" b="0" i="0" u="none" strike="noStrike" kern="100" baseline="0" smtClean="0">
                <a:latin typeface="Calibri"/>
                <a:ea typeface="宋体"/>
              </a:rPr>
              <a:t>出口产品，一般应具备以下的</a:t>
            </a:r>
            <a:r>
              <a:rPr lang="en-US" altLang="zh-CN" b="0" i="0" u="none" strike="noStrike" kern="100" baseline="0" smtClean="0">
                <a:latin typeface="Calibri"/>
                <a:ea typeface="宋体"/>
              </a:rPr>
              <a:t>4</a:t>
            </a:r>
            <a:r>
              <a:rPr lang="zh-CN" altLang="en-US" b="0" i="0" u="none" strike="noStrike" kern="100" baseline="0" smtClean="0">
                <a:latin typeface="Calibri"/>
                <a:ea typeface="宋体"/>
              </a:rPr>
              <a:t>个条件：</a:t>
            </a:r>
          </a:p>
        </p:txBody>
      </p:sp>
    </p:spTree>
    <p:extLst>
      <p:ext uri="{BB962C8B-B14F-4D97-AF65-F5344CB8AC3E}">
        <p14:creationId xmlns:p14="http://schemas.microsoft.com/office/powerpoint/2010/main" val="2929405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en-US" altLang="zh-CN" b="0" i="0" u="none" strike="noStrike" kern="100" baseline="0" smtClean="0">
                <a:ea typeface="宋体"/>
              </a:rPr>
              <a:t>1</a:t>
            </a:r>
            <a:r>
              <a:rPr lang="zh-CN" altLang="en-US" b="0" i="0" u="none" strike="noStrike" kern="100" baseline="0" smtClean="0">
                <a:latin typeface="Calibri"/>
                <a:ea typeface="宋体"/>
              </a:rPr>
              <a:t>．必须是属于产品税、增值税和特别消费税范围的产品。</a:t>
            </a:r>
          </a:p>
        </p:txBody>
      </p:sp>
    </p:spTree>
    <p:extLst>
      <p:ext uri="{BB962C8B-B14F-4D97-AF65-F5344CB8AC3E}">
        <p14:creationId xmlns:p14="http://schemas.microsoft.com/office/powerpoint/2010/main" val="1335591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2</a:t>
            </a:r>
            <a:r>
              <a:rPr lang="zh-CN" altLang="en-US" b="0" i="0" u="none" strike="noStrike" kern="100" baseline="0" smtClean="0">
                <a:latin typeface="Calibri"/>
                <a:ea typeface="宋体"/>
              </a:rPr>
              <a:t>．必须报关离境。所谓出口，即是输出关口。这是区分产品是否属于应退税出口产品的主要标准之一，以加盖海关验讫章的出口报关单和出口销售发票为准。</a:t>
            </a:r>
          </a:p>
        </p:txBody>
      </p:sp>
    </p:spTree>
    <p:extLst>
      <p:ext uri="{BB962C8B-B14F-4D97-AF65-F5344CB8AC3E}">
        <p14:creationId xmlns:p14="http://schemas.microsoft.com/office/powerpoint/2010/main" val="2969400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3</a:t>
            </a:r>
            <a:r>
              <a:rPr lang="zh-CN" altLang="en-US" b="0" i="0" u="none" strike="noStrike" kern="100" baseline="0" smtClean="0">
                <a:latin typeface="Calibri"/>
                <a:ea typeface="宋体"/>
              </a:rPr>
              <a:t>．必须在财务上做出口销售。</a:t>
            </a:r>
          </a:p>
        </p:txBody>
      </p:sp>
    </p:spTree>
    <p:extLst>
      <p:ext uri="{BB962C8B-B14F-4D97-AF65-F5344CB8AC3E}">
        <p14:creationId xmlns:p14="http://schemas.microsoft.com/office/powerpoint/2010/main" val="2808025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en-US" altLang="zh-CN" b="0" i="0" u="none" strike="noStrike" kern="100" baseline="0" smtClean="0">
                <a:ea typeface="宋体"/>
              </a:rPr>
              <a:t>4.</a:t>
            </a:r>
            <a:r>
              <a:rPr lang="zh-CN" altLang="en-US" b="0" i="0" u="none" strike="noStrike" kern="100" baseline="0" smtClean="0">
                <a:latin typeface="Calibri"/>
                <a:ea typeface="宋体"/>
              </a:rPr>
              <a:t>必须是出口创汇并已核销的货物。</a:t>
            </a:r>
          </a:p>
        </p:txBody>
      </p:sp>
    </p:spTree>
    <p:extLst>
      <p:ext uri="{BB962C8B-B14F-4D97-AF65-F5344CB8AC3E}">
        <p14:creationId xmlns:p14="http://schemas.microsoft.com/office/powerpoint/2010/main" val="1183441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一般的说，出口产品只有在同时具备上述</a:t>
            </a:r>
            <a:r>
              <a:rPr lang="en-US" altLang="zh-CN" b="0" i="0" u="none" strike="noStrike" kern="100" baseline="0" smtClean="0">
                <a:latin typeface="Calibri"/>
                <a:ea typeface="宋体"/>
              </a:rPr>
              <a:t>4</a:t>
            </a:r>
            <a:r>
              <a:rPr lang="zh-CN" altLang="en-US" b="0" i="0" u="none" strike="noStrike" kern="100" baseline="0" smtClean="0">
                <a:latin typeface="Calibri"/>
                <a:ea typeface="宋体"/>
              </a:rPr>
              <a:t>个条件的情况下才予以退税。但是国家对退税的产品也做了特殊规定，特准某些产品视同出口产品予以退税。</a:t>
            </a:r>
          </a:p>
        </p:txBody>
      </p:sp>
    </p:spTree>
    <p:extLst>
      <p:ext uri="{BB962C8B-B14F-4D97-AF65-F5344CB8AC3E}">
        <p14:creationId xmlns:p14="http://schemas.microsoft.com/office/powerpoint/2010/main" val="1349856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zh-CN" altLang="en-US" b="0" i="0" u="none" strike="noStrike" kern="100" baseline="0" smtClean="0">
                <a:latin typeface="Calibri"/>
                <a:ea typeface="宋体"/>
              </a:rPr>
              <a:t>一般贸易出口退税申请流程的申报要求：</a:t>
            </a:r>
          </a:p>
        </p:txBody>
      </p:sp>
    </p:spTree>
    <p:extLst>
      <p:ext uri="{BB962C8B-B14F-4D97-AF65-F5344CB8AC3E}">
        <p14:creationId xmlns:p14="http://schemas.microsoft.com/office/powerpoint/2010/main" val="3375734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出口企业按照申报要求，每月</a:t>
            </a:r>
            <a:r>
              <a:rPr lang="en-US" altLang="zh-CN" b="0" i="0" u="none" strike="noStrike" kern="100" baseline="0" smtClean="0">
                <a:latin typeface="Calibri"/>
                <a:ea typeface="宋体"/>
              </a:rPr>
              <a:t>15</a:t>
            </a:r>
            <a:r>
              <a:rPr lang="zh-CN" altLang="en-US" b="0" i="0" u="none" strike="noStrike" kern="100" baseline="0" smtClean="0">
                <a:latin typeface="Calibri"/>
                <a:ea typeface="宋体"/>
              </a:rPr>
              <a:t>日之前申报</a:t>
            </a:r>
            <a:r>
              <a:rPr lang="en-US" altLang="zh-CN" b="0" i="0" u="none" strike="noStrike" kern="100" baseline="0" smtClean="0">
                <a:latin typeface="Calibri"/>
                <a:ea typeface="宋体"/>
              </a:rPr>
              <a:t>1</a:t>
            </a:r>
            <a:r>
              <a:rPr lang="zh-CN" altLang="en-US" b="0" i="0" u="none" strike="noStrike" kern="100" baseline="0" smtClean="0">
                <a:latin typeface="Calibri"/>
                <a:ea typeface="宋体"/>
              </a:rPr>
              <a:t>次（中标业务、农副产品和回函情况除外）。</a:t>
            </a:r>
          </a:p>
        </p:txBody>
      </p:sp>
    </p:spTree>
    <p:extLst>
      <p:ext uri="{BB962C8B-B14F-4D97-AF65-F5344CB8AC3E}">
        <p14:creationId xmlns:p14="http://schemas.microsoft.com/office/powerpoint/2010/main" val="3598699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zh-CN" altLang="en-US" b="0" i="0" u="none" strike="noStrike" kern="100" baseline="0" smtClean="0">
                <a:latin typeface="Calibri"/>
                <a:ea typeface="宋体"/>
              </a:rPr>
              <a:t>外贸企业出口退税申报报表</a:t>
            </a:r>
          </a:p>
        </p:txBody>
      </p:sp>
    </p:spTree>
    <p:extLst>
      <p:ext uri="{BB962C8B-B14F-4D97-AF65-F5344CB8AC3E}">
        <p14:creationId xmlns:p14="http://schemas.microsoft.com/office/powerpoint/2010/main" val="1332236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zh-CN" altLang="en-US" b="0" i="0" u="none" strike="noStrike" kern="100" baseline="0" smtClean="0">
                <a:latin typeface="Calibri"/>
                <a:ea typeface="宋体"/>
              </a:rPr>
              <a:t>外贸企业申报退税时，必须报送下列三种申报报表：</a:t>
            </a:r>
          </a:p>
        </p:txBody>
      </p:sp>
    </p:spTree>
    <p:extLst>
      <p:ext uri="{BB962C8B-B14F-4D97-AF65-F5344CB8AC3E}">
        <p14:creationId xmlns:p14="http://schemas.microsoft.com/office/powerpoint/2010/main" val="3050842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A《</a:t>
            </a:r>
            <a:r>
              <a:rPr lang="zh-CN" altLang="en-US" b="0" i="0" u="none" strike="noStrike" kern="100" baseline="0" smtClean="0">
                <a:latin typeface="Calibri"/>
                <a:ea typeface="宋体"/>
              </a:rPr>
              <a:t>出口货物退税进货凭证申报明细表</a:t>
            </a:r>
            <a:r>
              <a:rPr lang="en-US" altLang="zh-CN" b="0" i="0" u="none" strike="noStrike" kern="100" baseline="0" smtClean="0">
                <a:ea typeface="宋体"/>
              </a:rPr>
              <a:t>》</a:t>
            </a:r>
            <a:r>
              <a:rPr lang="zh-CN" altLang="en-US" b="0" i="0" u="none" strike="noStrike" kern="100" baseline="0" smtClean="0">
                <a:latin typeface="Calibri"/>
                <a:ea typeface="宋体"/>
              </a:rPr>
              <a:t>反映出口货物购进征税情况</a:t>
            </a:r>
          </a:p>
        </p:txBody>
      </p:sp>
    </p:spTree>
    <p:extLst>
      <p:ext uri="{BB962C8B-B14F-4D97-AF65-F5344CB8AC3E}">
        <p14:creationId xmlns:p14="http://schemas.microsoft.com/office/powerpoint/2010/main" val="1721599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B《</a:t>
            </a:r>
            <a:r>
              <a:rPr lang="zh-CN" altLang="en-US" b="0" i="0" u="none" strike="noStrike" kern="100" baseline="0" smtClean="0">
                <a:latin typeface="Calibri"/>
                <a:ea typeface="宋体"/>
              </a:rPr>
              <a:t>出口货物退税申报明细表</a:t>
            </a:r>
            <a:r>
              <a:rPr lang="en-US" altLang="zh-CN" b="0" i="0" u="none" strike="noStrike" kern="100" baseline="0" smtClean="0">
                <a:ea typeface="宋体"/>
              </a:rPr>
              <a:t>》</a:t>
            </a:r>
            <a:r>
              <a:rPr lang="zh-CN" altLang="en-US" b="0" i="0" u="none" strike="noStrike" kern="100" baseline="0" smtClean="0">
                <a:latin typeface="Calibri"/>
                <a:ea typeface="宋体"/>
              </a:rPr>
              <a:t>反映出口货物的报关出口、外汇核销等情况</a:t>
            </a:r>
          </a:p>
        </p:txBody>
      </p:sp>
    </p:spTree>
    <p:extLst>
      <p:ext uri="{BB962C8B-B14F-4D97-AF65-F5344CB8AC3E}">
        <p14:creationId xmlns:p14="http://schemas.microsoft.com/office/powerpoint/2010/main" val="1516884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C《</a:t>
            </a:r>
            <a:r>
              <a:rPr lang="zh-CN" altLang="en-US" b="0" i="0" u="none" strike="noStrike" kern="100" baseline="0" smtClean="0">
                <a:latin typeface="Calibri"/>
                <a:ea typeface="宋体"/>
              </a:rPr>
              <a:t>外贸企业出口退税汇总申报表</a:t>
            </a:r>
            <a:r>
              <a:rPr lang="en-US" altLang="zh-CN" b="0" i="0" u="none" strike="noStrike" kern="100" baseline="0" smtClean="0">
                <a:ea typeface="宋体"/>
              </a:rPr>
              <a:t>》</a:t>
            </a:r>
            <a:r>
              <a:rPr lang="zh-CN" altLang="en-US" b="0" i="0" u="none" strike="noStrike" kern="100" baseline="0" smtClean="0">
                <a:latin typeface="Calibri"/>
                <a:ea typeface="宋体"/>
              </a:rPr>
              <a:t>反映本次申报的资料、报表、税额、商品、单证等综合汇总情况，也是退税部门审核签单的底表。</a:t>
            </a:r>
          </a:p>
        </p:txBody>
      </p:sp>
    </p:spTree>
    <p:extLst>
      <p:ext uri="{BB962C8B-B14F-4D97-AF65-F5344CB8AC3E}">
        <p14:creationId xmlns:p14="http://schemas.microsoft.com/office/powerpoint/2010/main" val="131236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D《</a:t>
            </a:r>
            <a:r>
              <a:rPr lang="zh-CN" altLang="en-US" b="0" i="0" u="none" strike="noStrike" kern="100" baseline="0" smtClean="0">
                <a:latin typeface="Calibri"/>
                <a:ea typeface="宋体"/>
              </a:rPr>
              <a:t>出口退税进货分批申报单</a:t>
            </a:r>
            <a:r>
              <a:rPr lang="en-US" altLang="zh-CN" b="0" i="0" u="none" strike="noStrike" kern="100" baseline="0" smtClean="0">
                <a:ea typeface="宋体"/>
              </a:rPr>
              <a:t>》</a:t>
            </a:r>
          </a:p>
        </p:txBody>
      </p:sp>
    </p:spTree>
    <p:extLst>
      <p:ext uri="{BB962C8B-B14F-4D97-AF65-F5344CB8AC3E}">
        <p14:creationId xmlns:p14="http://schemas.microsoft.com/office/powerpoint/2010/main" val="2816407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zh-CN" altLang="en-US" b="0" i="0" u="none" strike="noStrike" kern="100" baseline="0" smtClean="0">
                <a:latin typeface="Calibri"/>
                <a:ea typeface="宋体"/>
              </a:rPr>
              <a:t>出口退税进货分批申报单的办理</a:t>
            </a:r>
          </a:p>
        </p:txBody>
      </p:sp>
    </p:spTree>
    <p:extLst>
      <p:ext uri="{BB962C8B-B14F-4D97-AF65-F5344CB8AC3E}">
        <p14:creationId xmlns:p14="http://schemas.microsoft.com/office/powerpoint/2010/main" val="2537950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出口企业申请办理</a:t>
            </a:r>
            <a:r>
              <a:rPr lang="en-US" altLang="zh-CN" b="0" i="0" u="none" strike="noStrike" kern="100" baseline="0" smtClean="0">
                <a:ea typeface="宋体"/>
              </a:rPr>
              <a:t>《</a:t>
            </a:r>
            <a:r>
              <a:rPr lang="zh-CN" altLang="en-US" b="0" i="0" u="none" strike="noStrike" kern="100" baseline="0" smtClean="0">
                <a:latin typeface="Calibri"/>
                <a:ea typeface="宋体"/>
              </a:rPr>
              <a:t>出口退税进货分批申报单</a:t>
            </a:r>
            <a:r>
              <a:rPr lang="en-US" altLang="zh-CN" b="0" i="0" u="none" strike="noStrike" kern="100" baseline="0" smtClean="0">
                <a:ea typeface="宋体"/>
              </a:rPr>
              <a:t>》</a:t>
            </a:r>
            <a:r>
              <a:rPr lang="zh-CN" altLang="en-US" b="0" i="0" u="none" strike="noStrike" kern="100" baseline="0" smtClean="0">
                <a:latin typeface="Calibri"/>
                <a:ea typeface="宋体"/>
              </a:rPr>
              <a:t>须提供以下资料：</a:t>
            </a:r>
          </a:p>
        </p:txBody>
      </p:sp>
    </p:spTree>
    <p:extLst>
      <p:ext uri="{BB962C8B-B14F-4D97-AF65-F5344CB8AC3E}">
        <p14:creationId xmlns:p14="http://schemas.microsoft.com/office/powerpoint/2010/main" val="38076049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一、需办的出口货物增值税专用缴款书及对应地增值税专用发票的原件；</a:t>
            </a:r>
          </a:p>
        </p:txBody>
      </p:sp>
    </p:spTree>
    <p:extLst>
      <p:ext uri="{BB962C8B-B14F-4D97-AF65-F5344CB8AC3E}">
        <p14:creationId xmlns:p14="http://schemas.microsoft.com/office/powerpoint/2010/main" val="18050187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二、办理</a:t>
            </a:r>
            <a:r>
              <a:rPr lang="en-US" altLang="zh-CN" b="0" i="0" u="none" strike="noStrike" kern="100" baseline="0" smtClean="0">
                <a:ea typeface="宋体"/>
              </a:rPr>
              <a:t>《</a:t>
            </a:r>
            <a:r>
              <a:rPr lang="zh-CN" altLang="en-US" b="0" i="0" u="none" strike="noStrike" kern="100" baseline="0" smtClean="0">
                <a:latin typeface="Calibri"/>
                <a:ea typeface="宋体"/>
              </a:rPr>
              <a:t>出口退税进货分批申报单</a:t>
            </a:r>
            <a:r>
              <a:rPr lang="en-US" altLang="zh-CN" b="0" i="0" u="none" strike="noStrike" kern="100" baseline="0" smtClean="0">
                <a:ea typeface="宋体"/>
              </a:rPr>
              <a:t>》</a:t>
            </a:r>
            <a:r>
              <a:rPr lang="zh-CN" altLang="en-US" b="0" i="0" u="none" strike="noStrike" kern="100" baseline="0" smtClean="0">
                <a:latin typeface="Calibri"/>
                <a:ea typeface="宋体"/>
              </a:rPr>
              <a:t>时，应注意在此表“备注栏”填写供货企业名称。</a:t>
            </a:r>
          </a:p>
        </p:txBody>
      </p:sp>
    </p:spTree>
    <p:extLst>
      <p:ext uri="{BB962C8B-B14F-4D97-AF65-F5344CB8AC3E}">
        <p14:creationId xmlns:p14="http://schemas.microsoft.com/office/powerpoint/2010/main" val="28066106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zh-CN" altLang="en-US" b="0" i="0" u="none" strike="noStrike" kern="100" baseline="0" smtClean="0">
                <a:latin typeface="Calibri"/>
                <a:ea typeface="宋体"/>
              </a:rPr>
              <a:t>一般贸易出口退税申请流程的所需资料：</a:t>
            </a:r>
          </a:p>
        </p:txBody>
      </p:sp>
    </p:spTree>
    <p:extLst>
      <p:ext uri="{BB962C8B-B14F-4D97-AF65-F5344CB8AC3E}">
        <p14:creationId xmlns:p14="http://schemas.microsoft.com/office/powerpoint/2010/main" val="2598865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1. </a:t>
            </a:r>
            <a:r>
              <a:rPr lang="zh-CN" altLang="en-US" b="0" i="0" u="none" strike="noStrike" kern="100" baseline="0" smtClean="0">
                <a:latin typeface="Calibri"/>
                <a:ea typeface="宋体"/>
              </a:rPr>
              <a:t>报关单。报关单是货物进口或出口时进出口企业向海关办理申报手续，以便海关凭此查验和验放而填具的单据。</a:t>
            </a:r>
          </a:p>
        </p:txBody>
      </p:sp>
    </p:spTree>
    <p:extLst>
      <p:ext uri="{BB962C8B-B14F-4D97-AF65-F5344CB8AC3E}">
        <p14:creationId xmlns:p14="http://schemas.microsoft.com/office/powerpoint/2010/main" val="2366091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2. </a:t>
            </a:r>
            <a:r>
              <a:rPr lang="zh-CN" altLang="en-US" b="0" i="0" u="none" strike="noStrike" kern="100" baseline="0" smtClean="0">
                <a:latin typeface="Calibri"/>
                <a:ea typeface="宋体"/>
              </a:rPr>
              <a:t>出口销售发票。这是出口企业根据与出口购货方签订的销售合同填开的单证，是外商购货的主要凭证，也是出口企业财会部门凭此记帐做出口产品销售收入的依据。</a:t>
            </a:r>
          </a:p>
        </p:txBody>
      </p:sp>
    </p:spTree>
    <p:extLst>
      <p:ext uri="{BB962C8B-B14F-4D97-AF65-F5344CB8AC3E}">
        <p14:creationId xmlns:p14="http://schemas.microsoft.com/office/powerpoint/2010/main" val="1794080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3. </a:t>
            </a:r>
            <a:r>
              <a:rPr lang="zh-CN" altLang="en-US" b="0" i="0" u="none" strike="noStrike" kern="100" baseline="0" smtClean="0">
                <a:latin typeface="Calibri"/>
                <a:ea typeface="宋体"/>
              </a:rPr>
              <a:t>进货发票。提供进货发票主要是为了确定出口产品的供货单位、产品名称、计量单位、数量，是否是生产企业的销售价格，以便划分和计算确定其进货费用等。</a:t>
            </a:r>
          </a:p>
        </p:txBody>
      </p:sp>
    </p:spTree>
    <p:extLst>
      <p:ext uri="{BB962C8B-B14F-4D97-AF65-F5344CB8AC3E}">
        <p14:creationId xmlns:p14="http://schemas.microsoft.com/office/powerpoint/2010/main" val="3708764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4. </a:t>
            </a:r>
            <a:r>
              <a:rPr lang="zh-CN" altLang="en-US" b="0" i="0" u="none" strike="noStrike" kern="100" baseline="0" smtClean="0">
                <a:latin typeface="Calibri"/>
                <a:ea typeface="宋体"/>
              </a:rPr>
              <a:t>结汇水单或收汇通知书。</a:t>
            </a:r>
          </a:p>
        </p:txBody>
      </p:sp>
    </p:spTree>
    <p:extLst>
      <p:ext uri="{BB962C8B-B14F-4D97-AF65-F5344CB8AC3E}">
        <p14:creationId xmlns:p14="http://schemas.microsoft.com/office/powerpoint/2010/main" val="1519562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5. </a:t>
            </a:r>
            <a:r>
              <a:rPr lang="zh-CN" altLang="en-US" b="0" i="0" u="none" strike="noStrike" kern="100" baseline="0" smtClean="0">
                <a:latin typeface="Calibri"/>
                <a:ea typeface="宋体"/>
              </a:rPr>
              <a:t>属于生产企业直接出口或委托出口自制产品，凡以到岸价</a:t>
            </a:r>
            <a:r>
              <a:rPr lang="en-US" altLang="zh-CN" b="0" i="0" u="none" strike="noStrike" kern="100" baseline="0" smtClean="0">
                <a:latin typeface="Calibri"/>
                <a:ea typeface="宋体"/>
              </a:rPr>
              <a:t>CIF</a:t>
            </a:r>
            <a:r>
              <a:rPr lang="zh-CN" altLang="en-US" b="0" i="0" u="none" strike="noStrike" kern="100" baseline="0" smtClean="0">
                <a:latin typeface="Calibri"/>
                <a:ea typeface="宋体"/>
              </a:rPr>
              <a:t>结算的，还应附送出口货物运单和出口保险单。</a:t>
            </a:r>
          </a:p>
        </p:txBody>
      </p:sp>
    </p:spTree>
    <p:extLst>
      <p:ext uri="{BB962C8B-B14F-4D97-AF65-F5344CB8AC3E}">
        <p14:creationId xmlns:p14="http://schemas.microsoft.com/office/powerpoint/2010/main" val="27378215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6. </a:t>
            </a:r>
            <a:r>
              <a:rPr lang="zh-CN" altLang="en-US" b="0" i="0" u="none" strike="noStrike" kern="100" baseline="0" smtClean="0">
                <a:latin typeface="Calibri"/>
                <a:ea typeface="宋体"/>
              </a:rPr>
              <a:t>有进料加工复出口产品业务的企业，还应向税务机关报送进口料、件的合同编号、日期、进口料件名称、数量、复出口产品名称，进料成本金额和实纳各种税金额等。</a:t>
            </a:r>
          </a:p>
        </p:txBody>
      </p:sp>
    </p:spTree>
    <p:extLst>
      <p:ext uri="{BB962C8B-B14F-4D97-AF65-F5344CB8AC3E}">
        <p14:creationId xmlns:p14="http://schemas.microsoft.com/office/powerpoint/2010/main" val="262875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7. </a:t>
            </a:r>
            <a:r>
              <a:rPr lang="zh-CN" altLang="en-US" b="0" i="0" u="none" strike="noStrike" kern="100" baseline="0" smtClean="0">
                <a:latin typeface="Calibri"/>
                <a:ea typeface="宋体"/>
              </a:rPr>
              <a:t>产品征税证明。</a:t>
            </a:r>
          </a:p>
        </p:txBody>
      </p:sp>
    </p:spTree>
    <p:extLst>
      <p:ext uri="{BB962C8B-B14F-4D97-AF65-F5344CB8AC3E}">
        <p14:creationId xmlns:p14="http://schemas.microsoft.com/office/powerpoint/2010/main" val="26658045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8. </a:t>
            </a:r>
            <a:r>
              <a:rPr lang="zh-CN" altLang="en-US" b="0" i="0" u="none" strike="noStrike" kern="100" baseline="0" smtClean="0">
                <a:latin typeface="Calibri"/>
                <a:ea typeface="宋体"/>
              </a:rPr>
              <a:t>出口收汇已核销证明。</a:t>
            </a:r>
          </a:p>
        </p:txBody>
      </p:sp>
    </p:spTree>
    <p:extLst>
      <p:ext uri="{BB962C8B-B14F-4D97-AF65-F5344CB8AC3E}">
        <p14:creationId xmlns:p14="http://schemas.microsoft.com/office/powerpoint/2010/main" val="40146245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9. </a:t>
            </a:r>
            <a:r>
              <a:rPr lang="zh-CN" altLang="en-US" b="0" i="0" u="none" strike="noStrike" kern="100" baseline="0" smtClean="0">
                <a:latin typeface="Calibri"/>
                <a:ea typeface="宋体"/>
              </a:rPr>
              <a:t>与出口退税有关的其他材料。</a:t>
            </a:r>
          </a:p>
        </p:txBody>
      </p:sp>
    </p:spTree>
    <p:extLst>
      <p:ext uri="{BB962C8B-B14F-4D97-AF65-F5344CB8AC3E}">
        <p14:creationId xmlns:p14="http://schemas.microsoft.com/office/powerpoint/2010/main" val="21407887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zh-CN" altLang="en-US" b="0" i="0" u="none" strike="noStrike" kern="100" baseline="0" smtClean="0">
                <a:latin typeface="Calibri"/>
                <a:ea typeface="宋体"/>
              </a:rPr>
              <a:t>一般贸易出口退税申请流程的资料要求：</a:t>
            </a:r>
          </a:p>
        </p:txBody>
      </p:sp>
    </p:spTree>
    <p:extLst>
      <p:ext uri="{BB962C8B-B14F-4D97-AF65-F5344CB8AC3E}">
        <p14:creationId xmlns:p14="http://schemas.microsoft.com/office/powerpoint/2010/main" val="38932347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en-US" altLang="zh-CN" b="0" i="0" u="none" strike="noStrike" kern="100" baseline="0" smtClean="0">
                <a:ea typeface="宋体"/>
              </a:rPr>
              <a:t>1. </a:t>
            </a:r>
            <a:r>
              <a:rPr lang="zh-CN" altLang="en-US" b="0" i="0" u="none" strike="noStrike" kern="100" baseline="0" smtClean="0">
                <a:latin typeface="Calibri"/>
                <a:ea typeface="宋体"/>
              </a:rPr>
              <a:t>税收（出口货物）专用缴款书和税收出口货物完税分割单；</a:t>
            </a:r>
          </a:p>
        </p:txBody>
      </p:sp>
    </p:spTree>
    <p:extLst>
      <p:ext uri="{BB962C8B-B14F-4D97-AF65-F5344CB8AC3E}">
        <p14:creationId xmlns:p14="http://schemas.microsoft.com/office/powerpoint/2010/main" val="1919342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2. </a:t>
            </a:r>
            <a:r>
              <a:rPr lang="zh-CN" altLang="en-US" b="0" i="0" u="none" strike="noStrike" kern="100" baseline="0" smtClean="0">
                <a:latin typeface="Calibri"/>
                <a:ea typeface="宋体"/>
              </a:rPr>
              <a:t>增值税专用发票抵扣联；</a:t>
            </a:r>
          </a:p>
        </p:txBody>
      </p:sp>
    </p:spTree>
    <p:extLst>
      <p:ext uri="{BB962C8B-B14F-4D97-AF65-F5344CB8AC3E}">
        <p14:creationId xmlns:p14="http://schemas.microsoft.com/office/powerpoint/2010/main" val="27207710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3. </a:t>
            </a:r>
            <a:r>
              <a:rPr lang="zh-CN" altLang="en-US" b="0" i="0" u="none" strike="noStrike" kern="100" baseline="0" smtClean="0">
                <a:latin typeface="Calibri"/>
                <a:ea typeface="宋体"/>
              </a:rPr>
              <a:t>出口货物外销发票；</a:t>
            </a:r>
          </a:p>
        </p:txBody>
      </p:sp>
    </p:spTree>
    <p:extLst>
      <p:ext uri="{BB962C8B-B14F-4D97-AF65-F5344CB8AC3E}">
        <p14:creationId xmlns:p14="http://schemas.microsoft.com/office/powerpoint/2010/main" val="981474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4. </a:t>
            </a:r>
            <a:r>
              <a:rPr lang="zh-CN" altLang="en-US" b="0" i="0" u="none" strike="noStrike" kern="100" baseline="0" smtClean="0">
                <a:latin typeface="Calibri"/>
                <a:ea typeface="宋体"/>
              </a:rPr>
              <a:t>出口货物销售明细账；</a:t>
            </a:r>
          </a:p>
        </p:txBody>
      </p:sp>
    </p:spTree>
    <p:extLst>
      <p:ext uri="{BB962C8B-B14F-4D97-AF65-F5344CB8AC3E}">
        <p14:creationId xmlns:p14="http://schemas.microsoft.com/office/powerpoint/2010/main" val="20103428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en-US" altLang="zh-CN" b="0" i="0" u="none" strike="noStrike" kern="100" baseline="0" smtClean="0">
                <a:ea typeface="宋体"/>
              </a:rPr>
              <a:t>5. </a:t>
            </a:r>
            <a:r>
              <a:rPr lang="zh-CN" altLang="en-US" b="0" i="0" u="none" strike="noStrike" kern="100" baseline="0" smtClean="0">
                <a:latin typeface="Calibri"/>
                <a:ea typeface="宋体"/>
              </a:rPr>
              <a:t>出口收汇核销单（出口退税联）；</a:t>
            </a:r>
          </a:p>
        </p:txBody>
      </p:sp>
    </p:spTree>
    <p:extLst>
      <p:ext uri="{BB962C8B-B14F-4D97-AF65-F5344CB8AC3E}">
        <p14:creationId xmlns:p14="http://schemas.microsoft.com/office/powerpoint/2010/main" val="35917796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a:bodyPr>
          <a:lstStyle/>
          <a:p>
            <a:pPr marR="0" rtl="0"/>
            <a:r>
              <a:rPr lang="en-US" altLang="zh-CN" b="0" i="0" u="none" strike="noStrike" kern="100" baseline="0" smtClean="0">
                <a:ea typeface="宋体"/>
              </a:rPr>
              <a:t>6. </a:t>
            </a:r>
            <a:r>
              <a:rPr lang="zh-CN" altLang="en-US" b="0" i="0" u="none" strike="noStrike" kern="100" baseline="0" smtClean="0">
                <a:latin typeface="Calibri"/>
                <a:ea typeface="宋体"/>
              </a:rPr>
              <a:t>中华人民共和国海关出口货物报关单（出口退税专用联）；</a:t>
            </a:r>
          </a:p>
        </p:txBody>
      </p:sp>
    </p:spTree>
    <p:extLst>
      <p:ext uri="{BB962C8B-B14F-4D97-AF65-F5344CB8AC3E}">
        <p14:creationId xmlns:p14="http://schemas.microsoft.com/office/powerpoint/2010/main" val="32044709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en-US" altLang="zh-CN" b="0" i="0" u="none" strike="noStrike" kern="100" baseline="0" smtClean="0">
                <a:ea typeface="宋体"/>
              </a:rPr>
              <a:t>7. </a:t>
            </a:r>
            <a:r>
              <a:rPr lang="zh-CN" altLang="en-US" b="0" i="0" u="none" strike="noStrike" kern="100" baseline="0" smtClean="0">
                <a:latin typeface="Calibri"/>
                <a:ea typeface="宋体"/>
              </a:rPr>
              <a:t>出口货物退税汇总申报表、出口退税进货凭证申报明细表、出口货物退税申报明细表；</a:t>
            </a:r>
          </a:p>
        </p:txBody>
      </p:sp>
    </p:spTree>
    <p:extLst>
      <p:ext uri="{BB962C8B-B14F-4D97-AF65-F5344CB8AC3E}">
        <p14:creationId xmlns:p14="http://schemas.microsoft.com/office/powerpoint/2010/main" val="8197077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8. </a:t>
            </a:r>
            <a:r>
              <a:rPr lang="zh-CN" altLang="en-US" b="0" i="0" u="none" strike="noStrike" kern="100" baseline="0" smtClean="0">
                <a:latin typeface="Calibri"/>
                <a:ea typeface="宋体"/>
              </a:rPr>
              <a:t>预审疑点反馈表；</a:t>
            </a:r>
          </a:p>
        </p:txBody>
      </p:sp>
    </p:spTree>
    <p:extLst>
      <p:ext uri="{BB962C8B-B14F-4D97-AF65-F5344CB8AC3E}">
        <p14:creationId xmlns:p14="http://schemas.microsoft.com/office/powerpoint/2010/main" val="31396847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lstStyle/>
          <a:p>
            <a:pPr marR="0" rtl="0"/>
            <a:r>
              <a:rPr lang="en-US" altLang="zh-CN" b="0" i="0" u="none" strike="noStrike" kern="100" baseline="0" smtClean="0">
                <a:ea typeface="宋体"/>
              </a:rPr>
              <a:t>9. </a:t>
            </a:r>
            <a:r>
              <a:rPr lang="zh-CN" altLang="en-US" b="0" i="0" u="none" strike="noStrike" kern="100" baseline="0" smtClean="0">
                <a:latin typeface="Calibri"/>
                <a:ea typeface="宋体"/>
              </a:rPr>
              <a:t>税务机关要求报送的其他资料。</a:t>
            </a:r>
          </a:p>
        </p:txBody>
      </p:sp>
    </p:spTree>
    <p:extLst>
      <p:ext uri="{BB962C8B-B14F-4D97-AF65-F5344CB8AC3E}">
        <p14:creationId xmlns:p14="http://schemas.microsoft.com/office/powerpoint/2010/main" val="2855295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130425"/>
            <a:ext cx="7772400" cy="1470025"/>
          </a:xfrm>
        </p:spPr>
        <p:txBody>
          <a:bodyPr>
            <a:normAutofit fontScale="90000"/>
          </a:bodyPr>
          <a:lstStyle/>
          <a:p>
            <a:pPr marR="0" rtl="0"/>
            <a:r>
              <a:rPr lang="zh-CN" altLang="en-US" b="0" i="0" u="none" strike="noStrike" kern="100" baseline="0" smtClean="0">
                <a:latin typeface="Calibri"/>
                <a:ea typeface="宋体"/>
              </a:rPr>
              <a:t>以上就是从一般贸易出口退税的流程申报，申请条件，申请范围，申报资料要求几个方面进行一个讲解。希望能对广大出口商明白出口退税的流程有一个清楚的了解。</a:t>
            </a:r>
          </a:p>
        </p:txBody>
      </p:sp>
      <p:sp>
        <p:nvSpPr>
          <p:cNvPr id="5" name="TextBox 1"/>
          <p:cNvSpPr txBox="1"/>
          <p:nvPr/>
        </p:nvSpPr>
        <p:spPr>
          <a:xfrm>
            <a:off x="185952" y="5734788"/>
            <a:ext cx="825547" cy="84639"/>
          </a:xfrm>
          <a:prstGeom prst="rect">
            <a:avLst/>
          </a:prstGeom>
          <a:noFill/>
        </p:spPr>
        <p:txBody>
          <a:bodyPr wrap="none" lIns="0" tIns="0" rIns="0" rtlCol="0">
            <a:spAutoFit/>
          </a:bodyPr>
          <a:lstStyle/>
          <a:p>
            <a:pPr>
              <a:lnSpc>
                <a:spcPts val="300"/>
              </a:lnSpc>
              <a:tabLst/>
            </a:pPr>
            <a:r>
              <a:rPr lang="en-US" altLang="zh-CN" sz="300" dirty="0" smtClean="0">
                <a:solidFill>
                  <a:schemeClr val="bg1"/>
                </a:solidFill>
                <a:latin typeface="Times New Roman" pitchFamily="18" charset="0"/>
                <a:cs typeface="Times New Roman" pitchFamily="18" charset="0"/>
              </a:rPr>
              <a:t>   </a:t>
            </a:r>
            <a:r>
              <a:rPr lang="zh-CN" altLang="en-US" sz="300" dirty="0" smtClean="0">
                <a:solidFill>
                  <a:schemeClr val="bg1"/>
                </a:solidFill>
                <a:latin typeface="Times New Roman" pitchFamily="18" charset="0"/>
                <a:cs typeface="Times New Roman" pitchFamily="18" charset="0"/>
              </a:rPr>
              <a:t> </a:t>
            </a:r>
            <a:r>
              <a:rPr lang="zh-CN" altLang="en-US" sz="300" dirty="0" smtClean="0">
                <a:solidFill>
                  <a:schemeClr val="bg1"/>
                </a:solidFill>
                <a:latin typeface="Times New Roman" pitchFamily="18" charset="0"/>
                <a:cs typeface="Times New Roman" pitchFamily="18" charset="0"/>
              </a:rPr>
              <a:t>成都联邦快递 </a:t>
            </a:r>
            <a:r>
              <a:rPr lang="en-US" altLang="zh-CN" sz="300" dirty="0" smtClean="0">
                <a:solidFill>
                  <a:schemeClr val="bg1"/>
                </a:solidFill>
                <a:latin typeface="Times New Roman" pitchFamily="18" charset="0"/>
                <a:cs typeface="Times New Roman" pitchFamily="18" charset="0"/>
              </a:rPr>
              <a:t>www.fedex.pro </a:t>
            </a:r>
            <a:r>
              <a:rPr lang="zh-CN" altLang="en-US" sz="300" dirty="0" smtClean="0">
                <a:solidFill>
                  <a:schemeClr val="bg1"/>
                </a:solidFill>
                <a:latin typeface="Times New Roman" pitchFamily="18" charset="0"/>
                <a:cs typeface="Times New Roman" pitchFamily="18" charset="0"/>
              </a:rPr>
              <a:t> </a:t>
            </a:r>
            <a:r>
              <a:rPr lang="en-US" altLang="zh-CN" sz="300" dirty="0" smtClean="0">
                <a:solidFill>
                  <a:schemeClr val="bg1"/>
                </a:solidFill>
                <a:latin typeface="Times New Roman" pitchFamily="18" charset="0"/>
                <a:cs typeface="Times New Roman" pitchFamily="18" charset="0"/>
              </a:rPr>
              <a:t>ha34gh77j12       </a:t>
            </a:r>
            <a:r>
              <a:rPr lang="zh-CN" altLang="en-US" sz="300" dirty="0" smtClean="0">
                <a:solidFill>
                  <a:schemeClr val="bg1"/>
                </a:solidFill>
                <a:latin typeface="Times New Roman" pitchFamily="18" charset="0"/>
                <a:cs typeface="Times New Roman" pitchFamily="18" charset="0"/>
              </a:rPr>
              <a:t> </a:t>
            </a:r>
            <a:r>
              <a:rPr lang="en-US" altLang="zh-CN" sz="300" dirty="0" smtClean="0">
                <a:solidFill>
                  <a:schemeClr val="bg1"/>
                </a:solidFill>
                <a:latin typeface="Times New Roman" pitchFamily="18" charset="0"/>
                <a:cs typeface="Times New Roman" pitchFamily="18" charset="0"/>
              </a:rPr>
              <a:t> </a:t>
            </a:r>
            <a:endParaRPr lang="en-US" altLang="zh-CN" sz="300" dirty="0" smtClean="0">
              <a:solidFill>
                <a:schemeClr val="bg1"/>
              </a:solidFill>
              <a:latin typeface="Times New Roman" pitchFamily="18" charset="0"/>
              <a:cs typeface="Times New Roman" pitchFamily="18" charset="0"/>
            </a:endParaRPr>
          </a:p>
        </p:txBody>
      </p:sp>
      <p:sp>
        <p:nvSpPr>
          <p:cNvPr id="6" name="TextBox 1"/>
          <p:cNvSpPr txBox="1"/>
          <p:nvPr/>
        </p:nvSpPr>
        <p:spPr>
          <a:xfrm>
            <a:off x="338352" y="5887188"/>
            <a:ext cx="825547" cy="84639"/>
          </a:xfrm>
          <a:prstGeom prst="rect">
            <a:avLst/>
          </a:prstGeom>
          <a:noFill/>
        </p:spPr>
        <p:txBody>
          <a:bodyPr wrap="none" lIns="0" tIns="0" rIns="0" rtlCol="0">
            <a:spAutoFit/>
          </a:bodyPr>
          <a:lstStyle/>
          <a:p>
            <a:pPr>
              <a:lnSpc>
                <a:spcPts val="300"/>
              </a:lnSpc>
              <a:tabLst/>
            </a:pPr>
            <a:r>
              <a:rPr lang="en-US" altLang="zh-CN" sz="300" dirty="0" smtClean="0">
                <a:solidFill>
                  <a:schemeClr val="bg1"/>
                </a:solidFill>
                <a:latin typeface="Times New Roman" pitchFamily="18" charset="0"/>
                <a:cs typeface="Times New Roman" pitchFamily="18" charset="0"/>
              </a:rPr>
              <a:t>   </a:t>
            </a:r>
            <a:r>
              <a:rPr lang="zh-CN" altLang="en-US" sz="300" dirty="0" smtClean="0">
                <a:solidFill>
                  <a:schemeClr val="bg1"/>
                </a:solidFill>
                <a:latin typeface="Times New Roman" pitchFamily="18" charset="0"/>
                <a:cs typeface="Times New Roman" pitchFamily="18" charset="0"/>
              </a:rPr>
              <a:t> </a:t>
            </a:r>
            <a:r>
              <a:rPr lang="zh-CN" altLang="en-US" sz="300" dirty="0" smtClean="0">
                <a:solidFill>
                  <a:schemeClr val="bg1"/>
                </a:solidFill>
                <a:latin typeface="Times New Roman" pitchFamily="18" charset="0"/>
                <a:cs typeface="Times New Roman" pitchFamily="18" charset="0"/>
              </a:rPr>
              <a:t>成都联邦快递 </a:t>
            </a:r>
            <a:r>
              <a:rPr lang="en-US" altLang="zh-CN" sz="300" dirty="0" smtClean="0">
                <a:solidFill>
                  <a:schemeClr val="bg1"/>
                </a:solidFill>
                <a:latin typeface="Times New Roman" pitchFamily="18" charset="0"/>
                <a:cs typeface="Times New Roman" pitchFamily="18" charset="0"/>
              </a:rPr>
              <a:t>www.fedex.pro </a:t>
            </a:r>
            <a:r>
              <a:rPr lang="zh-CN" altLang="en-US" sz="300" dirty="0" smtClean="0">
                <a:solidFill>
                  <a:schemeClr val="bg1"/>
                </a:solidFill>
                <a:latin typeface="Times New Roman" pitchFamily="18" charset="0"/>
                <a:cs typeface="Times New Roman" pitchFamily="18" charset="0"/>
              </a:rPr>
              <a:t> </a:t>
            </a:r>
            <a:r>
              <a:rPr lang="en-US" altLang="zh-CN" sz="300" dirty="0" smtClean="0">
                <a:solidFill>
                  <a:schemeClr val="bg1"/>
                </a:solidFill>
                <a:latin typeface="Times New Roman" pitchFamily="18" charset="0"/>
                <a:cs typeface="Times New Roman" pitchFamily="18" charset="0"/>
              </a:rPr>
              <a:t>ha34gh77j12       </a:t>
            </a:r>
            <a:r>
              <a:rPr lang="zh-CN" altLang="en-US" sz="300" dirty="0" smtClean="0">
                <a:solidFill>
                  <a:schemeClr val="bg1"/>
                </a:solidFill>
                <a:latin typeface="Times New Roman" pitchFamily="18" charset="0"/>
                <a:cs typeface="Times New Roman" pitchFamily="18" charset="0"/>
              </a:rPr>
              <a:t> </a:t>
            </a:r>
            <a:r>
              <a:rPr lang="en-US" altLang="zh-CN" sz="300" dirty="0" smtClean="0">
                <a:solidFill>
                  <a:schemeClr val="bg1"/>
                </a:solidFill>
                <a:latin typeface="Times New Roman" pitchFamily="18" charset="0"/>
                <a:cs typeface="Times New Roman" pitchFamily="18" charset="0"/>
              </a:rPr>
              <a:t> </a:t>
            </a:r>
            <a:endParaRPr lang="en-US" altLang="zh-CN" sz="300" dirty="0" smtClean="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40341205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1152</Words>
  <Application>Microsoft Office PowerPoint</Application>
  <PresentationFormat>全屏显示(4:3)</PresentationFormat>
  <Paragraphs>60</Paragraphs>
  <Slides>58</Slides>
  <Notes>0</Notes>
  <HiddenSlides>0</HiddenSlides>
  <MMClips>0</MMClips>
  <ScaleCrop>false</ScaleCrop>
  <HeadingPairs>
    <vt:vector size="4" baseType="variant">
      <vt:variant>
        <vt:lpstr>主题</vt:lpstr>
      </vt:variant>
      <vt:variant>
        <vt:i4>1</vt:i4>
      </vt:variant>
      <vt:variant>
        <vt:lpstr>幻灯片标题</vt:lpstr>
      </vt:variant>
      <vt:variant>
        <vt:i4>58</vt:i4>
      </vt:variant>
    </vt:vector>
  </HeadingPairs>
  <TitlesOfParts>
    <vt:vector size="59" baseType="lpstr">
      <vt:lpstr>Office 主题​​</vt:lpstr>
      <vt:lpstr>一般贸易出口退税流程介绍</vt:lpstr>
      <vt:lpstr>前两篇文章，我们介绍了一个什么是一般贸易出口退税和出口退税的计算方法，先了解这两个内容我们再来看看一般贸易出口退税的流程是什么样的？</vt:lpstr>
      <vt:lpstr>在一般贸易出口退税的流程，申请条件，申请范围，申报要求等几个方面来全方位了解整个流程。</vt:lpstr>
      <vt:lpstr>一般贸易出口退税申请流程的流程简介：</vt:lpstr>
      <vt:lpstr>1. 有关证件的送验及登记表的领取</vt:lpstr>
      <vt:lpstr>企业在取得有关部门批准其经营出口产品业务的文件和工商行政管理部门核发的工商登记证明后，应于30日内办理出口企业退税登记。</vt:lpstr>
      <vt:lpstr>2. 退税登记的申报和受理</vt:lpstr>
      <vt:lpstr>企业领到“出口企业退税登记表”后，即按登记表及有关要求填写，加盖企业公章和有关人员印章后，连同出口产品经营权批准文件、工商登记证明等证明资料一起报送税务机关，税务机关经审核无误后，即受理登记。</vt:lpstr>
      <vt:lpstr>3. 填发出口退税登记证</vt:lpstr>
      <vt:lpstr>税务机关接到企业的正式申请，经审核无误并按规定的程序批准后，核发给企业“出口退税登记”。</vt:lpstr>
      <vt:lpstr>4. 出口退税登记的变更或注销</vt:lpstr>
      <vt:lpstr>当企业经营状况发生变化或某些退税政策发生变动时，应根据实际需要变更或注销退税登记。</vt:lpstr>
      <vt:lpstr>一般贸易出口退税申请流程的申请条件：</vt:lpstr>
      <vt:lpstr>1. 必须经营出口产品业务，这是企业申办出口退税登记最基本的条件。</vt:lpstr>
      <vt:lpstr>2. 必须持有工商行政管理部门核发的营业执照。营业执照是企业法人营业执照的简称，是企业或组织是合法经营权的凭证。</vt:lpstr>
      <vt:lpstr>3. 必须是实行独立经济核算的企业单位，具有法人地位，有完整的会计工作体系，独立编制财务收支计划和资金平衡表，并在银行开设独立帐户，可以对外办理购销业务和货款结算。</vt:lpstr>
      <vt:lpstr>凡不同时具备上述条件的企业单位，一般不予以办理出口企业退税登记。</vt:lpstr>
      <vt:lpstr>一般贸易出口退税申请流程的申请范围：</vt:lpstr>
      <vt:lpstr>我国出口的产品，凡属于已征或应征产品税、增值税和特别消费税的产品，除国家明确规定不予退还已征税款或免征应征税款。</vt:lpstr>
      <vt:lpstr>出口产品，一般应具备以下的4个条件：</vt:lpstr>
      <vt:lpstr>1．必须是属于产品税、增值税和特别消费税范围的产品。</vt:lpstr>
      <vt:lpstr>2．必须报关离境。所谓出口，即是输出关口。这是区分产品是否属于应退税出口产品的主要标准之一，以加盖海关验讫章的出口报关单和出口销售发票为准。</vt:lpstr>
      <vt:lpstr>3．必须在财务上做出口销售。</vt:lpstr>
      <vt:lpstr>4.必须是出口创汇并已核销的货物。</vt:lpstr>
      <vt:lpstr>一般的说，出口产品只有在同时具备上述4个条件的情况下才予以退税。但是国家对退税的产品也做了特殊规定，特准某些产品视同出口产品予以退税。</vt:lpstr>
      <vt:lpstr>一般贸易出口退税申请流程的申报要求：</vt:lpstr>
      <vt:lpstr>出口企业按照申报要求，每月15日之前申报1次（中标业务、农副产品和回函情况除外）。</vt:lpstr>
      <vt:lpstr>外贸企业出口退税申报报表</vt:lpstr>
      <vt:lpstr>外贸企业申报退税时，必须报送下列三种申报报表：</vt:lpstr>
      <vt:lpstr>A《出口货物退税进货凭证申报明细表》反映出口货物购进征税情况</vt:lpstr>
      <vt:lpstr>B《出口货物退税申报明细表》反映出口货物的报关出口、外汇核销等情况</vt:lpstr>
      <vt:lpstr>C《外贸企业出口退税汇总申报表》反映本次申报的资料、报表、税额、商品、单证等综合汇总情况，也是退税部门审核签单的底表。</vt:lpstr>
      <vt:lpstr>D《出口退税进货分批申报单》</vt:lpstr>
      <vt:lpstr>出口退税进货分批申报单的办理</vt:lpstr>
      <vt:lpstr>出口企业申请办理《出口退税进货分批申报单》须提供以下资料：</vt:lpstr>
      <vt:lpstr>一、需办的出口货物增值税专用缴款书及对应地增值税专用发票的原件；</vt:lpstr>
      <vt:lpstr>二、办理《出口退税进货分批申报单》时，应注意在此表“备注栏”填写供货企业名称。</vt:lpstr>
      <vt:lpstr>一般贸易出口退税申请流程的所需资料：</vt:lpstr>
      <vt:lpstr>1. 报关单。报关单是货物进口或出口时进出口企业向海关办理申报手续，以便海关凭此查验和验放而填具的单据。</vt:lpstr>
      <vt:lpstr>2. 出口销售发票。这是出口企业根据与出口购货方签订的销售合同填开的单证，是外商购货的主要凭证，也是出口企业财会部门凭此记帐做出口产品销售收入的依据。</vt:lpstr>
      <vt:lpstr>3. 进货发票。提供进货发票主要是为了确定出口产品的供货单位、产品名称、计量单位、数量，是否是生产企业的销售价格，以便划分和计算确定其进货费用等。</vt:lpstr>
      <vt:lpstr>4. 结汇水单或收汇通知书。</vt:lpstr>
      <vt:lpstr>5. 属于生产企业直接出口或委托出口自制产品，凡以到岸价CIF结算的，还应附送出口货物运单和出口保险单。</vt:lpstr>
      <vt:lpstr>6. 有进料加工复出口产品业务的企业，还应向税务机关报送进口料、件的合同编号、日期、进口料件名称、数量、复出口产品名称，进料成本金额和实纳各种税金额等。</vt:lpstr>
      <vt:lpstr>7. 产品征税证明。</vt:lpstr>
      <vt:lpstr>8. 出口收汇已核销证明。</vt:lpstr>
      <vt:lpstr>9. 与出口退税有关的其他材料。</vt:lpstr>
      <vt:lpstr>一般贸易出口退税申请流程的资料要求：</vt:lpstr>
      <vt:lpstr>1. 税收（出口货物）专用缴款书和税收出口货物完税分割单；</vt:lpstr>
      <vt:lpstr>2. 增值税专用发票抵扣联；</vt:lpstr>
      <vt:lpstr>3. 出口货物外销发票；</vt:lpstr>
      <vt:lpstr>4. 出口货物销售明细账；</vt:lpstr>
      <vt:lpstr>5. 出口收汇核销单（出口退税联）；</vt:lpstr>
      <vt:lpstr>6. 中华人民共和国海关出口货物报关单（出口退税专用联）；</vt:lpstr>
      <vt:lpstr>7. 出口货物退税汇总申报表、出口退税进货凭证申报明细表、出口货物退税申报明细表；</vt:lpstr>
      <vt:lpstr>8. 预审疑点反馈表；</vt:lpstr>
      <vt:lpstr>9. 税务机关要求报送的其他资料。</vt:lpstr>
      <vt:lpstr>以上就是从一般贸易出口退税的流程申报，申请条件，申请范围，申报资料要求几个方面进行一个讲解。希望能对广大出口商明白出口退税的流程有一个清楚的了解。</vt:lpstr>
    </vt:vector>
  </TitlesOfParts>
  <Company>Lenovo (Beijing) Limited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一般贸易出口退税流程介绍</dc:title>
  <dc:creator>Lenovo User</dc:creator>
  <cp:lastModifiedBy>Lenovo User</cp:lastModifiedBy>
  <cp:revision>1</cp:revision>
  <dcterms:created xsi:type="dcterms:W3CDTF">2015-02-08T15:14:20Z</dcterms:created>
  <dcterms:modified xsi:type="dcterms:W3CDTF">2015-02-08T15:14:43Z</dcterms:modified>
</cp:coreProperties>
</file>